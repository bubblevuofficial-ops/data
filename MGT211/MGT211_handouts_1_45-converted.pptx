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Default Extension="png" ContentType="image/png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Default Extension="jpg" ContentType="image/jpg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  <p:sldId id="448" r:id="rId198"/>
    <p:sldId id="449" r:id="rId199"/>
    <p:sldId id="450" r:id="rId200"/>
    <p:sldId id="451" r:id="rId201"/>
    <p:sldId id="452" r:id="rId202"/>
    <p:sldId id="453" r:id="rId203"/>
    <p:sldId id="454" r:id="rId204"/>
    <p:sldId id="455" r:id="rId205"/>
  </p:sldIdLst>
  <p:sldSz cx="7772400" cy="100584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52" Type="http://schemas.openxmlformats.org/officeDocument/2006/relationships/slide" Target="slides/slide147.xml"/><Relationship Id="rId153" Type="http://schemas.openxmlformats.org/officeDocument/2006/relationships/slide" Target="slides/slide148.xml"/><Relationship Id="rId154" Type="http://schemas.openxmlformats.org/officeDocument/2006/relationships/slide" Target="slides/slide149.xml"/><Relationship Id="rId155" Type="http://schemas.openxmlformats.org/officeDocument/2006/relationships/slide" Target="slides/slide150.xml"/><Relationship Id="rId156" Type="http://schemas.openxmlformats.org/officeDocument/2006/relationships/slide" Target="slides/slide151.xml"/><Relationship Id="rId157" Type="http://schemas.openxmlformats.org/officeDocument/2006/relationships/slide" Target="slides/slide152.xml"/><Relationship Id="rId158" Type="http://schemas.openxmlformats.org/officeDocument/2006/relationships/slide" Target="slides/slide153.xml"/><Relationship Id="rId159" Type="http://schemas.openxmlformats.org/officeDocument/2006/relationships/slide" Target="slides/slide154.xml"/><Relationship Id="rId160" Type="http://schemas.openxmlformats.org/officeDocument/2006/relationships/slide" Target="slides/slide155.xml"/><Relationship Id="rId161" Type="http://schemas.openxmlformats.org/officeDocument/2006/relationships/slide" Target="slides/slide156.xml"/><Relationship Id="rId162" Type="http://schemas.openxmlformats.org/officeDocument/2006/relationships/slide" Target="slides/slide157.xml"/><Relationship Id="rId163" Type="http://schemas.openxmlformats.org/officeDocument/2006/relationships/slide" Target="slides/slide158.xml"/><Relationship Id="rId164" Type="http://schemas.openxmlformats.org/officeDocument/2006/relationships/slide" Target="slides/slide159.xml"/><Relationship Id="rId165" Type="http://schemas.openxmlformats.org/officeDocument/2006/relationships/slide" Target="slides/slide160.xml"/><Relationship Id="rId166" Type="http://schemas.openxmlformats.org/officeDocument/2006/relationships/slide" Target="slides/slide161.xml"/><Relationship Id="rId167" Type="http://schemas.openxmlformats.org/officeDocument/2006/relationships/slide" Target="slides/slide162.xml"/><Relationship Id="rId168" Type="http://schemas.openxmlformats.org/officeDocument/2006/relationships/slide" Target="slides/slide163.xml"/><Relationship Id="rId169" Type="http://schemas.openxmlformats.org/officeDocument/2006/relationships/slide" Target="slides/slide164.xml"/><Relationship Id="rId170" Type="http://schemas.openxmlformats.org/officeDocument/2006/relationships/slide" Target="slides/slide165.xml"/><Relationship Id="rId171" Type="http://schemas.openxmlformats.org/officeDocument/2006/relationships/slide" Target="slides/slide166.xml"/><Relationship Id="rId172" Type="http://schemas.openxmlformats.org/officeDocument/2006/relationships/slide" Target="slides/slide167.xml"/><Relationship Id="rId173" Type="http://schemas.openxmlformats.org/officeDocument/2006/relationships/slide" Target="slides/slide168.xml"/><Relationship Id="rId174" Type="http://schemas.openxmlformats.org/officeDocument/2006/relationships/slide" Target="slides/slide169.xml"/><Relationship Id="rId175" Type="http://schemas.openxmlformats.org/officeDocument/2006/relationships/slide" Target="slides/slide170.xml"/><Relationship Id="rId176" Type="http://schemas.openxmlformats.org/officeDocument/2006/relationships/slide" Target="slides/slide171.xml"/><Relationship Id="rId177" Type="http://schemas.openxmlformats.org/officeDocument/2006/relationships/slide" Target="slides/slide172.xml"/><Relationship Id="rId178" Type="http://schemas.openxmlformats.org/officeDocument/2006/relationships/slide" Target="slides/slide173.xml"/><Relationship Id="rId179" Type="http://schemas.openxmlformats.org/officeDocument/2006/relationships/slide" Target="slides/slide174.xml"/><Relationship Id="rId180" Type="http://schemas.openxmlformats.org/officeDocument/2006/relationships/slide" Target="slides/slide175.xml"/><Relationship Id="rId181" Type="http://schemas.openxmlformats.org/officeDocument/2006/relationships/slide" Target="slides/slide176.xml"/><Relationship Id="rId182" Type="http://schemas.openxmlformats.org/officeDocument/2006/relationships/slide" Target="slides/slide177.xml"/><Relationship Id="rId183" Type="http://schemas.openxmlformats.org/officeDocument/2006/relationships/slide" Target="slides/slide178.xml"/><Relationship Id="rId184" Type="http://schemas.openxmlformats.org/officeDocument/2006/relationships/slide" Target="slides/slide179.xml"/><Relationship Id="rId185" Type="http://schemas.openxmlformats.org/officeDocument/2006/relationships/slide" Target="slides/slide180.xml"/><Relationship Id="rId186" Type="http://schemas.openxmlformats.org/officeDocument/2006/relationships/slide" Target="slides/slide181.xml"/><Relationship Id="rId187" Type="http://schemas.openxmlformats.org/officeDocument/2006/relationships/slide" Target="slides/slide182.xml"/><Relationship Id="rId188" Type="http://schemas.openxmlformats.org/officeDocument/2006/relationships/slide" Target="slides/slide183.xml"/><Relationship Id="rId189" Type="http://schemas.openxmlformats.org/officeDocument/2006/relationships/slide" Target="slides/slide184.xml"/><Relationship Id="rId190" Type="http://schemas.openxmlformats.org/officeDocument/2006/relationships/slide" Target="slides/slide185.xml"/><Relationship Id="rId191" Type="http://schemas.openxmlformats.org/officeDocument/2006/relationships/slide" Target="slides/slide186.xml"/><Relationship Id="rId192" Type="http://schemas.openxmlformats.org/officeDocument/2006/relationships/slide" Target="slides/slide187.xml"/><Relationship Id="rId193" Type="http://schemas.openxmlformats.org/officeDocument/2006/relationships/slide" Target="slides/slide188.xml"/><Relationship Id="rId194" Type="http://schemas.openxmlformats.org/officeDocument/2006/relationships/slide" Target="slides/slide189.xml"/><Relationship Id="rId195" Type="http://schemas.openxmlformats.org/officeDocument/2006/relationships/slide" Target="slides/slide190.xml"/><Relationship Id="rId196" Type="http://schemas.openxmlformats.org/officeDocument/2006/relationships/slide" Target="slides/slide191.xml"/><Relationship Id="rId197" Type="http://schemas.openxmlformats.org/officeDocument/2006/relationships/slide" Target="slides/slide192.xml"/><Relationship Id="rId198" Type="http://schemas.openxmlformats.org/officeDocument/2006/relationships/slide" Target="slides/slide193.xml"/><Relationship Id="rId199" Type="http://schemas.openxmlformats.org/officeDocument/2006/relationships/slide" Target="slides/slide194.xml"/><Relationship Id="rId200" Type="http://schemas.openxmlformats.org/officeDocument/2006/relationships/slide" Target="slides/slide195.xml"/><Relationship Id="rId201" Type="http://schemas.openxmlformats.org/officeDocument/2006/relationships/slide" Target="slides/slide196.xml"/><Relationship Id="rId202" Type="http://schemas.openxmlformats.org/officeDocument/2006/relationships/slide" Target="slides/slide197.xml"/><Relationship Id="rId203" Type="http://schemas.openxmlformats.org/officeDocument/2006/relationships/slide" Target="slides/slide198.xml"/><Relationship Id="rId204" Type="http://schemas.openxmlformats.org/officeDocument/2006/relationships/slide" Target="slides/slide199.xml"/><Relationship Id="rId205" Type="http://schemas.openxmlformats.org/officeDocument/2006/relationships/slide" Target="slides/slide20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11125">
              <a:lnSpc>
                <a:spcPts val="135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11125">
              <a:lnSpc>
                <a:spcPts val="135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11125">
              <a:lnSpc>
                <a:spcPts val="135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11125">
              <a:lnSpc>
                <a:spcPts val="135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11125">
              <a:lnSpc>
                <a:spcPts val="135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43000" y="9273540"/>
            <a:ext cx="5486400" cy="0"/>
          </a:xfrm>
          <a:custGeom>
            <a:avLst/>
            <a:gdLst/>
            <a:ahLst/>
            <a:cxnLst/>
            <a:rect l="l" t="t" r="r" b="b"/>
            <a:pathLst>
              <a:path w="5486400" h="0">
                <a:moveTo>
                  <a:pt x="0" y="0"/>
                </a:moveTo>
                <a:lnTo>
                  <a:pt x="5486399" y="0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130254" y="9282176"/>
            <a:ext cx="2288540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371831" y="9260006"/>
            <a:ext cx="295909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11125">
              <a:lnSpc>
                <a:spcPts val="1355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offshoredealers.com/" TargetMode="External"/><Relationship Id="rId3" Type="http://schemas.openxmlformats.org/officeDocument/2006/relationships/hyperlink" Target="http://www.mfa.gov.lv/en/policy/economic/WTO/WhatIsWTO" TargetMode="External"/></Relationships>
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absoluteastronomy.com/topics/Free_trade" TargetMode="External"/></Relationships>
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
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
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5943" y="406403"/>
            <a:ext cx="444500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45260">
              <a:lnSpc>
                <a:spcPts val="1260"/>
              </a:lnSpc>
              <a:spcBef>
                <a:spcPts val="100"/>
              </a:spcBef>
            </a:pPr>
            <a:r>
              <a:rPr dirty="0" sz="1100" spc="80">
                <a:latin typeface="Arial"/>
                <a:cs typeface="Arial"/>
              </a:rPr>
              <a:t>INTRODUCTION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45">
                <a:latin typeface="Arial"/>
                <a:cs typeface="Arial"/>
              </a:rPr>
              <a:t>TO</a:t>
            </a:r>
            <a:r>
              <a:rPr dirty="0" sz="1100" spc="-55">
                <a:latin typeface="Arial"/>
                <a:cs typeface="Arial"/>
              </a:rPr>
              <a:t> </a:t>
            </a:r>
            <a:r>
              <a:rPr dirty="0" sz="1100" spc="45">
                <a:latin typeface="Arial"/>
                <a:cs typeface="Arial"/>
              </a:rPr>
              <a:t>BUSINESS</a:t>
            </a:r>
            <a:r>
              <a:rPr dirty="0" sz="1100" spc="-45">
                <a:latin typeface="Arial"/>
                <a:cs typeface="Arial"/>
              </a:rPr>
              <a:t> </a:t>
            </a:r>
            <a:r>
              <a:rPr dirty="0" sz="1100" spc="80">
                <a:latin typeface="Arial"/>
                <a:cs typeface="Arial"/>
              </a:rPr>
              <a:t>(MGT211)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1260"/>
              </a:lnSpc>
            </a:pP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Table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Content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17089" y="877824"/>
          <a:ext cx="5944235" cy="8418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680"/>
                <a:gridCol w="4343400"/>
                <a:gridCol w="722629"/>
              </a:tblGrid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95" b="1">
                          <a:latin typeface="Arial"/>
                          <a:cs typeface="Arial"/>
                        </a:rPr>
                        <a:t>Lesson</a:t>
                      </a:r>
                      <a:r>
                        <a:rPr dirty="0" sz="11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5" b="1">
                          <a:latin typeface="Arial"/>
                          <a:cs typeface="Arial"/>
                        </a:rPr>
                        <a:t>No.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15" b="1">
                          <a:latin typeface="Arial"/>
                          <a:cs typeface="Arial"/>
                        </a:rPr>
                        <a:t>Title </a:t>
                      </a:r>
                      <a:r>
                        <a:rPr dirty="0" sz="1100" spc="300" b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100" spc="-5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40" b="1">
                          <a:latin typeface="Arial"/>
                          <a:cs typeface="Arial"/>
                        </a:rPr>
                        <a:t>Topic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80" b="1">
                          <a:latin typeface="Arial"/>
                          <a:cs typeface="Arial"/>
                        </a:rPr>
                        <a:t>Page</a:t>
                      </a:r>
                      <a:r>
                        <a:rPr dirty="0" sz="11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5" b="1">
                          <a:latin typeface="Arial"/>
                          <a:cs typeface="Arial"/>
                        </a:rPr>
                        <a:t>No.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Introduction …………………………………….………………………….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Organizational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Boundaries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Environments</a:t>
                      </a:r>
                      <a:r>
                        <a:rPr dirty="0" sz="110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...…………………………......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Business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Organization 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Sole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Proprietorship</a:t>
                      </a:r>
                      <a:r>
                        <a:rPr dirty="0" sz="110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…………………..…………...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20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Partnership ……………………..…………………………………………..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36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8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Joint 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Stock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Company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……………………………..………………………....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50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9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Joint 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Stock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Company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(Continued)</a:t>
                      </a:r>
                      <a:r>
                        <a:rPr dirty="0" sz="110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………………………………………….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57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What 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Meeting?</a:t>
                      </a:r>
                      <a:r>
                        <a:rPr dirty="0" sz="110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..........................................................………………………….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61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Cooperative 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Society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…………………………………………………….</a:t>
                      </a:r>
                      <a:r>
                        <a:rPr dirty="0" sz="11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….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73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Concept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Entrepreneurship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………………………………………………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79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Franchising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…………..…………………..…………………………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………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83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Success 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Failure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Business</a:t>
                      </a:r>
                      <a:r>
                        <a:rPr dirty="0" sz="110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…………..…………………………………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85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Foreign 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Trade and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Foreign 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Business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……………………………………….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88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Barriers 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International Trade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……….……………….</a:t>
                      </a:r>
                      <a:r>
                        <a:rPr dirty="0" sz="110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……………………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91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Stakeholder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…………………………………..……………………………..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93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Setting 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goals 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Formulating 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Strategy</a:t>
                      </a:r>
                      <a:r>
                        <a:rPr dirty="0" sz="110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……………………………………...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96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Human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Resource Planning 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…………...……………….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……………………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100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Infrastructure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……………………….……………………………...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104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Compensation and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Benefits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…………………………………………………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108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Contemporary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Motivational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Theories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……………………………………….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112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20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Two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Factor 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Theory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………………………………………………………….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115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21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Strategies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enhancing 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job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satisfaction 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morale</a:t>
                      </a:r>
                      <a:r>
                        <a:rPr dirty="0" sz="1100" spc="1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…...…………………….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117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Marketing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………...…………………………………………………………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23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Marketing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Environment</a:t>
                      </a:r>
                      <a:r>
                        <a:rPr dirty="0" sz="110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…..……………………………………………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124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24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Marketing 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Mix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…………………………………………………………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Marketing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……………………………………………………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129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26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Consumer 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Behavior 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Marketing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10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………………………………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134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Product,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Product 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types 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step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product 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dirty="0" sz="110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…….……………..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137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28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Product 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Life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Cycle, 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Branding, 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Packaging 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Labeling</a:t>
                      </a:r>
                      <a:r>
                        <a:rPr dirty="0" sz="1100" spc="1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…………………..…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140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29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Pricing 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Distribution 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Mix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…………………………………….………….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144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30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Wholesaling, retailing 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physical</a:t>
                      </a:r>
                      <a:r>
                        <a:rPr dirty="0" sz="110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distribution............………………………...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148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31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Promotion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advertisement..........………………………………………...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153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32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Personal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Selling………...…………………………………………………...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156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33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Personal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Selling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(Continued).....…………………………………………….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158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34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Sales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Promotion</a:t>
                      </a:r>
                      <a:r>
                        <a:rPr dirty="0" sz="110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………….………………………………………………..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161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35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Productivity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……………………….…… …………………………….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164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36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Tools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Production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Planning…..………………………………………….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166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37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Total 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Management..………………………………………………….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170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38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Total 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Quality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Management</a:t>
                      </a:r>
                      <a:r>
                        <a:rPr dirty="0" sz="110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(Continued)……………………………………..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174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39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Benchmarking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……………...………………………………………………..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176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40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Communication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……………………………………………………………..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179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41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Non-Verbal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Communication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Modes</a:t>
                      </a:r>
                      <a:r>
                        <a:rPr dirty="0" sz="11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………………………………………..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182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42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Application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Information 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System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Organizations</a:t>
                      </a:r>
                      <a:r>
                        <a:rPr dirty="0" sz="110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………….………..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186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43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Accounting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………………..………………………………………………..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190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44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90"/>
                        </a:lnSpc>
                      </a:pP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Tools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Accounting 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Trade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……………………………………………..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193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879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45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180"/>
                        </a:lnSpc>
                      </a:pP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Financial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Management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………………..……………………………………..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197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55" y="891035"/>
            <a:ext cx="5514340" cy="2651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6985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1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750" spc="-165" b="1">
                <a:latin typeface="Arial"/>
                <a:cs typeface="Arial"/>
              </a:rPr>
              <a:t>INTRODUCTION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dirty="0" sz="1350" spc="-190" b="1">
                <a:latin typeface="Arial"/>
                <a:cs typeface="Arial"/>
              </a:rPr>
              <a:t>CONCEPT </a:t>
            </a:r>
            <a:r>
              <a:rPr dirty="0" sz="1350" spc="-175" b="1">
                <a:latin typeface="Arial"/>
                <a:cs typeface="Arial"/>
              </a:rPr>
              <a:t>OF</a:t>
            </a:r>
            <a:r>
              <a:rPr dirty="0" sz="1350" spc="-150" b="1">
                <a:latin typeface="Arial"/>
                <a:cs typeface="Arial"/>
              </a:rPr>
              <a:t> </a:t>
            </a:r>
            <a:r>
              <a:rPr dirty="0" sz="1350" spc="-185" b="1">
                <a:latin typeface="Arial"/>
                <a:cs typeface="Arial"/>
              </a:rPr>
              <a:t>BUSINESS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35">
                <a:latin typeface="Arial"/>
                <a:cs typeface="Arial"/>
              </a:rPr>
              <a:t>Literally,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word </a:t>
            </a:r>
            <a:r>
              <a:rPr dirty="0" sz="1150" spc="-40">
                <a:latin typeface="Arial"/>
                <a:cs typeface="Arial"/>
              </a:rPr>
              <a:t>“business”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state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being </a:t>
            </a:r>
            <a:r>
              <a:rPr dirty="0" sz="1150" spc="-60">
                <a:latin typeface="Arial"/>
                <a:cs typeface="Arial"/>
              </a:rPr>
              <a:t>busy. </a:t>
            </a:r>
            <a:r>
              <a:rPr dirty="0" sz="1150" spc="-55">
                <a:latin typeface="Arial"/>
                <a:cs typeface="Arial"/>
              </a:rPr>
              <a:t>Generally,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term </a:t>
            </a:r>
            <a:r>
              <a:rPr dirty="0" sz="1150" spc="-75">
                <a:latin typeface="Arial"/>
                <a:cs typeface="Arial"/>
              </a:rPr>
              <a:t>business  </a:t>
            </a:r>
            <a:r>
              <a:rPr dirty="0" sz="1150" spc="-50">
                <a:latin typeface="Arial"/>
                <a:cs typeface="Arial"/>
              </a:rPr>
              <a:t>includes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50">
                <a:latin typeface="Arial"/>
                <a:cs typeface="Arial"/>
              </a:rPr>
              <a:t>human </a:t>
            </a:r>
            <a:r>
              <a:rPr dirty="0" sz="1150" spc="-35">
                <a:latin typeface="Arial"/>
                <a:cs typeface="Arial"/>
              </a:rPr>
              <a:t>activities </a:t>
            </a:r>
            <a:r>
              <a:rPr dirty="0" sz="1150" spc="-50">
                <a:latin typeface="Arial"/>
                <a:cs typeface="Arial"/>
              </a:rPr>
              <a:t>concerned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45">
                <a:latin typeface="Arial"/>
                <a:cs typeface="Arial"/>
              </a:rPr>
              <a:t>earning money.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40">
                <a:latin typeface="Arial"/>
                <a:cs typeface="Arial"/>
              </a:rPr>
              <a:t>words,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is an  </a:t>
            </a:r>
            <a:r>
              <a:rPr dirty="0" sz="1150" spc="-20">
                <a:latin typeface="Arial"/>
                <a:cs typeface="Arial"/>
              </a:rPr>
              <a:t>activity 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0">
                <a:latin typeface="Arial"/>
                <a:cs typeface="Arial"/>
              </a:rPr>
              <a:t>various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-40">
                <a:latin typeface="Arial"/>
                <a:cs typeface="Arial"/>
              </a:rPr>
              <a:t>regularly produce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75">
                <a:latin typeface="Arial"/>
                <a:cs typeface="Arial"/>
              </a:rPr>
              <a:t>exchange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25">
                <a:latin typeface="Arial"/>
                <a:cs typeface="Arial"/>
              </a:rPr>
              <a:t>mutual </a:t>
            </a:r>
            <a:r>
              <a:rPr dirty="0" sz="1150" spc="-60">
                <a:latin typeface="Arial"/>
                <a:cs typeface="Arial"/>
              </a:rPr>
              <a:t>gain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>
                <a:latin typeface="Arial"/>
                <a:cs typeface="Arial"/>
              </a:rPr>
              <a:t>profit. </a:t>
            </a:r>
            <a:r>
              <a:rPr dirty="0" sz="1150" spc="-8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 spc="-40">
                <a:latin typeface="Arial"/>
                <a:cs typeface="Arial"/>
              </a:rPr>
              <a:t>produced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5">
                <a:latin typeface="Arial"/>
                <a:cs typeface="Arial"/>
              </a:rPr>
              <a:t>purchased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5">
                <a:latin typeface="Arial"/>
                <a:cs typeface="Arial"/>
              </a:rPr>
              <a:t>personal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-55">
                <a:latin typeface="Arial"/>
                <a:cs typeface="Arial"/>
              </a:rPr>
              <a:t>are 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40">
                <a:latin typeface="Arial"/>
                <a:cs typeface="Arial"/>
              </a:rPr>
              <a:t>included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“business”.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95" b="1">
                <a:latin typeface="Arial"/>
                <a:cs typeface="Arial"/>
              </a:rPr>
              <a:t>DEFINITION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0255" y="3698242"/>
            <a:ext cx="13716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5">
                <a:latin typeface="Arial"/>
                <a:cs typeface="Arial"/>
              </a:rPr>
              <a:t>1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87463" y="3698242"/>
            <a:ext cx="5055235" cy="55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10" b="1">
                <a:latin typeface="Arial"/>
                <a:cs typeface="Arial"/>
              </a:rPr>
              <a:t>According </a:t>
            </a:r>
            <a:r>
              <a:rPr dirty="0" sz="1150" spc="-40" b="1">
                <a:latin typeface="Arial"/>
                <a:cs typeface="Arial"/>
              </a:rPr>
              <a:t>to </a:t>
            </a:r>
            <a:r>
              <a:rPr dirty="0" sz="1150" spc="-114" b="1">
                <a:latin typeface="Arial"/>
                <a:cs typeface="Arial"/>
              </a:rPr>
              <a:t>L. </a:t>
            </a:r>
            <a:r>
              <a:rPr dirty="0" sz="1150" spc="-60" b="1">
                <a:latin typeface="Arial"/>
                <a:cs typeface="Arial"/>
              </a:rPr>
              <a:t>H.</a:t>
            </a:r>
            <a:r>
              <a:rPr dirty="0" sz="1150" spc="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Haney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75" i="1">
                <a:latin typeface="Arial"/>
                <a:cs typeface="Arial"/>
              </a:rPr>
              <a:t>“Business </a:t>
            </a:r>
            <a:r>
              <a:rPr dirty="0" sz="1150" spc="-55" i="1">
                <a:latin typeface="Arial"/>
                <a:cs typeface="Arial"/>
              </a:rPr>
              <a:t>may </a:t>
            </a:r>
            <a:r>
              <a:rPr dirty="0" sz="1150" spc="-75" i="1">
                <a:latin typeface="Arial"/>
                <a:cs typeface="Arial"/>
              </a:rPr>
              <a:t>be </a:t>
            </a:r>
            <a:r>
              <a:rPr dirty="0" sz="1150" spc="-45" i="1">
                <a:latin typeface="Arial"/>
                <a:cs typeface="Arial"/>
              </a:rPr>
              <a:t>defined </a:t>
            </a:r>
            <a:r>
              <a:rPr dirty="0" sz="1150" spc="-95" i="1">
                <a:latin typeface="Arial"/>
                <a:cs typeface="Arial"/>
              </a:rPr>
              <a:t>as </a:t>
            </a:r>
            <a:r>
              <a:rPr dirty="0" sz="1150" spc="-55" i="1">
                <a:latin typeface="Arial"/>
                <a:cs typeface="Arial"/>
              </a:rPr>
              <a:t>human </a:t>
            </a:r>
            <a:r>
              <a:rPr dirty="0" sz="1150" spc="-30" i="1">
                <a:latin typeface="Arial"/>
                <a:cs typeface="Arial"/>
              </a:rPr>
              <a:t>activities </a:t>
            </a:r>
            <a:r>
              <a:rPr dirty="0" sz="1150" spc="-40" i="1">
                <a:latin typeface="Arial"/>
                <a:cs typeface="Arial"/>
              </a:rPr>
              <a:t>directed </a:t>
            </a:r>
            <a:r>
              <a:rPr dirty="0" sz="1150" spc="-15" i="1">
                <a:latin typeface="Arial"/>
                <a:cs typeface="Arial"/>
              </a:rPr>
              <a:t>toward </a:t>
            </a:r>
            <a:r>
              <a:rPr dirty="0" sz="1150" spc="-35" i="1">
                <a:latin typeface="Arial"/>
                <a:cs typeface="Arial"/>
              </a:rPr>
              <a:t>providing </a:t>
            </a:r>
            <a:r>
              <a:rPr dirty="0" sz="1150" spc="-25" i="1">
                <a:latin typeface="Arial"/>
                <a:cs typeface="Arial"/>
              </a:rPr>
              <a:t>or </a:t>
            </a:r>
            <a:r>
              <a:rPr dirty="0" sz="1150" spc="-40" i="1">
                <a:latin typeface="Arial"/>
                <a:cs typeface="Arial"/>
              </a:rPr>
              <a:t>acquiring  </a:t>
            </a:r>
            <a:r>
              <a:rPr dirty="0" sz="1150" spc="-25" i="1">
                <a:latin typeface="Arial"/>
                <a:cs typeface="Arial"/>
              </a:rPr>
              <a:t>wealth </a:t>
            </a:r>
            <a:r>
              <a:rPr dirty="0" sz="1150" spc="-30" i="1">
                <a:latin typeface="Arial"/>
                <a:cs typeface="Arial"/>
              </a:rPr>
              <a:t>through </a:t>
            </a:r>
            <a:r>
              <a:rPr dirty="0" sz="1150" spc="-45" i="1">
                <a:latin typeface="Arial"/>
                <a:cs typeface="Arial"/>
              </a:rPr>
              <a:t>buying </a:t>
            </a:r>
            <a:r>
              <a:rPr dirty="0" sz="1150" spc="-50" i="1">
                <a:latin typeface="Arial"/>
                <a:cs typeface="Arial"/>
              </a:rPr>
              <a:t>and </a:t>
            </a:r>
            <a:r>
              <a:rPr dirty="0" sz="1150" spc="-45" i="1">
                <a:latin typeface="Arial"/>
                <a:cs typeface="Arial"/>
              </a:rPr>
              <a:t>selling </a:t>
            </a:r>
            <a:r>
              <a:rPr dirty="0" sz="1150" spc="-15" i="1">
                <a:latin typeface="Arial"/>
                <a:cs typeface="Arial"/>
              </a:rPr>
              <a:t>of</a:t>
            </a:r>
            <a:r>
              <a:rPr dirty="0" sz="1150" spc="-180" i="1">
                <a:latin typeface="Arial"/>
                <a:cs typeface="Arial"/>
              </a:rPr>
              <a:t> </a:t>
            </a:r>
            <a:r>
              <a:rPr dirty="0" sz="1150" spc="-40" i="1">
                <a:latin typeface="Arial"/>
                <a:cs typeface="Arial"/>
              </a:rPr>
              <a:t>goods.”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0255" y="4411474"/>
            <a:ext cx="13716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5">
                <a:latin typeface="Arial"/>
                <a:cs typeface="Arial"/>
              </a:rPr>
              <a:t>2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7463" y="4411474"/>
            <a:ext cx="5055870" cy="55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35" b="1">
                <a:latin typeface="Arial"/>
                <a:cs typeface="Arial"/>
              </a:rPr>
              <a:t>James </a:t>
            </a:r>
            <a:r>
              <a:rPr dirty="0" sz="1150" spc="-95" b="1">
                <a:latin typeface="Arial"/>
                <a:cs typeface="Arial"/>
              </a:rPr>
              <a:t>Stephenson </a:t>
            </a:r>
            <a:r>
              <a:rPr dirty="0" sz="1150" spc="-100">
                <a:latin typeface="Arial"/>
                <a:cs typeface="Arial"/>
              </a:rPr>
              <a:t>says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that: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55" i="1">
                <a:latin typeface="Arial"/>
                <a:cs typeface="Arial"/>
              </a:rPr>
              <a:t>“Every human </a:t>
            </a:r>
            <a:r>
              <a:rPr dirty="0" sz="1150" spc="-20" i="1">
                <a:latin typeface="Arial"/>
                <a:cs typeface="Arial"/>
              </a:rPr>
              <a:t>activity </a:t>
            </a:r>
            <a:r>
              <a:rPr dirty="0" sz="1150" spc="-45" i="1">
                <a:latin typeface="Arial"/>
                <a:cs typeface="Arial"/>
              </a:rPr>
              <a:t>which </a:t>
            </a:r>
            <a:r>
              <a:rPr dirty="0" sz="1150" spc="-65" i="1">
                <a:latin typeface="Arial"/>
                <a:cs typeface="Arial"/>
              </a:rPr>
              <a:t>is engaged </a:t>
            </a:r>
            <a:r>
              <a:rPr dirty="0" sz="1150" spc="-25" i="1">
                <a:latin typeface="Arial"/>
                <a:cs typeface="Arial"/>
              </a:rPr>
              <a:t>in </a:t>
            </a:r>
            <a:r>
              <a:rPr dirty="0" sz="1150" spc="-10" i="1">
                <a:latin typeface="Arial"/>
                <a:cs typeface="Arial"/>
              </a:rPr>
              <a:t>for </a:t>
            </a:r>
            <a:r>
              <a:rPr dirty="0" sz="1150" spc="-25" i="1">
                <a:latin typeface="Arial"/>
                <a:cs typeface="Arial"/>
              </a:rPr>
              <a:t>the </a:t>
            </a:r>
            <a:r>
              <a:rPr dirty="0" sz="1150" spc="-80" i="1">
                <a:latin typeface="Arial"/>
                <a:cs typeface="Arial"/>
              </a:rPr>
              <a:t>sake </a:t>
            </a:r>
            <a:r>
              <a:rPr dirty="0" sz="1150" spc="-15" i="1">
                <a:latin typeface="Arial"/>
                <a:cs typeface="Arial"/>
              </a:rPr>
              <a:t>of </a:t>
            </a:r>
            <a:r>
              <a:rPr dirty="0" sz="1150" spc="-45" i="1">
                <a:latin typeface="Arial"/>
                <a:cs typeface="Arial"/>
              </a:rPr>
              <a:t>earning </a:t>
            </a:r>
            <a:r>
              <a:rPr dirty="0" sz="1150" spc="-5" i="1">
                <a:latin typeface="Arial"/>
                <a:cs typeface="Arial"/>
              </a:rPr>
              <a:t>profit </a:t>
            </a:r>
            <a:r>
              <a:rPr dirty="0" sz="1150" spc="-55" i="1">
                <a:latin typeface="Arial"/>
                <a:cs typeface="Arial"/>
              </a:rPr>
              <a:t>may </a:t>
            </a:r>
            <a:r>
              <a:rPr dirty="0" sz="1150" spc="-75" i="1">
                <a:latin typeface="Arial"/>
                <a:cs typeface="Arial"/>
              </a:rPr>
              <a:t>be  </a:t>
            </a:r>
            <a:r>
              <a:rPr dirty="0" sz="1150" spc="-50" i="1">
                <a:latin typeface="Arial"/>
                <a:cs typeface="Arial"/>
              </a:rPr>
              <a:t>called</a:t>
            </a:r>
            <a:r>
              <a:rPr dirty="0" sz="1150" spc="-65" i="1">
                <a:latin typeface="Arial"/>
                <a:cs typeface="Arial"/>
              </a:rPr>
              <a:t> </a:t>
            </a:r>
            <a:r>
              <a:rPr dirty="0" sz="1150" spc="-60" i="1">
                <a:latin typeface="Arial"/>
                <a:cs typeface="Arial"/>
              </a:rPr>
              <a:t>business.”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0255" y="5124706"/>
            <a:ext cx="13716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5">
                <a:latin typeface="Arial"/>
                <a:cs typeface="Arial"/>
              </a:rPr>
              <a:t>3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7463" y="5124706"/>
            <a:ext cx="5054600" cy="55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 b="1">
                <a:latin typeface="Arial"/>
                <a:cs typeface="Arial"/>
              </a:rPr>
              <a:t>In the </a:t>
            </a:r>
            <a:r>
              <a:rPr dirty="0" sz="1150" spc="-90" b="1">
                <a:latin typeface="Arial"/>
                <a:cs typeface="Arial"/>
              </a:rPr>
              <a:t>words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05" b="1">
                <a:latin typeface="Arial"/>
                <a:cs typeface="Arial"/>
              </a:rPr>
              <a:t>B. </a:t>
            </a:r>
            <a:r>
              <a:rPr dirty="0" sz="1150" spc="-30" b="1">
                <a:latin typeface="Arial"/>
                <a:cs typeface="Arial"/>
              </a:rPr>
              <a:t>W.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spc="-60" b="1">
                <a:latin typeface="Arial"/>
                <a:cs typeface="Arial"/>
              </a:rPr>
              <a:t>Wheeler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20" i="1">
                <a:latin typeface="Arial"/>
                <a:cs typeface="Arial"/>
              </a:rPr>
              <a:t>“An </a:t>
            </a:r>
            <a:r>
              <a:rPr dirty="0" sz="1150" spc="-15" i="1">
                <a:latin typeface="Arial"/>
                <a:cs typeface="Arial"/>
              </a:rPr>
              <a:t>institution </a:t>
            </a:r>
            <a:r>
              <a:rPr dirty="0" sz="1150" spc="-50" i="1">
                <a:latin typeface="Arial"/>
                <a:cs typeface="Arial"/>
              </a:rPr>
              <a:t>organized </a:t>
            </a:r>
            <a:r>
              <a:rPr dirty="0" sz="1150" spc="-55" i="1">
                <a:latin typeface="Arial"/>
                <a:cs typeface="Arial"/>
              </a:rPr>
              <a:t>and </a:t>
            </a:r>
            <a:r>
              <a:rPr dirty="0" sz="1150" spc="-40" i="1">
                <a:latin typeface="Arial"/>
                <a:cs typeface="Arial"/>
              </a:rPr>
              <a:t>operated </a:t>
            </a:r>
            <a:r>
              <a:rPr dirty="0" sz="1150" spc="5" i="1">
                <a:latin typeface="Arial"/>
                <a:cs typeface="Arial"/>
              </a:rPr>
              <a:t>to </a:t>
            </a:r>
            <a:r>
              <a:rPr dirty="0" sz="1150" spc="-45" i="1">
                <a:latin typeface="Arial"/>
                <a:cs typeface="Arial"/>
              </a:rPr>
              <a:t>provide </a:t>
            </a:r>
            <a:r>
              <a:rPr dirty="0" sz="1150" spc="-70" i="1">
                <a:latin typeface="Arial"/>
                <a:cs typeface="Arial"/>
              </a:rPr>
              <a:t>goods </a:t>
            </a:r>
            <a:r>
              <a:rPr dirty="0" sz="1150" spc="-55" i="1">
                <a:latin typeface="Arial"/>
                <a:cs typeface="Arial"/>
              </a:rPr>
              <a:t>and </a:t>
            </a:r>
            <a:r>
              <a:rPr dirty="0" sz="1150" spc="-75" i="1">
                <a:latin typeface="Arial"/>
                <a:cs typeface="Arial"/>
              </a:rPr>
              <a:t>services </a:t>
            </a:r>
            <a:r>
              <a:rPr dirty="0" sz="1150" spc="5" i="1">
                <a:latin typeface="Arial"/>
                <a:cs typeface="Arial"/>
              </a:rPr>
              <a:t>to </a:t>
            </a:r>
            <a:r>
              <a:rPr dirty="0" sz="1150" spc="-30" i="1">
                <a:latin typeface="Arial"/>
                <a:cs typeface="Arial"/>
              </a:rPr>
              <a:t>the </a:t>
            </a:r>
            <a:r>
              <a:rPr dirty="0" sz="1150" spc="-55" i="1">
                <a:latin typeface="Arial"/>
                <a:cs typeface="Arial"/>
              </a:rPr>
              <a:t>society,  </a:t>
            </a:r>
            <a:r>
              <a:rPr dirty="0" sz="1150" spc="-50" i="1">
                <a:latin typeface="Arial"/>
                <a:cs typeface="Arial"/>
              </a:rPr>
              <a:t>under </a:t>
            </a:r>
            <a:r>
              <a:rPr dirty="0" sz="1150" spc="-30" i="1">
                <a:latin typeface="Arial"/>
                <a:cs typeface="Arial"/>
              </a:rPr>
              <a:t>the </a:t>
            </a:r>
            <a:r>
              <a:rPr dirty="0" sz="1150" spc="-45" i="1">
                <a:latin typeface="Arial"/>
                <a:cs typeface="Arial"/>
              </a:rPr>
              <a:t>incentive </a:t>
            </a:r>
            <a:r>
              <a:rPr dirty="0" sz="1150" spc="-15" i="1">
                <a:latin typeface="Arial"/>
                <a:cs typeface="Arial"/>
              </a:rPr>
              <a:t>of </a:t>
            </a:r>
            <a:r>
              <a:rPr dirty="0" sz="1150" spc="-30" i="1">
                <a:latin typeface="Arial"/>
                <a:cs typeface="Arial"/>
              </a:rPr>
              <a:t>private </a:t>
            </a:r>
            <a:r>
              <a:rPr dirty="0" sz="1150" spc="-15" i="1">
                <a:latin typeface="Arial"/>
                <a:cs typeface="Arial"/>
              </a:rPr>
              <a:t>gain” </a:t>
            </a:r>
            <a:r>
              <a:rPr dirty="0" sz="1150" spc="-65" i="1">
                <a:latin typeface="Arial"/>
                <a:cs typeface="Arial"/>
              </a:rPr>
              <a:t>is</a:t>
            </a:r>
            <a:r>
              <a:rPr dirty="0" sz="1150" spc="-229" i="1">
                <a:latin typeface="Arial"/>
                <a:cs typeface="Arial"/>
              </a:rPr>
              <a:t> </a:t>
            </a:r>
            <a:r>
              <a:rPr dirty="0" sz="1150" spc="-75" i="1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30255" y="5837937"/>
            <a:ext cx="117157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75" b="1">
                <a:latin typeface="Arial"/>
                <a:cs typeface="Arial"/>
              </a:rPr>
              <a:t>Structural</a:t>
            </a:r>
            <a:r>
              <a:rPr dirty="0" sz="1150" spc="-100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Diagram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84575" y="6277355"/>
            <a:ext cx="916305" cy="344805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 marL="196215">
              <a:lnSpc>
                <a:spcPct val="100000"/>
              </a:lnSpc>
              <a:spcBef>
                <a:spcPts val="335"/>
              </a:spcBef>
            </a:pPr>
            <a:r>
              <a:rPr dirty="0" sz="1150" spc="-130" b="1">
                <a:latin typeface="Arial"/>
                <a:cs typeface="Arial"/>
              </a:rPr>
              <a:t>Business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98675" y="7205471"/>
            <a:ext cx="1030605" cy="460375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 marL="314960" marR="169545" indent="-139065">
              <a:lnSpc>
                <a:spcPct val="100899"/>
              </a:lnSpc>
              <a:spcBef>
                <a:spcPts val="335"/>
              </a:spcBef>
            </a:pPr>
            <a:r>
              <a:rPr dirty="0" sz="1150" spc="-110" b="1">
                <a:latin typeface="Arial"/>
                <a:cs typeface="Arial"/>
              </a:rPr>
              <a:t>Buying </a:t>
            </a:r>
            <a:r>
              <a:rPr dirty="0" sz="1150" spc="-90" b="1">
                <a:latin typeface="Arial"/>
                <a:cs typeface="Arial"/>
              </a:rPr>
              <a:t>and  </a:t>
            </a:r>
            <a:r>
              <a:rPr dirty="0" sz="1150" spc="-95" b="1">
                <a:latin typeface="Arial"/>
                <a:cs typeface="Arial"/>
              </a:rPr>
              <a:t>Selling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99076" y="7205471"/>
            <a:ext cx="1144905" cy="460375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 marL="371475" marR="227329" indent="-139065">
              <a:lnSpc>
                <a:spcPct val="100899"/>
              </a:lnSpc>
              <a:spcBef>
                <a:spcPts val="335"/>
              </a:spcBef>
            </a:pPr>
            <a:r>
              <a:rPr dirty="0" sz="1150" spc="-110" b="1">
                <a:latin typeface="Arial"/>
                <a:cs typeface="Arial"/>
              </a:rPr>
              <a:t>Buying </a:t>
            </a:r>
            <a:r>
              <a:rPr dirty="0" sz="1150" spc="-90" b="1">
                <a:latin typeface="Arial"/>
                <a:cs typeface="Arial"/>
              </a:rPr>
              <a:t>and  </a:t>
            </a:r>
            <a:r>
              <a:rPr dirty="0" sz="1150" spc="-95" b="1">
                <a:latin typeface="Arial"/>
                <a:cs typeface="Arial"/>
              </a:rPr>
              <a:t>Selling</a:t>
            </a:r>
            <a:endParaRPr sz="11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98875" y="8135111"/>
            <a:ext cx="916305" cy="346075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 marL="235585">
              <a:lnSpc>
                <a:spcPct val="100000"/>
              </a:lnSpc>
              <a:spcBef>
                <a:spcPts val="335"/>
              </a:spcBef>
            </a:pPr>
            <a:r>
              <a:rPr dirty="0" sz="1150" spc="-50" b="1">
                <a:latin typeface="Arial"/>
                <a:cs typeface="Arial"/>
              </a:rPr>
              <a:t>Wealth</a:t>
            </a:r>
            <a:endParaRPr sz="11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59000" y="8165084"/>
            <a:ext cx="97345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0119" algn="l"/>
              </a:tabLst>
            </a:pPr>
            <a:r>
              <a:rPr dirty="0" u="sng" sz="115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5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133600" y="7787640"/>
            <a:ext cx="76200" cy="576580"/>
          </a:xfrm>
          <a:custGeom>
            <a:avLst/>
            <a:gdLst/>
            <a:ahLst/>
            <a:cxnLst/>
            <a:rect l="l" t="t" r="r" b="b"/>
            <a:pathLst>
              <a:path w="76200" h="576579">
                <a:moveTo>
                  <a:pt x="38100" y="59436"/>
                </a:moveTo>
                <a:lnTo>
                  <a:pt x="35052" y="60960"/>
                </a:lnTo>
                <a:lnTo>
                  <a:pt x="33528" y="64008"/>
                </a:lnTo>
                <a:lnTo>
                  <a:pt x="33528" y="571500"/>
                </a:lnTo>
                <a:lnTo>
                  <a:pt x="35052" y="576072"/>
                </a:lnTo>
                <a:lnTo>
                  <a:pt x="41148" y="576072"/>
                </a:lnTo>
                <a:lnTo>
                  <a:pt x="42672" y="571500"/>
                </a:lnTo>
                <a:lnTo>
                  <a:pt x="42672" y="64008"/>
                </a:lnTo>
                <a:lnTo>
                  <a:pt x="41148" y="60960"/>
                </a:lnTo>
                <a:lnTo>
                  <a:pt x="38100" y="59436"/>
                </a:lnTo>
                <a:close/>
              </a:path>
              <a:path w="76200" h="576579">
                <a:moveTo>
                  <a:pt x="38100" y="0"/>
                </a:moveTo>
                <a:lnTo>
                  <a:pt x="0" y="76200"/>
                </a:lnTo>
                <a:lnTo>
                  <a:pt x="33528" y="76200"/>
                </a:lnTo>
                <a:lnTo>
                  <a:pt x="33528" y="64008"/>
                </a:lnTo>
                <a:lnTo>
                  <a:pt x="35052" y="60960"/>
                </a:lnTo>
                <a:lnTo>
                  <a:pt x="38100" y="59436"/>
                </a:lnTo>
                <a:lnTo>
                  <a:pt x="67818" y="59436"/>
                </a:lnTo>
                <a:lnTo>
                  <a:pt x="38100" y="0"/>
                </a:lnTo>
                <a:close/>
              </a:path>
              <a:path w="76200" h="576579">
                <a:moveTo>
                  <a:pt x="67818" y="59436"/>
                </a:moveTo>
                <a:lnTo>
                  <a:pt x="38100" y="59436"/>
                </a:lnTo>
                <a:lnTo>
                  <a:pt x="41148" y="60960"/>
                </a:lnTo>
                <a:lnTo>
                  <a:pt x="42672" y="64008"/>
                </a:lnTo>
                <a:lnTo>
                  <a:pt x="42672" y="76200"/>
                </a:lnTo>
                <a:lnTo>
                  <a:pt x="76200" y="76200"/>
                </a:lnTo>
                <a:lnTo>
                  <a:pt x="67818" y="59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2167020" y="6470903"/>
            <a:ext cx="805180" cy="609600"/>
            <a:chOff x="2167020" y="6470903"/>
            <a:chExt cx="805180" cy="609600"/>
          </a:xfrm>
        </p:grpSpPr>
        <p:sp>
          <p:nvSpPr>
            <p:cNvPr id="20" name="object 20"/>
            <p:cNvSpPr/>
            <p:nvPr/>
          </p:nvSpPr>
          <p:spPr>
            <a:xfrm>
              <a:off x="2171700" y="6509004"/>
              <a:ext cx="0" cy="571500"/>
            </a:xfrm>
            <a:custGeom>
              <a:avLst/>
              <a:gdLst/>
              <a:ahLst/>
              <a:cxnLst/>
              <a:rect l="l" t="t" r="r" b="b"/>
              <a:pathLst>
                <a:path w="0" h="571500">
                  <a:moveTo>
                    <a:pt x="0" y="571499"/>
                  </a:moveTo>
                  <a:lnTo>
                    <a:pt x="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167128" y="6470903"/>
              <a:ext cx="805180" cy="76200"/>
            </a:xfrm>
            <a:custGeom>
              <a:avLst/>
              <a:gdLst/>
              <a:ahLst/>
              <a:cxnLst/>
              <a:rect l="l" t="t" r="r" b="b"/>
              <a:pathLst>
                <a:path w="805180" h="76200">
                  <a:moveTo>
                    <a:pt x="728472" y="0"/>
                  </a:moveTo>
                  <a:lnTo>
                    <a:pt x="728472" y="76200"/>
                  </a:lnTo>
                  <a:lnTo>
                    <a:pt x="795528" y="42672"/>
                  </a:lnTo>
                  <a:lnTo>
                    <a:pt x="740664" y="42672"/>
                  </a:lnTo>
                  <a:lnTo>
                    <a:pt x="745236" y="41148"/>
                  </a:lnTo>
                  <a:lnTo>
                    <a:pt x="745236" y="35052"/>
                  </a:lnTo>
                  <a:lnTo>
                    <a:pt x="740664" y="33528"/>
                  </a:lnTo>
                  <a:lnTo>
                    <a:pt x="795528" y="33528"/>
                  </a:lnTo>
                  <a:lnTo>
                    <a:pt x="728472" y="0"/>
                  </a:lnTo>
                  <a:close/>
                </a:path>
                <a:path w="805180" h="76200">
                  <a:moveTo>
                    <a:pt x="728472" y="33528"/>
                  </a:moveTo>
                  <a:lnTo>
                    <a:pt x="4572" y="33528"/>
                  </a:lnTo>
                  <a:lnTo>
                    <a:pt x="1524" y="35052"/>
                  </a:lnTo>
                  <a:lnTo>
                    <a:pt x="0" y="38100"/>
                  </a:lnTo>
                  <a:lnTo>
                    <a:pt x="1524" y="41148"/>
                  </a:lnTo>
                  <a:lnTo>
                    <a:pt x="4572" y="42672"/>
                  </a:lnTo>
                  <a:lnTo>
                    <a:pt x="728472" y="42672"/>
                  </a:lnTo>
                  <a:lnTo>
                    <a:pt x="728472" y="33528"/>
                  </a:lnTo>
                  <a:close/>
                </a:path>
                <a:path w="805180" h="76200">
                  <a:moveTo>
                    <a:pt x="795528" y="33528"/>
                  </a:moveTo>
                  <a:lnTo>
                    <a:pt x="740664" y="33528"/>
                  </a:lnTo>
                  <a:lnTo>
                    <a:pt x="745236" y="35052"/>
                  </a:lnTo>
                  <a:lnTo>
                    <a:pt x="745236" y="41148"/>
                  </a:lnTo>
                  <a:lnTo>
                    <a:pt x="740664" y="42672"/>
                  </a:lnTo>
                  <a:lnTo>
                    <a:pt x="795528" y="42672"/>
                  </a:lnTo>
                  <a:lnTo>
                    <a:pt x="804672" y="38100"/>
                  </a:lnTo>
                  <a:lnTo>
                    <a:pt x="795528" y="33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4114800" y="6390023"/>
            <a:ext cx="1181100" cy="690880"/>
            <a:chOff x="4114800" y="6390023"/>
            <a:chExt cx="1181100" cy="690880"/>
          </a:xfrm>
        </p:grpSpPr>
        <p:sp>
          <p:nvSpPr>
            <p:cNvPr id="23" name="object 23"/>
            <p:cNvSpPr/>
            <p:nvPr/>
          </p:nvSpPr>
          <p:spPr>
            <a:xfrm>
              <a:off x="4114800" y="6394703"/>
              <a:ext cx="1143000" cy="0"/>
            </a:xfrm>
            <a:custGeom>
              <a:avLst/>
              <a:gdLst/>
              <a:ahLst/>
              <a:cxnLst/>
              <a:rect l="l" t="t" r="r" b="b"/>
              <a:pathLst>
                <a:path w="1143000" h="0">
                  <a:moveTo>
                    <a:pt x="0" y="0"/>
                  </a:moveTo>
                  <a:lnTo>
                    <a:pt x="1142999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219700" y="6390131"/>
              <a:ext cx="76200" cy="690880"/>
            </a:xfrm>
            <a:custGeom>
              <a:avLst/>
              <a:gdLst/>
              <a:ahLst/>
              <a:cxnLst/>
              <a:rect l="l" t="t" r="r" b="b"/>
              <a:pathLst>
                <a:path w="76200" h="690879">
                  <a:moveTo>
                    <a:pt x="33528" y="614172"/>
                  </a:moveTo>
                  <a:lnTo>
                    <a:pt x="0" y="614172"/>
                  </a:lnTo>
                  <a:lnTo>
                    <a:pt x="38100" y="690372"/>
                  </a:lnTo>
                  <a:lnTo>
                    <a:pt x="67056" y="632460"/>
                  </a:lnTo>
                  <a:lnTo>
                    <a:pt x="38100" y="632460"/>
                  </a:lnTo>
                  <a:lnTo>
                    <a:pt x="35052" y="630936"/>
                  </a:lnTo>
                  <a:lnTo>
                    <a:pt x="33528" y="627888"/>
                  </a:lnTo>
                  <a:lnTo>
                    <a:pt x="33528" y="614172"/>
                  </a:lnTo>
                  <a:close/>
                </a:path>
                <a:path w="76200" h="690879">
                  <a:moveTo>
                    <a:pt x="38100" y="0"/>
                  </a:moveTo>
                  <a:lnTo>
                    <a:pt x="35052" y="1524"/>
                  </a:lnTo>
                  <a:lnTo>
                    <a:pt x="33528" y="4572"/>
                  </a:lnTo>
                  <a:lnTo>
                    <a:pt x="33528" y="627888"/>
                  </a:lnTo>
                  <a:lnTo>
                    <a:pt x="35052" y="630936"/>
                  </a:lnTo>
                  <a:lnTo>
                    <a:pt x="38100" y="632460"/>
                  </a:lnTo>
                  <a:lnTo>
                    <a:pt x="41148" y="630936"/>
                  </a:lnTo>
                  <a:lnTo>
                    <a:pt x="42672" y="627888"/>
                  </a:lnTo>
                  <a:lnTo>
                    <a:pt x="42672" y="4572"/>
                  </a:lnTo>
                  <a:lnTo>
                    <a:pt x="41148" y="1524"/>
                  </a:lnTo>
                  <a:lnTo>
                    <a:pt x="38100" y="0"/>
                  </a:lnTo>
                  <a:close/>
                </a:path>
                <a:path w="76200" h="690879">
                  <a:moveTo>
                    <a:pt x="76200" y="614172"/>
                  </a:moveTo>
                  <a:lnTo>
                    <a:pt x="42672" y="614172"/>
                  </a:lnTo>
                  <a:lnTo>
                    <a:pt x="42672" y="627888"/>
                  </a:lnTo>
                  <a:lnTo>
                    <a:pt x="41148" y="630936"/>
                  </a:lnTo>
                  <a:lnTo>
                    <a:pt x="38100" y="632460"/>
                  </a:lnTo>
                  <a:lnTo>
                    <a:pt x="67056" y="632460"/>
                  </a:lnTo>
                  <a:lnTo>
                    <a:pt x="76200" y="6141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4229100" y="7673340"/>
            <a:ext cx="1033780" cy="736600"/>
            <a:chOff x="4229100" y="7673340"/>
            <a:chExt cx="1033780" cy="736600"/>
          </a:xfrm>
        </p:grpSpPr>
        <p:sp>
          <p:nvSpPr>
            <p:cNvPr id="26" name="object 26"/>
            <p:cNvSpPr/>
            <p:nvPr/>
          </p:nvSpPr>
          <p:spPr>
            <a:xfrm>
              <a:off x="5257799" y="7673340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w="0" h="685800">
                  <a:moveTo>
                    <a:pt x="0" y="0"/>
                  </a:moveTo>
                  <a:lnTo>
                    <a:pt x="0" y="685799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229100" y="8333232"/>
              <a:ext cx="1033780" cy="76200"/>
            </a:xfrm>
            <a:custGeom>
              <a:avLst/>
              <a:gdLst/>
              <a:ahLst/>
              <a:cxnLst/>
              <a:rect l="l" t="t" r="r" b="b"/>
              <a:pathLst>
                <a:path w="1033779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2672"/>
                  </a:lnTo>
                  <a:lnTo>
                    <a:pt x="59436" y="42672"/>
                  </a:lnTo>
                  <a:lnTo>
                    <a:pt x="59436" y="35052"/>
                  </a:lnTo>
                  <a:lnTo>
                    <a:pt x="64008" y="33528"/>
                  </a:lnTo>
                  <a:lnTo>
                    <a:pt x="76200" y="33528"/>
                  </a:lnTo>
                  <a:lnTo>
                    <a:pt x="76200" y="0"/>
                  </a:lnTo>
                  <a:close/>
                </a:path>
                <a:path w="1033779" h="76200">
                  <a:moveTo>
                    <a:pt x="76200" y="33528"/>
                  </a:moveTo>
                  <a:lnTo>
                    <a:pt x="64008" y="33528"/>
                  </a:lnTo>
                  <a:lnTo>
                    <a:pt x="59436" y="35052"/>
                  </a:lnTo>
                  <a:lnTo>
                    <a:pt x="59436" y="42672"/>
                  </a:lnTo>
                  <a:lnTo>
                    <a:pt x="76200" y="42672"/>
                  </a:lnTo>
                  <a:lnTo>
                    <a:pt x="76200" y="33528"/>
                  </a:lnTo>
                  <a:close/>
                </a:path>
                <a:path w="1033779" h="76200">
                  <a:moveTo>
                    <a:pt x="1028700" y="33528"/>
                  </a:moveTo>
                  <a:lnTo>
                    <a:pt x="76200" y="33528"/>
                  </a:lnTo>
                  <a:lnTo>
                    <a:pt x="76200" y="42672"/>
                  </a:lnTo>
                  <a:lnTo>
                    <a:pt x="1031748" y="42672"/>
                  </a:lnTo>
                  <a:lnTo>
                    <a:pt x="1033272" y="38100"/>
                  </a:lnTo>
                  <a:lnTo>
                    <a:pt x="1031748" y="35052"/>
                  </a:lnTo>
                  <a:lnTo>
                    <a:pt x="1028700" y="33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1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4340" cy="789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85" b="1">
                <a:latin typeface="Arial"/>
                <a:cs typeface="Arial"/>
              </a:rPr>
              <a:t>CHARACTERISTICS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45">
                <a:latin typeface="Arial"/>
                <a:cs typeface="Arial"/>
              </a:rPr>
              <a:t>Following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essential </a:t>
            </a:r>
            <a:r>
              <a:rPr dirty="0" sz="1150" spc="-45">
                <a:latin typeface="Arial"/>
                <a:cs typeface="Arial"/>
              </a:rPr>
              <a:t>characteristics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good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business: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dirty="0" sz="1150" spc="-75" b="1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Capital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lifeblood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most </a:t>
            </a:r>
            <a:r>
              <a:rPr dirty="0" sz="1150" spc="-50">
                <a:latin typeface="Arial"/>
                <a:cs typeface="Arial"/>
              </a:rPr>
              <a:t>essential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0">
                <a:latin typeface="Arial"/>
                <a:cs typeface="Arial"/>
              </a:rPr>
              <a:t>important </a:t>
            </a:r>
            <a:r>
              <a:rPr dirty="0" sz="1150" spc="-30">
                <a:latin typeface="Arial"/>
                <a:cs typeface="Arial"/>
              </a:rPr>
              <a:t>element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deficiency, </a:t>
            </a:r>
            <a:r>
              <a:rPr dirty="0" sz="1150" spc="-60">
                <a:latin typeface="Arial"/>
                <a:cs typeface="Arial"/>
              </a:rPr>
              <a:t>loans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0">
                <a:latin typeface="Arial"/>
                <a:cs typeface="Arial"/>
              </a:rPr>
              <a:t>taken </a:t>
            </a:r>
            <a:r>
              <a:rPr dirty="0" sz="1150" spc="-15">
                <a:latin typeface="Arial"/>
                <a:cs typeface="Arial"/>
              </a:rPr>
              <a:t>from </a:t>
            </a:r>
            <a:r>
              <a:rPr dirty="0" sz="1150" spc="-50">
                <a:latin typeface="Arial"/>
                <a:cs typeface="Arial"/>
              </a:rPr>
              <a:t>various </a:t>
            </a:r>
            <a:r>
              <a:rPr dirty="0" sz="1150" spc="-35">
                <a:latin typeface="Arial"/>
                <a:cs typeface="Arial"/>
              </a:rPr>
              <a:t>financial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institutions.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1150" spc="-75" b="1">
                <a:latin typeface="Arial"/>
                <a:cs typeface="Arial"/>
              </a:rPr>
              <a:t>Creation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40" b="1">
                <a:latin typeface="Arial"/>
                <a:cs typeface="Arial"/>
              </a:rPr>
              <a:t>Utility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5">
                <a:latin typeface="Arial"/>
                <a:cs typeface="Arial"/>
              </a:rPr>
              <a:t>Utility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15">
                <a:latin typeface="Arial"/>
                <a:cs typeface="Arial"/>
              </a:rPr>
              <a:t>term </a:t>
            </a:r>
            <a:r>
              <a:rPr dirty="0" sz="1150" spc="-25">
                <a:latin typeface="Arial"/>
                <a:cs typeface="Arial"/>
              </a:rPr>
              <a:t>referring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0">
                <a:latin typeface="Arial"/>
                <a:cs typeface="Arial"/>
              </a:rPr>
              <a:t>characteristic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certain commodity, which 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45">
                <a:latin typeface="Arial"/>
                <a:cs typeface="Arial"/>
              </a:rPr>
              <a:t>satisfy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50">
                <a:latin typeface="Arial"/>
                <a:cs typeface="Arial"/>
              </a:rPr>
              <a:t>human need. </a:t>
            </a: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 spc="-55">
                <a:latin typeface="Arial"/>
                <a:cs typeface="Arial"/>
              </a:rPr>
              <a:t>creates </a:t>
            </a:r>
            <a:r>
              <a:rPr dirty="0" sz="1150">
                <a:latin typeface="Arial"/>
                <a:cs typeface="Arial"/>
              </a:rPr>
              <a:t>utility,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75">
                <a:latin typeface="Arial"/>
                <a:cs typeface="Arial"/>
              </a:rPr>
              <a:t>gives </a:t>
            </a:r>
            <a:r>
              <a:rPr dirty="0" sz="1150" spc="-20">
                <a:latin typeface="Arial"/>
                <a:cs typeface="Arial"/>
              </a:rPr>
              <a:t>benefit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entire 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15">
                <a:latin typeface="Arial"/>
                <a:cs typeface="Arial"/>
              </a:rPr>
              <a:t>well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3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businessmen.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150" spc="-85" b="1">
                <a:latin typeface="Arial"/>
                <a:cs typeface="Arial"/>
              </a:rPr>
              <a:t>Dealing </a:t>
            </a:r>
            <a:r>
              <a:rPr dirty="0" sz="1150" spc="-60" b="1">
                <a:latin typeface="Arial"/>
                <a:cs typeface="Arial"/>
              </a:rPr>
              <a:t>in </a:t>
            </a:r>
            <a:r>
              <a:rPr dirty="0" sz="1150" spc="-125" b="1">
                <a:latin typeface="Arial"/>
                <a:cs typeface="Arial"/>
              </a:rPr>
              <a:t>Goods </a:t>
            </a:r>
            <a:r>
              <a:rPr dirty="0" sz="1150" spc="-90" b="1">
                <a:latin typeface="Arial"/>
                <a:cs typeface="Arial"/>
              </a:rPr>
              <a:t>and</a:t>
            </a:r>
            <a:r>
              <a:rPr dirty="0" sz="1150" spc="30" b="1">
                <a:latin typeface="Arial"/>
                <a:cs typeface="Arial"/>
              </a:rPr>
              <a:t> </a:t>
            </a:r>
            <a:r>
              <a:rPr dirty="0" sz="1150" spc="-114" b="1">
                <a:latin typeface="Arial"/>
                <a:cs typeface="Arial"/>
              </a:rPr>
              <a:t>Services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3"/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Every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deals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65">
                <a:latin typeface="Arial"/>
                <a:cs typeface="Arial"/>
              </a:rPr>
              <a:t>sale, </a:t>
            </a:r>
            <a:r>
              <a:rPr dirty="0" sz="1150" spc="-60">
                <a:latin typeface="Arial"/>
                <a:cs typeface="Arial"/>
              </a:rPr>
              <a:t>purchase,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5">
                <a:latin typeface="Arial"/>
                <a:cs typeface="Arial"/>
              </a:rPr>
              <a:t>exchange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35">
                <a:latin typeface="Arial"/>
                <a:cs typeface="Arial"/>
              </a:rPr>
              <a:t>consideration.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4"/>
              <a:tabLst>
                <a:tab pos="469265" algn="l"/>
                <a:tab pos="469900" algn="l"/>
              </a:tabLst>
            </a:pPr>
            <a:r>
              <a:rPr dirty="0" sz="1150" spc="-85" b="1">
                <a:latin typeface="Arial"/>
                <a:cs typeface="Arial"/>
              </a:rPr>
              <a:t>Employment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4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good </a:t>
            </a:r>
            <a:r>
              <a:rPr dirty="0" sz="1150" spc="-60">
                <a:latin typeface="Arial"/>
                <a:cs typeface="Arial"/>
              </a:rPr>
              <a:t>source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employment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45">
                <a:latin typeface="Arial"/>
                <a:cs typeface="Arial"/>
              </a:rPr>
              <a:t>owners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well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40">
                <a:latin typeface="Arial"/>
                <a:cs typeface="Arial"/>
              </a:rPr>
              <a:t>people,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50">
                <a:latin typeface="Arial"/>
                <a:cs typeface="Arial"/>
              </a:rPr>
              <a:t>example, </a:t>
            </a:r>
            <a:r>
              <a:rPr dirty="0" sz="1150" spc="-55">
                <a:latin typeface="Arial"/>
                <a:cs typeface="Arial"/>
              </a:rPr>
              <a:t>employees, </a:t>
            </a:r>
            <a:r>
              <a:rPr dirty="0" sz="1150" spc="-60">
                <a:latin typeface="Arial"/>
                <a:cs typeface="Arial"/>
              </a:rPr>
              <a:t>agents, </a:t>
            </a:r>
            <a:r>
              <a:rPr dirty="0" sz="1150" spc="-30">
                <a:latin typeface="Arial"/>
                <a:cs typeface="Arial"/>
              </a:rPr>
              <a:t>transporters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469265" algn="l"/>
                <a:tab pos="469900" algn="l"/>
              </a:tabLst>
            </a:pPr>
            <a:r>
              <a:rPr dirty="0" sz="1150" spc="-85" b="1">
                <a:latin typeface="Arial"/>
                <a:cs typeface="Arial"/>
              </a:rPr>
              <a:t>Islamic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130" b="1">
                <a:latin typeface="Arial"/>
                <a:cs typeface="Arial"/>
              </a:rPr>
              <a:t>Process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5"/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55">
                <a:latin typeface="Arial"/>
                <a:cs typeface="Arial"/>
              </a:rPr>
              <a:t>Islamic </a:t>
            </a:r>
            <a:r>
              <a:rPr dirty="0" sz="1150" spc="-50">
                <a:latin typeface="Arial"/>
                <a:cs typeface="Arial"/>
              </a:rPr>
              <a:t>way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earning </a:t>
            </a:r>
            <a:r>
              <a:rPr dirty="0" sz="1150" spc="-30">
                <a:latin typeface="Arial"/>
                <a:cs typeface="Arial"/>
              </a:rPr>
              <a:t>living. </a:t>
            </a:r>
            <a:r>
              <a:rPr dirty="0" sz="1150" spc="-50">
                <a:latin typeface="Arial"/>
                <a:cs typeface="Arial"/>
              </a:rPr>
              <a:t>Income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known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>
                <a:latin typeface="Arial"/>
                <a:cs typeface="Arial"/>
              </a:rPr>
              <a:t>profit, </a:t>
            </a:r>
            <a:r>
              <a:rPr dirty="0" sz="1150" spc="-35">
                <a:latin typeface="Arial"/>
                <a:cs typeface="Arial"/>
              </a:rPr>
              <a:t>which  </a:t>
            </a:r>
            <a:r>
              <a:rPr dirty="0" sz="1150" spc="-65">
                <a:latin typeface="Arial"/>
                <a:cs typeface="Arial"/>
              </a:rPr>
              <a:t>is Rizq-e-Halal.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Holy </a:t>
            </a:r>
            <a:r>
              <a:rPr dirty="0" sz="1150" spc="-40">
                <a:latin typeface="Arial"/>
                <a:cs typeface="Arial"/>
              </a:rPr>
              <a:t>Prophet </a:t>
            </a:r>
            <a:r>
              <a:rPr dirty="0" sz="1150" spc="-45">
                <a:latin typeface="Arial"/>
                <a:cs typeface="Arial"/>
              </a:rPr>
              <a:t>Muhammad </a:t>
            </a:r>
            <a:r>
              <a:rPr dirty="0" sz="1150" spc="-35">
                <a:latin typeface="Arial"/>
                <a:cs typeface="Arial"/>
              </a:rPr>
              <a:t>himself </a:t>
            </a:r>
            <a:r>
              <a:rPr dirty="0" sz="1150" spc="-25">
                <a:latin typeface="Arial"/>
                <a:cs typeface="Arial"/>
              </a:rPr>
              <a:t>did </a:t>
            </a:r>
            <a:r>
              <a:rPr dirty="0" sz="1150" spc="-50">
                <a:latin typeface="Arial"/>
                <a:cs typeface="Arial"/>
              </a:rPr>
              <a:t>prosperous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6"/>
              <a:tabLst>
                <a:tab pos="469265" algn="l"/>
                <a:tab pos="469900" algn="l"/>
              </a:tabLst>
            </a:pPr>
            <a:r>
              <a:rPr dirty="0" sz="1150" spc="-40" b="1">
                <a:latin typeface="Arial"/>
                <a:cs typeface="Arial"/>
              </a:rPr>
              <a:t>Motive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6"/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motive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earn </a:t>
            </a:r>
            <a:r>
              <a:rPr dirty="0" sz="1150">
                <a:latin typeface="Arial"/>
                <a:cs typeface="Arial"/>
              </a:rPr>
              <a:t>profit. </a:t>
            </a:r>
            <a:r>
              <a:rPr dirty="0" sz="1150" spc="-45">
                <a:latin typeface="Arial"/>
                <a:cs typeface="Arial"/>
              </a:rPr>
              <a:t>Otherwise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5">
                <a:latin typeface="Arial"/>
                <a:cs typeface="Arial"/>
              </a:rPr>
              <a:t>termed </a:t>
            </a:r>
            <a:r>
              <a:rPr dirty="0" sz="1150" spc="-114">
                <a:latin typeface="Arial"/>
                <a:cs typeface="Arial"/>
              </a:rPr>
              <a:t>as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7"/>
              <a:tabLst>
                <a:tab pos="469265" algn="l"/>
                <a:tab pos="469900" algn="l"/>
              </a:tabLst>
            </a:pPr>
            <a:r>
              <a:rPr dirty="0" sz="1150" spc="-80" b="1">
                <a:latin typeface="Arial"/>
                <a:cs typeface="Arial"/>
              </a:rPr>
              <a:t>Organization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7"/>
            </a:pPr>
            <a:endParaRPr sz="120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Every </a:t>
            </a:r>
            <a:r>
              <a:rPr dirty="0" sz="1150" spc="-70">
                <a:latin typeface="Arial"/>
                <a:cs typeface="Arial"/>
              </a:rPr>
              <a:t>business needs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65">
                <a:latin typeface="Arial"/>
                <a:cs typeface="Arial"/>
              </a:rPr>
              <a:t>successful </a:t>
            </a:r>
            <a:r>
              <a:rPr dirty="0" sz="1150" spc="-30">
                <a:latin typeface="Arial"/>
                <a:cs typeface="Arial"/>
              </a:rPr>
              <a:t>working.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proper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25">
                <a:latin typeface="Arial"/>
                <a:cs typeface="Arial"/>
              </a:rPr>
              <a:t>helpful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35">
                <a:latin typeface="Arial"/>
                <a:cs typeface="Arial"/>
              </a:rPr>
              <a:t>smooth running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55">
                <a:latin typeface="Arial"/>
                <a:cs typeface="Arial"/>
              </a:rPr>
              <a:t>and achieving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objectives.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8"/>
              <a:tabLst>
                <a:tab pos="469265" algn="l"/>
                <a:tab pos="469900" algn="l"/>
              </a:tabLst>
            </a:pPr>
            <a:r>
              <a:rPr dirty="0" sz="1150" spc="-95" b="1">
                <a:latin typeface="Arial"/>
                <a:cs typeface="Arial"/>
              </a:rPr>
              <a:t>Productions </a:t>
            </a:r>
            <a:r>
              <a:rPr dirty="0" sz="1150" spc="-60" b="1">
                <a:latin typeface="Arial"/>
                <a:cs typeface="Arial"/>
              </a:rPr>
              <a:t>or </a:t>
            </a:r>
            <a:r>
              <a:rPr dirty="0" sz="1150" spc="-110" b="1">
                <a:latin typeface="Arial"/>
                <a:cs typeface="Arial"/>
              </a:rPr>
              <a:t>Purchase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5" b="1">
                <a:latin typeface="Arial"/>
                <a:cs typeface="Arial"/>
              </a:rPr>
              <a:t> </a:t>
            </a:r>
            <a:r>
              <a:rPr dirty="0" sz="1150" spc="-125" b="1">
                <a:latin typeface="Arial"/>
                <a:cs typeface="Arial"/>
              </a:rPr>
              <a:t>Goods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65">
                <a:latin typeface="Arial"/>
                <a:cs typeface="Arial"/>
              </a:rPr>
              <a:t>deals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0">
                <a:latin typeface="Arial"/>
                <a:cs typeface="Arial"/>
              </a:rPr>
              <a:t>purchase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goods. </a:t>
            </a: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supplied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0">
                <a:latin typeface="Arial"/>
                <a:cs typeface="Arial"/>
              </a:rPr>
              <a:t>people. </a:t>
            </a:r>
            <a:r>
              <a:rPr dirty="0" sz="1150" spc="-105">
                <a:latin typeface="Arial"/>
                <a:cs typeface="Arial"/>
              </a:rPr>
              <a:t>So,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75">
                <a:latin typeface="Arial"/>
                <a:cs typeface="Arial"/>
              </a:rPr>
              <a:t>necessary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0">
                <a:latin typeface="Arial"/>
                <a:cs typeface="Arial"/>
              </a:rPr>
              <a:t>produced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0">
                <a:latin typeface="Arial"/>
                <a:cs typeface="Arial"/>
              </a:rPr>
              <a:t>demand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people 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15">
                <a:latin typeface="Arial"/>
                <a:cs typeface="Arial"/>
              </a:rPr>
              <a:t>fulfilled.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7332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9"/>
              <a:tabLst>
                <a:tab pos="469265" algn="l"/>
                <a:tab pos="469900" algn="l"/>
              </a:tabLst>
            </a:pPr>
            <a:r>
              <a:rPr dirty="0" sz="1150" spc="-90" b="1">
                <a:latin typeface="Arial"/>
                <a:cs typeface="Arial"/>
              </a:rPr>
              <a:t>Regular</a:t>
            </a:r>
            <a:r>
              <a:rPr dirty="0" sz="1150" spc="-75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Transaction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Business has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nature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regular </a:t>
            </a:r>
            <a:r>
              <a:rPr dirty="0" sz="1150" spc="-60">
                <a:latin typeface="Arial"/>
                <a:cs typeface="Arial"/>
              </a:rPr>
              <a:t>dealings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series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transactions. </a:t>
            </a:r>
            <a:r>
              <a:rPr dirty="0" sz="1150" spc="-110">
                <a:latin typeface="Arial"/>
                <a:cs typeface="Arial"/>
              </a:rPr>
              <a:t>So,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5">
                <a:latin typeface="Arial"/>
                <a:cs typeface="Arial"/>
              </a:rPr>
              <a:t>business, </a:t>
            </a:r>
            <a:r>
              <a:rPr dirty="0" sz="1150" spc="-30">
                <a:latin typeface="Arial"/>
                <a:cs typeface="Arial"/>
              </a:rPr>
              <a:t>only  </a:t>
            </a:r>
            <a:r>
              <a:rPr dirty="0" sz="1150" spc="-40">
                <a:latin typeface="Arial"/>
                <a:cs typeface="Arial"/>
              </a:rPr>
              <a:t>those </a:t>
            </a:r>
            <a:r>
              <a:rPr dirty="0" sz="1150" spc="-45">
                <a:latin typeface="Arial"/>
                <a:cs typeface="Arial"/>
              </a:rPr>
              <a:t>transactions </a:t>
            </a:r>
            <a:r>
              <a:rPr dirty="0" sz="1150" spc="-40">
                <a:latin typeface="Arial"/>
                <a:cs typeface="Arial"/>
              </a:rPr>
              <a:t>included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30">
                <a:latin typeface="Arial"/>
                <a:cs typeface="Arial"/>
              </a:rPr>
              <a:t>regularity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continuity.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0"/>
              <a:tabLst>
                <a:tab pos="469265" algn="l"/>
                <a:tab pos="470534" algn="l"/>
              </a:tabLst>
            </a:pPr>
            <a:r>
              <a:rPr dirty="0" sz="1150" spc="-135" b="1">
                <a:latin typeface="Arial"/>
                <a:cs typeface="Arial"/>
              </a:rPr>
              <a:t>Risks </a:t>
            </a:r>
            <a:r>
              <a:rPr dirty="0" sz="1150" spc="-85" b="1">
                <a:latin typeface="Arial"/>
                <a:cs typeface="Arial"/>
              </a:rPr>
              <a:t>and</a:t>
            </a:r>
            <a:r>
              <a:rPr dirty="0" sz="1150" spc="-175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Uncertainty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0"/>
            </a:pPr>
            <a:endParaRPr sz="1200">
              <a:latin typeface="Arial"/>
              <a:cs typeface="Arial"/>
            </a:endParaRPr>
          </a:p>
          <a:p>
            <a:pPr marL="12700" marR="571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 spc="-50">
                <a:latin typeface="Arial"/>
                <a:cs typeface="Arial"/>
              </a:rPr>
              <a:t>involves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large </a:t>
            </a:r>
            <a:r>
              <a:rPr dirty="0" sz="1150" spc="-40">
                <a:latin typeface="Arial"/>
                <a:cs typeface="Arial"/>
              </a:rPr>
              <a:t>volume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risk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uncertainty.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risk </a:t>
            </a:r>
            <a:r>
              <a:rPr dirty="0" sz="1150" spc="-30">
                <a:latin typeface="Arial"/>
                <a:cs typeface="Arial"/>
              </a:rPr>
              <a:t>element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80">
                <a:latin typeface="Arial"/>
                <a:cs typeface="Arial"/>
              </a:rPr>
              <a:t>keeps 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30">
                <a:latin typeface="Arial"/>
                <a:cs typeface="Arial"/>
              </a:rPr>
              <a:t>vigilant </a:t>
            </a:r>
            <a:r>
              <a:rPr dirty="0" sz="1150" spc="-55">
                <a:latin typeface="Arial"/>
                <a:cs typeface="Arial"/>
              </a:rPr>
              <a:t>and he </a:t>
            </a:r>
            <a:r>
              <a:rPr dirty="0" sz="1150" spc="-25">
                <a:latin typeface="Arial"/>
                <a:cs typeface="Arial"/>
              </a:rPr>
              <a:t>tries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ward </a:t>
            </a:r>
            <a:r>
              <a:rPr dirty="0" sz="1150" spc="5">
                <a:latin typeface="Arial"/>
                <a:cs typeface="Arial"/>
              </a:rPr>
              <a:t>off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40">
                <a:latin typeface="Arial"/>
                <a:cs typeface="Arial"/>
              </a:rPr>
              <a:t>risk </a:t>
            </a:r>
            <a:r>
              <a:rPr dirty="0" sz="1150" spc="-50">
                <a:latin typeface="Arial"/>
                <a:cs typeface="Arial"/>
              </a:rPr>
              <a:t>by executing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45">
                <a:latin typeface="Arial"/>
                <a:cs typeface="Arial"/>
              </a:rPr>
              <a:t>policies </a:t>
            </a:r>
            <a:r>
              <a:rPr dirty="0" sz="1150" spc="-30">
                <a:latin typeface="Arial"/>
                <a:cs typeface="Arial"/>
              </a:rPr>
              <a:t>properly.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1"/>
              <a:tabLst>
                <a:tab pos="469265" algn="l"/>
                <a:tab pos="470534" algn="l"/>
              </a:tabLst>
            </a:pPr>
            <a:r>
              <a:rPr dirty="0" sz="1150" spc="-100" b="1">
                <a:latin typeface="Arial"/>
                <a:cs typeface="Arial"/>
              </a:rPr>
              <a:t>Sale </a:t>
            </a:r>
            <a:r>
              <a:rPr dirty="0" sz="1150" spc="-60" b="1">
                <a:latin typeface="Arial"/>
                <a:cs typeface="Arial"/>
              </a:rPr>
              <a:t>or </a:t>
            </a:r>
            <a:r>
              <a:rPr dirty="0" sz="1150" spc="-85" b="1">
                <a:latin typeface="Arial"/>
                <a:cs typeface="Arial"/>
              </a:rPr>
              <a:t>Transfer </a:t>
            </a:r>
            <a:r>
              <a:rPr dirty="0" sz="1150" spc="-50" b="1">
                <a:latin typeface="Arial"/>
                <a:cs typeface="Arial"/>
              </a:rPr>
              <a:t>for</a:t>
            </a:r>
            <a:r>
              <a:rPr dirty="0" sz="1150" spc="10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value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11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30">
                <a:latin typeface="Arial"/>
                <a:cs typeface="Arial"/>
              </a:rPr>
              <a:t>Another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characteristic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0">
                <a:latin typeface="Arial"/>
                <a:cs typeface="Arial"/>
              </a:rPr>
              <a:t> business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70">
                <a:latin typeface="Arial"/>
                <a:cs typeface="Arial"/>
              </a:rPr>
              <a:t> sale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transfer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goods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value.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rabicPeriod" startAt="12"/>
              <a:tabLst>
                <a:tab pos="469265" algn="l"/>
                <a:tab pos="470534" algn="l"/>
              </a:tabLst>
            </a:pPr>
            <a:r>
              <a:rPr dirty="0" sz="1150" spc="-105" b="1">
                <a:latin typeface="Arial"/>
                <a:cs typeface="Arial"/>
              </a:rPr>
              <a:t>Social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50" b="1">
                <a:latin typeface="Arial"/>
                <a:cs typeface="Arial"/>
              </a:rPr>
              <a:t>Welfare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5715">
              <a:lnSpc>
                <a:spcPct val="101699"/>
              </a:lnSpc>
              <a:spcBef>
                <a:spcPts val="5"/>
              </a:spcBef>
            </a:pP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 spc="-70">
                <a:latin typeface="Arial"/>
                <a:cs typeface="Arial"/>
              </a:rPr>
              <a:t>does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30">
                <a:latin typeface="Arial"/>
                <a:cs typeface="Arial"/>
              </a:rPr>
              <a:t>only </a:t>
            </a:r>
            <a:r>
              <a:rPr dirty="0" sz="1150" spc="-45">
                <a:latin typeface="Arial"/>
                <a:cs typeface="Arial"/>
              </a:rPr>
              <a:t>satisfy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producer,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consumer </a:t>
            </a:r>
            <a:r>
              <a:rPr dirty="0" sz="1150" spc="-40">
                <a:latin typeface="Arial"/>
                <a:cs typeface="Arial"/>
              </a:rPr>
              <a:t>when products </a:t>
            </a:r>
            <a:r>
              <a:rPr dirty="0" sz="1150" spc="-50">
                <a:latin typeface="Arial"/>
                <a:cs typeface="Arial"/>
              </a:rPr>
              <a:t>are  </a:t>
            </a:r>
            <a:r>
              <a:rPr dirty="0" sz="1150" spc="-20">
                <a:latin typeface="Arial"/>
                <a:cs typeface="Arial"/>
              </a:rPr>
              <a:t>offered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sale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20">
                <a:latin typeface="Arial"/>
                <a:cs typeface="Arial"/>
              </a:rPr>
              <a:t>low </a:t>
            </a:r>
            <a:r>
              <a:rPr dirty="0" sz="1150" spc="-55">
                <a:latin typeface="Arial"/>
                <a:cs typeface="Arial"/>
              </a:rPr>
              <a:t>prices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markets.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35" b="1">
                <a:latin typeface="Arial"/>
                <a:cs typeface="Arial"/>
              </a:rPr>
              <a:t>NATURE </a:t>
            </a:r>
            <a:r>
              <a:rPr dirty="0" sz="1150" spc="-150" b="1">
                <a:latin typeface="Arial"/>
                <a:cs typeface="Arial"/>
              </a:rPr>
              <a:t>OF</a:t>
            </a:r>
            <a:r>
              <a:rPr dirty="0" sz="1150" spc="-175" b="1">
                <a:latin typeface="Arial"/>
                <a:cs typeface="Arial"/>
              </a:rPr>
              <a:t> </a:t>
            </a:r>
            <a:r>
              <a:rPr dirty="0" sz="1150" spc="-160" b="1">
                <a:latin typeface="Arial"/>
                <a:cs typeface="Arial"/>
              </a:rPr>
              <a:t>BUSINESS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20">
                <a:latin typeface="Arial"/>
                <a:cs typeface="Arial"/>
              </a:rPr>
              <a:t>following </a:t>
            </a:r>
            <a:r>
              <a:rPr dirty="0" sz="1150" spc="-30">
                <a:latin typeface="Arial"/>
                <a:cs typeface="Arial"/>
              </a:rPr>
              <a:t>points </a:t>
            </a:r>
            <a:r>
              <a:rPr dirty="0" sz="1150" spc="-35">
                <a:latin typeface="Arial"/>
                <a:cs typeface="Arial"/>
              </a:rPr>
              <a:t>state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nature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15">
                <a:latin typeface="Arial"/>
                <a:cs typeface="Arial"/>
              </a:rPr>
              <a:t>in brief: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dirty="0" sz="1150" spc="-114" b="1">
                <a:latin typeface="Arial"/>
                <a:cs typeface="Arial"/>
              </a:rPr>
              <a:t>Economic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Activity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marL="12700" marR="571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20">
                <a:latin typeface="Arial"/>
                <a:cs typeface="Arial"/>
              </a:rPr>
              <a:t>activity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concerned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30">
                <a:latin typeface="Arial"/>
                <a:cs typeface="Arial"/>
              </a:rPr>
              <a:t>creation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wealth through </a:t>
            </a:r>
            <a:r>
              <a:rPr dirty="0" sz="1150" spc="-15">
                <a:latin typeface="Arial"/>
                <a:cs typeface="Arial"/>
              </a:rPr>
              <a:t>the  </a:t>
            </a:r>
            <a:r>
              <a:rPr dirty="0" sz="1150" spc="-40">
                <a:latin typeface="Arial"/>
                <a:cs typeface="Arial"/>
              </a:rPr>
              <a:t>satisfaction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human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wants.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1150" spc="-90" b="1">
                <a:latin typeface="Arial"/>
                <a:cs typeface="Arial"/>
              </a:rPr>
              <a:t>Human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Activity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20">
                <a:latin typeface="Arial"/>
                <a:cs typeface="Arial"/>
              </a:rPr>
              <a:t>activity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every economic </a:t>
            </a:r>
            <a:r>
              <a:rPr dirty="0" sz="1150" spc="-25">
                <a:latin typeface="Arial"/>
                <a:cs typeface="Arial"/>
              </a:rPr>
              <a:t>activity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done </a:t>
            </a:r>
            <a:r>
              <a:rPr dirty="0" sz="1150" spc="-50">
                <a:latin typeface="Arial"/>
                <a:cs typeface="Arial"/>
              </a:rPr>
              <a:t>by human </a:t>
            </a:r>
            <a:r>
              <a:rPr dirty="0" sz="1150" spc="-60">
                <a:latin typeface="Arial"/>
                <a:cs typeface="Arial"/>
              </a:rPr>
              <a:t>beings.  </a:t>
            </a:r>
            <a:r>
              <a:rPr dirty="0" sz="1150" spc="-80">
                <a:latin typeface="Arial"/>
                <a:cs typeface="Arial"/>
              </a:rPr>
              <a:t>Thus,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most </a:t>
            </a:r>
            <a:r>
              <a:rPr dirty="0" sz="1150" spc="-15">
                <a:latin typeface="Arial"/>
                <a:cs typeface="Arial"/>
              </a:rPr>
              <a:t>important </a:t>
            </a:r>
            <a:r>
              <a:rPr dirty="0" sz="1150" spc="-50">
                <a:latin typeface="Arial"/>
                <a:cs typeface="Arial"/>
              </a:rPr>
              <a:t>human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activities.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150" spc="-105" b="1">
                <a:latin typeface="Arial"/>
                <a:cs typeface="Arial"/>
              </a:rPr>
              <a:t>Social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130" b="1">
                <a:latin typeface="Arial"/>
                <a:cs typeface="Arial"/>
              </a:rPr>
              <a:t>Process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3"/>
            </a:pPr>
            <a:endParaRPr sz="12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25">
                <a:latin typeface="Arial"/>
                <a:cs typeface="Arial"/>
              </a:rPr>
              <a:t>run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45">
                <a:latin typeface="Arial"/>
                <a:cs typeface="Arial"/>
              </a:rPr>
              <a:t>owners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help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professionals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customers.  </a:t>
            </a:r>
            <a:r>
              <a:rPr dirty="0" sz="1150" spc="-80">
                <a:latin typeface="Arial"/>
                <a:cs typeface="Arial"/>
              </a:rPr>
              <a:t>Thus,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social</a:t>
            </a:r>
            <a:r>
              <a:rPr dirty="0" sz="1150" spc="-2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process.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4"/>
              <a:tabLst>
                <a:tab pos="469265" algn="l"/>
                <a:tab pos="469900" algn="l"/>
              </a:tabLst>
            </a:pPr>
            <a:r>
              <a:rPr dirty="0" sz="1150" spc="-110" b="1">
                <a:latin typeface="Arial"/>
                <a:cs typeface="Arial"/>
              </a:rPr>
              <a:t>System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systematic </a:t>
            </a:r>
            <a:r>
              <a:rPr dirty="0" sz="1150" spc="-45">
                <a:latin typeface="Arial"/>
                <a:cs typeface="Arial"/>
              </a:rPr>
              <a:t>arrangement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various </a:t>
            </a:r>
            <a:r>
              <a:rPr dirty="0" sz="1150" spc="-45">
                <a:latin typeface="Arial"/>
                <a:cs typeface="Arial"/>
              </a:rPr>
              <a:t>elements,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5">
                <a:latin typeface="Arial"/>
                <a:cs typeface="Arial"/>
              </a:rPr>
              <a:t>leads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attainment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25">
                <a:latin typeface="Arial"/>
                <a:cs typeface="Arial"/>
              </a:rPr>
              <a:t>particular </a:t>
            </a:r>
            <a:r>
              <a:rPr dirty="0" sz="1150" spc="-35">
                <a:latin typeface="Arial"/>
                <a:cs typeface="Arial"/>
              </a:rPr>
              <a:t>objective, </a:t>
            </a:r>
            <a:r>
              <a:rPr dirty="0" sz="1150" spc="-55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well-established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plan.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4340" cy="3115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50" b="1">
                <a:latin typeface="Arial"/>
                <a:cs typeface="Arial"/>
              </a:rPr>
              <a:t>COMPONENTS </a:t>
            </a:r>
            <a:r>
              <a:rPr dirty="0" sz="1350" spc="-125" b="1">
                <a:latin typeface="Arial"/>
                <a:cs typeface="Arial"/>
              </a:rPr>
              <a:t>AND </a:t>
            </a:r>
            <a:r>
              <a:rPr dirty="0" sz="1350" spc="-225" b="1">
                <a:latin typeface="Arial"/>
                <a:cs typeface="Arial"/>
              </a:rPr>
              <a:t>SCOPE </a:t>
            </a:r>
            <a:r>
              <a:rPr dirty="0" sz="1350" spc="-175" b="1">
                <a:latin typeface="Arial"/>
                <a:cs typeface="Arial"/>
              </a:rPr>
              <a:t>OF</a:t>
            </a:r>
            <a:r>
              <a:rPr dirty="0" sz="1350" spc="-145" b="1">
                <a:latin typeface="Arial"/>
                <a:cs typeface="Arial"/>
              </a:rPr>
              <a:t> </a:t>
            </a:r>
            <a:r>
              <a:rPr dirty="0" sz="1350" spc="-185" b="1">
                <a:latin typeface="Arial"/>
                <a:cs typeface="Arial"/>
              </a:rPr>
              <a:t>BUSINESS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55" b="1">
                <a:latin typeface="Arial"/>
                <a:cs typeface="Arial"/>
              </a:rPr>
              <a:t>BUSINESS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word </a:t>
            </a:r>
            <a:r>
              <a:rPr dirty="0" sz="1150" spc="-50">
                <a:latin typeface="Arial"/>
                <a:cs typeface="Arial"/>
              </a:rPr>
              <a:t>“Business” </a:t>
            </a:r>
            <a:r>
              <a:rPr dirty="0" sz="1150" spc="-55">
                <a:latin typeface="Arial"/>
                <a:cs typeface="Arial"/>
              </a:rPr>
              <a:t>includes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50">
                <a:latin typeface="Arial"/>
                <a:cs typeface="Arial"/>
              </a:rPr>
              <a:t>human </a:t>
            </a:r>
            <a:r>
              <a:rPr dirty="0" sz="1150" spc="-30">
                <a:latin typeface="Arial"/>
                <a:cs typeface="Arial"/>
              </a:rPr>
              <a:t>activities </a:t>
            </a:r>
            <a:r>
              <a:rPr dirty="0" sz="1150" spc="-50">
                <a:latin typeface="Arial"/>
                <a:cs typeface="Arial"/>
              </a:rPr>
              <a:t>concerned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50">
                <a:latin typeface="Arial"/>
                <a:cs typeface="Arial"/>
              </a:rPr>
              <a:t>earning </a:t>
            </a:r>
            <a:r>
              <a:rPr dirty="0" sz="1150" spc="-45">
                <a:latin typeface="Arial"/>
                <a:cs typeface="Arial"/>
              </a:rPr>
              <a:t>money.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15">
                <a:latin typeface="Arial"/>
                <a:cs typeface="Arial"/>
              </a:rPr>
              <a:t>other  </a:t>
            </a:r>
            <a:r>
              <a:rPr dirty="0" sz="1150" spc="-40">
                <a:latin typeface="Arial"/>
                <a:cs typeface="Arial"/>
              </a:rPr>
              <a:t>words,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25">
                <a:latin typeface="Arial"/>
                <a:cs typeface="Arial"/>
              </a:rPr>
              <a:t>activity </a:t>
            </a:r>
            <a:r>
              <a:rPr dirty="0" sz="1150" spc="-1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0">
                <a:latin typeface="Arial"/>
                <a:cs typeface="Arial"/>
              </a:rPr>
              <a:t>various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-40">
                <a:latin typeface="Arial"/>
                <a:cs typeface="Arial"/>
              </a:rPr>
              <a:t>regularly produce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75">
                <a:latin typeface="Arial"/>
                <a:cs typeface="Arial"/>
              </a:rPr>
              <a:t>exchange </a:t>
            </a:r>
            <a:r>
              <a:rPr dirty="0" sz="1150" spc="-70">
                <a:latin typeface="Arial"/>
                <a:cs typeface="Arial"/>
              </a:rPr>
              <a:t>goods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25">
                <a:latin typeface="Arial"/>
                <a:cs typeface="Arial"/>
              </a:rPr>
              <a:t>mutual </a:t>
            </a:r>
            <a:r>
              <a:rPr dirty="0" sz="1150" spc="-60">
                <a:latin typeface="Arial"/>
                <a:cs typeface="Arial"/>
              </a:rPr>
              <a:t>gain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profit.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50" b="1">
                <a:latin typeface="Arial"/>
                <a:cs typeface="Arial"/>
              </a:rPr>
              <a:t>COMPONENTS </a:t>
            </a:r>
            <a:r>
              <a:rPr dirty="0" sz="1350" spc="-175" b="1">
                <a:latin typeface="Arial"/>
                <a:cs typeface="Arial"/>
              </a:rPr>
              <a:t>OF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85" b="1">
                <a:latin typeface="Arial"/>
                <a:cs typeface="Arial"/>
              </a:rPr>
              <a:t>BUSINESS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bears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following</a:t>
            </a:r>
            <a:r>
              <a:rPr dirty="0" sz="1150" spc="-45">
                <a:latin typeface="Arial"/>
                <a:cs typeface="Arial"/>
              </a:rPr>
              <a:t> components: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buFont typeface="Wingdings"/>
              <a:buChar char=""/>
              <a:tabLst>
                <a:tab pos="926465" algn="l"/>
                <a:tab pos="927735" algn="l"/>
              </a:tabLst>
            </a:pPr>
            <a:r>
              <a:rPr dirty="0" sz="1150" spc="-35">
                <a:latin typeface="Arial"/>
                <a:cs typeface="Arial"/>
              </a:rPr>
              <a:t>Industry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6465" algn="l"/>
                <a:tab pos="927735" algn="l"/>
              </a:tabLst>
            </a:pPr>
            <a:r>
              <a:rPr dirty="0" sz="1150" spc="-70">
                <a:latin typeface="Arial"/>
                <a:cs typeface="Arial"/>
              </a:rPr>
              <a:t>Commerce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Arial"/>
              <a:cs typeface="Arial"/>
            </a:endParaRPr>
          </a:p>
          <a:p>
            <a:pPr algn="ctr" marR="66675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Business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01911" y="4341370"/>
            <a:ext cx="51562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35">
                <a:latin typeface="Arial"/>
                <a:cs typeface="Arial"/>
              </a:rPr>
              <a:t>Industry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87832" y="4341370"/>
            <a:ext cx="67310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25">
                <a:latin typeface="Arial"/>
                <a:cs typeface="Arial"/>
              </a:rPr>
              <a:t>C</a:t>
            </a:r>
            <a:r>
              <a:rPr dirty="0" sz="1150" spc="-30">
                <a:latin typeface="Arial"/>
                <a:cs typeface="Arial"/>
              </a:rPr>
              <a:t>o</a:t>
            </a:r>
            <a:r>
              <a:rPr dirty="0" sz="1150" spc="-35">
                <a:latin typeface="Arial"/>
                <a:cs typeface="Arial"/>
              </a:rPr>
              <a:t>m</a:t>
            </a:r>
            <a:r>
              <a:rPr dirty="0" sz="1150" spc="-50">
                <a:latin typeface="Arial"/>
                <a:cs typeface="Arial"/>
              </a:rPr>
              <a:t>m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 spc="10">
                <a:latin typeface="Arial"/>
                <a:cs typeface="Arial"/>
              </a:rPr>
              <a:t>r</a:t>
            </a:r>
            <a:r>
              <a:rPr dirty="0" sz="1150" spc="-85">
                <a:latin typeface="Arial"/>
                <a:cs typeface="Arial"/>
              </a:rPr>
              <a:t>c</a:t>
            </a:r>
            <a:r>
              <a:rPr dirty="0" sz="1150" spc="-70">
                <a:latin typeface="Arial"/>
                <a:cs typeface="Arial"/>
              </a:rPr>
              <a:t>e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0298" y="4876294"/>
            <a:ext cx="5513070" cy="1449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25" b="1">
                <a:latin typeface="Arial"/>
                <a:cs typeface="Arial"/>
              </a:rPr>
              <a:t>INDUSTRY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35">
                <a:latin typeface="Arial"/>
                <a:cs typeface="Arial"/>
              </a:rPr>
              <a:t>Industry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connected </a:t>
            </a:r>
            <a:r>
              <a:rPr dirty="0" sz="1150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preparation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services.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60">
                <a:latin typeface="Arial"/>
                <a:cs typeface="Arial"/>
              </a:rPr>
              <a:t>place </a:t>
            </a:r>
            <a:r>
              <a:rPr dirty="0" sz="1150" spc="-35">
                <a:latin typeface="Arial"/>
                <a:cs typeface="Arial"/>
              </a:rPr>
              <a:t>where </a:t>
            </a:r>
            <a:r>
              <a:rPr dirty="0" sz="1150" spc="-30">
                <a:latin typeface="Arial"/>
                <a:cs typeface="Arial"/>
              </a:rPr>
              <a:t>raw </a:t>
            </a:r>
            <a:r>
              <a:rPr dirty="0" sz="1150" spc="-25">
                <a:latin typeface="Arial"/>
                <a:cs typeface="Arial"/>
              </a:rPr>
              <a:t>material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converted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35">
                <a:latin typeface="Arial"/>
                <a:cs typeface="Arial"/>
              </a:rPr>
              <a:t>finished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5">
                <a:latin typeface="Arial"/>
                <a:cs typeface="Arial"/>
              </a:rPr>
              <a:t>semi-finished </a:t>
            </a:r>
            <a:r>
              <a:rPr dirty="0" sz="1150" spc="-60">
                <a:latin typeface="Arial"/>
                <a:cs typeface="Arial"/>
              </a:rPr>
              <a:t>goods,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20">
                <a:latin typeface="Arial"/>
                <a:cs typeface="Arial"/>
              </a:rPr>
              <a:t>the  ability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satisfy </a:t>
            </a:r>
            <a:r>
              <a:rPr dirty="0" sz="1150" spc="-50">
                <a:latin typeface="Arial"/>
                <a:cs typeface="Arial"/>
              </a:rPr>
              <a:t>human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another industry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80">
                <a:latin typeface="Arial"/>
                <a:cs typeface="Arial"/>
              </a:rPr>
              <a:t>base </a:t>
            </a:r>
            <a:r>
              <a:rPr dirty="0" sz="1150" spc="-30">
                <a:latin typeface="Arial"/>
                <a:cs typeface="Arial"/>
              </a:rPr>
              <a:t>material. </a:t>
            </a:r>
            <a:r>
              <a:rPr dirty="0" sz="1150" spc="-40">
                <a:latin typeface="Arial"/>
                <a:cs typeface="Arial"/>
              </a:rPr>
              <a:t>In 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40">
                <a:latin typeface="Arial"/>
                <a:cs typeface="Arial"/>
              </a:rPr>
              <a:t>words, </a:t>
            </a:r>
            <a:r>
              <a:rPr dirty="0" sz="1150" spc="-30">
                <a:latin typeface="Arial"/>
                <a:cs typeface="Arial"/>
              </a:rPr>
              <a:t>industry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15">
                <a:latin typeface="Arial"/>
                <a:cs typeface="Arial"/>
              </a:rPr>
              <a:t>part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25">
                <a:latin typeface="Arial"/>
                <a:cs typeface="Arial"/>
              </a:rPr>
              <a:t>activity,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concerned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15">
                <a:latin typeface="Arial"/>
                <a:cs typeface="Arial"/>
              </a:rPr>
              <a:t>the  </a:t>
            </a:r>
            <a:r>
              <a:rPr dirty="0" sz="1150" spc="-30">
                <a:latin typeface="Arial"/>
                <a:cs typeface="Arial"/>
              </a:rPr>
              <a:t>extraction,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fabrication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products.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125" b="1">
                <a:latin typeface="Arial"/>
                <a:cs typeface="Arial"/>
              </a:rPr>
              <a:t>KINDS </a:t>
            </a:r>
            <a:r>
              <a:rPr dirty="0" sz="1150" spc="-150" b="1">
                <a:latin typeface="Arial"/>
                <a:cs typeface="Arial"/>
              </a:rPr>
              <a:t>OF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spc="-130" b="1">
                <a:latin typeface="Arial"/>
                <a:cs typeface="Arial"/>
              </a:rPr>
              <a:t>INDSTRY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7504" y="6481065"/>
            <a:ext cx="137160" cy="379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5">
                <a:latin typeface="Arial"/>
                <a:cs typeface="Arial"/>
              </a:rPr>
              <a:t>1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55">
                <a:latin typeface="Arial"/>
                <a:cs typeface="Arial"/>
              </a:rPr>
              <a:t>2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44710" y="6481065"/>
            <a:ext cx="1165860" cy="3797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50">
                <a:latin typeface="Arial"/>
                <a:cs typeface="Arial"/>
              </a:rPr>
              <a:t>Primary </a:t>
            </a:r>
            <a:r>
              <a:rPr dirty="0" sz="1150" spc="-35">
                <a:latin typeface="Arial"/>
                <a:cs typeface="Arial"/>
              </a:rPr>
              <a:t>Industry  </a:t>
            </a:r>
            <a:r>
              <a:rPr dirty="0" sz="1150" spc="-75">
                <a:latin typeface="Arial"/>
                <a:cs typeface="Arial"/>
              </a:rPr>
              <a:t>Secondary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Industry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15913" y="7194297"/>
            <a:ext cx="51371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35">
                <a:latin typeface="Arial"/>
                <a:cs typeface="Arial"/>
              </a:rPr>
              <a:t>I</a:t>
            </a:r>
            <a:r>
              <a:rPr dirty="0" sz="1150" spc="-45">
                <a:latin typeface="Arial"/>
                <a:cs typeface="Arial"/>
              </a:rPr>
              <a:t>ndu</a:t>
            </a:r>
            <a:r>
              <a:rPr dirty="0" sz="1150" spc="-125">
                <a:latin typeface="Arial"/>
                <a:cs typeface="Arial"/>
              </a:rPr>
              <a:t>s</a:t>
            </a:r>
            <a:r>
              <a:rPr dirty="0" sz="1150" spc="60">
                <a:latin typeface="Arial"/>
                <a:cs typeface="Arial"/>
              </a:rPr>
              <a:t>t</a:t>
            </a:r>
            <a:r>
              <a:rPr dirty="0" sz="1150" spc="10">
                <a:latin typeface="Arial"/>
                <a:cs typeface="Arial"/>
              </a:rPr>
              <a:t>r</a:t>
            </a:r>
            <a:r>
              <a:rPr dirty="0" sz="1150" spc="-55">
                <a:latin typeface="Arial"/>
                <a:cs typeface="Arial"/>
              </a:rPr>
              <a:t>y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01885" y="7729221"/>
            <a:ext cx="1010919" cy="55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Arial"/>
                <a:cs typeface="Arial"/>
              </a:rPr>
              <a:t>Primary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Industry</a:t>
            </a:r>
            <a:endParaRPr sz="1150">
              <a:latin typeface="Arial"/>
              <a:cs typeface="Arial"/>
            </a:endParaRPr>
          </a:p>
          <a:p>
            <a:pPr marL="204470" indent="-192405">
              <a:lnSpc>
                <a:spcPct val="100000"/>
              </a:lnSpc>
              <a:spcBef>
                <a:spcPts val="25"/>
              </a:spcBef>
              <a:buAutoNum type="alphaLcParenBoth"/>
              <a:tabLst>
                <a:tab pos="205104" algn="l"/>
              </a:tabLst>
            </a:pPr>
            <a:r>
              <a:rPr dirty="0" sz="1150" spc="-45">
                <a:latin typeface="Arial"/>
                <a:cs typeface="Arial"/>
              </a:rPr>
              <a:t>Extractive</a:t>
            </a:r>
            <a:endParaRPr sz="1150">
              <a:latin typeface="Arial"/>
              <a:cs typeface="Arial"/>
            </a:endParaRPr>
          </a:p>
          <a:p>
            <a:pPr marL="210185" indent="-198120">
              <a:lnSpc>
                <a:spcPct val="100000"/>
              </a:lnSpc>
              <a:spcBef>
                <a:spcPts val="25"/>
              </a:spcBef>
              <a:buAutoNum type="alphaLcParenBoth"/>
              <a:tabLst>
                <a:tab pos="210820" algn="l"/>
              </a:tabLst>
            </a:pPr>
            <a:r>
              <a:rPr dirty="0" sz="1150" spc="-55">
                <a:latin typeface="Arial"/>
                <a:cs typeface="Arial"/>
              </a:rPr>
              <a:t>Genetic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87788" y="7729221"/>
            <a:ext cx="116649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75">
                <a:latin typeface="Arial"/>
                <a:cs typeface="Arial"/>
              </a:rPr>
              <a:t>Secondary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Industry</a:t>
            </a:r>
            <a:endParaRPr sz="1150">
              <a:latin typeface="Arial"/>
              <a:cs typeface="Arial"/>
            </a:endParaRPr>
          </a:p>
          <a:p>
            <a:pPr marL="204470" indent="-192405">
              <a:lnSpc>
                <a:spcPct val="100000"/>
              </a:lnSpc>
              <a:spcBef>
                <a:spcPts val="25"/>
              </a:spcBef>
              <a:buAutoNum type="alphaLcParenBoth"/>
              <a:tabLst>
                <a:tab pos="205104" algn="l"/>
              </a:tabLst>
            </a:pPr>
            <a:r>
              <a:rPr dirty="0" sz="1150" spc="-40">
                <a:latin typeface="Arial"/>
                <a:cs typeface="Arial"/>
              </a:rPr>
              <a:t>Construction</a:t>
            </a:r>
            <a:endParaRPr sz="1150">
              <a:latin typeface="Arial"/>
              <a:cs typeface="Arial"/>
            </a:endParaRPr>
          </a:p>
          <a:p>
            <a:pPr marL="210185" indent="-198120">
              <a:lnSpc>
                <a:spcPct val="100000"/>
              </a:lnSpc>
              <a:spcBef>
                <a:spcPts val="25"/>
              </a:spcBef>
              <a:buAutoNum type="alphaLcParenBoth"/>
              <a:tabLst>
                <a:tab pos="210820" algn="l"/>
              </a:tabLst>
            </a:pPr>
            <a:r>
              <a:rPr dirty="0" sz="1150" spc="-30">
                <a:latin typeface="Arial"/>
                <a:cs typeface="Arial"/>
              </a:rPr>
              <a:t>Manufacturing</a:t>
            </a:r>
            <a:endParaRPr sz="1150">
              <a:latin typeface="Arial"/>
              <a:cs typeface="Arial"/>
            </a:endParaRPr>
          </a:p>
          <a:p>
            <a:pPr marL="230504" indent="-218440">
              <a:lnSpc>
                <a:spcPct val="100000"/>
              </a:lnSpc>
              <a:spcBef>
                <a:spcPts val="20"/>
              </a:spcBef>
              <a:buAutoNum type="alphaLcParenBoth"/>
              <a:tabLst>
                <a:tab pos="231140" algn="l"/>
              </a:tabLst>
            </a:pPr>
            <a:r>
              <a:rPr dirty="0" sz="1150" spc="-85">
                <a:latin typeface="Arial"/>
                <a:cs typeface="Arial"/>
              </a:rPr>
              <a:t>Services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43200" y="4015740"/>
            <a:ext cx="2400300" cy="342900"/>
          </a:xfrm>
          <a:custGeom>
            <a:avLst/>
            <a:gdLst/>
            <a:ahLst/>
            <a:cxnLst/>
            <a:rect l="l" t="t" r="r" b="b"/>
            <a:pathLst>
              <a:path w="2400300" h="342900">
                <a:moveTo>
                  <a:pt x="2400299" y="114299"/>
                </a:moveTo>
                <a:lnTo>
                  <a:pt x="0" y="114299"/>
                </a:lnTo>
              </a:path>
              <a:path w="2400300" h="342900">
                <a:moveTo>
                  <a:pt x="1142999" y="0"/>
                </a:moveTo>
                <a:lnTo>
                  <a:pt x="1142999" y="114299"/>
                </a:lnTo>
              </a:path>
              <a:path w="2400300" h="342900">
                <a:moveTo>
                  <a:pt x="0" y="114299"/>
                </a:moveTo>
                <a:lnTo>
                  <a:pt x="0" y="342899"/>
                </a:lnTo>
              </a:path>
              <a:path w="2400300" h="342900">
                <a:moveTo>
                  <a:pt x="2400299" y="114299"/>
                </a:moveTo>
                <a:lnTo>
                  <a:pt x="2400299" y="342899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971800" y="7383780"/>
            <a:ext cx="2400300" cy="350520"/>
          </a:xfrm>
          <a:custGeom>
            <a:avLst/>
            <a:gdLst/>
            <a:ahLst/>
            <a:cxnLst/>
            <a:rect l="l" t="t" r="r" b="b"/>
            <a:pathLst>
              <a:path w="2400300" h="350520">
                <a:moveTo>
                  <a:pt x="0" y="236219"/>
                </a:moveTo>
                <a:lnTo>
                  <a:pt x="2400299" y="236219"/>
                </a:lnTo>
              </a:path>
              <a:path w="2400300" h="350520">
                <a:moveTo>
                  <a:pt x="914399" y="228599"/>
                </a:moveTo>
                <a:lnTo>
                  <a:pt x="914399" y="0"/>
                </a:lnTo>
              </a:path>
              <a:path w="2400300" h="350520">
                <a:moveTo>
                  <a:pt x="0" y="236219"/>
                </a:moveTo>
                <a:lnTo>
                  <a:pt x="0" y="350519"/>
                </a:lnTo>
              </a:path>
              <a:path w="2400300" h="350520">
                <a:moveTo>
                  <a:pt x="2400299" y="236219"/>
                </a:moveTo>
                <a:lnTo>
                  <a:pt x="2400299" y="350519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4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30299" y="435359"/>
            <a:ext cx="1938655" cy="689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dirty="0" sz="1350" spc="-45" b="1">
                <a:latin typeface="Arial"/>
                <a:cs typeface="Arial"/>
              </a:rPr>
              <a:t>1.</a:t>
            </a:r>
            <a:r>
              <a:rPr dirty="0" sz="1350" spc="-45">
                <a:latin typeface="Times New Roman"/>
                <a:cs typeface="Times New Roman"/>
              </a:rPr>
              <a:t>	</a:t>
            </a:r>
            <a:r>
              <a:rPr dirty="0" sz="1350" spc="-135" b="1">
                <a:latin typeface="Arial"/>
                <a:cs typeface="Arial"/>
              </a:rPr>
              <a:t>PRIMARY </a:t>
            </a:r>
            <a:r>
              <a:rPr dirty="0" sz="1350" spc="-150" b="1">
                <a:latin typeface="Arial"/>
                <a:cs typeface="Arial"/>
              </a:rPr>
              <a:t>INDUSTRY</a:t>
            </a:r>
            <a:endParaRPr sz="135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0299" y="1279655"/>
            <a:ext cx="5512435" cy="3797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50">
                <a:latin typeface="Arial"/>
                <a:cs typeface="Arial"/>
              </a:rPr>
              <a:t>Primary </a:t>
            </a:r>
            <a:r>
              <a:rPr dirty="0" sz="1150" spc="-30">
                <a:latin typeface="Arial"/>
                <a:cs typeface="Arial"/>
              </a:rPr>
              <a:t>industry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75">
                <a:latin typeface="Arial"/>
                <a:cs typeface="Arial"/>
              </a:rPr>
              <a:t>engaged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5">
                <a:latin typeface="Arial"/>
                <a:cs typeface="Arial"/>
              </a:rPr>
              <a:t>extraction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raw </a:t>
            </a:r>
            <a:r>
              <a:rPr dirty="0" sz="1150" spc="-40">
                <a:latin typeface="Arial"/>
                <a:cs typeface="Arial"/>
              </a:rPr>
              <a:t>materials,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0">
                <a:latin typeface="Arial"/>
                <a:cs typeface="Arial"/>
              </a:rPr>
              <a:t>are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used 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60">
                <a:latin typeface="Arial"/>
                <a:cs typeface="Arial"/>
              </a:rPr>
              <a:t>secondary </a:t>
            </a:r>
            <a:r>
              <a:rPr dirty="0" sz="1150" spc="-30">
                <a:latin typeface="Arial"/>
                <a:cs typeface="Arial"/>
              </a:rPr>
              <a:t>industry. </a:t>
            </a:r>
            <a:r>
              <a:rPr dirty="0" sz="1150" spc="-50">
                <a:latin typeface="Arial"/>
                <a:cs typeface="Arial"/>
              </a:rPr>
              <a:t>Primary </a:t>
            </a:r>
            <a:r>
              <a:rPr dirty="0" sz="1150" spc="-30">
                <a:latin typeface="Arial"/>
                <a:cs typeface="Arial"/>
              </a:rPr>
              <a:t>industry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5">
                <a:latin typeface="Arial"/>
                <a:cs typeface="Arial"/>
              </a:rPr>
              <a:t>divided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5">
                <a:latin typeface="Arial"/>
                <a:cs typeface="Arial"/>
              </a:rPr>
              <a:t>two</a:t>
            </a:r>
            <a:r>
              <a:rPr dirty="0" sz="1150" spc="1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parts: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87495" y="1814579"/>
            <a:ext cx="190500" cy="379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5">
                <a:latin typeface="Arial"/>
                <a:cs typeface="Arial"/>
              </a:rPr>
              <a:t>(a)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40">
                <a:latin typeface="Arial"/>
                <a:cs typeface="Arial"/>
              </a:rPr>
              <a:t>(</a:t>
            </a:r>
            <a:r>
              <a:rPr dirty="0" sz="1150" spc="-45">
                <a:latin typeface="Arial"/>
                <a:cs typeface="Arial"/>
              </a:rPr>
              <a:t>b</a:t>
            </a:r>
            <a:r>
              <a:rPr dirty="0" sz="1150" spc="-35">
                <a:latin typeface="Arial"/>
                <a:cs typeface="Arial"/>
              </a:rPr>
              <a:t>)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4569" y="1814579"/>
            <a:ext cx="1136015" cy="3797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45">
                <a:latin typeface="Arial"/>
                <a:cs typeface="Arial"/>
              </a:rPr>
              <a:t>Extractive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Industry  </a:t>
            </a:r>
            <a:r>
              <a:rPr dirty="0" sz="1150" spc="-55">
                <a:latin typeface="Arial"/>
                <a:cs typeface="Arial"/>
              </a:rPr>
              <a:t>Genetic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Industry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0299" y="2349503"/>
            <a:ext cx="5513070" cy="2968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AutoNum type="alphaLcParenBoth"/>
              <a:tabLst>
                <a:tab pos="469900" algn="l"/>
                <a:tab pos="470534" algn="l"/>
              </a:tabLst>
            </a:pPr>
            <a:r>
              <a:rPr dirty="0" sz="1150" spc="-80" b="1">
                <a:latin typeface="Arial"/>
                <a:cs typeface="Arial"/>
              </a:rPr>
              <a:t>Extractive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Industry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lphaLcParenBoth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Extractive </a:t>
            </a:r>
            <a:r>
              <a:rPr dirty="0" sz="1150" spc="-40">
                <a:latin typeface="Arial"/>
                <a:cs typeface="Arial"/>
              </a:rPr>
              <a:t>industries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those </a:t>
            </a:r>
            <a:r>
              <a:rPr dirty="0" sz="1150" spc="-35">
                <a:latin typeface="Arial"/>
                <a:cs typeface="Arial"/>
              </a:rPr>
              <a:t>industries, which </a:t>
            </a:r>
            <a:r>
              <a:rPr dirty="0" sz="1150" spc="-30">
                <a:latin typeface="Arial"/>
                <a:cs typeface="Arial"/>
              </a:rPr>
              <a:t>extract, </a:t>
            </a:r>
            <a:r>
              <a:rPr dirty="0" sz="1150" spc="-55">
                <a:latin typeface="Arial"/>
                <a:cs typeface="Arial"/>
              </a:rPr>
              <a:t>raise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0">
                <a:latin typeface="Arial"/>
                <a:cs typeface="Arial"/>
              </a:rPr>
              <a:t>produce </a:t>
            </a:r>
            <a:r>
              <a:rPr dirty="0" sz="1150" spc="-30">
                <a:latin typeface="Arial"/>
                <a:cs typeface="Arial"/>
              </a:rPr>
              <a:t>raw </a:t>
            </a:r>
            <a:r>
              <a:rPr dirty="0" sz="1150" spc="-25">
                <a:latin typeface="Arial"/>
                <a:cs typeface="Arial"/>
              </a:rPr>
              <a:t>material </a:t>
            </a:r>
            <a:r>
              <a:rPr dirty="0" sz="1150" spc="-10">
                <a:latin typeface="Arial"/>
                <a:cs typeface="Arial"/>
              </a:rPr>
              <a:t>from  </a:t>
            </a:r>
            <a:r>
              <a:rPr dirty="0" sz="1150" spc="-30">
                <a:latin typeface="Arial"/>
                <a:cs typeface="Arial"/>
              </a:rPr>
              <a:t>below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0">
                <a:latin typeface="Arial"/>
                <a:cs typeface="Arial"/>
              </a:rPr>
              <a:t>above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0">
                <a:latin typeface="Arial"/>
                <a:cs typeface="Arial"/>
              </a:rPr>
              <a:t>above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surface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earth. </a:t>
            </a: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example, </a:t>
            </a:r>
            <a:r>
              <a:rPr dirty="0" sz="1150" spc="-35">
                <a:latin typeface="Arial"/>
                <a:cs typeface="Arial"/>
              </a:rPr>
              <a:t>fishery, </a:t>
            </a:r>
            <a:r>
              <a:rPr dirty="0" sz="1150" spc="-30">
                <a:latin typeface="Arial"/>
                <a:cs typeface="Arial"/>
              </a:rPr>
              <a:t>extraction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oil,  </a:t>
            </a:r>
            <a:r>
              <a:rPr dirty="0" sz="1150" spc="-110">
                <a:latin typeface="Arial"/>
                <a:cs typeface="Arial"/>
              </a:rPr>
              <a:t>gas </a:t>
            </a:r>
            <a:r>
              <a:rPr dirty="0" sz="1150" spc="-55">
                <a:latin typeface="Arial"/>
                <a:cs typeface="Arial"/>
              </a:rPr>
              <a:t>and coal</a:t>
            </a:r>
            <a:r>
              <a:rPr dirty="0" sz="1150" spc="-1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lphaLcParenBoth" startAt="2"/>
              <a:tabLst>
                <a:tab pos="469900" algn="l"/>
                <a:tab pos="470534" algn="l"/>
              </a:tabLst>
            </a:pPr>
            <a:r>
              <a:rPr dirty="0" sz="1150" spc="-80" b="1">
                <a:latin typeface="Arial"/>
                <a:cs typeface="Arial"/>
              </a:rPr>
              <a:t>Genetic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Industry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  <a:spcBef>
                <a:spcPts val="5"/>
              </a:spcBef>
            </a:pPr>
            <a:r>
              <a:rPr dirty="0" sz="1150" spc="-55">
                <a:latin typeface="Arial"/>
                <a:cs typeface="Arial"/>
              </a:rPr>
              <a:t>Genetic </a:t>
            </a:r>
            <a:r>
              <a:rPr dirty="0" sz="1150" spc="-40">
                <a:latin typeface="Arial"/>
                <a:cs typeface="Arial"/>
              </a:rPr>
              <a:t>industries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those,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75">
                <a:latin typeface="Arial"/>
                <a:cs typeface="Arial"/>
              </a:rPr>
              <a:t>engaged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0">
                <a:latin typeface="Arial"/>
                <a:cs typeface="Arial"/>
              </a:rPr>
              <a:t>reproducing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multiplying </a:t>
            </a:r>
            <a:r>
              <a:rPr dirty="0" sz="1150" spc="-30">
                <a:latin typeface="Arial"/>
                <a:cs typeface="Arial"/>
              </a:rPr>
              <a:t>certain  </a:t>
            </a:r>
            <a:r>
              <a:rPr dirty="0" sz="1150" spc="-75">
                <a:latin typeface="Arial"/>
                <a:cs typeface="Arial"/>
              </a:rPr>
              <a:t>species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animals and </a:t>
            </a:r>
            <a:r>
              <a:rPr dirty="0" sz="1150" spc="-35">
                <a:latin typeface="Arial"/>
                <a:cs typeface="Arial"/>
              </a:rPr>
              <a:t>plants. </a:t>
            </a: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example, </a:t>
            </a:r>
            <a:r>
              <a:rPr dirty="0" sz="1150" spc="-15">
                <a:latin typeface="Arial"/>
                <a:cs typeface="Arial"/>
              </a:rPr>
              <a:t>poultry </a:t>
            </a:r>
            <a:r>
              <a:rPr dirty="0" sz="1150" spc="-25">
                <a:latin typeface="Arial"/>
                <a:cs typeface="Arial"/>
              </a:rPr>
              <a:t>farm, </a:t>
            </a:r>
            <a:r>
              <a:rPr dirty="0" sz="1150" spc="-40">
                <a:latin typeface="Arial"/>
                <a:cs typeface="Arial"/>
              </a:rPr>
              <a:t>fishing </a:t>
            </a:r>
            <a:r>
              <a:rPr dirty="0" sz="1150" spc="-25">
                <a:latin typeface="Arial"/>
                <a:cs typeface="Arial"/>
              </a:rPr>
              <a:t>farm, </a:t>
            </a:r>
            <a:r>
              <a:rPr dirty="0" sz="1150" spc="-35">
                <a:latin typeface="Arial"/>
                <a:cs typeface="Arial"/>
              </a:rPr>
              <a:t>diary </a:t>
            </a:r>
            <a:r>
              <a:rPr dirty="0" sz="1150" spc="-25">
                <a:latin typeface="Arial"/>
                <a:cs typeface="Arial"/>
              </a:rPr>
              <a:t>farm, </a:t>
            </a:r>
            <a:r>
              <a:rPr dirty="0" sz="1150" spc="-20">
                <a:latin typeface="Arial"/>
                <a:cs typeface="Arial"/>
              </a:rPr>
              <a:t>plant  </a:t>
            </a:r>
            <a:r>
              <a:rPr dirty="0" sz="1150" spc="-50">
                <a:latin typeface="Arial"/>
                <a:cs typeface="Arial"/>
              </a:rPr>
              <a:t>nurseries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469265" algn="l"/>
              </a:tabLst>
            </a:pPr>
            <a:r>
              <a:rPr dirty="0" sz="1350" spc="-45" b="1">
                <a:latin typeface="Arial"/>
                <a:cs typeface="Arial"/>
              </a:rPr>
              <a:t>2.</a:t>
            </a:r>
            <a:r>
              <a:rPr dirty="0" sz="1350" spc="-45">
                <a:latin typeface="Times New Roman"/>
                <a:cs typeface="Times New Roman"/>
              </a:rPr>
              <a:t>	</a:t>
            </a:r>
            <a:r>
              <a:rPr dirty="0" sz="1350" spc="-190" b="1">
                <a:latin typeface="Arial"/>
                <a:cs typeface="Arial"/>
              </a:rPr>
              <a:t>SECONDARY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50" b="1">
                <a:latin typeface="Arial"/>
                <a:cs typeface="Arial"/>
              </a:rPr>
              <a:t>INDUSTRY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40">
                <a:latin typeface="Arial"/>
                <a:cs typeface="Arial"/>
              </a:rPr>
              <a:t>industries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-30">
                <a:latin typeface="Arial"/>
                <a:cs typeface="Arial"/>
              </a:rPr>
              <a:t>raw </a:t>
            </a:r>
            <a:r>
              <a:rPr dirty="0" sz="1150" spc="-40">
                <a:latin typeface="Arial"/>
                <a:cs typeface="Arial"/>
              </a:rPr>
              <a:t>materials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make </a:t>
            </a:r>
            <a:r>
              <a:rPr dirty="0" sz="1150" spc="-40">
                <a:latin typeface="Arial"/>
                <a:cs typeface="Arial"/>
              </a:rPr>
              <a:t>useful </a:t>
            </a:r>
            <a:r>
              <a:rPr dirty="0" sz="1150" spc="-60">
                <a:latin typeface="Arial"/>
                <a:cs typeface="Arial"/>
              </a:rPr>
              <a:t>goods. </a:t>
            </a:r>
            <a:r>
              <a:rPr dirty="0" sz="1150" spc="-105">
                <a:latin typeface="Arial"/>
                <a:cs typeface="Arial"/>
              </a:rPr>
              <a:t>Raw </a:t>
            </a:r>
            <a:r>
              <a:rPr dirty="0" sz="1150" spc="-25">
                <a:latin typeface="Arial"/>
                <a:cs typeface="Arial"/>
              </a:rPr>
              <a:t>material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these </a:t>
            </a:r>
            <a:r>
              <a:rPr dirty="0" sz="1150" spc="-40">
                <a:latin typeface="Arial"/>
                <a:cs typeface="Arial"/>
              </a:rPr>
              <a:t>industries 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obtained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30">
                <a:latin typeface="Arial"/>
                <a:cs typeface="Arial"/>
              </a:rPr>
              <a:t>primary industry. </a:t>
            </a:r>
            <a:r>
              <a:rPr dirty="0" sz="1150" spc="-75">
                <a:latin typeface="Arial"/>
                <a:cs typeface="Arial"/>
              </a:rPr>
              <a:t>Secondary </a:t>
            </a:r>
            <a:r>
              <a:rPr dirty="0" sz="1150" spc="-30">
                <a:latin typeface="Arial"/>
                <a:cs typeface="Arial"/>
              </a:rPr>
              <a:t>industry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5">
                <a:latin typeface="Arial"/>
                <a:cs typeface="Arial"/>
              </a:rPr>
              <a:t>divided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20">
                <a:latin typeface="Arial"/>
                <a:cs typeface="Arial"/>
              </a:rPr>
              <a:t>three</a:t>
            </a:r>
            <a:r>
              <a:rPr dirty="0" sz="1150" spc="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parts: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7495" y="5473701"/>
            <a:ext cx="190500" cy="55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5">
                <a:latin typeface="Arial"/>
                <a:cs typeface="Arial"/>
              </a:rPr>
              <a:t>(a)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40">
                <a:latin typeface="Arial"/>
                <a:cs typeface="Arial"/>
              </a:rPr>
              <a:t>(</a:t>
            </a:r>
            <a:r>
              <a:rPr dirty="0" sz="1150" spc="-45">
                <a:latin typeface="Arial"/>
                <a:cs typeface="Arial"/>
              </a:rPr>
              <a:t>b</a:t>
            </a:r>
            <a:r>
              <a:rPr dirty="0" sz="1150" spc="-35">
                <a:latin typeface="Arial"/>
                <a:cs typeface="Arial"/>
              </a:rPr>
              <a:t>)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55">
                <a:latin typeface="Arial"/>
                <a:cs typeface="Arial"/>
              </a:rPr>
              <a:t>(c)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44569" y="5473701"/>
            <a:ext cx="1428115" cy="558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45">
                <a:latin typeface="Arial"/>
                <a:cs typeface="Arial"/>
              </a:rPr>
              <a:t>Constructive </a:t>
            </a:r>
            <a:r>
              <a:rPr dirty="0" sz="1150" spc="-35">
                <a:latin typeface="Arial"/>
                <a:cs typeface="Arial"/>
              </a:rPr>
              <a:t>Industry  </a:t>
            </a:r>
            <a:r>
              <a:rPr dirty="0" sz="1150" spc="-30">
                <a:latin typeface="Arial"/>
                <a:cs typeface="Arial"/>
              </a:rPr>
              <a:t>Manufacturing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Industry  </a:t>
            </a:r>
            <a:r>
              <a:rPr dirty="0" sz="1150" spc="-80">
                <a:latin typeface="Arial"/>
                <a:cs typeface="Arial"/>
              </a:rPr>
              <a:t>Services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Industry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0299" y="6186933"/>
            <a:ext cx="5513705" cy="2519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AutoNum type="alphaLcParenR"/>
              <a:tabLst>
                <a:tab pos="241300" algn="l"/>
              </a:tabLst>
            </a:pPr>
            <a:r>
              <a:rPr dirty="0" sz="1150" spc="-90" b="1">
                <a:latin typeface="Arial"/>
                <a:cs typeface="Arial"/>
              </a:rPr>
              <a:t>Constructive</a:t>
            </a:r>
            <a:r>
              <a:rPr dirty="0" sz="1150" spc="-75" b="1">
                <a:latin typeface="Arial"/>
                <a:cs typeface="Arial"/>
              </a:rPr>
              <a:t> Industry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lphaLcParenR"/>
            </a:pPr>
            <a:endParaRPr sz="1200">
              <a:latin typeface="Arial"/>
              <a:cs typeface="Arial"/>
            </a:endParaRPr>
          </a:p>
          <a:p>
            <a:pPr marL="12700" marR="5715">
              <a:lnSpc>
                <a:spcPct val="101699"/>
              </a:lnSpc>
            </a:pP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50">
                <a:latin typeface="Arial"/>
                <a:cs typeface="Arial"/>
              </a:rPr>
              <a:t>kinds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constructions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included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industry. </a:t>
            </a: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example, </a:t>
            </a:r>
            <a:r>
              <a:rPr dirty="0" sz="1150" spc="-45">
                <a:latin typeface="Arial"/>
                <a:cs typeface="Arial"/>
              </a:rPr>
              <a:t>buildings, </a:t>
            </a:r>
            <a:r>
              <a:rPr dirty="0" sz="1150" spc="-65">
                <a:latin typeface="Arial"/>
                <a:cs typeface="Arial"/>
              </a:rPr>
              <a:t>canals, </a:t>
            </a:r>
            <a:r>
              <a:rPr dirty="0" sz="1150" spc="-55">
                <a:latin typeface="Arial"/>
                <a:cs typeface="Arial"/>
              </a:rPr>
              <a:t>roads,  bridges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AutoNum type="alphaLcParenR" startAt="2"/>
              <a:tabLst>
                <a:tab pos="241300" algn="l"/>
              </a:tabLst>
            </a:pPr>
            <a:r>
              <a:rPr dirty="0" sz="1150" spc="-70" b="1">
                <a:latin typeface="Arial"/>
                <a:cs typeface="Arial"/>
              </a:rPr>
              <a:t>Manufacturing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Industry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lphaLcParenR" startAt="2"/>
            </a:pPr>
            <a:endParaRPr sz="1200">
              <a:latin typeface="Arial"/>
              <a:cs typeface="Arial"/>
            </a:endParaRPr>
          </a:p>
          <a:p>
            <a:pPr marL="12700" marR="8255">
              <a:lnSpc>
                <a:spcPct val="101699"/>
              </a:lnSpc>
              <a:spcBef>
                <a:spcPts val="5"/>
              </a:spcBef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industry, </a:t>
            </a:r>
            <a:r>
              <a:rPr dirty="0" sz="1150" spc="-25">
                <a:latin typeface="Arial"/>
                <a:cs typeface="Arial"/>
              </a:rPr>
              <a:t>material </a:t>
            </a:r>
            <a:r>
              <a:rPr dirty="0" sz="1150" spc="-5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converted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65">
                <a:latin typeface="Arial"/>
                <a:cs typeface="Arial"/>
              </a:rPr>
              <a:t>some </a:t>
            </a:r>
            <a:r>
              <a:rPr dirty="0" sz="1150" spc="-35">
                <a:latin typeface="Arial"/>
                <a:cs typeface="Arial"/>
              </a:rPr>
              <a:t>finished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5">
                <a:latin typeface="Arial"/>
                <a:cs typeface="Arial"/>
              </a:rPr>
              <a:t>semi-finished </a:t>
            </a:r>
            <a:r>
              <a:rPr dirty="0" sz="1150" spc="-60">
                <a:latin typeface="Arial"/>
                <a:cs typeface="Arial"/>
              </a:rPr>
              <a:t>goods. </a:t>
            </a:r>
            <a:r>
              <a:rPr dirty="0" sz="1150" spc="-65">
                <a:latin typeface="Arial"/>
                <a:cs typeface="Arial"/>
              </a:rPr>
              <a:t>For  </a:t>
            </a:r>
            <a:r>
              <a:rPr dirty="0" sz="1150" spc="-50">
                <a:latin typeface="Arial"/>
                <a:cs typeface="Arial"/>
              </a:rPr>
              <a:t>example, </a:t>
            </a:r>
            <a:r>
              <a:rPr dirty="0" sz="1150" spc="-15">
                <a:latin typeface="Arial"/>
                <a:cs typeface="Arial"/>
              </a:rPr>
              <a:t>textile </a:t>
            </a:r>
            <a:r>
              <a:rPr dirty="0" sz="1150" spc="-35">
                <a:latin typeface="Arial"/>
                <a:cs typeface="Arial"/>
              </a:rPr>
              <a:t>mills, </a:t>
            </a:r>
            <a:r>
              <a:rPr dirty="0" sz="1150" spc="-70">
                <a:latin typeface="Arial"/>
                <a:cs typeface="Arial"/>
              </a:rPr>
              <a:t>sugar </a:t>
            </a:r>
            <a:r>
              <a:rPr dirty="0" sz="1150" spc="-30">
                <a:latin typeface="Arial"/>
                <a:cs typeface="Arial"/>
              </a:rPr>
              <a:t>mills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AutoNum type="alphaLcParenR" startAt="3"/>
              <a:tabLst>
                <a:tab pos="241300" algn="l"/>
              </a:tabLst>
            </a:pPr>
            <a:r>
              <a:rPr dirty="0" sz="1150" spc="-114" b="1">
                <a:latin typeface="Arial"/>
                <a:cs typeface="Arial"/>
              </a:rPr>
              <a:t>Services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Industry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40">
                <a:latin typeface="Arial"/>
                <a:cs typeface="Arial"/>
              </a:rPr>
              <a:t>industries include those </a:t>
            </a:r>
            <a:r>
              <a:rPr dirty="0" sz="1150" spc="-35">
                <a:latin typeface="Arial"/>
                <a:cs typeface="Arial"/>
              </a:rPr>
              <a:t>industries, which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75">
                <a:latin typeface="Arial"/>
                <a:cs typeface="Arial"/>
              </a:rPr>
              <a:t>engaged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providing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50">
                <a:latin typeface="Arial"/>
                <a:cs typeface="Arial"/>
              </a:rPr>
              <a:t>professionals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50">
                <a:latin typeface="Arial"/>
                <a:cs typeface="Arial"/>
              </a:rPr>
              <a:t>lawyers, </a:t>
            </a:r>
            <a:r>
              <a:rPr dirty="0" sz="1150" spc="-35">
                <a:latin typeface="Arial"/>
                <a:cs typeface="Arial"/>
              </a:rPr>
              <a:t>doctors, </a:t>
            </a:r>
            <a:r>
              <a:rPr dirty="0" sz="1150" spc="-40">
                <a:latin typeface="Arial"/>
                <a:cs typeface="Arial"/>
              </a:rPr>
              <a:t>teacher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2906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60" b="1">
                <a:latin typeface="Arial"/>
                <a:cs typeface="Arial"/>
              </a:rPr>
              <a:t>COMMERCE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70">
                <a:latin typeface="Arial"/>
                <a:cs typeface="Arial"/>
              </a:rPr>
              <a:t>Commerce 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second </a:t>
            </a:r>
            <a:r>
              <a:rPr dirty="0" sz="1150" spc="-35">
                <a:latin typeface="Arial"/>
                <a:cs typeface="Arial"/>
              </a:rPr>
              <a:t>component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term </a:t>
            </a:r>
            <a:r>
              <a:rPr dirty="0" sz="1150" spc="-25">
                <a:latin typeface="Arial"/>
                <a:cs typeface="Arial"/>
              </a:rPr>
              <a:t>“commerce” </a:t>
            </a:r>
            <a:r>
              <a:rPr dirty="0" sz="1150" spc="-50">
                <a:latin typeface="Arial"/>
                <a:cs typeface="Arial"/>
              </a:rPr>
              <a:t>includes </a:t>
            </a:r>
            <a:r>
              <a:rPr dirty="0" sz="1150" spc="-30">
                <a:latin typeface="Arial"/>
                <a:cs typeface="Arial"/>
              </a:rPr>
              <a:t>all  activities, functions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institutions,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involved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transferring </a:t>
            </a:r>
            <a:r>
              <a:rPr dirty="0" sz="1150" spc="-60">
                <a:latin typeface="Arial"/>
                <a:cs typeface="Arial"/>
              </a:rPr>
              <a:t>goods, </a:t>
            </a:r>
            <a:r>
              <a:rPr dirty="0" sz="1150" spc="-45">
                <a:latin typeface="Arial"/>
                <a:cs typeface="Arial"/>
              </a:rPr>
              <a:t>produced </a:t>
            </a:r>
            <a:r>
              <a:rPr dirty="0" sz="1150" spc="-20">
                <a:latin typeface="Arial"/>
                <a:cs typeface="Arial"/>
              </a:rPr>
              <a:t>in  </a:t>
            </a:r>
            <a:r>
              <a:rPr dirty="0" sz="1150" spc="-50">
                <a:latin typeface="Arial"/>
                <a:cs typeface="Arial"/>
              </a:rPr>
              <a:t>various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industries,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from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60">
                <a:latin typeface="Arial"/>
                <a:cs typeface="Arial"/>
              </a:rPr>
              <a:t> place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production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ultimate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consumers.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5"/>
              </a:spcBef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words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Evelyn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Thomas: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4699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45">
                <a:latin typeface="Arial"/>
                <a:cs typeface="Arial"/>
              </a:rPr>
              <a:t>“Commercial </a:t>
            </a:r>
            <a:r>
              <a:rPr dirty="0" sz="1150" spc="-50">
                <a:latin typeface="Arial"/>
                <a:cs typeface="Arial"/>
              </a:rPr>
              <a:t>occupations deal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buying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selling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goods,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exchange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40">
                <a:latin typeface="Arial"/>
                <a:cs typeface="Arial"/>
              </a:rPr>
              <a:t>commodities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finished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goods.”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simple </a:t>
            </a:r>
            <a:r>
              <a:rPr dirty="0" sz="1150" spc="-40">
                <a:latin typeface="Arial"/>
                <a:cs typeface="Arial"/>
              </a:rPr>
              <a:t>words, </a:t>
            </a:r>
            <a:r>
              <a:rPr dirty="0" sz="1150" spc="-5">
                <a:latin typeface="Arial"/>
                <a:cs typeface="Arial"/>
              </a:rPr>
              <a:t>“trade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aids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trade”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50">
                <a:latin typeface="Arial"/>
                <a:cs typeface="Arial"/>
              </a:rPr>
              <a:t>commerce.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90" b="1">
                <a:latin typeface="Arial"/>
                <a:cs typeface="Arial"/>
              </a:rPr>
              <a:t>SCOPE </a:t>
            </a:r>
            <a:r>
              <a:rPr dirty="0" sz="1150" spc="-150" b="1">
                <a:latin typeface="Arial"/>
                <a:cs typeface="Arial"/>
              </a:rPr>
              <a:t>OF</a:t>
            </a:r>
            <a:r>
              <a:rPr dirty="0" sz="1150" spc="-70" b="1">
                <a:latin typeface="Arial"/>
                <a:cs typeface="Arial"/>
              </a:rPr>
              <a:t> </a:t>
            </a:r>
            <a:r>
              <a:rPr dirty="0" sz="1150" spc="-135" b="1">
                <a:latin typeface="Arial"/>
                <a:cs typeface="Arial"/>
              </a:rPr>
              <a:t>COMMERCE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scope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commerce </a:t>
            </a:r>
            <a:r>
              <a:rPr dirty="0" sz="1150" spc="-75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50">
                <a:latin typeface="Arial"/>
                <a:cs typeface="Arial"/>
              </a:rPr>
              <a:t>explained</a:t>
            </a:r>
            <a:r>
              <a:rPr dirty="0" sz="1150" spc="-80">
                <a:latin typeface="Arial"/>
                <a:cs typeface="Arial"/>
              </a:rPr>
              <a:t> as: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87506" y="3954274"/>
            <a:ext cx="137160" cy="379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5">
                <a:latin typeface="Arial"/>
                <a:cs typeface="Arial"/>
              </a:rPr>
              <a:t>1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55">
                <a:latin typeface="Arial"/>
                <a:cs typeface="Arial"/>
              </a:rPr>
              <a:t>2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4711" y="3954274"/>
            <a:ext cx="811530" cy="379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70">
                <a:latin typeface="Arial"/>
                <a:cs typeface="Arial"/>
              </a:rPr>
              <a:t>Trade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65">
                <a:latin typeface="Arial"/>
                <a:cs typeface="Arial"/>
              </a:rPr>
              <a:t>Aids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Trade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6886" y="4667506"/>
            <a:ext cx="6711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25">
                <a:latin typeface="Arial"/>
                <a:cs typeface="Arial"/>
              </a:rPr>
              <a:t>C</a:t>
            </a:r>
            <a:r>
              <a:rPr dirty="0" sz="1150" spc="-45">
                <a:latin typeface="Arial"/>
                <a:cs typeface="Arial"/>
              </a:rPr>
              <a:t>o</a:t>
            </a:r>
            <a:r>
              <a:rPr dirty="0" sz="1150" spc="-35">
                <a:latin typeface="Arial"/>
                <a:cs typeface="Arial"/>
              </a:rPr>
              <a:t>m</a:t>
            </a:r>
            <a:r>
              <a:rPr dirty="0" sz="1150" spc="-50">
                <a:latin typeface="Arial"/>
                <a:cs typeface="Arial"/>
              </a:rPr>
              <a:t>m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 spc="10">
                <a:latin typeface="Arial"/>
                <a:cs typeface="Arial"/>
              </a:rPr>
              <a:t>r</a:t>
            </a:r>
            <a:r>
              <a:rPr dirty="0" sz="1150" spc="-85">
                <a:latin typeface="Arial"/>
                <a:cs typeface="Arial"/>
              </a:rPr>
              <a:t>c</a:t>
            </a:r>
            <a:r>
              <a:rPr dirty="0" sz="1150" spc="-70">
                <a:latin typeface="Arial"/>
                <a:cs typeface="Arial"/>
              </a:rPr>
              <a:t>e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01912" y="5380737"/>
            <a:ext cx="3663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45">
                <a:latin typeface="Arial"/>
                <a:cs typeface="Arial"/>
              </a:rPr>
              <a:t>T</a:t>
            </a:r>
            <a:r>
              <a:rPr dirty="0" sz="1150" spc="10">
                <a:latin typeface="Arial"/>
                <a:cs typeface="Arial"/>
              </a:rPr>
              <a:t>r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45">
                <a:latin typeface="Arial"/>
                <a:cs typeface="Arial"/>
              </a:rPr>
              <a:t>d</a:t>
            </a:r>
            <a:r>
              <a:rPr dirty="0" sz="1150" spc="-70">
                <a:latin typeface="Arial"/>
                <a:cs typeface="Arial"/>
              </a:rPr>
              <a:t>e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87895" y="5380737"/>
            <a:ext cx="78867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65">
                <a:latin typeface="Arial"/>
                <a:cs typeface="Arial"/>
              </a:rPr>
              <a:t>Aids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trade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0298" y="5737353"/>
            <a:ext cx="5513705" cy="16579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9265" algn="l"/>
              </a:tabLst>
            </a:pPr>
            <a:r>
              <a:rPr dirty="0" sz="1350" spc="-45" b="1">
                <a:latin typeface="Arial"/>
                <a:cs typeface="Arial"/>
              </a:rPr>
              <a:t>1.</a:t>
            </a:r>
            <a:r>
              <a:rPr dirty="0" sz="1350" spc="-45">
                <a:latin typeface="Times New Roman"/>
                <a:cs typeface="Times New Roman"/>
              </a:rPr>
              <a:t>	</a:t>
            </a:r>
            <a:r>
              <a:rPr dirty="0" sz="1350" spc="-180" b="1">
                <a:latin typeface="Arial"/>
                <a:cs typeface="Arial"/>
              </a:rPr>
              <a:t>TRADE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70">
                <a:latin typeface="Arial"/>
                <a:cs typeface="Arial"/>
              </a:rPr>
              <a:t>Trade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whole </a:t>
            </a:r>
            <a:r>
              <a:rPr dirty="0" sz="1150" spc="-40">
                <a:latin typeface="Arial"/>
                <a:cs typeface="Arial"/>
              </a:rPr>
              <a:t>procedure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transferring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0">
                <a:latin typeface="Arial"/>
                <a:cs typeface="Arial"/>
              </a:rPr>
              <a:t>distributing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45">
                <a:latin typeface="Arial"/>
                <a:cs typeface="Arial"/>
              </a:rPr>
              <a:t>produced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10">
                <a:latin typeface="Arial"/>
                <a:cs typeface="Arial"/>
              </a:rPr>
              <a:t>different 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0">
                <a:latin typeface="Arial"/>
                <a:cs typeface="Arial"/>
              </a:rPr>
              <a:t>industries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15">
                <a:latin typeface="Arial"/>
                <a:cs typeface="Arial"/>
              </a:rPr>
              <a:t>ultimate </a:t>
            </a:r>
            <a:r>
              <a:rPr dirty="0" sz="1150" spc="-60">
                <a:latin typeface="Arial"/>
                <a:cs typeface="Arial"/>
              </a:rPr>
              <a:t>consumers.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40">
                <a:latin typeface="Arial"/>
                <a:cs typeface="Arial"/>
              </a:rPr>
              <a:t>words,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0">
                <a:latin typeface="Arial"/>
                <a:cs typeface="Arial"/>
              </a:rPr>
              <a:t>channel, 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5">
                <a:latin typeface="Arial"/>
                <a:cs typeface="Arial"/>
              </a:rPr>
              <a:t>helps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exchange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goods,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trade.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150" spc="-180" b="1">
                <a:latin typeface="Arial"/>
                <a:cs typeface="Arial"/>
              </a:rPr>
              <a:t>TYPES </a:t>
            </a:r>
            <a:r>
              <a:rPr dirty="0" sz="1150" spc="-150" b="1">
                <a:latin typeface="Arial"/>
                <a:cs typeface="Arial"/>
              </a:rPr>
              <a:t>OF</a:t>
            </a:r>
            <a:r>
              <a:rPr dirty="0" sz="1150" spc="-95" b="1">
                <a:latin typeface="Arial"/>
                <a:cs typeface="Arial"/>
              </a:rPr>
              <a:t> </a:t>
            </a:r>
            <a:r>
              <a:rPr dirty="0" sz="1150" spc="-155" b="1">
                <a:latin typeface="Arial"/>
                <a:cs typeface="Arial"/>
              </a:rPr>
              <a:t>TRADE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>
                <a:latin typeface="Arial"/>
                <a:cs typeface="Arial"/>
              </a:rPr>
              <a:t>two </a:t>
            </a:r>
            <a:r>
              <a:rPr dirty="0" sz="1150" spc="-50">
                <a:latin typeface="Arial"/>
                <a:cs typeface="Arial"/>
              </a:rPr>
              <a:t>types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trade: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87494" y="7550912"/>
            <a:ext cx="190500" cy="379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5">
                <a:latin typeface="Arial"/>
                <a:cs typeface="Arial"/>
              </a:rPr>
              <a:t>(a)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40">
                <a:latin typeface="Arial"/>
                <a:cs typeface="Arial"/>
              </a:rPr>
              <a:t>(</a:t>
            </a:r>
            <a:r>
              <a:rPr dirty="0" sz="1150" spc="-45">
                <a:latin typeface="Arial"/>
                <a:cs typeface="Arial"/>
              </a:rPr>
              <a:t>b</a:t>
            </a:r>
            <a:r>
              <a:rPr dirty="0" sz="1150" spc="-35">
                <a:latin typeface="Arial"/>
                <a:cs typeface="Arial"/>
              </a:rPr>
              <a:t>)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44568" y="7550912"/>
            <a:ext cx="846455" cy="3797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65">
                <a:latin typeface="Arial"/>
                <a:cs typeface="Arial"/>
              </a:rPr>
              <a:t>Home </a:t>
            </a:r>
            <a:r>
              <a:rPr dirty="0" sz="1150" spc="-25">
                <a:latin typeface="Arial"/>
                <a:cs typeface="Arial"/>
              </a:rPr>
              <a:t>trade  </a:t>
            </a:r>
            <a:r>
              <a:rPr dirty="0" sz="1150" spc="-60">
                <a:latin typeface="Arial"/>
                <a:cs typeface="Arial"/>
              </a:rPr>
              <a:t>Foreign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Trade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628900" y="4875276"/>
            <a:ext cx="2514600" cy="460375"/>
          </a:xfrm>
          <a:custGeom>
            <a:avLst/>
            <a:gdLst/>
            <a:ahLst/>
            <a:cxnLst/>
            <a:rect l="l" t="t" r="r" b="b"/>
            <a:pathLst>
              <a:path w="2514600" h="460375">
                <a:moveTo>
                  <a:pt x="0" y="231647"/>
                </a:moveTo>
                <a:lnTo>
                  <a:pt x="2514599" y="231647"/>
                </a:lnTo>
              </a:path>
              <a:path w="2514600" h="460375">
                <a:moveTo>
                  <a:pt x="1257299" y="0"/>
                </a:moveTo>
                <a:lnTo>
                  <a:pt x="1257299" y="228599"/>
                </a:lnTo>
              </a:path>
              <a:path w="2514600" h="460375">
                <a:moveTo>
                  <a:pt x="0" y="231647"/>
                </a:moveTo>
                <a:lnTo>
                  <a:pt x="0" y="460247"/>
                </a:lnTo>
              </a:path>
              <a:path w="2514600" h="460375">
                <a:moveTo>
                  <a:pt x="2514599" y="231647"/>
                </a:moveTo>
                <a:lnTo>
                  <a:pt x="2514599" y="460247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681386" y="892559"/>
            <a:ext cx="3663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45">
                <a:latin typeface="Arial"/>
                <a:cs typeface="Arial"/>
              </a:rPr>
              <a:t>T</a:t>
            </a:r>
            <a:r>
              <a:rPr dirty="0" sz="1150" spc="10">
                <a:latin typeface="Arial"/>
                <a:cs typeface="Arial"/>
              </a:rPr>
              <a:t>r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45">
                <a:latin typeface="Arial"/>
                <a:cs typeface="Arial"/>
              </a:rPr>
              <a:t>d</a:t>
            </a:r>
            <a:r>
              <a:rPr dirty="0" sz="1150" spc="-70">
                <a:latin typeface="Arial"/>
                <a:cs typeface="Arial"/>
              </a:rPr>
              <a:t>e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44669" y="1605791"/>
            <a:ext cx="1178560" cy="55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65">
                <a:latin typeface="Arial"/>
                <a:cs typeface="Arial"/>
              </a:rPr>
              <a:t>Home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Trade</a:t>
            </a:r>
            <a:endParaRPr sz="1150">
              <a:latin typeface="Arial"/>
              <a:cs typeface="Arial"/>
            </a:endParaRPr>
          </a:p>
          <a:p>
            <a:pPr marL="167640" indent="-155575">
              <a:lnSpc>
                <a:spcPct val="100000"/>
              </a:lnSpc>
              <a:spcBef>
                <a:spcPts val="25"/>
              </a:spcBef>
              <a:buAutoNum type="romanLcParenBoth"/>
              <a:tabLst>
                <a:tab pos="168275" algn="l"/>
              </a:tabLst>
            </a:pPr>
            <a:r>
              <a:rPr dirty="0" sz="1150" spc="-55">
                <a:latin typeface="Arial"/>
                <a:cs typeface="Arial"/>
              </a:rPr>
              <a:t>Wholesale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Trade</a:t>
            </a:r>
            <a:endParaRPr sz="1150">
              <a:latin typeface="Arial"/>
              <a:cs typeface="Arial"/>
            </a:endParaRPr>
          </a:p>
          <a:p>
            <a:pPr marL="201295" indent="-189230">
              <a:lnSpc>
                <a:spcPct val="100000"/>
              </a:lnSpc>
              <a:spcBef>
                <a:spcPts val="25"/>
              </a:spcBef>
              <a:buAutoNum type="romanLcParenBoth"/>
              <a:tabLst>
                <a:tab pos="201930" algn="l"/>
              </a:tabLst>
            </a:pPr>
            <a:r>
              <a:rPr dirty="0" sz="1150" spc="-50">
                <a:latin typeface="Arial"/>
                <a:cs typeface="Arial"/>
              </a:rPr>
              <a:t>Retail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Trade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61491" y="1605791"/>
            <a:ext cx="976630" cy="55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dirty="0" sz="1150" spc="-60">
                <a:latin typeface="Arial"/>
                <a:cs typeface="Arial"/>
              </a:rPr>
              <a:t>Foreign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Trade</a:t>
            </a:r>
            <a:endParaRPr sz="1150">
              <a:latin typeface="Arial"/>
              <a:cs typeface="Arial"/>
            </a:endParaRPr>
          </a:p>
          <a:p>
            <a:pPr marL="166370" indent="-154305">
              <a:lnSpc>
                <a:spcPct val="100000"/>
              </a:lnSpc>
              <a:spcBef>
                <a:spcPts val="25"/>
              </a:spcBef>
              <a:buAutoNum type="romanLcParenBoth"/>
              <a:tabLst>
                <a:tab pos="167005" algn="l"/>
              </a:tabLst>
            </a:pPr>
            <a:r>
              <a:rPr dirty="0" sz="1150" spc="-10">
                <a:latin typeface="Arial"/>
                <a:cs typeface="Arial"/>
              </a:rPr>
              <a:t>Import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Trade</a:t>
            </a:r>
            <a:endParaRPr sz="1150">
              <a:latin typeface="Arial"/>
              <a:cs typeface="Arial"/>
            </a:endParaRPr>
          </a:p>
          <a:p>
            <a:pPr marL="199390" indent="-187325">
              <a:lnSpc>
                <a:spcPct val="100000"/>
              </a:lnSpc>
              <a:spcBef>
                <a:spcPts val="25"/>
              </a:spcBef>
              <a:buAutoNum type="romanLcParenBoth"/>
              <a:tabLst>
                <a:tab pos="200025" algn="l"/>
              </a:tabLst>
            </a:pPr>
            <a:r>
              <a:rPr dirty="0" sz="1150" spc="-45">
                <a:latin typeface="Arial"/>
                <a:cs typeface="Arial"/>
              </a:rPr>
              <a:t>Export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Trade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0290" y="2319023"/>
            <a:ext cx="551243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</a:tabLst>
            </a:pPr>
            <a:r>
              <a:rPr dirty="0" sz="1150" spc="-45" b="1">
                <a:latin typeface="Arial"/>
                <a:cs typeface="Arial"/>
              </a:rPr>
              <a:t>(a)</a:t>
            </a:r>
            <a:r>
              <a:rPr dirty="0" sz="1150" spc="-45">
                <a:latin typeface="Times New Roman"/>
                <a:cs typeface="Times New Roman"/>
              </a:rPr>
              <a:t>	</a:t>
            </a:r>
            <a:r>
              <a:rPr dirty="0" sz="1150" spc="-85" b="1">
                <a:latin typeface="Arial"/>
                <a:cs typeface="Arial"/>
              </a:rPr>
              <a:t>Home</a:t>
            </a:r>
            <a:r>
              <a:rPr dirty="0" sz="1150" spc="-7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Trade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purchase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5">
                <a:latin typeface="Arial"/>
                <a:cs typeface="Arial"/>
              </a:rPr>
              <a:t>sale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0">
                <a:latin typeface="Arial"/>
                <a:cs typeface="Arial"/>
              </a:rPr>
              <a:t>inside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country </a:t>
            </a:r>
            <a:r>
              <a:rPr dirty="0" sz="1150" spc="-60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called home </a:t>
            </a:r>
            <a:r>
              <a:rPr dirty="0" sz="1150" spc="-30">
                <a:latin typeface="Arial"/>
                <a:cs typeface="Arial"/>
              </a:rPr>
              <a:t>trade.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35">
                <a:latin typeface="Arial"/>
                <a:cs typeface="Arial"/>
              </a:rPr>
              <a:t>known </a:t>
            </a:r>
            <a:r>
              <a:rPr dirty="0" sz="1150" spc="-110">
                <a:latin typeface="Arial"/>
                <a:cs typeface="Arial"/>
              </a:rPr>
              <a:t>as  </a:t>
            </a:r>
            <a:r>
              <a:rPr dirty="0" sz="1150" spc="-30">
                <a:latin typeface="Arial"/>
                <a:cs typeface="Arial"/>
              </a:rPr>
              <a:t>‘domestic’, </a:t>
            </a:r>
            <a:r>
              <a:rPr dirty="0" sz="1150" spc="-25">
                <a:latin typeface="Arial"/>
                <a:cs typeface="Arial"/>
              </a:rPr>
              <a:t>‘local’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0">
                <a:latin typeface="Arial"/>
                <a:cs typeface="Arial"/>
              </a:rPr>
              <a:t>‘internal trade’. </a:t>
            </a:r>
            <a:r>
              <a:rPr dirty="0" sz="1150" spc="-65">
                <a:latin typeface="Arial"/>
                <a:cs typeface="Arial"/>
              </a:rPr>
              <a:t>Home </a:t>
            </a:r>
            <a:r>
              <a:rPr dirty="0" sz="1150" spc="-30">
                <a:latin typeface="Arial"/>
                <a:cs typeface="Arial"/>
              </a:rPr>
              <a:t>trade </a:t>
            </a:r>
            <a:r>
              <a:rPr dirty="0" sz="1150" spc="-90">
                <a:latin typeface="Arial"/>
                <a:cs typeface="Arial"/>
              </a:rPr>
              <a:t>has </a:t>
            </a:r>
            <a:r>
              <a:rPr dirty="0" sz="1150">
                <a:latin typeface="Arial"/>
                <a:cs typeface="Arial"/>
              </a:rPr>
              <a:t>two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types: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7480" y="3210562"/>
            <a:ext cx="180975" cy="379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5">
                <a:latin typeface="Arial"/>
                <a:cs typeface="Arial"/>
              </a:rPr>
              <a:t>(i)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40">
                <a:latin typeface="Arial"/>
                <a:cs typeface="Arial"/>
              </a:rPr>
              <a:t>(</a:t>
            </a:r>
            <a:r>
              <a:rPr dirty="0" sz="1150">
                <a:latin typeface="Arial"/>
                <a:cs typeface="Arial"/>
              </a:rPr>
              <a:t>ii</a:t>
            </a:r>
            <a:r>
              <a:rPr dirty="0" sz="1150" spc="-35">
                <a:latin typeface="Arial"/>
                <a:cs typeface="Arial"/>
              </a:rPr>
              <a:t>)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44460" y="3210562"/>
            <a:ext cx="1023619" cy="3797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55">
                <a:latin typeface="Arial"/>
                <a:cs typeface="Arial"/>
              </a:rPr>
              <a:t>Wholesale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Trade  </a:t>
            </a:r>
            <a:r>
              <a:rPr dirty="0" sz="1150" spc="-50">
                <a:latin typeface="Arial"/>
                <a:cs typeface="Arial"/>
              </a:rPr>
              <a:t>Retail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Trade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0290" y="3745486"/>
            <a:ext cx="5514975" cy="2875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AutoNum type="romanLcParenBoth"/>
              <a:tabLst>
                <a:tab pos="469900" algn="l"/>
                <a:tab pos="470534" algn="l"/>
              </a:tabLst>
            </a:pPr>
            <a:r>
              <a:rPr dirty="0" sz="1150" spc="-75" b="1">
                <a:latin typeface="Arial"/>
                <a:cs typeface="Arial"/>
              </a:rPr>
              <a:t>Wholesale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Trade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romanLcParenBoth"/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50">
                <a:latin typeface="Arial"/>
                <a:cs typeface="Arial"/>
              </a:rPr>
              <a:t>involves selling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large </a:t>
            </a:r>
            <a:r>
              <a:rPr dirty="0" sz="1150" spc="-30">
                <a:latin typeface="Arial"/>
                <a:cs typeface="Arial"/>
              </a:rPr>
              <a:t>quantities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shopkeepers,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resale </a:t>
            </a:r>
            <a:r>
              <a:rPr dirty="0" sz="1150" spc="-25">
                <a:latin typeface="Arial"/>
                <a:cs typeface="Arial"/>
              </a:rPr>
              <a:t>them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60">
                <a:latin typeface="Arial"/>
                <a:cs typeface="Arial"/>
              </a:rPr>
              <a:t>consumers.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wholesaler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like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bridge </a:t>
            </a:r>
            <a:r>
              <a:rPr dirty="0" sz="1150" spc="-35">
                <a:latin typeface="Arial"/>
                <a:cs typeface="Arial"/>
              </a:rPr>
              <a:t>between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producers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retailers.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romanLcParenBoth" startAt="2"/>
              <a:tabLst>
                <a:tab pos="469900" algn="l"/>
                <a:tab pos="470534" algn="l"/>
              </a:tabLst>
            </a:pPr>
            <a:r>
              <a:rPr dirty="0" sz="1150" spc="-65" b="1">
                <a:latin typeface="Arial"/>
                <a:cs typeface="Arial"/>
              </a:rPr>
              <a:t>Retail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Trade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50">
                <a:latin typeface="Arial"/>
                <a:cs typeface="Arial"/>
              </a:rPr>
              <a:t>Retailing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 spc="-50">
                <a:latin typeface="Arial"/>
                <a:cs typeface="Arial"/>
              </a:rPr>
              <a:t>selling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small </a:t>
            </a:r>
            <a:r>
              <a:rPr dirty="0" sz="1150" spc="-30">
                <a:latin typeface="Arial"/>
                <a:cs typeface="Arial"/>
              </a:rPr>
              <a:t>quantities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ultimate </a:t>
            </a:r>
            <a:r>
              <a:rPr dirty="0" sz="1150" spc="-60">
                <a:latin typeface="Arial"/>
                <a:cs typeface="Arial"/>
              </a:rPr>
              <a:t>consumers. </a:t>
            </a:r>
            <a:r>
              <a:rPr dirty="0" sz="1150" spc="-45">
                <a:latin typeface="Arial"/>
                <a:cs typeface="Arial"/>
              </a:rPr>
              <a:t>Retailer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40">
                <a:latin typeface="Arial"/>
                <a:cs typeface="Arial"/>
              </a:rPr>
              <a:t>middleman,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60">
                <a:latin typeface="Arial"/>
                <a:cs typeface="Arial"/>
              </a:rPr>
              <a:t>purchase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40">
                <a:latin typeface="Arial"/>
                <a:cs typeface="Arial"/>
              </a:rPr>
              <a:t>manufacturers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0">
                <a:latin typeface="Arial"/>
                <a:cs typeface="Arial"/>
              </a:rPr>
              <a:t>wholesalers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provide </a:t>
            </a:r>
            <a:r>
              <a:rPr dirty="0" sz="1150" spc="-50">
                <a:latin typeface="Arial"/>
                <a:cs typeface="Arial"/>
              </a:rPr>
              <a:t>these 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consumers </a:t>
            </a:r>
            <a:r>
              <a:rPr dirty="0" sz="1150" spc="-50">
                <a:latin typeface="Arial"/>
                <a:cs typeface="Arial"/>
              </a:rPr>
              <a:t>near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houses.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69900" algn="l"/>
              </a:tabLst>
            </a:pPr>
            <a:r>
              <a:rPr dirty="0" sz="1150" spc="-45" b="1">
                <a:latin typeface="Arial"/>
                <a:cs typeface="Arial"/>
              </a:rPr>
              <a:t>(b)</a:t>
            </a:r>
            <a:r>
              <a:rPr dirty="0" sz="1150" spc="-45">
                <a:latin typeface="Times New Roman"/>
                <a:cs typeface="Times New Roman"/>
              </a:rPr>
              <a:t>	</a:t>
            </a:r>
            <a:r>
              <a:rPr dirty="0" sz="1150" spc="-95" b="1">
                <a:latin typeface="Arial"/>
                <a:cs typeface="Arial"/>
              </a:rPr>
              <a:t>Foreign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Trade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70">
                <a:latin typeface="Arial"/>
                <a:cs typeface="Arial"/>
              </a:rPr>
              <a:t>Trade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75">
                <a:latin typeface="Arial"/>
                <a:cs typeface="Arial"/>
              </a:rPr>
              <a:t>exchange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 spc="-35">
                <a:latin typeface="Arial"/>
                <a:cs typeface="Arial"/>
              </a:rPr>
              <a:t>between </a:t>
            </a:r>
            <a:r>
              <a:rPr dirty="0" sz="1150" spc="5">
                <a:latin typeface="Arial"/>
                <a:cs typeface="Arial"/>
              </a:rPr>
              <a:t>two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35">
                <a:latin typeface="Arial"/>
                <a:cs typeface="Arial"/>
              </a:rPr>
              <a:t>independent countries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25">
                <a:latin typeface="Arial"/>
                <a:cs typeface="Arial"/>
              </a:rPr>
              <a:t>mutual </a:t>
            </a:r>
            <a:r>
              <a:rPr dirty="0" sz="1150" spc="-65">
                <a:latin typeface="Arial"/>
                <a:cs typeface="Arial"/>
              </a:rPr>
              <a:t>advantages is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30">
                <a:latin typeface="Arial"/>
                <a:cs typeface="Arial"/>
              </a:rPr>
              <a:t>foreign trade.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55">
                <a:latin typeface="Arial"/>
                <a:cs typeface="Arial"/>
              </a:rPr>
              <a:t>is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20">
                <a:latin typeface="Arial"/>
                <a:cs typeface="Arial"/>
              </a:rPr>
              <a:t>international </a:t>
            </a:r>
            <a:r>
              <a:rPr dirty="0" sz="1150" spc="-30">
                <a:latin typeface="Arial"/>
                <a:cs typeface="Arial"/>
              </a:rPr>
              <a:t>trade. </a:t>
            </a:r>
            <a:r>
              <a:rPr dirty="0" sz="1150" spc="-60">
                <a:latin typeface="Arial"/>
                <a:cs typeface="Arial"/>
              </a:rPr>
              <a:t>Foreign  </a:t>
            </a:r>
            <a:r>
              <a:rPr dirty="0" sz="1150" spc="-25">
                <a:latin typeface="Arial"/>
                <a:cs typeface="Arial"/>
              </a:rPr>
              <a:t>trade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5">
                <a:latin typeface="Arial"/>
                <a:cs typeface="Arial"/>
              </a:rPr>
              <a:t>two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types: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87480" y="6775197"/>
            <a:ext cx="180975" cy="379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25">
                <a:latin typeface="Arial"/>
                <a:cs typeface="Arial"/>
              </a:rPr>
              <a:t>(i)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40">
                <a:latin typeface="Arial"/>
                <a:cs typeface="Arial"/>
              </a:rPr>
              <a:t>(</a:t>
            </a:r>
            <a:r>
              <a:rPr dirty="0" sz="1150">
                <a:latin typeface="Arial"/>
                <a:cs typeface="Arial"/>
              </a:rPr>
              <a:t>ii</a:t>
            </a:r>
            <a:r>
              <a:rPr dirty="0" sz="1150" spc="-35">
                <a:latin typeface="Arial"/>
                <a:cs typeface="Arial"/>
              </a:rPr>
              <a:t>)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44460" y="6775197"/>
            <a:ext cx="807085" cy="3797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10">
                <a:latin typeface="Arial"/>
                <a:cs typeface="Arial"/>
              </a:rPr>
              <a:t>Import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Trade  </a:t>
            </a:r>
            <a:r>
              <a:rPr dirty="0" sz="1150" spc="-45">
                <a:latin typeface="Arial"/>
                <a:cs typeface="Arial"/>
              </a:rPr>
              <a:t>Export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Trade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30290" y="7310121"/>
            <a:ext cx="4935855" cy="1271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AutoNum type="romanLcParenBoth"/>
              <a:tabLst>
                <a:tab pos="469900" algn="l"/>
                <a:tab pos="470534" algn="l"/>
              </a:tabLst>
            </a:pPr>
            <a:r>
              <a:rPr dirty="0" sz="1150" spc="-50" b="1">
                <a:latin typeface="Arial"/>
                <a:cs typeface="Arial"/>
              </a:rPr>
              <a:t>Import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Trade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romanLcParenBoth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5">
                <a:latin typeface="Arial"/>
                <a:cs typeface="Arial"/>
              </a:rPr>
              <a:t>When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 spc="-55">
                <a:latin typeface="Arial"/>
                <a:cs typeface="Arial"/>
              </a:rPr>
              <a:t>are </a:t>
            </a:r>
            <a:r>
              <a:rPr dirty="0" sz="1150" spc="-60">
                <a:latin typeface="Arial"/>
                <a:cs typeface="Arial"/>
              </a:rPr>
              <a:t>purchased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0">
                <a:latin typeface="Arial"/>
                <a:cs typeface="Arial"/>
              </a:rPr>
              <a:t>country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10">
                <a:latin typeface="Arial"/>
                <a:cs typeface="Arial"/>
              </a:rPr>
              <a:t>import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trade.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romanLcParenBoth" startAt="2"/>
              <a:tabLst>
                <a:tab pos="469900" algn="l"/>
                <a:tab pos="470534" algn="l"/>
              </a:tabLst>
            </a:pPr>
            <a:r>
              <a:rPr dirty="0" sz="1150" spc="-90" b="1">
                <a:latin typeface="Arial"/>
                <a:cs typeface="Arial"/>
              </a:rPr>
              <a:t>Export</a:t>
            </a:r>
            <a:r>
              <a:rPr dirty="0" sz="1150" spc="-7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Trade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5">
                <a:latin typeface="Arial"/>
                <a:cs typeface="Arial"/>
              </a:rPr>
              <a:t>When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 spc="-55">
                <a:latin typeface="Arial"/>
                <a:cs typeface="Arial"/>
              </a:rPr>
              <a:t>are </a:t>
            </a:r>
            <a:r>
              <a:rPr dirty="0" sz="1150" spc="-50">
                <a:latin typeface="Arial"/>
                <a:cs typeface="Arial"/>
              </a:rPr>
              <a:t>sold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0">
                <a:latin typeface="Arial"/>
                <a:cs typeface="Arial"/>
              </a:rPr>
              <a:t>country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called </a:t>
            </a:r>
            <a:r>
              <a:rPr dirty="0" sz="1150" spc="-25">
                <a:latin typeface="Arial"/>
                <a:cs typeface="Arial"/>
              </a:rPr>
              <a:t>export </a:t>
            </a:r>
            <a:r>
              <a:rPr dirty="0" sz="1150" spc="-30">
                <a:latin typeface="Arial"/>
                <a:cs typeface="Arial"/>
              </a:rPr>
              <a:t>trade.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28900" y="1100328"/>
            <a:ext cx="2514600" cy="460375"/>
          </a:xfrm>
          <a:custGeom>
            <a:avLst/>
            <a:gdLst/>
            <a:ahLst/>
            <a:cxnLst/>
            <a:rect l="l" t="t" r="r" b="b"/>
            <a:pathLst>
              <a:path w="2514600" h="460375">
                <a:moveTo>
                  <a:pt x="0" y="231647"/>
                </a:moveTo>
                <a:lnTo>
                  <a:pt x="2514599" y="231647"/>
                </a:lnTo>
              </a:path>
              <a:path w="2514600" h="460375">
                <a:moveTo>
                  <a:pt x="1257299" y="0"/>
                </a:moveTo>
                <a:lnTo>
                  <a:pt x="1257299" y="228599"/>
                </a:lnTo>
              </a:path>
              <a:path w="2514600" h="460375">
                <a:moveTo>
                  <a:pt x="0" y="231647"/>
                </a:moveTo>
                <a:lnTo>
                  <a:pt x="0" y="460247"/>
                </a:lnTo>
              </a:path>
              <a:path w="2514600" h="460375">
                <a:moveTo>
                  <a:pt x="2514599" y="231647"/>
                </a:moveTo>
                <a:lnTo>
                  <a:pt x="2514599" y="460247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7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4340" cy="8045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1150" spc="-120" b="1">
                <a:latin typeface="Arial"/>
                <a:cs typeface="Arial"/>
              </a:rPr>
              <a:t>AIDS </a:t>
            </a:r>
            <a:r>
              <a:rPr dirty="0" sz="1150" spc="-125" b="1">
                <a:latin typeface="Arial"/>
                <a:cs typeface="Arial"/>
              </a:rPr>
              <a:t>TO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spc="-155" b="1">
                <a:latin typeface="Arial"/>
                <a:cs typeface="Arial"/>
              </a:rPr>
              <a:t>TRADE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70">
                <a:latin typeface="Arial"/>
                <a:cs typeface="Arial"/>
              </a:rPr>
              <a:t>Trade </a:t>
            </a:r>
            <a:r>
              <a:rPr dirty="0" sz="1150" spc="-75">
                <a:latin typeface="Arial"/>
                <a:cs typeface="Arial"/>
              </a:rPr>
              <a:t>mans </a:t>
            </a:r>
            <a:r>
              <a:rPr dirty="0" sz="1150" spc="-20">
                <a:latin typeface="Arial"/>
                <a:cs typeface="Arial"/>
              </a:rPr>
              <a:t>biting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selling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goods, </a:t>
            </a:r>
            <a:r>
              <a:rPr dirty="0" sz="1150" spc="-55">
                <a:latin typeface="Arial"/>
                <a:cs typeface="Arial"/>
              </a:rPr>
              <a:t>whereas, </a:t>
            </a:r>
            <a:r>
              <a:rPr dirty="0" sz="1150" spc="-65">
                <a:latin typeface="Arial"/>
                <a:cs typeface="Arial"/>
              </a:rPr>
              <a:t>aids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trade </a:t>
            </a:r>
            <a:r>
              <a:rPr dirty="0" sz="1150" spc="-60">
                <a:latin typeface="Arial"/>
                <a:cs typeface="Arial"/>
              </a:rPr>
              <a:t>mean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40">
                <a:latin typeface="Arial"/>
                <a:cs typeface="Arial"/>
              </a:rPr>
              <a:t>those </a:t>
            </a:r>
            <a:r>
              <a:rPr dirty="0" sz="1150" spc="-45">
                <a:latin typeface="Arial"/>
                <a:cs typeface="Arial"/>
              </a:rPr>
              <a:t>things </a:t>
            </a:r>
            <a:r>
              <a:rPr dirty="0" sz="1150" spc="-35">
                <a:latin typeface="Arial"/>
                <a:cs typeface="Arial"/>
              </a:rPr>
              <a:t>which 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5">
                <a:latin typeface="Arial"/>
                <a:cs typeface="Arial"/>
              </a:rPr>
              <a:t>helpful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trade.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lvl="1" marL="469900" indent="-228600">
              <a:lnSpc>
                <a:spcPct val="100000"/>
              </a:lnSpc>
              <a:spcBef>
                <a:spcPts val="5"/>
              </a:spcBef>
              <a:buAutoNum type="alphaLcParenR"/>
              <a:tabLst>
                <a:tab pos="469900" algn="l"/>
              </a:tabLst>
            </a:pPr>
            <a:r>
              <a:rPr dirty="0" sz="1150" spc="-70">
                <a:latin typeface="Arial"/>
                <a:cs typeface="Arial"/>
              </a:rPr>
              <a:t>Banking</a:t>
            </a:r>
            <a:endParaRPr sz="115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spcBef>
                <a:spcPts val="20"/>
              </a:spcBef>
              <a:buAutoNum type="alphaLcParenR"/>
              <a:tabLst>
                <a:tab pos="469900" algn="l"/>
              </a:tabLst>
            </a:pPr>
            <a:r>
              <a:rPr dirty="0" sz="1150" spc="-35">
                <a:latin typeface="Arial"/>
                <a:cs typeface="Arial"/>
              </a:rPr>
              <a:t>Transportation</a:t>
            </a:r>
            <a:endParaRPr sz="115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spcBef>
                <a:spcPts val="25"/>
              </a:spcBef>
              <a:buAutoNum type="alphaLcParenR"/>
              <a:tabLst>
                <a:tab pos="469900" algn="l"/>
              </a:tabLst>
            </a:pPr>
            <a:r>
              <a:rPr dirty="0" sz="1150" spc="-60">
                <a:latin typeface="Arial"/>
                <a:cs typeface="Arial"/>
              </a:rPr>
              <a:t>Insurance</a:t>
            </a:r>
            <a:endParaRPr sz="115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spcBef>
                <a:spcPts val="25"/>
              </a:spcBef>
              <a:buAutoNum type="alphaLcParenR"/>
              <a:tabLst>
                <a:tab pos="469900" algn="l"/>
              </a:tabLst>
            </a:pPr>
            <a:r>
              <a:rPr dirty="0" sz="1150" spc="-55">
                <a:latin typeface="Arial"/>
                <a:cs typeface="Arial"/>
              </a:rPr>
              <a:t>Warehousing</a:t>
            </a:r>
            <a:endParaRPr sz="115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spcBef>
                <a:spcPts val="25"/>
              </a:spcBef>
              <a:buAutoNum type="alphaLcParenR"/>
              <a:tabLst>
                <a:tab pos="469900" algn="l"/>
              </a:tabLst>
            </a:pPr>
            <a:r>
              <a:rPr dirty="0" sz="1150" spc="-65">
                <a:latin typeface="Arial"/>
                <a:cs typeface="Arial"/>
              </a:rPr>
              <a:t>Agents</a:t>
            </a:r>
            <a:endParaRPr sz="115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spcBef>
                <a:spcPts val="25"/>
              </a:spcBef>
              <a:buAutoNum type="alphaLcParenR"/>
              <a:tabLst>
                <a:tab pos="469265" algn="l"/>
                <a:tab pos="469900" algn="l"/>
              </a:tabLst>
            </a:pPr>
            <a:r>
              <a:rPr dirty="0" sz="1150" spc="-75">
                <a:latin typeface="Arial"/>
                <a:cs typeface="Arial"/>
              </a:rPr>
              <a:t>Finance</a:t>
            </a:r>
            <a:endParaRPr sz="115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spcBef>
                <a:spcPts val="20"/>
              </a:spcBef>
              <a:buAutoNum type="alphaLcParenR"/>
              <a:tabLst>
                <a:tab pos="469900" algn="l"/>
              </a:tabLst>
            </a:pPr>
            <a:r>
              <a:rPr dirty="0" sz="1150" spc="-45">
                <a:latin typeface="Arial"/>
                <a:cs typeface="Arial"/>
              </a:rPr>
              <a:t>Advertising</a:t>
            </a:r>
            <a:endParaRPr sz="115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spcBef>
                <a:spcPts val="25"/>
              </a:spcBef>
              <a:buAutoNum type="alphaLcParenR"/>
              <a:tabLst>
                <a:tab pos="469900" algn="l"/>
              </a:tabLst>
            </a:pPr>
            <a:r>
              <a:rPr dirty="0" sz="1150" spc="-45">
                <a:latin typeface="Arial"/>
                <a:cs typeface="Arial"/>
              </a:rPr>
              <a:t>Communication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584200" indent="-457200">
              <a:lnSpc>
                <a:spcPct val="100000"/>
              </a:lnSpc>
              <a:buAutoNum type="alphaLcParenBoth"/>
              <a:tabLst>
                <a:tab pos="583565" algn="l"/>
                <a:tab pos="584200" algn="l"/>
              </a:tabLst>
            </a:pPr>
            <a:r>
              <a:rPr dirty="0" sz="1150" spc="-105" b="1">
                <a:latin typeface="Arial"/>
                <a:cs typeface="Arial"/>
              </a:rPr>
              <a:t>Banking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lphaLcParenBoth"/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daily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20">
                <a:latin typeface="Arial"/>
                <a:cs typeface="Arial"/>
              </a:rPr>
              <a:t>routine, </a:t>
            </a:r>
            <a:r>
              <a:rPr dirty="0" sz="1150" spc="-45">
                <a:latin typeface="Arial"/>
                <a:cs typeface="Arial"/>
              </a:rPr>
              <a:t>commercial </a:t>
            </a:r>
            <a:r>
              <a:rPr dirty="0" sz="1150" spc="-70">
                <a:latin typeface="Arial"/>
                <a:cs typeface="Arial"/>
              </a:rPr>
              <a:t>banks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5">
                <a:latin typeface="Arial"/>
                <a:cs typeface="Arial"/>
              </a:rPr>
              <a:t>financial </a:t>
            </a:r>
            <a:r>
              <a:rPr dirty="0" sz="1150" spc="-20">
                <a:latin typeface="Arial"/>
                <a:cs typeface="Arial"/>
              </a:rPr>
              <a:t>institutions </a:t>
            </a:r>
            <a:r>
              <a:rPr dirty="0" sz="1150" spc="-35">
                <a:latin typeface="Arial"/>
                <a:cs typeface="Arial"/>
              </a:rPr>
              <a:t>help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seller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buyer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receiving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buyer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receiving </a:t>
            </a:r>
            <a:r>
              <a:rPr dirty="0" sz="1150" spc="-55">
                <a:latin typeface="Arial"/>
                <a:cs typeface="Arial"/>
              </a:rPr>
              <a:t>and making </a:t>
            </a:r>
            <a:r>
              <a:rPr dirty="0" sz="1150" spc="-50">
                <a:latin typeface="Arial"/>
                <a:cs typeface="Arial"/>
              </a:rPr>
              <a:t>payments.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584200" indent="-457200">
              <a:lnSpc>
                <a:spcPct val="100000"/>
              </a:lnSpc>
              <a:buAutoNum type="alphaLcParenBoth" startAt="2"/>
              <a:tabLst>
                <a:tab pos="583565" algn="l"/>
                <a:tab pos="584200" algn="l"/>
              </a:tabLst>
            </a:pPr>
            <a:r>
              <a:rPr dirty="0" sz="1150" spc="-75" b="1">
                <a:latin typeface="Arial"/>
                <a:cs typeface="Arial"/>
              </a:rPr>
              <a:t>Transportation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lphaLcParenBoth" startAt="2"/>
            </a:pPr>
            <a:endParaRPr sz="120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manufactured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mills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factories, </a:t>
            </a:r>
            <a:r>
              <a:rPr dirty="0" sz="1150" spc="-55">
                <a:latin typeface="Arial"/>
                <a:cs typeface="Arial"/>
              </a:rPr>
              <a:t>reach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consumers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10">
                <a:latin typeface="Arial"/>
                <a:cs typeface="Arial"/>
              </a:rPr>
              <a:t>different 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transportation </a:t>
            </a:r>
            <a:r>
              <a:rPr dirty="0" sz="1150" spc="-30">
                <a:latin typeface="Arial"/>
                <a:cs typeface="Arial"/>
              </a:rPr>
              <a:t>like air, </a:t>
            </a:r>
            <a:r>
              <a:rPr dirty="0" sz="1150" spc="-55">
                <a:latin typeface="Arial"/>
                <a:cs typeface="Arial"/>
              </a:rPr>
              <a:t>roads, </a:t>
            </a:r>
            <a:r>
              <a:rPr dirty="0" sz="1150" spc="-40">
                <a:latin typeface="Arial"/>
                <a:cs typeface="Arial"/>
              </a:rPr>
              <a:t>rails, </a:t>
            </a:r>
            <a:r>
              <a:rPr dirty="0" sz="1150" spc="-105">
                <a:latin typeface="Arial"/>
                <a:cs typeface="Arial"/>
              </a:rPr>
              <a:t>seas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584200" indent="-457200">
              <a:lnSpc>
                <a:spcPct val="100000"/>
              </a:lnSpc>
              <a:buAutoNum type="alphaLcParenBoth" startAt="3"/>
              <a:tabLst>
                <a:tab pos="583565" algn="l"/>
                <a:tab pos="584200" algn="l"/>
              </a:tabLst>
            </a:pPr>
            <a:r>
              <a:rPr dirty="0" sz="1150" spc="-90" b="1">
                <a:latin typeface="Arial"/>
                <a:cs typeface="Arial"/>
              </a:rPr>
              <a:t>Insurance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lphaLcParenBoth" startAt="3"/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transfer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15">
                <a:latin typeface="Arial"/>
                <a:cs typeface="Arial"/>
              </a:rPr>
              <a:t>from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60">
                <a:latin typeface="Arial"/>
                <a:cs typeface="Arial"/>
              </a:rPr>
              <a:t>place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another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25">
                <a:latin typeface="Arial"/>
                <a:cs typeface="Arial"/>
              </a:rPr>
              <a:t>free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40">
                <a:latin typeface="Arial"/>
                <a:cs typeface="Arial"/>
              </a:rPr>
              <a:t>risk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loss. There 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risk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loss </a:t>
            </a:r>
            <a:r>
              <a:rPr dirty="0" sz="1150" spc="-5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accident, </a:t>
            </a:r>
            <a:r>
              <a:rPr dirty="0" sz="1150" spc="-15">
                <a:latin typeface="Arial"/>
                <a:cs typeface="Arial"/>
              </a:rPr>
              <a:t>fire, </a:t>
            </a:r>
            <a:r>
              <a:rPr dirty="0" sz="1150" spc="5">
                <a:latin typeface="Arial"/>
                <a:cs typeface="Arial"/>
              </a:rPr>
              <a:t>theft </a:t>
            </a:r>
            <a:r>
              <a:rPr dirty="0" sz="1150" spc="-30">
                <a:latin typeface="Arial"/>
                <a:cs typeface="Arial"/>
              </a:rPr>
              <a:t>etc.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insurance </a:t>
            </a:r>
            <a:r>
              <a:rPr dirty="0" sz="1150" spc="-60">
                <a:latin typeface="Arial"/>
                <a:cs typeface="Arial"/>
              </a:rPr>
              <a:t>companies </a:t>
            </a:r>
            <a:r>
              <a:rPr dirty="0" sz="1150" spc="-35">
                <a:latin typeface="Arial"/>
                <a:cs typeface="Arial"/>
              </a:rPr>
              <a:t>help </a:t>
            </a:r>
            <a:r>
              <a:rPr dirty="0" sz="1150" spc="-5">
                <a:latin typeface="Arial"/>
                <a:cs typeface="Arial"/>
              </a:rPr>
              <a:t>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traders </a:t>
            </a:r>
            <a:r>
              <a:rPr dirty="0" sz="1150" spc="5">
                <a:latin typeface="Arial"/>
                <a:cs typeface="Arial"/>
              </a:rPr>
              <a:t>with  </a:t>
            </a:r>
            <a:r>
              <a:rPr dirty="0" sz="1150" spc="-30">
                <a:latin typeface="Arial"/>
                <a:cs typeface="Arial"/>
              </a:rPr>
              <a:t>this problem </a:t>
            </a:r>
            <a:r>
              <a:rPr dirty="0" sz="1150" spc="-25">
                <a:latin typeface="Arial"/>
                <a:cs typeface="Arial"/>
              </a:rPr>
              <a:t>through </a:t>
            </a:r>
            <a:r>
              <a:rPr dirty="0" sz="1150" spc="-55">
                <a:latin typeface="Arial"/>
                <a:cs typeface="Arial"/>
              </a:rPr>
              <a:t>insurance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policy.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584200" indent="-457200">
              <a:lnSpc>
                <a:spcPct val="100000"/>
              </a:lnSpc>
              <a:spcBef>
                <a:spcPts val="5"/>
              </a:spcBef>
              <a:buAutoNum type="alphaLcParenBoth" startAt="4"/>
              <a:tabLst>
                <a:tab pos="583565" algn="l"/>
                <a:tab pos="584200" algn="l"/>
              </a:tabLst>
            </a:pPr>
            <a:r>
              <a:rPr dirty="0" sz="1150" spc="-90" b="1">
                <a:latin typeface="Arial"/>
                <a:cs typeface="Arial"/>
              </a:rPr>
              <a:t>Warehousing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AutoNum type="alphaLcParenBoth" startAt="4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manufacturers </a:t>
            </a:r>
            <a:r>
              <a:rPr dirty="0" sz="1150" spc="-35">
                <a:latin typeface="Arial"/>
                <a:cs typeface="Arial"/>
              </a:rPr>
              <a:t>today, </a:t>
            </a:r>
            <a:r>
              <a:rPr dirty="0" sz="1150" spc="-45">
                <a:latin typeface="Arial"/>
                <a:cs typeface="Arial"/>
              </a:rPr>
              <a:t>produce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large </a:t>
            </a:r>
            <a:r>
              <a:rPr dirty="0" sz="1150" spc="-20">
                <a:latin typeface="Arial"/>
                <a:cs typeface="Arial"/>
              </a:rPr>
              <a:t>quantity. </a:t>
            </a:r>
            <a:r>
              <a:rPr dirty="0" sz="1150" spc="-40">
                <a:latin typeface="Arial"/>
                <a:cs typeface="Arial"/>
              </a:rPr>
              <a:t>Therefore,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need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60">
                <a:latin typeface="Arial"/>
                <a:cs typeface="Arial"/>
              </a:rPr>
              <a:t>warehouses </a:t>
            </a:r>
            <a:r>
              <a:rPr dirty="0" sz="1150" spc="-70">
                <a:latin typeface="Arial"/>
                <a:cs typeface="Arial"/>
              </a:rPr>
              <a:t>arises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store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manufactured </a:t>
            </a:r>
            <a:r>
              <a:rPr dirty="0" sz="1150" spc="-60">
                <a:latin typeface="Arial"/>
                <a:cs typeface="Arial"/>
              </a:rPr>
              <a:t>goods.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584200" indent="-457200">
              <a:lnSpc>
                <a:spcPct val="100000"/>
              </a:lnSpc>
              <a:buAutoNum type="alphaLcParenBoth" startAt="5"/>
              <a:tabLst>
                <a:tab pos="583565" algn="l"/>
                <a:tab pos="584200" algn="l"/>
              </a:tabLst>
            </a:pPr>
            <a:r>
              <a:rPr dirty="0" sz="1150" spc="-105" b="1">
                <a:latin typeface="Arial"/>
                <a:cs typeface="Arial"/>
              </a:rPr>
              <a:t>Agents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lphaLcParenBoth" startAt="5"/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  <a:spcBef>
                <a:spcPts val="5"/>
              </a:spcBef>
            </a:pPr>
            <a:r>
              <a:rPr dirty="0" sz="1150" spc="-80">
                <a:latin typeface="Arial"/>
                <a:cs typeface="Arial"/>
              </a:rPr>
              <a:t>They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40">
                <a:latin typeface="Arial"/>
                <a:cs typeface="Arial"/>
              </a:rPr>
              <a:t>act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agents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either </a:t>
            </a:r>
            <a:r>
              <a:rPr dirty="0" sz="1150" spc="-40">
                <a:latin typeface="Arial"/>
                <a:cs typeface="Arial"/>
              </a:rPr>
              <a:t>buyer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0">
                <a:latin typeface="Arial"/>
                <a:cs typeface="Arial"/>
              </a:rPr>
              <a:t>seller. </a:t>
            </a:r>
            <a:r>
              <a:rPr dirty="0" sz="1150" spc="-80">
                <a:latin typeface="Arial"/>
                <a:cs typeface="Arial"/>
              </a:rPr>
              <a:t>They </a:t>
            </a:r>
            <a:r>
              <a:rPr dirty="0" sz="1150" spc="-20">
                <a:latin typeface="Arial"/>
                <a:cs typeface="Arial"/>
              </a:rPr>
              <a:t>perform </a:t>
            </a:r>
            <a:r>
              <a:rPr dirty="0" sz="1150" spc="-50">
                <a:latin typeface="Arial"/>
                <a:cs typeface="Arial"/>
              </a:rPr>
              <a:t>these  </a:t>
            </a:r>
            <a:r>
              <a:rPr dirty="0" sz="1150" spc="-30">
                <a:latin typeface="Arial"/>
                <a:cs typeface="Arial"/>
              </a:rPr>
              <a:t>activities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commission.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584200" indent="-457200">
              <a:lnSpc>
                <a:spcPct val="100000"/>
              </a:lnSpc>
              <a:buAutoNum type="alphaLcParenBoth" startAt="6"/>
              <a:tabLst>
                <a:tab pos="583565" algn="l"/>
                <a:tab pos="584200" algn="l"/>
              </a:tabLst>
            </a:pPr>
            <a:r>
              <a:rPr dirty="0" sz="1150" spc="-100" b="1">
                <a:latin typeface="Arial"/>
                <a:cs typeface="Arial"/>
              </a:rPr>
              <a:t>Finance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large </a:t>
            </a:r>
            <a:r>
              <a:rPr dirty="0" sz="1150" spc="-35">
                <a:latin typeface="Arial"/>
                <a:cs typeface="Arial"/>
              </a:rPr>
              <a:t>amount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needed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set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30">
                <a:latin typeface="Arial"/>
                <a:cs typeface="Arial"/>
              </a:rPr>
              <a:t>industry. </a:t>
            </a:r>
            <a:r>
              <a:rPr dirty="0" sz="1150" spc="-60">
                <a:latin typeface="Arial"/>
                <a:cs typeface="Arial"/>
              </a:rPr>
              <a:t>Financial </a:t>
            </a:r>
            <a:r>
              <a:rPr dirty="0" sz="1150" spc="-20">
                <a:latin typeface="Arial"/>
                <a:cs typeface="Arial"/>
              </a:rPr>
              <a:t>institutions </a:t>
            </a:r>
            <a:r>
              <a:rPr dirty="0" sz="1150" spc="-35">
                <a:latin typeface="Arial"/>
                <a:cs typeface="Arial"/>
              </a:rPr>
              <a:t>provide </a:t>
            </a:r>
            <a:r>
              <a:rPr dirty="0" sz="1150" spc="-30">
                <a:latin typeface="Arial"/>
                <a:cs typeface="Arial"/>
              </a:rPr>
              <a:t>long-term  </a:t>
            </a:r>
            <a:r>
              <a:rPr dirty="0" sz="1150" spc="-45">
                <a:latin typeface="Arial"/>
                <a:cs typeface="Arial"/>
              </a:rPr>
              <a:t>finance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producers.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producers alone are </a:t>
            </a:r>
            <a:r>
              <a:rPr dirty="0" sz="1150" spc="-50">
                <a:latin typeface="Arial"/>
                <a:cs typeface="Arial"/>
              </a:rPr>
              <a:t>unable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manufacture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>
                <a:latin typeface="Arial"/>
                <a:cs typeface="Arial"/>
              </a:rPr>
              <a:t>without  </a:t>
            </a:r>
            <a:r>
              <a:rPr dirty="0" sz="1150" spc="-35">
                <a:latin typeface="Arial"/>
                <a:cs typeface="Arial"/>
              </a:rPr>
              <a:t>financial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help.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8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8074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4200" indent="-457200">
              <a:lnSpc>
                <a:spcPct val="100000"/>
              </a:lnSpc>
              <a:spcBef>
                <a:spcPts val="100"/>
              </a:spcBef>
              <a:buAutoNum type="alphaLcParenBoth" startAt="7"/>
              <a:tabLst>
                <a:tab pos="583565" algn="l"/>
                <a:tab pos="584200" algn="l"/>
              </a:tabLst>
            </a:pPr>
            <a:r>
              <a:rPr dirty="0" sz="1150" spc="-85" b="1">
                <a:latin typeface="Arial"/>
                <a:cs typeface="Arial"/>
              </a:rPr>
              <a:t>Advertising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lphaLcParenBoth" startAt="7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consumer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0">
                <a:latin typeface="Arial"/>
                <a:cs typeface="Arial"/>
              </a:rPr>
              <a:t>sometimes,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35">
                <a:latin typeface="Arial"/>
                <a:cs typeface="Arial"/>
              </a:rPr>
              <a:t>know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availability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market. </a:t>
            </a:r>
            <a:r>
              <a:rPr dirty="0" sz="1150" spc="-85">
                <a:latin typeface="Arial"/>
                <a:cs typeface="Arial"/>
              </a:rPr>
              <a:t>The  </a:t>
            </a:r>
            <a:r>
              <a:rPr dirty="0" sz="1150" spc="-35">
                <a:latin typeface="Arial"/>
                <a:cs typeface="Arial"/>
              </a:rPr>
              <a:t>producer must </a:t>
            </a:r>
            <a:r>
              <a:rPr dirty="0" sz="1150" spc="-45">
                <a:latin typeface="Arial"/>
                <a:cs typeface="Arial"/>
              </a:rPr>
              <a:t>sell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remain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-40">
                <a:latin typeface="Arial"/>
                <a:cs typeface="Arial"/>
              </a:rPr>
              <a:t>Advertisement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85">
                <a:latin typeface="Arial"/>
                <a:cs typeface="Arial"/>
              </a:rPr>
              <a:t>easy </a:t>
            </a:r>
            <a:r>
              <a:rPr dirty="0" sz="1150" spc="-50">
                <a:latin typeface="Arial"/>
                <a:cs typeface="Arial"/>
              </a:rPr>
              <a:t>way 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inform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large </a:t>
            </a:r>
            <a:r>
              <a:rPr dirty="0" sz="1150" spc="-40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customers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goods.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done </a:t>
            </a:r>
            <a:r>
              <a:rPr dirty="0" sz="1150" spc="-25">
                <a:latin typeface="Arial"/>
                <a:cs typeface="Arial"/>
              </a:rPr>
              <a:t>through </a:t>
            </a:r>
            <a:r>
              <a:rPr dirty="0" sz="1150" spc="-100">
                <a:latin typeface="Arial"/>
                <a:cs typeface="Arial"/>
              </a:rPr>
              <a:t>TV,  </a:t>
            </a:r>
            <a:r>
              <a:rPr dirty="0" sz="1150" spc="-60">
                <a:latin typeface="Arial"/>
                <a:cs typeface="Arial"/>
              </a:rPr>
              <a:t>newspapers, </a:t>
            </a:r>
            <a:r>
              <a:rPr dirty="0" sz="1150" spc="-30">
                <a:latin typeface="Arial"/>
                <a:cs typeface="Arial"/>
              </a:rPr>
              <a:t>radio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584200" indent="-457834">
              <a:lnSpc>
                <a:spcPct val="100000"/>
              </a:lnSpc>
              <a:spcBef>
                <a:spcPts val="5"/>
              </a:spcBef>
              <a:buAutoNum type="alphaLcParenBoth" startAt="8"/>
              <a:tabLst>
                <a:tab pos="583565" algn="l"/>
                <a:tab pos="584200" algn="l"/>
              </a:tabLst>
            </a:pPr>
            <a:r>
              <a:rPr dirty="0" sz="1150" spc="-90" b="1">
                <a:latin typeface="Arial"/>
                <a:cs typeface="Arial"/>
              </a:rPr>
              <a:t>Communication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lphaLcParenBoth" startAt="8"/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  <a:spcBef>
                <a:spcPts val="5"/>
              </a:spcBef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producers, </a:t>
            </a:r>
            <a:r>
              <a:rPr dirty="0" sz="1150" spc="-50">
                <a:latin typeface="Arial"/>
                <a:cs typeface="Arial"/>
              </a:rPr>
              <a:t>wholesalers, </a:t>
            </a:r>
            <a:r>
              <a:rPr dirty="0" sz="1150" spc="-30">
                <a:latin typeface="Arial"/>
                <a:cs typeface="Arial"/>
              </a:rPr>
              <a:t>retailers, transporters, </a:t>
            </a:r>
            <a:r>
              <a:rPr dirty="0" sz="1150" spc="-65">
                <a:latin typeface="Arial"/>
                <a:cs typeface="Arial"/>
              </a:rPr>
              <a:t>banks, </a:t>
            </a:r>
            <a:r>
              <a:rPr dirty="0" sz="1150" spc="-55">
                <a:latin typeface="Arial"/>
                <a:cs typeface="Arial"/>
              </a:rPr>
              <a:t>warehouse-keepers, </a:t>
            </a:r>
            <a:r>
              <a:rPr dirty="0" sz="1150" spc="-45">
                <a:latin typeface="Arial"/>
                <a:cs typeface="Arial"/>
              </a:rPr>
              <a:t>advertisers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consumers </a:t>
            </a:r>
            <a:r>
              <a:rPr dirty="0" sz="1150" spc="-35">
                <a:latin typeface="Arial"/>
                <a:cs typeface="Arial"/>
              </a:rPr>
              <a:t>live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55">
                <a:latin typeface="Arial"/>
                <a:cs typeface="Arial"/>
              </a:rPr>
              <a:t>place.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35">
                <a:latin typeface="Arial"/>
                <a:cs typeface="Arial"/>
              </a:rPr>
              <a:t>post </a:t>
            </a:r>
            <a:r>
              <a:rPr dirty="0" sz="1150" spc="-25">
                <a:latin typeface="Arial"/>
                <a:cs typeface="Arial"/>
              </a:rPr>
              <a:t>office, </a:t>
            </a:r>
            <a:r>
              <a:rPr dirty="0" sz="1150" spc="-35">
                <a:latin typeface="Arial"/>
                <a:cs typeface="Arial"/>
              </a:rPr>
              <a:t>telephone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5">
                <a:latin typeface="Arial"/>
                <a:cs typeface="Arial"/>
              </a:rPr>
              <a:t>similar </a:t>
            </a:r>
            <a:r>
              <a:rPr dirty="0" sz="1150" spc="-50">
                <a:latin typeface="Arial"/>
                <a:cs typeface="Arial"/>
              </a:rPr>
              <a:t>media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45">
                <a:latin typeface="Arial"/>
                <a:cs typeface="Arial"/>
              </a:rPr>
              <a:t>very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useful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promotion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trade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industry.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200" b="1">
                <a:latin typeface="Arial"/>
                <a:cs typeface="Arial"/>
              </a:rPr>
              <a:t>FACTORS </a:t>
            </a:r>
            <a:r>
              <a:rPr dirty="0" sz="1350" spc="-175" b="1">
                <a:latin typeface="Arial"/>
                <a:cs typeface="Arial"/>
              </a:rPr>
              <a:t>OF</a:t>
            </a:r>
            <a:r>
              <a:rPr dirty="0" sz="1350" spc="-120" b="1">
                <a:latin typeface="Arial"/>
                <a:cs typeface="Arial"/>
              </a:rPr>
              <a:t> </a:t>
            </a:r>
            <a:r>
              <a:rPr dirty="0" sz="1350" spc="-140" b="1">
                <a:latin typeface="Arial"/>
                <a:cs typeface="Arial"/>
              </a:rPr>
              <a:t>PRODUCTION: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5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65">
                <a:latin typeface="Arial"/>
                <a:cs typeface="Arial"/>
              </a:rPr>
              <a:t>Factors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inputs </a:t>
            </a:r>
            <a:r>
              <a:rPr dirty="0" sz="1150">
                <a:latin typeface="Arial"/>
                <a:cs typeface="Arial"/>
              </a:rPr>
              <a:t>that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required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5">
                <a:latin typeface="Arial"/>
                <a:cs typeface="Arial"/>
              </a:rPr>
              <a:t>services.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components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production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are: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lvl="1" marL="1041400" indent="-299085">
              <a:lnSpc>
                <a:spcPct val="100000"/>
              </a:lnSpc>
              <a:buAutoNum type="romanLcPeriod"/>
              <a:tabLst>
                <a:tab pos="1040765" algn="l"/>
                <a:tab pos="1041400" algn="l"/>
              </a:tabLst>
            </a:pPr>
            <a:r>
              <a:rPr dirty="0" sz="1150" spc="-65">
                <a:latin typeface="Arial"/>
                <a:cs typeface="Arial"/>
              </a:rPr>
              <a:t>Labor</a:t>
            </a:r>
            <a:endParaRPr sz="1150">
              <a:latin typeface="Arial"/>
              <a:cs typeface="Arial"/>
            </a:endParaRPr>
          </a:p>
          <a:p>
            <a:pPr lvl="1" marL="1041400" indent="-332740">
              <a:lnSpc>
                <a:spcPct val="100000"/>
              </a:lnSpc>
              <a:spcBef>
                <a:spcPts val="25"/>
              </a:spcBef>
              <a:buAutoNum type="romanLcPeriod"/>
              <a:tabLst>
                <a:tab pos="1040765" algn="l"/>
                <a:tab pos="1041400" algn="l"/>
              </a:tabLst>
            </a:pPr>
            <a:r>
              <a:rPr dirty="0" sz="1150" spc="-55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 lvl="1" marL="1041400" indent="-365760">
              <a:lnSpc>
                <a:spcPct val="100000"/>
              </a:lnSpc>
              <a:spcBef>
                <a:spcPts val="25"/>
              </a:spcBef>
              <a:buAutoNum type="romanLcPeriod"/>
              <a:tabLst>
                <a:tab pos="1040765" algn="l"/>
                <a:tab pos="1041400" algn="l"/>
              </a:tabLst>
            </a:pPr>
            <a:r>
              <a:rPr dirty="0" sz="1150" spc="-45">
                <a:latin typeface="Arial"/>
                <a:cs typeface="Arial"/>
              </a:rPr>
              <a:t>Entrepreneurship</a:t>
            </a:r>
            <a:endParaRPr sz="1150">
              <a:latin typeface="Arial"/>
              <a:cs typeface="Arial"/>
            </a:endParaRPr>
          </a:p>
          <a:p>
            <a:pPr lvl="1" marL="1041400" indent="-364490">
              <a:lnSpc>
                <a:spcPct val="100000"/>
              </a:lnSpc>
              <a:spcBef>
                <a:spcPts val="25"/>
              </a:spcBef>
              <a:buAutoNum type="romanLcPeriod"/>
              <a:tabLst>
                <a:tab pos="1040765" algn="l"/>
                <a:tab pos="1041400" algn="l"/>
              </a:tabLst>
            </a:pPr>
            <a:r>
              <a:rPr dirty="0" sz="1150" spc="-70">
                <a:latin typeface="Arial"/>
                <a:cs typeface="Arial"/>
              </a:rPr>
              <a:t>Physical</a:t>
            </a:r>
            <a:r>
              <a:rPr dirty="0" sz="1150" spc="-60">
                <a:latin typeface="Arial"/>
                <a:cs typeface="Arial"/>
              </a:rPr>
              <a:t> resources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303530">
              <a:lnSpc>
                <a:spcPct val="100000"/>
              </a:lnSpc>
              <a:buAutoNum type="romanLcPeriod"/>
              <a:tabLst>
                <a:tab pos="469265" algn="l"/>
                <a:tab pos="469900" algn="l"/>
              </a:tabLst>
            </a:pPr>
            <a:r>
              <a:rPr dirty="0" sz="1150" spc="-100" b="1">
                <a:latin typeface="Arial"/>
                <a:cs typeface="Arial"/>
              </a:rPr>
              <a:t>Labor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romanLcPeriod"/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65">
                <a:latin typeface="Arial"/>
                <a:cs typeface="Arial"/>
              </a:rPr>
              <a:t>Labor 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most </a:t>
            </a:r>
            <a:r>
              <a:rPr dirty="0" sz="1150" spc="-15">
                <a:latin typeface="Arial"/>
                <a:cs typeface="Arial"/>
              </a:rPr>
              <a:t>important </a:t>
            </a:r>
            <a:r>
              <a:rPr dirty="0" sz="1150" spc="-20">
                <a:latin typeface="Arial"/>
                <a:cs typeface="Arial"/>
              </a:rPr>
              <a:t>factor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production. </a:t>
            </a:r>
            <a:r>
              <a:rPr dirty="0" sz="1150" spc="-60">
                <a:latin typeface="Arial"/>
                <a:cs typeface="Arial"/>
              </a:rPr>
              <a:t>Labor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35">
                <a:latin typeface="Arial"/>
                <a:cs typeface="Arial"/>
              </a:rPr>
              <a:t>who </a:t>
            </a:r>
            <a:r>
              <a:rPr dirty="0" sz="1150" spc="-20">
                <a:latin typeface="Arial"/>
                <a:cs typeface="Arial"/>
              </a:rPr>
              <a:t>work in </a:t>
            </a:r>
            <a:r>
              <a:rPr dirty="0" sz="1150" spc="-65">
                <a:latin typeface="Arial"/>
                <a:cs typeface="Arial"/>
              </a:rPr>
              <a:t>an 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provide </a:t>
            </a:r>
            <a:r>
              <a:rPr dirty="0" sz="1150" spc="-55">
                <a:latin typeface="Arial"/>
                <a:cs typeface="Arial"/>
              </a:rPr>
              <a:t>physical and </a:t>
            </a:r>
            <a:r>
              <a:rPr dirty="0" sz="1150" spc="-30">
                <a:latin typeface="Arial"/>
                <a:cs typeface="Arial"/>
              </a:rPr>
              <a:t>mental </a:t>
            </a:r>
            <a:r>
              <a:rPr dirty="0" sz="1150" spc="-15">
                <a:latin typeface="Arial"/>
                <a:cs typeface="Arial"/>
              </a:rPr>
              <a:t>efforts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production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process.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340360">
              <a:lnSpc>
                <a:spcPct val="100000"/>
              </a:lnSpc>
              <a:buAutoNum type="romanLcPeriod" startAt="2"/>
              <a:tabLst>
                <a:tab pos="469265" algn="l"/>
                <a:tab pos="469900" algn="l"/>
              </a:tabLst>
            </a:pPr>
            <a:r>
              <a:rPr dirty="0" sz="1150" spc="-75" b="1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romanLcPeriod" startAt="2"/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Capital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amount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0">
                <a:latin typeface="Arial"/>
                <a:cs typeface="Arial"/>
              </a:rPr>
              <a:t>property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invested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40">
                <a:latin typeface="Arial"/>
                <a:cs typeface="Arial"/>
              </a:rPr>
              <a:t>investor(s)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produce 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0">
                <a:latin typeface="Arial"/>
                <a:cs typeface="Arial"/>
              </a:rPr>
              <a:t> services.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375285">
              <a:lnSpc>
                <a:spcPct val="100000"/>
              </a:lnSpc>
              <a:spcBef>
                <a:spcPts val="5"/>
              </a:spcBef>
              <a:buAutoNum type="romanLcPeriod" startAt="3"/>
              <a:tabLst>
                <a:tab pos="469265" algn="l"/>
                <a:tab pos="469900" algn="l"/>
              </a:tabLst>
            </a:pPr>
            <a:r>
              <a:rPr dirty="0" sz="1150" spc="-80" b="1">
                <a:latin typeface="Arial"/>
                <a:cs typeface="Arial"/>
              </a:rPr>
              <a:t>Entrepreneurship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843280">
              <a:lnSpc>
                <a:spcPct val="101699"/>
              </a:lnSpc>
              <a:spcBef>
                <a:spcPts val="5"/>
              </a:spcBef>
            </a:pPr>
            <a:r>
              <a:rPr dirty="0" sz="1150" spc="-45">
                <a:latin typeface="Arial"/>
                <a:cs typeface="Arial"/>
              </a:rPr>
              <a:t>Entrepreneurship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management </a:t>
            </a:r>
            <a:r>
              <a:rPr dirty="0" sz="1150" spc="-20">
                <a:latin typeface="Arial"/>
                <a:cs typeface="Arial"/>
              </a:rPr>
              <a:t>ability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run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business.  </a:t>
            </a:r>
            <a:r>
              <a:rPr dirty="0" sz="1150" spc="15">
                <a:latin typeface="Arial"/>
                <a:cs typeface="Arial"/>
              </a:rPr>
              <a:t>It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involves:-</a:t>
            </a:r>
            <a:endParaRPr sz="1150">
              <a:latin typeface="Arial"/>
              <a:cs typeface="Arial"/>
            </a:endParaRPr>
          </a:p>
          <a:p>
            <a:pPr marL="204470" indent="-192405">
              <a:lnSpc>
                <a:spcPct val="100000"/>
              </a:lnSpc>
              <a:spcBef>
                <a:spcPts val="20"/>
              </a:spcBef>
              <a:buAutoNum type="alphaLcParenBoth"/>
              <a:tabLst>
                <a:tab pos="205104" algn="l"/>
              </a:tabLst>
            </a:pPr>
            <a:r>
              <a:rPr dirty="0" sz="1150" spc="-20">
                <a:latin typeface="Arial"/>
                <a:cs typeface="Arial"/>
              </a:rPr>
              <a:t>Identification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opportunity</a:t>
            </a:r>
            <a:endParaRPr sz="1150">
              <a:latin typeface="Arial"/>
              <a:cs typeface="Arial"/>
            </a:endParaRPr>
          </a:p>
          <a:p>
            <a:pPr marL="210185" indent="-198120">
              <a:lnSpc>
                <a:spcPct val="100000"/>
              </a:lnSpc>
              <a:spcBef>
                <a:spcPts val="25"/>
              </a:spcBef>
              <a:buAutoNum type="alphaLcParenBoth"/>
              <a:tabLst>
                <a:tab pos="210820" algn="l"/>
              </a:tabLst>
            </a:pPr>
            <a:r>
              <a:rPr dirty="0" sz="1150" spc="-35">
                <a:latin typeface="Arial"/>
                <a:cs typeface="Arial"/>
              </a:rPr>
              <a:t>Allocation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resources,</a:t>
            </a:r>
            <a:endParaRPr sz="1150">
              <a:latin typeface="Arial"/>
              <a:cs typeface="Arial"/>
            </a:endParaRPr>
          </a:p>
          <a:p>
            <a:pPr marL="196850" indent="-184785">
              <a:lnSpc>
                <a:spcPct val="100000"/>
              </a:lnSpc>
              <a:spcBef>
                <a:spcPts val="25"/>
              </a:spcBef>
              <a:buAutoNum type="alphaLcParenBoth"/>
              <a:tabLst>
                <a:tab pos="197485" algn="l"/>
              </a:tabLst>
            </a:pP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creation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wealth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70">
                <a:latin typeface="Arial"/>
                <a:cs typeface="Arial"/>
              </a:rPr>
              <a:t>assuming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necessary </a:t>
            </a:r>
            <a:r>
              <a:rPr dirty="0" sz="1150" spc="-40">
                <a:latin typeface="Arial"/>
                <a:cs typeface="Arial"/>
              </a:rPr>
              <a:t>risk.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97790">
              <a:lnSpc>
                <a:spcPct val="100000"/>
              </a:lnSpc>
              <a:spcBef>
                <a:spcPts val="5"/>
              </a:spcBef>
              <a:tabLst>
                <a:tab pos="469265" algn="l"/>
              </a:tabLst>
            </a:pPr>
            <a:r>
              <a:rPr dirty="0" sz="1150" spc="-50" b="1">
                <a:latin typeface="Arial"/>
                <a:cs typeface="Arial"/>
              </a:rPr>
              <a:t>iv.</a:t>
            </a:r>
            <a:r>
              <a:rPr dirty="0" sz="1150" spc="-50">
                <a:latin typeface="Times New Roman"/>
                <a:cs typeface="Times New Roman"/>
              </a:rPr>
              <a:t>	</a:t>
            </a:r>
            <a:r>
              <a:rPr dirty="0" sz="1150" spc="-105" b="1">
                <a:latin typeface="Arial"/>
                <a:cs typeface="Arial"/>
              </a:rPr>
              <a:t>Physical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105" b="1">
                <a:latin typeface="Arial"/>
                <a:cs typeface="Arial"/>
              </a:rPr>
              <a:t>resources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8890">
              <a:lnSpc>
                <a:spcPct val="101699"/>
              </a:lnSpc>
            </a:pPr>
            <a:r>
              <a:rPr dirty="0" sz="1150" spc="-70">
                <a:latin typeface="Arial"/>
                <a:cs typeface="Arial"/>
              </a:rPr>
              <a:t>Physical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 spc="-40">
                <a:latin typeface="Arial"/>
                <a:cs typeface="Arial"/>
              </a:rPr>
              <a:t>include land, </a:t>
            </a:r>
            <a:r>
              <a:rPr dirty="0" sz="1150" spc="-30">
                <a:latin typeface="Arial"/>
                <a:cs typeface="Arial"/>
              </a:rPr>
              <a:t>natural </a:t>
            </a:r>
            <a:r>
              <a:rPr dirty="0" sz="1150" spc="-55">
                <a:latin typeface="Arial"/>
                <a:cs typeface="Arial"/>
              </a:rPr>
              <a:t>resources, </a:t>
            </a:r>
            <a:r>
              <a:rPr dirty="0" sz="1150" spc="-35">
                <a:latin typeface="Arial"/>
                <a:cs typeface="Arial"/>
              </a:rPr>
              <a:t>building, </a:t>
            </a:r>
            <a:r>
              <a:rPr dirty="0" sz="1150" spc="-55">
                <a:latin typeface="Arial"/>
                <a:cs typeface="Arial"/>
              </a:rPr>
              <a:t>vehicles and </a:t>
            </a:r>
            <a:r>
              <a:rPr dirty="0" sz="1150" spc="-50">
                <a:latin typeface="Arial"/>
                <a:cs typeface="Arial"/>
              </a:rPr>
              <a:t>machinery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0">
                <a:latin typeface="Arial"/>
                <a:cs typeface="Arial"/>
              </a:rPr>
              <a:t>are 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25">
                <a:latin typeface="Arial"/>
                <a:cs typeface="Arial"/>
              </a:rPr>
              <a:t>production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process.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4975" cy="79292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40" b="1">
                <a:latin typeface="Arial"/>
                <a:cs typeface="Arial"/>
              </a:rPr>
              <a:t>ECONOMIC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80" b="1">
                <a:latin typeface="Arial"/>
                <a:cs typeface="Arial"/>
              </a:rPr>
              <a:t>SYSTEM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70">
                <a:latin typeface="Arial"/>
                <a:cs typeface="Arial"/>
              </a:rPr>
              <a:t>Economic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defined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allocation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resources. Commonly,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20">
                <a:latin typeface="Arial"/>
                <a:cs typeface="Arial"/>
              </a:rPr>
              <a:t>following  </a:t>
            </a:r>
            <a:r>
              <a:rPr dirty="0" sz="1150" spc="5">
                <a:latin typeface="Arial"/>
                <a:cs typeface="Arial"/>
              </a:rPr>
              <a:t>two </a:t>
            </a:r>
            <a:r>
              <a:rPr dirty="0" sz="1150" spc="-50">
                <a:latin typeface="Arial"/>
                <a:cs typeface="Arial"/>
              </a:rPr>
              <a:t>types </a:t>
            </a:r>
            <a:r>
              <a:rPr dirty="0" sz="1150" spc="-110">
                <a:latin typeface="Arial"/>
                <a:cs typeface="Arial"/>
              </a:rPr>
              <a:t>as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below: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AutoNum type="alphaLcParenR"/>
              <a:tabLst>
                <a:tab pos="470534" algn="l"/>
              </a:tabLst>
            </a:pPr>
            <a:r>
              <a:rPr dirty="0" sz="1150" spc="-65">
                <a:latin typeface="Arial"/>
                <a:cs typeface="Arial"/>
              </a:rPr>
              <a:t>Planned </a:t>
            </a:r>
            <a:r>
              <a:rPr dirty="0" sz="1150" spc="-55">
                <a:latin typeface="Arial"/>
                <a:cs typeface="Arial"/>
              </a:rPr>
              <a:t>economy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AutoNum type="alphaLcParenR"/>
              <a:tabLst>
                <a:tab pos="470534" algn="l"/>
              </a:tabLst>
            </a:pPr>
            <a:r>
              <a:rPr dirty="0" sz="1150" spc="-80">
                <a:latin typeface="Arial"/>
                <a:cs typeface="Arial"/>
              </a:rPr>
              <a:t>Free </a:t>
            </a:r>
            <a:r>
              <a:rPr dirty="0" sz="1150" spc="-30">
                <a:latin typeface="Arial"/>
                <a:cs typeface="Arial"/>
              </a:rPr>
              <a:t>market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economy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AutoNum type="alphaLcParenR"/>
              <a:tabLst>
                <a:tab pos="241300" algn="l"/>
              </a:tabLst>
            </a:pPr>
            <a:r>
              <a:rPr dirty="0" sz="1150" spc="-90" b="1">
                <a:latin typeface="Arial"/>
                <a:cs typeface="Arial"/>
              </a:rPr>
              <a:t>Planned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100" b="1">
                <a:latin typeface="Arial"/>
                <a:cs typeface="Arial"/>
              </a:rPr>
              <a:t>economy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lphaLcParenR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planned </a:t>
            </a:r>
            <a:r>
              <a:rPr dirty="0" sz="1150" spc="-50">
                <a:latin typeface="Arial"/>
                <a:cs typeface="Arial"/>
              </a:rPr>
              <a:t>economy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government </a:t>
            </a:r>
            <a:r>
              <a:rPr dirty="0" sz="1150" spc="-65">
                <a:latin typeface="Arial"/>
                <a:cs typeface="Arial"/>
              </a:rPr>
              <a:t>decides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0">
                <a:latin typeface="Arial"/>
                <a:cs typeface="Arial"/>
              </a:rPr>
              <a:t>how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5">
                <a:latin typeface="Arial"/>
                <a:cs typeface="Arial"/>
              </a:rPr>
              <a:t>generated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how </a:t>
            </a:r>
            <a:r>
              <a:rPr dirty="0" sz="1150" spc="-50">
                <a:latin typeface="Arial"/>
                <a:cs typeface="Arial"/>
              </a:rPr>
              <a:t>these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0">
                <a:latin typeface="Arial"/>
                <a:cs typeface="Arial"/>
              </a:rPr>
              <a:t>allocated. 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-40">
                <a:latin typeface="Arial"/>
                <a:cs typeface="Arial"/>
              </a:rPr>
              <a:t>government determines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key 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30">
                <a:latin typeface="Arial"/>
                <a:cs typeface="Arial"/>
              </a:rPr>
              <a:t>functions. </a:t>
            </a:r>
            <a:r>
              <a:rPr dirty="0" sz="1150" spc="-55">
                <a:latin typeface="Arial"/>
                <a:cs typeface="Arial"/>
              </a:rPr>
              <a:t>How </a:t>
            </a:r>
            <a:r>
              <a:rPr dirty="0" sz="1150" spc="-20">
                <a:latin typeface="Arial"/>
                <a:cs typeface="Arial"/>
              </a:rPr>
              <a:t>the factor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5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5">
                <a:latin typeface="Arial"/>
                <a:cs typeface="Arial"/>
              </a:rPr>
              <a:t>utilized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how </a:t>
            </a:r>
            <a:r>
              <a:rPr dirty="0" sz="1150" spc="-50">
                <a:latin typeface="Arial"/>
                <a:cs typeface="Arial"/>
              </a:rPr>
              <a:t>much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55">
                <a:latin typeface="Arial"/>
                <a:cs typeface="Arial"/>
              </a:rPr>
              <a:t>economy’s </a:t>
            </a:r>
            <a:r>
              <a:rPr dirty="0" sz="1150" spc="-5">
                <a:latin typeface="Arial"/>
                <a:cs typeface="Arial"/>
              </a:rPr>
              <a:t>output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decided by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government.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AutoNum type="alphaLcParenR" startAt="2"/>
              <a:tabLst>
                <a:tab pos="241300" algn="l"/>
              </a:tabLst>
            </a:pPr>
            <a:r>
              <a:rPr dirty="0" sz="1150" spc="-90" b="1">
                <a:latin typeface="Arial"/>
                <a:cs typeface="Arial"/>
              </a:rPr>
              <a:t>Free </a:t>
            </a:r>
            <a:r>
              <a:rPr dirty="0" sz="1150" spc="-60" b="1">
                <a:latin typeface="Arial"/>
                <a:cs typeface="Arial"/>
              </a:rPr>
              <a:t>market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economy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lphaLcParenR" startAt="2"/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  <a:spcBef>
                <a:spcPts val="5"/>
              </a:spcBef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free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55">
                <a:latin typeface="Arial"/>
                <a:cs typeface="Arial"/>
              </a:rPr>
              <a:t>economy demand and </a:t>
            </a:r>
            <a:r>
              <a:rPr dirty="0" sz="1150" spc="-50">
                <a:latin typeface="Arial"/>
                <a:cs typeface="Arial"/>
              </a:rPr>
              <a:t>supply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40">
                <a:latin typeface="Arial"/>
                <a:cs typeface="Arial"/>
              </a:rPr>
              <a:t>determines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allocation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10">
                <a:latin typeface="Arial"/>
                <a:cs typeface="Arial"/>
              </a:rPr>
              <a:t>little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no </a:t>
            </a:r>
            <a:r>
              <a:rPr dirty="0" sz="1150" spc="-40">
                <a:latin typeface="Arial"/>
                <a:cs typeface="Arial"/>
              </a:rPr>
              <a:t>government </a:t>
            </a:r>
            <a:r>
              <a:rPr dirty="0" sz="1150" spc="-20">
                <a:latin typeface="Arial"/>
                <a:cs typeface="Arial"/>
              </a:rPr>
              <a:t>intervention.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this </a:t>
            </a:r>
            <a:r>
              <a:rPr dirty="0" sz="1150" spc="-50">
                <a:latin typeface="Arial"/>
                <a:cs typeface="Arial"/>
              </a:rPr>
              <a:t>economy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60">
                <a:latin typeface="Arial"/>
                <a:cs typeface="Arial"/>
              </a:rPr>
              <a:t>mechanism  </a:t>
            </a:r>
            <a:r>
              <a:rPr dirty="0" sz="1150" spc="-65">
                <a:latin typeface="Arial"/>
                <a:cs typeface="Arial"/>
              </a:rPr>
              <a:t>decides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key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30">
                <a:latin typeface="Arial"/>
                <a:cs typeface="Arial"/>
              </a:rPr>
              <a:t>functions </a:t>
            </a:r>
            <a:r>
              <a:rPr dirty="0" sz="1150" spc="-25">
                <a:latin typeface="Arial"/>
                <a:cs typeface="Arial"/>
              </a:rPr>
              <a:t>(what,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whom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how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produce). </a:t>
            </a:r>
            <a:r>
              <a:rPr dirty="0" sz="1150" spc="-80">
                <a:latin typeface="Arial"/>
                <a:cs typeface="Arial"/>
              </a:rPr>
              <a:t>Free </a:t>
            </a:r>
            <a:r>
              <a:rPr dirty="0" sz="1150" spc="-30">
                <a:latin typeface="Arial"/>
                <a:cs typeface="Arial"/>
              </a:rPr>
              <a:t>market  </a:t>
            </a:r>
            <a:r>
              <a:rPr dirty="0" sz="1150" spc="-55">
                <a:latin typeface="Arial"/>
                <a:cs typeface="Arial"/>
              </a:rPr>
              <a:t>economy </a:t>
            </a:r>
            <a:r>
              <a:rPr dirty="0" sz="1150" spc="-70">
                <a:latin typeface="Arial"/>
                <a:cs typeface="Arial"/>
              </a:rPr>
              <a:t>increases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efficiency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productivity, </a:t>
            </a:r>
            <a:r>
              <a:rPr dirty="0" sz="1150" spc="-25">
                <a:latin typeface="Arial"/>
                <a:cs typeface="Arial"/>
              </a:rPr>
              <a:t>firms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organizations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10">
                <a:latin typeface="Arial"/>
                <a:cs typeface="Arial"/>
              </a:rPr>
              <a:t>better  </a:t>
            </a:r>
            <a:r>
              <a:rPr dirty="0" sz="1150" spc="-25">
                <a:latin typeface="Arial"/>
                <a:cs typeface="Arial"/>
              </a:rPr>
              <a:t>quality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products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low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costs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(produced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efficiently)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will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survive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market.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35" b="1">
                <a:latin typeface="Arial"/>
                <a:cs typeface="Arial"/>
              </a:rPr>
              <a:t>ENVIRONMENTAL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225" b="1">
                <a:latin typeface="Arial"/>
                <a:cs typeface="Arial"/>
              </a:rPr>
              <a:t>FORCES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Forces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5">
                <a:latin typeface="Arial"/>
                <a:cs typeface="Arial"/>
              </a:rPr>
              <a:t>influence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performance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organizations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5">
                <a:latin typeface="Arial"/>
                <a:cs typeface="Arial"/>
              </a:rPr>
              <a:t>divided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5">
                <a:latin typeface="Arial"/>
                <a:cs typeface="Arial"/>
              </a:rPr>
              <a:t>two </a:t>
            </a:r>
            <a:r>
              <a:rPr dirty="0" sz="1150" spc="-50">
                <a:latin typeface="Arial"/>
                <a:cs typeface="Arial"/>
              </a:rPr>
              <a:t>categories  </a:t>
            </a:r>
            <a:r>
              <a:rPr dirty="0" sz="1150" spc="-110">
                <a:latin typeface="Arial"/>
                <a:cs typeface="Arial"/>
              </a:rPr>
              <a:t>as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under: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lvl="1" marL="469900" indent="-228600">
              <a:lnSpc>
                <a:spcPct val="100000"/>
              </a:lnSpc>
              <a:buAutoNum type="arabicParenR"/>
              <a:tabLst>
                <a:tab pos="469900" algn="l"/>
              </a:tabLst>
            </a:pPr>
            <a:r>
              <a:rPr dirty="0" sz="1150" spc="-50">
                <a:latin typeface="Arial"/>
                <a:cs typeface="Arial"/>
              </a:rPr>
              <a:t>External </a:t>
            </a:r>
            <a:r>
              <a:rPr dirty="0" sz="1150" spc="-65">
                <a:latin typeface="Arial"/>
                <a:cs typeface="Arial"/>
              </a:rPr>
              <a:t>Factors </a:t>
            </a:r>
            <a:r>
              <a:rPr dirty="0" sz="1150" spc="-50">
                <a:latin typeface="Arial"/>
                <a:cs typeface="Arial"/>
              </a:rPr>
              <a:t>(External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Environment)</a:t>
            </a:r>
            <a:endParaRPr sz="1150">
              <a:latin typeface="Arial"/>
              <a:cs typeface="Arial"/>
            </a:endParaRPr>
          </a:p>
          <a:p>
            <a:pPr lvl="1" marL="469900" indent="-228600">
              <a:lnSpc>
                <a:spcPct val="100000"/>
              </a:lnSpc>
              <a:spcBef>
                <a:spcPts val="25"/>
              </a:spcBef>
              <a:buAutoNum type="arabicParenR"/>
              <a:tabLst>
                <a:tab pos="469900" algn="l"/>
              </a:tabLst>
            </a:pPr>
            <a:r>
              <a:rPr dirty="0" sz="1150" spc="-25">
                <a:latin typeface="Arial"/>
                <a:cs typeface="Arial"/>
              </a:rPr>
              <a:t>Internal </a:t>
            </a:r>
            <a:r>
              <a:rPr dirty="0" sz="1150" spc="-65">
                <a:latin typeface="Arial"/>
                <a:cs typeface="Arial"/>
              </a:rPr>
              <a:t>Factors </a:t>
            </a:r>
            <a:r>
              <a:rPr dirty="0" sz="1150" spc="-30">
                <a:latin typeface="Arial"/>
                <a:cs typeface="Arial"/>
              </a:rPr>
              <a:t>(Internal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Environment)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80" b="1">
                <a:latin typeface="Arial"/>
                <a:cs typeface="Arial"/>
              </a:rPr>
              <a:t>External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100" b="1">
                <a:latin typeface="Arial"/>
                <a:cs typeface="Arial"/>
              </a:rPr>
              <a:t>Factors: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50">
                <a:latin typeface="Arial"/>
                <a:cs typeface="Arial"/>
              </a:rPr>
              <a:t>External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factors which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5">
                <a:latin typeface="Arial"/>
                <a:cs typeface="Arial"/>
              </a:rPr>
              <a:t>found </a:t>
            </a:r>
            <a:r>
              <a:rPr dirty="0" sz="1150" spc="-35">
                <a:latin typeface="Arial"/>
                <a:cs typeface="Arial"/>
              </a:rPr>
              <a:t>outside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organization. </a:t>
            </a: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 spc="-50">
                <a:latin typeface="Arial"/>
                <a:cs typeface="Arial"/>
              </a:rPr>
              <a:t>are 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25">
                <a:latin typeface="Arial"/>
                <a:cs typeface="Arial"/>
              </a:rPr>
              <a:t>controllable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organization. </a:t>
            </a:r>
            <a:r>
              <a:rPr dirty="0" sz="1150" spc="-50">
                <a:latin typeface="Arial"/>
                <a:cs typeface="Arial"/>
              </a:rPr>
              <a:t>External </a:t>
            </a:r>
            <a:r>
              <a:rPr dirty="0" sz="1150" spc="-35">
                <a:latin typeface="Arial"/>
                <a:cs typeface="Arial"/>
              </a:rPr>
              <a:t>factors bring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opportunity or threat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0">
                <a:latin typeface="Arial"/>
                <a:cs typeface="Arial"/>
              </a:rPr>
              <a:t>organization. </a:t>
            </a:r>
            <a:r>
              <a:rPr dirty="0" sz="1150" spc="-50">
                <a:latin typeface="Arial"/>
                <a:cs typeface="Arial"/>
              </a:rPr>
              <a:t>External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 spc="-40">
                <a:latin typeface="Arial"/>
                <a:cs typeface="Arial"/>
              </a:rPr>
              <a:t>include technological </a:t>
            </a:r>
            <a:r>
              <a:rPr dirty="0" sz="1150" spc="-35">
                <a:latin typeface="Arial"/>
                <a:cs typeface="Arial"/>
              </a:rPr>
              <a:t>factors, </a:t>
            </a:r>
            <a:r>
              <a:rPr dirty="0" sz="1150" spc="-55">
                <a:latin typeface="Arial"/>
                <a:cs typeface="Arial"/>
              </a:rPr>
              <a:t>economy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country,  </a:t>
            </a:r>
            <a:r>
              <a:rPr dirty="0" sz="1150" spc="-20">
                <a:latin typeface="Arial"/>
                <a:cs typeface="Arial"/>
              </a:rPr>
              <a:t>political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legal </a:t>
            </a:r>
            <a:r>
              <a:rPr dirty="0" sz="1150" spc="-35">
                <a:latin typeface="Arial"/>
                <a:cs typeface="Arial"/>
              </a:rPr>
              <a:t>factors, socio-cultural factors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demographic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factors.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50" b="1">
                <a:latin typeface="Arial"/>
                <a:cs typeface="Arial"/>
              </a:rPr>
              <a:t>Internal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100" b="1">
                <a:latin typeface="Arial"/>
                <a:cs typeface="Arial"/>
              </a:rPr>
              <a:t>Factors: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  <a:spcBef>
                <a:spcPts val="5"/>
              </a:spcBef>
            </a:pPr>
            <a:r>
              <a:rPr dirty="0" sz="1150" spc="-25">
                <a:latin typeface="Arial"/>
                <a:cs typeface="Arial"/>
              </a:rPr>
              <a:t>Internal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 spc="-5">
                <a:latin typeface="Arial"/>
                <a:cs typeface="Arial"/>
              </a:rPr>
              <a:t>within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5">
                <a:latin typeface="Arial"/>
                <a:cs typeface="Arial"/>
              </a:rPr>
              <a:t>affect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performance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-55">
                <a:latin typeface="Arial"/>
                <a:cs typeface="Arial"/>
              </a:rPr>
              <a:t>Strengths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80">
                <a:latin typeface="Arial"/>
                <a:cs typeface="Arial"/>
              </a:rPr>
              <a:t>weaknesses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internal </a:t>
            </a:r>
            <a:r>
              <a:rPr dirty="0" sz="1150" spc="-35">
                <a:latin typeface="Arial"/>
                <a:cs typeface="Arial"/>
              </a:rPr>
              <a:t>factors. </a:t>
            </a:r>
            <a:r>
              <a:rPr dirty="0" sz="1150" spc="-55">
                <a:latin typeface="Arial"/>
                <a:cs typeface="Arial"/>
              </a:rPr>
              <a:t>Strengths 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40">
                <a:latin typeface="Arial"/>
                <a:cs typeface="Arial"/>
              </a:rPr>
              <a:t>include </a:t>
            </a:r>
            <a:r>
              <a:rPr dirty="0" sz="1150" spc="-50">
                <a:latin typeface="Arial"/>
                <a:cs typeface="Arial"/>
              </a:rPr>
              <a:t>experienced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trained </a:t>
            </a:r>
            <a:r>
              <a:rPr dirty="0" sz="1150" spc="-35">
                <a:latin typeface="Arial"/>
                <a:cs typeface="Arial"/>
              </a:rPr>
              <a:t>workers, </a:t>
            </a:r>
            <a:r>
              <a:rPr dirty="0" sz="1150" spc="-40">
                <a:latin typeface="Arial"/>
                <a:cs typeface="Arial"/>
              </a:rPr>
              <a:t>strong </a:t>
            </a:r>
            <a:r>
              <a:rPr dirty="0" sz="1150" spc="-35">
                <a:latin typeface="Arial"/>
                <a:cs typeface="Arial"/>
              </a:rPr>
              <a:t>financial </a:t>
            </a:r>
            <a:r>
              <a:rPr dirty="0" sz="1150" spc="-55">
                <a:latin typeface="Arial"/>
                <a:cs typeface="Arial"/>
              </a:rPr>
              <a:t>resources, </a:t>
            </a:r>
            <a:r>
              <a:rPr dirty="0" sz="1150" spc="-40">
                <a:latin typeface="Arial"/>
                <a:cs typeface="Arial"/>
              </a:rPr>
              <a:t>strong brand  </a:t>
            </a:r>
            <a:r>
              <a:rPr dirty="0" sz="1150" spc="-55">
                <a:latin typeface="Arial"/>
                <a:cs typeface="Arial"/>
              </a:rPr>
              <a:t>name, </a:t>
            </a:r>
            <a:r>
              <a:rPr dirty="0" sz="1150" spc="-50">
                <a:latin typeface="Arial"/>
                <a:cs typeface="Arial"/>
              </a:rPr>
              <a:t>good </a:t>
            </a:r>
            <a:r>
              <a:rPr dirty="0" sz="1150" spc="-20">
                <a:latin typeface="Arial"/>
                <a:cs typeface="Arial"/>
              </a:rPr>
              <a:t>reputation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organizational </a:t>
            </a:r>
            <a:r>
              <a:rPr dirty="0" sz="1150" spc="-25">
                <a:latin typeface="Arial"/>
                <a:cs typeface="Arial"/>
              </a:rPr>
              <a:t>culture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80">
                <a:latin typeface="Arial"/>
                <a:cs typeface="Arial"/>
              </a:rPr>
              <a:t>weaknesses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60">
                <a:latin typeface="Arial"/>
                <a:cs typeface="Arial"/>
              </a:rPr>
              <a:t>may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10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4340" cy="7573009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40">
                <a:latin typeface="Arial"/>
                <a:cs typeface="Arial"/>
              </a:rPr>
              <a:t>include </a:t>
            </a:r>
            <a:r>
              <a:rPr dirty="0" sz="1150" spc="-60">
                <a:latin typeface="Arial"/>
                <a:cs typeface="Arial"/>
              </a:rPr>
              <a:t>lack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sufficient </a:t>
            </a:r>
            <a:r>
              <a:rPr dirty="0" sz="1150" spc="-35">
                <a:latin typeface="Arial"/>
                <a:cs typeface="Arial"/>
              </a:rPr>
              <a:t>capital, </a:t>
            </a:r>
            <a:r>
              <a:rPr dirty="0" sz="1150" spc="-60">
                <a:latin typeface="Arial"/>
                <a:cs typeface="Arial"/>
              </a:rPr>
              <a:t>weak </a:t>
            </a:r>
            <a:r>
              <a:rPr dirty="0" sz="1150" spc="-40">
                <a:latin typeface="Arial"/>
                <a:cs typeface="Arial"/>
              </a:rPr>
              <a:t>brand </a:t>
            </a:r>
            <a:r>
              <a:rPr dirty="0" sz="1150" spc="-50">
                <a:latin typeface="Arial"/>
                <a:cs typeface="Arial"/>
              </a:rPr>
              <a:t>name, </a:t>
            </a:r>
            <a:r>
              <a:rPr dirty="0" sz="1150" spc="-20">
                <a:latin typeface="Arial"/>
                <a:cs typeface="Arial"/>
              </a:rPr>
              <a:t>poor reputation, </a:t>
            </a:r>
            <a:r>
              <a:rPr dirty="0" sz="1150" spc="-45">
                <a:latin typeface="Arial"/>
                <a:cs typeface="Arial"/>
              </a:rPr>
              <a:t>inexperienced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25">
                <a:latin typeface="Arial"/>
                <a:cs typeface="Arial"/>
              </a:rPr>
              <a:t>untrained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workers.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55" b="1">
                <a:latin typeface="Arial"/>
                <a:cs typeface="Arial"/>
              </a:rPr>
              <a:t>SWOT</a:t>
            </a:r>
            <a:r>
              <a:rPr dirty="0" sz="1350" spc="-65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Analysis: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150">
                <a:latin typeface="Arial"/>
                <a:cs typeface="Arial"/>
              </a:rPr>
              <a:t>SWOT </a:t>
            </a:r>
            <a:r>
              <a:rPr dirty="0" sz="1150" spc="-65">
                <a:latin typeface="Arial"/>
                <a:cs typeface="Arial"/>
              </a:rPr>
              <a:t>analysis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65">
                <a:latin typeface="Arial"/>
                <a:cs typeface="Arial"/>
              </a:rPr>
              <a:t>an analysis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organization’s strengths, </a:t>
            </a:r>
            <a:r>
              <a:rPr dirty="0" sz="1150" spc="-75">
                <a:latin typeface="Arial"/>
                <a:cs typeface="Arial"/>
              </a:rPr>
              <a:t>weaknesses, </a:t>
            </a:r>
            <a:r>
              <a:rPr dirty="0" sz="1150" spc="-25">
                <a:latin typeface="Arial"/>
                <a:cs typeface="Arial"/>
              </a:rPr>
              <a:t>opportunities,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30">
                <a:latin typeface="Arial"/>
                <a:cs typeface="Arial"/>
              </a:rPr>
              <a:t>threats. </a:t>
            </a:r>
            <a:r>
              <a:rPr dirty="0" sz="1150" spc="-55">
                <a:latin typeface="Arial"/>
                <a:cs typeface="Arial"/>
              </a:rPr>
              <a:t>Strengths and </a:t>
            </a:r>
            <a:r>
              <a:rPr dirty="0" sz="1150" spc="-80">
                <a:latin typeface="Arial"/>
                <a:cs typeface="Arial"/>
              </a:rPr>
              <a:t>weaknesses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part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internal </a:t>
            </a:r>
            <a:r>
              <a:rPr dirty="0" sz="1150" spc="-30">
                <a:latin typeface="Arial"/>
                <a:cs typeface="Arial"/>
              </a:rPr>
              <a:t>environment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opportunities 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threats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part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external </a:t>
            </a:r>
            <a:r>
              <a:rPr dirty="0" sz="1150" spc="-30">
                <a:latin typeface="Arial"/>
                <a:cs typeface="Arial"/>
              </a:rPr>
              <a:t>environment. </a:t>
            </a:r>
            <a:r>
              <a:rPr dirty="0" sz="1150" spc="-145">
                <a:latin typeface="Arial"/>
                <a:cs typeface="Arial"/>
              </a:rPr>
              <a:t>SWOT </a:t>
            </a:r>
            <a:r>
              <a:rPr dirty="0" sz="1150" spc="-65">
                <a:latin typeface="Arial"/>
                <a:cs typeface="Arial"/>
              </a:rPr>
              <a:t>analysis </a:t>
            </a:r>
            <a:r>
              <a:rPr dirty="0" sz="1150" spc="-60">
                <a:latin typeface="Arial"/>
                <a:cs typeface="Arial"/>
              </a:rPr>
              <a:t>helps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55">
                <a:latin typeface="Arial"/>
                <a:cs typeface="Arial"/>
              </a:rPr>
              <a:t>focus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40">
                <a:latin typeface="Arial"/>
                <a:cs typeface="Arial"/>
              </a:rPr>
              <a:t>strengths,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reduce </a:t>
            </a:r>
            <a:r>
              <a:rPr dirty="0" sz="1150" spc="-75">
                <a:latin typeface="Arial"/>
                <a:cs typeface="Arial"/>
              </a:rPr>
              <a:t>weaknesses,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exploit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opportunities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neutralize  </a:t>
            </a:r>
            <a:r>
              <a:rPr dirty="0" sz="1150" spc="-30">
                <a:latin typeface="Arial"/>
                <a:cs typeface="Arial"/>
              </a:rPr>
              <a:t>threats.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90" b="1">
                <a:latin typeface="Arial"/>
                <a:cs typeface="Arial"/>
              </a:rPr>
              <a:t>Strengths: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 indent="33020">
              <a:lnSpc>
                <a:spcPct val="101699"/>
              </a:lnSpc>
              <a:spcBef>
                <a:spcPts val="5"/>
              </a:spcBef>
            </a:pPr>
            <a:r>
              <a:rPr dirty="0" sz="1150" spc="-55">
                <a:latin typeface="Arial"/>
                <a:cs typeface="Arial"/>
              </a:rPr>
              <a:t>Strengths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capabilities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5">
                <a:latin typeface="Arial"/>
                <a:cs typeface="Arial"/>
              </a:rPr>
              <a:t>enable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perform efficiently.  </a:t>
            </a:r>
            <a:r>
              <a:rPr dirty="0" sz="1150" spc="-55">
                <a:latin typeface="Arial"/>
                <a:cs typeface="Arial"/>
              </a:rPr>
              <a:t>Strengths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40">
                <a:latin typeface="Arial"/>
                <a:cs typeface="Arial"/>
              </a:rPr>
              <a:t>include skilled manpower, strong </a:t>
            </a:r>
            <a:r>
              <a:rPr dirty="0" sz="1150" spc="-35">
                <a:latin typeface="Arial"/>
                <a:cs typeface="Arial"/>
              </a:rPr>
              <a:t>financial </a:t>
            </a:r>
            <a:r>
              <a:rPr dirty="0" sz="1150" spc="-55">
                <a:latin typeface="Arial"/>
                <a:cs typeface="Arial"/>
              </a:rPr>
              <a:t>resources, </a:t>
            </a:r>
            <a:r>
              <a:rPr dirty="0" sz="1150" spc="-40">
                <a:latin typeface="Arial"/>
                <a:cs typeface="Arial"/>
              </a:rPr>
              <a:t>strong brand </a:t>
            </a:r>
            <a:r>
              <a:rPr dirty="0" sz="1150" spc="-55">
                <a:latin typeface="Arial"/>
                <a:cs typeface="Arial"/>
              </a:rPr>
              <a:t>name,  </a:t>
            </a:r>
            <a:r>
              <a:rPr dirty="0" sz="1150" spc="-50">
                <a:latin typeface="Arial"/>
                <a:cs typeface="Arial"/>
              </a:rPr>
              <a:t>good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reputation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organizational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culture,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well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established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distribution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network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05" b="1">
                <a:latin typeface="Arial"/>
                <a:cs typeface="Arial"/>
              </a:rPr>
              <a:t>Weaknesses: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 indent="3302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Weaknesses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internal </a:t>
            </a:r>
            <a:r>
              <a:rPr dirty="0" sz="1150" spc="-45">
                <a:latin typeface="Arial"/>
                <a:cs typeface="Arial"/>
              </a:rPr>
              <a:t>characteristics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10">
                <a:latin typeface="Arial"/>
                <a:cs typeface="Arial"/>
              </a:rPr>
              <a:t>prohibit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perform  well. </a:t>
            </a:r>
            <a:r>
              <a:rPr dirty="0" sz="1150" spc="-50">
                <a:latin typeface="Arial"/>
                <a:cs typeface="Arial"/>
              </a:rPr>
              <a:t>Organization’s </a:t>
            </a:r>
            <a:r>
              <a:rPr dirty="0" sz="1150" spc="-75">
                <a:latin typeface="Arial"/>
                <a:cs typeface="Arial"/>
              </a:rPr>
              <a:t>weakness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40">
                <a:latin typeface="Arial"/>
                <a:cs typeface="Arial"/>
              </a:rPr>
              <a:t>include </a:t>
            </a:r>
            <a:r>
              <a:rPr dirty="0" sz="1150" spc="-60">
                <a:latin typeface="Arial"/>
                <a:cs typeface="Arial"/>
              </a:rPr>
              <a:t>lack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sufficient </a:t>
            </a:r>
            <a:r>
              <a:rPr dirty="0" sz="1150" spc="-35">
                <a:latin typeface="Arial"/>
                <a:cs typeface="Arial"/>
              </a:rPr>
              <a:t>capital, </a:t>
            </a:r>
            <a:r>
              <a:rPr dirty="0" sz="1150" spc="-55">
                <a:latin typeface="Arial"/>
                <a:cs typeface="Arial"/>
              </a:rPr>
              <a:t>weak </a:t>
            </a:r>
            <a:r>
              <a:rPr dirty="0" sz="1150" spc="-45">
                <a:latin typeface="Arial"/>
                <a:cs typeface="Arial"/>
              </a:rPr>
              <a:t>brand </a:t>
            </a:r>
            <a:r>
              <a:rPr dirty="0" sz="1150" spc="-55">
                <a:latin typeface="Arial"/>
                <a:cs typeface="Arial"/>
              </a:rPr>
              <a:t>name, </a:t>
            </a:r>
            <a:r>
              <a:rPr dirty="0" sz="1150" spc="-20">
                <a:latin typeface="Arial"/>
                <a:cs typeface="Arial"/>
              </a:rPr>
              <a:t>poor  reputation, </a:t>
            </a:r>
            <a:r>
              <a:rPr dirty="0" sz="1150" spc="-40">
                <a:latin typeface="Arial"/>
                <a:cs typeface="Arial"/>
              </a:rPr>
              <a:t>unskilled manpower, </a:t>
            </a:r>
            <a:r>
              <a:rPr dirty="0" sz="1150" spc="-20">
                <a:latin typeface="Arial"/>
                <a:cs typeface="Arial"/>
              </a:rPr>
              <a:t>inefficient </a:t>
            </a:r>
            <a:r>
              <a:rPr dirty="0" sz="1150" spc="-55">
                <a:latin typeface="Arial"/>
                <a:cs typeface="Arial"/>
              </a:rPr>
              <a:t>management, </a:t>
            </a:r>
            <a:r>
              <a:rPr dirty="0" sz="1150" spc="-20">
                <a:latin typeface="Arial"/>
                <a:cs typeface="Arial"/>
              </a:rPr>
              <a:t>poor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 spc="-65">
                <a:latin typeface="Arial"/>
                <a:cs typeface="Arial"/>
              </a:rPr>
              <a:t>channels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70" b="1">
                <a:latin typeface="Arial"/>
                <a:cs typeface="Arial"/>
              </a:rPr>
              <a:t>Opportunities: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30">
                <a:latin typeface="Arial"/>
                <a:cs typeface="Arial"/>
              </a:rPr>
              <a:t>Opportunities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external </a:t>
            </a:r>
            <a:r>
              <a:rPr dirty="0" sz="1150" spc="-30">
                <a:latin typeface="Arial"/>
                <a:cs typeface="Arial"/>
              </a:rPr>
              <a:t>environmental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35">
                <a:latin typeface="Arial"/>
                <a:cs typeface="Arial"/>
              </a:rPr>
              <a:t>bring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prospects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20">
                <a:latin typeface="Arial"/>
                <a:cs typeface="Arial"/>
              </a:rPr>
              <a:t>growth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higher </a:t>
            </a:r>
            <a:r>
              <a:rPr dirty="0" sz="1150" spc="-35">
                <a:latin typeface="Arial"/>
                <a:cs typeface="Arial"/>
              </a:rPr>
              <a:t>performance. </a:t>
            </a: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example: </a:t>
            </a:r>
            <a:r>
              <a:rPr dirty="0" sz="1150" spc="-40">
                <a:latin typeface="Arial"/>
                <a:cs typeface="Arial"/>
              </a:rPr>
              <a:t>technological </a:t>
            </a:r>
            <a:r>
              <a:rPr dirty="0" sz="1150" spc="-50">
                <a:latin typeface="Arial"/>
                <a:cs typeface="Arial"/>
              </a:rPr>
              <a:t>advancement, </a:t>
            </a:r>
            <a:r>
              <a:rPr dirty="0" sz="1150" spc="-30">
                <a:latin typeface="Arial"/>
                <a:cs typeface="Arial"/>
              </a:rPr>
              <a:t>market  </a:t>
            </a:r>
            <a:r>
              <a:rPr dirty="0" sz="1150" spc="-45">
                <a:latin typeface="Arial"/>
                <a:cs typeface="Arial"/>
              </a:rPr>
              <a:t>developments, </a:t>
            </a:r>
            <a:r>
              <a:rPr dirty="0" sz="1150" spc="-80">
                <a:latin typeface="Arial"/>
                <a:cs typeface="Arial"/>
              </a:rPr>
              <a:t>changes </a:t>
            </a:r>
            <a:r>
              <a:rPr dirty="0" sz="1150" spc="-25">
                <a:latin typeface="Arial"/>
                <a:cs typeface="Arial"/>
              </a:rPr>
              <a:t>in lifestyle, </a:t>
            </a:r>
            <a:r>
              <a:rPr dirty="0" sz="1150" spc="-80">
                <a:latin typeface="Arial"/>
                <a:cs typeface="Arial"/>
              </a:rPr>
              <a:t>changes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0">
                <a:latin typeface="Arial"/>
                <a:cs typeface="Arial"/>
              </a:rPr>
              <a:t>government </a:t>
            </a:r>
            <a:r>
              <a:rPr dirty="0" sz="1150" spc="-30">
                <a:latin typeface="Arial"/>
                <a:cs typeface="Arial"/>
              </a:rPr>
              <a:t>regulation related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your  </a:t>
            </a:r>
            <a:r>
              <a:rPr dirty="0" sz="1150" spc="-65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0" b="1">
                <a:latin typeface="Arial"/>
                <a:cs typeface="Arial"/>
              </a:rPr>
              <a:t>Threats: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60">
                <a:latin typeface="Arial"/>
                <a:cs typeface="Arial"/>
              </a:rPr>
              <a:t>Threats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external </a:t>
            </a:r>
            <a:r>
              <a:rPr dirty="0" sz="1150" spc="-30">
                <a:latin typeface="Arial"/>
                <a:cs typeface="Arial"/>
              </a:rPr>
              <a:t>environmental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>
                <a:latin typeface="Arial"/>
                <a:cs typeface="Arial"/>
              </a:rPr>
              <a:t>that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35">
                <a:latin typeface="Arial"/>
                <a:cs typeface="Arial"/>
              </a:rPr>
              <a:t>undermine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organization’s  performance. </a:t>
            </a: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example,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30">
                <a:latin typeface="Arial"/>
                <a:cs typeface="Arial"/>
              </a:rPr>
              <a:t>regulation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25">
                <a:latin typeface="Arial"/>
                <a:cs typeface="Arial"/>
              </a:rPr>
              <a:t>affect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business, </a:t>
            </a:r>
            <a:r>
              <a:rPr dirty="0" sz="1150" spc="-80">
                <a:latin typeface="Arial"/>
                <a:cs typeface="Arial"/>
              </a:rPr>
              <a:t>changes </a:t>
            </a:r>
            <a:r>
              <a:rPr dirty="0" sz="1150" spc="-20">
                <a:latin typeface="Arial"/>
                <a:cs typeface="Arial"/>
              </a:rPr>
              <a:t>in  </a:t>
            </a:r>
            <a:r>
              <a:rPr dirty="0" sz="1150" spc="-50">
                <a:latin typeface="Arial"/>
                <a:cs typeface="Arial"/>
              </a:rPr>
              <a:t>consumer tastes,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70">
                <a:latin typeface="Arial"/>
                <a:cs typeface="Arial"/>
              </a:rPr>
              <a:t>does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30">
                <a:latin typeface="Arial"/>
                <a:cs typeface="Arial"/>
              </a:rPr>
              <a:t>adopt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45">
                <a:latin typeface="Arial"/>
                <a:cs typeface="Arial"/>
              </a:rPr>
              <a:t>developed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modern </a:t>
            </a:r>
            <a:r>
              <a:rPr dirty="0" sz="1150" spc="-40">
                <a:latin typeface="Arial"/>
                <a:cs typeface="Arial"/>
              </a:rPr>
              <a:t>technology 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will</a:t>
            </a:r>
            <a:r>
              <a:rPr dirty="0" sz="1150" spc="-55">
                <a:latin typeface="Arial"/>
                <a:cs typeface="Arial"/>
              </a:rPr>
              <a:t> be </a:t>
            </a:r>
            <a:r>
              <a:rPr dirty="0" sz="1150" spc="-60">
                <a:latin typeface="Arial"/>
                <a:cs typeface="Arial"/>
              </a:rPr>
              <a:t>become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threat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50" b="1">
                <a:latin typeface="Arial"/>
                <a:cs typeface="Arial"/>
              </a:rPr>
              <a:t>QUALITIES </a:t>
            </a:r>
            <a:r>
              <a:rPr dirty="0" sz="1350" spc="-180" b="1">
                <a:latin typeface="Arial"/>
                <a:cs typeface="Arial"/>
              </a:rPr>
              <a:t>OF </a:t>
            </a:r>
            <a:r>
              <a:rPr dirty="0" sz="1350" spc="-155" b="1">
                <a:latin typeface="Arial"/>
                <a:cs typeface="Arial"/>
              </a:rPr>
              <a:t>A GOOD</a:t>
            </a:r>
            <a:r>
              <a:rPr dirty="0" sz="1350" spc="-220" b="1">
                <a:latin typeface="Arial"/>
                <a:cs typeface="Arial"/>
              </a:rPr>
              <a:t> </a:t>
            </a:r>
            <a:r>
              <a:rPr dirty="0" sz="1350" spc="-150" b="1">
                <a:latin typeface="Arial"/>
                <a:cs typeface="Arial"/>
              </a:rPr>
              <a:t>BUSINESSMAN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modern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very complex.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scientific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technological </a:t>
            </a:r>
            <a:r>
              <a:rPr dirty="0" sz="1150" spc="-35">
                <a:latin typeface="Arial"/>
                <a:cs typeface="Arial"/>
              </a:rPr>
              <a:t>development,  </a:t>
            </a:r>
            <a:r>
              <a:rPr dirty="0" sz="1150" spc="-80">
                <a:latin typeface="Arial"/>
                <a:cs typeface="Arial"/>
              </a:rPr>
              <a:t>changes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taking </a:t>
            </a:r>
            <a:r>
              <a:rPr dirty="0" sz="1150" spc="-60">
                <a:latin typeface="Arial"/>
                <a:cs typeface="Arial"/>
              </a:rPr>
              <a:t>place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30">
                <a:latin typeface="Arial"/>
                <a:cs typeface="Arial"/>
              </a:rPr>
              <a:t>fast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20">
                <a:latin typeface="Arial"/>
                <a:cs typeface="Arial"/>
              </a:rPr>
              <a:t>field. </a:t>
            </a:r>
            <a:r>
              <a:rPr dirty="0" sz="1150" spc="-45">
                <a:latin typeface="Arial"/>
                <a:cs typeface="Arial"/>
              </a:rPr>
              <a:t>Following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basic </a:t>
            </a:r>
            <a:r>
              <a:rPr dirty="0" sz="1150" spc="-50">
                <a:latin typeface="Arial"/>
                <a:cs typeface="Arial"/>
              </a:rPr>
              <a:t>personal  skills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qualities which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good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35">
                <a:latin typeface="Arial"/>
                <a:cs typeface="Arial"/>
              </a:rPr>
              <a:t>must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possess: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11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4340" cy="7332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1150" spc="-60" b="1">
                <a:latin typeface="Arial"/>
                <a:cs typeface="Arial"/>
              </a:rPr>
              <a:t>Ability </a:t>
            </a:r>
            <a:r>
              <a:rPr dirty="0" sz="1150" spc="-40" b="1">
                <a:latin typeface="Arial"/>
                <a:cs typeface="Arial"/>
              </a:rPr>
              <a:t>to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Plan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65">
                <a:latin typeface="Arial"/>
                <a:cs typeface="Arial"/>
              </a:rPr>
              <a:t>businessman,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40">
                <a:latin typeface="Arial"/>
                <a:cs typeface="Arial"/>
              </a:rPr>
              <a:t>wants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shine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5">
                <a:latin typeface="Arial"/>
                <a:cs typeface="Arial"/>
              </a:rPr>
              <a:t>business,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20">
                <a:latin typeface="Arial"/>
                <a:cs typeface="Arial"/>
              </a:rPr>
              <a:t>the ability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plan </a:t>
            </a:r>
            <a:r>
              <a:rPr dirty="0" sz="1150" spc="-55">
                <a:latin typeface="Arial"/>
                <a:cs typeface="Arial"/>
              </a:rPr>
              <a:t>and organize  </a:t>
            </a:r>
            <a:r>
              <a:rPr dirty="0" sz="1150" spc="10">
                <a:latin typeface="Arial"/>
                <a:cs typeface="Arial"/>
              </a:rPr>
              <a:t>it.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1150" spc="-70" b="1">
                <a:latin typeface="Arial"/>
                <a:cs typeface="Arial"/>
              </a:rPr>
              <a:t>Activator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95">
                <a:latin typeface="Arial"/>
                <a:cs typeface="Arial"/>
              </a:rPr>
              <a:t>He </a:t>
            </a:r>
            <a:r>
              <a:rPr dirty="0" sz="1150" spc="-55">
                <a:latin typeface="Arial"/>
                <a:cs typeface="Arial"/>
              </a:rPr>
              <a:t>had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activate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40">
                <a:latin typeface="Arial"/>
                <a:cs typeface="Arial"/>
              </a:rPr>
              <a:t>workers. </a:t>
            </a: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45">
                <a:latin typeface="Arial"/>
                <a:cs typeface="Arial"/>
              </a:rPr>
              <a:t>activates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40">
                <a:latin typeface="Arial"/>
                <a:cs typeface="Arial"/>
              </a:rPr>
              <a:t>workers </a:t>
            </a:r>
            <a:r>
              <a:rPr dirty="0" sz="1150" spc="-25">
                <a:latin typeface="Arial"/>
                <a:cs typeface="Arial"/>
              </a:rPr>
              <a:t>then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good </a:t>
            </a:r>
            <a:r>
              <a:rPr dirty="0" sz="1150">
                <a:latin typeface="Arial"/>
                <a:cs typeface="Arial"/>
              </a:rPr>
              <a:t>for</a:t>
            </a:r>
            <a:r>
              <a:rPr dirty="0" sz="1150" spc="3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150" spc="-100" b="1">
                <a:latin typeface="Arial"/>
                <a:cs typeface="Arial"/>
              </a:rPr>
              <a:t>Bold </a:t>
            </a:r>
            <a:r>
              <a:rPr dirty="0" sz="1150" spc="-60" b="1">
                <a:latin typeface="Arial"/>
                <a:cs typeface="Arial"/>
              </a:rPr>
              <a:t>or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spc="-105" b="1">
                <a:latin typeface="Arial"/>
                <a:cs typeface="Arial"/>
              </a:rPr>
              <a:t>Courage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3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Courage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great </a:t>
            </a:r>
            <a:r>
              <a:rPr dirty="0" sz="1150" spc="-75">
                <a:latin typeface="Arial"/>
                <a:cs typeface="Arial"/>
              </a:rPr>
              <a:t>asset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5">
                <a:latin typeface="Arial"/>
                <a:cs typeface="Arial"/>
              </a:rPr>
              <a:t>businessman.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good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5">
                <a:latin typeface="Arial"/>
                <a:cs typeface="Arial"/>
              </a:rPr>
              <a:t>courageous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30">
                <a:latin typeface="Arial"/>
                <a:cs typeface="Arial"/>
              </a:rPr>
              <a:t>bold </a:t>
            </a:r>
            <a:r>
              <a:rPr dirty="0" sz="1150" spc="-45">
                <a:latin typeface="Arial"/>
                <a:cs typeface="Arial"/>
              </a:rPr>
              <a:t>person.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50">
                <a:latin typeface="Arial"/>
                <a:cs typeface="Arial"/>
              </a:rPr>
              <a:t>his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55">
                <a:latin typeface="Arial"/>
                <a:cs typeface="Arial"/>
              </a:rPr>
              <a:t>angry </a:t>
            </a:r>
            <a:r>
              <a:rPr dirty="0" sz="1150" spc="-60">
                <a:latin typeface="Arial"/>
                <a:cs typeface="Arial"/>
              </a:rPr>
              <a:t>decisions </a:t>
            </a:r>
            <a:r>
              <a:rPr dirty="0" sz="1150" spc="-85">
                <a:latin typeface="Arial"/>
                <a:cs typeface="Arial"/>
              </a:rPr>
              <a:t>gave </a:t>
            </a:r>
            <a:r>
              <a:rPr dirty="0" sz="1150" spc="-30">
                <a:latin typeface="Arial"/>
                <a:cs typeface="Arial"/>
              </a:rPr>
              <a:t>him </a:t>
            </a:r>
            <a:r>
              <a:rPr dirty="0" sz="1150" spc="-75">
                <a:latin typeface="Arial"/>
                <a:cs typeface="Arial"/>
              </a:rPr>
              <a:t>loss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5">
                <a:latin typeface="Arial"/>
                <a:cs typeface="Arial"/>
              </a:rPr>
              <a:t>future,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 </a:t>
            </a:r>
            <a:r>
              <a:rPr dirty="0" sz="1150" spc="-60">
                <a:latin typeface="Arial"/>
                <a:cs typeface="Arial"/>
              </a:rPr>
              <a:t>courageous </a:t>
            </a:r>
            <a:r>
              <a:rPr dirty="0" sz="1150" spc="-55">
                <a:latin typeface="Arial"/>
                <a:cs typeface="Arial"/>
              </a:rPr>
              <a:t>and be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bold.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4"/>
              <a:tabLst>
                <a:tab pos="469265" algn="l"/>
                <a:tab pos="469900" algn="l"/>
              </a:tabLst>
            </a:pPr>
            <a:r>
              <a:rPr dirty="0" sz="1150" spc="-80" b="1">
                <a:latin typeface="Arial"/>
                <a:cs typeface="Arial"/>
              </a:rPr>
              <a:t>Cooperation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good </a:t>
            </a:r>
            <a:r>
              <a:rPr dirty="0" sz="1150" spc="-65">
                <a:latin typeface="Arial"/>
                <a:cs typeface="Arial"/>
              </a:rPr>
              <a:t>businessman </a:t>
            </a:r>
            <a:r>
              <a:rPr dirty="0" sz="1150" spc="-50">
                <a:latin typeface="Arial"/>
                <a:cs typeface="Arial"/>
              </a:rPr>
              <a:t>should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cooperate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35">
                <a:latin typeface="Arial"/>
                <a:cs typeface="Arial"/>
              </a:rPr>
              <a:t>workers. </a:t>
            </a:r>
            <a:r>
              <a:rPr dirty="0" sz="1150" spc="-10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help </a:t>
            </a:r>
            <a:r>
              <a:rPr dirty="0" sz="1150" spc="5">
                <a:latin typeface="Arial"/>
                <a:cs typeface="Arial"/>
              </a:rPr>
              <a:t>of  </a:t>
            </a:r>
            <a:r>
              <a:rPr dirty="0" sz="1150" spc="-30">
                <a:latin typeface="Arial"/>
                <a:cs typeface="Arial"/>
              </a:rPr>
              <a:t>cooperation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40">
                <a:latin typeface="Arial"/>
                <a:cs typeface="Arial"/>
              </a:rPr>
              <a:t>workers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25">
                <a:latin typeface="Arial"/>
                <a:cs typeface="Arial"/>
              </a:rPr>
              <a:t>run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70">
                <a:latin typeface="Arial"/>
                <a:cs typeface="Arial"/>
              </a:rPr>
              <a:t>business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well.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5"/>
              <a:tabLst>
                <a:tab pos="469265" algn="l"/>
                <a:tab pos="469900" algn="l"/>
              </a:tabLst>
            </a:pPr>
            <a:r>
              <a:rPr dirty="0" sz="1150" spc="-100" b="1">
                <a:latin typeface="Arial"/>
                <a:cs typeface="Arial"/>
              </a:rPr>
              <a:t>Courtesy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5"/>
            </a:pPr>
            <a:endParaRPr sz="1200">
              <a:latin typeface="Arial"/>
              <a:cs typeface="Arial"/>
            </a:endParaRPr>
          </a:p>
          <a:p>
            <a:pPr algn="just" marL="12700" marR="8890">
              <a:lnSpc>
                <a:spcPct val="101699"/>
              </a:lnSpc>
            </a:pPr>
            <a:r>
              <a:rPr dirty="0" sz="1150" spc="-60">
                <a:latin typeface="Arial"/>
                <a:cs typeface="Arial"/>
              </a:rPr>
              <a:t>Courtesy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25">
                <a:latin typeface="Arial"/>
                <a:cs typeface="Arial"/>
              </a:rPr>
              <a:t>what </a:t>
            </a:r>
            <a:r>
              <a:rPr dirty="0" sz="1150" spc="-10">
                <a:latin typeface="Arial"/>
                <a:cs typeface="Arial"/>
              </a:rPr>
              <a:t>oil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machinery.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costs </a:t>
            </a:r>
            <a:r>
              <a:rPr dirty="0" sz="1150" spc="-30">
                <a:latin typeface="Arial"/>
                <a:cs typeface="Arial"/>
              </a:rPr>
              <a:t>nothing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45">
                <a:latin typeface="Arial"/>
                <a:cs typeface="Arial"/>
              </a:rPr>
              <a:t>wins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reputation. </a:t>
            </a:r>
            <a:r>
              <a:rPr dirty="0" sz="1150" spc="-140">
                <a:latin typeface="Arial"/>
                <a:cs typeface="Arial"/>
              </a:rPr>
              <a:t>So  </a:t>
            </a:r>
            <a:r>
              <a:rPr dirty="0" sz="1150" spc="-65">
                <a:latin typeface="Arial"/>
                <a:cs typeface="Arial"/>
              </a:rPr>
              <a:t>businessman </a:t>
            </a:r>
            <a:r>
              <a:rPr dirty="0" sz="1150" spc="-90">
                <a:latin typeface="Arial"/>
                <a:cs typeface="Arial"/>
              </a:rPr>
              <a:t>has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win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heart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everyone </a:t>
            </a:r>
            <a:r>
              <a:rPr dirty="0" sz="1150" spc="5">
                <a:latin typeface="Arial"/>
                <a:cs typeface="Arial"/>
              </a:rPr>
              <a:t>with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15">
                <a:latin typeface="Arial"/>
                <a:cs typeface="Arial"/>
              </a:rPr>
              <a:t>polite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manners.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6"/>
              <a:tabLst>
                <a:tab pos="469265" algn="l"/>
                <a:tab pos="469900" algn="l"/>
              </a:tabLst>
            </a:pPr>
            <a:r>
              <a:rPr dirty="0" sz="1150" spc="-95" b="1">
                <a:latin typeface="Arial"/>
                <a:cs typeface="Arial"/>
              </a:rPr>
              <a:t>Decision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Making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6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good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50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good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quick </a:t>
            </a:r>
            <a:r>
              <a:rPr dirty="0" sz="1150" spc="-50">
                <a:latin typeface="Arial"/>
                <a:cs typeface="Arial"/>
              </a:rPr>
              <a:t>decision </a:t>
            </a:r>
            <a:r>
              <a:rPr dirty="0" sz="1150" spc="-45">
                <a:latin typeface="Arial"/>
                <a:cs typeface="Arial"/>
              </a:rPr>
              <a:t>maker. </a:t>
            </a:r>
            <a:r>
              <a:rPr dirty="0" sz="1150" spc="-65">
                <a:latin typeface="Arial"/>
                <a:cs typeface="Arial"/>
              </a:rPr>
              <a:t>Quick </a:t>
            </a:r>
            <a:r>
              <a:rPr dirty="0" sz="1150" spc="-50">
                <a:latin typeface="Arial"/>
                <a:cs typeface="Arial"/>
              </a:rPr>
              <a:t>decision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65">
                <a:latin typeface="Arial"/>
                <a:cs typeface="Arial"/>
              </a:rPr>
              <a:t>businessman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15">
                <a:latin typeface="Arial"/>
                <a:cs typeface="Arial"/>
              </a:rPr>
              <a:t>important </a:t>
            </a:r>
            <a:r>
              <a:rPr dirty="0" sz="1150" spc="-70">
                <a:latin typeface="Arial"/>
                <a:cs typeface="Arial"/>
              </a:rPr>
              <a:t>asset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businessman.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90">
                <a:latin typeface="Arial"/>
                <a:cs typeface="Arial"/>
              </a:rPr>
              <a:t>has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know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0">
                <a:latin typeface="Arial"/>
                <a:cs typeface="Arial"/>
              </a:rPr>
              <a:t>his  </a:t>
            </a:r>
            <a:r>
              <a:rPr dirty="0" sz="1150" spc="-45">
                <a:latin typeface="Arial"/>
                <a:cs typeface="Arial"/>
              </a:rPr>
              <a:t>quick </a:t>
            </a:r>
            <a:r>
              <a:rPr dirty="0" sz="1150" spc="-50">
                <a:latin typeface="Arial"/>
                <a:cs typeface="Arial"/>
              </a:rPr>
              <a:t>decision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60">
                <a:latin typeface="Arial"/>
                <a:cs typeface="Arial"/>
              </a:rPr>
              <a:t>give </a:t>
            </a:r>
            <a:r>
              <a:rPr dirty="0" sz="1150" spc="-30">
                <a:latin typeface="Arial"/>
                <a:cs typeface="Arial"/>
              </a:rPr>
              <a:t>him </a:t>
            </a:r>
            <a:r>
              <a:rPr dirty="0" sz="1150" spc="-20">
                <a:latin typeface="Arial"/>
                <a:cs typeface="Arial"/>
              </a:rPr>
              <a:t>benefit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not.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7"/>
              <a:tabLst>
                <a:tab pos="469265" algn="l"/>
                <a:tab pos="469900" algn="l"/>
              </a:tabLst>
            </a:pPr>
            <a:r>
              <a:rPr dirty="0" sz="1150" spc="-85" b="1">
                <a:latin typeface="Arial"/>
                <a:cs typeface="Arial"/>
              </a:rPr>
              <a:t>Discipline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AutoNum type="arabicPeriod" startAt="7"/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  <a:spcBef>
                <a:spcPts val="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good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50">
                <a:latin typeface="Arial"/>
                <a:cs typeface="Arial"/>
              </a:rPr>
              <a:t>should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care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discipline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business. </a:t>
            </a: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35">
                <a:latin typeface="Arial"/>
                <a:cs typeface="Arial"/>
              </a:rPr>
              <a:t>doesn’t  </a:t>
            </a:r>
            <a:r>
              <a:rPr dirty="0" sz="1150" spc="-60">
                <a:latin typeface="Arial"/>
                <a:cs typeface="Arial"/>
              </a:rPr>
              <a:t>care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discipline </a:t>
            </a:r>
            <a:r>
              <a:rPr dirty="0" sz="1150" spc="-25">
                <a:latin typeface="Arial"/>
                <a:cs typeface="Arial"/>
              </a:rPr>
              <a:t>then </a:t>
            </a:r>
            <a:r>
              <a:rPr dirty="0" sz="1150" spc="-40">
                <a:latin typeface="Arial"/>
                <a:cs typeface="Arial"/>
              </a:rPr>
              <a:t>nobody </a:t>
            </a:r>
            <a:r>
              <a:rPr dirty="0" sz="1150" spc="-30">
                <a:latin typeface="Arial"/>
                <a:cs typeface="Arial"/>
              </a:rPr>
              <a:t>(who </a:t>
            </a:r>
            <a:r>
              <a:rPr dirty="0" sz="1150" spc="-50">
                <a:latin typeface="Arial"/>
                <a:cs typeface="Arial"/>
              </a:rPr>
              <a:t>concern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65">
                <a:latin typeface="Arial"/>
                <a:cs typeface="Arial"/>
              </a:rPr>
              <a:t>business) </a:t>
            </a:r>
            <a:r>
              <a:rPr dirty="0" sz="1150" spc="-70">
                <a:latin typeface="Arial"/>
                <a:cs typeface="Arial"/>
              </a:rPr>
              <a:t>obeys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discipline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25">
                <a:latin typeface="Arial"/>
                <a:cs typeface="Arial"/>
              </a:rPr>
              <a:t>can’t </a:t>
            </a:r>
            <a:r>
              <a:rPr dirty="0" sz="1150" spc="-75">
                <a:latin typeface="Arial"/>
                <a:cs typeface="Arial"/>
              </a:rPr>
              <a:t>go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well.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8"/>
              <a:tabLst>
                <a:tab pos="469265" algn="l"/>
                <a:tab pos="469900" algn="l"/>
              </a:tabLst>
            </a:pPr>
            <a:r>
              <a:rPr dirty="0" sz="1150" spc="-80" b="1">
                <a:latin typeface="Arial"/>
                <a:cs typeface="Arial"/>
              </a:rPr>
              <a:t>Evaluator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70">
                <a:latin typeface="Arial"/>
                <a:cs typeface="Arial"/>
              </a:rPr>
              <a:t>check </a:t>
            </a:r>
            <a:r>
              <a:rPr dirty="0" sz="1150" spc="-35">
                <a:latin typeface="Arial"/>
                <a:cs typeface="Arial"/>
              </a:rPr>
              <a:t>himself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0">
                <a:latin typeface="Arial"/>
                <a:cs typeface="Arial"/>
              </a:rPr>
              <a:t>how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working.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25">
                <a:latin typeface="Arial"/>
                <a:cs typeface="Arial"/>
              </a:rPr>
              <a:t>thing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65">
                <a:latin typeface="Arial"/>
                <a:cs typeface="Arial"/>
              </a:rPr>
              <a:t>make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55">
                <a:latin typeface="Arial"/>
                <a:cs typeface="Arial"/>
              </a:rPr>
              <a:t>good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progress.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12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4340" cy="7510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9"/>
              <a:tabLst>
                <a:tab pos="469265" algn="l"/>
                <a:tab pos="469900" algn="l"/>
              </a:tabLst>
            </a:pPr>
            <a:r>
              <a:rPr dirty="0" sz="1150" spc="-95" b="1">
                <a:latin typeface="Arial"/>
                <a:cs typeface="Arial"/>
              </a:rPr>
              <a:t>Foresight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9"/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good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foresight. </a:t>
            </a:r>
            <a:r>
              <a:rPr dirty="0" sz="1150" spc="-95">
                <a:latin typeface="Arial"/>
                <a:cs typeface="Arial"/>
              </a:rPr>
              <a:t>He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55">
                <a:latin typeface="Arial"/>
                <a:cs typeface="Arial"/>
              </a:rPr>
              <a:t>keep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touch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20">
                <a:latin typeface="Arial"/>
                <a:cs typeface="Arial"/>
              </a:rPr>
              <a:t>world. </a:t>
            </a:r>
            <a:r>
              <a:rPr dirty="0" sz="1150" spc="-95">
                <a:latin typeface="Arial"/>
                <a:cs typeface="Arial"/>
              </a:rPr>
              <a:t>He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0">
                <a:latin typeface="Arial"/>
                <a:cs typeface="Arial"/>
              </a:rPr>
              <a:t>move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90">
                <a:latin typeface="Arial"/>
                <a:cs typeface="Arial"/>
              </a:rPr>
              <a:t>see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going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2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estimate </a:t>
            </a:r>
            <a:r>
              <a:rPr dirty="0" sz="1150" spc="-45">
                <a:latin typeface="Arial"/>
                <a:cs typeface="Arial"/>
              </a:rPr>
              <a:t>new  </a:t>
            </a:r>
            <a:r>
              <a:rPr dirty="0" sz="1150" spc="-40">
                <a:latin typeface="Arial"/>
                <a:cs typeface="Arial"/>
              </a:rPr>
              <a:t>wants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35">
                <a:latin typeface="Arial"/>
                <a:cs typeface="Arial"/>
              </a:rPr>
              <a:t>inventions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0">
                <a:latin typeface="Arial"/>
                <a:cs typeface="Arial"/>
              </a:rPr>
              <a:t>creating fresh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demands.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rabicPeriod" startAt="10"/>
              <a:tabLst>
                <a:tab pos="469265" algn="l"/>
                <a:tab pos="470534" algn="l"/>
              </a:tabLst>
            </a:pPr>
            <a:r>
              <a:rPr dirty="0" sz="1150" spc="-90" b="1">
                <a:latin typeface="Arial"/>
                <a:cs typeface="Arial"/>
              </a:rPr>
              <a:t>Honesty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10"/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  <a:spcBef>
                <a:spcPts val="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0">
                <a:latin typeface="Arial"/>
                <a:cs typeface="Arial"/>
              </a:rPr>
              <a:t>honest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dealing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35">
                <a:latin typeface="Arial"/>
                <a:cs typeface="Arial"/>
              </a:rPr>
              <a:t>others. </a:t>
            </a:r>
            <a:r>
              <a:rPr dirty="0" sz="1150" spc="-55">
                <a:latin typeface="Arial"/>
                <a:cs typeface="Arial"/>
              </a:rPr>
              <a:t>Honesty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55">
                <a:latin typeface="Arial"/>
                <a:cs typeface="Arial"/>
              </a:rPr>
              <a:t>helps  </a:t>
            </a:r>
            <a:r>
              <a:rPr dirty="0" sz="1150" spc="-30">
                <a:latin typeface="Arial"/>
                <a:cs typeface="Arial"/>
              </a:rPr>
              <a:t>him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his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1"/>
              <a:tabLst>
                <a:tab pos="469265" algn="l"/>
                <a:tab pos="470534" algn="l"/>
              </a:tabLst>
            </a:pPr>
            <a:r>
              <a:rPr dirty="0" sz="1150" spc="-80" b="1">
                <a:latin typeface="Arial"/>
                <a:cs typeface="Arial"/>
              </a:rPr>
              <a:t>Hardworking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1"/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5">
                <a:latin typeface="Arial"/>
                <a:cs typeface="Arial"/>
              </a:rPr>
              <a:t>hard </a:t>
            </a:r>
            <a:r>
              <a:rPr dirty="0" sz="1150" spc="-30">
                <a:latin typeface="Arial"/>
                <a:cs typeface="Arial"/>
              </a:rPr>
              <a:t>working. </a:t>
            </a:r>
            <a:r>
              <a:rPr dirty="0" sz="1150" spc="-10">
                <a:latin typeface="Arial"/>
                <a:cs typeface="Arial"/>
              </a:rPr>
              <a:t>Without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35">
                <a:latin typeface="Arial"/>
                <a:cs typeface="Arial"/>
              </a:rPr>
              <a:t>working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65">
                <a:latin typeface="Arial"/>
                <a:cs typeface="Arial"/>
              </a:rPr>
              <a:t>successful.  </a:t>
            </a:r>
            <a:r>
              <a:rPr dirty="0" sz="1150" spc="-5">
                <a:latin typeface="Arial"/>
                <a:cs typeface="Arial"/>
              </a:rPr>
              <a:t>If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owner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not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hard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working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then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workers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business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can’t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hardworking.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2"/>
              <a:tabLst>
                <a:tab pos="469265" algn="l"/>
                <a:tab pos="470534" algn="l"/>
              </a:tabLst>
            </a:pPr>
            <a:r>
              <a:rPr dirty="0" sz="1150" spc="-45" b="1">
                <a:latin typeface="Arial"/>
                <a:cs typeface="Arial"/>
              </a:rPr>
              <a:t>Initiation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2"/>
            </a:pPr>
            <a:endParaRPr sz="120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15">
                <a:latin typeface="Arial"/>
                <a:cs typeface="Arial"/>
              </a:rPr>
              <a:t>world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moving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30">
                <a:latin typeface="Arial"/>
                <a:cs typeface="Arial"/>
              </a:rPr>
              <a:t>fast </a:t>
            </a:r>
            <a:r>
              <a:rPr dirty="0" sz="1150" spc="-65">
                <a:latin typeface="Arial"/>
                <a:cs typeface="Arial"/>
              </a:rPr>
              <a:t>speed.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20">
                <a:latin typeface="Arial"/>
                <a:cs typeface="Arial"/>
              </a:rPr>
              <a:t>the ability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40">
                <a:latin typeface="Arial"/>
                <a:cs typeface="Arial"/>
              </a:rPr>
              <a:t>take </a:t>
            </a:r>
            <a:r>
              <a:rPr dirty="0" sz="1150" spc="-15">
                <a:latin typeface="Arial"/>
                <a:cs typeface="Arial"/>
              </a:rPr>
              <a:t>initiative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40">
                <a:latin typeface="Arial"/>
                <a:cs typeface="Arial"/>
              </a:rPr>
              <a:t>producing new </a:t>
            </a:r>
            <a:r>
              <a:rPr dirty="0" sz="1150" spc="-45">
                <a:latin typeface="Arial"/>
                <a:cs typeface="Arial"/>
              </a:rPr>
              <a:t>things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new methods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marketing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60">
                <a:latin typeface="Arial"/>
                <a:cs typeface="Arial"/>
              </a:rPr>
              <a:t>services.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3"/>
              <a:tabLst>
                <a:tab pos="469265" algn="l"/>
                <a:tab pos="470534" algn="l"/>
              </a:tabLst>
            </a:pPr>
            <a:r>
              <a:rPr dirty="0" sz="1150" spc="-95" b="1">
                <a:latin typeface="Arial"/>
                <a:cs typeface="Arial"/>
              </a:rPr>
              <a:t>Knowledge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3"/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good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45">
                <a:latin typeface="Arial"/>
                <a:cs typeface="Arial"/>
              </a:rPr>
              <a:t>knowledge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5">
                <a:latin typeface="Arial"/>
                <a:cs typeface="Arial"/>
              </a:rPr>
              <a:t>supplemented </a:t>
            </a:r>
            <a:r>
              <a:rPr dirty="0" sz="1150" spc="-50">
                <a:latin typeface="Arial"/>
                <a:cs typeface="Arial"/>
              </a:rPr>
              <a:t>by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knowledge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trade,</a:t>
            </a:r>
            <a:r>
              <a:rPr dirty="0" sz="1150" spc="-24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finance, </a:t>
            </a:r>
            <a:r>
              <a:rPr dirty="0" sz="1150" spc="-35">
                <a:latin typeface="Arial"/>
                <a:cs typeface="Arial"/>
              </a:rPr>
              <a:t>marketing, </a:t>
            </a:r>
            <a:r>
              <a:rPr dirty="0" sz="1150" spc="-50">
                <a:latin typeface="Arial"/>
                <a:cs typeface="Arial"/>
              </a:rPr>
              <a:t>income </a:t>
            </a:r>
            <a:r>
              <a:rPr dirty="0" sz="1150" spc="-35">
                <a:latin typeface="Arial"/>
                <a:cs typeface="Arial"/>
              </a:rPr>
              <a:t>tax,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4"/>
              <a:tabLst>
                <a:tab pos="469265" algn="l"/>
                <a:tab pos="470534" algn="l"/>
              </a:tabLst>
            </a:pPr>
            <a:r>
              <a:rPr dirty="0" sz="1150" spc="-95" b="1">
                <a:latin typeface="Arial"/>
                <a:cs typeface="Arial"/>
              </a:rPr>
              <a:t>Leadership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4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Leaders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55">
                <a:latin typeface="Arial"/>
                <a:cs typeface="Arial"/>
              </a:rPr>
              <a:t>made,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5">
                <a:latin typeface="Arial"/>
                <a:cs typeface="Arial"/>
              </a:rPr>
              <a:t>born;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get </a:t>
            </a:r>
            <a:r>
              <a:rPr dirty="0" sz="1150" spc="-75">
                <a:latin typeface="Arial"/>
                <a:cs typeface="Arial"/>
              </a:rPr>
              <a:t>some </a:t>
            </a:r>
            <a:r>
              <a:rPr dirty="0" sz="1150" spc="-35">
                <a:latin typeface="Arial"/>
                <a:cs typeface="Arial"/>
              </a:rPr>
              <a:t>qualities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40">
                <a:latin typeface="Arial"/>
                <a:cs typeface="Arial"/>
              </a:rPr>
              <a:t>leader. </a:t>
            </a:r>
            <a:r>
              <a:rPr dirty="0" sz="1150" spc="-10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help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leadership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businessman can </a:t>
            </a:r>
            <a:r>
              <a:rPr dirty="0" sz="1150" spc="-15">
                <a:latin typeface="Arial"/>
                <a:cs typeface="Arial"/>
              </a:rPr>
              <a:t>control </a:t>
            </a:r>
            <a:r>
              <a:rPr dirty="0" sz="1150" spc="-60">
                <a:latin typeface="Arial"/>
                <a:cs typeface="Arial"/>
              </a:rPr>
              <a:t>his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60">
                <a:latin typeface="Arial"/>
                <a:cs typeface="Arial"/>
              </a:rPr>
              <a:t>and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workers.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5"/>
              <a:tabLst>
                <a:tab pos="469265" algn="l"/>
                <a:tab pos="470534" algn="l"/>
              </a:tabLst>
            </a:pPr>
            <a:r>
              <a:rPr dirty="0" sz="1150" spc="-60" b="1">
                <a:latin typeface="Arial"/>
                <a:cs typeface="Arial"/>
              </a:rPr>
              <a:t>Negotiator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5"/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5">
                <a:latin typeface="Arial"/>
                <a:cs typeface="Arial"/>
              </a:rPr>
              <a:t>businessman 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good </a:t>
            </a:r>
            <a:r>
              <a:rPr dirty="0" sz="1150" spc="-25">
                <a:latin typeface="Arial"/>
                <a:cs typeface="Arial"/>
              </a:rPr>
              <a:t>negotiator, then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20">
                <a:latin typeface="Arial"/>
                <a:cs typeface="Arial"/>
              </a:rPr>
              <a:t>run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20">
                <a:latin typeface="Arial"/>
                <a:cs typeface="Arial"/>
              </a:rPr>
              <a:t>well,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>
                <a:latin typeface="Arial"/>
                <a:cs typeface="Arial"/>
              </a:rPr>
              <a:t>without  </a:t>
            </a:r>
            <a:r>
              <a:rPr dirty="0" sz="1150" spc="-50">
                <a:latin typeface="Arial"/>
                <a:cs typeface="Arial"/>
              </a:rPr>
              <a:t>good </a:t>
            </a:r>
            <a:r>
              <a:rPr dirty="0" sz="1150" spc="-40">
                <a:latin typeface="Arial"/>
                <a:cs typeface="Arial"/>
              </a:rPr>
              <a:t>communication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30">
                <a:latin typeface="Arial"/>
                <a:cs typeface="Arial"/>
              </a:rPr>
              <a:t>can’t </a:t>
            </a:r>
            <a:r>
              <a:rPr dirty="0" sz="1150" spc="-55">
                <a:latin typeface="Arial"/>
                <a:cs typeface="Arial"/>
              </a:rPr>
              <a:t>impress </a:t>
            </a:r>
            <a:r>
              <a:rPr dirty="0" sz="1150" spc="-60">
                <a:latin typeface="Arial"/>
                <a:cs typeface="Arial"/>
              </a:rPr>
              <a:t>his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consumer.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6"/>
              <a:tabLst>
                <a:tab pos="469265" algn="l"/>
                <a:tab pos="470534" algn="l"/>
              </a:tabLst>
            </a:pPr>
            <a:r>
              <a:rPr dirty="0" sz="1150" spc="-80" b="1">
                <a:latin typeface="Arial"/>
                <a:cs typeface="Arial"/>
              </a:rPr>
              <a:t>Personality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70">
                <a:latin typeface="Arial"/>
                <a:cs typeface="Arial"/>
              </a:rPr>
              <a:t>have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graceful </a:t>
            </a:r>
            <a:r>
              <a:rPr dirty="0" sz="1150" spc="-35">
                <a:latin typeface="Arial"/>
                <a:cs typeface="Arial"/>
              </a:rPr>
              <a:t>personality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impress </a:t>
            </a:r>
            <a:r>
              <a:rPr dirty="0" sz="1150" spc="-60">
                <a:latin typeface="Arial"/>
                <a:cs typeface="Arial"/>
              </a:rPr>
              <a:t>his </a:t>
            </a:r>
            <a:r>
              <a:rPr dirty="0" sz="1150" spc="-50">
                <a:latin typeface="Arial"/>
                <a:cs typeface="Arial"/>
              </a:rPr>
              <a:t>customers. </a:t>
            </a:r>
            <a:r>
              <a:rPr dirty="0" sz="1150" spc="-5">
                <a:latin typeface="Arial"/>
                <a:cs typeface="Arial"/>
              </a:rPr>
              <a:t>If 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35">
                <a:latin typeface="Arial"/>
                <a:cs typeface="Arial"/>
              </a:rPr>
              <a:t>personality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0">
                <a:latin typeface="Arial"/>
                <a:cs typeface="Arial"/>
              </a:rPr>
              <a:t>not </a:t>
            </a:r>
            <a:r>
              <a:rPr dirty="0" sz="1150" spc="-55">
                <a:latin typeface="Arial"/>
                <a:cs typeface="Arial"/>
              </a:rPr>
              <a:t>good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45">
                <a:latin typeface="Arial"/>
                <a:cs typeface="Arial"/>
              </a:rPr>
              <a:t>graceful </a:t>
            </a:r>
            <a:r>
              <a:rPr dirty="0" sz="1150" spc="-25">
                <a:latin typeface="Arial"/>
                <a:cs typeface="Arial"/>
              </a:rPr>
              <a:t>then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25">
                <a:latin typeface="Arial"/>
                <a:cs typeface="Arial"/>
              </a:rPr>
              <a:t>can’t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go </a:t>
            </a:r>
            <a:r>
              <a:rPr dirty="0" sz="1150" spc="-25">
                <a:latin typeface="Arial"/>
                <a:cs typeface="Arial"/>
              </a:rPr>
              <a:t>well.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13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4340" cy="6262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AutoNum type="arabicPeriod" startAt="17"/>
              <a:tabLst>
                <a:tab pos="469265" algn="l"/>
                <a:tab pos="470534" algn="l"/>
              </a:tabLst>
            </a:pPr>
            <a:r>
              <a:rPr dirty="0" sz="1150" spc="-95" b="1">
                <a:latin typeface="Arial"/>
                <a:cs typeface="Arial"/>
              </a:rPr>
              <a:t>Quick</a:t>
            </a:r>
            <a:r>
              <a:rPr dirty="0" sz="1150" spc="-75" b="1">
                <a:latin typeface="Arial"/>
                <a:cs typeface="Arial"/>
              </a:rPr>
              <a:t> </a:t>
            </a:r>
            <a:r>
              <a:rPr dirty="0" sz="1150" spc="-105" b="1">
                <a:latin typeface="Arial"/>
                <a:cs typeface="Arial"/>
              </a:rPr>
              <a:t>Decisions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7"/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0">
                <a:latin typeface="Arial"/>
                <a:cs typeface="Arial"/>
              </a:rPr>
              <a:t>decision-making </a:t>
            </a:r>
            <a:r>
              <a:rPr dirty="0" sz="1150" spc="-30">
                <a:latin typeface="Arial"/>
                <a:cs typeface="Arial"/>
              </a:rPr>
              <a:t>power. </a:t>
            </a:r>
            <a:r>
              <a:rPr dirty="0" sz="1150" spc="-95">
                <a:latin typeface="Arial"/>
                <a:cs typeface="Arial"/>
              </a:rPr>
              <a:t>He </a:t>
            </a:r>
            <a:r>
              <a:rPr dirty="0" sz="1150" spc="-65">
                <a:latin typeface="Arial"/>
                <a:cs typeface="Arial"/>
              </a:rPr>
              <a:t>decides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30">
                <a:latin typeface="Arial"/>
                <a:cs typeface="Arial"/>
              </a:rPr>
              <a:t>all matters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45">
                <a:latin typeface="Arial"/>
                <a:cs typeface="Arial"/>
              </a:rPr>
              <a:t>best </a:t>
            </a:r>
            <a:r>
              <a:rPr dirty="0" sz="1150" spc="-20">
                <a:latin typeface="Arial"/>
                <a:cs typeface="Arial"/>
              </a:rPr>
              <a:t>interest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40">
                <a:latin typeface="Arial"/>
                <a:cs typeface="Arial"/>
              </a:rPr>
              <a:t>technical </a:t>
            </a:r>
            <a:r>
              <a:rPr dirty="0" sz="1150" spc="-45">
                <a:latin typeface="Arial"/>
                <a:cs typeface="Arial"/>
              </a:rPr>
              <a:t>knowledge,  </a:t>
            </a:r>
            <a:r>
              <a:rPr dirty="0" sz="1150" spc="-35">
                <a:latin typeface="Arial"/>
                <a:cs typeface="Arial"/>
              </a:rPr>
              <a:t>judgment </a:t>
            </a:r>
            <a:r>
              <a:rPr dirty="0" sz="1150" spc="-25">
                <a:latin typeface="Arial"/>
                <a:cs typeface="Arial"/>
              </a:rPr>
              <a:t>power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35">
                <a:latin typeface="Arial"/>
                <a:cs typeface="Arial"/>
              </a:rPr>
              <a:t>intelligence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take </a:t>
            </a:r>
            <a:r>
              <a:rPr dirty="0" sz="1150" spc="-60">
                <a:latin typeface="Arial"/>
                <a:cs typeface="Arial"/>
              </a:rPr>
              <a:t>sound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quick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decisions.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rabicPeriod" startAt="18"/>
              <a:tabLst>
                <a:tab pos="469265" algn="l"/>
                <a:tab pos="470534" algn="l"/>
              </a:tabLst>
            </a:pPr>
            <a:r>
              <a:rPr dirty="0" sz="1150" spc="-85" b="1">
                <a:latin typeface="Arial"/>
                <a:cs typeface="Arial"/>
              </a:rPr>
              <a:t>Responsibility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18"/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  <a:spcBef>
                <a:spcPts val="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successful businessman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realize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35">
                <a:latin typeface="Arial"/>
                <a:cs typeface="Arial"/>
              </a:rPr>
              <a:t>responsibilities. </a:t>
            </a: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30">
                <a:latin typeface="Arial"/>
                <a:cs typeface="Arial"/>
              </a:rPr>
              <a:t>doesn’t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 spc="-55">
                <a:latin typeface="Arial"/>
                <a:cs typeface="Arial"/>
              </a:rPr>
              <a:t>his  </a:t>
            </a:r>
            <a:r>
              <a:rPr dirty="0" sz="1150" spc="-20">
                <a:latin typeface="Arial"/>
                <a:cs typeface="Arial"/>
              </a:rPr>
              <a:t>duty </a:t>
            </a:r>
            <a:r>
              <a:rPr dirty="0" sz="1150" spc="-25">
                <a:latin typeface="Arial"/>
                <a:cs typeface="Arial"/>
              </a:rPr>
              <a:t>then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30">
                <a:latin typeface="Arial"/>
                <a:cs typeface="Arial"/>
              </a:rPr>
              <a:t>can’t </a:t>
            </a:r>
            <a:r>
              <a:rPr dirty="0" sz="1150" spc="-70">
                <a:latin typeface="Arial"/>
                <a:cs typeface="Arial"/>
              </a:rPr>
              <a:t>go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well.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9"/>
              <a:tabLst>
                <a:tab pos="469265" algn="l"/>
                <a:tab pos="470534" algn="l"/>
              </a:tabLst>
            </a:pPr>
            <a:r>
              <a:rPr dirty="0" sz="1150" spc="-75" b="1">
                <a:latin typeface="Arial"/>
                <a:cs typeface="Arial"/>
              </a:rPr>
              <a:t>Reviewer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9"/>
            </a:pPr>
            <a:endParaRPr sz="120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good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review </a:t>
            </a:r>
            <a:r>
              <a:rPr dirty="0" sz="1150" spc="-55">
                <a:latin typeface="Arial"/>
                <a:cs typeface="Arial"/>
              </a:rPr>
              <a:t>his mistakes,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20">
                <a:latin typeface="Arial"/>
                <a:cs typeface="Arial"/>
              </a:rPr>
              <a:t>committed in the </a:t>
            </a:r>
            <a:r>
              <a:rPr dirty="0" sz="1150" spc="-45">
                <a:latin typeface="Arial"/>
                <a:cs typeface="Arial"/>
              </a:rPr>
              <a:t>past,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5">
                <a:latin typeface="Arial"/>
                <a:cs typeface="Arial"/>
              </a:rPr>
              <a:t>try </a:t>
            </a:r>
            <a:r>
              <a:rPr dirty="0" sz="1150" spc="-55">
                <a:latin typeface="Arial"/>
                <a:cs typeface="Arial"/>
              </a:rPr>
              <a:t>his  </a:t>
            </a:r>
            <a:r>
              <a:rPr dirty="0" sz="1150" spc="-45">
                <a:latin typeface="Arial"/>
                <a:cs typeface="Arial"/>
              </a:rPr>
              <a:t>best never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again </a:t>
            </a:r>
            <a:r>
              <a:rPr dirty="0" sz="1150" spc="-25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15">
                <a:latin typeface="Arial"/>
                <a:cs typeface="Arial"/>
              </a:rPr>
              <a:t>life.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20"/>
              <a:tabLst>
                <a:tab pos="469265" algn="l"/>
                <a:tab pos="470534" algn="l"/>
              </a:tabLst>
            </a:pPr>
            <a:r>
              <a:rPr dirty="0" sz="1150" spc="-114" b="1">
                <a:latin typeface="Arial"/>
                <a:cs typeface="Arial"/>
              </a:rPr>
              <a:t>Sound </a:t>
            </a:r>
            <a:r>
              <a:rPr dirty="0" sz="1150" spc="-90" b="1">
                <a:latin typeface="Arial"/>
                <a:cs typeface="Arial"/>
              </a:rPr>
              <a:t>Financial</a:t>
            </a:r>
            <a:r>
              <a:rPr dirty="0" sz="1150" spc="-5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Management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20"/>
            </a:pPr>
            <a:endParaRPr sz="120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Sound </a:t>
            </a:r>
            <a:r>
              <a:rPr dirty="0" sz="1150" spc="-35">
                <a:latin typeface="Arial"/>
                <a:cs typeface="Arial"/>
              </a:rPr>
              <a:t>financial </a:t>
            </a:r>
            <a:r>
              <a:rPr dirty="0" sz="1150" spc="-55">
                <a:latin typeface="Arial"/>
                <a:cs typeface="Arial"/>
              </a:rPr>
              <a:t>management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15">
                <a:latin typeface="Arial"/>
                <a:cs typeface="Arial"/>
              </a:rPr>
              <a:t>important </a:t>
            </a:r>
            <a:r>
              <a:rPr dirty="0" sz="1150" spc="-20">
                <a:latin typeface="Arial"/>
                <a:cs typeface="Arial"/>
              </a:rPr>
              <a:t>factor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70">
                <a:latin typeface="Arial"/>
                <a:cs typeface="Arial"/>
              </a:rPr>
              <a:t>successful business. </a:t>
            </a:r>
            <a:r>
              <a:rPr dirty="0" sz="1150" spc="-10">
                <a:latin typeface="Arial"/>
                <a:cs typeface="Arial"/>
              </a:rPr>
              <a:t>Without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40">
                <a:latin typeface="Arial"/>
                <a:cs typeface="Arial"/>
              </a:rPr>
              <a:t>no  </a:t>
            </a:r>
            <a:r>
              <a:rPr dirty="0" sz="1150" spc="-70">
                <a:latin typeface="Arial"/>
                <a:cs typeface="Arial"/>
              </a:rPr>
              <a:t>business can go </a:t>
            </a:r>
            <a:r>
              <a:rPr dirty="0" sz="1150" spc="-20">
                <a:latin typeface="Arial"/>
                <a:cs typeface="Arial"/>
              </a:rPr>
              <a:t>well. </a:t>
            </a:r>
            <a:r>
              <a:rPr dirty="0" sz="1150" spc="-140">
                <a:latin typeface="Arial"/>
                <a:cs typeface="Arial"/>
              </a:rPr>
              <a:t>So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100">
                <a:latin typeface="Arial"/>
                <a:cs typeface="Arial"/>
              </a:rPr>
              <a:t>possess </a:t>
            </a:r>
            <a:r>
              <a:rPr dirty="0" sz="1150" spc="-55">
                <a:latin typeface="Arial"/>
                <a:cs typeface="Arial"/>
              </a:rPr>
              <a:t>good </a:t>
            </a:r>
            <a:r>
              <a:rPr dirty="0" sz="1150" spc="-35">
                <a:latin typeface="Arial"/>
                <a:cs typeface="Arial"/>
              </a:rPr>
              <a:t>financial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position.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21"/>
              <a:tabLst>
                <a:tab pos="469265" algn="l"/>
                <a:tab pos="470534" algn="l"/>
              </a:tabLst>
            </a:pPr>
            <a:r>
              <a:rPr dirty="0" sz="1150" spc="-90" b="1">
                <a:latin typeface="Arial"/>
                <a:cs typeface="Arial"/>
              </a:rPr>
              <a:t>Self-Confidence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21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good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50">
                <a:latin typeface="Arial"/>
                <a:cs typeface="Arial"/>
              </a:rPr>
              <a:t>should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45">
                <a:latin typeface="Arial"/>
                <a:cs typeface="Arial"/>
              </a:rPr>
              <a:t>self-confidence.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Without </a:t>
            </a:r>
            <a:r>
              <a:rPr dirty="0" sz="1150" spc="-45">
                <a:latin typeface="Arial"/>
                <a:cs typeface="Arial"/>
              </a:rPr>
              <a:t>self-confidence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25">
                <a:latin typeface="Arial"/>
                <a:cs typeface="Arial"/>
              </a:rPr>
              <a:t>can’t </a:t>
            </a:r>
            <a:r>
              <a:rPr dirty="0" sz="1150" spc="-60">
                <a:latin typeface="Arial"/>
                <a:cs typeface="Arial"/>
              </a:rPr>
              <a:t>make  </a:t>
            </a:r>
            <a:r>
              <a:rPr dirty="0" sz="1150" spc="-45">
                <a:latin typeface="Arial"/>
                <a:cs typeface="Arial"/>
              </a:rPr>
              <a:t>quick </a:t>
            </a:r>
            <a:r>
              <a:rPr dirty="0" sz="1150" spc="-60">
                <a:latin typeface="Arial"/>
                <a:cs typeface="Arial"/>
              </a:rPr>
              <a:t>decisions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5">
                <a:latin typeface="Arial"/>
                <a:cs typeface="Arial"/>
              </a:rPr>
              <a:t>suffers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lot.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22"/>
              <a:tabLst>
                <a:tab pos="469265" algn="l"/>
                <a:tab pos="470534" algn="l"/>
              </a:tabLst>
            </a:pPr>
            <a:r>
              <a:rPr dirty="0" sz="1150" spc="-90" b="1">
                <a:latin typeface="Arial"/>
                <a:cs typeface="Arial"/>
              </a:rPr>
              <a:t>Tact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22"/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good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50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0">
                <a:latin typeface="Arial"/>
                <a:cs typeface="Arial"/>
              </a:rPr>
              <a:t>tactful </a:t>
            </a:r>
            <a:r>
              <a:rPr dirty="0" sz="1150" spc="-50">
                <a:latin typeface="Arial"/>
                <a:cs typeface="Arial"/>
              </a:rPr>
              <a:t>person. </a:t>
            </a:r>
            <a:r>
              <a:rPr dirty="0" sz="1150" spc="-100">
                <a:latin typeface="Arial"/>
                <a:cs typeface="Arial"/>
              </a:rPr>
              <a:t>He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handle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50">
                <a:latin typeface="Arial"/>
                <a:cs typeface="Arial"/>
              </a:rPr>
              <a:t>customers 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15">
                <a:latin typeface="Arial"/>
                <a:cs typeface="Arial"/>
              </a:rPr>
              <a:t>tactfully.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55">
                <a:latin typeface="Arial"/>
                <a:cs typeface="Arial"/>
              </a:rPr>
              <a:t>helps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earn </a:t>
            </a:r>
            <a:r>
              <a:rPr dirty="0" sz="1150" spc="5">
                <a:latin typeface="Arial"/>
                <a:cs typeface="Arial"/>
              </a:rPr>
              <a:t>profit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future.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23"/>
              <a:tabLst>
                <a:tab pos="469265" algn="l"/>
                <a:tab pos="470534" algn="l"/>
              </a:tabLst>
            </a:pPr>
            <a:r>
              <a:rPr dirty="0" sz="1150" spc="-95" b="1">
                <a:latin typeface="Arial"/>
                <a:cs typeface="Arial"/>
              </a:rPr>
              <a:t>Technical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105" b="1">
                <a:latin typeface="Arial"/>
                <a:cs typeface="Arial"/>
              </a:rPr>
              <a:t>Skills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good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knowledge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40">
                <a:latin typeface="Arial"/>
                <a:cs typeface="Arial"/>
              </a:rPr>
              <a:t>technical </a:t>
            </a:r>
            <a:r>
              <a:rPr dirty="0" sz="1150" spc="-50">
                <a:latin typeface="Arial"/>
                <a:cs typeface="Arial"/>
              </a:rPr>
              <a:t>skills. </a:t>
            </a:r>
            <a:r>
              <a:rPr dirty="0" sz="1150" spc="-100">
                <a:latin typeface="Arial"/>
                <a:cs typeface="Arial"/>
              </a:rPr>
              <a:t>He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65">
                <a:latin typeface="Arial"/>
                <a:cs typeface="Arial"/>
              </a:rPr>
              <a:t>have  </a:t>
            </a:r>
            <a:r>
              <a:rPr dirty="0" sz="1150" spc="-35">
                <a:latin typeface="Arial"/>
                <a:cs typeface="Arial"/>
              </a:rPr>
              <a:t>complete </a:t>
            </a:r>
            <a:r>
              <a:rPr dirty="0" sz="1150" spc="-55">
                <a:latin typeface="Arial"/>
                <a:cs typeface="Arial"/>
              </a:rPr>
              <a:t>command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specialized </a:t>
            </a:r>
            <a:r>
              <a:rPr dirty="0" sz="1150" spc="-45">
                <a:latin typeface="Arial"/>
                <a:cs typeface="Arial"/>
              </a:rPr>
              <a:t>knowledge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20">
                <a:latin typeface="Arial"/>
                <a:cs typeface="Arial"/>
              </a:rPr>
              <a:t>field,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90">
                <a:latin typeface="Arial"/>
                <a:cs typeface="Arial"/>
              </a:rPr>
              <a:t>has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perform.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14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55852" y="891035"/>
            <a:ext cx="5286375" cy="83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2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185" b="1">
                <a:latin typeface="Arial"/>
                <a:cs typeface="Arial"/>
              </a:rPr>
              <a:t>ORGANIZATIONAL </a:t>
            </a:r>
            <a:r>
              <a:rPr dirty="0" sz="1750" spc="-204" b="1">
                <a:latin typeface="Arial"/>
                <a:cs typeface="Arial"/>
              </a:rPr>
              <a:t>BOUNDARIES </a:t>
            </a:r>
            <a:r>
              <a:rPr dirty="0" sz="1750" spc="-165" b="1">
                <a:latin typeface="Arial"/>
                <a:cs typeface="Arial"/>
              </a:rPr>
              <a:t>AND</a:t>
            </a:r>
            <a:r>
              <a:rPr dirty="0" sz="1750" spc="-160" b="1">
                <a:latin typeface="Arial"/>
                <a:cs typeface="Arial"/>
              </a:rPr>
              <a:t> </a:t>
            </a:r>
            <a:r>
              <a:rPr dirty="0" sz="1750" spc="-175" b="1">
                <a:latin typeface="Arial"/>
                <a:cs typeface="Arial"/>
              </a:rPr>
              <a:t>ENVIRONMENTS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15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1683" y="1874015"/>
            <a:ext cx="5742940" cy="68065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316230">
              <a:lnSpc>
                <a:spcPct val="101699"/>
              </a:lnSpc>
              <a:spcBef>
                <a:spcPts val="75"/>
              </a:spcBef>
            </a:pP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75">
                <a:latin typeface="Arial"/>
                <a:cs typeface="Arial"/>
              </a:rPr>
              <a:t>businesses, </a:t>
            </a:r>
            <a:r>
              <a:rPr dirty="0" sz="1150" spc="-60">
                <a:latin typeface="Arial"/>
                <a:cs typeface="Arial"/>
              </a:rPr>
              <a:t>regardless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70">
                <a:latin typeface="Arial"/>
                <a:cs typeface="Arial"/>
              </a:rPr>
              <a:t>size, </a:t>
            </a:r>
            <a:r>
              <a:rPr dirty="0" sz="1150" spc="-30">
                <a:latin typeface="Arial"/>
                <a:cs typeface="Arial"/>
              </a:rPr>
              <a:t>location,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0">
                <a:latin typeface="Arial"/>
                <a:cs typeface="Arial"/>
              </a:rPr>
              <a:t>mission, </a:t>
            </a:r>
            <a:r>
              <a:rPr dirty="0" sz="1150" spc="-35">
                <a:latin typeface="Arial"/>
                <a:cs typeface="Arial"/>
              </a:rPr>
              <a:t>operate </a:t>
            </a:r>
            <a:r>
              <a:rPr dirty="0" sz="1150" spc="-5">
                <a:latin typeface="Arial"/>
                <a:cs typeface="Arial"/>
              </a:rPr>
              <a:t>within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larger </a:t>
            </a:r>
            <a:r>
              <a:rPr dirty="0" sz="1150" spc="-35">
                <a:latin typeface="Arial"/>
                <a:cs typeface="Arial"/>
              </a:rPr>
              <a:t>external  </a:t>
            </a:r>
            <a:r>
              <a:rPr dirty="0" sz="1150" spc="-30">
                <a:latin typeface="Arial"/>
                <a:cs typeface="Arial"/>
              </a:rPr>
              <a:t>environment.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90" b="1">
                <a:latin typeface="Arial"/>
                <a:cs typeface="Arial"/>
              </a:rPr>
              <a:t>External</a:t>
            </a:r>
            <a:r>
              <a:rPr dirty="0" sz="1350" spc="-75" b="1">
                <a:latin typeface="Arial"/>
                <a:cs typeface="Arial"/>
              </a:rPr>
              <a:t> environment</a:t>
            </a:r>
            <a:r>
              <a:rPr dirty="0" sz="1350" spc="-75">
                <a:latin typeface="Arial"/>
                <a:cs typeface="Arial"/>
              </a:rPr>
              <a:t>: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50">
                <a:latin typeface="Arial"/>
                <a:cs typeface="Arial"/>
              </a:rPr>
              <a:t>Everything </a:t>
            </a:r>
            <a:r>
              <a:rPr dirty="0" sz="1150" spc="-35">
                <a:latin typeface="Arial"/>
                <a:cs typeface="Arial"/>
              </a:rPr>
              <a:t>outside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organization’s </a:t>
            </a:r>
            <a:r>
              <a:rPr dirty="0" sz="1150" spc="-50">
                <a:latin typeface="Arial"/>
                <a:cs typeface="Arial"/>
              </a:rPr>
              <a:t>boundaries </a:t>
            </a:r>
            <a:r>
              <a:rPr dirty="0" sz="1150">
                <a:latin typeface="Arial"/>
                <a:cs typeface="Arial"/>
              </a:rPr>
              <a:t>that </a:t>
            </a:r>
            <a:r>
              <a:rPr dirty="0" sz="1150" spc="-25">
                <a:latin typeface="Arial"/>
                <a:cs typeface="Arial"/>
              </a:rPr>
              <a:t>might affect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it.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155700" marR="6350" indent="-228600">
              <a:lnSpc>
                <a:spcPct val="101699"/>
              </a:lnSpc>
              <a:buFont typeface="Arial"/>
              <a:buAutoNum type="alphaLcPeriod"/>
              <a:tabLst>
                <a:tab pos="1156335" algn="l"/>
              </a:tabLst>
            </a:pPr>
            <a:r>
              <a:rPr dirty="0" sz="1150" spc="-75" b="1">
                <a:latin typeface="Arial"/>
                <a:cs typeface="Arial"/>
              </a:rPr>
              <a:t>Organizational </a:t>
            </a:r>
            <a:r>
              <a:rPr dirty="0" sz="1150" spc="-90" b="1">
                <a:latin typeface="Arial"/>
                <a:cs typeface="Arial"/>
              </a:rPr>
              <a:t>Boundaries</a:t>
            </a:r>
            <a:r>
              <a:rPr dirty="0" sz="1150" spc="-90">
                <a:latin typeface="Arial"/>
                <a:cs typeface="Arial"/>
              </a:rPr>
              <a:t>: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0">
                <a:latin typeface="Arial"/>
                <a:cs typeface="Arial"/>
              </a:rPr>
              <a:t>separates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5">
                <a:latin typeface="Arial"/>
                <a:cs typeface="Arial"/>
              </a:rPr>
              <a:t>its  </a:t>
            </a:r>
            <a:r>
              <a:rPr dirty="0" sz="1150" spc="-30">
                <a:latin typeface="Arial"/>
                <a:cs typeface="Arial"/>
              </a:rPr>
              <a:t>environment. </a:t>
            </a:r>
            <a:r>
              <a:rPr dirty="0" sz="1150" spc="-75">
                <a:latin typeface="Arial"/>
                <a:cs typeface="Arial"/>
              </a:rPr>
              <a:t>Today </a:t>
            </a:r>
            <a:r>
              <a:rPr dirty="0" sz="1150" spc="-45">
                <a:latin typeface="Arial"/>
                <a:cs typeface="Arial"/>
              </a:rPr>
              <a:t>boundaries </a:t>
            </a:r>
            <a:r>
              <a:rPr dirty="0" sz="1150" spc="-50">
                <a:latin typeface="Arial"/>
                <a:cs typeface="Arial"/>
              </a:rPr>
              <a:t>are becoming increasingly </a:t>
            </a:r>
            <a:r>
              <a:rPr dirty="0" sz="1150" spc="-40">
                <a:latin typeface="Arial"/>
                <a:cs typeface="Arial"/>
              </a:rPr>
              <a:t>complicated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40">
                <a:latin typeface="Arial"/>
                <a:cs typeface="Arial"/>
              </a:rPr>
              <a:t>hard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pin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down.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AutoNum type="alphaLcPeriod"/>
            </a:pPr>
            <a:endParaRPr sz="1200">
              <a:latin typeface="Arial"/>
              <a:cs typeface="Arial"/>
            </a:endParaRPr>
          </a:p>
          <a:p>
            <a:pPr algn="just" marL="1155700" marR="5080" indent="-228600">
              <a:lnSpc>
                <a:spcPct val="101699"/>
              </a:lnSpc>
              <a:buFont typeface="Arial"/>
              <a:buAutoNum type="alphaLcPeriod"/>
              <a:tabLst>
                <a:tab pos="1156335" algn="l"/>
              </a:tabLst>
            </a:pPr>
            <a:r>
              <a:rPr dirty="0" sz="1150" spc="-40" b="1">
                <a:latin typeface="Arial"/>
                <a:cs typeface="Arial"/>
              </a:rPr>
              <a:t>Multiple </a:t>
            </a:r>
            <a:r>
              <a:rPr dirty="0" sz="1150" spc="-85" b="1">
                <a:latin typeface="Arial"/>
                <a:cs typeface="Arial"/>
              </a:rPr>
              <a:t>Environments</a:t>
            </a:r>
            <a:r>
              <a:rPr dirty="0" sz="1150" spc="-85">
                <a:latin typeface="Arial"/>
                <a:cs typeface="Arial"/>
              </a:rPr>
              <a:t>: </a:t>
            </a:r>
            <a:r>
              <a:rPr dirty="0" sz="1150" spc="-40">
                <a:latin typeface="Arial"/>
                <a:cs typeface="Arial"/>
              </a:rPr>
              <a:t>include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35">
                <a:latin typeface="Arial"/>
                <a:cs typeface="Arial"/>
              </a:rPr>
              <a:t>conditions, </a:t>
            </a:r>
            <a:r>
              <a:rPr dirty="0" sz="1150" spc="-40">
                <a:latin typeface="Arial"/>
                <a:cs typeface="Arial"/>
              </a:rPr>
              <a:t>technology, </a:t>
            </a:r>
            <a:r>
              <a:rPr dirty="0" sz="1150" spc="-20">
                <a:latin typeface="Arial"/>
                <a:cs typeface="Arial"/>
              </a:rPr>
              <a:t>political-  </a:t>
            </a:r>
            <a:r>
              <a:rPr dirty="0" sz="1150" spc="-50">
                <a:latin typeface="Arial"/>
                <a:cs typeface="Arial"/>
              </a:rPr>
              <a:t>legal </a:t>
            </a:r>
            <a:r>
              <a:rPr dirty="0" sz="1150" spc="-45">
                <a:latin typeface="Arial"/>
                <a:cs typeface="Arial"/>
              </a:rPr>
              <a:t>considerations, </a:t>
            </a:r>
            <a:r>
              <a:rPr dirty="0" sz="1150" spc="-60">
                <a:latin typeface="Arial"/>
                <a:cs typeface="Arial"/>
              </a:rPr>
              <a:t>social </a:t>
            </a:r>
            <a:r>
              <a:rPr dirty="0" sz="1150" spc="-75">
                <a:latin typeface="Arial"/>
                <a:cs typeface="Arial"/>
              </a:rPr>
              <a:t>issues,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global </a:t>
            </a:r>
            <a:r>
              <a:rPr dirty="0" sz="1150" spc="-30">
                <a:latin typeface="Arial"/>
                <a:cs typeface="Arial"/>
              </a:rPr>
              <a:t>environment, </a:t>
            </a:r>
            <a:r>
              <a:rPr dirty="0" sz="1150" spc="-85">
                <a:latin typeface="Arial"/>
                <a:cs typeface="Arial"/>
              </a:rPr>
              <a:t>issues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ethical  </a:t>
            </a:r>
            <a:r>
              <a:rPr dirty="0" sz="1150" spc="-55">
                <a:latin typeface="Arial"/>
                <a:cs typeface="Arial"/>
              </a:rPr>
              <a:t>and social </a:t>
            </a:r>
            <a:r>
              <a:rPr dirty="0" sz="1150" spc="-35">
                <a:latin typeface="Arial"/>
                <a:cs typeface="Arial"/>
              </a:rPr>
              <a:t>responsibility,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30">
                <a:latin typeface="Arial"/>
                <a:cs typeface="Arial"/>
              </a:rPr>
              <a:t>environment </a:t>
            </a:r>
            <a:r>
              <a:rPr dirty="0" sz="1150" spc="-20">
                <a:latin typeface="Arial"/>
                <a:cs typeface="Arial"/>
              </a:rPr>
              <a:t>itself,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numerous 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50">
                <a:latin typeface="Arial"/>
                <a:cs typeface="Arial"/>
              </a:rPr>
              <a:t>emerging </a:t>
            </a:r>
            <a:r>
              <a:rPr dirty="0" sz="1150" spc="-65">
                <a:latin typeface="Arial"/>
                <a:cs typeface="Arial"/>
              </a:rPr>
              <a:t>challenges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opportunities.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AutoNum type="alphaLcPeriod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75" b="1">
                <a:latin typeface="Arial"/>
                <a:cs typeface="Arial"/>
              </a:rPr>
              <a:t>THE </a:t>
            </a:r>
            <a:r>
              <a:rPr dirty="0" sz="1350" spc="-140" b="1">
                <a:latin typeface="Arial"/>
                <a:cs typeface="Arial"/>
              </a:rPr>
              <a:t>ECONOMIC</a:t>
            </a:r>
            <a:r>
              <a:rPr dirty="0" sz="1350" spc="-170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ENVIRONMENT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114" b="1">
                <a:latin typeface="Arial"/>
                <a:cs typeface="Arial"/>
              </a:rPr>
              <a:t>Economic </a:t>
            </a:r>
            <a:r>
              <a:rPr dirty="0" sz="1150" spc="-60" b="1">
                <a:latin typeface="Arial"/>
                <a:cs typeface="Arial"/>
              </a:rPr>
              <a:t>environment</a:t>
            </a:r>
            <a:r>
              <a:rPr dirty="0" sz="1150" spc="-60">
                <a:latin typeface="Arial"/>
                <a:cs typeface="Arial"/>
              </a:rPr>
              <a:t>—Conditions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operates.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155700" indent="-229235">
              <a:lnSpc>
                <a:spcPct val="100000"/>
              </a:lnSpc>
              <a:buAutoNum type="alphaLcPeriod" startAt="3"/>
              <a:tabLst>
                <a:tab pos="1156335" algn="l"/>
              </a:tabLst>
            </a:pPr>
            <a:r>
              <a:rPr dirty="0" sz="1350" spc="-135" b="1">
                <a:latin typeface="Arial"/>
                <a:cs typeface="Arial"/>
              </a:rPr>
              <a:t>Economic</a:t>
            </a:r>
            <a:r>
              <a:rPr dirty="0" sz="1350" spc="-70" b="1">
                <a:latin typeface="Arial"/>
                <a:cs typeface="Arial"/>
              </a:rPr>
              <a:t> </a:t>
            </a:r>
            <a:r>
              <a:rPr dirty="0" sz="1350" spc="-85" b="1">
                <a:latin typeface="Arial"/>
                <a:cs typeface="Arial"/>
              </a:rPr>
              <a:t>Growth</a:t>
            </a:r>
            <a:endParaRPr sz="1350">
              <a:latin typeface="Arial"/>
              <a:cs typeface="Arial"/>
            </a:endParaRPr>
          </a:p>
          <a:p>
            <a:pPr lvl="1" marL="1612900" indent="-185420">
              <a:lnSpc>
                <a:spcPct val="100000"/>
              </a:lnSpc>
              <a:spcBef>
                <a:spcPts val="30"/>
              </a:spcBef>
              <a:buAutoNum type="romanLcPeriod"/>
              <a:tabLst>
                <a:tab pos="1613535" algn="l"/>
              </a:tabLst>
            </a:pPr>
            <a:r>
              <a:rPr dirty="0" sz="1150" spc="-65">
                <a:latin typeface="Arial"/>
                <a:cs typeface="Arial"/>
              </a:rPr>
              <a:t>Aggregate </a:t>
            </a:r>
            <a:r>
              <a:rPr dirty="0" sz="1150" spc="-25">
                <a:latin typeface="Arial"/>
                <a:cs typeface="Arial"/>
              </a:rPr>
              <a:t>Output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Standard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Living</a:t>
            </a:r>
            <a:endParaRPr sz="1150">
              <a:latin typeface="Arial"/>
              <a:cs typeface="Arial"/>
            </a:endParaRPr>
          </a:p>
          <a:p>
            <a:pPr lvl="2" marL="2070100" marR="7620" indent="-228600">
              <a:lnSpc>
                <a:spcPct val="101699"/>
              </a:lnSpc>
              <a:spcBef>
                <a:spcPts val="5"/>
              </a:spcBef>
              <a:buFont typeface="Arial"/>
              <a:buAutoNum type="arabicPeriod"/>
              <a:tabLst>
                <a:tab pos="2070735" algn="l"/>
              </a:tabLst>
            </a:pPr>
            <a:r>
              <a:rPr dirty="0" sz="1150" spc="-130" b="1">
                <a:latin typeface="Arial"/>
                <a:cs typeface="Arial"/>
              </a:rPr>
              <a:t>Business </a:t>
            </a:r>
            <a:r>
              <a:rPr dirty="0" sz="1150" spc="-70" b="1">
                <a:latin typeface="Arial"/>
                <a:cs typeface="Arial"/>
              </a:rPr>
              <a:t>cycle</a:t>
            </a:r>
            <a:r>
              <a:rPr dirty="0" sz="1150" spc="-70">
                <a:latin typeface="Arial"/>
                <a:cs typeface="Arial"/>
              </a:rPr>
              <a:t>—Pattern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short-term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ups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downs  </a:t>
            </a:r>
            <a:r>
              <a:rPr dirty="0" sz="1150" spc="-60">
                <a:latin typeface="Arial"/>
                <a:cs typeface="Arial"/>
              </a:rPr>
              <a:t>(expansions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contractions)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5">
                <a:latin typeface="Arial"/>
                <a:cs typeface="Arial"/>
              </a:rPr>
              <a:t>an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economy</a:t>
            </a:r>
            <a:endParaRPr sz="11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20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lvl="2" marL="2070100" marR="5080" indent="-228600">
              <a:lnSpc>
                <a:spcPct val="101699"/>
              </a:lnSpc>
              <a:spcBef>
                <a:spcPts val="5"/>
              </a:spcBef>
              <a:buFont typeface="Arial"/>
              <a:buAutoNum type="arabicPeriod"/>
              <a:tabLst>
                <a:tab pos="2070735" algn="l"/>
              </a:tabLst>
            </a:pPr>
            <a:r>
              <a:rPr dirty="0" sz="1150" spc="-95" b="1">
                <a:latin typeface="Arial"/>
                <a:cs typeface="Arial"/>
              </a:rPr>
              <a:t>Aggregate </a:t>
            </a:r>
            <a:r>
              <a:rPr dirty="0" sz="1150" spc="-55" b="1">
                <a:latin typeface="Arial"/>
                <a:cs typeface="Arial"/>
              </a:rPr>
              <a:t>output</a:t>
            </a:r>
            <a:r>
              <a:rPr dirty="0" sz="1150" spc="-55">
                <a:latin typeface="Arial"/>
                <a:cs typeface="Arial"/>
              </a:rPr>
              <a:t>—Total </a:t>
            </a:r>
            <a:r>
              <a:rPr dirty="0" sz="1150" spc="-20">
                <a:latin typeface="Arial"/>
                <a:cs typeface="Arial"/>
              </a:rPr>
              <a:t>quantity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services  </a:t>
            </a:r>
            <a:r>
              <a:rPr dirty="0" sz="1150" spc="-45">
                <a:latin typeface="Arial"/>
                <a:cs typeface="Arial"/>
              </a:rPr>
              <a:t>produced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-35">
                <a:latin typeface="Arial"/>
                <a:cs typeface="Arial"/>
              </a:rPr>
              <a:t>during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given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period</a:t>
            </a:r>
            <a:endParaRPr sz="11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buFont typeface="Arial"/>
              <a:buAutoNum type="arabicPeriod"/>
            </a:pPr>
            <a:endParaRPr sz="11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50"/>
              </a:spcBef>
              <a:buFont typeface="Arial"/>
              <a:buAutoNum type="arabicPeriod"/>
            </a:pPr>
            <a:endParaRPr sz="1300">
              <a:latin typeface="Arial"/>
              <a:cs typeface="Arial"/>
            </a:endParaRPr>
          </a:p>
          <a:p>
            <a:pPr algn="just" lvl="2" marL="2070100" marR="5715" indent="-228600">
              <a:lnSpc>
                <a:spcPct val="101299"/>
              </a:lnSpc>
              <a:buFont typeface="Arial"/>
              <a:buAutoNum type="arabicPeriod"/>
              <a:tabLst>
                <a:tab pos="2070735" algn="l"/>
              </a:tabLst>
            </a:pPr>
            <a:r>
              <a:rPr dirty="0" sz="1150" spc="-85" b="1">
                <a:latin typeface="Arial"/>
                <a:cs typeface="Arial"/>
              </a:rPr>
              <a:t>Standard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65" b="1">
                <a:latin typeface="Arial"/>
                <a:cs typeface="Arial"/>
              </a:rPr>
              <a:t>living</a:t>
            </a:r>
            <a:r>
              <a:rPr dirty="0" sz="1150" spc="-65">
                <a:latin typeface="Arial"/>
                <a:cs typeface="Arial"/>
              </a:rPr>
              <a:t>—Total </a:t>
            </a:r>
            <a:r>
              <a:rPr dirty="0" sz="1150" spc="-20">
                <a:latin typeface="Arial"/>
                <a:cs typeface="Arial"/>
              </a:rPr>
              <a:t>quantity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country’s </a:t>
            </a:r>
            <a:r>
              <a:rPr dirty="0" sz="1150" spc="-50">
                <a:latin typeface="Arial"/>
                <a:cs typeface="Arial"/>
              </a:rPr>
              <a:t>citizens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60">
                <a:latin typeface="Arial"/>
                <a:cs typeface="Arial"/>
              </a:rPr>
              <a:t>purchase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5">
                <a:latin typeface="Arial"/>
                <a:cs typeface="Arial"/>
              </a:rPr>
              <a:t>currency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50">
                <a:latin typeface="Arial"/>
                <a:cs typeface="Arial"/>
              </a:rPr>
              <a:t>economic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system</a:t>
            </a:r>
            <a:endParaRPr sz="11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5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lvl="1" marL="1612900" indent="-219075">
              <a:lnSpc>
                <a:spcPct val="100000"/>
              </a:lnSpc>
              <a:buSzPct val="85185"/>
              <a:buFont typeface="Arial"/>
              <a:buAutoNum type="romanLcPeriod"/>
              <a:tabLst>
                <a:tab pos="1613535" algn="l"/>
              </a:tabLst>
            </a:pPr>
            <a:r>
              <a:rPr dirty="0" sz="1350" spc="-155" b="1">
                <a:latin typeface="Arial"/>
                <a:cs typeface="Arial"/>
              </a:rPr>
              <a:t>Gross </a:t>
            </a:r>
            <a:r>
              <a:rPr dirty="0" sz="1350" spc="-105" b="1">
                <a:latin typeface="Arial"/>
                <a:cs typeface="Arial"/>
              </a:rPr>
              <a:t>Domestic</a:t>
            </a:r>
            <a:r>
              <a:rPr dirty="0" sz="1350" spc="-215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Product</a:t>
            </a:r>
            <a:endParaRPr sz="1350">
              <a:latin typeface="Arial"/>
              <a:cs typeface="Arial"/>
            </a:endParaRPr>
          </a:p>
          <a:p>
            <a:pPr marL="1612900" marR="36830">
              <a:lnSpc>
                <a:spcPct val="101699"/>
              </a:lnSpc>
              <a:spcBef>
                <a:spcPts val="10"/>
              </a:spcBef>
            </a:pPr>
            <a:r>
              <a:rPr dirty="0" sz="1150" spc="-135" b="1">
                <a:latin typeface="Arial"/>
                <a:cs typeface="Arial"/>
              </a:rPr>
              <a:t>Gross </a:t>
            </a:r>
            <a:r>
              <a:rPr dirty="0" sz="1150" spc="-85" b="1">
                <a:latin typeface="Arial"/>
                <a:cs typeface="Arial"/>
              </a:rPr>
              <a:t>domestic </a:t>
            </a:r>
            <a:r>
              <a:rPr dirty="0" sz="1150" spc="-80" b="1">
                <a:latin typeface="Arial"/>
                <a:cs typeface="Arial"/>
              </a:rPr>
              <a:t>product </a:t>
            </a:r>
            <a:r>
              <a:rPr dirty="0" sz="1150" spc="-75" b="1">
                <a:latin typeface="Arial"/>
                <a:cs typeface="Arial"/>
              </a:rPr>
              <a:t>(GDP)</a:t>
            </a:r>
            <a:r>
              <a:rPr dirty="0" sz="1150" spc="-75">
                <a:latin typeface="Arial"/>
                <a:cs typeface="Arial"/>
              </a:rPr>
              <a:t>—Total </a:t>
            </a:r>
            <a:r>
              <a:rPr dirty="0" sz="1150" spc="-55">
                <a:latin typeface="Arial"/>
                <a:cs typeface="Arial"/>
              </a:rPr>
              <a:t>value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services  </a:t>
            </a:r>
            <a:r>
              <a:rPr dirty="0" sz="1150" spc="-45">
                <a:latin typeface="Arial"/>
                <a:cs typeface="Arial"/>
              </a:rPr>
              <a:t>produced </a:t>
            </a:r>
            <a:r>
              <a:rPr dirty="0" sz="1150" spc="-5">
                <a:latin typeface="Arial"/>
                <a:cs typeface="Arial"/>
              </a:rPr>
              <a:t>within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given </a:t>
            </a:r>
            <a:r>
              <a:rPr dirty="0" sz="1150" spc="-30">
                <a:latin typeface="Arial"/>
                <a:cs typeface="Arial"/>
              </a:rPr>
              <a:t>period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national </a:t>
            </a:r>
            <a:r>
              <a:rPr dirty="0" sz="1150" spc="-55">
                <a:latin typeface="Arial"/>
                <a:cs typeface="Arial"/>
              </a:rPr>
              <a:t>economy </a:t>
            </a:r>
            <a:r>
              <a:rPr dirty="0" sz="1150" spc="-25">
                <a:latin typeface="Arial"/>
                <a:cs typeface="Arial"/>
              </a:rPr>
              <a:t>through  </a:t>
            </a:r>
            <a:r>
              <a:rPr dirty="0" sz="1150" spc="-45">
                <a:latin typeface="Arial"/>
                <a:cs typeface="Arial"/>
              </a:rPr>
              <a:t>domestic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production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305" y="892559"/>
            <a:ext cx="5514340" cy="804545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69365" marR="5080">
              <a:lnSpc>
                <a:spcPct val="101699"/>
              </a:lnSpc>
              <a:spcBef>
                <a:spcPts val="75"/>
              </a:spcBef>
            </a:pPr>
            <a:r>
              <a:rPr dirty="0" sz="1150" spc="-135" b="1">
                <a:latin typeface="Arial"/>
                <a:cs typeface="Arial"/>
              </a:rPr>
              <a:t>Gross </a:t>
            </a:r>
            <a:r>
              <a:rPr dirty="0" sz="1150" spc="-60" b="1">
                <a:latin typeface="Arial"/>
                <a:cs typeface="Arial"/>
              </a:rPr>
              <a:t>national </a:t>
            </a:r>
            <a:r>
              <a:rPr dirty="0" sz="1150" spc="-80" b="1">
                <a:latin typeface="Arial"/>
                <a:cs typeface="Arial"/>
              </a:rPr>
              <a:t>product </a:t>
            </a:r>
            <a:r>
              <a:rPr dirty="0" sz="1150" spc="-70" b="1">
                <a:latin typeface="Arial"/>
                <a:cs typeface="Arial"/>
              </a:rPr>
              <a:t>(GNP)</a:t>
            </a:r>
            <a:r>
              <a:rPr dirty="0" sz="1150" spc="-70">
                <a:latin typeface="Arial"/>
                <a:cs typeface="Arial"/>
              </a:rPr>
              <a:t>—Total </a:t>
            </a:r>
            <a:r>
              <a:rPr dirty="0" sz="1150" spc="-55">
                <a:latin typeface="Arial"/>
                <a:cs typeface="Arial"/>
              </a:rPr>
              <a:t>value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services  </a:t>
            </a:r>
            <a:r>
              <a:rPr dirty="0" sz="1150" spc="-45">
                <a:latin typeface="Arial"/>
                <a:cs typeface="Arial"/>
              </a:rPr>
              <a:t>produced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national </a:t>
            </a:r>
            <a:r>
              <a:rPr dirty="0" sz="1150" spc="-50">
                <a:latin typeface="Arial"/>
                <a:cs typeface="Arial"/>
              </a:rPr>
              <a:t>economy </a:t>
            </a:r>
            <a:r>
              <a:rPr dirty="0" sz="1150" spc="-5">
                <a:latin typeface="Arial"/>
                <a:cs typeface="Arial"/>
              </a:rPr>
              <a:t>within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given </a:t>
            </a:r>
            <a:r>
              <a:rPr dirty="0" sz="1150" spc="-30">
                <a:latin typeface="Arial"/>
                <a:cs typeface="Arial"/>
              </a:rPr>
              <a:t>period </a:t>
            </a:r>
            <a:r>
              <a:rPr dirty="0" sz="1150" spc="-60">
                <a:latin typeface="Arial"/>
                <a:cs typeface="Arial"/>
              </a:rPr>
              <a:t>regardless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35">
                <a:latin typeface="Arial"/>
                <a:cs typeface="Arial"/>
              </a:rPr>
              <a:t>where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-50">
                <a:latin typeface="Arial"/>
                <a:cs typeface="Arial"/>
              </a:rPr>
              <a:t>are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located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840864" marR="8255" indent="-228600">
              <a:lnSpc>
                <a:spcPct val="101699"/>
              </a:lnSpc>
              <a:buFont typeface="Arial"/>
              <a:buAutoNum type="arabicPeriod"/>
              <a:tabLst>
                <a:tab pos="1841500" algn="l"/>
              </a:tabLst>
            </a:pPr>
            <a:r>
              <a:rPr dirty="0" sz="1150" spc="-95" b="1">
                <a:latin typeface="Arial"/>
                <a:cs typeface="Arial"/>
              </a:rPr>
              <a:t>Real </a:t>
            </a:r>
            <a:r>
              <a:rPr dirty="0" sz="1150" spc="-70" b="1">
                <a:latin typeface="Arial"/>
                <a:cs typeface="Arial"/>
              </a:rPr>
              <a:t>Growth </a:t>
            </a:r>
            <a:r>
              <a:rPr dirty="0" sz="1150" spc="-60" b="1">
                <a:latin typeface="Arial"/>
                <a:cs typeface="Arial"/>
              </a:rPr>
              <a:t>Rate</a:t>
            </a:r>
            <a:r>
              <a:rPr dirty="0" sz="1150" spc="-60">
                <a:latin typeface="Arial"/>
                <a:cs typeface="Arial"/>
              </a:rPr>
              <a:t>—the </a:t>
            </a:r>
            <a:r>
              <a:rPr dirty="0" sz="1150" spc="-20">
                <a:latin typeface="Arial"/>
                <a:cs typeface="Arial"/>
              </a:rPr>
              <a:t>growth </a:t>
            </a:r>
            <a:r>
              <a:rPr dirty="0" sz="1150" spc="-25">
                <a:latin typeface="Arial"/>
                <a:cs typeface="Arial"/>
              </a:rPr>
              <a:t>rate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5">
                <a:latin typeface="Arial"/>
                <a:cs typeface="Arial"/>
              </a:rPr>
              <a:t>GDP </a:t>
            </a:r>
            <a:r>
              <a:rPr dirty="0" sz="1150" spc="-40">
                <a:latin typeface="Arial"/>
                <a:cs typeface="Arial"/>
              </a:rPr>
              <a:t>adjusted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15">
                <a:latin typeface="Arial"/>
                <a:cs typeface="Arial"/>
              </a:rPr>
              <a:t>inflation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80">
                <a:latin typeface="Arial"/>
                <a:cs typeface="Arial"/>
              </a:rPr>
              <a:t>changes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55">
                <a:latin typeface="Arial"/>
                <a:cs typeface="Arial"/>
              </a:rPr>
              <a:t>value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country’s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currency.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marL="1840864" marR="8255" indent="-228600">
              <a:lnSpc>
                <a:spcPct val="101699"/>
              </a:lnSpc>
              <a:buFont typeface="Arial"/>
              <a:buAutoNum type="arabicPeriod"/>
              <a:tabLst>
                <a:tab pos="1841500" algn="l"/>
              </a:tabLst>
            </a:pPr>
            <a:r>
              <a:rPr dirty="0" sz="1150" spc="-145" b="1">
                <a:latin typeface="Arial"/>
                <a:cs typeface="Arial"/>
              </a:rPr>
              <a:t>GDP </a:t>
            </a:r>
            <a:r>
              <a:rPr dirty="0" sz="1150" spc="-65" b="1">
                <a:latin typeface="Arial"/>
                <a:cs typeface="Arial"/>
              </a:rPr>
              <a:t>per </a:t>
            </a:r>
            <a:r>
              <a:rPr dirty="0" sz="1150" spc="-110" b="1">
                <a:latin typeface="Arial"/>
                <a:cs typeface="Arial"/>
              </a:rPr>
              <a:t>Capita</a:t>
            </a:r>
            <a:r>
              <a:rPr dirty="0" sz="1150" spc="-110">
                <a:latin typeface="Arial"/>
                <a:cs typeface="Arial"/>
              </a:rPr>
              <a:t>—GDP </a:t>
            </a:r>
            <a:r>
              <a:rPr dirty="0" sz="1150" spc="-35">
                <a:latin typeface="Arial"/>
                <a:cs typeface="Arial"/>
              </a:rPr>
              <a:t>per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reflects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standard 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living.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eriod"/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/>
            </a:pPr>
            <a:endParaRPr sz="1300">
              <a:latin typeface="Arial"/>
              <a:cs typeface="Arial"/>
            </a:endParaRPr>
          </a:p>
          <a:p>
            <a:pPr algn="just" marL="1840864" marR="6350" indent="-228600">
              <a:lnSpc>
                <a:spcPct val="101699"/>
              </a:lnSpc>
              <a:buFont typeface="Arial"/>
              <a:buAutoNum type="arabicPeriod"/>
              <a:tabLst>
                <a:tab pos="1841500" algn="l"/>
              </a:tabLst>
            </a:pPr>
            <a:r>
              <a:rPr dirty="0" sz="1150" spc="-95" b="1">
                <a:latin typeface="Arial"/>
                <a:cs typeface="Arial"/>
              </a:rPr>
              <a:t>Real </a:t>
            </a:r>
            <a:r>
              <a:rPr dirty="0" sz="1150" spc="-145" b="1">
                <a:latin typeface="Arial"/>
                <a:cs typeface="Arial"/>
              </a:rPr>
              <a:t>GDP</a:t>
            </a:r>
            <a:r>
              <a:rPr dirty="0" sz="1150" spc="-145">
                <a:latin typeface="Arial"/>
                <a:cs typeface="Arial"/>
              </a:rPr>
              <a:t>—GDP </a:t>
            </a:r>
            <a:r>
              <a:rPr dirty="0" sz="1150" spc="-45">
                <a:latin typeface="Arial"/>
                <a:cs typeface="Arial"/>
              </a:rPr>
              <a:t>calculated 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account 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325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changes </a:t>
            </a:r>
            <a:r>
              <a:rPr dirty="0" sz="1150" spc="-20">
                <a:latin typeface="Arial"/>
                <a:cs typeface="Arial"/>
              </a:rPr>
              <a:t>in  </a:t>
            </a:r>
            <a:r>
              <a:rPr dirty="0" sz="1150" spc="-45">
                <a:latin typeface="Arial"/>
                <a:cs typeface="Arial"/>
              </a:rPr>
              <a:t>currency </a:t>
            </a:r>
            <a:r>
              <a:rPr dirty="0" sz="1150" spc="-65">
                <a:latin typeface="Arial"/>
                <a:cs typeface="Arial"/>
              </a:rPr>
              <a:t>values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price </a:t>
            </a:r>
            <a:r>
              <a:rPr dirty="0" sz="1150" spc="-80">
                <a:latin typeface="Arial"/>
                <a:cs typeface="Arial"/>
              </a:rPr>
              <a:t>changes </a:t>
            </a:r>
            <a:r>
              <a:rPr dirty="0" sz="1150" spc="-110" b="1">
                <a:latin typeface="Arial"/>
                <a:cs typeface="Arial"/>
              </a:rPr>
              <a:t>versus </a:t>
            </a:r>
            <a:r>
              <a:rPr dirty="0" sz="1150" spc="-75" b="1">
                <a:latin typeface="Arial"/>
                <a:cs typeface="Arial"/>
              </a:rPr>
              <a:t>Nominal </a:t>
            </a:r>
            <a:r>
              <a:rPr dirty="0" sz="1150" spc="-120" b="1">
                <a:latin typeface="Arial"/>
                <a:cs typeface="Arial"/>
              </a:rPr>
              <a:t>GDP</a:t>
            </a:r>
            <a:r>
              <a:rPr dirty="0" sz="1150" spc="-120">
                <a:latin typeface="Arial"/>
                <a:cs typeface="Arial"/>
              </a:rPr>
              <a:t>, </a:t>
            </a:r>
            <a:r>
              <a:rPr dirty="0" sz="1150" spc="-160">
                <a:latin typeface="Arial"/>
                <a:cs typeface="Arial"/>
              </a:rPr>
              <a:t>GDP  </a:t>
            </a:r>
            <a:r>
              <a:rPr dirty="0" sz="1150" spc="-60">
                <a:latin typeface="Arial"/>
                <a:cs typeface="Arial"/>
              </a:rPr>
              <a:t>measured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current </a:t>
            </a:r>
            <a:r>
              <a:rPr dirty="0" sz="1150" spc="-40">
                <a:latin typeface="Arial"/>
                <a:cs typeface="Arial"/>
              </a:rPr>
              <a:t>dollars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45">
                <a:latin typeface="Arial"/>
                <a:cs typeface="Arial"/>
              </a:rPr>
              <a:t>components </a:t>
            </a:r>
            <a:r>
              <a:rPr dirty="0" sz="1150" spc="-50">
                <a:latin typeface="Arial"/>
                <a:cs typeface="Arial"/>
              </a:rPr>
              <a:t>valued </a:t>
            </a:r>
            <a:r>
              <a:rPr dirty="0" sz="1150" spc="-15">
                <a:latin typeface="Arial"/>
                <a:cs typeface="Arial"/>
              </a:rPr>
              <a:t>at  </a:t>
            </a:r>
            <a:r>
              <a:rPr dirty="0" sz="1150" spc="-25">
                <a:latin typeface="Arial"/>
                <a:cs typeface="Arial"/>
              </a:rPr>
              <a:t>current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prices.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marL="1840864" marR="5715" indent="-228600">
              <a:lnSpc>
                <a:spcPct val="101699"/>
              </a:lnSpc>
              <a:buFont typeface="Arial"/>
              <a:buAutoNum type="arabicPeriod"/>
              <a:tabLst>
                <a:tab pos="1841500" algn="l"/>
              </a:tabLst>
            </a:pPr>
            <a:r>
              <a:rPr dirty="0" sz="1150" spc="-110" b="1">
                <a:latin typeface="Arial"/>
                <a:cs typeface="Arial"/>
              </a:rPr>
              <a:t>Purchasing </a:t>
            </a:r>
            <a:r>
              <a:rPr dirty="0" sz="1150" spc="-80" b="1">
                <a:latin typeface="Arial"/>
                <a:cs typeface="Arial"/>
              </a:rPr>
              <a:t>Power </a:t>
            </a:r>
            <a:r>
              <a:rPr dirty="0" sz="1150" spc="-60" b="1">
                <a:latin typeface="Arial"/>
                <a:cs typeface="Arial"/>
              </a:rPr>
              <a:t>Parity</a:t>
            </a:r>
            <a:r>
              <a:rPr dirty="0" sz="1150" spc="-60">
                <a:latin typeface="Arial"/>
                <a:cs typeface="Arial"/>
              </a:rPr>
              <a:t>—Principle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75">
                <a:latin typeface="Arial"/>
                <a:cs typeface="Arial"/>
              </a:rPr>
              <a:t>exchange </a:t>
            </a:r>
            <a:r>
              <a:rPr dirty="0" sz="1150" spc="-45">
                <a:latin typeface="Arial"/>
                <a:cs typeface="Arial"/>
              </a:rPr>
              <a:t>rates </a:t>
            </a:r>
            <a:r>
              <a:rPr dirty="0" sz="1150" spc="-50">
                <a:latin typeface="Arial"/>
                <a:cs typeface="Arial"/>
              </a:rPr>
              <a:t>are  </a:t>
            </a:r>
            <a:r>
              <a:rPr dirty="0" sz="1150" spc="-45">
                <a:latin typeface="Arial"/>
                <a:cs typeface="Arial"/>
              </a:rPr>
              <a:t>set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so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prices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similar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0">
                <a:latin typeface="Arial"/>
                <a:cs typeface="Arial"/>
              </a:rPr>
              <a:t>different  </a:t>
            </a:r>
            <a:r>
              <a:rPr dirty="0" sz="1150" spc="-35">
                <a:latin typeface="Arial"/>
                <a:cs typeface="Arial"/>
              </a:rPr>
              <a:t>countries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same.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383665" marR="6350" indent="-251460">
              <a:lnSpc>
                <a:spcPct val="101699"/>
              </a:lnSpc>
              <a:buFont typeface="Arial"/>
              <a:buAutoNum type="romanLcPeriod" startAt="3"/>
              <a:tabLst>
                <a:tab pos="1384300" algn="l"/>
              </a:tabLst>
            </a:pPr>
            <a:r>
              <a:rPr dirty="0" sz="1150" spc="-70" b="1">
                <a:latin typeface="Arial"/>
                <a:cs typeface="Arial"/>
              </a:rPr>
              <a:t>Productivity</a:t>
            </a:r>
            <a:r>
              <a:rPr dirty="0" sz="1150" spc="-70">
                <a:latin typeface="Arial"/>
                <a:cs typeface="Arial"/>
              </a:rPr>
              <a:t>—Measure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20">
                <a:latin typeface="Arial"/>
                <a:cs typeface="Arial"/>
              </a:rPr>
              <a:t>growth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0">
                <a:latin typeface="Arial"/>
                <a:cs typeface="Arial"/>
              </a:rPr>
              <a:t>compares </a:t>
            </a:r>
            <a:r>
              <a:rPr dirty="0" sz="1150" spc="-35">
                <a:latin typeface="Arial"/>
                <a:cs typeface="Arial"/>
              </a:rPr>
              <a:t>how  </a:t>
            </a:r>
            <a:r>
              <a:rPr dirty="0" sz="1150" spc="-50">
                <a:latin typeface="Arial"/>
                <a:cs typeface="Arial"/>
              </a:rPr>
              <a:t>much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5">
                <a:latin typeface="Arial"/>
                <a:cs typeface="Arial"/>
              </a:rPr>
              <a:t>system </a:t>
            </a:r>
            <a:r>
              <a:rPr dirty="0" sz="1150" spc="-55">
                <a:latin typeface="Arial"/>
                <a:cs typeface="Arial"/>
              </a:rPr>
              <a:t>produces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resources needed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produce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it.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romanLcPeriod" startAt="3"/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AutoNum type="romanLcPeriod" startAt="3"/>
            </a:pPr>
            <a:endParaRPr sz="13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factors which </a:t>
            </a:r>
            <a:r>
              <a:rPr dirty="0" sz="1150" spc="-75">
                <a:latin typeface="Arial"/>
                <a:cs typeface="Arial"/>
              </a:rPr>
              <a:t>can </a:t>
            </a:r>
            <a:r>
              <a:rPr dirty="0" sz="1150" spc="-5">
                <a:latin typeface="Arial"/>
                <a:cs typeface="Arial"/>
              </a:rPr>
              <a:t>inhibit </a:t>
            </a:r>
            <a:r>
              <a:rPr dirty="0" sz="1150" spc="-20">
                <a:latin typeface="Arial"/>
                <a:cs typeface="Arial"/>
              </a:rPr>
              <a:t>the growth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65">
                <a:latin typeface="Arial"/>
                <a:cs typeface="Arial"/>
              </a:rPr>
              <a:t>system  </a:t>
            </a:r>
            <a:r>
              <a:rPr dirty="0" sz="1150" spc="-40">
                <a:latin typeface="Arial"/>
                <a:cs typeface="Arial"/>
              </a:rPr>
              <a:t>including:</a:t>
            </a:r>
            <a:endParaRPr sz="1150">
              <a:latin typeface="Arial"/>
              <a:cs typeface="Arial"/>
            </a:endParaRPr>
          </a:p>
          <a:p>
            <a:pPr algn="just" lvl="1" marL="1840864" marR="6350" indent="-228600">
              <a:lnSpc>
                <a:spcPct val="101699"/>
              </a:lnSpc>
              <a:buFont typeface="Arial"/>
              <a:buAutoNum type="arabicPeriod"/>
              <a:tabLst>
                <a:tab pos="1841500" algn="l"/>
              </a:tabLst>
            </a:pPr>
            <a:r>
              <a:rPr dirty="0" sz="1150" spc="-100" b="1">
                <a:latin typeface="Arial"/>
                <a:cs typeface="Arial"/>
              </a:rPr>
              <a:t>Balance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65" b="1">
                <a:latin typeface="Arial"/>
                <a:cs typeface="Arial"/>
              </a:rPr>
              <a:t>Trade</a:t>
            </a:r>
            <a:r>
              <a:rPr dirty="0" sz="1150" spc="-65">
                <a:latin typeface="Arial"/>
                <a:cs typeface="Arial"/>
              </a:rPr>
              <a:t>—the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55">
                <a:latin typeface="Arial"/>
                <a:cs typeface="Arial"/>
              </a:rPr>
              <a:t>value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products 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country </a:t>
            </a:r>
            <a:r>
              <a:rPr dirty="0" sz="1150" spc="-40">
                <a:latin typeface="Arial"/>
                <a:cs typeface="Arial"/>
              </a:rPr>
              <a:t>exports </a:t>
            </a:r>
            <a:r>
              <a:rPr dirty="0" sz="1150" spc="-50">
                <a:latin typeface="Arial"/>
                <a:cs typeface="Arial"/>
              </a:rPr>
              <a:t>minus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55">
                <a:latin typeface="Arial"/>
                <a:cs typeface="Arial"/>
              </a:rPr>
              <a:t>value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imported  </a:t>
            </a:r>
            <a:r>
              <a:rPr dirty="0" sz="1150" spc="-35">
                <a:latin typeface="Arial"/>
                <a:cs typeface="Arial"/>
              </a:rPr>
              <a:t>products.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lvl="2" marL="2298065" marR="5715" indent="-228600">
              <a:lnSpc>
                <a:spcPct val="101299"/>
              </a:lnSpc>
              <a:buFont typeface="Arial"/>
              <a:buAutoNum type="alphaLcPeriod"/>
              <a:tabLst>
                <a:tab pos="2298700" algn="l"/>
              </a:tabLst>
            </a:pPr>
            <a:r>
              <a:rPr dirty="0" sz="1150" spc="-80" b="1">
                <a:latin typeface="Arial"/>
                <a:cs typeface="Arial"/>
              </a:rPr>
              <a:t>Trade </a:t>
            </a:r>
            <a:r>
              <a:rPr dirty="0" sz="1150" spc="-110" b="1">
                <a:latin typeface="Arial"/>
                <a:cs typeface="Arial"/>
              </a:rPr>
              <a:t>Surplus </a:t>
            </a:r>
            <a:r>
              <a:rPr dirty="0" sz="1150" spc="-110">
                <a:latin typeface="Arial"/>
                <a:cs typeface="Arial"/>
              </a:rPr>
              <a:t>—A </a:t>
            </a:r>
            <a:r>
              <a:rPr dirty="0" sz="1150" spc="-35">
                <a:latin typeface="Arial"/>
                <a:cs typeface="Arial"/>
              </a:rPr>
              <a:t>positive </a:t>
            </a:r>
            <a:r>
              <a:rPr dirty="0" sz="1150" spc="-60">
                <a:latin typeface="Arial"/>
                <a:cs typeface="Arial"/>
              </a:rPr>
              <a:t>balance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trade </a:t>
            </a:r>
            <a:r>
              <a:rPr dirty="0" sz="1150" spc="-40">
                <a:latin typeface="Arial"/>
                <a:cs typeface="Arial"/>
              </a:rPr>
              <a:t>results  when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country </a:t>
            </a:r>
            <a:r>
              <a:rPr dirty="0" sz="1150" spc="-40">
                <a:latin typeface="Arial"/>
                <a:cs typeface="Arial"/>
              </a:rPr>
              <a:t>exports </a:t>
            </a:r>
            <a:r>
              <a:rPr dirty="0" sz="1150" spc="-60">
                <a:latin typeface="Arial"/>
                <a:cs typeface="Arial"/>
              </a:rPr>
              <a:t>(sells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5">
                <a:latin typeface="Arial"/>
                <a:cs typeface="Arial"/>
              </a:rPr>
              <a:t>countries)  </a:t>
            </a:r>
            <a:r>
              <a:rPr dirty="0" sz="1150" spc="-30">
                <a:latin typeface="Arial"/>
                <a:cs typeface="Arial"/>
              </a:rPr>
              <a:t>more than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imports </a:t>
            </a:r>
            <a:r>
              <a:rPr dirty="0" sz="1150" spc="-65">
                <a:latin typeface="Arial"/>
                <a:cs typeface="Arial"/>
              </a:rPr>
              <a:t>(buys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40">
                <a:latin typeface="Arial"/>
                <a:cs typeface="Arial"/>
              </a:rPr>
              <a:t>countries).</a:t>
            </a:r>
            <a:endParaRPr sz="11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25"/>
              </a:spcBef>
              <a:buFont typeface="Arial"/>
              <a:buAutoNum type="alphaLcPeriod"/>
            </a:pPr>
            <a:endParaRPr sz="1200">
              <a:latin typeface="Arial"/>
              <a:cs typeface="Arial"/>
            </a:endParaRPr>
          </a:p>
          <a:p>
            <a:pPr algn="just" lvl="2" marL="2298065" marR="6350" indent="-228600">
              <a:lnSpc>
                <a:spcPct val="101699"/>
              </a:lnSpc>
              <a:buFont typeface="Arial"/>
              <a:buAutoNum type="alphaLcPeriod"/>
              <a:tabLst>
                <a:tab pos="2298700" algn="l"/>
              </a:tabLst>
            </a:pPr>
            <a:r>
              <a:rPr dirty="0" sz="1150" spc="-80" b="1">
                <a:latin typeface="Arial"/>
                <a:cs typeface="Arial"/>
              </a:rPr>
              <a:t>Trade </a:t>
            </a:r>
            <a:r>
              <a:rPr dirty="0" sz="1150" spc="-70" b="1">
                <a:latin typeface="Arial"/>
                <a:cs typeface="Arial"/>
              </a:rPr>
              <a:t>Deficit</a:t>
            </a:r>
            <a:r>
              <a:rPr dirty="0" sz="1150" spc="-70">
                <a:latin typeface="Arial"/>
                <a:cs typeface="Arial"/>
              </a:rPr>
              <a:t>—A </a:t>
            </a:r>
            <a:r>
              <a:rPr dirty="0" sz="1150" spc="-50">
                <a:latin typeface="Arial"/>
                <a:cs typeface="Arial"/>
              </a:rPr>
              <a:t>negative </a:t>
            </a:r>
            <a:r>
              <a:rPr dirty="0" sz="1150" spc="-60">
                <a:latin typeface="Arial"/>
                <a:cs typeface="Arial"/>
              </a:rPr>
              <a:t>balance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trade </a:t>
            </a:r>
            <a:r>
              <a:rPr dirty="0" sz="1150" spc="-40">
                <a:latin typeface="Arial"/>
                <a:cs typeface="Arial"/>
              </a:rPr>
              <a:t>results  when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country </a:t>
            </a:r>
            <a:r>
              <a:rPr dirty="0" sz="1150" spc="-25">
                <a:latin typeface="Arial"/>
                <a:cs typeface="Arial"/>
              </a:rPr>
              <a:t>imports </a:t>
            </a:r>
            <a:r>
              <a:rPr dirty="0" sz="1150" spc="-30">
                <a:latin typeface="Arial"/>
                <a:cs typeface="Arial"/>
              </a:rPr>
              <a:t>more than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exports.</a:t>
            </a:r>
            <a:endParaRPr sz="11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20"/>
              </a:spcBef>
              <a:buFont typeface="Arial"/>
              <a:buAutoNum type="alphaLcPeriod"/>
            </a:pPr>
            <a:endParaRPr sz="1200">
              <a:latin typeface="Arial"/>
              <a:cs typeface="Arial"/>
            </a:endParaRPr>
          </a:p>
          <a:p>
            <a:pPr algn="just" lvl="2" marL="2298065" marR="6985" indent="-228600">
              <a:lnSpc>
                <a:spcPct val="101699"/>
              </a:lnSpc>
              <a:spcBef>
                <a:spcPts val="5"/>
              </a:spcBef>
              <a:buFont typeface="Arial"/>
              <a:buAutoNum type="alphaLcPeriod"/>
              <a:tabLst>
                <a:tab pos="2298700" algn="l"/>
              </a:tabLst>
            </a:pPr>
            <a:r>
              <a:rPr dirty="0" sz="1150" spc="-60" b="1">
                <a:latin typeface="Arial"/>
                <a:cs typeface="Arial"/>
              </a:rPr>
              <a:t>National </a:t>
            </a:r>
            <a:r>
              <a:rPr dirty="0" sz="1150" spc="-50" b="1">
                <a:latin typeface="Arial"/>
                <a:cs typeface="Arial"/>
              </a:rPr>
              <a:t>Debt</a:t>
            </a:r>
            <a:r>
              <a:rPr dirty="0" sz="1150" spc="-50">
                <a:latin typeface="Arial"/>
                <a:cs typeface="Arial"/>
              </a:rPr>
              <a:t>—Amount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money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government  </a:t>
            </a:r>
            <a:r>
              <a:rPr dirty="0" sz="1150" spc="-60">
                <a:latin typeface="Arial"/>
                <a:cs typeface="Arial"/>
              </a:rPr>
              <a:t>owes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creditors.</a:t>
            </a:r>
            <a:endParaRPr sz="11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45"/>
              </a:spcBef>
              <a:buFont typeface="Arial"/>
              <a:buAutoNum type="alphaLcPeriod"/>
            </a:pPr>
            <a:endParaRPr sz="1200">
              <a:latin typeface="Arial"/>
              <a:cs typeface="Arial"/>
            </a:endParaRPr>
          </a:p>
          <a:p>
            <a:pPr algn="just" lvl="2" marL="927100" indent="-229235">
              <a:lnSpc>
                <a:spcPct val="100000"/>
              </a:lnSpc>
              <a:buFont typeface="Arial"/>
              <a:buAutoNum type="alphaLcPeriod"/>
              <a:tabLst>
                <a:tab pos="927100" algn="l"/>
              </a:tabLst>
            </a:pPr>
            <a:r>
              <a:rPr dirty="0" sz="1150" spc="-114" b="1">
                <a:latin typeface="Arial"/>
                <a:cs typeface="Arial"/>
              </a:rPr>
              <a:t>Economic</a:t>
            </a:r>
            <a:r>
              <a:rPr dirty="0" sz="1150" spc="-65" b="1">
                <a:latin typeface="Arial"/>
                <a:cs typeface="Arial"/>
              </a:rPr>
              <a:t> Stability</a:t>
            </a:r>
            <a:endParaRPr sz="1150">
              <a:latin typeface="Arial"/>
              <a:cs typeface="Arial"/>
            </a:endParaRPr>
          </a:p>
          <a:p>
            <a:pPr algn="just" marL="926465" marR="17843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Condition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amount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money </a:t>
            </a:r>
            <a:r>
              <a:rPr dirty="0" sz="1150" spc="-50">
                <a:latin typeface="Arial"/>
                <a:cs typeface="Arial"/>
              </a:rPr>
              <a:t>available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the quantity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 spc="-45">
                <a:latin typeface="Arial"/>
                <a:cs typeface="Arial"/>
              </a:rPr>
              <a:t>produced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growing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30">
                <a:latin typeface="Arial"/>
                <a:cs typeface="Arial"/>
              </a:rPr>
              <a:t>about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80">
                <a:latin typeface="Arial"/>
                <a:cs typeface="Arial"/>
              </a:rPr>
              <a:t>same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rate.</a:t>
            </a:r>
            <a:endParaRPr sz="1150">
              <a:latin typeface="Arial"/>
              <a:cs typeface="Arial"/>
            </a:endParaRPr>
          </a:p>
          <a:p>
            <a:pPr algn="just" marL="926465">
              <a:lnSpc>
                <a:spcPct val="100000"/>
              </a:lnSpc>
              <a:spcBef>
                <a:spcPts val="25"/>
              </a:spcBef>
            </a:pPr>
            <a:r>
              <a:rPr dirty="0" sz="1150" spc="-65">
                <a:latin typeface="Arial"/>
                <a:cs typeface="Arial"/>
              </a:rPr>
              <a:t>Factors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25">
                <a:latin typeface="Arial"/>
                <a:cs typeface="Arial"/>
              </a:rPr>
              <a:t>threaten stability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include: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16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306" y="892559"/>
            <a:ext cx="5513705" cy="430212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383665" marR="6350" indent="-184785">
              <a:lnSpc>
                <a:spcPct val="101699"/>
              </a:lnSpc>
              <a:spcBef>
                <a:spcPts val="75"/>
              </a:spcBef>
              <a:buFont typeface="Arial"/>
              <a:buAutoNum type="romanLcPeriod"/>
              <a:tabLst>
                <a:tab pos="1384300" algn="l"/>
              </a:tabLst>
            </a:pPr>
            <a:r>
              <a:rPr dirty="0" sz="1150" spc="-60" b="1">
                <a:latin typeface="Arial"/>
                <a:cs typeface="Arial"/>
              </a:rPr>
              <a:t>Inflation</a:t>
            </a:r>
            <a:r>
              <a:rPr dirty="0" sz="1150" spc="-60">
                <a:latin typeface="Arial"/>
                <a:cs typeface="Arial"/>
              </a:rPr>
              <a:t>—Occurrence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widespread </a:t>
            </a:r>
            <a:r>
              <a:rPr dirty="0" sz="1150" spc="-40">
                <a:latin typeface="Arial"/>
                <a:cs typeface="Arial"/>
              </a:rPr>
              <a:t>price </a:t>
            </a:r>
            <a:r>
              <a:rPr dirty="0" sz="1150" spc="-70">
                <a:latin typeface="Arial"/>
                <a:cs typeface="Arial"/>
              </a:rPr>
              <a:t>increases </a:t>
            </a:r>
            <a:r>
              <a:rPr dirty="0" sz="1150" spc="-20">
                <a:latin typeface="Arial"/>
                <a:cs typeface="Arial"/>
              </a:rPr>
              <a:t>throughout </a:t>
            </a:r>
            <a:r>
              <a:rPr dirty="0" sz="1150" spc="-65">
                <a:latin typeface="Arial"/>
                <a:cs typeface="Arial"/>
              </a:rPr>
              <a:t>an  </a:t>
            </a:r>
            <a:r>
              <a:rPr dirty="0" sz="1150" spc="-50">
                <a:latin typeface="Arial"/>
                <a:cs typeface="Arial"/>
              </a:rPr>
              <a:t>economic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system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romanLcPeriod"/>
            </a:pPr>
            <a:endParaRPr sz="12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</a:pPr>
            <a:r>
              <a:rPr dirty="0" sz="1150" spc="-50">
                <a:latin typeface="Arial"/>
                <a:cs typeface="Arial"/>
              </a:rPr>
              <a:t>Measuring </a:t>
            </a:r>
            <a:r>
              <a:rPr dirty="0" sz="1150" spc="-20">
                <a:latin typeface="Arial"/>
                <a:cs typeface="Arial"/>
              </a:rPr>
              <a:t>Inflation: </a:t>
            </a:r>
            <a:r>
              <a:rPr dirty="0" sz="1150" spc="-90" b="1">
                <a:latin typeface="Arial"/>
                <a:cs typeface="Arial"/>
              </a:rPr>
              <a:t>The </a:t>
            </a:r>
            <a:r>
              <a:rPr dirty="0" sz="1150" spc="-80" b="1">
                <a:latin typeface="Arial"/>
                <a:cs typeface="Arial"/>
              </a:rPr>
              <a:t>CPI</a:t>
            </a:r>
            <a:r>
              <a:rPr dirty="0" sz="1150" spc="-80">
                <a:latin typeface="Arial"/>
                <a:cs typeface="Arial"/>
              </a:rPr>
              <a:t>—Measure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prices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typical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60">
                <a:latin typeface="Arial"/>
                <a:cs typeface="Arial"/>
              </a:rPr>
              <a:t>purchased </a:t>
            </a:r>
            <a:r>
              <a:rPr dirty="0" sz="1150" spc="-50">
                <a:latin typeface="Arial"/>
                <a:cs typeface="Arial"/>
              </a:rPr>
              <a:t>by  </a:t>
            </a:r>
            <a:r>
              <a:rPr dirty="0" sz="1150" spc="-65">
                <a:latin typeface="Arial"/>
                <a:cs typeface="Arial"/>
              </a:rPr>
              <a:t>consumers </a:t>
            </a:r>
            <a:r>
              <a:rPr dirty="0" sz="1150" spc="-35">
                <a:latin typeface="Arial"/>
                <a:cs typeface="Arial"/>
              </a:rPr>
              <a:t>living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0">
                <a:latin typeface="Arial"/>
                <a:cs typeface="Arial"/>
              </a:rPr>
              <a:t>urban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areas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383665" marR="5080" indent="-218440">
              <a:lnSpc>
                <a:spcPct val="101699"/>
              </a:lnSpc>
              <a:buFont typeface="Arial"/>
              <a:buAutoNum type="romanLcPeriod" startAt="2"/>
              <a:tabLst>
                <a:tab pos="1384300" algn="l"/>
              </a:tabLst>
            </a:pPr>
            <a:r>
              <a:rPr dirty="0" sz="1150" spc="-75" b="1">
                <a:latin typeface="Arial"/>
                <a:cs typeface="Arial"/>
              </a:rPr>
              <a:t>Unemployment</a:t>
            </a:r>
            <a:r>
              <a:rPr dirty="0" sz="1150" spc="-75">
                <a:latin typeface="Arial"/>
                <a:cs typeface="Arial"/>
              </a:rPr>
              <a:t>—Level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joblessness </a:t>
            </a:r>
            <a:r>
              <a:rPr dirty="0" sz="1150" spc="-65">
                <a:latin typeface="Arial"/>
                <a:cs typeface="Arial"/>
              </a:rPr>
              <a:t>among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40">
                <a:latin typeface="Arial"/>
                <a:cs typeface="Arial"/>
              </a:rPr>
              <a:t>actively </a:t>
            </a:r>
            <a:r>
              <a:rPr dirty="0" sz="1150" spc="-65">
                <a:latin typeface="Arial"/>
                <a:cs typeface="Arial"/>
              </a:rPr>
              <a:t>seeking  </a:t>
            </a:r>
            <a:r>
              <a:rPr dirty="0" sz="1150" spc="-20">
                <a:latin typeface="Arial"/>
                <a:cs typeface="Arial"/>
              </a:rPr>
              <a:t>work in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55">
                <a:latin typeface="Arial"/>
                <a:cs typeface="Arial"/>
              </a:rPr>
              <a:t>system. </a:t>
            </a:r>
            <a:r>
              <a:rPr dirty="0" sz="1150" spc="-40">
                <a:latin typeface="Arial"/>
                <a:cs typeface="Arial"/>
              </a:rPr>
              <a:t>Unemployment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symptom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50">
                <a:latin typeface="Arial"/>
                <a:cs typeface="Arial"/>
              </a:rPr>
              <a:t>economic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downturns.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romanLcPeriod" startAt="2"/>
            </a:pPr>
            <a:endParaRPr sz="1200">
              <a:latin typeface="Arial"/>
              <a:cs typeface="Arial"/>
            </a:endParaRPr>
          </a:p>
          <a:p>
            <a:pPr lvl="1" marL="1840864" indent="-229235">
              <a:lnSpc>
                <a:spcPct val="100000"/>
              </a:lnSpc>
              <a:buAutoNum type="arabicPeriod"/>
              <a:tabLst>
                <a:tab pos="1841500" algn="l"/>
              </a:tabLst>
            </a:pPr>
            <a:r>
              <a:rPr dirty="0" sz="1150" spc="-90">
                <a:latin typeface="Arial"/>
                <a:cs typeface="Arial"/>
              </a:rPr>
              <a:t>Recessions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3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Depressions</a:t>
            </a:r>
            <a:endParaRPr sz="1150">
              <a:latin typeface="Arial"/>
              <a:cs typeface="Arial"/>
            </a:endParaRPr>
          </a:p>
          <a:p>
            <a:pPr marL="1840864" marR="484505">
              <a:lnSpc>
                <a:spcPct val="101699"/>
              </a:lnSpc>
            </a:pPr>
            <a:r>
              <a:rPr dirty="0" sz="1150" spc="-95" b="1">
                <a:latin typeface="Arial"/>
                <a:cs typeface="Arial"/>
              </a:rPr>
              <a:t>Recession</a:t>
            </a:r>
            <a:r>
              <a:rPr dirty="0" sz="1150" spc="-95">
                <a:latin typeface="Arial"/>
                <a:cs typeface="Arial"/>
              </a:rPr>
              <a:t>—Period </a:t>
            </a:r>
            <a:r>
              <a:rPr dirty="0" sz="1150" spc="-35">
                <a:latin typeface="Arial"/>
                <a:cs typeface="Arial"/>
              </a:rPr>
              <a:t>during which </a:t>
            </a:r>
            <a:r>
              <a:rPr dirty="0" sz="1150" spc="-65">
                <a:latin typeface="Arial"/>
                <a:cs typeface="Arial"/>
              </a:rPr>
              <a:t>aggregate </a:t>
            </a:r>
            <a:r>
              <a:rPr dirty="0" sz="1150" spc="-10">
                <a:latin typeface="Arial"/>
                <a:cs typeface="Arial"/>
              </a:rPr>
              <a:t>output, </a:t>
            </a:r>
            <a:r>
              <a:rPr dirty="0" sz="1150" spc="-110">
                <a:latin typeface="Arial"/>
                <a:cs typeface="Arial"/>
              </a:rPr>
              <a:t>as  </a:t>
            </a:r>
            <a:r>
              <a:rPr dirty="0" sz="1150" spc="-60">
                <a:latin typeface="Arial"/>
                <a:cs typeface="Arial"/>
              </a:rPr>
              <a:t>measured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5">
                <a:latin typeface="Arial"/>
                <a:cs typeface="Arial"/>
              </a:rPr>
              <a:t>real </a:t>
            </a:r>
            <a:r>
              <a:rPr dirty="0" sz="1150" spc="-130">
                <a:latin typeface="Arial"/>
                <a:cs typeface="Arial"/>
              </a:rPr>
              <a:t>GDP,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declines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lvl="1" marL="1840864" indent="-229235">
              <a:lnSpc>
                <a:spcPct val="100000"/>
              </a:lnSpc>
              <a:spcBef>
                <a:spcPts val="5"/>
              </a:spcBef>
              <a:buFont typeface="Arial"/>
              <a:buAutoNum type="arabicPeriod" startAt="2"/>
              <a:tabLst>
                <a:tab pos="1841500" algn="l"/>
              </a:tabLst>
            </a:pPr>
            <a:r>
              <a:rPr dirty="0" sz="1150" spc="-65" b="1">
                <a:latin typeface="Arial"/>
                <a:cs typeface="Arial"/>
              </a:rPr>
              <a:t>Depression</a:t>
            </a:r>
            <a:r>
              <a:rPr dirty="0" sz="1150" spc="-65">
                <a:latin typeface="Arial"/>
                <a:cs typeface="Arial"/>
              </a:rPr>
              <a:t>—Particularly severe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long-lasting</a:t>
            </a:r>
            <a:r>
              <a:rPr dirty="0" sz="1150" spc="-60">
                <a:latin typeface="Arial"/>
                <a:cs typeface="Arial"/>
              </a:rPr>
              <a:t> recession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Arial"/>
              <a:cs typeface="Arial"/>
            </a:endParaRPr>
          </a:p>
          <a:p>
            <a:pPr marL="926465" indent="-229235">
              <a:lnSpc>
                <a:spcPct val="100000"/>
              </a:lnSpc>
              <a:spcBef>
                <a:spcPts val="5"/>
              </a:spcBef>
              <a:buAutoNum type="alphaLcPeriod" startAt="5"/>
              <a:tabLst>
                <a:tab pos="927100" algn="l"/>
              </a:tabLst>
            </a:pPr>
            <a:r>
              <a:rPr dirty="0" sz="1150" spc="-80" b="1">
                <a:latin typeface="Arial"/>
                <a:cs typeface="Arial"/>
              </a:rPr>
              <a:t>Managing </a:t>
            </a:r>
            <a:r>
              <a:rPr dirty="0" sz="1150" spc="-45" b="1">
                <a:latin typeface="Arial"/>
                <a:cs typeface="Arial"/>
              </a:rPr>
              <a:t>the</a:t>
            </a:r>
            <a:r>
              <a:rPr dirty="0" sz="1150" spc="-50" b="1">
                <a:latin typeface="Arial"/>
                <a:cs typeface="Arial"/>
              </a:rPr>
              <a:t> </a:t>
            </a:r>
            <a:r>
              <a:rPr dirty="0" sz="1150" spc="-120" b="1">
                <a:latin typeface="Arial"/>
                <a:cs typeface="Arial"/>
              </a:rPr>
              <a:t>Economy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lphaLcPeriod" startAt="5"/>
            </a:pPr>
            <a:endParaRPr sz="1200">
              <a:latin typeface="Arial"/>
              <a:cs typeface="Arial"/>
            </a:endParaRPr>
          </a:p>
          <a:p>
            <a:pPr algn="just" lvl="1" marL="1383665" marR="7620" indent="-184785">
              <a:lnSpc>
                <a:spcPct val="101699"/>
              </a:lnSpc>
              <a:spcBef>
                <a:spcPts val="5"/>
              </a:spcBef>
              <a:buFont typeface="Arial"/>
              <a:buAutoNum type="romanLcPeriod"/>
              <a:tabLst>
                <a:tab pos="1384300" algn="l"/>
              </a:tabLst>
            </a:pPr>
            <a:r>
              <a:rPr dirty="0" sz="1150" spc="-114" b="1">
                <a:latin typeface="Arial"/>
                <a:cs typeface="Arial"/>
              </a:rPr>
              <a:t>Fiscal </a:t>
            </a:r>
            <a:r>
              <a:rPr dirty="0" sz="1150" spc="-70" b="1">
                <a:latin typeface="Arial"/>
                <a:cs typeface="Arial"/>
              </a:rPr>
              <a:t>policies</a:t>
            </a:r>
            <a:r>
              <a:rPr dirty="0" sz="1150" spc="-70">
                <a:latin typeface="Arial"/>
                <a:cs typeface="Arial"/>
              </a:rPr>
              <a:t>—Government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45">
                <a:latin typeface="Arial"/>
                <a:cs typeface="Arial"/>
              </a:rPr>
              <a:t>policies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0">
                <a:latin typeface="Arial"/>
                <a:cs typeface="Arial"/>
              </a:rPr>
              <a:t>determine </a:t>
            </a:r>
            <a:r>
              <a:rPr dirty="0" sz="1150" spc="-35">
                <a:latin typeface="Arial"/>
                <a:cs typeface="Arial"/>
              </a:rPr>
              <a:t>how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government </a:t>
            </a:r>
            <a:r>
              <a:rPr dirty="0" sz="1150" spc="-45">
                <a:latin typeface="Arial"/>
                <a:cs typeface="Arial"/>
              </a:rPr>
              <a:t>collects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75">
                <a:latin typeface="Arial"/>
                <a:cs typeface="Arial"/>
              </a:rPr>
              <a:t>spends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revenues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Arial"/>
              <a:buAutoNum type="romanLcPeriod"/>
            </a:pPr>
            <a:endParaRPr sz="1200">
              <a:latin typeface="Arial"/>
              <a:cs typeface="Arial"/>
            </a:endParaRPr>
          </a:p>
          <a:p>
            <a:pPr algn="just" lvl="1" marL="1383665" marR="7620" indent="-218440">
              <a:lnSpc>
                <a:spcPct val="101699"/>
              </a:lnSpc>
              <a:buFont typeface="Arial"/>
              <a:buAutoNum type="romanLcPeriod"/>
              <a:tabLst>
                <a:tab pos="1384300" algn="l"/>
              </a:tabLst>
            </a:pPr>
            <a:r>
              <a:rPr dirty="0" sz="1150" spc="-50" b="1">
                <a:latin typeface="Arial"/>
                <a:cs typeface="Arial"/>
              </a:rPr>
              <a:t>Monetary </a:t>
            </a:r>
            <a:r>
              <a:rPr dirty="0" sz="1150" spc="-70" b="1">
                <a:latin typeface="Arial"/>
                <a:cs typeface="Arial"/>
              </a:rPr>
              <a:t>policies</a:t>
            </a:r>
            <a:r>
              <a:rPr dirty="0" sz="1150" spc="-70">
                <a:latin typeface="Arial"/>
                <a:cs typeface="Arial"/>
              </a:rPr>
              <a:t>—Government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45">
                <a:latin typeface="Arial"/>
                <a:cs typeface="Arial"/>
              </a:rPr>
              <a:t>policies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0">
                <a:latin typeface="Arial"/>
                <a:cs typeface="Arial"/>
              </a:rPr>
              <a:t>determine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0">
                <a:latin typeface="Arial"/>
                <a:cs typeface="Arial"/>
              </a:rPr>
              <a:t>size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nation’s </a:t>
            </a:r>
            <a:r>
              <a:rPr dirty="0" sz="1150" spc="-35">
                <a:latin typeface="Arial"/>
                <a:cs typeface="Arial"/>
              </a:rPr>
              <a:t>monetary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supply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17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50444" y="5528566"/>
            <a:ext cx="1631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01899" y="5528566"/>
            <a:ext cx="4138929" cy="558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70" b="1">
                <a:latin typeface="Arial"/>
                <a:cs typeface="Arial"/>
              </a:rPr>
              <a:t>Stabilization </a:t>
            </a:r>
            <a:r>
              <a:rPr dirty="0" sz="1150" spc="-65" b="1">
                <a:latin typeface="Arial"/>
                <a:cs typeface="Arial"/>
              </a:rPr>
              <a:t>policy</a:t>
            </a:r>
            <a:r>
              <a:rPr dirty="0" sz="1150" spc="-65">
                <a:latin typeface="Arial"/>
                <a:cs typeface="Arial"/>
              </a:rPr>
              <a:t>—Government </a:t>
            </a:r>
            <a:r>
              <a:rPr dirty="0" sz="1150" spc="-35">
                <a:latin typeface="Arial"/>
                <a:cs typeface="Arial"/>
              </a:rPr>
              <a:t>policy, </a:t>
            </a:r>
            <a:r>
              <a:rPr dirty="0" sz="1150" spc="-50">
                <a:latin typeface="Arial"/>
                <a:cs typeface="Arial"/>
              </a:rPr>
              <a:t>embracing </a:t>
            </a:r>
            <a:r>
              <a:rPr dirty="0" sz="1150" spc="-15">
                <a:latin typeface="Arial"/>
                <a:cs typeface="Arial"/>
              </a:rPr>
              <a:t>both </a:t>
            </a:r>
            <a:r>
              <a:rPr dirty="0" sz="1150" spc="-45">
                <a:latin typeface="Arial"/>
                <a:cs typeface="Arial"/>
              </a:rPr>
              <a:t>fiscal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35">
                <a:latin typeface="Arial"/>
                <a:cs typeface="Arial"/>
              </a:rPr>
              <a:t>monetary </a:t>
            </a:r>
            <a:r>
              <a:rPr dirty="0" sz="1150" spc="-45">
                <a:latin typeface="Arial"/>
                <a:cs typeface="Arial"/>
              </a:rPr>
              <a:t>policies, </a:t>
            </a:r>
            <a:r>
              <a:rPr dirty="0" sz="1150" spc="-60">
                <a:latin typeface="Arial"/>
                <a:cs typeface="Arial"/>
              </a:rPr>
              <a:t>whose </a:t>
            </a:r>
            <a:r>
              <a:rPr dirty="0" sz="1150" spc="-55">
                <a:latin typeface="Arial"/>
                <a:cs typeface="Arial"/>
              </a:rPr>
              <a:t>goal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smooth </a:t>
            </a:r>
            <a:r>
              <a:rPr dirty="0" sz="1150" spc="-10">
                <a:latin typeface="Arial"/>
                <a:cs typeface="Arial"/>
              </a:rPr>
              <a:t>out </a:t>
            </a:r>
            <a:r>
              <a:rPr dirty="0" sz="1150" spc="-25">
                <a:latin typeface="Arial"/>
                <a:cs typeface="Arial"/>
              </a:rPr>
              <a:t>fluctuations </a:t>
            </a:r>
            <a:r>
              <a:rPr dirty="0" sz="1150" spc="-20">
                <a:latin typeface="Arial"/>
                <a:cs typeface="Arial"/>
              </a:rPr>
              <a:t>in  </a:t>
            </a:r>
            <a:r>
              <a:rPr dirty="0" sz="1150" spc="-5">
                <a:latin typeface="Arial"/>
                <a:cs typeface="Arial"/>
              </a:rPr>
              <a:t>output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unemployment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stabilize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prices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44342" y="6241797"/>
            <a:ext cx="4401185" cy="2339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69875" indent="-257810">
              <a:lnSpc>
                <a:spcPct val="100000"/>
              </a:lnSpc>
              <a:spcBef>
                <a:spcPts val="100"/>
              </a:spcBef>
              <a:buAutoNum type="romanLcPeriod" startAt="4"/>
              <a:tabLst>
                <a:tab pos="270510" algn="l"/>
              </a:tabLst>
            </a:pPr>
            <a:r>
              <a:rPr dirty="0" sz="1150" spc="-80" b="1">
                <a:latin typeface="Arial"/>
                <a:cs typeface="Arial"/>
              </a:rPr>
              <a:t>Three </a:t>
            </a:r>
            <a:r>
              <a:rPr dirty="0" sz="1150" spc="-40" b="1">
                <a:latin typeface="Arial"/>
                <a:cs typeface="Arial"/>
              </a:rPr>
              <a:t>Major </a:t>
            </a:r>
            <a:r>
              <a:rPr dirty="0" sz="1150" spc="-125" b="1">
                <a:latin typeface="Arial"/>
                <a:cs typeface="Arial"/>
              </a:rPr>
              <a:t>Forces</a:t>
            </a:r>
            <a:endParaRPr sz="1150">
              <a:latin typeface="Arial"/>
              <a:cs typeface="Arial"/>
            </a:endParaRPr>
          </a:p>
          <a:p>
            <a:pPr algn="just" lvl="1" marL="727075" marR="5080" indent="-228600">
              <a:lnSpc>
                <a:spcPct val="101400"/>
              </a:lnSpc>
              <a:spcBef>
                <a:spcPts val="5"/>
              </a:spcBef>
              <a:buAutoNum type="arabicPeriod"/>
              <a:tabLst>
                <a:tab pos="727710" algn="l"/>
              </a:tabLst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20">
                <a:latin typeface="Arial"/>
                <a:cs typeface="Arial"/>
              </a:rPr>
              <a:t>revolution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30">
                <a:latin typeface="Arial"/>
                <a:cs typeface="Arial"/>
              </a:rPr>
              <a:t>continue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enhance  </a:t>
            </a:r>
            <a:r>
              <a:rPr dirty="0" sz="1150" spc="-20">
                <a:latin typeface="Arial"/>
                <a:cs typeface="Arial"/>
              </a:rPr>
              <a:t>productivity </a:t>
            </a:r>
            <a:r>
              <a:rPr dirty="0" sz="1150" spc="-75">
                <a:latin typeface="Arial"/>
                <a:cs typeface="Arial"/>
              </a:rPr>
              <a:t>across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55">
                <a:latin typeface="Arial"/>
                <a:cs typeface="Arial"/>
              </a:rPr>
              <a:t>sectors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economy, </a:t>
            </a:r>
            <a:r>
              <a:rPr dirty="0" sz="1150" spc="-40">
                <a:latin typeface="Arial"/>
                <a:cs typeface="Arial"/>
              </a:rPr>
              <a:t>most </a:t>
            </a:r>
            <a:r>
              <a:rPr dirty="0" sz="1150" spc="-30">
                <a:latin typeface="Arial"/>
                <a:cs typeface="Arial"/>
              </a:rPr>
              <a:t>notably 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25">
                <a:latin typeface="Arial"/>
                <a:cs typeface="Arial"/>
              </a:rPr>
              <a:t>information-dependent </a:t>
            </a:r>
            <a:r>
              <a:rPr dirty="0" sz="1150" spc="-35">
                <a:latin typeface="Arial"/>
                <a:cs typeface="Arial"/>
              </a:rPr>
              <a:t>industries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40">
                <a:latin typeface="Arial"/>
                <a:cs typeface="Arial"/>
              </a:rPr>
              <a:t>finance, </a:t>
            </a:r>
            <a:r>
              <a:rPr dirty="0" sz="1150" spc="-45">
                <a:latin typeface="Arial"/>
                <a:cs typeface="Arial"/>
              </a:rPr>
              <a:t>media,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wholesale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retail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trade.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lvl="1" marL="727075" marR="6985" indent="-228600">
              <a:lnSpc>
                <a:spcPct val="101699"/>
              </a:lnSpc>
              <a:buAutoNum type="arabicPeriod"/>
              <a:tabLst>
                <a:tab pos="727710" algn="l"/>
              </a:tabLst>
            </a:pPr>
            <a:r>
              <a:rPr dirty="0" sz="1150" spc="-55">
                <a:latin typeface="Arial"/>
                <a:cs typeface="Arial"/>
              </a:rPr>
              <a:t>New </a:t>
            </a:r>
            <a:r>
              <a:rPr dirty="0" sz="1150" spc="-40">
                <a:latin typeface="Arial"/>
                <a:cs typeface="Arial"/>
              </a:rPr>
              <a:t>technological </a:t>
            </a:r>
            <a:r>
              <a:rPr dirty="0" sz="1150" spc="-45">
                <a:latin typeface="Arial"/>
                <a:cs typeface="Arial"/>
              </a:rPr>
              <a:t>breakthroughs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75">
                <a:latin typeface="Arial"/>
                <a:cs typeface="Arial"/>
              </a:rPr>
              <a:t>areas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110">
                <a:latin typeface="Arial"/>
                <a:cs typeface="Arial"/>
              </a:rPr>
              <a:t>as  </a:t>
            </a:r>
            <a:r>
              <a:rPr dirty="0" sz="1150" spc="-35">
                <a:latin typeface="Arial"/>
                <a:cs typeface="Arial"/>
              </a:rPr>
              <a:t>biotechnology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40">
                <a:latin typeface="Arial"/>
                <a:cs typeface="Arial"/>
              </a:rPr>
              <a:t>create </a:t>
            </a:r>
            <a:r>
              <a:rPr dirty="0" sz="1150" spc="-20">
                <a:latin typeface="Arial"/>
                <a:cs typeface="Arial"/>
              </a:rPr>
              <a:t>entirely </a:t>
            </a:r>
            <a:r>
              <a:rPr dirty="0" sz="1150" spc="-40">
                <a:latin typeface="Arial"/>
                <a:cs typeface="Arial"/>
              </a:rPr>
              <a:t>new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industries.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lvl="1" marL="727075" marR="5715" indent="-228600">
              <a:lnSpc>
                <a:spcPct val="101699"/>
              </a:lnSpc>
              <a:buAutoNum type="arabicPeriod"/>
              <a:tabLst>
                <a:tab pos="727710" algn="l"/>
              </a:tabLst>
            </a:pPr>
            <a:r>
              <a:rPr dirty="0" sz="1150" spc="-60">
                <a:latin typeface="Arial"/>
                <a:cs typeface="Arial"/>
              </a:rPr>
              <a:t>Increasing </a:t>
            </a:r>
            <a:r>
              <a:rPr dirty="0" sz="1150" spc="-40">
                <a:latin typeface="Arial"/>
                <a:cs typeface="Arial"/>
              </a:rPr>
              <a:t>globalization </a:t>
            </a:r>
            <a:r>
              <a:rPr dirty="0" sz="1150" spc="-5">
                <a:latin typeface="Arial"/>
                <a:cs typeface="Arial"/>
              </a:rPr>
              <a:t>will </a:t>
            </a:r>
            <a:r>
              <a:rPr dirty="0" sz="1150" spc="-40">
                <a:latin typeface="Arial"/>
                <a:cs typeface="Arial"/>
              </a:rPr>
              <a:t>create </a:t>
            </a:r>
            <a:r>
              <a:rPr dirty="0" sz="1150" spc="-50">
                <a:latin typeface="Arial"/>
                <a:cs typeface="Arial"/>
              </a:rPr>
              <a:t>much </a:t>
            </a:r>
            <a:r>
              <a:rPr dirty="0" sz="1150" spc="-40">
                <a:latin typeface="Arial"/>
                <a:cs typeface="Arial"/>
              </a:rPr>
              <a:t>larger </a:t>
            </a:r>
            <a:r>
              <a:rPr dirty="0" sz="1150" spc="-45">
                <a:latin typeface="Arial"/>
                <a:cs typeface="Arial"/>
              </a:rPr>
              <a:t>markets </a:t>
            </a:r>
            <a:r>
              <a:rPr dirty="0" sz="1150" spc="-25">
                <a:latin typeface="Arial"/>
                <a:cs typeface="Arial"/>
              </a:rPr>
              <a:t>while 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30">
                <a:latin typeface="Arial"/>
                <a:cs typeface="Arial"/>
              </a:rPr>
              <a:t>fostering tougher </a:t>
            </a:r>
            <a:r>
              <a:rPr dirty="0" sz="1150" spc="-20">
                <a:latin typeface="Arial"/>
                <a:cs typeface="Arial"/>
              </a:rPr>
              <a:t>competition </a:t>
            </a:r>
            <a:r>
              <a:rPr dirty="0" sz="1150" spc="-60">
                <a:latin typeface="Arial"/>
                <a:cs typeface="Arial"/>
              </a:rPr>
              <a:t>among </a:t>
            </a:r>
            <a:r>
              <a:rPr dirty="0" sz="1150" spc="-45">
                <a:latin typeface="Arial"/>
                <a:cs typeface="Arial"/>
              </a:rPr>
              <a:t>global </a:t>
            </a:r>
            <a:r>
              <a:rPr dirty="0" sz="1150" spc="-70">
                <a:latin typeface="Arial"/>
                <a:cs typeface="Arial"/>
              </a:rPr>
              <a:t>businesses; 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result, </a:t>
            </a:r>
            <a:r>
              <a:rPr dirty="0" sz="1150" spc="-60">
                <a:latin typeface="Arial"/>
                <a:cs typeface="Arial"/>
              </a:rPr>
              <a:t>companies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need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focus </a:t>
            </a:r>
            <a:r>
              <a:rPr dirty="0" sz="1150" spc="-60">
                <a:latin typeface="Arial"/>
                <a:cs typeface="Arial"/>
              </a:rPr>
              <a:t>even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35">
                <a:latin typeface="Arial"/>
                <a:cs typeface="Arial"/>
              </a:rPr>
              <a:t>on  </a:t>
            </a:r>
            <a:r>
              <a:rPr dirty="0" sz="1150" spc="-30">
                <a:latin typeface="Arial"/>
                <a:cs typeface="Arial"/>
              </a:rPr>
              <a:t>innovation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cost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cutting.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73" y="892559"/>
            <a:ext cx="5514340" cy="815975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384300" marR="5080" indent="-216535">
              <a:lnSpc>
                <a:spcPct val="101699"/>
              </a:lnSpc>
              <a:spcBef>
                <a:spcPts val="75"/>
              </a:spcBef>
            </a:pPr>
            <a:r>
              <a:rPr dirty="0" sz="1150" spc="-45">
                <a:latin typeface="Arial"/>
                <a:cs typeface="Arial"/>
              </a:rPr>
              <a:t>v.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Projected </a:t>
            </a:r>
            <a:r>
              <a:rPr dirty="0" sz="1150" spc="-100" b="1">
                <a:latin typeface="Arial"/>
                <a:cs typeface="Arial"/>
              </a:rPr>
              <a:t>Trends </a:t>
            </a:r>
            <a:r>
              <a:rPr dirty="0" sz="1150" spc="-85" b="1">
                <a:latin typeface="Arial"/>
                <a:cs typeface="Arial"/>
              </a:rPr>
              <a:t>and </a:t>
            </a:r>
            <a:r>
              <a:rPr dirty="0" sz="1150" spc="-60" b="1">
                <a:latin typeface="Arial"/>
                <a:cs typeface="Arial"/>
              </a:rPr>
              <a:t>Patterns</a:t>
            </a:r>
            <a:r>
              <a:rPr dirty="0" sz="1150" spc="-60">
                <a:latin typeface="Arial"/>
                <a:cs typeface="Arial"/>
              </a:rPr>
              <a:t>—there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projections 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near </a:t>
            </a:r>
            <a:r>
              <a:rPr dirty="0" sz="1150" spc="-15">
                <a:latin typeface="Arial"/>
                <a:cs typeface="Arial"/>
              </a:rPr>
              <a:t>future. </a:t>
            </a:r>
            <a:r>
              <a:rPr dirty="0" sz="1150" spc="-80">
                <a:latin typeface="Arial"/>
                <a:cs typeface="Arial"/>
              </a:rPr>
              <a:t>Sudden changes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environmental </a:t>
            </a:r>
            <a:r>
              <a:rPr dirty="0" sz="1150" spc="-35">
                <a:latin typeface="Arial"/>
                <a:cs typeface="Arial"/>
              </a:rPr>
              <a:t>factors, </a:t>
            </a:r>
            <a:r>
              <a:rPr dirty="0" sz="1150" spc="-70">
                <a:latin typeface="Arial"/>
                <a:cs typeface="Arial"/>
              </a:rPr>
              <a:t>such 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35">
                <a:latin typeface="Arial"/>
                <a:cs typeface="Arial"/>
              </a:rPr>
              <a:t>war,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15">
                <a:latin typeface="Arial"/>
                <a:cs typeface="Arial"/>
              </a:rPr>
              <a:t>alter </a:t>
            </a:r>
            <a:r>
              <a:rPr dirty="0" sz="1150" spc="-50">
                <a:latin typeface="Arial"/>
                <a:cs typeface="Arial"/>
              </a:rPr>
              <a:t>these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projections.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50" b="1">
                <a:latin typeface="Arial"/>
                <a:cs typeface="Arial"/>
              </a:rPr>
              <a:t>DEMOGRAPHIC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ENVIRONMENT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  <a:spcBef>
                <a:spcPts val="5"/>
              </a:spcBef>
            </a:pPr>
            <a:r>
              <a:rPr dirty="0" sz="1150" spc="-55">
                <a:latin typeface="Arial"/>
                <a:cs typeface="Arial"/>
              </a:rPr>
              <a:t>Demographic </a:t>
            </a:r>
            <a:r>
              <a:rPr dirty="0" sz="1150" spc="-30">
                <a:latin typeface="Arial"/>
                <a:cs typeface="Arial"/>
              </a:rPr>
              <a:t>environment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study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characteristics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population </a:t>
            </a:r>
            <a:r>
              <a:rPr dirty="0" sz="1150" spc="-75">
                <a:latin typeface="Arial"/>
                <a:cs typeface="Arial"/>
              </a:rPr>
              <a:t>such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85">
                <a:latin typeface="Arial"/>
                <a:cs typeface="Arial"/>
              </a:rPr>
              <a:t>size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25">
                <a:latin typeface="Arial"/>
                <a:cs typeface="Arial"/>
              </a:rPr>
              <a:t>population, population </a:t>
            </a:r>
            <a:r>
              <a:rPr dirty="0" sz="1150" spc="-15">
                <a:latin typeface="Arial"/>
                <a:cs typeface="Arial"/>
              </a:rPr>
              <a:t>growth </a:t>
            </a:r>
            <a:r>
              <a:rPr dirty="0" sz="1150" spc="-25">
                <a:latin typeface="Arial"/>
                <a:cs typeface="Arial"/>
              </a:rPr>
              <a:t>rate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population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basis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gender, </a:t>
            </a:r>
            <a:r>
              <a:rPr dirty="0" sz="1150" spc="-75">
                <a:latin typeface="Arial"/>
                <a:cs typeface="Arial"/>
              </a:rPr>
              <a:t>age,  </a:t>
            </a:r>
            <a:r>
              <a:rPr dirty="0" sz="1150" spc="-45">
                <a:latin typeface="Arial"/>
                <a:cs typeface="Arial"/>
              </a:rPr>
              <a:t>income </a:t>
            </a:r>
            <a:r>
              <a:rPr dirty="0" sz="1150" spc="-40">
                <a:latin typeface="Arial"/>
                <a:cs typeface="Arial"/>
              </a:rPr>
              <a:t>level, level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education, </a:t>
            </a:r>
            <a:r>
              <a:rPr dirty="0" sz="1150" spc="-55">
                <a:latin typeface="Arial"/>
                <a:cs typeface="Arial"/>
              </a:rPr>
              <a:t>geographic </a:t>
            </a:r>
            <a:r>
              <a:rPr dirty="0" sz="1150" spc="-30">
                <a:latin typeface="Arial"/>
                <a:cs typeface="Arial"/>
              </a:rPr>
              <a:t>location, </a:t>
            </a:r>
            <a:r>
              <a:rPr dirty="0" sz="1150" spc="-25">
                <a:latin typeface="Arial"/>
                <a:cs typeface="Arial"/>
              </a:rPr>
              <a:t>family structure, </a:t>
            </a:r>
            <a:r>
              <a:rPr dirty="0" sz="1150" spc="-30">
                <a:latin typeface="Arial"/>
                <a:cs typeface="Arial"/>
              </a:rPr>
              <a:t>etc. </a:t>
            </a:r>
            <a:r>
              <a:rPr dirty="0" sz="1150" spc="-50">
                <a:latin typeface="Arial"/>
                <a:cs typeface="Arial"/>
              </a:rPr>
              <a:t>these </a:t>
            </a:r>
            <a:r>
              <a:rPr dirty="0" sz="1150" spc="-35">
                <a:latin typeface="Arial"/>
                <a:cs typeface="Arial"/>
              </a:rPr>
              <a:t>factors  influence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0">
                <a:latin typeface="Arial"/>
                <a:cs typeface="Arial"/>
              </a:rPr>
              <a:t>size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demand, </a:t>
            </a:r>
            <a:r>
              <a:rPr dirty="0" sz="1150" spc="-45">
                <a:latin typeface="Arial"/>
                <a:cs typeface="Arial"/>
              </a:rPr>
              <a:t>buying </a:t>
            </a:r>
            <a:r>
              <a:rPr dirty="0" sz="1150" spc="-20">
                <a:latin typeface="Arial"/>
                <a:cs typeface="Arial"/>
              </a:rPr>
              <a:t>pattern, </a:t>
            </a:r>
            <a:r>
              <a:rPr dirty="0" sz="1150" spc="-30">
                <a:latin typeface="Arial"/>
                <a:cs typeface="Arial"/>
              </a:rPr>
              <a:t>liking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">
                <a:latin typeface="Arial"/>
                <a:cs typeface="Arial"/>
              </a:rPr>
              <a:t>attitude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customers.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Demographic 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10">
                <a:latin typeface="Arial"/>
                <a:cs typeface="Arial"/>
              </a:rPr>
              <a:t>important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0">
                <a:latin typeface="Arial"/>
                <a:cs typeface="Arial"/>
              </a:rPr>
              <a:t>changes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these demographic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 spc="-25">
                <a:latin typeface="Arial"/>
                <a:cs typeface="Arial"/>
              </a:rPr>
              <a:t>affect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60">
                <a:latin typeface="Arial"/>
                <a:cs typeface="Arial"/>
              </a:rPr>
              <a:t>businessmen’ </a:t>
            </a:r>
            <a:r>
              <a:rPr dirty="0" sz="1150" spc="-45">
                <a:latin typeface="Arial"/>
                <a:cs typeface="Arial"/>
              </a:rPr>
              <a:t>planning.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  <a:spcBef>
                <a:spcPts val="5"/>
              </a:spcBef>
            </a:pPr>
            <a:r>
              <a:rPr dirty="0" sz="1150" spc="-40">
                <a:latin typeface="Arial"/>
                <a:cs typeface="Arial"/>
              </a:rPr>
              <a:t>Total </a:t>
            </a:r>
            <a:r>
              <a:rPr dirty="0" sz="1150" spc="-25">
                <a:latin typeface="Arial"/>
                <a:cs typeface="Arial"/>
              </a:rPr>
              <a:t>population </a:t>
            </a:r>
            <a:r>
              <a:rPr dirty="0" sz="1150" spc="-40">
                <a:latin typeface="Arial"/>
                <a:cs typeface="Arial"/>
              </a:rPr>
              <a:t>determines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0">
                <a:latin typeface="Arial"/>
                <a:cs typeface="Arial"/>
              </a:rPr>
              <a:t>size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market, </a:t>
            </a:r>
            <a:r>
              <a:rPr dirty="0" sz="1150" spc="-65">
                <a:latin typeface="Arial"/>
                <a:cs typeface="Arial"/>
              </a:rPr>
              <a:t>huge </a:t>
            </a:r>
            <a:r>
              <a:rPr dirty="0" sz="1150" spc="-25">
                <a:latin typeface="Arial"/>
                <a:cs typeface="Arial"/>
              </a:rPr>
              <a:t>population </a:t>
            </a:r>
            <a:r>
              <a:rPr dirty="0" sz="1150" spc="-80">
                <a:latin typeface="Arial"/>
                <a:cs typeface="Arial"/>
              </a:rPr>
              <a:t>size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growth </a:t>
            </a:r>
            <a:r>
              <a:rPr dirty="0" sz="1150" spc="-25">
                <a:latin typeface="Arial"/>
                <a:cs typeface="Arial"/>
              </a:rPr>
              <a:t>rate </a:t>
            </a:r>
            <a:r>
              <a:rPr dirty="0" sz="1150" spc="-50">
                <a:latin typeface="Arial"/>
                <a:cs typeface="Arial"/>
              </a:rPr>
              <a:t>brings 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large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customers,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40">
                <a:latin typeface="Arial"/>
                <a:cs typeface="Arial"/>
              </a:rPr>
              <a:t>consumption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25">
                <a:latin typeface="Arial"/>
                <a:cs typeface="Arial"/>
              </a:rPr>
              <a:t>opportunities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70">
                <a:latin typeface="Arial"/>
                <a:cs typeface="Arial"/>
              </a:rPr>
              <a:t>business,  </a:t>
            </a:r>
            <a:r>
              <a:rPr dirty="0" sz="1150" spc="-65">
                <a:latin typeface="Arial"/>
                <a:cs typeface="Arial"/>
              </a:rPr>
              <a:t>cheap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abundant </a:t>
            </a:r>
            <a:r>
              <a:rPr dirty="0" sz="1150" spc="-30">
                <a:latin typeface="Arial"/>
                <a:cs typeface="Arial"/>
              </a:rPr>
              <a:t>labor </a:t>
            </a:r>
            <a:r>
              <a:rPr dirty="0" sz="1150" spc="-50">
                <a:latin typeface="Arial"/>
                <a:cs typeface="Arial"/>
              </a:rPr>
              <a:t>supply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5">
                <a:latin typeface="Arial"/>
                <a:cs typeface="Arial"/>
              </a:rPr>
              <a:t>available.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40">
                <a:latin typeface="Arial"/>
                <a:cs typeface="Arial"/>
              </a:rPr>
              <a:t>affects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35">
                <a:latin typeface="Arial"/>
                <a:cs typeface="Arial"/>
              </a:rPr>
              <a:t>positively.  </a:t>
            </a:r>
            <a:r>
              <a:rPr dirty="0" sz="1150" spc="-30">
                <a:latin typeface="Arial"/>
                <a:cs typeface="Arial"/>
              </a:rPr>
              <a:t>Another </a:t>
            </a:r>
            <a:r>
              <a:rPr dirty="0" sz="1150" spc="-50">
                <a:latin typeface="Arial"/>
                <a:cs typeface="Arial"/>
              </a:rPr>
              <a:t>demographic </a:t>
            </a:r>
            <a:r>
              <a:rPr dirty="0" sz="1150" spc="-20">
                <a:latin typeface="Arial"/>
                <a:cs typeface="Arial"/>
              </a:rPr>
              <a:t>factor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0">
                <a:latin typeface="Arial"/>
                <a:cs typeface="Arial"/>
              </a:rPr>
              <a:t>affects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education level. </a:t>
            </a: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40">
                <a:latin typeface="Arial"/>
                <a:cs typeface="Arial"/>
              </a:rPr>
              <a:t>education level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35">
                <a:latin typeface="Arial"/>
                <a:cs typeface="Arial"/>
              </a:rPr>
              <a:t>public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high </a:t>
            </a:r>
            <a:r>
              <a:rPr dirty="0" sz="1150" spc="-20">
                <a:latin typeface="Arial"/>
                <a:cs typeface="Arial"/>
              </a:rPr>
              <a:t>then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supply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skilled </a:t>
            </a:r>
            <a:r>
              <a:rPr dirty="0" sz="1150" spc="-30">
                <a:latin typeface="Arial"/>
                <a:cs typeface="Arial"/>
              </a:rPr>
              <a:t>labor </a:t>
            </a:r>
            <a:r>
              <a:rPr dirty="0" sz="1150" spc="5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increase and </a:t>
            </a:r>
            <a:r>
              <a:rPr dirty="0" sz="1150" spc="-50">
                <a:latin typeface="Arial"/>
                <a:cs typeface="Arial"/>
              </a:rPr>
              <a:t>supply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unskilled </a:t>
            </a:r>
            <a:r>
              <a:rPr dirty="0" sz="1150" spc="-30">
                <a:latin typeface="Arial"/>
                <a:cs typeface="Arial"/>
              </a:rPr>
              <a:t>labor </a:t>
            </a:r>
            <a:r>
              <a:rPr dirty="0" sz="1150">
                <a:latin typeface="Arial"/>
                <a:cs typeface="Arial"/>
              </a:rPr>
              <a:t>will  </a:t>
            </a:r>
            <a:r>
              <a:rPr dirty="0" sz="1150" spc="-65">
                <a:latin typeface="Arial"/>
                <a:cs typeface="Arial"/>
              </a:rPr>
              <a:t>decrease.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low </a:t>
            </a:r>
            <a:r>
              <a:rPr dirty="0" sz="1150" spc="-40">
                <a:latin typeface="Arial"/>
                <a:cs typeface="Arial"/>
              </a:rPr>
              <a:t>education level </a:t>
            </a:r>
            <a:r>
              <a:rPr dirty="0" sz="1150" spc="-50">
                <a:latin typeface="Arial"/>
                <a:cs typeface="Arial"/>
              </a:rPr>
              <a:t>supply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skilled </a:t>
            </a:r>
            <a:r>
              <a:rPr dirty="0" sz="1150" spc="-30">
                <a:latin typeface="Arial"/>
                <a:cs typeface="Arial"/>
              </a:rPr>
              <a:t>labor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65">
                <a:latin typeface="Arial"/>
                <a:cs typeface="Arial"/>
              </a:rPr>
              <a:t>decrease. </a:t>
            </a:r>
            <a:r>
              <a:rPr dirty="0" sz="1150" spc="-55">
                <a:latin typeface="Arial"/>
                <a:cs typeface="Arial"/>
              </a:rPr>
              <a:t>Education </a:t>
            </a:r>
            <a:r>
              <a:rPr dirty="0" sz="1150" spc="-40">
                <a:latin typeface="Arial"/>
                <a:cs typeface="Arial"/>
              </a:rPr>
              <a:t>level 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40">
                <a:latin typeface="Arial"/>
                <a:cs typeface="Arial"/>
              </a:rPr>
              <a:t>affects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buying </a:t>
            </a:r>
            <a:r>
              <a:rPr dirty="0" sz="1150" spc="-15">
                <a:latin typeface="Arial"/>
                <a:cs typeface="Arial"/>
              </a:rPr>
              <a:t>pattern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customers;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highly </a:t>
            </a:r>
            <a:r>
              <a:rPr dirty="0" sz="1150" spc="-50">
                <a:latin typeface="Arial"/>
                <a:cs typeface="Arial"/>
              </a:rPr>
              <a:t>educated </a:t>
            </a:r>
            <a:r>
              <a:rPr dirty="0" sz="1150" spc="-20">
                <a:latin typeface="Arial"/>
                <a:cs typeface="Arial"/>
              </a:rPr>
              <a:t>then the </a:t>
            </a:r>
            <a:r>
              <a:rPr dirty="0" sz="1150" spc="-70">
                <a:latin typeface="Arial"/>
                <a:cs typeface="Arial"/>
              </a:rPr>
              <a:t>business  </a:t>
            </a:r>
            <a:r>
              <a:rPr dirty="0" sz="1150" spc="-35">
                <a:latin typeface="Arial"/>
                <a:cs typeface="Arial"/>
              </a:rPr>
              <a:t>enterprise must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0">
                <a:latin typeface="Arial"/>
                <a:cs typeface="Arial"/>
              </a:rPr>
              <a:t>careful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services.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0">
                <a:latin typeface="Arial"/>
                <a:cs typeface="Arial"/>
              </a:rPr>
              <a:t>same </a:t>
            </a:r>
            <a:r>
              <a:rPr dirty="0" sz="1150" spc="-50">
                <a:latin typeface="Arial"/>
                <a:cs typeface="Arial"/>
              </a:rPr>
              <a:t>way,  </a:t>
            </a:r>
            <a:r>
              <a:rPr dirty="0" sz="1150" spc="-55">
                <a:latin typeface="Arial"/>
                <a:cs typeface="Arial"/>
              </a:rPr>
              <a:t>gender and </a:t>
            </a:r>
            <a:r>
              <a:rPr dirty="0" sz="1150" spc="-90">
                <a:latin typeface="Arial"/>
                <a:cs typeface="Arial"/>
              </a:rPr>
              <a:t>age </a:t>
            </a:r>
            <a:r>
              <a:rPr dirty="0" sz="1150" spc="-35">
                <a:latin typeface="Arial"/>
                <a:cs typeface="Arial"/>
              </a:rPr>
              <a:t>composition, </a:t>
            </a:r>
            <a:r>
              <a:rPr dirty="0" sz="1150" spc="-45">
                <a:latin typeface="Arial"/>
                <a:cs typeface="Arial"/>
              </a:rPr>
              <a:t>income </a:t>
            </a:r>
            <a:r>
              <a:rPr dirty="0" sz="1150" spc="-40">
                <a:latin typeface="Arial"/>
                <a:cs typeface="Arial"/>
              </a:rPr>
              <a:t>level, </a:t>
            </a:r>
            <a:r>
              <a:rPr dirty="0" sz="1150" spc="-55">
                <a:latin typeface="Arial"/>
                <a:cs typeface="Arial"/>
              </a:rPr>
              <a:t>geographical </a:t>
            </a:r>
            <a:r>
              <a:rPr dirty="0" sz="1150" spc="-25">
                <a:latin typeface="Arial"/>
                <a:cs typeface="Arial"/>
              </a:rPr>
              <a:t>location </a:t>
            </a:r>
            <a:r>
              <a:rPr dirty="0" sz="1150" spc="-40">
                <a:latin typeface="Arial"/>
                <a:cs typeface="Arial"/>
              </a:rPr>
              <a:t>etc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15">
                <a:latin typeface="Arial"/>
                <a:cs typeface="Arial"/>
              </a:rPr>
              <a:t>important  </a:t>
            </a:r>
            <a:r>
              <a:rPr dirty="0" sz="1150" spc="-50">
                <a:latin typeface="Arial"/>
                <a:cs typeface="Arial"/>
              </a:rPr>
              <a:t>demographic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factors.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Arial"/>
              <a:cs typeface="Arial"/>
            </a:endParaRPr>
          </a:p>
          <a:p>
            <a:pPr marL="52069">
              <a:lnSpc>
                <a:spcPct val="100000"/>
              </a:lnSpc>
              <a:spcBef>
                <a:spcPts val="5"/>
              </a:spcBef>
            </a:pPr>
            <a:r>
              <a:rPr dirty="0" sz="1350" spc="-165" b="1">
                <a:latin typeface="Arial"/>
                <a:cs typeface="Arial"/>
              </a:rPr>
              <a:t>POLITICAL </a:t>
            </a:r>
            <a:r>
              <a:rPr dirty="0" sz="1350" spc="-125" b="1">
                <a:latin typeface="Arial"/>
                <a:cs typeface="Arial"/>
              </a:rPr>
              <a:t>AND </a:t>
            </a:r>
            <a:r>
              <a:rPr dirty="0" sz="1350" spc="-225" b="1">
                <a:latin typeface="Arial"/>
                <a:cs typeface="Arial"/>
              </a:rPr>
              <a:t>LEGAL</a:t>
            </a:r>
            <a:r>
              <a:rPr dirty="0" sz="1350" spc="-125" b="1">
                <a:latin typeface="Arial"/>
                <a:cs typeface="Arial"/>
              </a:rPr>
              <a:t> ENVIRONMENT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Arial"/>
              <a:cs typeface="Arial"/>
            </a:endParaRPr>
          </a:p>
          <a:p>
            <a:pPr marL="12700" marR="571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Legal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political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 spc="-40">
                <a:latin typeface="Arial"/>
                <a:cs typeface="Arial"/>
              </a:rPr>
              <a:t>include </a:t>
            </a:r>
            <a:r>
              <a:rPr dirty="0" sz="1150" spc="-50">
                <a:latin typeface="Arial"/>
                <a:cs typeface="Arial"/>
              </a:rPr>
              <a:t>legal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governmental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-45">
                <a:latin typeface="Arial"/>
                <a:cs typeface="Arial"/>
              </a:rPr>
              <a:t>organizations </a:t>
            </a:r>
            <a:r>
              <a:rPr dirty="0" sz="1150" spc="-35">
                <a:latin typeface="Arial"/>
                <a:cs typeface="Arial"/>
              </a:rPr>
              <a:t>operate.  Political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legal </a:t>
            </a:r>
            <a:r>
              <a:rPr dirty="0" sz="1150" spc="-30">
                <a:latin typeface="Arial"/>
                <a:cs typeface="Arial"/>
              </a:rPr>
              <a:t>environment </a:t>
            </a:r>
            <a:r>
              <a:rPr dirty="0" sz="1150" spc="-35">
                <a:latin typeface="Arial"/>
                <a:cs typeface="Arial"/>
              </a:rPr>
              <a:t>strongly </a:t>
            </a:r>
            <a:r>
              <a:rPr dirty="0" sz="1150" spc="-25">
                <a:latin typeface="Arial"/>
                <a:cs typeface="Arial"/>
              </a:rPr>
              <a:t>affect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55">
                <a:latin typeface="Arial"/>
                <a:cs typeface="Arial"/>
              </a:rPr>
              <a:t>decisions. </a:t>
            </a:r>
            <a:r>
              <a:rPr dirty="0" sz="1150" spc="-70">
                <a:latin typeface="Arial"/>
                <a:cs typeface="Arial"/>
              </a:rPr>
              <a:t>Aspects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0">
                <a:latin typeface="Arial"/>
                <a:cs typeface="Arial"/>
              </a:rPr>
              <a:t>are  considered </a:t>
            </a:r>
            <a:r>
              <a:rPr dirty="0" sz="1150" spc="-20">
                <a:latin typeface="Arial"/>
                <a:cs typeface="Arial"/>
              </a:rPr>
              <a:t>in political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legal </a:t>
            </a:r>
            <a:r>
              <a:rPr dirty="0" sz="1150" spc="-30">
                <a:latin typeface="Arial"/>
                <a:cs typeface="Arial"/>
              </a:rPr>
              <a:t>environment </a:t>
            </a:r>
            <a:r>
              <a:rPr dirty="0" sz="1150" spc="-45">
                <a:latin typeface="Arial"/>
                <a:cs typeface="Arial"/>
              </a:rPr>
              <a:t>are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preferences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priorities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the  </a:t>
            </a:r>
            <a:r>
              <a:rPr dirty="0" sz="1150" spc="-40">
                <a:latin typeface="Arial"/>
                <a:cs typeface="Arial"/>
              </a:rPr>
              <a:t>government, </a:t>
            </a:r>
            <a:r>
              <a:rPr dirty="0" sz="1150" spc="-20">
                <a:latin typeface="Arial"/>
                <a:cs typeface="Arial"/>
              </a:rPr>
              <a:t>political </a:t>
            </a:r>
            <a:r>
              <a:rPr dirty="0" sz="1150" spc="-25">
                <a:latin typeface="Arial"/>
                <a:cs typeface="Arial"/>
              </a:rPr>
              <a:t>stability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30">
                <a:latin typeface="Arial"/>
                <a:cs typeface="Arial"/>
              </a:rPr>
              <a:t>country, laws/rules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regulations, </a:t>
            </a:r>
            <a:r>
              <a:rPr dirty="0" sz="1150" spc="-30">
                <a:latin typeface="Arial"/>
                <a:cs typeface="Arial"/>
              </a:rPr>
              <a:t>taxation </a:t>
            </a:r>
            <a:r>
              <a:rPr dirty="0" sz="1150" spc="-35">
                <a:latin typeface="Arial"/>
                <a:cs typeface="Arial"/>
              </a:rPr>
              <a:t>policy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10">
                <a:latin typeface="Arial"/>
                <a:cs typeface="Arial"/>
              </a:rPr>
              <a:t>attitude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government </a:t>
            </a:r>
            <a:r>
              <a:rPr dirty="0" sz="1150" spc="-35">
                <a:latin typeface="Arial"/>
                <a:cs typeface="Arial"/>
              </a:rPr>
              <a:t>towards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Government </a:t>
            </a:r>
            <a:r>
              <a:rPr dirty="0" sz="1150" spc="-65">
                <a:latin typeface="Arial"/>
                <a:cs typeface="Arial"/>
              </a:rPr>
              <a:t>decides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what sort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35">
                <a:latin typeface="Arial"/>
                <a:cs typeface="Arial"/>
              </a:rPr>
              <a:t>activities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country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60">
                <a:latin typeface="Arial"/>
                <a:cs typeface="Arial"/>
              </a:rPr>
              <a:t>have,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which  </a:t>
            </a:r>
            <a:r>
              <a:rPr dirty="0" sz="1150" spc="-75">
                <a:latin typeface="Arial"/>
                <a:cs typeface="Arial"/>
              </a:rPr>
              <a:t>areas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private </a:t>
            </a:r>
            <a:r>
              <a:rPr dirty="0" sz="1150" spc="-40">
                <a:latin typeface="Arial"/>
                <a:cs typeface="Arial"/>
              </a:rPr>
              <a:t>sector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encouraged,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45">
                <a:latin typeface="Arial"/>
                <a:cs typeface="Arial"/>
              </a:rPr>
              <a:t>defines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areas </a:t>
            </a:r>
            <a:r>
              <a:rPr dirty="0" sz="1150" spc="-35">
                <a:latin typeface="Arial"/>
                <a:cs typeface="Arial"/>
              </a:rPr>
              <a:t>where </a:t>
            </a:r>
            <a:r>
              <a:rPr dirty="0" sz="1150" spc="-30">
                <a:latin typeface="Arial"/>
                <a:cs typeface="Arial"/>
              </a:rPr>
              <a:t>foreign  </a:t>
            </a:r>
            <a:r>
              <a:rPr dirty="0" sz="1150" spc="-60">
                <a:latin typeface="Arial"/>
                <a:cs typeface="Arial"/>
              </a:rPr>
              <a:t>companies may </a:t>
            </a:r>
            <a:r>
              <a:rPr dirty="0" sz="1150" spc="-25">
                <a:latin typeface="Arial"/>
                <a:cs typeface="Arial"/>
              </a:rPr>
              <a:t>enter. </a:t>
            </a:r>
            <a:r>
              <a:rPr dirty="0" sz="1150" spc="-95">
                <a:latin typeface="Arial"/>
                <a:cs typeface="Arial"/>
              </a:rPr>
              <a:t>Laws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regulations </a:t>
            </a:r>
            <a:r>
              <a:rPr dirty="0" sz="1150" spc="-35">
                <a:latin typeface="Arial"/>
                <a:cs typeface="Arial"/>
              </a:rPr>
              <a:t>influence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decision </a:t>
            </a:r>
            <a:r>
              <a:rPr dirty="0" sz="1150" spc="-55">
                <a:latin typeface="Arial"/>
                <a:cs typeface="Arial"/>
              </a:rPr>
              <a:t>making and </a:t>
            </a:r>
            <a:r>
              <a:rPr dirty="0" sz="1150" spc="5">
                <a:latin typeface="Arial"/>
                <a:cs typeface="Arial"/>
              </a:rPr>
              <a:t>limit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75">
                <a:latin typeface="Arial"/>
                <a:cs typeface="Arial"/>
              </a:rPr>
              <a:t>businesses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country’s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wellbeing.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75" b="1">
                <a:latin typeface="Arial"/>
                <a:cs typeface="Arial"/>
              </a:rPr>
              <a:t>THE </a:t>
            </a:r>
            <a:r>
              <a:rPr dirty="0" sz="1350" spc="-180" b="1">
                <a:latin typeface="Arial"/>
                <a:cs typeface="Arial"/>
              </a:rPr>
              <a:t>TECHNOLOGICAL</a:t>
            </a:r>
            <a:r>
              <a:rPr dirty="0" sz="1350" spc="-170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ENVIRONMENT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12700" marR="5715">
              <a:lnSpc>
                <a:spcPct val="101699"/>
              </a:lnSpc>
            </a:pPr>
            <a:r>
              <a:rPr dirty="0" sz="1150" spc="-60">
                <a:latin typeface="Arial"/>
                <a:cs typeface="Arial"/>
              </a:rPr>
              <a:t>Technology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variety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meanings,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40">
                <a:latin typeface="Arial"/>
                <a:cs typeface="Arial"/>
              </a:rPr>
              <a:t>applied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environment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business, </a:t>
            </a:r>
            <a:r>
              <a:rPr dirty="0" sz="1150" spc="25">
                <a:latin typeface="Arial"/>
                <a:cs typeface="Arial"/>
              </a:rPr>
              <a:t>it  </a:t>
            </a:r>
            <a:r>
              <a:rPr dirty="0" sz="1150" spc="-45">
                <a:latin typeface="Arial"/>
                <a:cs typeface="Arial"/>
              </a:rPr>
              <a:t>generally </a:t>
            </a:r>
            <a:r>
              <a:rPr dirty="0" sz="1150" spc="-50">
                <a:latin typeface="Arial"/>
                <a:cs typeface="Arial"/>
              </a:rPr>
              <a:t>includes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ways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30">
                <a:latin typeface="Arial"/>
                <a:cs typeface="Arial"/>
              </a:rPr>
              <a:t>firms </a:t>
            </a:r>
            <a:r>
              <a:rPr dirty="0" sz="1150" spc="-45">
                <a:latin typeface="Arial"/>
                <a:cs typeface="Arial"/>
              </a:rPr>
              <a:t>create </a:t>
            </a:r>
            <a:r>
              <a:rPr dirty="0" sz="1150" spc="-55">
                <a:latin typeface="Arial"/>
                <a:cs typeface="Arial"/>
              </a:rPr>
              <a:t>value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constituents.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927100" marR="5080" indent="-228600">
              <a:lnSpc>
                <a:spcPct val="101699"/>
              </a:lnSpc>
              <a:spcBef>
                <a:spcPts val="5"/>
              </a:spcBef>
            </a:pPr>
            <a:r>
              <a:rPr dirty="0" sz="1150" spc="-5">
                <a:latin typeface="Arial"/>
                <a:cs typeface="Arial"/>
              </a:rPr>
              <a:t>f. </a:t>
            </a:r>
            <a:r>
              <a:rPr dirty="0" sz="1150" spc="-90" b="1">
                <a:latin typeface="Arial"/>
                <a:cs typeface="Arial"/>
              </a:rPr>
              <a:t>Product </a:t>
            </a:r>
            <a:r>
              <a:rPr dirty="0" sz="1150" spc="-85" b="1">
                <a:latin typeface="Arial"/>
                <a:cs typeface="Arial"/>
              </a:rPr>
              <a:t>and </a:t>
            </a:r>
            <a:r>
              <a:rPr dirty="0" sz="1150" spc="-100" b="1">
                <a:latin typeface="Arial"/>
                <a:cs typeface="Arial"/>
              </a:rPr>
              <a:t>Service </a:t>
            </a:r>
            <a:r>
              <a:rPr dirty="0" sz="1150" spc="-85" b="1">
                <a:latin typeface="Arial"/>
                <a:cs typeface="Arial"/>
              </a:rPr>
              <a:t>Technologies</a:t>
            </a:r>
            <a:r>
              <a:rPr dirty="0" sz="1150" spc="-85">
                <a:latin typeface="Arial"/>
                <a:cs typeface="Arial"/>
              </a:rPr>
              <a:t>—the </a:t>
            </a:r>
            <a:r>
              <a:rPr dirty="0" sz="1150" spc="-45">
                <a:latin typeface="Arial"/>
                <a:cs typeface="Arial"/>
              </a:rPr>
              <a:t>technologies employed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0">
                <a:latin typeface="Arial"/>
                <a:cs typeface="Arial"/>
              </a:rPr>
              <a:t>creating  products </a:t>
            </a:r>
            <a:r>
              <a:rPr dirty="0" sz="1150" spc="-20">
                <a:latin typeface="Arial"/>
                <a:cs typeface="Arial"/>
              </a:rPr>
              <a:t>(both </a:t>
            </a:r>
            <a:r>
              <a:rPr dirty="0" sz="1150" spc="-55">
                <a:latin typeface="Arial"/>
                <a:cs typeface="Arial"/>
              </a:rPr>
              <a:t>physical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services)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customers. </a:t>
            </a:r>
            <a:r>
              <a:rPr dirty="0" sz="1150" spc="-40">
                <a:latin typeface="Arial"/>
                <a:cs typeface="Arial"/>
              </a:rPr>
              <a:t>Although </a:t>
            </a:r>
            <a:r>
              <a:rPr dirty="0" sz="1150" spc="-55">
                <a:latin typeface="Arial"/>
                <a:cs typeface="Arial"/>
              </a:rPr>
              <a:t>many 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65">
                <a:latin typeface="Arial"/>
                <a:cs typeface="Arial"/>
              </a:rPr>
              <a:t>associate </a:t>
            </a:r>
            <a:r>
              <a:rPr dirty="0" sz="1150" spc="-45">
                <a:latin typeface="Arial"/>
                <a:cs typeface="Arial"/>
              </a:rPr>
              <a:t>technology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35">
                <a:latin typeface="Arial"/>
                <a:cs typeface="Arial"/>
              </a:rPr>
              <a:t>manufacturing,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also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significant </a:t>
            </a:r>
            <a:r>
              <a:rPr dirty="0" sz="1150" spc="-30">
                <a:latin typeface="Arial"/>
                <a:cs typeface="Arial"/>
              </a:rPr>
              <a:t>force 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55">
                <a:latin typeface="Arial"/>
                <a:cs typeface="Arial"/>
              </a:rPr>
              <a:t>service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sector.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18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86" y="1070867"/>
            <a:ext cx="5514340" cy="489204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927100" marR="6350" indent="-228600">
              <a:lnSpc>
                <a:spcPct val="101699"/>
              </a:lnSpc>
              <a:spcBef>
                <a:spcPts val="75"/>
              </a:spcBef>
              <a:buFont typeface="Arial"/>
              <a:buAutoNum type="alphaLcPeriod" startAt="7"/>
              <a:tabLst>
                <a:tab pos="927735" algn="l"/>
              </a:tabLst>
            </a:pPr>
            <a:r>
              <a:rPr dirty="0" sz="1150" spc="-130" b="1">
                <a:latin typeface="Arial"/>
                <a:cs typeface="Arial"/>
              </a:rPr>
              <a:t>Business Process </a:t>
            </a:r>
            <a:r>
              <a:rPr dirty="0" sz="1150" spc="-90" b="1">
                <a:latin typeface="Arial"/>
                <a:cs typeface="Arial"/>
              </a:rPr>
              <a:t>Technologies</a:t>
            </a:r>
            <a:r>
              <a:rPr dirty="0" sz="1150" spc="-90">
                <a:latin typeface="Arial"/>
                <a:cs typeface="Arial"/>
              </a:rPr>
              <a:t>—are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85">
                <a:latin typeface="Arial"/>
                <a:cs typeface="Arial"/>
              </a:rPr>
              <a:t>so </a:t>
            </a:r>
            <a:r>
              <a:rPr dirty="0" sz="1150" spc="-55">
                <a:latin typeface="Arial"/>
                <a:cs typeface="Arial"/>
              </a:rPr>
              <a:t>much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create products </a:t>
            </a:r>
            <a:r>
              <a:rPr dirty="0" sz="1150" spc="-110">
                <a:latin typeface="Arial"/>
                <a:cs typeface="Arial"/>
              </a:rPr>
              <a:t>as 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improve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firm’s </a:t>
            </a:r>
            <a:r>
              <a:rPr dirty="0" sz="1150" spc="-40">
                <a:latin typeface="Arial"/>
                <a:cs typeface="Arial"/>
              </a:rPr>
              <a:t>performance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internal </a:t>
            </a:r>
            <a:r>
              <a:rPr dirty="0" sz="1150" spc="-35">
                <a:latin typeface="Arial"/>
                <a:cs typeface="Arial"/>
              </a:rPr>
              <a:t>operations </a:t>
            </a:r>
            <a:r>
              <a:rPr dirty="0" sz="1150" spc="-65">
                <a:latin typeface="Arial"/>
                <a:cs typeface="Arial"/>
              </a:rPr>
              <a:t>(such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45">
                <a:latin typeface="Arial"/>
                <a:cs typeface="Arial"/>
              </a:rPr>
              <a:t>accounting,  </a:t>
            </a:r>
            <a:r>
              <a:rPr dirty="0" sz="1150" spc="-65">
                <a:latin typeface="Arial"/>
                <a:cs typeface="Arial"/>
              </a:rPr>
              <a:t>managing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25">
                <a:latin typeface="Arial"/>
                <a:cs typeface="Arial"/>
              </a:rPr>
              <a:t>flows, </a:t>
            </a:r>
            <a:r>
              <a:rPr dirty="0" sz="1150" spc="-40">
                <a:latin typeface="Arial"/>
                <a:cs typeface="Arial"/>
              </a:rPr>
              <a:t>creating </a:t>
            </a:r>
            <a:r>
              <a:rPr dirty="0" sz="1150" spc="-20">
                <a:latin typeface="Arial"/>
                <a:cs typeface="Arial"/>
              </a:rPr>
              <a:t>activity </a:t>
            </a:r>
            <a:r>
              <a:rPr dirty="0" sz="1150" spc="-25">
                <a:latin typeface="Arial"/>
                <a:cs typeface="Arial"/>
              </a:rPr>
              <a:t>reports,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10">
                <a:latin typeface="Arial"/>
                <a:cs typeface="Arial"/>
              </a:rPr>
              <a:t>forth). </a:t>
            </a:r>
            <a:r>
              <a:rPr dirty="0" sz="1150" spc="-75">
                <a:latin typeface="Arial"/>
                <a:cs typeface="Arial"/>
              </a:rPr>
              <a:t>They 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35">
                <a:latin typeface="Arial"/>
                <a:cs typeface="Arial"/>
              </a:rPr>
              <a:t>help </a:t>
            </a:r>
            <a:r>
              <a:rPr dirty="0" sz="1150" spc="-40">
                <a:latin typeface="Arial"/>
                <a:cs typeface="Arial"/>
              </a:rPr>
              <a:t>create </a:t>
            </a:r>
            <a:r>
              <a:rPr dirty="0" sz="1150" spc="-10">
                <a:latin typeface="Arial"/>
                <a:cs typeface="Arial"/>
              </a:rPr>
              <a:t>better </a:t>
            </a:r>
            <a:r>
              <a:rPr dirty="0" sz="1150" spc="-40">
                <a:latin typeface="Arial"/>
                <a:cs typeface="Arial"/>
              </a:rPr>
              <a:t>relationships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35">
                <a:latin typeface="Arial"/>
                <a:cs typeface="Arial"/>
              </a:rPr>
              <a:t>external constituents,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110">
                <a:latin typeface="Arial"/>
                <a:cs typeface="Arial"/>
              </a:rPr>
              <a:t>as  </a:t>
            </a:r>
            <a:r>
              <a:rPr dirty="0" sz="1150" spc="-50">
                <a:latin typeface="Arial"/>
                <a:cs typeface="Arial"/>
              </a:rPr>
              <a:t>suppliers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customers.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lphaLcPeriod" startAt="7"/>
            </a:pPr>
            <a:endParaRPr sz="1200">
              <a:latin typeface="Arial"/>
              <a:cs typeface="Arial"/>
            </a:endParaRPr>
          </a:p>
          <a:p>
            <a:pPr algn="just" lvl="1" marL="1384300" marR="5080" indent="-184785">
              <a:lnSpc>
                <a:spcPct val="101699"/>
              </a:lnSpc>
              <a:buFont typeface="Arial"/>
              <a:buAutoNum type="romanLcPeriod"/>
              <a:tabLst>
                <a:tab pos="1384935" algn="l"/>
              </a:tabLst>
            </a:pPr>
            <a:r>
              <a:rPr dirty="0" sz="1150" spc="-80" b="1">
                <a:latin typeface="Arial"/>
                <a:cs typeface="Arial"/>
              </a:rPr>
              <a:t>Enterprise </a:t>
            </a:r>
            <a:r>
              <a:rPr dirty="0" sz="1150" spc="-110" b="1">
                <a:latin typeface="Arial"/>
                <a:cs typeface="Arial"/>
              </a:rPr>
              <a:t>Resource </a:t>
            </a:r>
            <a:r>
              <a:rPr dirty="0" sz="1150" spc="-85" b="1">
                <a:latin typeface="Arial"/>
                <a:cs typeface="Arial"/>
              </a:rPr>
              <a:t>Planning</a:t>
            </a:r>
            <a:r>
              <a:rPr dirty="0" sz="1150" spc="-85">
                <a:latin typeface="Arial"/>
                <a:cs typeface="Arial"/>
              </a:rPr>
              <a:t>—Large-scale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55">
                <a:latin typeface="Arial"/>
                <a:cs typeface="Arial"/>
              </a:rPr>
              <a:t>organizing and </a:t>
            </a:r>
            <a:r>
              <a:rPr dirty="0" sz="1150" spc="-65">
                <a:latin typeface="Arial"/>
                <a:cs typeface="Arial"/>
              </a:rPr>
              <a:t>managing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firm’s </a:t>
            </a:r>
            <a:r>
              <a:rPr dirty="0" sz="1150" spc="-75">
                <a:latin typeface="Arial"/>
                <a:cs typeface="Arial"/>
              </a:rPr>
              <a:t>processes across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45">
                <a:latin typeface="Arial"/>
                <a:cs typeface="Arial"/>
              </a:rPr>
              <a:t>lines,  </a:t>
            </a:r>
            <a:r>
              <a:rPr dirty="0" sz="1150" spc="-35">
                <a:latin typeface="Arial"/>
                <a:cs typeface="Arial"/>
              </a:rPr>
              <a:t>departments, </a:t>
            </a:r>
            <a:r>
              <a:rPr dirty="0" sz="1150" spc="-55">
                <a:latin typeface="Arial"/>
                <a:cs typeface="Arial"/>
              </a:rPr>
              <a:t>and geographic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locations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70" b="1">
                <a:latin typeface="Arial"/>
                <a:cs typeface="Arial"/>
              </a:rPr>
              <a:t>SOCIO-CULTURAL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ENVIRONMENT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75">
                <a:latin typeface="Arial"/>
                <a:cs typeface="Arial"/>
              </a:rPr>
              <a:t>Social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cultural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 spc="-25">
                <a:latin typeface="Arial"/>
                <a:cs typeface="Arial"/>
              </a:rPr>
              <a:t>affect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working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enterprises </a:t>
            </a:r>
            <a:r>
              <a:rPr dirty="0" sz="1150" spc="-35">
                <a:latin typeface="Arial"/>
                <a:cs typeface="Arial"/>
              </a:rPr>
              <a:t>significantly. </a:t>
            </a:r>
            <a:r>
              <a:rPr dirty="0" sz="1150" spc="-70">
                <a:latin typeface="Arial"/>
                <a:cs typeface="Arial"/>
              </a:rPr>
              <a:t>Socio-  </a:t>
            </a:r>
            <a:r>
              <a:rPr dirty="0" sz="1150" spc="-25">
                <a:latin typeface="Arial"/>
                <a:cs typeface="Arial"/>
              </a:rPr>
              <a:t>cultural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 spc="-40">
                <a:latin typeface="Arial"/>
                <a:cs typeface="Arial"/>
              </a:rPr>
              <a:t>include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societal </a:t>
            </a:r>
            <a:r>
              <a:rPr dirty="0" sz="1150" spc="-65">
                <a:latin typeface="Arial"/>
                <a:cs typeface="Arial"/>
              </a:rPr>
              <a:t>values, </a:t>
            </a:r>
            <a:r>
              <a:rPr dirty="0" sz="1150" spc="-10">
                <a:latin typeface="Arial"/>
                <a:cs typeface="Arial"/>
              </a:rPr>
              <a:t>attitude, </a:t>
            </a:r>
            <a:r>
              <a:rPr dirty="0" sz="1150" spc="-55">
                <a:latin typeface="Arial"/>
                <a:cs typeface="Arial"/>
              </a:rPr>
              <a:t>customs, </a:t>
            </a:r>
            <a:r>
              <a:rPr dirty="0" sz="1150" spc="-30">
                <a:latin typeface="Arial"/>
                <a:cs typeface="Arial"/>
              </a:rPr>
              <a:t>religion; </a:t>
            </a:r>
            <a:r>
              <a:rPr dirty="0" sz="1150" spc="-40">
                <a:latin typeface="Arial"/>
                <a:cs typeface="Arial"/>
              </a:rPr>
              <a:t>beliefs, habits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50">
                <a:latin typeface="Arial"/>
                <a:cs typeface="Arial"/>
              </a:rPr>
              <a:t>preferences </a:t>
            </a:r>
            <a:r>
              <a:rPr dirty="0" sz="1150" spc="-30">
                <a:latin typeface="Arial"/>
                <a:cs typeface="Arial"/>
              </a:rPr>
              <a:t>etc. </a:t>
            </a:r>
            <a:r>
              <a:rPr dirty="0" sz="1150" spc="-35">
                <a:latin typeface="Arial"/>
                <a:cs typeface="Arial"/>
              </a:rPr>
              <a:t>socio-cultural trends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50">
                <a:latin typeface="Arial"/>
                <a:cs typeface="Arial"/>
              </a:rPr>
              <a:t>considerable </a:t>
            </a:r>
            <a:r>
              <a:rPr dirty="0" sz="1150" spc="-20">
                <a:latin typeface="Arial"/>
                <a:cs typeface="Arial"/>
              </a:rPr>
              <a:t>effect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demand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0">
                <a:latin typeface="Arial"/>
                <a:cs typeface="Arial"/>
              </a:rPr>
              <a:t>products  </a:t>
            </a:r>
            <a:r>
              <a:rPr dirty="0" sz="1150" spc="-55">
                <a:latin typeface="Arial"/>
                <a:cs typeface="Arial"/>
              </a:rPr>
              <a:t>e.g., </a:t>
            </a:r>
            <a:r>
              <a:rPr dirty="0" sz="1150" spc="-30">
                <a:latin typeface="Arial"/>
                <a:cs typeface="Arial"/>
              </a:rPr>
              <a:t>dominant religion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90">
                <a:latin typeface="Arial"/>
                <a:cs typeface="Arial"/>
              </a:rPr>
              <a:t>has </a:t>
            </a:r>
            <a:r>
              <a:rPr dirty="0" sz="1150" spc="-35">
                <a:latin typeface="Arial"/>
                <a:cs typeface="Arial"/>
              </a:rPr>
              <a:t>influence over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buying </a:t>
            </a:r>
            <a:r>
              <a:rPr dirty="0" sz="1150" spc="-40">
                <a:latin typeface="Arial"/>
                <a:cs typeface="Arial"/>
              </a:rPr>
              <a:t>behavior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society.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60" b="1">
                <a:latin typeface="Arial"/>
                <a:cs typeface="Arial"/>
              </a:rPr>
              <a:t>NATURAL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25" b="1">
                <a:latin typeface="Arial"/>
                <a:cs typeface="Arial"/>
              </a:rPr>
              <a:t>ENVIRONMENT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60">
                <a:latin typeface="Arial"/>
                <a:cs typeface="Arial"/>
              </a:rPr>
              <a:t>Geographical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ecological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80">
                <a:latin typeface="Arial"/>
                <a:cs typeface="Arial"/>
              </a:rPr>
              <a:t>changes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weather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climate, </a:t>
            </a:r>
            <a:r>
              <a:rPr dirty="0" sz="1150" spc="-40">
                <a:latin typeface="Arial"/>
                <a:cs typeface="Arial"/>
              </a:rPr>
              <a:t>earthquake,  </a:t>
            </a:r>
            <a:r>
              <a:rPr dirty="0" sz="1150" spc="-35">
                <a:latin typeface="Arial"/>
                <a:cs typeface="Arial"/>
              </a:rPr>
              <a:t>floods, </a:t>
            </a:r>
            <a:r>
              <a:rPr dirty="0" sz="1150" spc="-45">
                <a:latin typeface="Arial"/>
                <a:cs typeface="Arial"/>
              </a:rPr>
              <a:t>storms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natural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 spc="-50">
                <a:latin typeface="Arial"/>
                <a:cs typeface="Arial"/>
              </a:rPr>
              <a:t>are considered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natural </a:t>
            </a:r>
            <a:r>
              <a:rPr dirty="0" sz="1150" spc="-30">
                <a:latin typeface="Arial"/>
                <a:cs typeface="Arial"/>
              </a:rPr>
              <a:t>environment. </a:t>
            </a:r>
            <a:r>
              <a:rPr dirty="0" sz="1150" spc="-35">
                <a:latin typeface="Arial"/>
                <a:cs typeface="Arial"/>
              </a:rPr>
              <a:t>Natural factors 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5">
                <a:latin typeface="Arial"/>
                <a:cs typeface="Arial"/>
              </a:rPr>
              <a:t>control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5">
                <a:latin typeface="Arial"/>
                <a:cs typeface="Arial"/>
              </a:rPr>
              <a:t>unit </a:t>
            </a:r>
            <a:r>
              <a:rPr dirty="0" sz="1150" spc="-40">
                <a:latin typeface="Arial"/>
                <a:cs typeface="Arial"/>
              </a:rPr>
              <a:t>however </a:t>
            </a:r>
            <a:r>
              <a:rPr dirty="0" sz="1150" spc="-25">
                <a:latin typeface="Arial"/>
                <a:cs typeface="Arial"/>
              </a:rPr>
              <a:t>while </a:t>
            </a:r>
            <a:r>
              <a:rPr dirty="0" sz="1150" spc="-50">
                <a:latin typeface="Arial"/>
                <a:cs typeface="Arial"/>
              </a:rPr>
              <a:t>considering </a:t>
            </a:r>
            <a:r>
              <a:rPr dirty="0" sz="1150" spc="-30">
                <a:latin typeface="Arial"/>
                <a:cs typeface="Arial"/>
              </a:rPr>
              <a:t>natural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 spc="-70">
                <a:latin typeface="Arial"/>
                <a:cs typeface="Arial"/>
              </a:rPr>
              <a:t>managers 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45">
                <a:latin typeface="Arial"/>
                <a:cs typeface="Arial"/>
              </a:rPr>
              <a:t>develop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25">
                <a:latin typeface="Arial"/>
                <a:cs typeface="Arial"/>
              </a:rPr>
              <a:t>product, production </a:t>
            </a:r>
            <a:r>
              <a:rPr dirty="0" sz="1150" spc="-45">
                <a:latin typeface="Arial"/>
                <a:cs typeface="Arial"/>
              </a:rPr>
              <a:t>planning, </a:t>
            </a:r>
            <a:r>
              <a:rPr dirty="0" sz="1150" spc="-35">
                <a:latin typeface="Arial"/>
                <a:cs typeface="Arial"/>
              </a:rPr>
              <a:t>marketing </a:t>
            </a:r>
            <a:r>
              <a:rPr dirty="0" sz="1150" spc="-45">
                <a:latin typeface="Arial"/>
                <a:cs typeface="Arial"/>
              </a:rPr>
              <a:t>planning </a:t>
            </a:r>
            <a:r>
              <a:rPr dirty="0" sz="1150" spc="-30">
                <a:latin typeface="Arial"/>
                <a:cs typeface="Arial"/>
              </a:rPr>
              <a:t>etc. </a:t>
            </a: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example,  </a:t>
            </a:r>
            <a:r>
              <a:rPr dirty="0" sz="1150" spc="-30">
                <a:latin typeface="Arial"/>
                <a:cs typeface="Arial"/>
              </a:rPr>
              <a:t>weather </a:t>
            </a:r>
            <a:r>
              <a:rPr dirty="0" sz="1150" spc="-35">
                <a:latin typeface="Arial"/>
                <a:cs typeface="Arial"/>
              </a:rPr>
              <a:t>conditions influence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buying </a:t>
            </a:r>
            <a:r>
              <a:rPr dirty="0" sz="1150" spc="-20">
                <a:latin typeface="Arial"/>
                <a:cs typeface="Arial"/>
              </a:rPr>
              <a:t>pattern, </a:t>
            </a:r>
            <a:r>
              <a:rPr dirty="0" sz="1150" spc="-50">
                <a:latin typeface="Arial"/>
                <a:cs typeface="Arial"/>
              </a:rPr>
              <a:t>demand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5">
                <a:latin typeface="Arial"/>
                <a:cs typeface="Arial"/>
              </a:rPr>
              <a:t>heaters; sweater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woolen  </a:t>
            </a:r>
            <a:r>
              <a:rPr dirty="0" sz="1150" spc="-40">
                <a:latin typeface="Arial"/>
                <a:cs typeface="Arial"/>
              </a:rPr>
              <a:t>cloths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5">
                <a:latin typeface="Arial"/>
                <a:cs typeface="Arial"/>
              </a:rPr>
              <a:t>more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">
                <a:latin typeface="Arial"/>
                <a:cs typeface="Arial"/>
              </a:rPr>
              <a:t>winter </a:t>
            </a:r>
            <a:r>
              <a:rPr dirty="0" sz="1150" spc="-25">
                <a:latin typeface="Arial"/>
                <a:cs typeface="Arial"/>
              </a:rPr>
              <a:t>while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summer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5">
                <a:latin typeface="Arial"/>
                <a:cs typeface="Arial"/>
              </a:rPr>
              <a:t>more </a:t>
            </a:r>
            <a:r>
              <a:rPr dirty="0" sz="1150" spc="-55">
                <a:latin typeface="Arial"/>
                <a:cs typeface="Arial"/>
              </a:rPr>
              <a:t>demand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5">
                <a:latin typeface="Arial"/>
                <a:cs typeface="Arial"/>
              </a:rPr>
              <a:t>air  </a:t>
            </a:r>
            <a:r>
              <a:rPr dirty="0" sz="1150" spc="-35">
                <a:latin typeface="Arial"/>
                <a:cs typeface="Arial"/>
              </a:rPr>
              <a:t>conditioners, </a:t>
            </a:r>
            <a:r>
              <a:rPr dirty="0" sz="1150" spc="-60">
                <a:latin typeface="Arial"/>
                <a:cs typeface="Arial"/>
              </a:rPr>
              <a:t>fans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cold drinks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19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76268" y="891035"/>
            <a:ext cx="5165725" cy="780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3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240" b="1">
                <a:latin typeface="Arial"/>
                <a:cs typeface="Arial"/>
              </a:rPr>
              <a:t>BUSINESS </a:t>
            </a:r>
            <a:r>
              <a:rPr dirty="0" sz="1750" spc="-170" b="1">
                <a:latin typeface="Arial"/>
                <a:cs typeface="Arial"/>
              </a:rPr>
              <a:t>ORGANIZATION </a:t>
            </a:r>
            <a:r>
              <a:rPr dirty="0" sz="1750" spc="-35" b="1">
                <a:latin typeface="Arial"/>
                <a:cs typeface="Arial"/>
              </a:rPr>
              <a:t>&amp; </a:t>
            </a:r>
            <a:r>
              <a:rPr dirty="0" sz="1750" spc="-295" b="1">
                <a:latin typeface="Arial"/>
                <a:cs typeface="Arial"/>
              </a:rPr>
              <a:t>SOLE</a:t>
            </a:r>
            <a:r>
              <a:rPr dirty="0" sz="1750" spc="-165" b="1">
                <a:latin typeface="Arial"/>
                <a:cs typeface="Arial"/>
              </a:rPr>
              <a:t> </a:t>
            </a:r>
            <a:r>
              <a:rPr dirty="0" sz="1750" spc="-215" b="1">
                <a:latin typeface="Arial"/>
                <a:cs typeface="Arial"/>
              </a:rPr>
              <a:t>PROPRIETORSHIP</a:t>
            </a:r>
            <a:endParaRPr sz="17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0313" y="1829819"/>
            <a:ext cx="5511165" cy="237172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70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act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grouping </a:t>
            </a:r>
            <a:r>
              <a:rPr dirty="0" sz="1150" spc="-30">
                <a:latin typeface="Arial"/>
                <a:cs typeface="Arial"/>
              </a:rPr>
              <a:t>activities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30">
                <a:latin typeface="Arial"/>
                <a:cs typeface="Arial"/>
              </a:rPr>
              <a:t>effective </a:t>
            </a:r>
            <a:r>
              <a:rPr dirty="0" sz="1150" spc="-35">
                <a:latin typeface="Arial"/>
                <a:cs typeface="Arial"/>
              </a:rPr>
              <a:t>cooperation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obtain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30">
                <a:latin typeface="Arial"/>
                <a:cs typeface="Arial"/>
              </a:rPr>
              <a:t>objective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0" b="1">
                <a:latin typeface="Arial"/>
                <a:cs typeface="Arial"/>
              </a:rPr>
              <a:t>In the </a:t>
            </a:r>
            <a:r>
              <a:rPr dirty="0" sz="1150" spc="-90" b="1">
                <a:latin typeface="Arial"/>
                <a:cs typeface="Arial"/>
              </a:rPr>
              <a:t>words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20" b="1">
                <a:latin typeface="Arial"/>
                <a:cs typeface="Arial"/>
              </a:rPr>
              <a:t>L. </a:t>
            </a:r>
            <a:r>
              <a:rPr dirty="0" sz="1150" spc="-60" b="1">
                <a:latin typeface="Arial"/>
                <a:cs typeface="Arial"/>
              </a:rPr>
              <a:t>H.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Haney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469900" marR="5080">
              <a:lnSpc>
                <a:spcPct val="101699"/>
              </a:lnSpc>
            </a:pPr>
            <a:r>
              <a:rPr dirty="0" sz="1150" spc="40" i="1">
                <a:latin typeface="Arial"/>
                <a:cs typeface="Arial"/>
              </a:rPr>
              <a:t>“It </a:t>
            </a:r>
            <a:r>
              <a:rPr dirty="0" sz="1150" spc="-65" i="1">
                <a:latin typeface="Arial"/>
                <a:cs typeface="Arial"/>
              </a:rPr>
              <a:t>is </a:t>
            </a:r>
            <a:r>
              <a:rPr dirty="0" sz="1150" spc="-50" i="1">
                <a:latin typeface="Arial"/>
                <a:cs typeface="Arial"/>
              </a:rPr>
              <a:t>more </a:t>
            </a:r>
            <a:r>
              <a:rPr dirty="0" sz="1150" spc="-25" i="1">
                <a:latin typeface="Arial"/>
                <a:cs typeface="Arial"/>
              </a:rPr>
              <a:t>or </a:t>
            </a:r>
            <a:r>
              <a:rPr dirty="0" sz="1150" spc="-90" i="1">
                <a:latin typeface="Arial"/>
                <a:cs typeface="Arial"/>
              </a:rPr>
              <a:t>less </a:t>
            </a:r>
            <a:r>
              <a:rPr dirty="0" sz="1150" spc="-50" i="1">
                <a:latin typeface="Arial"/>
                <a:cs typeface="Arial"/>
              </a:rPr>
              <a:t>independent </a:t>
            </a:r>
            <a:r>
              <a:rPr dirty="0" sz="1150" spc="-60" i="1">
                <a:latin typeface="Arial"/>
                <a:cs typeface="Arial"/>
              </a:rPr>
              <a:t>complex </a:t>
            </a:r>
            <a:r>
              <a:rPr dirty="0" sz="1150" spc="-15" i="1">
                <a:latin typeface="Arial"/>
                <a:cs typeface="Arial"/>
              </a:rPr>
              <a:t>of </a:t>
            </a:r>
            <a:r>
              <a:rPr dirty="0" sz="1150" spc="-40" i="1">
                <a:latin typeface="Arial"/>
                <a:cs typeface="Arial"/>
              </a:rPr>
              <a:t>land, </a:t>
            </a:r>
            <a:r>
              <a:rPr dirty="0" sz="1150" spc="-35" i="1">
                <a:latin typeface="Arial"/>
                <a:cs typeface="Arial"/>
              </a:rPr>
              <a:t>labour </a:t>
            </a:r>
            <a:r>
              <a:rPr dirty="0" sz="1150" spc="-55" i="1">
                <a:latin typeface="Arial"/>
                <a:cs typeface="Arial"/>
              </a:rPr>
              <a:t>and </a:t>
            </a:r>
            <a:r>
              <a:rPr dirty="0" sz="1150" spc="-30" i="1">
                <a:latin typeface="Arial"/>
                <a:cs typeface="Arial"/>
              </a:rPr>
              <a:t>capital, </a:t>
            </a:r>
            <a:r>
              <a:rPr dirty="0" sz="1150" spc="-50" i="1">
                <a:latin typeface="Arial"/>
                <a:cs typeface="Arial"/>
              </a:rPr>
              <a:t>organized </a:t>
            </a:r>
            <a:r>
              <a:rPr dirty="0" sz="1150" spc="-55" i="1">
                <a:latin typeface="Arial"/>
                <a:cs typeface="Arial"/>
              </a:rPr>
              <a:t>and  </a:t>
            </a:r>
            <a:r>
              <a:rPr dirty="0" sz="1150" spc="-40" i="1">
                <a:latin typeface="Arial"/>
                <a:cs typeface="Arial"/>
              </a:rPr>
              <a:t>directed </a:t>
            </a:r>
            <a:r>
              <a:rPr dirty="0" sz="1150" spc="-10" i="1">
                <a:latin typeface="Arial"/>
                <a:cs typeface="Arial"/>
              </a:rPr>
              <a:t>for </a:t>
            </a:r>
            <a:r>
              <a:rPr dirty="0" sz="1150" spc="-40" i="1">
                <a:latin typeface="Arial"/>
                <a:cs typeface="Arial"/>
              </a:rPr>
              <a:t>productive </a:t>
            </a:r>
            <a:r>
              <a:rPr dirty="0" sz="1150" spc="-70" i="1">
                <a:latin typeface="Arial"/>
                <a:cs typeface="Arial"/>
              </a:rPr>
              <a:t>purposes </a:t>
            </a:r>
            <a:r>
              <a:rPr dirty="0" sz="1150" spc="-15" i="1">
                <a:latin typeface="Arial"/>
                <a:cs typeface="Arial"/>
              </a:rPr>
              <a:t>but </a:t>
            </a:r>
            <a:r>
              <a:rPr dirty="0" sz="1150" spc="-35" i="1">
                <a:latin typeface="Arial"/>
                <a:cs typeface="Arial"/>
              </a:rPr>
              <a:t>entrepreneurial</a:t>
            </a:r>
            <a:r>
              <a:rPr dirty="0" sz="1150" spc="-185" i="1">
                <a:latin typeface="Arial"/>
                <a:cs typeface="Arial"/>
              </a:rPr>
              <a:t> </a:t>
            </a:r>
            <a:r>
              <a:rPr dirty="0" sz="1150" spc="-5" i="1">
                <a:latin typeface="Arial"/>
                <a:cs typeface="Arial"/>
              </a:rPr>
              <a:t>ability.”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220" b="1">
                <a:latin typeface="Arial"/>
                <a:cs typeface="Arial"/>
              </a:rPr>
              <a:t>SCOPE </a:t>
            </a:r>
            <a:r>
              <a:rPr dirty="0" sz="1350" spc="-175" b="1">
                <a:latin typeface="Arial"/>
                <a:cs typeface="Arial"/>
              </a:rPr>
              <a:t>OF </a:t>
            </a:r>
            <a:r>
              <a:rPr dirty="0" sz="1350" spc="-185" b="1">
                <a:latin typeface="Arial"/>
                <a:cs typeface="Arial"/>
              </a:rPr>
              <a:t>BUSINESS </a:t>
            </a:r>
            <a:r>
              <a:rPr dirty="0" sz="1350" spc="-130" b="1">
                <a:latin typeface="Arial"/>
                <a:cs typeface="Arial"/>
              </a:rPr>
              <a:t>ORGANIZATION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scope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5">
                <a:latin typeface="Arial"/>
                <a:cs typeface="Arial"/>
              </a:rPr>
              <a:t>defined </a:t>
            </a:r>
            <a:r>
              <a:rPr dirty="0" sz="1150" spc="-110">
                <a:latin typeface="Arial"/>
                <a:cs typeface="Arial"/>
              </a:rPr>
              <a:t>as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under: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384300">
              <a:lnSpc>
                <a:spcPct val="100000"/>
              </a:lnSpc>
            </a:pPr>
            <a:r>
              <a:rPr dirty="0" sz="1150" spc="-125" b="1">
                <a:latin typeface="Arial"/>
                <a:cs typeface="Arial"/>
              </a:rPr>
              <a:t>Scope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30" b="1">
                <a:latin typeface="Arial"/>
                <a:cs typeface="Arial"/>
              </a:rPr>
              <a:t>Business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Organization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02127" y="4650742"/>
            <a:ext cx="79121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45">
                <a:latin typeface="Arial"/>
                <a:cs typeface="Arial"/>
              </a:rPr>
              <a:t>Combination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01759" y="4650742"/>
            <a:ext cx="515620" cy="3797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13030" marR="5080" indent="-100965">
              <a:lnSpc>
                <a:spcPct val="101699"/>
              </a:lnSpc>
              <a:spcBef>
                <a:spcPts val="75"/>
              </a:spcBef>
            </a:pPr>
            <a:r>
              <a:rPr dirty="0" sz="1150" spc="-170">
                <a:latin typeface="Arial"/>
                <a:cs typeface="Arial"/>
              </a:rPr>
              <a:t>P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10">
                <a:latin typeface="Arial"/>
                <a:cs typeface="Arial"/>
              </a:rPr>
              <a:t>r</a:t>
            </a:r>
            <a:r>
              <a:rPr dirty="0" sz="1150" spc="60">
                <a:latin typeface="Arial"/>
                <a:cs typeface="Arial"/>
              </a:rPr>
              <a:t>t</a:t>
            </a:r>
            <a:r>
              <a:rPr dirty="0" sz="1150" spc="-45">
                <a:latin typeface="Arial"/>
                <a:cs typeface="Arial"/>
              </a:rPr>
              <a:t>n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 spc="10">
                <a:latin typeface="Arial"/>
                <a:cs typeface="Arial"/>
              </a:rPr>
              <a:t>r</a:t>
            </a:r>
            <a:r>
              <a:rPr dirty="0" sz="1150" spc="-30">
                <a:latin typeface="Arial"/>
                <a:cs typeface="Arial"/>
              </a:rPr>
              <a:t>- 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-80">
                <a:latin typeface="Arial"/>
                <a:cs typeface="Arial"/>
              </a:rPr>
              <a:t>Ship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30567" y="4650742"/>
            <a:ext cx="793115" cy="3797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79375" marR="5080" indent="-67310">
              <a:lnSpc>
                <a:spcPct val="101699"/>
              </a:lnSpc>
              <a:spcBef>
                <a:spcPts val="75"/>
              </a:spcBef>
            </a:pPr>
            <a:r>
              <a:rPr dirty="0" sz="1150" spc="-225">
                <a:latin typeface="Arial"/>
                <a:cs typeface="Arial"/>
              </a:rPr>
              <a:t>C</a:t>
            </a:r>
            <a:r>
              <a:rPr dirty="0" sz="1150" spc="-30">
                <a:latin typeface="Arial"/>
                <a:cs typeface="Arial"/>
              </a:rPr>
              <a:t>o</a:t>
            </a:r>
            <a:r>
              <a:rPr dirty="0" sz="1150" spc="-40">
                <a:latin typeface="Arial"/>
                <a:cs typeface="Arial"/>
              </a:rPr>
              <a:t>-</a:t>
            </a:r>
            <a:r>
              <a:rPr dirty="0" sz="1150" spc="-30">
                <a:latin typeface="Arial"/>
                <a:cs typeface="Arial"/>
              </a:rPr>
              <a:t>o</a:t>
            </a:r>
            <a:r>
              <a:rPr dirty="0" sz="1150" spc="-45">
                <a:latin typeface="Arial"/>
                <a:cs typeface="Arial"/>
              </a:rPr>
              <a:t>p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 spc="10">
                <a:latin typeface="Arial"/>
                <a:cs typeface="Arial"/>
              </a:rPr>
              <a:t>r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60">
                <a:latin typeface="Arial"/>
                <a:cs typeface="Arial"/>
              </a:rPr>
              <a:t>t</a:t>
            </a: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65">
                <a:latin typeface="Arial"/>
                <a:cs typeface="Arial"/>
              </a:rPr>
              <a:t>v</a:t>
            </a:r>
            <a:r>
              <a:rPr dirty="0" sz="1150" spc="-55">
                <a:latin typeface="Arial"/>
                <a:cs typeface="Arial"/>
              </a:rPr>
              <a:t>e </a:t>
            </a:r>
            <a:r>
              <a:rPr dirty="0" sz="1150" spc="-35">
                <a:latin typeface="Times New Roman"/>
                <a:cs typeface="Times New Roman"/>
              </a:rPr>
              <a:t> </a:t>
            </a:r>
            <a:r>
              <a:rPr dirty="0" sz="1150" spc="-65">
                <a:latin typeface="Arial"/>
                <a:cs typeface="Arial"/>
              </a:rPr>
              <a:t>Societies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0302" y="4650742"/>
            <a:ext cx="684530" cy="558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85">
                <a:latin typeface="Arial"/>
                <a:cs typeface="Arial"/>
              </a:rPr>
              <a:t>Sole  </a:t>
            </a:r>
            <a:r>
              <a:rPr dirty="0" sz="1150" spc="-170">
                <a:latin typeface="Arial"/>
                <a:cs typeface="Arial"/>
              </a:rPr>
              <a:t>P</a:t>
            </a:r>
            <a:r>
              <a:rPr dirty="0" sz="1150" spc="10">
                <a:latin typeface="Arial"/>
                <a:cs typeface="Arial"/>
              </a:rPr>
              <a:t>r</a:t>
            </a:r>
            <a:r>
              <a:rPr dirty="0" sz="1150" spc="-30">
                <a:latin typeface="Arial"/>
                <a:cs typeface="Arial"/>
              </a:rPr>
              <a:t>o</a:t>
            </a:r>
            <a:r>
              <a:rPr dirty="0" sz="1150" spc="-45">
                <a:latin typeface="Arial"/>
                <a:cs typeface="Arial"/>
              </a:rPr>
              <a:t>p</a:t>
            </a:r>
            <a:r>
              <a:rPr dirty="0" sz="1150" spc="10">
                <a:latin typeface="Arial"/>
                <a:cs typeface="Arial"/>
              </a:rPr>
              <a:t>r</a:t>
            </a: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 spc="60">
                <a:latin typeface="Arial"/>
                <a:cs typeface="Arial"/>
              </a:rPr>
              <a:t>t</a:t>
            </a:r>
            <a:r>
              <a:rPr dirty="0" sz="1150" spc="-30">
                <a:latin typeface="Arial"/>
                <a:cs typeface="Arial"/>
              </a:rPr>
              <a:t>o</a:t>
            </a:r>
            <a:r>
              <a:rPr dirty="0" sz="1150" spc="10">
                <a:latin typeface="Arial"/>
                <a:cs typeface="Arial"/>
              </a:rPr>
              <a:t>r</a:t>
            </a:r>
            <a:r>
              <a:rPr dirty="0" sz="1150" spc="-30">
                <a:latin typeface="Arial"/>
                <a:cs typeface="Arial"/>
              </a:rPr>
              <a:t>- 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-80">
                <a:latin typeface="Arial"/>
                <a:cs typeface="Arial"/>
              </a:rPr>
              <a:t>Ship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57353" y="4650742"/>
            <a:ext cx="585470" cy="558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ctr" marL="12700" marR="5080" indent="41275">
              <a:lnSpc>
                <a:spcPct val="101699"/>
              </a:lnSpc>
              <a:spcBef>
                <a:spcPts val="75"/>
              </a:spcBef>
            </a:pPr>
            <a:r>
              <a:rPr dirty="0" sz="1150" spc="-45">
                <a:latin typeface="Arial"/>
                <a:cs typeface="Arial"/>
              </a:rPr>
              <a:t>Joint  </a:t>
            </a:r>
            <a:r>
              <a:rPr dirty="0" sz="1150" spc="-70">
                <a:latin typeface="Arial"/>
                <a:cs typeface="Arial"/>
              </a:rPr>
              <a:t>Stock  </a:t>
            </a:r>
            <a:r>
              <a:rPr dirty="0" sz="1150" spc="-225">
                <a:latin typeface="Arial"/>
                <a:cs typeface="Arial"/>
              </a:rPr>
              <a:t>C</a:t>
            </a:r>
            <a:r>
              <a:rPr dirty="0" sz="1150" spc="-45">
                <a:latin typeface="Arial"/>
                <a:cs typeface="Arial"/>
              </a:rPr>
              <a:t>o</a:t>
            </a:r>
            <a:r>
              <a:rPr dirty="0" sz="1150" spc="-35">
                <a:latin typeface="Arial"/>
                <a:cs typeface="Arial"/>
              </a:rPr>
              <a:t>m</a:t>
            </a:r>
            <a:r>
              <a:rPr dirty="0" sz="1150" spc="-45">
                <a:latin typeface="Arial"/>
                <a:cs typeface="Arial"/>
              </a:rPr>
              <a:t>p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45">
                <a:latin typeface="Arial"/>
                <a:cs typeface="Arial"/>
              </a:rPr>
              <a:t>n</a:t>
            </a:r>
            <a:r>
              <a:rPr dirty="0" sz="1150" spc="-55">
                <a:latin typeface="Arial"/>
                <a:cs typeface="Arial"/>
              </a:rPr>
              <a:t>y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30292" y="5542281"/>
            <a:ext cx="5512435" cy="32632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105"/>
              </a:spcBef>
              <a:buSzPct val="85185"/>
              <a:buAutoNum type="arabicPeriod"/>
              <a:tabLst>
                <a:tab pos="469265" algn="l"/>
                <a:tab pos="469900" algn="l"/>
              </a:tabLst>
            </a:pPr>
            <a:r>
              <a:rPr dirty="0" sz="1350" spc="-225" b="1">
                <a:latin typeface="Arial"/>
                <a:cs typeface="Arial"/>
              </a:rPr>
              <a:t>SOLE</a:t>
            </a:r>
            <a:r>
              <a:rPr dirty="0" sz="1350" spc="-220" b="1">
                <a:latin typeface="Arial"/>
                <a:cs typeface="Arial"/>
              </a:rPr>
              <a:t> </a:t>
            </a:r>
            <a:r>
              <a:rPr dirty="0" sz="1350" spc="-170" b="1">
                <a:latin typeface="Arial"/>
                <a:cs typeface="Arial"/>
              </a:rPr>
              <a:t>PROPRIETORSHIP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10" b="1">
                <a:latin typeface="Arial"/>
                <a:cs typeface="Arial"/>
              </a:rPr>
              <a:t>According </a:t>
            </a:r>
            <a:r>
              <a:rPr dirty="0" sz="1150" spc="-40" b="1">
                <a:latin typeface="Arial"/>
                <a:cs typeface="Arial"/>
              </a:rPr>
              <a:t>to </a:t>
            </a:r>
            <a:r>
              <a:rPr dirty="0" sz="1150" spc="-60" b="1">
                <a:latin typeface="Arial"/>
                <a:cs typeface="Arial"/>
              </a:rPr>
              <a:t>D.W.T.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Stafford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469900" marR="5715">
              <a:lnSpc>
                <a:spcPct val="101699"/>
              </a:lnSpc>
            </a:pPr>
            <a:r>
              <a:rPr dirty="0" sz="1150" spc="40" i="1">
                <a:latin typeface="Arial"/>
                <a:cs typeface="Arial"/>
              </a:rPr>
              <a:t>“It </a:t>
            </a:r>
            <a:r>
              <a:rPr dirty="0" sz="1150" spc="-65" i="1">
                <a:latin typeface="Arial"/>
                <a:cs typeface="Arial"/>
              </a:rPr>
              <a:t>is </a:t>
            </a:r>
            <a:r>
              <a:rPr dirty="0" sz="1150" spc="-30" i="1">
                <a:latin typeface="Arial"/>
                <a:cs typeface="Arial"/>
              </a:rPr>
              <a:t>the </a:t>
            </a:r>
            <a:r>
              <a:rPr dirty="0" sz="1150" spc="-50" i="1">
                <a:latin typeface="Arial"/>
                <a:cs typeface="Arial"/>
              </a:rPr>
              <a:t>simplest </a:t>
            </a:r>
            <a:r>
              <a:rPr dirty="0" sz="1150" spc="-15" i="1">
                <a:latin typeface="Arial"/>
                <a:cs typeface="Arial"/>
              </a:rPr>
              <a:t>form </a:t>
            </a:r>
            <a:r>
              <a:rPr dirty="0" sz="1150" spc="-10" i="1">
                <a:latin typeface="Arial"/>
                <a:cs typeface="Arial"/>
              </a:rPr>
              <a:t>of </a:t>
            </a:r>
            <a:r>
              <a:rPr dirty="0" sz="1150" spc="-80" i="1">
                <a:latin typeface="Arial"/>
                <a:cs typeface="Arial"/>
              </a:rPr>
              <a:t>business </a:t>
            </a:r>
            <a:r>
              <a:rPr dirty="0" sz="1150" spc="-35" i="1">
                <a:latin typeface="Arial"/>
                <a:cs typeface="Arial"/>
              </a:rPr>
              <a:t>organization, </a:t>
            </a:r>
            <a:r>
              <a:rPr dirty="0" sz="1150" spc="-40" i="1">
                <a:latin typeface="Arial"/>
                <a:cs typeface="Arial"/>
              </a:rPr>
              <a:t>which </a:t>
            </a:r>
            <a:r>
              <a:rPr dirty="0" sz="1150" spc="-65" i="1">
                <a:latin typeface="Arial"/>
                <a:cs typeface="Arial"/>
              </a:rPr>
              <a:t>is </a:t>
            </a:r>
            <a:r>
              <a:rPr dirty="0" sz="1150" spc="-55" i="1">
                <a:latin typeface="Arial"/>
                <a:cs typeface="Arial"/>
              </a:rPr>
              <a:t>owned </a:t>
            </a:r>
            <a:r>
              <a:rPr dirty="0" sz="1150" spc="-50" i="1">
                <a:latin typeface="Arial"/>
                <a:cs typeface="Arial"/>
              </a:rPr>
              <a:t>and </a:t>
            </a:r>
            <a:r>
              <a:rPr dirty="0" sz="1150" spc="-35" i="1">
                <a:latin typeface="Arial"/>
                <a:cs typeface="Arial"/>
              </a:rPr>
              <a:t>controlled </a:t>
            </a:r>
            <a:r>
              <a:rPr dirty="0" sz="1150" spc="-60" i="1">
                <a:latin typeface="Arial"/>
                <a:cs typeface="Arial"/>
              </a:rPr>
              <a:t>by  </a:t>
            </a:r>
            <a:r>
              <a:rPr dirty="0" sz="1150" spc="-70" i="1">
                <a:latin typeface="Arial"/>
                <a:cs typeface="Arial"/>
              </a:rPr>
              <a:t>one</a:t>
            </a:r>
            <a:r>
              <a:rPr dirty="0" sz="1150" spc="-60" i="1">
                <a:latin typeface="Arial"/>
                <a:cs typeface="Arial"/>
              </a:rPr>
              <a:t> </a:t>
            </a:r>
            <a:r>
              <a:rPr dirty="0" sz="1150" spc="-15" i="1">
                <a:latin typeface="Arial"/>
                <a:cs typeface="Arial"/>
              </a:rPr>
              <a:t>man”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 indent="45720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oldest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owned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25">
                <a:latin typeface="Arial"/>
                <a:cs typeface="Arial"/>
              </a:rPr>
              <a:t>controlled </a:t>
            </a:r>
            <a:r>
              <a:rPr dirty="0" sz="1150" spc="-50">
                <a:latin typeface="Arial"/>
                <a:cs typeface="Arial"/>
              </a:rPr>
              <a:t>by one person.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70">
                <a:latin typeface="Arial"/>
                <a:cs typeface="Arial"/>
              </a:rPr>
              <a:t>business,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55">
                <a:latin typeface="Arial"/>
                <a:cs typeface="Arial"/>
              </a:rPr>
              <a:t>man </a:t>
            </a:r>
            <a:r>
              <a:rPr dirty="0" sz="1150" spc="-50">
                <a:latin typeface="Arial"/>
                <a:cs typeface="Arial"/>
              </a:rPr>
              <a:t>invests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40">
                <a:latin typeface="Arial"/>
                <a:cs typeface="Arial"/>
              </a:rPr>
              <a:t>himself. </a:t>
            </a:r>
            <a:r>
              <a:rPr dirty="0" sz="1150" spc="-95">
                <a:latin typeface="Arial"/>
                <a:cs typeface="Arial"/>
              </a:rPr>
              <a:t>He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all 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doing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-95">
                <a:latin typeface="Arial"/>
                <a:cs typeface="Arial"/>
              </a:rPr>
              <a:t>He </a:t>
            </a:r>
            <a:r>
              <a:rPr dirty="0" sz="1150" spc="-55">
                <a:latin typeface="Arial"/>
                <a:cs typeface="Arial"/>
              </a:rPr>
              <a:t>enjoys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whole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>
                <a:latin typeface="Arial"/>
                <a:cs typeface="Arial"/>
              </a:rPr>
              <a:t>profit.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features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 </a:t>
            </a:r>
            <a:r>
              <a:rPr dirty="0" sz="1150" spc="-40">
                <a:latin typeface="Arial"/>
                <a:cs typeface="Arial"/>
              </a:rPr>
              <a:t>are: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buFont typeface="Wingdings"/>
              <a:buChar char=""/>
              <a:tabLst>
                <a:tab pos="926465" algn="l"/>
                <a:tab pos="927735" algn="l"/>
              </a:tabLst>
            </a:pPr>
            <a:r>
              <a:rPr dirty="0" sz="1150" spc="-120">
                <a:latin typeface="Arial"/>
                <a:cs typeface="Arial"/>
              </a:rPr>
              <a:t>Easy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Formation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6465" algn="l"/>
                <a:tab pos="927735" algn="l"/>
              </a:tabLst>
            </a:pPr>
            <a:r>
              <a:rPr dirty="0" sz="1150" spc="-25">
                <a:latin typeface="Arial"/>
                <a:cs typeface="Arial"/>
              </a:rPr>
              <a:t>Unlimited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Liability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6465" algn="l"/>
                <a:tab pos="927735" algn="l"/>
              </a:tabLst>
            </a:pPr>
            <a:r>
              <a:rPr dirty="0" sz="1150" spc="-50">
                <a:latin typeface="Arial"/>
                <a:cs typeface="Arial"/>
              </a:rPr>
              <a:t>Ownership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6465" algn="l"/>
                <a:tab pos="927735" algn="l"/>
              </a:tabLst>
            </a:pPr>
            <a:r>
              <a:rPr dirty="0" sz="1150" spc="-15">
                <a:latin typeface="Arial"/>
                <a:cs typeface="Arial"/>
              </a:rPr>
              <a:t>Profit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926465" algn="l"/>
                <a:tab pos="927735" algn="l"/>
              </a:tabLst>
            </a:pPr>
            <a:r>
              <a:rPr dirty="0" sz="1150" spc="-45">
                <a:latin typeface="Arial"/>
                <a:cs typeface="Arial"/>
              </a:rPr>
              <a:t>Management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6465" algn="l"/>
                <a:tab pos="927735" algn="l"/>
              </a:tabLst>
            </a:pPr>
            <a:r>
              <a:rPr dirty="0" sz="1150" spc="-120">
                <a:latin typeface="Arial"/>
                <a:cs typeface="Arial"/>
              </a:rPr>
              <a:t>Easy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Dissolution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57300" y="4255008"/>
            <a:ext cx="4572000" cy="457200"/>
          </a:xfrm>
          <a:custGeom>
            <a:avLst/>
            <a:gdLst/>
            <a:ahLst/>
            <a:cxnLst/>
            <a:rect l="l" t="t" r="r" b="b"/>
            <a:pathLst>
              <a:path w="4572000" h="457200">
                <a:moveTo>
                  <a:pt x="0" y="199643"/>
                </a:moveTo>
                <a:lnTo>
                  <a:pt x="4571999" y="199643"/>
                </a:lnTo>
              </a:path>
              <a:path w="4572000" h="457200">
                <a:moveTo>
                  <a:pt x="2285999" y="0"/>
                </a:moveTo>
                <a:lnTo>
                  <a:pt x="2285999" y="457199"/>
                </a:lnTo>
              </a:path>
              <a:path w="4572000" h="457200">
                <a:moveTo>
                  <a:pt x="0" y="199643"/>
                </a:moveTo>
                <a:lnTo>
                  <a:pt x="0" y="428243"/>
                </a:lnTo>
              </a:path>
              <a:path w="4572000" h="457200">
                <a:moveTo>
                  <a:pt x="1485899" y="199643"/>
                </a:moveTo>
                <a:lnTo>
                  <a:pt x="1485899" y="428243"/>
                </a:lnTo>
              </a:path>
              <a:path w="4572000" h="457200">
                <a:moveTo>
                  <a:pt x="3428999" y="199643"/>
                </a:moveTo>
                <a:lnTo>
                  <a:pt x="3428999" y="428243"/>
                </a:lnTo>
              </a:path>
              <a:path w="4572000" h="457200">
                <a:moveTo>
                  <a:pt x="4571999" y="199643"/>
                </a:moveTo>
                <a:lnTo>
                  <a:pt x="4571999" y="428243"/>
                </a:lnTo>
              </a:path>
            </a:pathLst>
          </a:custGeom>
          <a:ln w="935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20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30299" y="435359"/>
            <a:ext cx="2131695" cy="104584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4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dirty="0" sz="1350" spc="-45" b="1">
                <a:latin typeface="Arial"/>
                <a:cs typeface="Arial"/>
              </a:rPr>
              <a:t>2.</a:t>
            </a:r>
            <a:r>
              <a:rPr dirty="0" sz="1350" spc="-45">
                <a:latin typeface="Times New Roman"/>
                <a:cs typeface="Times New Roman"/>
              </a:rPr>
              <a:t>	</a:t>
            </a:r>
            <a:r>
              <a:rPr dirty="0" sz="1350" spc="-170" b="1">
                <a:latin typeface="Arial"/>
                <a:cs typeface="Arial"/>
              </a:rPr>
              <a:t>PARTNERSHIP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10" b="1">
                <a:latin typeface="Arial"/>
                <a:cs typeface="Arial"/>
              </a:rPr>
              <a:t>According </a:t>
            </a:r>
            <a:r>
              <a:rPr dirty="0" sz="1150" spc="-40" b="1">
                <a:latin typeface="Arial"/>
                <a:cs typeface="Arial"/>
              </a:rPr>
              <a:t>to </a:t>
            </a:r>
            <a:r>
              <a:rPr dirty="0" sz="1150" spc="-80" b="1">
                <a:latin typeface="Arial"/>
                <a:cs typeface="Arial"/>
              </a:rPr>
              <a:t>Partnership Act,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spc="-60" b="1">
                <a:latin typeface="Arial"/>
                <a:cs typeface="Arial"/>
              </a:rPr>
              <a:t>1932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0233" y="1636271"/>
            <a:ext cx="5513705" cy="742632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469900" marR="5715">
              <a:lnSpc>
                <a:spcPct val="101699"/>
              </a:lnSpc>
              <a:spcBef>
                <a:spcPts val="75"/>
              </a:spcBef>
            </a:pPr>
            <a:r>
              <a:rPr dirty="0" sz="1150" spc="-35" i="1">
                <a:latin typeface="Arial"/>
                <a:cs typeface="Arial"/>
              </a:rPr>
              <a:t>“Partnership </a:t>
            </a:r>
            <a:r>
              <a:rPr dirty="0" sz="1150" spc="-65" i="1">
                <a:latin typeface="Arial"/>
                <a:cs typeface="Arial"/>
              </a:rPr>
              <a:t>is </a:t>
            </a:r>
            <a:r>
              <a:rPr dirty="0" sz="1150" spc="-30" i="1">
                <a:latin typeface="Arial"/>
                <a:cs typeface="Arial"/>
              </a:rPr>
              <a:t>the </a:t>
            </a:r>
            <a:r>
              <a:rPr dirty="0" sz="1150" spc="-20" i="1">
                <a:latin typeface="Arial"/>
                <a:cs typeface="Arial"/>
              </a:rPr>
              <a:t>relation </a:t>
            </a:r>
            <a:r>
              <a:rPr dirty="0" sz="1150" spc="-50" i="1">
                <a:latin typeface="Arial"/>
                <a:cs typeface="Arial"/>
              </a:rPr>
              <a:t>between </a:t>
            </a:r>
            <a:r>
              <a:rPr dirty="0" sz="1150" spc="-75" i="1">
                <a:latin typeface="Arial"/>
                <a:cs typeface="Arial"/>
              </a:rPr>
              <a:t>persons </a:t>
            </a:r>
            <a:r>
              <a:rPr dirty="0" sz="1150" spc="-40" i="1">
                <a:latin typeface="Arial"/>
                <a:cs typeface="Arial"/>
              </a:rPr>
              <a:t>who </a:t>
            </a:r>
            <a:r>
              <a:rPr dirty="0" sz="1150" spc="-65" i="1">
                <a:latin typeface="Arial"/>
                <a:cs typeface="Arial"/>
              </a:rPr>
              <a:t>have </a:t>
            </a:r>
            <a:r>
              <a:rPr dirty="0" sz="1150" spc="-55" i="1">
                <a:latin typeface="Arial"/>
                <a:cs typeface="Arial"/>
              </a:rPr>
              <a:t>agreed </a:t>
            </a:r>
            <a:r>
              <a:rPr dirty="0" sz="1150" spc="5" i="1">
                <a:latin typeface="Arial"/>
                <a:cs typeface="Arial"/>
              </a:rPr>
              <a:t>to </a:t>
            </a:r>
            <a:r>
              <a:rPr dirty="0" sz="1150" spc="-65" i="1">
                <a:latin typeface="Arial"/>
                <a:cs typeface="Arial"/>
              </a:rPr>
              <a:t>share </a:t>
            </a:r>
            <a:r>
              <a:rPr dirty="0" sz="1150" spc="-30" i="1">
                <a:latin typeface="Arial"/>
                <a:cs typeface="Arial"/>
              </a:rPr>
              <a:t>the </a:t>
            </a:r>
            <a:r>
              <a:rPr dirty="0" sz="1150" spc="-20" i="1">
                <a:latin typeface="Arial"/>
                <a:cs typeface="Arial"/>
              </a:rPr>
              <a:t>profits </a:t>
            </a:r>
            <a:r>
              <a:rPr dirty="0" sz="1150" spc="-10" i="1">
                <a:latin typeface="Arial"/>
                <a:cs typeface="Arial"/>
              </a:rPr>
              <a:t>of  </a:t>
            </a:r>
            <a:r>
              <a:rPr dirty="0" sz="1150" spc="-50" i="1">
                <a:latin typeface="Arial"/>
                <a:cs typeface="Arial"/>
              </a:rPr>
              <a:t>a </a:t>
            </a:r>
            <a:r>
              <a:rPr dirty="0" sz="1150" spc="-80" i="1">
                <a:latin typeface="Arial"/>
                <a:cs typeface="Arial"/>
              </a:rPr>
              <a:t>business </a:t>
            </a:r>
            <a:r>
              <a:rPr dirty="0" sz="1150" spc="-40" i="1">
                <a:latin typeface="Arial"/>
                <a:cs typeface="Arial"/>
              </a:rPr>
              <a:t>carried </a:t>
            </a:r>
            <a:r>
              <a:rPr dirty="0" sz="1150" spc="-55" i="1">
                <a:latin typeface="Arial"/>
                <a:cs typeface="Arial"/>
              </a:rPr>
              <a:t>on </a:t>
            </a:r>
            <a:r>
              <a:rPr dirty="0" sz="1150" spc="-60" i="1">
                <a:latin typeface="Arial"/>
                <a:cs typeface="Arial"/>
              </a:rPr>
              <a:t>by </a:t>
            </a:r>
            <a:r>
              <a:rPr dirty="0" sz="1150" spc="-10" i="1">
                <a:latin typeface="Arial"/>
                <a:cs typeface="Arial"/>
              </a:rPr>
              <a:t>all </a:t>
            </a:r>
            <a:r>
              <a:rPr dirty="0" sz="1150" spc="-25" i="1">
                <a:latin typeface="Arial"/>
                <a:cs typeface="Arial"/>
              </a:rPr>
              <a:t>or </a:t>
            </a:r>
            <a:r>
              <a:rPr dirty="0" sz="1150" spc="-60" i="1">
                <a:latin typeface="Arial"/>
                <a:cs typeface="Arial"/>
              </a:rPr>
              <a:t>any </a:t>
            </a:r>
            <a:r>
              <a:rPr dirty="0" sz="1150" spc="-15" i="1">
                <a:latin typeface="Arial"/>
                <a:cs typeface="Arial"/>
              </a:rPr>
              <a:t>of </a:t>
            </a:r>
            <a:r>
              <a:rPr dirty="0" sz="1150" spc="-35" i="1">
                <a:latin typeface="Arial"/>
                <a:cs typeface="Arial"/>
              </a:rPr>
              <a:t>them acting </a:t>
            </a:r>
            <a:r>
              <a:rPr dirty="0" sz="1150" spc="-10" i="1">
                <a:latin typeface="Arial"/>
                <a:cs typeface="Arial"/>
              </a:rPr>
              <a:t>for</a:t>
            </a:r>
            <a:r>
              <a:rPr dirty="0" sz="1150" spc="-240" i="1">
                <a:latin typeface="Arial"/>
                <a:cs typeface="Arial"/>
              </a:rPr>
              <a:t> </a:t>
            </a:r>
            <a:r>
              <a:rPr dirty="0" sz="1150" i="1">
                <a:latin typeface="Arial"/>
                <a:cs typeface="Arial"/>
              </a:rPr>
              <a:t>all.”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 indent="457200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Partnership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lawful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35">
                <a:latin typeface="Arial"/>
                <a:cs typeface="Arial"/>
              </a:rPr>
              <a:t>owned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10">
                <a:latin typeface="Arial"/>
                <a:cs typeface="Arial"/>
              </a:rPr>
              <a:t>two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55">
                <a:latin typeface="Arial"/>
                <a:cs typeface="Arial"/>
              </a:rPr>
              <a:t>persons.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5">
                <a:latin typeface="Arial"/>
                <a:cs typeface="Arial"/>
              </a:rPr>
              <a:t>profit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0">
                <a:latin typeface="Arial"/>
                <a:cs typeface="Arial"/>
              </a:rPr>
              <a:t>shared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0">
                <a:latin typeface="Arial"/>
                <a:cs typeface="Arial"/>
              </a:rPr>
              <a:t>agreed </a:t>
            </a:r>
            <a:r>
              <a:rPr dirty="0" sz="1150" spc="-15">
                <a:latin typeface="Arial"/>
                <a:cs typeface="Arial"/>
              </a:rPr>
              <a:t>ratio.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liability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each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20">
                <a:latin typeface="Arial"/>
                <a:cs typeface="Arial"/>
              </a:rPr>
              <a:t>unlimited. </a:t>
            </a:r>
            <a:r>
              <a:rPr dirty="0" sz="1150" spc="-75">
                <a:latin typeface="Arial"/>
                <a:cs typeface="Arial"/>
              </a:rPr>
              <a:t>Small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medium </a:t>
            </a:r>
            <a:r>
              <a:rPr dirty="0" sz="1150" spc="-80">
                <a:latin typeface="Arial"/>
                <a:cs typeface="Arial"/>
              </a:rPr>
              <a:t>size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30">
                <a:latin typeface="Arial"/>
                <a:cs typeface="Arial"/>
              </a:rPr>
              <a:t>activities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5">
                <a:latin typeface="Arial"/>
                <a:cs typeface="Arial"/>
              </a:rPr>
              <a:t>performed </a:t>
            </a:r>
            <a:r>
              <a:rPr dirty="0" sz="1150" spc="-35">
                <a:latin typeface="Arial"/>
                <a:cs typeface="Arial"/>
              </a:rPr>
              <a:t>under </a:t>
            </a:r>
            <a:r>
              <a:rPr dirty="0" sz="1150" spc="-20">
                <a:latin typeface="Arial"/>
                <a:cs typeface="Arial"/>
              </a:rPr>
              <a:t>this </a:t>
            </a:r>
            <a:r>
              <a:rPr dirty="0" sz="1150" spc="-40">
                <a:latin typeface="Arial"/>
                <a:cs typeface="Arial"/>
              </a:rPr>
              <a:t>organization. 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20">
                <a:latin typeface="Arial"/>
                <a:cs typeface="Arial"/>
              </a:rPr>
              <a:t>the following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features: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dirty="0" sz="1150" spc="-85">
                <a:latin typeface="Arial"/>
                <a:cs typeface="Arial"/>
              </a:rPr>
              <a:t>Legal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Entity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dirty="0" sz="1150" spc="-15">
                <a:latin typeface="Arial"/>
                <a:cs typeface="Arial"/>
              </a:rPr>
              <a:t>Profit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10">
                <a:latin typeface="Arial"/>
                <a:cs typeface="Arial"/>
              </a:rPr>
              <a:t>Loss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Distribution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dirty="0" sz="1150" spc="-25">
                <a:latin typeface="Arial"/>
                <a:cs typeface="Arial"/>
              </a:rPr>
              <a:t>Unlimited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Liability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dirty="0" sz="1150" spc="-55">
                <a:latin typeface="Arial"/>
                <a:cs typeface="Arial"/>
              </a:rPr>
              <a:t>Transfer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0">
                <a:latin typeface="Arial"/>
                <a:cs typeface="Arial"/>
              </a:rPr>
              <a:t> Rights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dirty="0" sz="1150" spc="-45">
                <a:latin typeface="Arial"/>
                <a:cs typeface="Arial"/>
              </a:rPr>
              <a:t>Management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dirty="0" sz="1150" spc="-4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Partners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3"/>
              <a:tabLst>
                <a:tab pos="469900" algn="l"/>
                <a:tab pos="470534" algn="l"/>
              </a:tabLst>
            </a:pPr>
            <a:r>
              <a:rPr dirty="0" sz="1350" spc="-145" b="1">
                <a:latin typeface="Arial"/>
                <a:cs typeface="Arial"/>
              </a:rPr>
              <a:t>JOINT </a:t>
            </a:r>
            <a:r>
              <a:rPr dirty="0" sz="1350" spc="-215" b="1">
                <a:latin typeface="Arial"/>
                <a:cs typeface="Arial"/>
              </a:rPr>
              <a:t>STOCK</a:t>
            </a:r>
            <a:r>
              <a:rPr dirty="0" sz="1350" spc="-225" b="1">
                <a:latin typeface="Arial"/>
                <a:cs typeface="Arial"/>
              </a:rPr>
              <a:t> </a:t>
            </a:r>
            <a:r>
              <a:rPr dirty="0" sz="1350" spc="-145" b="1">
                <a:latin typeface="Arial"/>
                <a:cs typeface="Arial"/>
              </a:rPr>
              <a:t>COMPANY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AutoNum type="arabicPeriod" startAt="3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10" b="1">
                <a:latin typeface="Arial"/>
                <a:cs typeface="Arial"/>
              </a:rPr>
              <a:t>According </a:t>
            </a:r>
            <a:r>
              <a:rPr dirty="0" sz="1150" spc="-40" b="1">
                <a:latin typeface="Arial"/>
                <a:cs typeface="Arial"/>
              </a:rPr>
              <a:t>to </a:t>
            </a:r>
            <a:r>
              <a:rPr dirty="0" sz="1150" spc="-125" b="1">
                <a:latin typeface="Arial"/>
                <a:cs typeface="Arial"/>
              </a:rPr>
              <a:t>S. </a:t>
            </a:r>
            <a:r>
              <a:rPr dirty="0" sz="1150" spc="-110" b="1">
                <a:latin typeface="Arial"/>
                <a:cs typeface="Arial"/>
              </a:rPr>
              <a:t>E.</a:t>
            </a:r>
            <a:r>
              <a:rPr dirty="0" sz="1150" spc="25" b="1">
                <a:latin typeface="Arial"/>
                <a:cs typeface="Arial"/>
              </a:rPr>
              <a:t> </a:t>
            </a:r>
            <a:r>
              <a:rPr dirty="0" sz="1150" spc="-114" b="1">
                <a:latin typeface="Arial"/>
                <a:cs typeface="Arial"/>
              </a:rPr>
              <a:t>Thomas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469900" marR="8255">
              <a:lnSpc>
                <a:spcPct val="101699"/>
              </a:lnSpc>
            </a:pPr>
            <a:r>
              <a:rPr dirty="0" sz="1150" spc="-5" i="1">
                <a:latin typeface="Arial"/>
                <a:cs typeface="Arial"/>
              </a:rPr>
              <a:t>“A </a:t>
            </a:r>
            <a:r>
              <a:rPr dirty="0" sz="1150" spc="-65" i="1">
                <a:latin typeface="Arial"/>
                <a:cs typeface="Arial"/>
              </a:rPr>
              <a:t>company is </a:t>
            </a:r>
            <a:r>
              <a:rPr dirty="0" sz="1150" spc="-55" i="1">
                <a:latin typeface="Arial"/>
                <a:cs typeface="Arial"/>
              </a:rPr>
              <a:t>an </a:t>
            </a:r>
            <a:r>
              <a:rPr dirty="0" sz="1150" spc="-35" i="1">
                <a:latin typeface="Arial"/>
                <a:cs typeface="Arial"/>
              </a:rPr>
              <a:t>incorporated </a:t>
            </a:r>
            <a:r>
              <a:rPr dirty="0" sz="1150" spc="-50" i="1">
                <a:latin typeface="Arial"/>
                <a:cs typeface="Arial"/>
              </a:rPr>
              <a:t>association </a:t>
            </a:r>
            <a:r>
              <a:rPr dirty="0" sz="1150" spc="-15" i="1">
                <a:latin typeface="Arial"/>
                <a:cs typeface="Arial"/>
              </a:rPr>
              <a:t>of </a:t>
            </a:r>
            <a:r>
              <a:rPr dirty="0" sz="1150" spc="-70" i="1">
                <a:latin typeface="Arial"/>
                <a:cs typeface="Arial"/>
              </a:rPr>
              <a:t>persons </a:t>
            </a:r>
            <a:r>
              <a:rPr dirty="0" sz="1150" spc="-35" i="1">
                <a:latin typeface="Arial"/>
                <a:cs typeface="Arial"/>
              </a:rPr>
              <a:t>formed </a:t>
            </a:r>
            <a:r>
              <a:rPr dirty="0" sz="1150" spc="-50" i="1">
                <a:latin typeface="Arial"/>
                <a:cs typeface="Arial"/>
              </a:rPr>
              <a:t>usually </a:t>
            </a:r>
            <a:r>
              <a:rPr dirty="0" sz="1150" spc="-5" i="1">
                <a:latin typeface="Arial"/>
                <a:cs typeface="Arial"/>
              </a:rPr>
              <a:t>for </a:t>
            </a:r>
            <a:r>
              <a:rPr dirty="0" sz="1150" spc="-30" i="1">
                <a:latin typeface="Arial"/>
                <a:cs typeface="Arial"/>
              </a:rPr>
              <a:t>the </a:t>
            </a:r>
            <a:r>
              <a:rPr dirty="0" sz="1150" spc="-35" i="1">
                <a:latin typeface="Arial"/>
                <a:cs typeface="Arial"/>
              </a:rPr>
              <a:t>pursuit  </a:t>
            </a:r>
            <a:r>
              <a:rPr dirty="0" sz="1150" spc="-15" i="1">
                <a:latin typeface="Arial"/>
                <a:cs typeface="Arial"/>
              </a:rPr>
              <a:t>of </a:t>
            </a:r>
            <a:r>
              <a:rPr dirty="0" sz="1150" spc="-85" i="1">
                <a:latin typeface="Arial"/>
                <a:cs typeface="Arial"/>
              </a:rPr>
              <a:t>some </a:t>
            </a:r>
            <a:r>
              <a:rPr dirty="0" sz="1150" spc="-50" i="1">
                <a:latin typeface="Arial"/>
                <a:cs typeface="Arial"/>
              </a:rPr>
              <a:t>commercial</a:t>
            </a:r>
            <a:r>
              <a:rPr dirty="0" sz="1150" spc="-80" i="1">
                <a:latin typeface="Arial"/>
                <a:cs typeface="Arial"/>
              </a:rPr>
              <a:t> </a:t>
            </a:r>
            <a:r>
              <a:rPr dirty="0" sz="1150" spc="-55" i="1">
                <a:latin typeface="Arial"/>
                <a:cs typeface="Arial"/>
              </a:rPr>
              <a:t>purposes”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 indent="45720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voluntary </a:t>
            </a:r>
            <a:r>
              <a:rPr dirty="0" sz="1150" spc="-50">
                <a:latin typeface="Arial"/>
                <a:cs typeface="Arial"/>
              </a:rPr>
              <a:t>association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-40">
                <a:latin typeface="Arial"/>
                <a:cs typeface="Arial"/>
              </a:rPr>
              <a:t>created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0">
                <a:latin typeface="Arial"/>
                <a:cs typeface="Arial"/>
              </a:rPr>
              <a:t>law.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50">
                <a:latin typeface="Arial"/>
                <a:cs typeface="Arial"/>
              </a:rPr>
              <a:t>separate legal </a:t>
            </a:r>
            <a:r>
              <a:rPr dirty="0" sz="1150" spc="-10">
                <a:latin typeface="Arial"/>
                <a:cs typeface="Arial"/>
              </a:rPr>
              <a:t>entity </a:t>
            </a:r>
            <a:r>
              <a:rPr dirty="0" sz="1150" spc="-30">
                <a:latin typeface="Arial"/>
                <a:cs typeface="Arial"/>
              </a:rPr>
              <a:t>apart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50">
                <a:latin typeface="Arial"/>
                <a:cs typeface="Arial"/>
              </a:rPr>
              <a:t>members.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80">
                <a:latin typeface="Arial"/>
                <a:cs typeface="Arial"/>
              </a:rPr>
              <a:t>sue </a:t>
            </a:r>
            <a:r>
              <a:rPr dirty="0" sz="1150" spc="-55">
                <a:latin typeface="Arial"/>
                <a:cs typeface="Arial"/>
              </a:rPr>
              <a:t>and be </a:t>
            </a:r>
            <a:r>
              <a:rPr dirty="0" sz="1150" spc="-70">
                <a:latin typeface="Arial"/>
                <a:cs typeface="Arial"/>
              </a:rPr>
              <a:t>sued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55">
                <a:latin typeface="Arial"/>
                <a:cs typeface="Arial"/>
              </a:rPr>
              <a:t>name.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15">
                <a:latin typeface="Arial"/>
                <a:cs typeface="Arial"/>
              </a:rPr>
              <a:t>the 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55">
                <a:latin typeface="Arial"/>
                <a:cs typeface="Arial"/>
              </a:rPr>
              <a:t>company, </a:t>
            </a:r>
            <a:r>
              <a:rPr dirty="0" sz="1150" spc="-20">
                <a:latin typeface="Arial"/>
                <a:cs typeface="Arial"/>
              </a:rPr>
              <a:t>the work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65">
                <a:latin typeface="Arial"/>
                <a:cs typeface="Arial"/>
              </a:rPr>
              <a:t>begins </a:t>
            </a:r>
            <a:r>
              <a:rPr dirty="0" sz="1150" spc="-30">
                <a:latin typeface="Arial"/>
                <a:cs typeface="Arial"/>
              </a:rPr>
              <a:t>before </a:t>
            </a:r>
            <a:r>
              <a:rPr dirty="0" sz="1150" spc="-25">
                <a:latin typeface="Arial"/>
                <a:cs typeface="Arial"/>
              </a:rPr>
              <a:t>its incorporation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0">
                <a:latin typeface="Arial"/>
                <a:cs typeface="Arial"/>
              </a:rPr>
              <a:t>promoters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45">
                <a:latin typeface="Arial"/>
                <a:cs typeface="Arial"/>
              </a:rPr>
              <a:t>continues </a:t>
            </a: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25">
                <a:latin typeface="Arial"/>
                <a:cs typeface="Arial"/>
              </a:rPr>
              <a:t>incorporation.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following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feature: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dirty="0" sz="1150" spc="-50">
                <a:latin typeface="Arial"/>
                <a:cs typeface="Arial"/>
              </a:rPr>
              <a:t>Creation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Law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dirty="0" sz="1150" spc="-70">
                <a:latin typeface="Arial"/>
                <a:cs typeface="Arial"/>
              </a:rPr>
              <a:t>Separate </a:t>
            </a:r>
            <a:r>
              <a:rPr dirty="0" sz="1150" spc="-85">
                <a:latin typeface="Arial"/>
                <a:cs typeface="Arial"/>
              </a:rPr>
              <a:t>Legal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Entity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dirty="0" sz="1150" spc="-35">
                <a:latin typeface="Arial"/>
                <a:cs typeface="Arial"/>
              </a:rPr>
              <a:t>Limited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Liability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dirty="0" sz="1150" spc="-35">
                <a:latin typeface="Arial"/>
                <a:cs typeface="Arial"/>
              </a:rPr>
              <a:t>Transferability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shares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dirty="0" sz="1150" spc="-4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Members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7100" algn="l"/>
                <a:tab pos="927735" algn="l"/>
              </a:tabLst>
            </a:pPr>
            <a:r>
              <a:rPr dirty="0" sz="1150" spc="-70">
                <a:latin typeface="Arial"/>
                <a:cs typeface="Arial"/>
              </a:rPr>
              <a:t>Common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00">
                <a:latin typeface="Arial"/>
                <a:cs typeface="Arial"/>
              </a:rPr>
              <a:t>Seal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Font typeface="Wingdings"/>
              <a:buChar char=""/>
            </a:pPr>
            <a:endParaRPr sz="145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469900" algn="l"/>
                <a:tab pos="470534" algn="l"/>
              </a:tabLst>
            </a:pPr>
            <a:r>
              <a:rPr dirty="0" sz="1350" spc="-170" b="1">
                <a:latin typeface="Arial"/>
                <a:cs typeface="Arial"/>
              </a:rPr>
              <a:t>COOPERATIVE</a:t>
            </a:r>
            <a:r>
              <a:rPr dirty="0" sz="1350" spc="-70" b="1">
                <a:latin typeface="Arial"/>
                <a:cs typeface="Arial"/>
              </a:rPr>
              <a:t> </a:t>
            </a:r>
            <a:r>
              <a:rPr dirty="0" sz="1350" spc="-185" b="1">
                <a:latin typeface="Arial"/>
                <a:cs typeface="Arial"/>
              </a:rPr>
              <a:t>SOCIETIES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10" b="1">
                <a:latin typeface="Arial"/>
                <a:cs typeface="Arial"/>
              </a:rPr>
              <a:t>According </a:t>
            </a:r>
            <a:r>
              <a:rPr dirty="0" sz="1150" spc="-40" b="1">
                <a:latin typeface="Arial"/>
                <a:cs typeface="Arial"/>
              </a:rPr>
              <a:t>to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Herrik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469900" marR="5715">
              <a:lnSpc>
                <a:spcPct val="101699"/>
              </a:lnSpc>
            </a:pPr>
            <a:r>
              <a:rPr dirty="0" sz="1150" spc="-40" i="1">
                <a:latin typeface="Arial"/>
                <a:cs typeface="Arial"/>
              </a:rPr>
              <a:t>“Cooperation </a:t>
            </a:r>
            <a:r>
              <a:rPr dirty="0" sz="1150" spc="-65" i="1">
                <a:latin typeface="Arial"/>
                <a:cs typeface="Arial"/>
              </a:rPr>
              <a:t>is </a:t>
            </a:r>
            <a:r>
              <a:rPr dirty="0" sz="1150" spc="-50" i="1">
                <a:latin typeface="Arial"/>
                <a:cs typeface="Arial"/>
              </a:rPr>
              <a:t>an </a:t>
            </a:r>
            <a:r>
              <a:rPr dirty="0" sz="1150" spc="-35" i="1">
                <a:latin typeface="Arial"/>
                <a:cs typeface="Arial"/>
              </a:rPr>
              <a:t>action </a:t>
            </a:r>
            <a:r>
              <a:rPr dirty="0" sz="1150" spc="-15" i="1">
                <a:latin typeface="Arial"/>
                <a:cs typeface="Arial"/>
              </a:rPr>
              <a:t>of </a:t>
            </a:r>
            <a:r>
              <a:rPr dirty="0" sz="1150" spc="-75" i="1">
                <a:latin typeface="Arial"/>
                <a:cs typeface="Arial"/>
              </a:rPr>
              <a:t>persons </a:t>
            </a:r>
            <a:r>
              <a:rPr dirty="0" sz="1150" spc="-25" i="1">
                <a:latin typeface="Arial"/>
                <a:cs typeface="Arial"/>
              </a:rPr>
              <a:t>voluntarily </a:t>
            </a:r>
            <a:r>
              <a:rPr dirty="0" sz="1150" spc="-30" i="1">
                <a:latin typeface="Arial"/>
                <a:cs typeface="Arial"/>
              </a:rPr>
              <a:t>united </a:t>
            </a:r>
            <a:r>
              <a:rPr dirty="0" sz="1150" spc="-10" i="1">
                <a:latin typeface="Arial"/>
                <a:cs typeface="Arial"/>
              </a:rPr>
              <a:t>for </a:t>
            </a:r>
            <a:r>
              <a:rPr dirty="0" sz="1150" spc="-25" i="1">
                <a:latin typeface="Arial"/>
                <a:cs typeface="Arial"/>
              </a:rPr>
              <a:t>utilizing </a:t>
            </a:r>
            <a:r>
              <a:rPr dirty="0" sz="1150" spc="-40" i="1">
                <a:latin typeface="Arial"/>
                <a:cs typeface="Arial"/>
              </a:rPr>
              <a:t>reciprocally </a:t>
            </a:r>
            <a:r>
              <a:rPr dirty="0" sz="1150" spc="-15" i="1">
                <a:latin typeface="Arial"/>
                <a:cs typeface="Arial"/>
              </a:rPr>
              <a:t>their  </a:t>
            </a:r>
            <a:r>
              <a:rPr dirty="0" sz="1150" spc="-40" i="1">
                <a:latin typeface="Arial"/>
                <a:cs typeface="Arial"/>
              </a:rPr>
              <a:t>own </a:t>
            </a:r>
            <a:r>
              <a:rPr dirty="0" sz="1150" spc="-55" i="1">
                <a:latin typeface="Arial"/>
                <a:cs typeface="Arial"/>
              </a:rPr>
              <a:t>forces, </a:t>
            </a:r>
            <a:r>
              <a:rPr dirty="0" sz="1150" spc="-70" i="1">
                <a:latin typeface="Arial"/>
                <a:cs typeface="Arial"/>
              </a:rPr>
              <a:t>resources </a:t>
            </a:r>
            <a:r>
              <a:rPr dirty="0" sz="1150" spc="-25" i="1">
                <a:latin typeface="Arial"/>
                <a:cs typeface="Arial"/>
              </a:rPr>
              <a:t>or both </a:t>
            </a:r>
            <a:r>
              <a:rPr dirty="0" sz="1150" spc="-50" i="1">
                <a:latin typeface="Arial"/>
                <a:cs typeface="Arial"/>
              </a:rPr>
              <a:t>under </a:t>
            </a:r>
            <a:r>
              <a:rPr dirty="0" sz="1150" spc="-25" i="1">
                <a:latin typeface="Arial"/>
                <a:cs typeface="Arial"/>
              </a:rPr>
              <a:t>mutual </a:t>
            </a:r>
            <a:r>
              <a:rPr dirty="0" sz="1150" spc="-50" i="1">
                <a:latin typeface="Arial"/>
                <a:cs typeface="Arial"/>
              </a:rPr>
              <a:t>management </a:t>
            </a:r>
            <a:r>
              <a:rPr dirty="0" sz="1150" spc="-10" i="1">
                <a:latin typeface="Arial"/>
                <a:cs typeface="Arial"/>
              </a:rPr>
              <a:t>for </a:t>
            </a:r>
            <a:r>
              <a:rPr dirty="0" sz="1150" spc="-15" i="1">
                <a:latin typeface="Arial"/>
                <a:cs typeface="Arial"/>
              </a:rPr>
              <a:t>their </a:t>
            </a:r>
            <a:r>
              <a:rPr dirty="0" sz="1150" spc="-60" i="1">
                <a:latin typeface="Arial"/>
                <a:cs typeface="Arial"/>
              </a:rPr>
              <a:t>common </a:t>
            </a:r>
            <a:r>
              <a:rPr dirty="0" sz="1150" spc="-5" i="1">
                <a:latin typeface="Arial"/>
                <a:cs typeface="Arial"/>
              </a:rPr>
              <a:t>profit </a:t>
            </a:r>
            <a:r>
              <a:rPr dirty="0" sz="1150" spc="-25" i="1">
                <a:latin typeface="Arial"/>
                <a:cs typeface="Arial"/>
              </a:rPr>
              <a:t>or  </a:t>
            </a:r>
            <a:r>
              <a:rPr dirty="0" sz="1150" spc="-45" i="1">
                <a:latin typeface="Arial"/>
                <a:cs typeface="Arial"/>
              </a:rPr>
              <a:t>loss.”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86" y="1070867"/>
            <a:ext cx="5513705" cy="805307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50">
                <a:latin typeface="Arial"/>
                <a:cs typeface="Arial"/>
              </a:rPr>
              <a:t>Cooperative </a:t>
            </a:r>
            <a:r>
              <a:rPr dirty="0" sz="1150" spc="-65">
                <a:latin typeface="Arial"/>
                <a:cs typeface="Arial"/>
              </a:rPr>
              <a:t>Societies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5">
                <a:latin typeface="Arial"/>
                <a:cs typeface="Arial"/>
              </a:rPr>
              <a:t>formed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help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poor </a:t>
            </a:r>
            <a:r>
              <a:rPr dirty="0" sz="1150" spc="-40">
                <a:latin typeface="Arial"/>
                <a:cs typeface="Arial"/>
              </a:rPr>
              <a:t>people.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5">
                <a:latin typeface="Arial"/>
                <a:cs typeface="Arial"/>
              </a:rPr>
              <a:t>formed </a:t>
            </a:r>
            <a:r>
              <a:rPr dirty="0" sz="1150" spc="-55">
                <a:latin typeface="Arial"/>
                <a:cs typeface="Arial"/>
              </a:rPr>
              <a:t>by </a:t>
            </a:r>
            <a:r>
              <a:rPr dirty="0" sz="1150" spc="-45">
                <a:latin typeface="Arial"/>
                <a:cs typeface="Arial"/>
              </a:rPr>
              <a:t>economically  </a:t>
            </a:r>
            <a:r>
              <a:rPr dirty="0" sz="1150" spc="-55">
                <a:latin typeface="Arial"/>
                <a:cs typeface="Arial"/>
              </a:rPr>
              <a:t>weak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society.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organization,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55">
                <a:latin typeface="Arial"/>
                <a:cs typeface="Arial"/>
              </a:rPr>
              <a:t>members </a:t>
            </a:r>
            <a:r>
              <a:rPr dirty="0" sz="1150" spc="-40">
                <a:latin typeface="Arial"/>
                <a:cs typeface="Arial"/>
              </a:rPr>
              <a:t>enjoy </a:t>
            </a:r>
            <a:r>
              <a:rPr dirty="0" sz="1150" spc="-50">
                <a:latin typeface="Arial"/>
                <a:cs typeface="Arial"/>
              </a:rPr>
              <a:t>equal </a:t>
            </a:r>
            <a:r>
              <a:rPr dirty="0" sz="1150" spc="-35">
                <a:latin typeface="Arial"/>
                <a:cs typeface="Arial"/>
              </a:rPr>
              <a:t>rights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40">
                <a:latin typeface="Arial"/>
                <a:cs typeface="Arial"/>
              </a:rPr>
              <a:t>ownership.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features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50">
                <a:latin typeface="Arial"/>
                <a:cs typeface="Arial"/>
              </a:rPr>
              <a:t>society are </a:t>
            </a:r>
            <a:r>
              <a:rPr dirty="0" sz="1150" spc="-110">
                <a:latin typeface="Arial"/>
                <a:cs typeface="Arial"/>
              </a:rPr>
              <a:t>as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under:-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buFont typeface="Wingdings"/>
              <a:buChar char=""/>
              <a:tabLst>
                <a:tab pos="926465" algn="l"/>
                <a:tab pos="927735" algn="l"/>
              </a:tabLst>
            </a:pPr>
            <a:r>
              <a:rPr dirty="0" sz="1150" spc="-120">
                <a:latin typeface="Arial"/>
                <a:cs typeface="Arial"/>
              </a:rPr>
              <a:t>Easy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Formation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6465" algn="l"/>
                <a:tab pos="927735" algn="l"/>
              </a:tabLst>
            </a:pPr>
            <a:r>
              <a:rPr dirty="0" sz="1150" spc="-30">
                <a:latin typeface="Arial"/>
                <a:cs typeface="Arial"/>
              </a:rPr>
              <a:t>Protection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Mutual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Interest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6465" algn="l"/>
                <a:tab pos="927735" algn="l"/>
              </a:tabLst>
            </a:pPr>
            <a:r>
              <a:rPr dirty="0" sz="1150" spc="-35">
                <a:latin typeface="Arial"/>
                <a:cs typeface="Arial"/>
              </a:rPr>
              <a:t>Limited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Liability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926465" algn="l"/>
                <a:tab pos="927735" algn="l"/>
              </a:tabLst>
            </a:pPr>
            <a:r>
              <a:rPr dirty="0" sz="1150" spc="-75">
                <a:latin typeface="Arial"/>
                <a:cs typeface="Arial"/>
              </a:rPr>
              <a:t>Equal </a:t>
            </a:r>
            <a:r>
              <a:rPr dirty="0" sz="1150" spc="-25">
                <a:latin typeface="Arial"/>
                <a:cs typeface="Arial"/>
              </a:rPr>
              <a:t>Distribution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Wealth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6465" algn="l"/>
                <a:tab pos="927735" algn="l"/>
              </a:tabLst>
            </a:pPr>
            <a:r>
              <a:rPr dirty="0" sz="1150" spc="-75">
                <a:latin typeface="Arial"/>
                <a:cs typeface="Arial"/>
              </a:rPr>
              <a:t>Equal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Rights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469265" algn="l"/>
                <a:tab pos="469900" algn="l"/>
              </a:tabLst>
            </a:pPr>
            <a:r>
              <a:rPr dirty="0" sz="1350" spc="-114" b="1">
                <a:latin typeface="Arial"/>
                <a:cs typeface="Arial"/>
              </a:rPr>
              <a:t>COMBINATION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AutoNum type="arabicPeriod" startAt="5"/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110" b="1">
                <a:latin typeface="Arial"/>
                <a:cs typeface="Arial"/>
              </a:rPr>
              <a:t>According </a:t>
            </a:r>
            <a:r>
              <a:rPr dirty="0" sz="1150" spc="-40" b="1">
                <a:latin typeface="Arial"/>
                <a:cs typeface="Arial"/>
              </a:rPr>
              <a:t>to </a:t>
            </a:r>
            <a:r>
              <a:rPr dirty="0" sz="1150" spc="-145" b="1">
                <a:latin typeface="Arial"/>
                <a:cs typeface="Arial"/>
              </a:rPr>
              <a:t>J. </a:t>
            </a:r>
            <a:r>
              <a:rPr dirty="0" sz="1150" spc="-114" b="1">
                <a:latin typeface="Arial"/>
                <a:cs typeface="Arial"/>
              </a:rPr>
              <a:t>L.</a:t>
            </a:r>
            <a:r>
              <a:rPr dirty="0" sz="1150" spc="-130" b="1">
                <a:latin typeface="Arial"/>
                <a:cs typeface="Arial"/>
              </a:rPr>
              <a:t> </a:t>
            </a:r>
            <a:r>
              <a:rPr dirty="0" sz="1150" spc="-105" b="1">
                <a:latin typeface="Arial"/>
                <a:cs typeface="Arial"/>
              </a:rPr>
              <a:t>Hanson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dirty="0" sz="1150" spc="-40" i="1">
                <a:latin typeface="Arial"/>
                <a:cs typeface="Arial"/>
              </a:rPr>
              <a:t>“Combination </a:t>
            </a:r>
            <a:r>
              <a:rPr dirty="0" sz="1150" spc="-65" i="1">
                <a:latin typeface="Arial"/>
                <a:cs typeface="Arial"/>
              </a:rPr>
              <a:t>is </a:t>
            </a:r>
            <a:r>
              <a:rPr dirty="0" sz="1150" spc="-30" i="1">
                <a:latin typeface="Arial"/>
                <a:cs typeface="Arial"/>
              </a:rPr>
              <a:t>the </a:t>
            </a:r>
            <a:r>
              <a:rPr dirty="0" sz="1150" spc="-50" i="1">
                <a:latin typeface="Arial"/>
                <a:cs typeface="Arial"/>
              </a:rPr>
              <a:t>association, </a:t>
            </a:r>
            <a:r>
              <a:rPr dirty="0" sz="1150" spc="-35" i="1">
                <a:latin typeface="Arial"/>
                <a:cs typeface="Arial"/>
              </a:rPr>
              <a:t>temporary </a:t>
            </a:r>
            <a:r>
              <a:rPr dirty="0" sz="1150" spc="-25" i="1">
                <a:latin typeface="Arial"/>
                <a:cs typeface="Arial"/>
              </a:rPr>
              <a:t>or </a:t>
            </a:r>
            <a:r>
              <a:rPr dirty="0" sz="1150" spc="-45" i="1">
                <a:latin typeface="Arial"/>
                <a:cs typeface="Arial"/>
              </a:rPr>
              <a:t>permanent, </a:t>
            </a:r>
            <a:r>
              <a:rPr dirty="0" sz="1150" spc="-15" i="1">
                <a:latin typeface="Arial"/>
                <a:cs typeface="Arial"/>
              </a:rPr>
              <a:t>of </a:t>
            </a:r>
            <a:r>
              <a:rPr dirty="0" sz="1150" i="1">
                <a:latin typeface="Arial"/>
                <a:cs typeface="Arial"/>
              </a:rPr>
              <a:t>two </a:t>
            </a:r>
            <a:r>
              <a:rPr dirty="0" sz="1150" spc="-25" i="1">
                <a:latin typeface="Arial"/>
                <a:cs typeface="Arial"/>
              </a:rPr>
              <a:t>or</a:t>
            </a:r>
            <a:r>
              <a:rPr dirty="0" sz="1150" spc="-225" i="1">
                <a:latin typeface="Arial"/>
                <a:cs typeface="Arial"/>
              </a:rPr>
              <a:t> </a:t>
            </a:r>
            <a:r>
              <a:rPr dirty="0" sz="1150" spc="-50" i="1">
                <a:latin typeface="Arial"/>
                <a:cs typeface="Arial"/>
              </a:rPr>
              <a:t>more </a:t>
            </a:r>
            <a:r>
              <a:rPr dirty="0" sz="1150" spc="-15" i="1">
                <a:latin typeface="Arial"/>
                <a:cs typeface="Arial"/>
              </a:rPr>
              <a:t>firms.”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 indent="45656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combinations </a:t>
            </a:r>
            <a:r>
              <a:rPr dirty="0" sz="1150" spc="-55">
                <a:latin typeface="Arial"/>
                <a:cs typeface="Arial"/>
              </a:rPr>
              <a:t>are </a:t>
            </a:r>
            <a:r>
              <a:rPr dirty="0" sz="1150" spc="-25">
                <a:latin typeface="Arial"/>
                <a:cs typeface="Arial"/>
              </a:rPr>
              <a:t>formed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55">
                <a:latin typeface="Arial"/>
                <a:cs typeface="Arial"/>
              </a:rPr>
              <a:t>several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50">
                <a:latin typeface="Arial"/>
                <a:cs typeface="Arial"/>
              </a:rPr>
              <a:t>concern </a:t>
            </a:r>
            <a:r>
              <a:rPr dirty="0" sz="1150" spc="-40">
                <a:latin typeface="Arial"/>
                <a:cs typeface="Arial"/>
              </a:rPr>
              <a:t>undertaking </a:t>
            </a:r>
            <a:r>
              <a:rPr dirty="0" sz="1150" spc="-30">
                <a:latin typeface="Arial"/>
                <a:cs typeface="Arial"/>
              </a:rPr>
              <a:t>units 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combined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carry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25">
                <a:latin typeface="Arial"/>
                <a:cs typeface="Arial"/>
              </a:rPr>
              <a:t>together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achieving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35">
                <a:latin typeface="Arial"/>
                <a:cs typeface="Arial"/>
              </a:rPr>
              <a:t>benefits. </a:t>
            </a:r>
            <a:r>
              <a:rPr dirty="0" sz="1150" spc="-85">
                <a:latin typeface="Arial"/>
                <a:cs typeface="Arial"/>
              </a:rPr>
              <a:t>The  </a:t>
            </a:r>
            <a:r>
              <a:rPr dirty="0" sz="1150" spc="-30">
                <a:latin typeface="Arial"/>
                <a:cs typeface="Arial"/>
              </a:rPr>
              <a:t>combination </a:t>
            </a:r>
            <a:r>
              <a:rPr dirty="0" sz="1150" spc="-60">
                <a:latin typeface="Arial"/>
                <a:cs typeface="Arial"/>
              </a:rPr>
              <a:t>among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firms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0">
                <a:latin typeface="Arial"/>
                <a:cs typeface="Arial"/>
              </a:rPr>
              <a:t>temporary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permanent.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salient </a:t>
            </a:r>
            <a:r>
              <a:rPr dirty="0" sz="1150" spc="-40">
                <a:latin typeface="Arial"/>
                <a:cs typeface="Arial"/>
              </a:rPr>
              <a:t>features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30">
                <a:latin typeface="Arial"/>
                <a:cs typeface="Arial"/>
              </a:rPr>
              <a:t>combination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are: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lvl="1" marL="927100" indent="-22987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926465" algn="l"/>
                <a:tab pos="927735" algn="l"/>
              </a:tabLst>
            </a:pPr>
            <a:r>
              <a:rPr dirty="0" sz="1150" spc="-75">
                <a:latin typeface="Arial"/>
                <a:cs typeface="Arial"/>
              </a:rPr>
              <a:t>Economy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Production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926465" algn="l"/>
                <a:tab pos="927735" algn="l"/>
              </a:tabLst>
            </a:pPr>
            <a:r>
              <a:rPr dirty="0" sz="1150" spc="-45">
                <a:latin typeface="Arial"/>
                <a:cs typeface="Arial"/>
              </a:rPr>
              <a:t>Effective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Management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6465" algn="l"/>
                <a:tab pos="927735" algn="l"/>
              </a:tabLst>
            </a:pPr>
            <a:r>
              <a:rPr dirty="0" sz="1150" spc="-45">
                <a:latin typeface="Arial"/>
                <a:cs typeface="Arial"/>
              </a:rPr>
              <a:t>Division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Labour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6465" algn="l"/>
                <a:tab pos="927735" algn="l"/>
              </a:tabLst>
            </a:pPr>
            <a:r>
              <a:rPr dirty="0" sz="1150" spc="-40">
                <a:latin typeface="Arial"/>
                <a:cs typeface="Arial"/>
              </a:rPr>
              <a:t>Destructive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Competition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45" b="1">
                <a:latin typeface="Arial"/>
                <a:cs typeface="Arial"/>
              </a:rPr>
              <a:t>IMPORTANCE </a:t>
            </a:r>
            <a:r>
              <a:rPr dirty="0" sz="1350" spc="-175" b="1">
                <a:latin typeface="Arial"/>
                <a:cs typeface="Arial"/>
              </a:rPr>
              <a:t>OF </a:t>
            </a:r>
            <a:r>
              <a:rPr dirty="0" sz="1350" spc="-185" b="1">
                <a:latin typeface="Arial"/>
                <a:cs typeface="Arial"/>
              </a:rPr>
              <a:t>BUSINESS</a:t>
            </a:r>
            <a:r>
              <a:rPr dirty="0" sz="1350" spc="-90" b="1">
                <a:latin typeface="Arial"/>
                <a:cs typeface="Arial"/>
              </a:rPr>
              <a:t> </a:t>
            </a:r>
            <a:r>
              <a:rPr dirty="0" sz="1350" spc="-130" b="1">
                <a:latin typeface="Arial"/>
                <a:cs typeface="Arial"/>
              </a:rPr>
              <a:t>ORGANIZATION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20">
                <a:latin typeface="Arial"/>
                <a:cs typeface="Arial"/>
              </a:rPr>
              <a:t>following </a:t>
            </a:r>
            <a:r>
              <a:rPr dirty="0" sz="1150" spc="-30">
                <a:latin typeface="Arial"/>
                <a:cs typeface="Arial"/>
              </a:rPr>
              <a:t>points </a:t>
            </a:r>
            <a:r>
              <a:rPr dirty="0" sz="1150" spc="-35">
                <a:latin typeface="Arial"/>
                <a:cs typeface="Arial"/>
              </a:rPr>
              <a:t>elaborate </a:t>
            </a:r>
            <a:r>
              <a:rPr dirty="0" sz="1150" spc="-20">
                <a:latin typeface="Arial"/>
                <a:cs typeface="Arial"/>
              </a:rPr>
              <a:t>the role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business</a:t>
            </a:r>
            <a:r>
              <a:rPr dirty="0" sz="1150" spc="-24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organizations: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dirty="0" sz="1350" spc="-75" b="1">
                <a:latin typeface="Arial"/>
                <a:cs typeface="Arial"/>
              </a:rPr>
              <a:t>Distribution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30">
                <a:latin typeface="Arial"/>
                <a:cs typeface="Arial"/>
              </a:rPr>
              <a:t>Another </a:t>
            </a:r>
            <a:r>
              <a:rPr dirty="0" sz="1150" spc="-20">
                <a:latin typeface="Arial"/>
                <a:cs typeface="Arial"/>
              </a:rPr>
              <a:t>benefit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solves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problems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marketing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 spc="-30">
                <a:latin typeface="Arial"/>
                <a:cs typeface="Arial"/>
              </a:rPr>
              <a:t>like </a:t>
            </a:r>
            <a:r>
              <a:rPr dirty="0" sz="1150" spc="-45">
                <a:latin typeface="Arial"/>
                <a:cs typeface="Arial"/>
              </a:rPr>
              <a:t>buying, selling, </a:t>
            </a:r>
            <a:r>
              <a:rPr dirty="0" sz="1150" spc="-30">
                <a:latin typeface="Arial"/>
                <a:cs typeface="Arial"/>
              </a:rPr>
              <a:t>transporting, </a:t>
            </a:r>
            <a:r>
              <a:rPr dirty="0" sz="1150" spc="-50">
                <a:latin typeface="Arial"/>
                <a:cs typeface="Arial"/>
              </a:rPr>
              <a:t>storage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grading,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2"/>
              <a:tabLst>
                <a:tab pos="469265" algn="l"/>
                <a:tab pos="470534" algn="l"/>
              </a:tabLst>
            </a:pPr>
            <a:r>
              <a:rPr dirty="0" sz="1350" spc="-120" b="1">
                <a:latin typeface="Arial"/>
                <a:cs typeface="Arial"/>
              </a:rPr>
              <a:t>Feedback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70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75">
                <a:latin typeface="Arial"/>
                <a:cs typeface="Arial"/>
              </a:rPr>
              <a:t>makes </a:t>
            </a:r>
            <a:r>
              <a:rPr dirty="0" sz="1150" spc="-55">
                <a:latin typeface="Arial"/>
                <a:cs typeface="Arial"/>
              </a:rPr>
              <a:t>possible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take </a:t>
            </a:r>
            <a:r>
              <a:rPr dirty="0" sz="1150" spc="-60">
                <a:latin typeface="Arial"/>
                <a:cs typeface="Arial"/>
              </a:rPr>
              <a:t>decisions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-10">
                <a:latin typeface="Arial"/>
                <a:cs typeface="Arial"/>
              </a:rPr>
              <a:t>after </a:t>
            </a:r>
            <a:r>
              <a:rPr dirty="0" sz="1150" spc="-30">
                <a:latin typeface="Arial"/>
                <a:cs typeface="Arial"/>
              </a:rPr>
              <a:t>getting </a:t>
            </a:r>
            <a:r>
              <a:rPr dirty="0" sz="1150" spc="-15">
                <a:latin typeface="Arial"/>
                <a:cs typeface="Arial"/>
              </a:rPr>
              <a:t>the  </a:t>
            </a:r>
            <a:r>
              <a:rPr dirty="0" sz="1150" spc="-55">
                <a:latin typeface="Arial"/>
                <a:cs typeface="Arial"/>
              </a:rPr>
              <a:t>feedback </a:t>
            </a:r>
            <a:r>
              <a:rPr dirty="0" sz="1150" spc="-10">
                <a:latin typeface="Arial"/>
                <a:cs typeface="Arial"/>
              </a:rPr>
              <a:t>from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markets.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3"/>
              <a:tabLst>
                <a:tab pos="469265" algn="l"/>
                <a:tab pos="470534" algn="l"/>
              </a:tabLst>
            </a:pPr>
            <a:r>
              <a:rPr dirty="0" sz="1350" spc="-114" b="1">
                <a:latin typeface="Arial"/>
                <a:cs typeface="Arial"/>
              </a:rPr>
              <a:t>Finance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75" b="1">
                <a:latin typeface="Arial"/>
                <a:cs typeface="Arial"/>
              </a:rPr>
              <a:t>Management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65">
                <a:latin typeface="Arial"/>
                <a:cs typeface="Arial"/>
              </a:rPr>
              <a:t>guides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0">
                <a:latin typeface="Arial"/>
                <a:cs typeface="Arial"/>
              </a:rPr>
              <a:t>how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25">
                <a:latin typeface="Arial"/>
                <a:cs typeface="Arial"/>
              </a:rPr>
              <a:t>meet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35">
                <a:latin typeface="Arial"/>
                <a:cs typeface="Arial"/>
              </a:rPr>
              <a:t>financial </a:t>
            </a:r>
            <a:r>
              <a:rPr dirty="0" sz="1150" spc="-75">
                <a:latin typeface="Arial"/>
                <a:cs typeface="Arial"/>
              </a:rPr>
              <a:t>needs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very  </a:t>
            </a:r>
            <a:r>
              <a:rPr dirty="0" sz="1150" spc="-35">
                <a:latin typeface="Arial"/>
                <a:cs typeface="Arial"/>
              </a:rPr>
              <a:t>beneficial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making </a:t>
            </a:r>
            <a:r>
              <a:rPr dirty="0" sz="1150" spc="-60">
                <a:latin typeface="Arial"/>
                <a:cs typeface="Arial"/>
              </a:rPr>
              <a:t>progress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22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30299" y="435359"/>
            <a:ext cx="2235835" cy="689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45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dirty="0" sz="1350" spc="-45" b="1">
                <a:latin typeface="Arial"/>
                <a:cs typeface="Arial"/>
              </a:rPr>
              <a:t>4.</a:t>
            </a:r>
            <a:r>
              <a:rPr dirty="0" sz="1350" spc="-45">
                <a:latin typeface="Times New Roman"/>
                <a:cs typeface="Times New Roman"/>
              </a:rPr>
              <a:t>	</a:t>
            </a:r>
            <a:r>
              <a:rPr dirty="0" sz="1350" spc="-120" b="1">
                <a:latin typeface="Arial"/>
                <a:cs typeface="Arial"/>
              </a:rPr>
              <a:t>Fixing </a:t>
            </a:r>
            <a:r>
              <a:rPr dirty="0" sz="1350" spc="-60" b="1">
                <a:latin typeface="Arial"/>
                <a:cs typeface="Arial"/>
              </a:rPr>
              <a:t>of </a:t>
            </a:r>
            <a:r>
              <a:rPr dirty="0" sz="1350" spc="-105" b="1">
                <a:latin typeface="Arial"/>
                <a:cs typeface="Arial"/>
              </a:rPr>
              <a:t>Responsibilities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23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0299" y="1279655"/>
            <a:ext cx="5513705" cy="724090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50">
                <a:latin typeface="Arial"/>
                <a:cs typeface="Arial"/>
              </a:rPr>
              <a:t>fixes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responsibilities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each </a:t>
            </a:r>
            <a:r>
              <a:rPr dirty="0" sz="1150" spc="-30">
                <a:latin typeface="Arial"/>
                <a:cs typeface="Arial"/>
              </a:rPr>
              <a:t>individual.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35">
                <a:latin typeface="Arial"/>
                <a:cs typeface="Arial"/>
              </a:rPr>
              <a:t>introduces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scheme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internal  </a:t>
            </a:r>
            <a:r>
              <a:rPr dirty="0" sz="1150" spc="-60">
                <a:latin typeface="Arial"/>
                <a:cs typeface="Arial"/>
              </a:rPr>
              <a:t>check.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50">
                <a:latin typeface="Arial"/>
                <a:cs typeface="Arial"/>
              </a:rPr>
              <a:t>way </a:t>
            </a:r>
            <a:r>
              <a:rPr dirty="0" sz="1150" spc="-80">
                <a:latin typeface="Arial"/>
                <a:cs typeface="Arial"/>
              </a:rPr>
              <a:t>chances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errors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frauds </a:t>
            </a:r>
            <a:r>
              <a:rPr dirty="0" sz="1150" spc="-50">
                <a:latin typeface="Arial"/>
                <a:cs typeface="Arial"/>
              </a:rPr>
              <a:t>are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reduced.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5"/>
              <a:tabLst>
                <a:tab pos="469265" algn="l"/>
                <a:tab pos="469900" algn="l"/>
              </a:tabLst>
            </a:pPr>
            <a:r>
              <a:rPr dirty="0" sz="1350" spc="-65" b="1">
                <a:latin typeface="Arial"/>
                <a:cs typeface="Arial"/>
              </a:rPr>
              <a:t>Minimum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40" b="1">
                <a:latin typeface="Arial"/>
                <a:cs typeface="Arial"/>
              </a:rPr>
              <a:t>Cost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AutoNum type="arabicPeriod" startAt="5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15">
                <a:latin typeface="Arial"/>
                <a:cs typeface="Arial"/>
              </a:rPr>
              <a:t>It</a:t>
            </a:r>
            <a:r>
              <a:rPr dirty="0" sz="1150" spc="-55">
                <a:latin typeface="Arial"/>
                <a:cs typeface="Arial"/>
              </a:rPr>
              <a:t> helps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attaining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goals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objectives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minimum</a:t>
            </a:r>
            <a:r>
              <a:rPr dirty="0" sz="1150" spc="-50">
                <a:latin typeface="Arial"/>
                <a:cs typeface="Arial"/>
              </a:rPr>
              <a:t> cost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6"/>
              <a:tabLst>
                <a:tab pos="469265" algn="l"/>
                <a:tab pos="469900" algn="l"/>
              </a:tabLst>
            </a:pPr>
            <a:r>
              <a:rPr dirty="0" sz="1350" spc="-65" b="1">
                <a:latin typeface="Arial"/>
                <a:cs typeface="Arial"/>
              </a:rPr>
              <a:t>Minimum </a:t>
            </a:r>
            <a:r>
              <a:rPr dirty="0" sz="1350" spc="-100" b="1">
                <a:latin typeface="Arial"/>
                <a:cs typeface="Arial"/>
              </a:rPr>
              <a:t>Wastage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AutoNum type="arabicPeriod" startAt="6"/>
            </a:pPr>
            <a:endParaRPr sz="1200">
              <a:latin typeface="Arial"/>
              <a:cs typeface="Arial"/>
            </a:endParaRPr>
          </a:p>
          <a:p>
            <a:pPr marL="12700" marR="8255">
              <a:lnSpc>
                <a:spcPct val="101699"/>
              </a:lnSpc>
              <a:spcBef>
                <a:spcPts val="5"/>
              </a:spcBef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0">
                <a:latin typeface="Arial"/>
                <a:cs typeface="Arial"/>
              </a:rPr>
              <a:t>reduces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wastage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raw </a:t>
            </a:r>
            <a:r>
              <a:rPr dirty="0" sz="1150" spc="-25">
                <a:latin typeface="Arial"/>
                <a:cs typeface="Arial"/>
              </a:rPr>
              <a:t>material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40">
                <a:latin typeface="Arial"/>
                <a:cs typeface="Arial"/>
              </a:rPr>
              <a:t>expenditures. In </a:t>
            </a:r>
            <a:r>
              <a:rPr dirty="0" sz="1150" spc="-25">
                <a:latin typeface="Arial"/>
                <a:cs typeface="Arial"/>
              </a:rPr>
              <a:t>this </a:t>
            </a:r>
            <a:r>
              <a:rPr dirty="0" sz="1150" spc="-50">
                <a:latin typeface="Arial"/>
                <a:cs typeface="Arial"/>
              </a:rPr>
              <a:t>way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rate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profit 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5">
                <a:latin typeface="Arial"/>
                <a:cs typeface="Arial"/>
              </a:rPr>
              <a:t> increased.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7"/>
              <a:tabLst>
                <a:tab pos="469265" algn="l"/>
                <a:tab pos="469900" algn="l"/>
              </a:tabLst>
            </a:pPr>
            <a:r>
              <a:rPr dirty="0" sz="1350" spc="-105" b="1">
                <a:latin typeface="Arial"/>
                <a:cs typeface="Arial"/>
              </a:rPr>
              <a:t>Product</a:t>
            </a:r>
            <a:r>
              <a:rPr dirty="0" sz="1350" spc="-80" b="1">
                <a:latin typeface="Arial"/>
                <a:cs typeface="Arial"/>
              </a:rPr>
              <a:t> Growth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AutoNum type="arabicPeriod" startAt="7"/>
            </a:pPr>
            <a:endParaRPr sz="12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40">
                <a:latin typeface="Arial"/>
                <a:cs typeface="Arial"/>
              </a:rPr>
              <a:t>useful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product growth.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increases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efficiency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30">
                <a:latin typeface="Arial"/>
                <a:cs typeface="Arial"/>
              </a:rPr>
              <a:t>labor.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8"/>
              <a:tabLst>
                <a:tab pos="469265" algn="l"/>
                <a:tab pos="469900" algn="l"/>
              </a:tabLst>
            </a:pPr>
            <a:r>
              <a:rPr dirty="0" sz="1250" spc="-105" b="1">
                <a:latin typeface="Arial"/>
                <a:cs typeface="Arial"/>
              </a:rPr>
              <a:t>Quick</a:t>
            </a:r>
            <a:r>
              <a:rPr dirty="0" sz="1250" spc="-65" b="1">
                <a:latin typeface="Arial"/>
                <a:cs typeface="Arial"/>
              </a:rPr>
              <a:t> </a:t>
            </a:r>
            <a:r>
              <a:rPr dirty="0" sz="1250" spc="-105" b="1">
                <a:latin typeface="Arial"/>
                <a:cs typeface="Arial"/>
              </a:rPr>
              <a:t>Decision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AutoNum type="arabicPeriod" startAt="8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80">
                <a:latin typeface="Arial"/>
                <a:cs typeface="Arial"/>
              </a:rPr>
              <a:t>makes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90">
                <a:latin typeface="Arial"/>
                <a:cs typeface="Arial"/>
              </a:rPr>
              <a:t>easy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take </a:t>
            </a:r>
            <a:r>
              <a:rPr dirty="0" sz="1150" spc="-50">
                <a:latin typeface="Arial"/>
                <a:cs typeface="Arial"/>
              </a:rPr>
              <a:t>quick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decisions.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9"/>
              <a:tabLst>
                <a:tab pos="469265" algn="l"/>
                <a:tab pos="470534" algn="l"/>
              </a:tabLst>
            </a:pPr>
            <a:r>
              <a:rPr dirty="0" sz="1350" spc="-105" b="1">
                <a:latin typeface="Arial"/>
                <a:cs typeface="Arial"/>
              </a:rPr>
              <a:t>Recognition</a:t>
            </a:r>
            <a:r>
              <a:rPr dirty="0" sz="1350" spc="-60" b="1">
                <a:latin typeface="Arial"/>
                <a:cs typeface="Arial"/>
              </a:rPr>
              <a:t> </a:t>
            </a:r>
            <a:r>
              <a:rPr dirty="0" sz="1350" spc="-114" b="1">
                <a:latin typeface="Arial"/>
                <a:cs typeface="Arial"/>
              </a:rPr>
              <a:t>Problems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AutoNum type="arabicPeriod" startAt="9"/>
            </a:pPr>
            <a:endParaRPr sz="12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75">
                <a:latin typeface="Arial"/>
                <a:cs typeface="Arial"/>
              </a:rPr>
              <a:t>makes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85">
                <a:latin typeface="Arial"/>
                <a:cs typeface="Arial"/>
              </a:rPr>
              <a:t>easy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recognize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problems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0">
                <a:latin typeface="Arial"/>
                <a:cs typeface="Arial"/>
              </a:rPr>
              <a:t>their  </a:t>
            </a:r>
            <a:r>
              <a:rPr dirty="0" sz="1150" spc="-35">
                <a:latin typeface="Arial"/>
                <a:cs typeface="Arial"/>
              </a:rPr>
              <a:t>solutions.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0"/>
              <a:tabLst>
                <a:tab pos="469900" algn="l"/>
                <a:tab pos="470534" algn="l"/>
              </a:tabLst>
            </a:pPr>
            <a:r>
              <a:rPr dirty="0" sz="1350" spc="-140" b="1">
                <a:latin typeface="Arial"/>
                <a:cs typeface="Arial"/>
              </a:rPr>
              <a:t>Reduces </a:t>
            </a:r>
            <a:r>
              <a:rPr dirty="0" sz="1350" spc="-55" b="1">
                <a:latin typeface="Arial"/>
                <a:cs typeface="Arial"/>
              </a:rPr>
              <a:t>the</a:t>
            </a:r>
            <a:r>
              <a:rPr dirty="0" sz="1350" spc="-10" b="1">
                <a:latin typeface="Arial"/>
                <a:cs typeface="Arial"/>
              </a:rPr>
              <a:t> </a:t>
            </a:r>
            <a:r>
              <a:rPr dirty="0" sz="1350" spc="-140" b="1">
                <a:latin typeface="Arial"/>
                <a:cs typeface="Arial"/>
              </a:rPr>
              <a:t>Cost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AutoNum type="arabicPeriod" startAt="10"/>
            </a:pPr>
            <a:endParaRPr sz="1200">
              <a:latin typeface="Arial"/>
              <a:cs typeface="Arial"/>
            </a:endParaRPr>
          </a:p>
          <a:p>
            <a:pPr marL="12700" marR="698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useful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reducing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cost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55">
                <a:latin typeface="Arial"/>
                <a:cs typeface="Arial"/>
              </a:rPr>
              <a:t>helps </a:t>
            </a:r>
            <a:r>
              <a:rPr dirty="0" sz="1150" spc="-25">
                <a:latin typeface="Arial"/>
                <a:cs typeface="Arial"/>
              </a:rPr>
              <a:t>in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efficient 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1"/>
              <a:tabLst>
                <a:tab pos="469900" algn="l"/>
                <a:tab pos="470534" algn="l"/>
              </a:tabLst>
            </a:pPr>
            <a:r>
              <a:rPr dirty="0" sz="1350" spc="-80" b="1">
                <a:latin typeface="Arial"/>
                <a:cs typeface="Arial"/>
              </a:rPr>
              <a:t>Secretariat </a:t>
            </a:r>
            <a:r>
              <a:rPr dirty="0" sz="1350" spc="-114" b="1">
                <a:latin typeface="Arial"/>
                <a:cs typeface="Arial"/>
              </a:rPr>
              <a:t>Functions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AutoNum type="arabicPeriod" startAt="11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15">
                <a:latin typeface="Arial"/>
                <a:cs typeface="Arial"/>
              </a:rPr>
              <a:t>It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65">
                <a:latin typeface="Arial"/>
                <a:cs typeface="Arial"/>
              </a:rPr>
              <a:t>guides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best </a:t>
            </a:r>
            <a:r>
              <a:rPr dirty="0" sz="1150" spc="-50">
                <a:latin typeface="Arial"/>
                <a:cs typeface="Arial"/>
              </a:rPr>
              <a:t>way </a:t>
            </a:r>
            <a:r>
              <a:rPr dirty="0" sz="1150" spc="-5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performing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secretarial </a:t>
            </a:r>
            <a:r>
              <a:rPr dirty="0" sz="1150" spc="-30">
                <a:latin typeface="Arial"/>
                <a:cs typeface="Arial"/>
              </a:rPr>
              <a:t>functions.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rabicPeriod" startAt="12"/>
              <a:tabLst>
                <a:tab pos="469900" algn="l"/>
                <a:tab pos="470534" algn="l"/>
              </a:tabLst>
            </a:pPr>
            <a:r>
              <a:rPr dirty="0" sz="1350" spc="-100" b="1">
                <a:latin typeface="Arial"/>
                <a:cs typeface="Arial"/>
              </a:rPr>
              <a:t>Skilled</a:t>
            </a:r>
            <a:r>
              <a:rPr dirty="0" sz="1350" spc="-60" b="1">
                <a:latin typeface="Arial"/>
                <a:cs typeface="Arial"/>
              </a:rPr>
              <a:t> </a:t>
            </a:r>
            <a:r>
              <a:rPr dirty="0" sz="1350" spc="-125" b="1">
                <a:latin typeface="Arial"/>
                <a:cs typeface="Arial"/>
              </a:rPr>
              <a:t>Salesmen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benefit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45">
                <a:latin typeface="Arial"/>
                <a:cs typeface="Arial"/>
              </a:rPr>
              <a:t>provides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skilled </a:t>
            </a:r>
            <a:r>
              <a:rPr dirty="0" sz="1150" spc="-70">
                <a:latin typeface="Arial"/>
                <a:cs typeface="Arial"/>
              </a:rPr>
              <a:t>salesmen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45">
                <a:latin typeface="Arial"/>
                <a:cs typeface="Arial"/>
              </a:rPr>
              <a:t>satisfying </a:t>
            </a:r>
            <a:r>
              <a:rPr dirty="0" sz="1150" spc="-50">
                <a:latin typeface="Arial"/>
                <a:cs typeface="Arial"/>
              </a:rPr>
              <a:t>various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customers.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30299" y="435359"/>
            <a:ext cx="1938655" cy="689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dirty="0" sz="1350" spc="-55" b="1">
                <a:latin typeface="Arial"/>
                <a:cs typeface="Arial"/>
              </a:rPr>
              <a:t>13.</a:t>
            </a:r>
            <a:r>
              <a:rPr dirty="0" sz="1350" spc="-55">
                <a:latin typeface="Times New Roman"/>
                <a:cs typeface="Times New Roman"/>
              </a:rPr>
              <a:t>	</a:t>
            </a:r>
            <a:r>
              <a:rPr dirty="0" sz="1350" spc="-85" b="1">
                <a:latin typeface="Arial"/>
                <a:cs typeface="Arial"/>
              </a:rPr>
              <a:t>Transportation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24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0299" y="1279655"/>
            <a:ext cx="5514340" cy="627126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8890" indent="33020">
              <a:lnSpc>
                <a:spcPct val="101699"/>
              </a:lnSpc>
              <a:spcBef>
                <a:spcPts val="75"/>
              </a:spcBef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another </a:t>
            </a:r>
            <a:r>
              <a:rPr dirty="0" sz="1150" spc="-20">
                <a:latin typeface="Arial"/>
                <a:cs typeface="Arial"/>
              </a:rPr>
              <a:t>benefit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>
                <a:latin typeface="Arial"/>
                <a:cs typeface="Arial"/>
              </a:rPr>
              <a:t>that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0">
                <a:latin typeface="Arial"/>
                <a:cs typeface="Arial"/>
              </a:rPr>
              <a:t>guides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businessman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25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transport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45">
                <a:latin typeface="Arial"/>
                <a:cs typeface="Arial"/>
              </a:rPr>
              <a:t>should  </a:t>
            </a:r>
            <a:r>
              <a:rPr dirty="0" sz="1150" spc="-25">
                <a:latin typeface="Arial"/>
                <a:cs typeface="Arial"/>
              </a:rPr>
              <a:t>utilize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increase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5">
                <a:latin typeface="Arial"/>
                <a:cs typeface="Arial"/>
              </a:rPr>
              <a:t>sales </a:t>
            </a:r>
            <a:r>
              <a:rPr dirty="0" sz="1150" spc="-40">
                <a:latin typeface="Arial"/>
                <a:cs typeface="Arial"/>
              </a:rPr>
              <a:t>volume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70" b="1">
                <a:latin typeface="Arial"/>
                <a:cs typeface="Arial"/>
              </a:rPr>
              <a:t>PRE-REQUISITES </a:t>
            </a:r>
            <a:r>
              <a:rPr dirty="0" sz="1350" spc="-180" b="1">
                <a:latin typeface="Arial"/>
                <a:cs typeface="Arial"/>
              </a:rPr>
              <a:t>OF</a:t>
            </a:r>
            <a:r>
              <a:rPr dirty="0" sz="1350" spc="-170" b="1">
                <a:latin typeface="Arial"/>
                <a:cs typeface="Arial"/>
              </a:rPr>
              <a:t> </a:t>
            </a:r>
            <a:r>
              <a:rPr dirty="0" sz="1350" spc="-185" b="1">
                <a:latin typeface="Arial"/>
                <a:cs typeface="Arial"/>
              </a:rPr>
              <a:t>BUSINESS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45">
                <a:latin typeface="Arial"/>
                <a:cs typeface="Arial"/>
              </a:rPr>
              <a:t>Following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main pre-requisites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successful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business: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dirty="0" sz="1350" spc="-100" b="1">
                <a:latin typeface="Arial"/>
                <a:cs typeface="Arial"/>
              </a:rPr>
              <a:t>Selection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  <a:spcBef>
                <a:spcPts val="5"/>
              </a:spcBef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">
                <a:latin typeface="Arial"/>
                <a:cs typeface="Arial"/>
              </a:rPr>
              <a:t>first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most </a:t>
            </a:r>
            <a:r>
              <a:rPr dirty="0" sz="1150" spc="-15">
                <a:latin typeface="Arial"/>
                <a:cs typeface="Arial"/>
              </a:rPr>
              <a:t>important </a:t>
            </a:r>
            <a:r>
              <a:rPr dirty="0" sz="1150" spc="-50">
                <a:latin typeface="Arial"/>
                <a:cs typeface="Arial"/>
              </a:rPr>
              <a:t>decision </a:t>
            </a:r>
            <a:r>
              <a:rPr dirty="0" sz="1150" spc="-30">
                <a:latin typeface="Arial"/>
                <a:cs typeface="Arial"/>
              </a:rPr>
              <a:t>before starting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40">
                <a:latin typeface="Arial"/>
                <a:cs typeface="Arial"/>
              </a:rPr>
              <a:t>selection. </a:t>
            </a: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65">
                <a:latin typeface="Arial"/>
                <a:cs typeface="Arial"/>
              </a:rPr>
              <a:t>once 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established,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becomes </a:t>
            </a:r>
            <a:r>
              <a:rPr dirty="0" sz="1150" spc="-5">
                <a:latin typeface="Arial"/>
                <a:cs typeface="Arial"/>
              </a:rPr>
              <a:t>difficult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5">
                <a:latin typeface="Arial"/>
                <a:cs typeface="Arial"/>
              </a:rPr>
              <a:t>change </a:t>
            </a:r>
            <a:r>
              <a:rPr dirty="0" sz="1150" spc="10">
                <a:latin typeface="Arial"/>
                <a:cs typeface="Arial"/>
              </a:rPr>
              <a:t>it. </a:t>
            </a:r>
            <a:r>
              <a:rPr dirty="0" sz="1150" spc="-80">
                <a:latin typeface="Arial"/>
                <a:cs typeface="Arial"/>
              </a:rPr>
              <a:t>One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65">
                <a:latin typeface="Arial"/>
                <a:cs typeface="Arial"/>
              </a:rPr>
              <a:t>make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detailed  </a:t>
            </a:r>
            <a:r>
              <a:rPr dirty="0" sz="1150" spc="-35">
                <a:latin typeface="Arial"/>
                <a:cs typeface="Arial"/>
              </a:rPr>
              <a:t>investigation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40">
                <a:latin typeface="Arial"/>
                <a:cs typeface="Arial"/>
              </a:rPr>
              <a:t>selection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1350" spc="-90" b="1">
                <a:latin typeface="Arial"/>
                <a:cs typeface="Arial"/>
              </a:rPr>
              <a:t>Feasibility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90" b="1">
                <a:latin typeface="Arial"/>
                <a:cs typeface="Arial"/>
              </a:rPr>
              <a:t>Report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40">
                <a:latin typeface="Arial"/>
                <a:cs typeface="Arial"/>
              </a:rPr>
              <a:t>prepare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feasibility </a:t>
            </a:r>
            <a:r>
              <a:rPr dirty="0" sz="1150" spc="-10">
                <a:latin typeface="Arial"/>
                <a:cs typeface="Arial"/>
              </a:rPr>
              <a:t>report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0">
                <a:latin typeface="Arial"/>
                <a:cs typeface="Arial"/>
              </a:rPr>
              <a:t>started.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10">
                <a:latin typeface="Arial"/>
                <a:cs typeface="Arial"/>
              </a:rPr>
              <a:t>report 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35">
                <a:latin typeface="Arial"/>
                <a:cs typeface="Arial"/>
              </a:rPr>
              <a:t>provide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facts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figures </a:t>
            </a:r>
            <a:r>
              <a:rPr dirty="0" sz="1150" spc="-25">
                <a:latin typeface="Arial"/>
                <a:cs typeface="Arial"/>
              </a:rPr>
              <a:t>whether </a:t>
            </a:r>
            <a:r>
              <a:rPr dirty="0" sz="1150" spc="-70">
                <a:latin typeface="Arial"/>
                <a:cs typeface="Arial"/>
              </a:rPr>
              <a:t>business is </a:t>
            </a:r>
            <a:r>
              <a:rPr dirty="0" sz="1150" spc="-20">
                <a:latin typeface="Arial"/>
                <a:cs typeface="Arial"/>
              </a:rPr>
              <a:t>profitable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not.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350" spc="-65" b="1">
                <a:latin typeface="Arial"/>
                <a:cs typeface="Arial"/>
              </a:rPr>
              <a:t>Nature of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50" b="1">
                <a:latin typeface="Arial"/>
                <a:cs typeface="Arial"/>
              </a:rPr>
              <a:t>Business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3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various </a:t>
            </a:r>
            <a:r>
              <a:rPr dirty="0" sz="1150" spc="-45">
                <a:latin typeface="Arial"/>
                <a:cs typeface="Arial"/>
              </a:rPr>
              <a:t>types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30">
                <a:latin typeface="Arial"/>
                <a:cs typeface="Arial"/>
              </a:rPr>
              <a:t>like </a:t>
            </a:r>
            <a:r>
              <a:rPr dirty="0" sz="1150" spc="-40">
                <a:latin typeface="Arial"/>
                <a:cs typeface="Arial"/>
              </a:rPr>
              <a:t>manufacturing, </a:t>
            </a:r>
            <a:r>
              <a:rPr dirty="0" sz="1150" spc="-25">
                <a:latin typeface="Arial"/>
                <a:cs typeface="Arial"/>
              </a:rPr>
              <a:t>trading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services. </a:t>
            </a:r>
            <a:r>
              <a:rPr dirty="0" sz="1150" spc="-85">
                <a:latin typeface="Arial"/>
                <a:cs typeface="Arial"/>
              </a:rPr>
              <a:t>The  </a:t>
            </a:r>
            <a:r>
              <a:rPr dirty="0" sz="1150" spc="-65">
                <a:latin typeface="Arial"/>
                <a:cs typeface="Arial"/>
              </a:rPr>
              <a:t>businessman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should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decide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what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type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business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would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like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start.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4"/>
              <a:tabLst>
                <a:tab pos="469265" algn="l"/>
                <a:tab pos="469900" algn="l"/>
              </a:tabLst>
            </a:pPr>
            <a:r>
              <a:rPr dirty="0" sz="1350" spc="-100" b="1">
                <a:latin typeface="Arial"/>
                <a:cs typeface="Arial"/>
              </a:rPr>
              <a:t>Demand </a:t>
            </a:r>
            <a:r>
              <a:rPr dirty="0" sz="1350" spc="-60" b="1">
                <a:latin typeface="Arial"/>
                <a:cs typeface="Arial"/>
              </a:rPr>
              <a:t>of</a:t>
            </a:r>
            <a:r>
              <a:rPr dirty="0" sz="1350" spc="-50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Product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AutoNum type="arabicPeriod" startAt="4"/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  <a:spcBef>
                <a:spcPts val="5"/>
              </a:spcBef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75">
                <a:latin typeface="Arial"/>
                <a:cs typeface="Arial"/>
              </a:rPr>
              <a:t>keeps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view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demand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40">
                <a:latin typeface="Arial"/>
                <a:cs typeface="Arial"/>
              </a:rPr>
              <a:t>wants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sell. </a:t>
            </a:r>
            <a:r>
              <a:rPr dirty="0" sz="1150" spc="-5">
                <a:latin typeface="Arial"/>
                <a:cs typeface="Arial"/>
              </a:rPr>
              <a:t>If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demand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inelastic,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0">
                <a:latin typeface="Arial"/>
                <a:cs typeface="Arial"/>
              </a:rPr>
              <a:t>chances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00">
                <a:latin typeface="Arial"/>
                <a:cs typeface="Arial"/>
              </a:rPr>
              <a:t>success </a:t>
            </a:r>
            <a:r>
              <a:rPr dirty="0" sz="1150" spc="-55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bright. </a:t>
            </a:r>
            <a:r>
              <a:rPr dirty="0" sz="1150" spc="5">
                <a:latin typeface="Arial"/>
                <a:cs typeface="Arial"/>
              </a:rPr>
              <a:t>If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demand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30">
                <a:latin typeface="Arial"/>
                <a:cs typeface="Arial"/>
              </a:rPr>
              <a:t>irregular, </a:t>
            </a:r>
            <a:r>
              <a:rPr dirty="0" sz="1150" spc="-70">
                <a:latin typeface="Arial"/>
                <a:cs typeface="Arial"/>
              </a:rPr>
              <a:t>seasonal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uncertain,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50">
                <a:latin typeface="Arial"/>
                <a:cs typeface="Arial"/>
              </a:rPr>
              <a:t>should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started.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5"/>
              <a:tabLst>
                <a:tab pos="469265" algn="l"/>
                <a:tab pos="469900" algn="l"/>
              </a:tabLst>
            </a:pPr>
            <a:r>
              <a:rPr dirty="0" sz="1350" spc="-130" b="1">
                <a:latin typeface="Arial"/>
                <a:cs typeface="Arial"/>
              </a:rPr>
              <a:t>Size </a:t>
            </a:r>
            <a:r>
              <a:rPr dirty="0" sz="1350" spc="-60" b="1">
                <a:latin typeface="Arial"/>
                <a:cs typeface="Arial"/>
              </a:rPr>
              <a:t>of</a:t>
            </a:r>
            <a:r>
              <a:rPr dirty="0" sz="1350" spc="-25" b="1">
                <a:latin typeface="Arial"/>
                <a:cs typeface="Arial"/>
              </a:rPr>
              <a:t> </a:t>
            </a:r>
            <a:r>
              <a:rPr dirty="0" sz="1350" spc="-150" b="1">
                <a:latin typeface="Arial"/>
                <a:cs typeface="Arial"/>
              </a:rPr>
              <a:t>Business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10">
                <a:latin typeface="Arial"/>
                <a:cs typeface="Arial"/>
              </a:rPr>
              <a:t>Size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business means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scale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business. </a:t>
            </a:r>
            <a:r>
              <a:rPr dirty="0" sz="1150" spc="-80">
                <a:latin typeface="Arial"/>
                <a:cs typeface="Arial"/>
              </a:rPr>
              <a:t>The size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depends </a:t>
            </a:r>
            <a:r>
              <a:rPr dirty="0" sz="1150" spc="-40">
                <a:latin typeface="Arial"/>
                <a:cs typeface="Arial"/>
              </a:rPr>
              <a:t>upon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55">
                <a:latin typeface="Arial"/>
                <a:cs typeface="Arial"/>
              </a:rPr>
              <a:t>demand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commodity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organizational </a:t>
            </a:r>
            <a:r>
              <a:rPr dirty="0" sz="1150" spc="-20">
                <a:latin typeface="Arial"/>
                <a:cs typeface="Arial"/>
              </a:rPr>
              <a:t>ability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entrepreneur. </a:t>
            </a:r>
            <a:r>
              <a:rPr dirty="0" sz="1150" spc="-85">
                <a:latin typeface="Arial"/>
                <a:cs typeface="Arial"/>
              </a:rPr>
              <a:t>The  </a:t>
            </a:r>
            <a:r>
              <a:rPr dirty="0" sz="1150" spc="-25">
                <a:latin typeface="Arial"/>
                <a:cs typeface="Arial"/>
              </a:rPr>
              <a:t>determination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80">
                <a:latin typeface="Arial"/>
                <a:cs typeface="Arial"/>
              </a:rPr>
              <a:t>size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 is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15">
                <a:latin typeface="Arial"/>
                <a:cs typeface="Arial"/>
              </a:rPr>
              <a:t>important </a:t>
            </a:r>
            <a:r>
              <a:rPr dirty="0" sz="1150" spc="-50">
                <a:latin typeface="Arial"/>
                <a:cs typeface="Arial"/>
              </a:rPr>
              <a:t>decision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person.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30299" y="435359"/>
            <a:ext cx="2002789" cy="689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5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dirty="0" sz="1350" spc="-45" b="1">
                <a:latin typeface="Arial"/>
                <a:cs typeface="Arial"/>
              </a:rPr>
              <a:t>6.</a:t>
            </a:r>
            <a:r>
              <a:rPr dirty="0" sz="1350" spc="-45">
                <a:latin typeface="Times New Roman"/>
                <a:cs typeface="Times New Roman"/>
              </a:rPr>
              <a:t>	</a:t>
            </a:r>
            <a:r>
              <a:rPr dirty="0" sz="1350" spc="-75" b="1">
                <a:latin typeface="Arial"/>
                <a:cs typeface="Arial"/>
              </a:rPr>
              <a:t>Availability </a:t>
            </a:r>
            <a:r>
              <a:rPr dirty="0" sz="1350" spc="-60" b="1">
                <a:latin typeface="Arial"/>
                <a:cs typeface="Arial"/>
              </a:rPr>
              <a:t>of</a:t>
            </a:r>
            <a:r>
              <a:rPr dirty="0" sz="1350" spc="-114" b="1">
                <a:latin typeface="Arial"/>
                <a:cs typeface="Arial"/>
              </a:rPr>
              <a:t> </a:t>
            </a:r>
            <a:r>
              <a:rPr dirty="0" sz="1350" spc="-90" b="1">
                <a:latin typeface="Arial"/>
                <a:cs typeface="Arial"/>
              </a:rPr>
              <a:t>Capital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0299" y="1279655"/>
            <a:ext cx="5513070" cy="7728584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6985">
              <a:lnSpc>
                <a:spcPct val="101699"/>
              </a:lnSpc>
              <a:spcBef>
                <a:spcPts val="75"/>
              </a:spcBef>
            </a:pPr>
            <a:r>
              <a:rPr dirty="0" sz="1150" spc="-30">
                <a:latin typeface="Arial"/>
                <a:cs typeface="Arial"/>
              </a:rPr>
              <a:t>Availability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10">
                <a:latin typeface="Arial"/>
                <a:cs typeface="Arial"/>
              </a:rPr>
              <a:t>important </a:t>
            </a:r>
            <a:r>
              <a:rPr dirty="0" sz="1150" spc="-20">
                <a:latin typeface="Arial"/>
                <a:cs typeface="Arial"/>
              </a:rPr>
              <a:t>factor in </a:t>
            </a:r>
            <a:r>
              <a:rPr dirty="0" sz="1150" spc="-1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-55">
                <a:latin typeface="Arial"/>
                <a:cs typeface="Arial"/>
              </a:rPr>
              <a:t>Capital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required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60">
                <a:latin typeface="Arial"/>
                <a:cs typeface="Arial"/>
              </a:rPr>
              <a:t>purchase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land, </a:t>
            </a:r>
            <a:r>
              <a:rPr dirty="0" sz="1150" spc="-60">
                <a:latin typeface="Arial"/>
                <a:cs typeface="Arial"/>
              </a:rPr>
              <a:t>machines, </a:t>
            </a:r>
            <a:r>
              <a:rPr dirty="0" sz="1150" spc="-80">
                <a:latin typeface="Arial"/>
                <a:cs typeface="Arial"/>
              </a:rPr>
              <a:t>wages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raw </a:t>
            </a:r>
            <a:r>
              <a:rPr dirty="0" sz="1150" spc="-35">
                <a:latin typeface="Arial"/>
                <a:cs typeface="Arial"/>
              </a:rPr>
              <a:t>materials.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65">
                <a:latin typeface="Arial"/>
                <a:cs typeface="Arial"/>
              </a:rPr>
              <a:t>businessman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50">
                <a:latin typeface="Arial"/>
                <a:cs typeface="Arial"/>
              </a:rPr>
              <a:t>decide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0">
                <a:latin typeface="Arial"/>
                <a:cs typeface="Arial"/>
              </a:rPr>
              <a:t>how  </a:t>
            </a:r>
            <a:r>
              <a:rPr dirty="0" sz="1150" spc="-50">
                <a:latin typeface="Arial"/>
                <a:cs typeface="Arial"/>
              </a:rPr>
              <a:t>much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70">
                <a:latin typeface="Arial"/>
                <a:cs typeface="Arial"/>
              </a:rPr>
              <a:t>can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arrange.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7"/>
              <a:tabLst>
                <a:tab pos="469265" algn="l"/>
                <a:tab pos="469900" algn="l"/>
              </a:tabLst>
            </a:pPr>
            <a:r>
              <a:rPr dirty="0" sz="1350" spc="-150" b="1">
                <a:latin typeface="Arial"/>
                <a:cs typeface="Arial"/>
              </a:rPr>
              <a:t>Business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10" b="1">
                <a:latin typeface="Arial"/>
                <a:cs typeface="Arial"/>
              </a:rPr>
              <a:t>Location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AutoNum type="arabicPeriod" startAt="7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select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place </a:t>
            </a:r>
            <a:r>
              <a:rPr dirty="0" sz="1150" spc="-35">
                <a:latin typeface="Arial"/>
                <a:cs typeface="Arial"/>
              </a:rPr>
              <a:t>where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45">
                <a:latin typeface="Arial"/>
                <a:cs typeface="Arial"/>
              </a:rPr>
              <a:t>wants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start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70">
                <a:latin typeface="Arial"/>
                <a:cs typeface="Arial"/>
              </a:rPr>
              <a:t>business. </a:t>
            </a:r>
            <a:r>
              <a:rPr dirty="0" sz="1150" spc="-100">
                <a:latin typeface="Arial"/>
                <a:cs typeface="Arial"/>
              </a:rPr>
              <a:t>He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0">
                <a:latin typeface="Arial"/>
                <a:cs typeface="Arial"/>
              </a:rPr>
              <a:t>select 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0">
                <a:latin typeface="Arial"/>
                <a:cs typeface="Arial"/>
              </a:rPr>
              <a:t>place </a:t>
            </a:r>
            <a:r>
              <a:rPr dirty="0" sz="1150" spc="-35">
                <a:latin typeface="Arial"/>
                <a:cs typeface="Arial"/>
              </a:rPr>
              <a:t>where </a:t>
            </a:r>
            <a:r>
              <a:rPr dirty="0" sz="1150" spc="-30">
                <a:latin typeface="Arial"/>
                <a:cs typeface="Arial"/>
              </a:rPr>
              <a:t>raw material, </a:t>
            </a:r>
            <a:r>
              <a:rPr dirty="0" sz="1150" spc="-65">
                <a:latin typeface="Arial"/>
                <a:cs typeface="Arial"/>
              </a:rPr>
              <a:t>cheap </a:t>
            </a:r>
            <a:r>
              <a:rPr dirty="0" sz="1150" spc="-30">
                <a:latin typeface="Arial"/>
                <a:cs typeface="Arial"/>
              </a:rPr>
              <a:t>labour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transportation </a:t>
            </a:r>
            <a:r>
              <a:rPr dirty="0" sz="1150" spc="-30">
                <a:latin typeface="Arial"/>
                <a:cs typeface="Arial"/>
              </a:rPr>
              <a:t>facilities </a:t>
            </a:r>
            <a:r>
              <a:rPr dirty="0" sz="1150" spc="-50">
                <a:latin typeface="Arial"/>
                <a:cs typeface="Arial"/>
              </a:rPr>
              <a:t>are available. </a:t>
            </a:r>
            <a:r>
              <a:rPr dirty="0" sz="1150" spc="-100">
                <a:latin typeface="Arial"/>
                <a:cs typeface="Arial"/>
              </a:rPr>
              <a:t>He 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70">
                <a:latin typeface="Arial"/>
                <a:cs typeface="Arial"/>
              </a:rPr>
              <a:t>check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location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business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competitors.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8"/>
              <a:tabLst>
                <a:tab pos="469265" algn="l"/>
                <a:tab pos="469900" algn="l"/>
              </a:tabLst>
            </a:pPr>
            <a:r>
              <a:rPr dirty="0" sz="1350" spc="-90" b="1">
                <a:latin typeface="Arial"/>
                <a:cs typeface="Arial"/>
              </a:rPr>
              <a:t>Government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14" b="1">
                <a:latin typeface="Arial"/>
                <a:cs typeface="Arial"/>
              </a:rPr>
              <a:t>Policy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AutoNum type="arabicPeriod" startAt="8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35">
                <a:latin typeface="Arial"/>
                <a:cs typeface="Arial"/>
              </a:rPr>
              <a:t>carefully </a:t>
            </a:r>
            <a:r>
              <a:rPr dirty="0" sz="1150" spc="-50">
                <a:latin typeface="Arial"/>
                <a:cs typeface="Arial"/>
              </a:rPr>
              <a:t>consider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policies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government </a:t>
            </a:r>
            <a:r>
              <a:rPr dirty="0" sz="1150" spc="-30">
                <a:latin typeface="Arial"/>
                <a:cs typeface="Arial"/>
              </a:rPr>
              <a:t>before starting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-100">
                <a:latin typeface="Arial"/>
                <a:cs typeface="Arial"/>
              </a:rPr>
              <a:t>Some </a:t>
            </a:r>
            <a:r>
              <a:rPr dirty="0" sz="1150" spc="-75">
                <a:latin typeface="Arial"/>
                <a:cs typeface="Arial"/>
              </a:rPr>
              <a:t>areas </a:t>
            </a:r>
            <a:r>
              <a:rPr dirty="0" sz="1150" spc="-50">
                <a:latin typeface="Arial"/>
                <a:cs typeface="Arial"/>
              </a:rPr>
              <a:t>are declared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5">
                <a:latin typeface="Arial"/>
                <a:cs typeface="Arial"/>
              </a:rPr>
              <a:t>‘tax free </a:t>
            </a:r>
            <a:r>
              <a:rPr dirty="0" sz="1150" spc="-60">
                <a:latin typeface="Arial"/>
                <a:cs typeface="Arial"/>
              </a:rPr>
              <a:t>zones’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25">
                <a:latin typeface="Arial"/>
                <a:cs typeface="Arial"/>
              </a:rPr>
              <a:t>particular  </a:t>
            </a:r>
            <a:r>
              <a:rPr dirty="0" sz="1150" spc="-75">
                <a:latin typeface="Arial"/>
                <a:cs typeface="Arial"/>
              </a:rPr>
              <a:t>businesses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loan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provided </a:t>
            </a:r>
            <a:r>
              <a:rPr dirty="0" sz="1150">
                <a:latin typeface="Arial"/>
                <a:cs typeface="Arial"/>
              </a:rPr>
              <a:t>without </a:t>
            </a:r>
            <a:r>
              <a:rPr dirty="0" sz="1150" spc="-65">
                <a:latin typeface="Arial"/>
                <a:cs typeface="Arial"/>
              </a:rPr>
              <a:t>any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interest.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9"/>
              <a:tabLst>
                <a:tab pos="469265" algn="l"/>
                <a:tab pos="469900" algn="l"/>
              </a:tabLst>
            </a:pPr>
            <a:r>
              <a:rPr dirty="0" sz="1350" spc="-75" b="1">
                <a:latin typeface="Arial"/>
                <a:cs typeface="Arial"/>
              </a:rPr>
              <a:t>Availability </a:t>
            </a:r>
            <a:r>
              <a:rPr dirty="0" sz="1350" spc="-60" b="1">
                <a:latin typeface="Arial"/>
                <a:cs typeface="Arial"/>
              </a:rPr>
              <a:t>of </a:t>
            </a:r>
            <a:r>
              <a:rPr dirty="0" sz="1350" spc="-120" b="1">
                <a:latin typeface="Arial"/>
                <a:cs typeface="Arial"/>
              </a:rPr>
              <a:t>Raw</a:t>
            </a:r>
            <a:r>
              <a:rPr dirty="0" sz="1350" spc="-90" b="1">
                <a:latin typeface="Arial"/>
                <a:cs typeface="Arial"/>
              </a:rPr>
              <a:t> </a:t>
            </a:r>
            <a:r>
              <a:rPr dirty="0" sz="1350" spc="-40" b="1">
                <a:latin typeface="Arial"/>
                <a:cs typeface="Arial"/>
              </a:rPr>
              <a:t>Material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9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30">
                <a:latin typeface="Arial"/>
                <a:cs typeface="Arial"/>
              </a:rPr>
              <a:t>Availability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05">
                <a:latin typeface="Arial"/>
                <a:cs typeface="Arial"/>
              </a:rPr>
              <a:t>Raw </a:t>
            </a:r>
            <a:r>
              <a:rPr dirty="0" sz="1150" spc="-30">
                <a:latin typeface="Arial"/>
                <a:cs typeface="Arial"/>
              </a:rPr>
              <a:t>material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essential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produce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15">
                <a:latin typeface="Arial"/>
                <a:cs typeface="Arial"/>
              </a:rPr>
              <a:t>at low </a:t>
            </a:r>
            <a:r>
              <a:rPr dirty="0" sz="1150" spc="-45">
                <a:latin typeface="Arial"/>
                <a:cs typeface="Arial"/>
              </a:rPr>
              <a:t>cost. </a:t>
            </a:r>
            <a:r>
              <a:rPr dirty="0" sz="1150" spc="-65">
                <a:latin typeface="Arial"/>
                <a:cs typeface="Arial"/>
              </a:rPr>
              <a:t>Sometimes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30">
                <a:latin typeface="Arial"/>
                <a:cs typeface="Arial"/>
              </a:rPr>
              <a:t>raw </a:t>
            </a:r>
            <a:r>
              <a:rPr dirty="0" sz="1150" spc="-25">
                <a:latin typeface="Arial"/>
                <a:cs typeface="Arial"/>
              </a:rPr>
              <a:t>material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0">
                <a:latin typeface="Arial"/>
                <a:cs typeface="Arial"/>
              </a:rPr>
              <a:t>imported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40">
                <a:latin typeface="Arial"/>
                <a:cs typeface="Arial"/>
              </a:rPr>
              <a:t>create </a:t>
            </a:r>
            <a:r>
              <a:rPr dirty="0" sz="1150" spc="-35">
                <a:latin typeface="Arial"/>
                <a:cs typeface="Arial"/>
              </a:rPr>
              <a:t>problem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him. </a:t>
            </a:r>
            <a:r>
              <a:rPr dirty="0" sz="1150" spc="-140">
                <a:latin typeface="Arial"/>
                <a:cs typeface="Arial"/>
              </a:rPr>
              <a:t>So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35">
                <a:latin typeface="Arial"/>
                <a:cs typeface="Arial"/>
              </a:rPr>
              <a:t>must  </a:t>
            </a:r>
            <a:r>
              <a:rPr dirty="0" sz="1150" spc="-55">
                <a:latin typeface="Arial"/>
                <a:cs typeface="Arial"/>
              </a:rPr>
              <a:t>keep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20">
                <a:latin typeface="Arial"/>
                <a:cs typeface="Arial"/>
              </a:rPr>
              <a:t>factor in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mind.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0"/>
              <a:tabLst>
                <a:tab pos="469265" algn="l"/>
                <a:tab pos="470534" algn="l"/>
              </a:tabLst>
            </a:pPr>
            <a:r>
              <a:rPr dirty="0" sz="1350" spc="-75" b="1">
                <a:latin typeface="Arial"/>
                <a:cs typeface="Arial"/>
              </a:rPr>
              <a:t>Availability </a:t>
            </a:r>
            <a:r>
              <a:rPr dirty="0" sz="1350" spc="-60" b="1">
                <a:latin typeface="Arial"/>
                <a:cs typeface="Arial"/>
              </a:rPr>
              <a:t>of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00" b="1">
                <a:latin typeface="Arial"/>
                <a:cs typeface="Arial"/>
              </a:rPr>
              <a:t>Machines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10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30">
                <a:latin typeface="Arial"/>
                <a:cs typeface="Arial"/>
              </a:rPr>
              <a:t>Availability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65">
                <a:latin typeface="Arial"/>
                <a:cs typeface="Arial"/>
              </a:rPr>
              <a:t>machines is also an </a:t>
            </a:r>
            <a:r>
              <a:rPr dirty="0" sz="1150" spc="-15">
                <a:latin typeface="Arial"/>
                <a:cs typeface="Arial"/>
              </a:rPr>
              <a:t>important </a:t>
            </a:r>
            <a:r>
              <a:rPr dirty="0" sz="1150" spc="-20">
                <a:latin typeface="Arial"/>
                <a:cs typeface="Arial"/>
              </a:rPr>
              <a:t>factor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business.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40">
                <a:latin typeface="Arial"/>
                <a:cs typeface="Arial"/>
              </a:rPr>
              <a:t>must  </a:t>
            </a:r>
            <a:r>
              <a:rPr dirty="0" sz="1150" spc="-90">
                <a:latin typeface="Arial"/>
                <a:cs typeface="Arial"/>
              </a:rPr>
              <a:t>see </a:t>
            </a:r>
            <a:r>
              <a:rPr dirty="0" sz="1150" spc="-25">
                <a:latin typeface="Arial"/>
                <a:cs typeface="Arial"/>
              </a:rPr>
              <a:t>whether </a:t>
            </a:r>
            <a:r>
              <a:rPr dirty="0" sz="1150" spc="-50">
                <a:latin typeface="Arial"/>
                <a:cs typeface="Arial"/>
              </a:rPr>
              <a:t>these </a:t>
            </a:r>
            <a:r>
              <a:rPr dirty="0" sz="1150" spc="-65">
                <a:latin typeface="Arial"/>
                <a:cs typeface="Arial"/>
              </a:rPr>
              <a:t>machines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60">
                <a:latin typeface="Arial"/>
                <a:cs typeface="Arial"/>
              </a:rPr>
              <a:t>easily </a:t>
            </a:r>
            <a:r>
              <a:rPr dirty="0" sz="1150" spc="-50">
                <a:latin typeface="Arial"/>
                <a:cs typeface="Arial"/>
              </a:rPr>
              <a:t>available </a:t>
            </a:r>
            <a:r>
              <a:rPr dirty="0" sz="1150" spc="-45">
                <a:latin typeface="Arial"/>
                <a:cs typeface="Arial"/>
              </a:rPr>
              <a:t>inside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country </a:t>
            </a:r>
            <a:r>
              <a:rPr dirty="0" sz="1150" spc="-10">
                <a:latin typeface="Arial"/>
                <a:cs typeface="Arial"/>
              </a:rPr>
              <a:t>or not. </a:t>
            </a: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50">
                <a:latin typeface="Arial"/>
                <a:cs typeface="Arial"/>
              </a:rPr>
              <a:t>these are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 </a:t>
            </a:r>
            <a:r>
              <a:rPr dirty="0" sz="1150" spc="-20">
                <a:latin typeface="Arial"/>
                <a:cs typeface="Arial"/>
              </a:rPr>
              <a:t>imported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then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60">
                <a:latin typeface="Arial"/>
                <a:cs typeface="Arial"/>
              </a:rPr>
              <a:t> may </a:t>
            </a:r>
            <a:r>
              <a:rPr dirty="0" sz="1150" spc="-45">
                <a:latin typeface="Arial"/>
                <a:cs typeface="Arial"/>
              </a:rPr>
              <a:t>create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problems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him.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1"/>
              <a:tabLst>
                <a:tab pos="469265" algn="l"/>
                <a:tab pos="470534" algn="l"/>
              </a:tabLst>
            </a:pPr>
            <a:r>
              <a:rPr dirty="0" sz="1350" spc="-75" b="1">
                <a:latin typeface="Arial"/>
                <a:cs typeface="Arial"/>
              </a:rPr>
              <a:t>Availability </a:t>
            </a:r>
            <a:r>
              <a:rPr dirty="0" sz="1350" spc="-60" b="1">
                <a:latin typeface="Arial"/>
                <a:cs typeface="Arial"/>
              </a:rPr>
              <a:t>of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Labor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AutoNum type="arabicPeriod" startAt="11"/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Skilled and </a:t>
            </a:r>
            <a:r>
              <a:rPr dirty="0" sz="1150" spc="-15">
                <a:latin typeface="Arial"/>
                <a:cs typeface="Arial"/>
              </a:rPr>
              <a:t>efficient </a:t>
            </a:r>
            <a:r>
              <a:rPr dirty="0" sz="1150" spc="-30">
                <a:latin typeface="Arial"/>
                <a:cs typeface="Arial"/>
              </a:rPr>
              <a:t>labor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essential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run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>
                <a:latin typeface="Arial"/>
                <a:cs typeface="Arial"/>
              </a:rPr>
              <a:t>profit. </a:t>
            </a:r>
            <a:r>
              <a:rPr dirty="0" sz="1150" spc="-45">
                <a:latin typeface="Arial"/>
                <a:cs typeface="Arial"/>
              </a:rPr>
              <a:t>But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 spc="-15">
                <a:latin typeface="Arial"/>
                <a:cs typeface="Arial"/>
              </a:rPr>
              <a:t>efficient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skilled  </a:t>
            </a:r>
            <a:r>
              <a:rPr dirty="0" sz="1150" spc="-30">
                <a:latin typeface="Arial"/>
                <a:cs typeface="Arial"/>
              </a:rPr>
              <a:t>labor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not</a:t>
            </a:r>
            <a:r>
              <a:rPr dirty="0" sz="1150" spc="-50">
                <a:latin typeface="Arial"/>
                <a:cs typeface="Arial"/>
              </a:rPr>
              <a:t> available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where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is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going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started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then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will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not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profitable.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2"/>
              <a:tabLst>
                <a:tab pos="469265" algn="l"/>
                <a:tab pos="470534" algn="l"/>
              </a:tabLst>
            </a:pPr>
            <a:r>
              <a:rPr dirty="0" sz="1350" spc="-85" b="1">
                <a:latin typeface="Arial"/>
                <a:cs typeface="Arial"/>
              </a:rPr>
              <a:t>Means </a:t>
            </a:r>
            <a:r>
              <a:rPr dirty="0" sz="1350" spc="-65" b="1">
                <a:latin typeface="Arial"/>
                <a:cs typeface="Arial"/>
              </a:rPr>
              <a:t>of</a:t>
            </a:r>
            <a:r>
              <a:rPr dirty="0" sz="1350" spc="-70" b="1">
                <a:latin typeface="Arial"/>
                <a:cs typeface="Arial"/>
              </a:rPr>
              <a:t> </a:t>
            </a:r>
            <a:r>
              <a:rPr dirty="0" sz="1350" spc="-85" b="1">
                <a:latin typeface="Arial"/>
                <a:cs typeface="Arial"/>
              </a:rPr>
              <a:t>Transportation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12"/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  <a:spcBef>
                <a:spcPts val="5"/>
              </a:spcBef>
            </a:pPr>
            <a:r>
              <a:rPr dirty="0" sz="1150" spc="-60">
                <a:latin typeface="Arial"/>
                <a:cs typeface="Arial"/>
              </a:rPr>
              <a:t>Quick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cheap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transportation </a:t>
            </a:r>
            <a:r>
              <a:rPr dirty="0" sz="1150" spc="-50">
                <a:latin typeface="Arial"/>
                <a:cs typeface="Arial"/>
              </a:rPr>
              <a:t>are essential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15">
                <a:latin typeface="Arial"/>
                <a:cs typeface="Arial"/>
              </a:rPr>
              <a:t>low </a:t>
            </a:r>
            <a:r>
              <a:rPr dirty="0" sz="1150" spc="-45">
                <a:latin typeface="Arial"/>
                <a:cs typeface="Arial"/>
              </a:rPr>
              <a:t>cost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high  </a:t>
            </a:r>
            <a:r>
              <a:rPr dirty="0" sz="1150" spc="5">
                <a:latin typeface="Arial"/>
                <a:cs typeface="Arial"/>
              </a:rPr>
              <a:t>profit </a:t>
            </a:r>
            <a:r>
              <a:rPr dirty="0" sz="1150" spc="-25">
                <a:latin typeface="Arial"/>
                <a:cs typeface="Arial"/>
              </a:rPr>
              <a:t>rate.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60">
                <a:latin typeface="Arial"/>
                <a:cs typeface="Arial"/>
              </a:rPr>
              <a:t>keep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view </a:t>
            </a:r>
            <a:r>
              <a:rPr dirty="0" sz="1150" spc="-30">
                <a:latin typeface="Arial"/>
                <a:cs typeface="Arial"/>
              </a:rPr>
              <a:t>this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factor.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3"/>
              <a:tabLst>
                <a:tab pos="469265" algn="l"/>
                <a:tab pos="470534" algn="l"/>
              </a:tabLst>
            </a:pPr>
            <a:r>
              <a:rPr dirty="0" sz="1350" spc="-90" b="1">
                <a:latin typeface="Arial"/>
                <a:cs typeface="Arial"/>
              </a:rPr>
              <a:t>Power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40" b="1">
                <a:latin typeface="Arial"/>
                <a:cs typeface="Arial"/>
              </a:rPr>
              <a:t>Resources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0">
                <a:latin typeface="Arial"/>
                <a:cs typeface="Arial"/>
              </a:rPr>
              <a:t>availability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power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 spc="-30">
                <a:latin typeface="Arial"/>
                <a:cs typeface="Arial"/>
              </a:rPr>
              <a:t>like </a:t>
            </a:r>
            <a:r>
              <a:rPr dirty="0" sz="1150" spc="-20">
                <a:latin typeface="Arial"/>
                <a:cs typeface="Arial"/>
              </a:rPr>
              <a:t>water, </a:t>
            </a:r>
            <a:r>
              <a:rPr dirty="0" sz="1150" spc="-15">
                <a:latin typeface="Arial"/>
                <a:cs typeface="Arial"/>
              </a:rPr>
              <a:t>oil, </a:t>
            </a:r>
            <a:r>
              <a:rPr dirty="0" sz="1150" spc="-55">
                <a:latin typeface="Arial"/>
                <a:cs typeface="Arial"/>
              </a:rPr>
              <a:t>coal and </a:t>
            </a:r>
            <a:r>
              <a:rPr dirty="0" sz="1150" spc="-25">
                <a:latin typeface="Arial"/>
                <a:cs typeface="Arial"/>
              </a:rPr>
              <a:t>electricity. </a:t>
            </a:r>
            <a:r>
              <a:rPr dirty="0" sz="1150" spc="-140">
                <a:latin typeface="Arial"/>
                <a:cs typeface="Arial"/>
              </a:rPr>
              <a:t>So  </a:t>
            </a:r>
            <a:r>
              <a:rPr dirty="0" sz="1150" spc="-65">
                <a:latin typeface="Arial"/>
                <a:cs typeface="Arial"/>
              </a:rPr>
              <a:t>businessman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55">
                <a:latin typeface="Arial"/>
                <a:cs typeface="Arial"/>
              </a:rPr>
              <a:t>keep </a:t>
            </a:r>
            <a:r>
              <a:rPr dirty="0" sz="1150" spc="-25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view </a:t>
            </a:r>
            <a:r>
              <a:rPr dirty="0" sz="1150" spc="-30">
                <a:latin typeface="Arial"/>
                <a:cs typeface="Arial"/>
              </a:rPr>
              <a:t>this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factor.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30299" y="435359"/>
            <a:ext cx="1938655" cy="689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dirty="0" sz="1350" spc="-55" b="1">
                <a:latin typeface="Arial"/>
                <a:cs typeface="Arial"/>
              </a:rPr>
              <a:t>14.</a:t>
            </a:r>
            <a:r>
              <a:rPr dirty="0" sz="1350" spc="-55">
                <a:latin typeface="Times New Roman"/>
                <a:cs typeface="Times New Roman"/>
              </a:rPr>
              <a:t>	</a:t>
            </a:r>
            <a:r>
              <a:rPr dirty="0" sz="1350" spc="-95" b="1">
                <a:latin typeface="Arial"/>
                <a:cs typeface="Arial"/>
              </a:rPr>
              <a:t>Hiring</a:t>
            </a:r>
            <a:r>
              <a:rPr dirty="0" sz="1350" spc="-85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Employees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26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0298" y="1279655"/>
            <a:ext cx="5514340" cy="63919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6350">
              <a:lnSpc>
                <a:spcPct val="101699"/>
              </a:lnSpc>
              <a:spcBef>
                <a:spcPts val="7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25">
                <a:latin typeface="Arial"/>
                <a:cs typeface="Arial"/>
              </a:rPr>
              <a:t>hire </a:t>
            </a:r>
            <a:r>
              <a:rPr dirty="0" sz="1150" spc="-20">
                <a:latin typeface="Arial"/>
                <a:cs typeface="Arial"/>
              </a:rPr>
              <a:t>the efficient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competent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-85">
                <a:latin typeface="Arial"/>
                <a:cs typeface="Arial"/>
              </a:rPr>
              <a:t>The  </a:t>
            </a:r>
            <a:r>
              <a:rPr dirty="0" sz="1150" spc="-25">
                <a:latin typeface="Arial"/>
                <a:cs typeface="Arial"/>
              </a:rPr>
              <a:t>proper training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55">
                <a:latin typeface="Arial"/>
                <a:cs typeface="Arial"/>
              </a:rPr>
              <a:t>be given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employees.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dirty="0" sz="1350" spc="-55" b="1">
                <a:latin typeface="Arial"/>
                <a:cs typeface="Arial"/>
              </a:rPr>
              <a:t>15.</a:t>
            </a:r>
            <a:r>
              <a:rPr dirty="0" sz="1350" spc="-55">
                <a:latin typeface="Times New Roman"/>
                <a:cs typeface="Times New Roman"/>
              </a:rPr>
              <a:t>	</a:t>
            </a:r>
            <a:r>
              <a:rPr dirty="0" sz="1350" spc="-105" b="1">
                <a:latin typeface="Arial"/>
                <a:cs typeface="Arial"/>
              </a:rPr>
              <a:t>Product</a:t>
            </a:r>
            <a:r>
              <a:rPr dirty="0" sz="1350" spc="-70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Pricing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businessman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55">
                <a:latin typeface="Arial"/>
                <a:cs typeface="Arial"/>
              </a:rPr>
              <a:t>decide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price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25">
                <a:latin typeface="Arial"/>
                <a:cs typeface="Arial"/>
              </a:rPr>
              <a:t>product.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beginning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price must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0">
                <a:latin typeface="Arial"/>
                <a:cs typeface="Arial"/>
              </a:rPr>
              <a:t>low.  </a:t>
            </a:r>
            <a:r>
              <a:rPr dirty="0" sz="1150" spc="-95">
                <a:latin typeface="Arial"/>
                <a:cs typeface="Arial"/>
              </a:rPr>
              <a:t>He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55">
                <a:latin typeface="Arial"/>
                <a:cs typeface="Arial"/>
              </a:rPr>
              <a:t>keep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view </a:t>
            </a:r>
            <a:r>
              <a:rPr dirty="0" sz="1150">
                <a:latin typeface="Arial"/>
                <a:cs typeface="Arial"/>
              </a:rPr>
              <a:t>that </a:t>
            </a:r>
            <a:r>
              <a:rPr dirty="0" sz="1150" spc="-25">
                <a:latin typeface="Arial"/>
                <a:cs typeface="Arial"/>
              </a:rPr>
              <a:t>whether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45">
                <a:latin typeface="Arial"/>
                <a:cs typeface="Arial"/>
              </a:rPr>
              <a:t>cover cost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80">
                <a:latin typeface="Arial"/>
                <a:cs typeface="Arial"/>
              </a:rPr>
              <a:t>expenses 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70">
                <a:latin typeface="Arial"/>
                <a:cs typeface="Arial"/>
              </a:rPr>
              <a:t>such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price.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50" b="1">
                <a:latin typeface="Arial"/>
                <a:cs typeface="Arial"/>
              </a:rPr>
              <a:t>FUNCTIONS </a:t>
            </a:r>
            <a:r>
              <a:rPr dirty="0" sz="1350" spc="-175" b="1">
                <a:latin typeface="Arial"/>
                <a:cs typeface="Arial"/>
              </a:rPr>
              <a:t>OF</a:t>
            </a:r>
            <a:r>
              <a:rPr dirty="0" sz="1350" spc="-220" b="1">
                <a:latin typeface="Arial"/>
                <a:cs typeface="Arial"/>
              </a:rPr>
              <a:t> </a:t>
            </a:r>
            <a:r>
              <a:rPr dirty="0" sz="1350" spc="-185" b="1">
                <a:latin typeface="Arial"/>
                <a:cs typeface="Arial"/>
              </a:rPr>
              <a:t>BUSINESS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45">
                <a:latin typeface="Arial"/>
                <a:cs typeface="Arial"/>
              </a:rPr>
              <a:t>Following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main </a:t>
            </a:r>
            <a:r>
              <a:rPr dirty="0" sz="1150" spc="-35">
                <a:latin typeface="Arial"/>
                <a:cs typeface="Arial"/>
              </a:rPr>
              <a:t>functions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business: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/>
              <a:tabLst>
                <a:tab pos="469265" algn="l"/>
                <a:tab pos="470534" algn="l"/>
              </a:tabLst>
            </a:pPr>
            <a:r>
              <a:rPr dirty="0" sz="1150" spc="-85" b="1">
                <a:latin typeface="Arial"/>
                <a:cs typeface="Arial"/>
              </a:rPr>
              <a:t>Production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35">
                <a:latin typeface="Arial"/>
                <a:cs typeface="Arial"/>
              </a:rPr>
              <a:t>Production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">
                <a:latin typeface="Arial"/>
                <a:cs typeface="Arial"/>
              </a:rPr>
              <a:t>first </a:t>
            </a:r>
            <a:r>
              <a:rPr dirty="0" sz="1150" spc="-40">
                <a:latin typeface="Arial"/>
                <a:cs typeface="Arial"/>
              </a:rPr>
              <a:t>main </a:t>
            </a:r>
            <a:r>
              <a:rPr dirty="0" sz="1150" spc="-20">
                <a:latin typeface="Arial"/>
                <a:cs typeface="Arial"/>
              </a:rPr>
              <a:t>function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production 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0">
                <a:latin typeface="Arial"/>
                <a:cs typeface="Arial"/>
              </a:rPr>
              <a:t>regular.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5">
                <a:latin typeface="Arial"/>
                <a:cs typeface="Arial"/>
              </a:rPr>
              <a:t>produced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way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45">
                <a:latin typeface="Arial"/>
                <a:cs typeface="Arial"/>
              </a:rPr>
              <a:t>satisfy  </a:t>
            </a:r>
            <a:r>
              <a:rPr dirty="0" sz="1150" spc="-50">
                <a:latin typeface="Arial"/>
                <a:cs typeface="Arial"/>
              </a:rPr>
              <a:t>human</a:t>
            </a:r>
            <a:r>
              <a:rPr dirty="0" sz="1150" spc="-65">
                <a:latin typeface="Arial"/>
                <a:cs typeface="Arial"/>
              </a:rPr>
              <a:t> needs.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2"/>
              <a:tabLst>
                <a:tab pos="469265" algn="l"/>
                <a:tab pos="470534" algn="l"/>
              </a:tabLst>
            </a:pPr>
            <a:r>
              <a:rPr dirty="0" sz="1150" spc="-120" b="1">
                <a:latin typeface="Arial"/>
                <a:cs typeface="Arial"/>
              </a:rPr>
              <a:t>Sales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sale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another </a:t>
            </a:r>
            <a:r>
              <a:rPr dirty="0" sz="1150" spc="-15">
                <a:latin typeface="Arial"/>
                <a:cs typeface="Arial"/>
              </a:rPr>
              <a:t>important </a:t>
            </a:r>
            <a:r>
              <a:rPr dirty="0" sz="1150" spc="-20">
                <a:latin typeface="Arial"/>
                <a:cs typeface="Arial"/>
              </a:rPr>
              <a:t>function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-110">
                <a:latin typeface="Arial"/>
                <a:cs typeface="Arial"/>
              </a:rPr>
              <a:t>Sales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>
                <a:latin typeface="Arial"/>
                <a:cs typeface="Arial"/>
              </a:rPr>
              <a:t>of two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types: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buFont typeface="Wingdings"/>
              <a:buChar char=""/>
              <a:tabLst>
                <a:tab pos="926465" algn="l"/>
                <a:tab pos="927735" algn="l"/>
              </a:tabLst>
            </a:pPr>
            <a:r>
              <a:rPr dirty="0" sz="1150" spc="-120">
                <a:latin typeface="Arial"/>
                <a:cs typeface="Arial"/>
              </a:rPr>
              <a:t>Cash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sales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6465" algn="l"/>
                <a:tab pos="927735" algn="l"/>
              </a:tabLst>
            </a:pPr>
            <a:r>
              <a:rPr dirty="0" sz="1150" spc="-45">
                <a:latin typeface="Arial"/>
                <a:cs typeface="Arial"/>
              </a:rPr>
              <a:t>Credit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sales</a:t>
            </a:r>
            <a:endParaRPr sz="1150">
              <a:latin typeface="Arial"/>
              <a:cs typeface="Arial"/>
            </a:endParaRPr>
          </a:p>
          <a:p>
            <a:pPr marL="241300" marR="5080">
              <a:lnSpc>
                <a:spcPct val="203500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sale </a:t>
            </a:r>
            <a:r>
              <a:rPr dirty="0" sz="1150" spc="-40">
                <a:latin typeface="Arial"/>
                <a:cs typeface="Arial"/>
              </a:rPr>
              <a:t>must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0">
                <a:latin typeface="Arial"/>
                <a:cs typeface="Arial"/>
              </a:rPr>
              <a:t>regular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55">
                <a:latin typeface="Arial"/>
                <a:cs typeface="Arial"/>
              </a:rPr>
              <a:t>reasonable </a:t>
            </a:r>
            <a:r>
              <a:rPr dirty="0" sz="1150" spc="-35">
                <a:latin typeface="Arial"/>
                <a:cs typeface="Arial"/>
              </a:rPr>
              <a:t>price. </a:t>
            </a:r>
            <a:r>
              <a:rPr dirty="0" sz="1150" spc="1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5">
                <a:latin typeface="Arial"/>
                <a:cs typeface="Arial"/>
              </a:rPr>
              <a:t>difficult </a:t>
            </a:r>
            <a:r>
              <a:rPr dirty="0" sz="1150" spc="-15">
                <a:latin typeface="Arial"/>
                <a:cs typeface="Arial"/>
              </a:rPr>
              <a:t>job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40">
                <a:latin typeface="Arial"/>
                <a:cs typeface="Arial"/>
              </a:rPr>
              <a:t>hard </a:t>
            </a:r>
            <a:r>
              <a:rPr dirty="0" sz="1150" spc="-20">
                <a:latin typeface="Arial"/>
                <a:cs typeface="Arial"/>
              </a:rPr>
              <a:t>competition in </a:t>
            </a:r>
            <a:r>
              <a:rPr dirty="0" sz="1150" spc="-75">
                <a:latin typeface="Arial"/>
                <a:cs typeface="Arial"/>
              </a:rPr>
              <a:t>each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market.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900"/>
              </a:spcBef>
              <a:buAutoNum type="arabicPeriod" startAt="3"/>
              <a:tabLst>
                <a:tab pos="469265" algn="l"/>
                <a:tab pos="470534" algn="l"/>
              </a:tabLst>
            </a:pPr>
            <a:r>
              <a:rPr dirty="0" sz="1150" spc="-100" b="1">
                <a:latin typeface="Arial"/>
                <a:cs typeface="Arial"/>
              </a:rPr>
              <a:t>Finance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10">
                <a:latin typeface="Arial"/>
                <a:cs typeface="Arial"/>
              </a:rPr>
              <a:t>important </a:t>
            </a:r>
            <a:r>
              <a:rPr dirty="0" sz="1150" spc="-20">
                <a:latin typeface="Arial"/>
                <a:cs typeface="Arial"/>
              </a:rPr>
              <a:t>function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secure </a:t>
            </a:r>
            <a:r>
              <a:rPr dirty="0" sz="1150" spc="-45">
                <a:latin typeface="Arial"/>
                <a:cs typeface="Arial"/>
              </a:rPr>
              <a:t>finance. </a:t>
            </a:r>
            <a:r>
              <a:rPr dirty="0" sz="1150" spc="-75">
                <a:latin typeface="Arial"/>
                <a:cs typeface="Arial"/>
              </a:rPr>
              <a:t>Finance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required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40">
                <a:latin typeface="Arial"/>
                <a:cs typeface="Arial"/>
              </a:rPr>
              <a:t>establishment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expansion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business. </a:t>
            </a: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5">
                <a:latin typeface="Arial"/>
                <a:cs typeface="Arial"/>
              </a:rPr>
              <a:t>two </a:t>
            </a:r>
            <a:r>
              <a:rPr dirty="0" sz="1150" spc="-70">
                <a:latin typeface="Arial"/>
                <a:cs typeface="Arial"/>
              </a:rPr>
              <a:t>sources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raising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funds: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87494" y="7826757"/>
            <a:ext cx="190500" cy="379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5">
                <a:latin typeface="Arial"/>
                <a:cs typeface="Arial"/>
              </a:rPr>
              <a:t>(a)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40">
                <a:latin typeface="Arial"/>
                <a:cs typeface="Arial"/>
              </a:rPr>
              <a:t>(</a:t>
            </a:r>
            <a:r>
              <a:rPr dirty="0" sz="1150" spc="-45">
                <a:latin typeface="Arial"/>
                <a:cs typeface="Arial"/>
              </a:rPr>
              <a:t>b</a:t>
            </a:r>
            <a:r>
              <a:rPr dirty="0" sz="1150" spc="-35">
                <a:latin typeface="Arial"/>
                <a:cs typeface="Arial"/>
              </a:rPr>
              <a:t>)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4568" y="7826757"/>
            <a:ext cx="1001394" cy="3797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50">
                <a:latin typeface="Arial"/>
                <a:cs typeface="Arial"/>
              </a:rPr>
              <a:t>Owner’s </a:t>
            </a:r>
            <a:r>
              <a:rPr dirty="0" sz="1150" spc="-55">
                <a:latin typeface="Arial"/>
                <a:cs typeface="Arial"/>
              </a:rPr>
              <a:t>Capital  </a:t>
            </a:r>
            <a:r>
              <a:rPr dirty="0" sz="1150" spc="-40">
                <a:latin typeface="Arial"/>
                <a:cs typeface="Arial"/>
              </a:rPr>
              <a:t>Borrowed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Funds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7" y="892559"/>
            <a:ext cx="5514340" cy="7501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469265" algn="l"/>
                <a:tab pos="469900" algn="l"/>
              </a:tabLst>
            </a:pPr>
            <a:r>
              <a:rPr dirty="0" sz="1150" spc="-65" b="1">
                <a:latin typeface="Arial"/>
                <a:cs typeface="Arial"/>
              </a:rPr>
              <a:t>Management </a:t>
            </a:r>
            <a:r>
              <a:rPr dirty="0" sz="1150" spc="-90" b="1">
                <a:latin typeface="Arial"/>
                <a:cs typeface="Arial"/>
              </a:rPr>
              <a:t>Function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4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30">
                <a:latin typeface="Arial"/>
                <a:cs typeface="Arial"/>
              </a:rPr>
              <a:t>“To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 spc="-45">
                <a:latin typeface="Arial"/>
                <a:cs typeface="Arial"/>
              </a:rPr>
              <a:t>things </a:t>
            </a:r>
            <a:r>
              <a:rPr dirty="0" sz="1150" spc="-20">
                <a:latin typeface="Arial"/>
                <a:cs typeface="Arial"/>
              </a:rPr>
              <a:t>efficiently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effectively”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known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50">
                <a:latin typeface="Arial"/>
                <a:cs typeface="Arial"/>
              </a:rPr>
              <a:t>management. </a:t>
            </a:r>
            <a:r>
              <a:rPr dirty="0" sz="1150" spc="-9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functions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50">
                <a:latin typeface="Arial"/>
                <a:cs typeface="Arial"/>
              </a:rPr>
              <a:t>management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are: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926465" algn="l"/>
                <a:tab pos="927100" algn="l"/>
              </a:tabLst>
            </a:pPr>
            <a:r>
              <a:rPr dirty="0" sz="1150" spc="-60">
                <a:latin typeface="Arial"/>
                <a:cs typeface="Arial"/>
              </a:rPr>
              <a:t>Planning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20"/>
              </a:spcBef>
              <a:buFont typeface="Wingdings"/>
              <a:buChar char=""/>
              <a:tabLst>
                <a:tab pos="926465" algn="l"/>
                <a:tab pos="927100" algn="l"/>
              </a:tabLst>
            </a:pPr>
            <a:r>
              <a:rPr dirty="0" sz="1150" spc="-65">
                <a:latin typeface="Arial"/>
                <a:cs typeface="Arial"/>
              </a:rPr>
              <a:t>Organizing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6465" algn="l"/>
                <a:tab pos="927100" algn="l"/>
              </a:tabLst>
            </a:pPr>
            <a:r>
              <a:rPr dirty="0" sz="1150" spc="-75">
                <a:latin typeface="Arial"/>
                <a:cs typeface="Arial"/>
              </a:rPr>
              <a:t>Leading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6465" algn="l"/>
                <a:tab pos="927100" algn="l"/>
              </a:tabLst>
            </a:pPr>
            <a:r>
              <a:rPr dirty="0" sz="1150" spc="-35">
                <a:latin typeface="Arial"/>
                <a:cs typeface="Arial"/>
              </a:rPr>
              <a:t>Controlling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6465" algn="l"/>
                <a:tab pos="927100" algn="l"/>
              </a:tabLst>
            </a:pPr>
            <a:r>
              <a:rPr dirty="0" sz="1150" spc="-45">
                <a:latin typeface="Arial"/>
                <a:cs typeface="Arial"/>
              </a:rPr>
              <a:t>Staffing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Wingdings"/>
              <a:buChar char=""/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management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50">
                <a:latin typeface="Arial"/>
                <a:cs typeface="Arial"/>
              </a:rPr>
              <a:t>provides </a:t>
            </a:r>
            <a:r>
              <a:rPr dirty="0" sz="1150" spc="-20">
                <a:latin typeface="Arial"/>
                <a:cs typeface="Arial"/>
              </a:rPr>
              <a:t>direction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all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subordinates.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5"/>
              <a:tabLst>
                <a:tab pos="469265" algn="l"/>
                <a:tab pos="469900" algn="l"/>
              </a:tabLst>
            </a:pPr>
            <a:r>
              <a:rPr dirty="0" sz="1150" spc="-65" b="1">
                <a:latin typeface="Arial"/>
                <a:cs typeface="Arial"/>
              </a:rPr>
              <a:t>Innovation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5"/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50">
                <a:latin typeface="Arial"/>
                <a:cs typeface="Arial"/>
              </a:rPr>
              <a:t>era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competition,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survival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business, </a:t>
            </a:r>
            <a:r>
              <a:rPr dirty="0" sz="1150" spc="-30">
                <a:latin typeface="Arial"/>
                <a:cs typeface="Arial"/>
              </a:rPr>
              <a:t>innovation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essential. </a:t>
            </a:r>
            <a:r>
              <a:rPr dirty="0" sz="1150" spc="-85">
                <a:latin typeface="Arial"/>
                <a:cs typeface="Arial"/>
              </a:rPr>
              <a:t>The  </a:t>
            </a:r>
            <a:r>
              <a:rPr dirty="0" sz="1150" spc="-65">
                <a:latin typeface="Arial"/>
                <a:cs typeface="Arial"/>
              </a:rPr>
              <a:t>businessman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5">
                <a:latin typeface="Arial"/>
                <a:cs typeface="Arial"/>
              </a:rPr>
              <a:t>try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find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45">
                <a:latin typeface="Arial"/>
                <a:cs typeface="Arial"/>
              </a:rPr>
              <a:t>techniques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">
                <a:latin typeface="Arial"/>
                <a:cs typeface="Arial"/>
              </a:rPr>
              <a:t>not  </a:t>
            </a:r>
            <a:r>
              <a:rPr dirty="0" sz="1150" spc="-45">
                <a:latin typeface="Arial"/>
                <a:cs typeface="Arial"/>
              </a:rPr>
              <a:t>sell </a:t>
            </a:r>
            <a:r>
              <a:rPr dirty="0" sz="1150" spc="-40">
                <a:latin typeface="Arial"/>
                <a:cs typeface="Arial"/>
              </a:rPr>
              <a:t>present </a:t>
            </a:r>
            <a:r>
              <a:rPr dirty="0" sz="1150" spc="-5">
                <a:latin typeface="Arial"/>
                <a:cs typeface="Arial"/>
              </a:rPr>
              <a:t>output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future.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6"/>
              <a:tabLst>
                <a:tab pos="469265" algn="l"/>
                <a:tab pos="469900" algn="l"/>
              </a:tabLst>
            </a:pPr>
            <a:r>
              <a:rPr dirty="0" sz="1150" spc="-100" b="1">
                <a:latin typeface="Arial"/>
                <a:cs typeface="Arial"/>
              </a:rPr>
              <a:t>Accounting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6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30">
                <a:latin typeface="Arial"/>
                <a:cs typeface="Arial"/>
              </a:rPr>
              <a:t>Another </a:t>
            </a:r>
            <a:r>
              <a:rPr dirty="0" sz="1150" spc="-20">
                <a:latin typeface="Arial"/>
                <a:cs typeface="Arial"/>
              </a:rPr>
              <a:t>function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maintain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50">
                <a:latin typeface="Arial"/>
                <a:cs typeface="Arial"/>
              </a:rPr>
              <a:t>records </a:t>
            </a:r>
            <a:r>
              <a:rPr dirty="0" sz="1150" spc="-30">
                <a:latin typeface="Arial"/>
                <a:cs typeface="Arial"/>
              </a:rPr>
              <a:t>properly. </a:t>
            </a:r>
            <a:r>
              <a:rPr dirty="0" sz="1150" spc="-95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record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 </a:t>
            </a:r>
            <a:r>
              <a:rPr dirty="0" sz="1150" spc="-30">
                <a:latin typeface="Arial"/>
                <a:cs typeface="Arial"/>
              </a:rPr>
              <a:t>activities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called </a:t>
            </a:r>
            <a:r>
              <a:rPr dirty="0" sz="1150" spc="-45">
                <a:latin typeface="Arial"/>
                <a:cs typeface="Arial"/>
              </a:rPr>
              <a:t>accounting. </a:t>
            </a:r>
            <a:r>
              <a:rPr dirty="0" sz="1150" spc="-10">
                <a:latin typeface="Arial"/>
                <a:cs typeface="Arial"/>
              </a:rPr>
              <a:t>With </a:t>
            </a:r>
            <a:r>
              <a:rPr dirty="0" sz="1150" spc="-25">
                <a:latin typeface="Arial"/>
                <a:cs typeface="Arial"/>
              </a:rPr>
              <a:t>proper </a:t>
            </a:r>
            <a:r>
              <a:rPr dirty="0" sz="1150" spc="-55">
                <a:latin typeface="Arial"/>
                <a:cs typeface="Arial"/>
              </a:rPr>
              <a:t>accounts,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owner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35">
                <a:latin typeface="Arial"/>
                <a:cs typeface="Arial"/>
              </a:rPr>
              <a:t>know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actual  performance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80">
                <a:latin typeface="Arial"/>
                <a:cs typeface="Arial"/>
              </a:rPr>
              <a:t>chances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fraud </a:t>
            </a:r>
            <a:r>
              <a:rPr dirty="0" sz="1150" spc="-50">
                <a:latin typeface="Arial"/>
                <a:cs typeface="Arial"/>
              </a:rPr>
              <a:t>are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reduced.</a:t>
            </a:r>
            <a:endParaRPr sz="1150">
              <a:latin typeface="Arial"/>
              <a:cs typeface="Arial"/>
            </a:endParaRPr>
          </a:p>
          <a:p>
            <a:pPr marL="12700" marR="3897629">
              <a:lnSpc>
                <a:spcPts val="2810"/>
              </a:lnSpc>
              <a:spcBef>
                <a:spcPts val="245"/>
              </a:spcBef>
              <a:buAutoNum type="arabicPeriod" startAt="7"/>
              <a:tabLst>
                <a:tab pos="469265" algn="l"/>
                <a:tab pos="469900" algn="l"/>
              </a:tabLst>
            </a:pPr>
            <a:r>
              <a:rPr dirty="0" sz="1150" spc="-55" b="1">
                <a:latin typeface="Arial"/>
                <a:cs typeface="Arial"/>
              </a:rPr>
              <a:t>Marketing  </a:t>
            </a:r>
            <a:r>
              <a:rPr dirty="0" sz="1150" spc="-110" b="1">
                <a:latin typeface="Arial"/>
                <a:cs typeface="Arial"/>
              </a:rPr>
              <a:t>According </a:t>
            </a:r>
            <a:r>
              <a:rPr dirty="0" sz="1150" spc="-40" b="1">
                <a:latin typeface="Arial"/>
                <a:cs typeface="Arial"/>
              </a:rPr>
              <a:t>to </a:t>
            </a:r>
            <a:r>
              <a:rPr dirty="0" sz="1150" spc="-75" b="1">
                <a:latin typeface="Arial"/>
                <a:cs typeface="Arial"/>
              </a:rPr>
              <a:t>Harry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Henser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AutoNum type="arabicPeriod" startAt="7"/>
            </a:pPr>
            <a:endParaRPr sz="900">
              <a:latin typeface="Arial"/>
              <a:cs typeface="Arial"/>
            </a:endParaRPr>
          </a:p>
          <a:p>
            <a:pPr algn="just" marL="469265" marR="5715">
              <a:lnSpc>
                <a:spcPct val="101699"/>
              </a:lnSpc>
            </a:pPr>
            <a:r>
              <a:rPr dirty="0" sz="1150" spc="-10" i="1">
                <a:latin typeface="Arial"/>
                <a:cs typeface="Arial"/>
              </a:rPr>
              <a:t>“Marketing </a:t>
            </a:r>
            <a:r>
              <a:rPr dirty="0" sz="1150" spc="-60" i="1">
                <a:latin typeface="Arial"/>
                <a:cs typeface="Arial"/>
              </a:rPr>
              <a:t>involves </a:t>
            </a:r>
            <a:r>
              <a:rPr dirty="0" sz="1150" spc="-30" i="1">
                <a:latin typeface="Arial"/>
                <a:cs typeface="Arial"/>
              </a:rPr>
              <a:t>the </a:t>
            </a:r>
            <a:r>
              <a:rPr dirty="0" sz="1150" spc="-65" i="1">
                <a:latin typeface="Arial"/>
                <a:cs typeface="Arial"/>
              </a:rPr>
              <a:t>design </a:t>
            </a:r>
            <a:r>
              <a:rPr dirty="0" sz="1150" spc="-15" i="1">
                <a:latin typeface="Arial"/>
                <a:cs typeface="Arial"/>
              </a:rPr>
              <a:t>of </a:t>
            </a:r>
            <a:r>
              <a:rPr dirty="0" sz="1150" spc="-30" i="1">
                <a:latin typeface="Arial"/>
                <a:cs typeface="Arial"/>
              </a:rPr>
              <a:t>the </a:t>
            </a:r>
            <a:r>
              <a:rPr dirty="0" sz="1150" spc="-45" i="1">
                <a:latin typeface="Arial"/>
                <a:cs typeface="Arial"/>
              </a:rPr>
              <a:t>products </a:t>
            </a:r>
            <a:r>
              <a:rPr dirty="0" sz="1150" spc="-55" i="1">
                <a:latin typeface="Arial"/>
                <a:cs typeface="Arial"/>
              </a:rPr>
              <a:t>acceptable </a:t>
            </a:r>
            <a:r>
              <a:rPr dirty="0" sz="1150" spc="-60" i="1">
                <a:latin typeface="Arial"/>
                <a:cs typeface="Arial"/>
              </a:rPr>
              <a:t>by </a:t>
            </a:r>
            <a:r>
              <a:rPr dirty="0" sz="1150" spc="-30" i="1">
                <a:latin typeface="Arial"/>
                <a:cs typeface="Arial"/>
              </a:rPr>
              <a:t>the </a:t>
            </a:r>
            <a:r>
              <a:rPr dirty="0" sz="1150" spc="-75" i="1">
                <a:latin typeface="Arial"/>
                <a:cs typeface="Arial"/>
              </a:rPr>
              <a:t>consumers </a:t>
            </a:r>
            <a:r>
              <a:rPr dirty="0" sz="1150" spc="-55" i="1">
                <a:latin typeface="Arial"/>
                <a:cs typeface="Arial"/>
              </a:rPr>
              <a:t>and </a:t>
            </a:r>
            <a:r>
              <a:rPr dirty="0" sz="1150" spc="-30" i="1">
                <a:latin typeface="Arial"/>
                <a:cs typeface="Arial"/>
              </a:rPr>
              <a:t>the  </a:t>
            </a:r>
            <a:r>
              <a:rPr dirty="0" sz="1150" spc="-50" i="1">
                <a:latin typeface="Arial"/>
                <a:cs typeface="Arial"/>
              </a:rPr>
              <a:t>conduct </a:t>
            </a:r>
            <a:r>
              <a:rPr dirty="0" sz="1150" spc="-10" i="1">
                <a:latin typeface="Arial"/>
                <a:cs typeface="Arial"/>
              </a:rPr>
              <a:t>of </a:t>
            </a:r>
            <a:r>
              <a:rPr dirty="0" sz="1150" spc="-55" i="1">
                <a:latin typeface="Arial"/>
                <a:cs typeface="Arial"/>
              </a:rPr>
              <a:t>those </a:t>
            </a:r>
            <a:r>
              <a:rPr dirty="0" sz="1150" spc="-30" i="1">
                <a:latin typeface="Arial"/>
                <a:cs typeface="Arial"/>
              </a:rPr>
              <a:t>activities </a:t>
            </a:r>
            <a:r>
              <a:rPr dirty="0" sz="1150" spc="-40" i="1">
                <a:latin typeface="Arial"/>
                <a:cs typeface="Arial"/>
              </a:rPr>
              <a:t>which </a:t>
            </a:r>
            <a:r>
              <a:rPr dirty="0" sz="1150" spc="-15" i="1">
                <a:latin typeface="Arial"/>
                <a:cs typeface="Arial"/>
              </a:rPr>
              <a:t>facilitate </a:t>
            </a:r>
            <a:r>
              <a:rPr dirty="0" sz="1150" spc="-30" i="1">
                <a:latin typeface="Arial"/>
                <a:cs typeface="Arial"/>
              </a:rPr>
              <a:t>the </a:t>
            </a:r>
            <a:r>
              <a:rPr dirty="0" sz="1150" spc="-25" i="1">
                <a:latin typeface="Arial"/>
                <a:cs typeface="Arial"/>
              </a:rPr>
              <a:t>transfer </a:t>
            </a:r>
            <a:r>
              <a:rPr dirty="0" sz="1150" spc="-15" i="1">
                <a:latin typeface="Arial"/>
                <a:cs typeface="Arial"/>
              </a:rPr>
              <a:t>of </a:t>
            </a:r>
            <a:r>
              <a:rPr dirty="0" sz="1150" spc="-50" i="1">
                <a:latin typeface="Arial"/>
                <a:cs typeface="Arial"/>
              </a:rPr>
              <a:t>ownership between seller  </a:t>
            </a:r>
            <a:r>
              <a:rPr dirty="0" sz="1150" spc="-55" i="1">
                <a:latin typeface="Arial"/>
                <a:cs typeface="Arial"/>
              </a:rPr>
              <a:t>and</a:t>
            </a:r>
            <a:r>
              <a:rPr dirty="0" sz="1150" spc="-65" i="1">
                <a:latin typeface="Arial"/>
                <a:cs typeface="Arial"/>
              </a:rPr>
              <a:t> </a:t>
            </a:r>
            <a:r>
              <a:rPr dirty="0" sz="1150" spc="-30" i="1">
                <a:latin typeface="Arial"/>
                <a:cs typeface="Arial"/>
              </a:rPr>
              <a:t>buyer.”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 indent="456565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Through </a:t>
            </a:r>
            <a:r>
              <a:rPr dirty="0" sz="1150" spc="-35">
                <a:latin typeface="Arial"/>
                <a:cs typeface="Arial"/>
              </a:rPr>
              <a:t>marketing,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0">
                <a:latin typeface="Arial"/>
                <a:cs typeface="Arial"/>
              </a:rPr>
              <a:t>are moved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50">
                <a:latin typeface="Arial"/>
                <a:cs typeface="Arial"/>
              </a:rPr>
              <a:t>producers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consumers. </a:t>
            </a:r>
            <a:r>
              <a:rPr dirty="0" sz="1150" spc="1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an  </a:t>
            </a:r>
            <a:r>
              <a:rPr dirty="0" sz="1150" spc="-10">
                <a:latin typeface="Arial"/>
                <a:cs typeface="Arial"/>
              </a:rPr>
              <a:t>important </a:t>
            </a:r>
            <a:r>
              <a:rPr dirty="0" sz="1150" spc="-20">
                <a:latin typeface="Arial"/>
                <a:cs typeface="Arial"/>
              </a:rPr>
              <a:t>function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20">
                <a:latin typeface="Arial"/>
                <a:cs typeface="Arial"/>
              </a:rPr>
              <a:t>function </a:t>
            </a:r>
            <a:r>
              <a:rPr dirty="0" sz="1150" spc="-50">
                <a:latin typeface="Arial"/>
                <a:cs typeface="Arial"/>
              </a:rPr>
              <a:t>includes </a:t>
            </a:r>
            <a:r>
              <a:rPr dirty="0" sz="1150" spc="-45">
                <a:latin typeface="Arial"/>
                <a:cs typeface="Arial"/>
              </a:rPr>
              <a:t>buying, selling, </a:t>
            </a:r>
            <a:r>
              <a:rPr dirty="0" sz="1150" spc="-20">
                <a:latin typeface="Arial"/>
                <a:cs typeface="Arial"/>
              </a:rPr>
              <a:t>transportation, 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60">
                <a:latin typeface="Arial"/>
                <a:cs typeface="Arial"/>
              </a:rPr>
              <a:t>designing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storage, </a:t>
            </a:r>
            <a:r>
              <a:rPr dirty="0" sz="1150" spc="-30">
                <a:latin typeface="Arial"/>
                <a:cs typeface="Arial"/>
              </a:rPr>
              <a:t>etc.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concept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marketing </a:t>
            </a:r>
            <a:r>
              <a:rPr dirty="0" sz="1150" spc="-40">
                <a:latin typeface="Arial"/>
                <a:cs typeface="Arial"/>
              </a:rPr>
              <a:t>mix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10">
                <a:latin typeface="Arial"/>
                <a:cs typeface="Arial"/>
              </a:rPr>
              <a:t>important </a:t>
            </a:r>
            <a:r>
              <a:rPr dirty="0" sz="1150" spc="-20">
                <a:latin typeface="Arial"/>
                <a:cs typeface="Arial"/>
              </a:rPr>
              <a:t>in  </a:t>
            </a:r>
            <a:r>
              <a:rPr dirty="0" sz="1150" spc="-35">
                <a:latin typeface="Arial"/>
                <a:cs typeface="Arial"/>
              </a:rPr>
              <a:t>marketing.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50">
                <a:latin typeface="Arial"/>
                <a:cs typeface="Arial"/>
              </a:rPr>
              <a:t>includes </a:t>
            </a:r>
            <a:r>
              <a:rPr dirty="0" sz="1150" spc="-10">
                <a:latin typeface="Arial"/>
                <a:cs typeface="Arial"/>
              </a:rPr>
              <a:t>four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105">
                <a:latin typeface="Arial"/>
                <a:cs typeface="Arial"/>
              </a:rPr>
              <a:t>Ps: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buFont typeface="Wingdings"/>
              <a:buChar char=""/>
              <a:tabLst>
                <a:tab pos="926465" algn="l"/>
                <a:tab pos="927100" algn="l"/>
              </a:tabLst>
            </a:pPr>
            <a:r>
              <a:rPr dirty="0" sz="1150" spc="-45">
                <a:latin typeface="Arial"/>
                <a:cs typeface="Arial"/>
              </a:rPr>
              <a:t>Product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6465" algn="l"/>
                <a:tab pos="927100" algn="l"/>
              </a:tabLst>
            </a:pPr>
            <a:r>
              <a:rPr dirty="0" sz="1150" spc="-65">
                <a:latin typeface="Arial"/>
                <a:cs typeface="Arial"/>
              </a:rPr>
              <a:t>Price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6465" algn="l"/>
                <a:tab pos="927100" algn="l"/>
              </a:tabLst>
            </a:pPr>
            <a:r>
              <a:rPr dirty="0" sz="1150" spc="-85">
                <a:latin typeface="Arial"/>
                <a:cs typeface="Arial"/>
              </a:rPr>
              <a:t>Place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6465" algn="l"/>
                <a:tab pos="927100" algn="l"/>
              </a:tabLst>
            </a:pPr>
            <a:r>
              <a:rPr dirty="0" sz="1150" spc="-30">
                <a:latin typeface="Arial"/>
                <a:cs typeface="Arial"/>
              </a:rPr>
              <a:t>Promotion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27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8" y="892559"/>
            <a:ext cx="5514340" cy="4124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8"/>
              <a:tabLst>
                <a:tab pos="469265" algn="l"/>
                <a:tab pos="469900" algn="l"/>
              </a:tabLst>
            </a:pPr>
            <a:r>
              <a:rPr dirty="0" sz="1150" spc="-60" b="1">
                <a:latin typeface="Arial"/>
                <a:cs typeface="Arial"/>
              </a:rPr>
              <a:t>Quality</a:t>
            </a:r>
            <a:r>
              <a:rPr dirty="0" sz="1150" spc="-75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Improvement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8"/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35">
                <a:latin typeface="Arial"/>
                <a:cs typeface="Arial"/>
              </a:rPr>
              <a:t>Quality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50">
                <a:latin typeface="Arial"/>
                <a:cs typeface="Arial"/>
              </a:rPr>
              <a:t>be </a:t>
            </a:r>
            <a:r>
              <a:rPr dirty="0" sz="1150" spc="-35">
                <a:latin typeface="Arial"/>
                <a:cs typeface="Arial"/>
              </a:rPr>
              <a:t>improved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increase </a:t>
            </a:r>
            <a:r>
              <a:rPr dirty="0" sz="1150" spc="-25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sale. </a:t>
            </a: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product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poor </a:t>
            </a:r>
            <a:r>
              <a:rPr dirty="0" sz="1150" spc="-25">
                <a:latin typeface="Arial"/>
                <a:cs typeface="Arial"/>
              </a:rPr>
              <a:t>then 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30">
                <a:latin typeface="Arial"/>
                <a:cs typeface="Arial"/>
              </a:rPr>
              <a:t>suffer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5">
                <a:latin typeface="Arial"/>
                <a:cs typeface="Arial"/>
              </a:rPr>
              <a:t>loss.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9"/>
              <a:tabLst>
                <a:tab pos="469265" algn="l"/>
                <a:tab pos="469900" algn="l"/>
              </a:tabLst>
            </a:pPr>
            <a:r>
              <a:rPr dirty="0" sz="1150" spc="-45" b="1">
                <a:latin typeface="Arial"/>
                <a:cs typeface="Arial"/>
              </a:rPr>
              <a:t>Motivation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9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10">
                <a:latin typeface="Arial"/>
                <a:cs typeface="Arial"/>
              </a:rPr>
              <a:t>Motivation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very  </a:t>
            </a:r>
            <a:r>
              <a:rPr dirty="0" sz="1150" spc="-50">
                <a:latin typeface="Arial"/>
                <a:cs typeface="Arial"/>
              </a:rPr>
              <a:t>essential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increasing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efficiency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employees. </a:t>
            </a:r>
            <a:r>
              <a:rPr dirty="0" sz="1150" spc="-15">
                <a:latin typeface="Arial"/>
                <a:cs typeface="Arial"/>
              </a:rPr>
              <a:t>Motivation  </a:t>
            </a:r>
            <a:r>
              <a:rPr dirty="0" sz="1150" spc="-65">
                <a:latin typeface="Arial"/>
                <a:cs typeface="Arial"/>
              </a:rPr>
              <a:t>encourages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give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45">
                <a:latin typeface="Arial"/>
                <a:cs typeface="Arial"/>
              </a:rPr>
              <a:t>best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performance.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502920" indent="-490855">
              <a:lnSpc>
                <a:spcPct val="100000"/>
              </a:lnSpc>
              <a:buAutoNum type="arabicPeriod" startAt="10"/>
              <a:tabLst>
                <a:tab pos="502920" algn="l"/>
                <a:tab pos="503555" algn="l"/>
              </a:tabLst>
            </a:pPr>
            <a:r>
              <a:rPr dirty="0" sz="1150" spc="-110" b="1">
                <a:latin typeface="Arial"/>
                <a:cs typeface="Arial"/>
              </a:rPr>
              <a:t>Research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0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Research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65">
                <a:latin typeface="Arial"/>
                <a:cs typeface="Arial"/>
              </a:rPr>
              <a:t>also an </a:t>
            </a:r>
            <a:r>
              <a:rPr dirty="0" sz="1150" spc="-15">
                <a:latin typeface="Arial"/>
                <a:cs typeface="Arial"/>
              </a:rPr>
              <a:t>important </a:t>
            </a:r>
            <a:r>
              <a:rPr dirty="0" sz="1150" spc="-20">
                <a:latin typeface="Arial"/>
                <a:cs typeface="Arial"/>
              </a:rPr>
              <a:t>function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any business. </a:t>
            </a:r>
            <a:r>
              <a:rPr dirty="0" sz="1150" spc="-90">
                <a:latin typeface="Arial"/>
                <a:cs typeface="Arial"/>
              </a:rPr>
              <a:t>Research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search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0">
                <a:latin typeface="Arial"/>
                <a:cs typeface="Arial"/>
              </a:rPr>
              <a:t>new  </a:t>
            </a:r>
            <a:r>
              <a:rPr dirty="0" sz="1150" spc="-45">
                <a:latin typeface="Arial"/>
                <a:cs typeface="Arial"/>
              </a:rPr>
              <a:t>knowledge.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105">
                <a:latin typeface="Arial"/>
                <a:cs typeface="Arial"/>
              </a:rPr>
              <a:t>By </a:t>
            </a:r>
            <a:r>
              <a:rPr dirty="0" sz="1150" spc="-55">
                <a:latin typeface="Arial"/>
                <a:cs typeface="Arial"/>
              </a:rPr>
              <a:t>research, </a:t>
            </a:r>
            <a:r>
              <a:rPr dirty="0" sz="1150" spc="-70">
                <a:latin typeface="Arial"/>
                <a:cs typeface="Arial"/>
              </a:rPr>
              <a:t>business becomes </a:t>
            </a:r>
            <a:r>
              <a:rPr dirty="0" sz="1150" spc="-50">
                <a:latin typeface="Arial"/>
                <a:cs typeface="Arial"/>
              </a:rPr>
              <a:t>able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produce </a:t>
            </a:r>
            <a:r>
              <a:rPr dirty="0" sz="1150" spc="-35">
                <a:latin typeface="Arial"/>
                <a:cs typeface="Arial"/>
              </a:rPr>
              <a:t>improved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65">
                <a:latin typeface="Arial"/>
                <a:cs typeface="Arial"/>
              </a:rPr>
              <a:t>goods. </a:t>
            </a:r>
            <a:r>
              <a:rPr dirty="0" sz="1150" spc="-85">
                <a:latin typeface="Arial"/>
                <a:cs typeface="Arial"/>
              </a:rPr>
              <a:t>The  </a:t>
            </a:r>
            <a:r>
              <a:rPr dirty="0" sz="1150" spc="-55">
                <a:latin typeface="Arial"/>
                <a:cs typeface="Arial"/>
              </a:rPr>
              <a:t>research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>
                <a:latin typeface="Arial"/>
                <a:cs typeface="Arial"/>
              </a:rPr>
              <a:t>of two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types: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buFont typeface="Wingdings"/>
              <a:buChar char=""/>
              <a:tabLst>
                <a:tab pos="926465" algn="l"/>
                <a:tab pos="927100" algn="l"/>
              </a:tabLst>
            </a:pPr>
            <a:r>
              <a:rPr dirty="0" sz="1150" spc="-90">
                <a:latin typeface="Arial"/>
                <a:cs typeface="Arial"/>
              </a:rPr>
              <a:t>Basic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Research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926465" algn="l"/>
                <a:tab pos="927100" algn="l"/>
              </a:tabLst>
            </a:pPr>
            <a:r>
              <a:rPr dirty="0" sz="1150" spc="-40">
                <a:latin typeface="Arial"/>
                <a:cs typeface="Arial"/>
              </a:rPr>
              <a:t>Applied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Research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Wingdings"/>
              <a:buChar char=""/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1"/>
              <a:tabLst>
                <a:tab pos="469265" algn="l"/>
                <a:tab pos="470534" algn="l"/>
              </a:tabLst>
            </a:pPr>
            <a:r>
              <a:rPr dirty="0" sz="1150" spc="-95" b="1">
                <a:latin typeface="Arial"/>
                <a:cs typeface="Arial"/>
              </a:rPr>
              <a:t>Public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Relation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10">
                <a:latin typeface="Arial"/>
                <a:cs typeface="Arial"/>
              </a:rPr>
              <a:t>important </a:t>
            </a:r>
            <a:r>
              <a:rPr dirty="0" sz="1150" spc="-15">
                <a:latin typeface="Arial"/>
                <a:cs typeface="Arial"/>
              </a:rPr>
              <a:t>function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make </a:t>
            </a:r>
            <a:r>
              <a:rPr dirty="0" sz="1150" spc="-20">
                <a:latin typeface="Arial"/>
                <a:cs typeface="Arial"/>
              </a:rPr>
              <a:t>friendly </a:t>
            </a:r>
            <a:r>
              <a:rPr dirty="0" sz="1150" spc="-30">
                <a:latin typeface="Arial"/>
                <a:cs typeface="Arial"/>
              </a:rPr>
              <a:t>relations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35">
                <a:latin typeface="Arial"/>
                <a:cs typeface="Arial"/>
              </a:rPr>
              <a:t>public,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50">
                <a:latin typeface="Arial"/>
                <a:cs typeface="Arial"/>
              </a:rPr>
              <a:t>way </a:t>
            </a:r>
            <a:r>
              <a:rPr dirty="0" sz="1150" spc="-80">
                <a:latin typeface="Arial"/>
                <a:cs typeface="Arial"/>
              </a:rPr>
              <a:t>sales </a:t>
            </a:r>
            <a:r>
              <a:rPr dirty="0" sz="1150" spc="-45">
                <a:latin typeface="Arial"/>
                <a:cs typeface="Arial"/>
              </a:rPr>
              <a:t>volume 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5">
                <a:latin typeface="Arial"/>
                <a:cs typeface="Arial"/>
              </a:rPr>
              <a:t> increased.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28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298" y="5441698"/>
            <a:ext cx="5512435" cy="3357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290" b="1">
                <a:latin typeface="Arial"/>
                <a:cs typeface="Arial"/>
              </a:rPr>
              <a:t>SOLE</a:t>
            </a:r>
            <a:r>
              <a:rPr dirty="0" sz="1750" spc="-95" b="1">
                <a:latin typeface="Arial"/>
                <a:cs typeface="Arial"/>
              </a:rPr>
              <a:t> </a:t>
            </a:r>
            <a:r>
              <a:rPr dirty="0" sz="1750" spc="-215" b="1">
                <a:latin typeface="Arial"/>
                <a:cs typeface="Arial"/>
              </a:rPr>
              <a:t>PROPRIETORSHIP</a:t>
            </a:r>
            <a:endParaRPr sz="17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1455"/>
              </a:spcBef>
            </a:pPr>
            <a:r>
              <a:rPr dirty="0" sz="1350" spc="-120" b="1">
                <a:latin typeface="Arial"/>
                <a:cs typeface="Arial"/>
              </a:rPr>
              <a:t>Sole </a:t>
            </a:r>
            <a:r>
              <a:rPr dirty="0" sz="1350" spc="-90" b="1">
                <a:latin typeface="Arial"/>
                <a:cs typeface="Arial"/>
              </a:rPr>
              <a:t>Proprietorship </a:t>
            </a:r>
            <a:r>
              <a:rPr dirty="0" sz="1350" spc="-95" b="1">
                <a:latin typeface="Arial"/>
                <a:cs typeface="Arial"/>
              </a:rPr>
              <a:t>and </a:t>
            </a:r>
            <a:r>
              <a:rPr dirty="0" sz="1350" spc="-80" b="1">
                <a:latin typeface="Arial"/>
                <a:cs typeface="Arial"/>
              </a:rPr>
              <a:t>its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Characteristics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simple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oldest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organization. </a:t>
            </a:r>
            <a:r>
              <a:rPr dirty="0" sz="1150" spc="-35">
                <a:latin typeface="Arial"/>
                <a:cs typeface="Arial"/>
              </a:rPr>
              <a:t>Its </a:t>
            </a:r>
            <a:r>
              <a:rPr dirty="0" sz="1150" spc="-15">
                <a:latin typeface="Arial"/>
                <a:cs typeface="Arial"/>
              </a:rPr>
              <a:t>formation </a:t>
            </a:r>
            <a:r>
              <a:rPr dirty="0" sz="1150" spc="-70">
                <a:latin typeface="Arial"/>
                <a:cs typeface="Arial"/>
              </a:rPr>
              <a:t>does 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30">
                <a:latin typeface="Arial"/>
                <a:cs typeface="Arial"/>
              </a:rPr>
              <a:t>require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40">
                <a:latin typeface="Arial"/>
                <a:cs typeface="Arial"/>
              </a:rPr>
              <a:t>complicated </a:t>
            </a:r>
            <a:r>
              <a:rPr dirty="0" sz="1150" spc="-50">
                <a:latin typeface="Arial"/>
                <a:cs typeface="Arial"/>
              </a:rPr>
              <a:t>legal </a:t>
            </a:r>
            <a:r>
              <a:rPr dirty="0" sz="1150" spc="-35">
                <a:latin typeface="Arial"/>
                <a:cs typeface="Arial"/>
              </a:rPr>
              <a:t>provision </a:t>
            </a:r>
            <a:r>
              <a:rPr dirty="0" sz="1150" spc="-30">
                <a:latin typeface="Arial"/>
                <a:cs typeface="Arial"/>
              </a:rPr>
              <a:t>like </a:t>
            </a:r>
            <a:r>
              <a:rPr dirty="0" sz="1150" spc="-25">
                <a:latin typeface="Arial"/>
                <a:cs typeface="Arial"/>
              </a:rPr>
              <a:t>registration </a:t>
            </a:r>
            <a:r>
              <a:rPr dirty="0" sz="1150" spc="-30">
                <a:latin typeface="Arial"/>
                <a:cs typeface="Arial"/>
              </a:rPr>
              <a:t>etc.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small-scale </a:t>
            </a:r>
            <a:r>
              <a:rPr dirty="0" sz="1150" spc="-25">
                <a:latin typeface="Arial"/>
                <a:cs typeface="Arial"/>
              </a:rPr>
              <a:t>work, </a:t>
            </a:r>
            <a:r>
              <a:rPr dirty="0" sz="1150" spc="-114">
                <a:latin typeface="Arial"/>
                <a:cs typeface="Arial"/>
              </a:rPr>
              <a:t>as 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owned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controlled </a:t>
            </a:r>
            <a:r>
              <a:rPr dirty="0" sz="1150" spc="-50">
                <a:latin typeface="Arial"/>
                <a:cs typeface="Arial"/>
              </a:rPr>
              <a:t>by one person,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operated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>
                <a:latin typeface="Arial"/>
                <a:cs typeface="Arial"/>
              </a:rPr>
              <a:t>profit.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also </a:t>
            </a:r>
            <a:r>
              <a:rPr dirty="0" sz="1150" spc="-35">
                <a:latin typeface="Arial"/>
                <a:cs typeface="Arial"/>
              </a:rPr>
              <a:t>known </a:t>
            </a:r>
            <a:r>
              <a:rPr dirty="0" sz="1150" spc="-114">
                <a:latin typeface="Arial"/>
                <a:cs typeface="Arial"/>
              </a:rPr>
              <a:t>as  </a:t>
            </a:r>
            <a:r>
              <a:rPr dirty="0" sz="1150" spc="-25">
                <a:latin typeface="Arial"/>
                <a:cs typeface="Arial"/>
              </a:rPr>
              <a:t>“sole </a:t>
            </a:r>
            <a:r>
              <a:rPr dirty="0" sz="1150" spc="-30">
                <a:latin typeface="Arial"/>
                <a:cs typeface="Arial"/>
              </a:rPr>
              <a:t>ownership”, </a:t>
            </a:r>
            <a:r>
              <a:rPr dirty="0" sz="1150" spc="-20">
                <a:latin typeface="Arial"/>
                <a:cs typeface="Arial"/>
              </a:rPr>
              <a:t>“individual </a:t>
            </a:r>
            <a:r>
              <a:rPr dirty="0" sz="1150" spc="-25">
                <a:latin typeface="Arial"/>
                <a:cs typeface="Arial"/>
              </a:rPr>
              <a:t>partnership”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“single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proprietorship”.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95" b="1">
                <a:latin typeface="Arial"/>
                <a:cs typeface="Arial"/>
              </a:rPr>
              <a:t>DEFINITION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150" spc="-45">
                <a:latin typeface="Arial"/>
                <a:cs typeface="Arial"/>
              </a:rPr>
              <a:t>Following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15">
                <a:latin typeface="Arial"/>
                <a:cs typeface="Arial"/>
              </a:rPr>
              <a:t>important definition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sole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proprietorship: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dirty="0" sz="1150" spc="-35" b="1">
                <a:latin typeface="Arial"/>
                <a:cs typeface="Arial"/>
              </a:rPr>
              <a:t>1.</a:t>
            </a:r>
            <a:r>
              <a:rPr dirty="0" sz="1150" spc="-35">
                <a:latin typeface="Times New Roman"/>
                <a:cs typeface="Times New Roman"/>
              </a:rPr>
              <a:t>	</a:t>
            </a:r>
            <a:r>
              <a:rPr dirty="0" sz="1150" spc="-110" b="1">
                <a:latin typeface="Arial"/>
                <a:cs typeface="Arial"/>
              </a:rPr>
              <a:t>According </a:t>
            </a:r>
            <a:r>
              <a:rPr dirty="0" sz="1150" spc="-40" b="1">
                <a:latin typeface="Arial"/>
                <a:cs typeface="Arial"/>
              </a:rPr>
              <a:t>to </a:t>
            </a:r>
            <a:r>
              <a:rPr dirty="0" sz="1150" spc="-60" b="1">
                <a:latin typeface="Arial"/>
                <a:cs typeface="Arial"/>
              </a:rPr>
              <a:t>D.W.T.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Staffod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469265" marR="194945">
              <a:lnSpc>
                <a:spcPct val="101699"/>
              </a:lnSpc>
            </a:pPr>
            <a:r>
              <a:rPr dirty="0" sz="1150" spc="40" i="1">
                <a:latin typeface="Arial"/>
                <a:cs typeface="Arial"/>
              </a:rPr>
              <a:t>“It </a:t>
            </a:r>
            <a:r>
              <a:rPr dirty="0" sz="1150" spc="-65" i="1">
                <a:latin typeface="Arial"/>
                <a:cs typeface="Arial"/>
              </a:rPr>
              <a:t>is </a:t>
            </a:r>
            <a:r>
              <a:rPr dirty="0" sz="1150" spc="-30" i="1">
                <a:latin typeface="Arial"/>
                <a:cs typeface="Arial"/>
              </a:rPr>
              <a:t>the </a:t>
            </a:r>
            <a:r>
              <a:rPr dirty="0" sz="1150" spc="-50" i="1">
                <a:latin typeface="Arial"/>
                <a:cs typeface="Arial"/>
              </a:rPr>
              <a:t>simplest </a:t>
            </a:r>
            <a:r>
              <a:rPr dirty="0" sz="1150" spc="-20" i="1">
                <a:latin typeface="Arial"/>
                <a:cs typeface="Arial"/>
              </a:rPr>
              <a:t>form </a:t>
            </a:r>
            <a:r>
              <a:rPr dirty="0" sz="1150" spc="-15" i="1">
                <a:latin typeface="Arial"/>
                <a:cs typeface="Arial"/>
              </a:rPr>
              <a:t>of</a:t>
            </a:r>
            <a:r>
              <a:rPr dirty="0" sz="1150" spc="-240" i="1">
                <a:latin typeface="Arial"/>
                <a:cs typeface="Arial"/>
              </a:rPr>
              <a:t> </a:t>
            </a:r>
            <a:r>
              <a:rPr dirty="0" sz="1150" spc="-80" i="1">
                <a:latin typeface="Arial"/>
                <a:cs typeface="Arial"/>
              </a:rPr>
              <a:t>business </a:t>
            </a:r>
            <a:r>
              <a:rPr dirty="0" sz="1150" spc="-35" i="1">
                <a:latin typeface="Arial"/>
                <a:cs typeface="Arial"/>
              </a:rPr>
              <a:t>organization, </a:t>
            </a:r>
            <a:r>
              <a:rPr dirty="0" sz="1150" spc="-40" i="1">
                <a:latin typeface="Arial"/>
                <a:cs typeface="Arial"/>
              </a:rPr>
              <a:t>which </a:t>
            </a:r>
            <a:r>
              <a:rPr dirty="0" sz="1150" spc="-65" i="1">
                <a:latin typeface="Arial"/>
                <a:cs typeface="Arial"/>
              </a:rPr>
              <a:t>is </a:t>
            </a:r>
            <a:r>
              <a:rPr dirty="0" sz="1150" spc="-55" i="1">
                <a:latin typeface="Arial"/>
                <a:cs typeface="Arial"/>
              </a:rPr>
              <a:t>owned and </a:t>
            </a:r>
            <a:r>
              <a:rPr dirty="0" sz="1150" spc="-35" i="1">
                <a:latin typeface="Arial"/>
                <a:cs typeface="Arial"/>
              </a:rPr>
              <a:t>controlled </a:t>
            </a:r>
            <a:r>
              <a:rPr dirty="0" sz="1150" spc="-60" i="1">
                <a:latin typeface="Arial"/>
                <a:cs typeface="Arial"/>
              </a:rPr>
              <a:t>by  </a:t>
            </a:r>
            <a:r>
              <a:rPr dirty="0" sz="1150" spc="-70" i="1">
                <a:latin typeface="Arial"/>
                <a:cs typeface="Arial"/>
              </a:rPr>
              <a:t>one</a:t>
            </a:r>
            <a:r>
              <a:rPr dirty="0" sz="1150" spc="-60" i="1">
                <a:latin typeface="Arial"/>
                <a:cs typeface="Arial"/>
              </a:rPr>
              <a:t> </a:t>
            </a:r>
            <a:r>
              <a:rPr dirty="0" sz="1150" spc="-20" i="1">
                <a:latin typeface="Arial"/>
                <a:cs typeface="Arial"/>
              </a:rPr>
              <a:t>man.”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13970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5" b="1">
                <a:latin typeface="Arial"/>
                <a:cs typeface="Arial"/>
              </a:rPr>
              <a:t>2</a:t>
            </a:r>
            <a:r>
              <a:rPr dirty="0" sz="1150" spc="-15" b="1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29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87498" y="892559"/>
            <a:ext cx="133985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10" b="1">
                <a:latin typeface="Arial"/>
                <a:cs typeface="Arial"/>
              </a:rPr>
              <a:t>According </a:t>
            </a:r>
            <a:r>
              <a:rPr dirty="0" sz="1150" spc="-40" b="1">
                <a:latin typeface="Arial"/>
                <a:cs typeface="Arial"/>
              </a:rPr>
              <a:t>to </a:t>
            </a:r>
            <a:r>
              <a:rPr dirty="0" sz="1150" spc="-95" b="1">
                <a:latin typeface="Arial"/>
                <a:cs typeface="Arial"/>
              </a:rPr>
              <a:t>G.</a:t>
            </a:r>
            <a:r>
              <a:rPr dirty="0" sz="1150" spc="-50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Baker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0300" y="1249175"/>
            <a:ext cx="5513705" cy="7688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>
              <a:lnSpc>
                <a:spcPct val="100000"/>
              </a:lnSpc>
              <a:spcBef>
                <a:spcPts val="100"/>
              </a:spcBef>
            </a:pPr>
            <a:r>
              <a:rPr dirty="0" sz="1150" spc="-65" i="1">
                <a:latin typeface="Arial"/>
                <a:cs typeface="Arial"/>
              </a:rPr>
              <a:t>“Sole </a:t>
            </a:r>
            <a:r>
              <a:rPr dirty="0" sz="1150" spc="-35" i="1">
                <a:latin typeface="Arial"/>
                <a:cs typeface="Arial"/>
              </a:rPr>
              <a:t>proprietorship </a:t>
            </a:r>
            <a:r>
              <a:rPr dirty="0" sz="1150" spc="-65" i="1">
                <a:latin typeface="Arial"/>
                <a:cs typeface="Arial"/>
              </a:rPr>
              <a:t>is </a:t>
            </a:r>
            <a:r>
              <a:rPr dirty="0" sz="1150" spc="-50" i="1">
                <a:latin typeface="Arial"/>
                <a:cs typeface="Arial"/>
              </a:rPr>
              <a:t>a </a:t>
            </a:r>
            <a:r>
              <a:rPr dirty="0" sz="1150" spc="-80" i="1">
                <a:latin typeface="Arial"/>
                <a:cs typeface="Arial"/>
              </a:rPr>
              <a:t>business </a:t>
            </a:r>
            <a:r>
              <a:rPr dirty="0" sz="1150" spc="-40" i="1">
                <a:latin typeface="Arial"/>
                <a:cs typeface="Arial"/>
              </a:rPr>
              <a:t>operated </a:t>
            </a:r>
            <a:r>
              <a:rPr dirty="0" sz="1150" spc="-60" i="1">
                <a:latin typeface="Arial"/>
                <a:cs typeface="Arial"/>
              </a:rPr>
              <a:t>by </a:t>
            </a:r>
            <a:r>
              <a:rPr dirty="0" sz="1150" spc="-70" i="1">
                <a:latin typeface="Arial"/>
                <a:cs typeface="Arial"/>
              </a:rPr>
              <a:t>one </a:t>
            </a:r>
            <a:r>
              <a:rPr dirty="0" sz="1150" spc="-60" i="1">
                <a:latin typeface="Arial"/>
                <a:cs typeface="Arial"/>
              </a:rPr>
              <a:t>person </a:t>
            </a:r>
            <a:r>
              <a:rPr dirty="0" sz="1150" spc="5" i="1">
                <a:latin typeface="Arial"/>
                <a:cs typeface="Arial"/>
              </a:rPr>
              <a:t>to </a:t>
            </a:r>
            <a:r>
              <a:rPr dirty="0" sz="1150" spc="-50" i="1">
                <a:latin typeface="Arial"/>
                <a:cs typeface="Arial"/>
              </a:rPr>
              <a:t>earn</a:t>
            </a:r>
            <a:r>
              <a:rPr dirty="0" sz="1150" spc="-130" i="1">
                <a:latin typeface="Arial"/>
                <a:cs typeface="Arial"/>
              </a:rPr>
              <a:t> </a:t>
            </a:r>
            <a:r>
              <a:rPr dirty="0" sz="1150" spc="5" i="1">
                <a:latin typeface="Arial"/>
                <a:cs typeface="Arial"/>
              </a:rPr>
              <a:t>profit.”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60" b="1">
                <a:latin typeface="Arial"/>
                <a:cs typeface="Arial"/>
              </a:rPr>
              <a:t>CHARACTERISTICS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45">
                <a:latin typeface="Arial"/>
                <a:cs typeface="Arial"/>
              </a:rPr>
              <a:t>Following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main </a:t>
            </a:r>
            <a:r>
              <a:rPr dirty="0" sz="1150" spc="-45">
                <a:latin typeface="Arial"/>
                <a:cs typeface="Arial"/>
              </a:rPr>
              <a:t>characteristics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sole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proprietorship: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dirty="0" sz="1150" spc="-75" b="1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normally </a:t>
            </a:r>
            <a:r>
              <a:rPr dirty="0" sz="1150" spc="-35">
                <a:latin typeface="Arial"/>
                <a:cs typeface="Arial"/>
              </a:rPr>
              <a:t>provided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owner </a:t>
            </a:r>
            <a:r>
              <a:rPr dirty="0" sz="1150" spc="-35">
                <a:latin typeface="Arial"/>
                <a:cs typeface="Arial"/>
              </a:rPr>
              <a:t>himself. </a:t>
            </a:r>
            <a:r>
              <a:rPr dirty="0" sz="1150" spc="-50">
                <a:latin typeface="Arial"/>
                <a:cs typeface="Arial"/>
              </a:rPr>
              <a:t>However, </a:t>
            </a:r>
            <a:r>
              <a:rPr dirty="0" sz="1150" spc="15">
                <a:latin typeface="Arial"/>
                <a:cs typeface="Arial"/>
              </a:rPr>
              <a:t>if  </a:t>
            </a:r>
            <a:r>
              <a:rPr dirty="0" sz="1150" spc="-30">
                <a:latin typeface="Arial"/>
                <a:cs typeface="Arial"/>
              </a:rPr>
              <a:t>additional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required,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60">
                <a:latin typeface="Arial"/>
                <a:cs typeface="Arial"/>
              </a:rPr>
              <a:t>increased </a:t>
            </a:r>
            <a:r>
              <a:rPr dirty="0" sz="1150" spc="-50">
                <a:latin typeface="Arial"/>
                <a:cs typeface="Arial"/>
              </a:rPr>
              <a:t>by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borrowing.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1150" spc="-145" b="1">
                <a:latin typeface="Arial"/>
                <a:cs typeface="Arial"/>
              </a:rPr>
              <a:t>Easy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Dissolution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marL="12700" marR="762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easily dissolved,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50">
                <a:latin typeface="Arial"/>
                <a:cs typeface="Arial"/>
              </a:rPr>
              <a:t>legal </a:t>
            </a:r>
            <a:r>
              <a:rPr dirty="0" sz="1150" spc="-25">
                <a:latin typeface="Arial"/>
                <a:cs typeface="Arial"/>
              </a:rPr>
              <a:t>formalities </a:t>
            </a:r>
            <a:r>
              <a:rPr dirty="0" sz="1150" spc="-40">
                <a:latin typeface="Arial"/>
                <a:cs typeface="Arial"/>
              </a:rPr>
              <a:t>involved </a:t>
            </a:r>
            <a:r>
              <a:rPr dirty="0" sz="1150" spc="-20">
                <a:latin typeface="Arial"/>
                <a:cs typeface="Arial"/>
              </a:rPr>
              <a:t>in  </a:t>
            </a:r>
            <a:r>
              <a:rPr dirty="0" sz="1150" spc="10">
                <a:latin typeface="Arial"/>
                <a:cs typeface="Arial"/>
              </a:rPr>
              <a:t>it.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150" spc="-105" b="1">
                <a:latin typeface="Arial"/>
                <a:cs typeface="Arial"/>
              </a:rPr>
              <a:t>Easily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Transferable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3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05">
                <a:latin typeface="Arial"/>
                <a:cs typeface="Arial"/>
              </a:rPr>
              <a:t>Such </a:t>
            </a:r>
            <a:r>
              <a:rPr dirty="0" sz="1150" spc="-30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 can </a:t>
            </a:r>
            <a:r>
              <a:rPr dirty="0" sz="1150" spc="-55">
                <a:latin typeface="Arial"/>
                <a:cs typeface="Arial"/>
              </a:rPr>
              <a:t>easily be </a:t>
            </a:r>
            <a:r>
              <a:rPr dirty="0" sz="1150" spc="-30">
                <a:latin typeface="Arial"/>
                <a:cs typeface="Arial"/>
              </a:rPr>
              <a:t>transferred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another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>
                <a:latin typeface="Arial"/>
                <a:cs typeface="Arial"/>
              </a:rPr>
              <a:t>without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20">
                <a:latin typeface="Arial"/>
                <a:cs typeface="Arial"/>
              </a:rPr>
              <a:t>restriction.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4"/>
              <a:tabLst>
                <a:tab pos="469265" algn="l"/>
                <a:tab pos="469900" algn="l"/>
              </a:tabLst>
            </a:pPr>
            <a:r>
              <a:rPr dirty="0" sz="1150" spc="-90" b="1">
                <a:latin typeface="Arial"/>
                <a:cs typeface="Arial"/>
              </a:rPr>
              <a:t>Freedom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Action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4"/>
            </a:pPr>
            <a:endParaRPr sz="1200">
              <a:latin typeface="Arial"/>
              <a:cs typeface="Arial"/>
            </a:endParaRPr>
          </a:p>
          <a:p>
            <a:pPr marL="12700" marR="698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proprietorship, </a:t>
            </a:r>
            <a:r>
              <a:rPr dirty="0" sz="1150" spc="-55">
                <a:latin typeface="Arial"/>
                <a:cs typeface="Arial"/>
              </a:rPr>
              <a:t>single </a:t>
            </a:r>
            <a:r>
              <a:rPr dirty="0" sz="1150" spc="-25">
                <a:latin typeface="Arial"/>
                <a:cs typeface="Arial"/>
              </a:rPr>
              <a:t>owner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45">
                <a:latin typeface="Arial"/>
                <a:cs typeface="Arial"/>
              </a:rPr>
              <a:t>master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business; </a:t>
            </a:r>
            <a:r>
              <a:rPr dirty="0" sz="1150" spc="-20">
                <a:latin typeface="Arial"/>
                <a:cs typeface="Arial"/>
              </a:rPr>
              <a:t>therefore,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">
                <a:latin typeface="Arial"/>
                <a:cs typeface="Arial"/>
              </a:rPr>
              <a:t>full  </a:t>
            </a:r>
            <a:r>
              <a:rPr dirty="0" sz="1150" spc="-30">
                <a:latin typeface="Arial"/>
                <a:cs typeface="Arial"/>
              </a:rPr>
              <a:t>freedom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take </a:t>
            </a:r>
            <a:r>
              <a:rPr dirty="0" sz="1150" spc="-35">
                <a:latin typeface="Arial"/>
                <a:cs typeface="Arial"/>
              </a:rPr>
              <a:t>action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decision.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5"/>
              <a:tabLst>
                <a:tab pos="469265" algn="l"/>
                <a:tab pos="469900" algn="l"/>
              </a:tabLst>
            </a:pPr>
            <a:r>
              <a:rPr dirty="0" sz="1150" spc="-75" b="1">
                <a:latin typeface="Arial"/>
                <a:cs typeface="Arial"/>
              </a:rPr>
              <a:t>Formation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5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Formation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70">
                <a:latin typeface="Arial"/>
                <a:cs typeface="Arial"/>
              </a:rPr>
              <a:t>business is </a:t>
            </a:r>
            <a:r>
              <a:rPr dirty="0" sz="1150" spc="-85">
                <a:latin typeface="Arial"/>
                <a:cs typeface="Arial"/>
              </a:rPr>
              <a:t>easy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50">
                <a:latin typeface="Arial"/>
                <a:cs typeface="Arial"/>
              </a:rPr>
              <a:t>compared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70">
                <a:latin typeface="Arial"/>
                <a:cs typeface="Arial"/>
              </a:rPr>
              <a:t>business,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 spc="30">
                <a:latin typeface="Arial"/>
                <a:cs typeface="Arial"/>
              </a:rPr>
              <a:t>it  </a:t>
            </a:r>
            <a:r>
              <a:rPr dirty="0" sz="1150" spc="-65">
                <a:latin typeface="Arial"/>
                <a:cs typeface="Arial"/>
              </a:rPr>
              <a:t>dos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not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require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any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kind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legal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formality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like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registration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6"/>
              <a:tabLst>
                <a:tab pos="469265" algn="l"/>
                <a:tab pos="469900" algn="l"/>
              </a:tabLst>
            </a:pPr>
            <a:r>
              <a:rPr dirty="0" sz="1150" spc="-110" b="1">
                <a:latin typeface="Arial"/>
                <a:cs typeface="Arial"/>
              </a:rPr>
              <a:t>Legal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Entity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AutoNum type="arabicPeriod" startAt="6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90">
                <a:latin typeface="Arial"/>
                <a:cs typeface="Arial"/>
              </a:rPr>
              <a:t>has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50">
                <a:latin typeface="Arial"/>
                <a:cs typeface="Arial"/>
              </a:rPr>
              <a:t>separate legal </a:t>
            </a:r>
            <a:r>
              <a:rPr dirty="0" sz="1150" spc="-10">
                <a:latin typeface="Arial"/>
                <a:cs typeface="Arial"/>
              </a:rPr>
              <a:t>entity </a:t>
            </a:r>
            <a:r>
              <a:rPr dirty="0" sz="1150" spc="-30">
                <a:latin typeface="Arial"/>
                <a:cs typeface="Arial"/>
              </a:rPr>
              <a:t>apart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sole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traders.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7"/>
              <a:tabLst>
                <a:tab pos="469265" algn="l"/>
                <a:tab pos="469900" algn="l"/>
              </a:tabLst>
            </a:pPr>
            <a:r>
              <a:rPr dirty="0" sz="1150" spc="-110" b="1">
                <a:latin typeface="Arial"/>
                <a:cs typeface="Arial"/>
              </a:rPr>
              <a:t>Legal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Restriction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7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50">
                <a:latin typeface="Arial"/>
                <a:cs typeface="Arial"/>
              </a:rPr>
              <a:t>legal </a:t>
            </a:r>
            <a:r>
              <a:rPr dirty="0" sz="1150" spc="-30">
                <a:latin typeface="Arial"/>
                <a:cs typeface="Arial"/>
              </a:rPr>
              <a:t>restrictions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60">
                <a:latin typeface="Arial"/>
                <a:cs typeface="Arial"/>
              </a:rPr>
              <a:t>sole </a:t>
            </a:r>
            <a:r>
              <a:rPr dirty="0" sz="1150" spc="-35">
                <a:latin typeface="Arial"/>
                <a:cs typeface="Arial"/>
              </a:rPr>
              <a:t>traders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set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-45">
                <a:latin typeface="Arial"/>
                <a:cs typeface="Arial"/>
              </a:rPr>
              <a:t>But </a:t>
            </a:r>
            <a:r>
              <a:rPr dirty="0" sz="1150" spc="-25">
                <a:latin typeface="Arial"/>
                <a:cs typeface="Arial"/>
              </a:rPr>
              <a:t>there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50">
                <a:latin typeface="Arial"/>
                <a:cs typeface="Arial"/>
              </a:rPr>
              <a:t>legal  </a:t>
            </a:r>
            <a:r>
              <a:rPr dirty="0" sz="1150" spc="-30">
                <a:latin typeface="Arial"/>
                <a:cs typeface="Arial"/>
              </a:rPr>
              <a:t>restrictions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setting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particular </a:t>
            </a:r>
            <a:r>
              <a:rPr dirty="0" sz="1150" spc="-30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8"/>
              <a:tabLst>
                <a:tab pos="469265" algn="l"/>
                <a:tab pos="469900" algn="l"/>
              </a:tabLst>
            </a:pPr>
            <a:r>
              <a:rPr dirty="0" sz="1150" spc="-75" b="1">
                <a:latin typeface="Arial"/>
                <a:cs typeface="Arial"/>
              </a:rPr>
              <a:t>Limited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Life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20">
                <a:latin typeface="Arial"/>
                <a:cs typeface="Arial"/>
              </a:rPr>
              <a:t>continuity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75">
                <a:latin typeface="Arial"/>
                <a:cs typeface="Arial"/>
              </a:rPr>
              <a:t>based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50">
                <a:latin typeface="Arial"/>
                <a:cs typeface="Arial"/>
              </a:rPr>
              <a:t>good </a:t>
            </a:r>
            <a:r>
              <a:rPr dirty="0" sz="1150" spc="-30">
                <a:latin typeface="Arial"/>
                <a:cs typeface="Arial"/>
              </a:rPr>
              <a:t>health, </a:t>
            </a:r>
            <a:r>
              <a:rPr dirty="0" sz="1150" spc="-10">
                <a:latin typeface="Arial"/>
                <a:cs typeface="Arial"/>
              </a:rPr>
              <a:t>or life or </a:t>
            </a:r>
            <a:r>
              <a:rPr dirty="0" sz="1150" spc="-35">
                <a:latin typeface="Arial"/>
                <a:cs typeface="Arial"/>
              </a:rPr>
              <a:t>death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sole  </a:t>
            </a:r>
            <a:r>
              <a:rPr dirty="0" sz="1150" spc="-30">
                <a:latin typeface="Arial"/>
                <a:cs typeface="Arial"/>
              </a:rPr>
              <a:t>owner.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8107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9"/>
              <a:tabLst>
                <a:tab pos="469265" algn="l"/>
                <a:tab pos="469900" algn="l"/>
              </a:tabLst>
            </a:pPr>
            <a:r>
              <a:rPr dirty="0" sz="1150" spc="-65" b="1">
                <a:latin typeface="Arial"/>
                <a:cs typeface="Arial"/>
              </a:rPr>
              <a:t>Management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9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4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sole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proprietorship,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control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5">
                <a:latin typeface="Arial"/>
                <a:cs typeface="Arial"/>
              </a:rPr>
              <a:t> management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of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lies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with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sole </a:t>
            </a:r>
            <a:r>
              <a:rPr dirty="0" sz="1150" spc="-30">
                <a:latin typeface="Arial"/>
                <a:cs typeface="Arial"/>
              </a:rPr>
              <a:t>owner.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0"/>
              <a:tabLst>
                <a:tab pos="469265" algn="l"/>
                <a:tab pos="470534" algn="l"/>
              </a:tabLst>
            </a:pPr>
            <a:r>
              <a:rPr dirty="0" sz="1150" spc="-85" b="1">
                <a:latin typeface="Arial"/>
                <a:cs typeface="Arial"/>
              </a:rPr>
              <a:t>Ownership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10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ownership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0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owned </a:t>
            </a:r>
            <a:r>
              <a:rPr dirty="0" sz="1150" spc="-50">
                <a:latin typeface="Arial"/>
                <a:cs typeface="Arial"/>
              </a:rPr>
              <a:t>by one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person.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rabicPeriod" startAt="11"/>
              <a:tabLst>
                <a:tab pos="469265" algn="l"/>
                <a:tab pos="470534" algn="l"/>
              </a:tabLst>
            </a:pPr>
            <a:r>
              <a:rPr dirty="0" sz="1150" spc="-55" b="1">
                <a:latin typeface="Arial"/>
                <a:cs typeface="Arial"/>
              </a:rPr>
              <a:t>Profit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11"/>
            </a:pPr>
            <a:endParaRPr sz="12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  <a:spcBef>
                <a:spcPts val="5"/>
              </a:spcBef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single </a:t>
            </a:r>
            <a:r>
              <a:rPr dirty="0" sz="1150" spc="-25">
                <a:latin typeface="Arial"/>
                <a:cs typeface="Arial"/>
              </a:rPr>
              <a:t>owner </a:t>
            </a:r>
            <a:r>
              <a:rPr dirty="0" sz="1150" spc="-65">
                <a:latin typeface="Arial"/>
                <a:cs typeface="Arial"/>
              </a:rPr>
              <a:t>bears </a:t>
            </a:r>
            <a:r>
              <a:rPr dirty="0" sz="1150" spc="-5">
                <a:latin typeface="Arial"/>
                <a:cs typeface="Arial"/>
              </a:rPr>
              <a:t>full </a:t>
            </a:r>
            <a:r>
              <a:rPr dirty="0" sz="1150" spc="-40">
                <a:latin typeface="Arial"/>
                <a:cs typeface="Arial"/>
              </a:rPr>
              <a:t>risk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business, </a:t>
            </a:r>
            <a:r>
              <a:rPr dirty="0" sz="1150" spc="-25">
                <a:latin typeface="Arial"/>
                <a:cs typeface="Arial"/>
              </a:rPr>
              <a:t>therefore,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60">
                <a:latin typeface="Arial"/>
                <a:cs typeface="Arial"/>
              </a:rPr>
              <a:t>gets </a:t>
            </a:r>
            <a:r>
              <a:rPr dirty="0" sz="1150">
                <a:latin typeface="Arial"/>
                <a:cs typeface="Arial"/>
              </a:rPr>
              <a:t>total </a:t>
            </a:r>
            <a:r>
              <a:rPr dirty="0" sz="1150" spc="-20">
                <a:latin typeface="Arial"/>
                <a:cs typeface="Arial"/>
              </a:rPr>
              <a:t>benefit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well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>
                <a:latin typeface="Arial"/>
                <a:cs typeface="Arial"/>
              </a:rPr>
              <a:t>total</a:t>
            </a:r>
            <a:r>
              <a:rPr dirty="0" sz="1150" spc="1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loss.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2"/>
              <a:tabLst>
                <a:tab pos="469265" algn="l"/>
                <a:tab pos="470534" algn="l"/>
              </a:tabLst>
            </a:pPr>
            <a:r>
              <a:rPr dirty="0" sz="1150" spc="-114" b="1">
                <a:latin typeface="Arial"/>
                <a:cs typeface="Arial"/>
              </a:rPr>
              <a:t>Size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2"/>
            </a:pPr>
            <a:endParaRPr sz="12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  <a:tabLst>
                <a:tab pos="2472690" algn="l"/>
              </a:tabLst>
            </a:pPr>
            <a:r>
              <a:rPr dirty="0" sz="1150" spc="-85">
                <a:latin typeface="Arial"/>
                <a:cs typeface="Arial"/>
              </a:rPr>
              <a:t>The  </a:t>
            </a:r>
            <a:r>
              <a:rPr dirty="0" sz="1150" spc="-80">
                <a:latin typeface="Arial"/>
                <a:cs typeface="Arial"/>
              </a:rPr>
              <a:t>size 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70">
                <a:latin typeface="Arial"/>
                <a:cs typeface="Arial"/>
              </a:rPr>
              <a:t>business  is </a:t>
            </a:r>
            <a:r>
              <a:rPr dirty="0" sz="1150" spc="1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usually</a:t>
            </a:r>
            <a:r>
              <a:rPr dirty="0" sz="1150" spc="21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small.</a:t>
            </a:r>
            <a:r>
              <a:rPr dirty="0" sz="1150" spc="-45">
                <a:latin typeface="Times New Roman"/>
                <a:cs typeface="Times New Roman"/>
              </a:rPr>
              <a:t>	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limited </a:t>
            </a:r>
            <a:r>
              <a:rPr dirty="0" sz="1150" spc="-20">
                <a:latin typeface="Arial"/>
                <a:cs typeface="Arial"/>
              </a:rPr>
              <a:t>ability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25">
                <a:latin typeface="Arial"/>
                <a:cs typeface="Arial"/>
              </a:rPr>
              <a:t>allow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55">
                <a:latin typeface="Arial"/>
                <a:cs typeface="Arial"/>
              </a:rPr>
              <a:t>expansion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3"/>
              <a:tabLst>
                <a:tab pos="469265" algn="l"/>
                <a:tab pos="470534" algn="l"/>
              </a:tabLst>
            </a:pPr>
            <a:r>
              <a:rPr dirty="0" sz="1150" spc="-155" b="1">
                <a:latin typeface="Arial"/>
                <a:cs typeface="Arial"/>
              </a:rPr>
              <a:t>Success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135" b="1">
                <a:latin typeface="Arial"/>
                <a:cs typeface="Arial"/>
              </a:rPr>
              <a:t> </a:t>
            </a:r>
            <a:r>
              <a:rPr dirty="0" sz="1150" spc="-130" b="1">
                <a:latin typeface="Arial"/>
                <a:cs typeface="Arial"/>
              </a:rPr>
              <a:t>Business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13"/>
            </a:pPr>
            <a:endParaRPr sz="1200">
              <a:latin typeface="Arial"/>
              <a:cs typeface="Arial"/>
            </a:endParaRPr>
          </a:p>
          <a:p>
            <a:pPr marL="12700" marR="6985">
              <a:lnSpc>
                <a:spcPct val="101699"/>
              </a:lnSpc>
              <a:spcBef>
                <a:spcPts val="5"/>
              </a:spcBef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95">
                <a:latin typeface="Arial"/>
                <a:cs typeface="Arial"/>
              </a:rPr>
              <a:t>success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goodwill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0">
                <a:latin typeface="Arial"/>
                <a:cs typeface="Arial"/>
              </a:rPr>
              <a:t>totally </a:t>
            </a:r>
            <a:r>
              <a:rPr dirty="0" sz="1150" spc="-40">
                <a:latin typeface="Arial"/>
                <a:cs typeface="Arial"/>
              </a:rPr>
              <a:t>dependent </a:t>
            </a:r>
            <a:r>
              <a:rPr dirty="0" sz="1150" spc="-35">
                <a:latin typeface="Arial"/>
                <a:cs typeface="Arial"/>
              </a:rPr>
              <a:t>upon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ability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sole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owner.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4"/>
              <a:tabLst>
                <a:tab pos="469265" algn="l"/>
                <a:tab pos="470534" algn="l"/>
              </a:tabLst>
            </a:pPr>
            <a:r>
              <a:rPr dirty="0" sz="1150" spc="-120" b="1">
                <a:latin typeface="Arial"/>
                <a:cs typeface="Arial"/>
              </a:rPr>
              <a:t>Secrecy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14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easily </a:t>
            </a:r>
            <a:r>
              <a:rPr dirty="0" sz="1150" spc="-30">
                <a:latin typeface="Arial"/>
                <a:cs typeface="Arial"/>
              </a:rPr>
              <a:t>maintain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secrecy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his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rabicPeriod" startAt="15"/>
              <a:tabLst>
                <a:tab pos="469265" algn="l"/>
                <a:tab pos="470534" algn="l"/>
              </a:tabLst>
            </a:pPr>
            <a:r>
              <a:rPr dirty="0" sz="1150" spc="-60" b="1">
                <a:latin typeface="Arial"/>
                <a:cs typeface="Arial"/>
              </a:rPr>
              <a:t>Unlimited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Liability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571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sole </a:t>
            </a:r>
            <a:r>
              <a:rPr dirty="0" sz="1150" spc="-10">
                <a:latin typeface="Arial"/>
                <a:cs typeface="Arial"/>
              </a:rPr>
              <a:t>proprietor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20">
                <a:latin typeface="Arial"/>
                <a:cs typeface="Arial"/>
              </a:rPr>
              <a:t>unlimited </a:t>
            </a:r>
            <a:r>
              <a:rPr dirty="0" sz="1150" spc="-15">
                <a:latin typeface="Arial"/>
                <a:cs typeface="Arial"/>
              </a:rPr>
              <a:t>liability.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insolvency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business, </a:t>
            </a:r>
            <a:r>
              <a:rPr dirty="0" sz="1150" spc="-65">
                <a:latin typeface="Arial"/>
                <a:cs typeface="Arial"/>
              </a:rPr>
              <a:t>even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personal  </a:t>
            </a:r>
            <a:r>
              <a:rPr dirty="0" sz="1150" spc="-80">
                <a:latin typeface="Arial"/>
                <a:cs typeface="Arial"/>
              </a:rPr>
              <a:t>assets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owner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pay </a:t>
            </a:r>
            <a:r>
              <a:rPr dirty="0" sz="1150" spc="5">
                <a:latin typeface="Arial"/>
                <a:cs typeface="Arial"/>
              </a:rPr>
              <a:t>off</a:t>
            </a:r>
            <a:r>
              <a:rPr dirty="0" sz="1150" spc="-24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debts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25">
                <a:latin typeface="Arial"/>
                <a:cs typeface="Arial"/>
              </a:rPr>
              <a:t>liabilities.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65" b="1">
                <a:latin typeface="Arial"/>
                <a:cs typeface="Arial"/>
              </a:rPr>
              <a:t>ADVANTAGES </a:t>
            </a:r>
            <a:r>
              <a:rPr dirty="0" sz="1350" spc="-175" b="1">
                <a:latin typeface="Arial"/>
                <a:cs typeface="Arial"/>
              </a:rPr>
              <a:t>OF </a:t>
            </a:r>
            <a:r>
              <a:rPr dirty="0" sz="1350" spc="-229" b="1">
                <a:latin typeface="Arial"/>
                <a:cs typeface="Arial"/>
              </a:rPr>
              <a:t>SOLE</a:t>
            </a:r>
            <a:r>
              <a:rPr dirty="0" sz="1350" spc="-285" b="1">
                <a:latin typeface="Arial"/>
                <a:cs typeface="Arial"/>
              </a:rPr>
              <a:t> </a:t>
            </a:r>
            <a:r>
              <a:rPr dirty="0" sz="1350" spc="-165" b="1">
                <a:latin typeface="Arial"/>
                <a:cs typeface="Arial"/>
              </a:rPr>
              <a:t>PROPRIETORSHIP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45">
                <a:latin typeface="Arial"/>
                <a:cs typeface="Arial"/>
              </a:rPr>
              <a:t>Following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advantages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sole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proprietorship: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/>
              <a:tabLst>
                <a:tab pos="469265" algn="l"/>
                <a:tab pos="470534" algn="l"/>
              </a:tabLst>
            </a:pPr>
            <a:r>
              <a:rPr dirty="0" sz="1150" spc="-85" b="1">
                <a:latin typeface="Arial"/>
                <a:cs typeface="Arial"/>
              </a:rPr>
              <a:t>Contacted </a:t>
            </a:r>
            <a:r>
              <a:rPr dirty="0" sz="1150" spc="-35" b="1">
                <a:latin typeface="Arial"/>
                <a:cs typeface="Arial"/>
              </a:rPr>
              <a:t>with </a:t>
            </a:r>
            <a:r>
              <a:rPr dirty="0" sz="1150" spc="-45" b="1">
                <a:latin typeface="Arial"/>
                <a:cs typeface="Arial"/>
              </a:rPr>
              <a:t>the</a:t>
            </a:r>
            <a:r>
              <a:rPr dirty="0" sz="1150" spc="-80" b="1">
                <a:latin typeface="Arial"/>
                <a:cs typeface="Arial"/>
              </a:rPr>
              <a:t> </a:t>
            </a:r>
            <a:r>
              <a:rPr dirty="0" sz="1150" spc="-110" b="1">
                <a:latin typeface="Arial"/>
                <a:cs typeface="Arial"/>
              </a:rPr>
              <a:t>Customers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5">
                <a:latin typeface="Arial"/>
                <a:cs typeface="Arial"/>
              </a:rPr>
              <a:t>businessman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20">
                <a:latin typeface="Arial"/>
                <a:cs typeface="Arial"/>
              </a:rPr>
              <a:t>direct </a:t>
            </a:r>
            <a:r>
              <a:rPr dirty="0" sz="1150" spc="-30">
                <a:latin typeface="Arial"/>
                <a:cs typeface="Arial"/>
              </a:rPr>
              <a:t>contact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customer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keeps </a:t>
            </a:r>
            <a:r>
              <a:rPr dirty="0" sz="1150" spc="-20">
                <a:latin typeface="Arial"/>
                <a:cs typeface="Arial"/>
              </a:rPr>
              <a:t>in  </a:t>
            </a:r>
            <a:r>
              <a:rPr dirty="0" sz="1150" spc="-30">
                <a:latin typeface="Arial"/>
                <a:cs typeface="Arial"/>
              </a:rPr>
              <a:t>mind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like </a:t>
            </a:r>
            <a:r>
              <a:rPr dirty="0" sz="1150" spc="-55">
                <a:latin typeface="Arial"/>
                <a:cs typeface="Arial"/>
              </a:rPr>
              <a:t>and dislikes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public </a:t>
            </a:r>
            <a:r>
              <a:rPr dirty="0" sz="1150" spc="-25">
                <a:latin typeface="Arial"/>
                <a:cs typeface="Arial"/>
              </a:rPr>
              <a:t>while </a:t>
            </a:r>
            <a:r>
              <a:rPr dirty="0" sz="1150" spc="-45">
                <a:latin typeface="Arial"/>
                <a:cs typeface="Arial"/>
              </a:rPr>
              <a:t>producing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35">
                <a:latin typeface="Arial"/>
                <a:cs typeface="Arial"/>
              </a:rPr>
              <a:t>products.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2"/>
              <a:tabLst>
                <a:tab pos="469265" algn="l"/>
                <a:tab pos="470534" algn="l"/>
              </a:tabLst>
            </a:pPr>
            <a:r>
              <a:rPr dirty="0" sz="1150" spc="-65" b="1">
                <a:latin typeface="Arial"/>
                <a:cs typeface="Arial"/>
              </a:rPr>
              <a:t>Direct </a:t>
            </a:r>
            <a:r>
              <a:rPr dirty="0" sz="1150" spc="-80" b="1">
                <a:latin typeface="Arial"/>
                <a:cs typeface="Arial"/>
              </a:rPr>
              <a:t>Relationship </a:t>
            </a:r>
            <a:r>
              <a:rPr dirty="0" sz="1150" spc="-40" b="1">
                <a:latin typeface="Arial"/>
                <a:cs typeface="Arial"/>
              </a:rPr>
              <a:t>with</a:t>
            </a:r>
            <a:r>
              <a:rPr dirty="0" sz="1150" spc="-4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Workers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5">
                <a:latin typeface="Arial"/>
                <a:cs typeface="Arial"/>
              </a:rPr>
              <a:t>businessman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20">
                <a:latin typeface="Arial"/>
                <a:cs typeface="Arial"/>
              </a:rPr>
              <a:t>direct </a:t>
            </a:r>
            <a:r>
              <a:rPr dirty="0" sz="1150" spc="-30">
                <a:latin typeface="Arial"/>
                <a:cs typeface="Arial"/>
              </a:rPr>
              <a:t>relationship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40">
                <a:latin typeface="Arial"/>
                <a:cs typeface="Arial"/>
              </a:rPr>
              <a:t>workers. </a:t>
            </a:r>
            <a:r>
              <a:rPr dirty="0" sz="1150" spc="-95">
                <a:latin typeface="Arial"/>
                <a:cs typeface="Arial"/>
              </a:rPr>
              <a:t>He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10">
                <a:latin typeface="Arial"/>
                <a:cs typeface="Arial"/>
              </a:rPr>
              <a:t>better  </a:t>
            </a:r>
            <a:r>
              <a:rPr dirty="0" sz="1150" spc="-45">
                <a:latin typeface="Arial"/>
                <a:cs typeface="Arial"/>
              </a:rPr>
              <a:t>understand </a:t>
            </a:r>
            <a:r>
              <a:rPr dirty="0" sz="1150" spc="-5">
                <a:latin typeface="Arial"/>
                <a:cs typeface="Arial"/>
              </a:rPr>
              <a:t>their </a:t>
            </a:r>
            <a:r>
              <a:rPr dirty="0" sz="1150" spc="-40">
                <a:latin typeface="Arial"/>
                <a:cs typeface="Arial"/>
              </a:rPr>
              <a:t>problems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then tries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solve </a:t>
            </a:r>
            <a:r>
              <a:rPr dirty="0" sz="1150" spc="-25">
                <a:latin typeface="Arial"/>
                <a:cs typeface="Arial"/>
              </a:rPr>
              <a:t>them.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30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5" y="892559"/>
            <a:ext cx="5513705" cy="786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150" spc="-145" b="1">
                <a:latin typeface="Arial"/>
                <a:cs typeface="Arial"/>
              </a:rPr>
              <a:t>Easy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Formation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AutoNum type="arabicPeriod" startAt="3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35">
                <a:latin typeface="Arial"/>
                <a:cs typeface="Arial"/>
              </a:rPr>
              <a:t>Its </a:t>
            </a:r>
            <a:r>
              <a:rPr dirty="0" sz="1150" spc="-15">
                <a:latin typeface="Arial"/>
                <a:cs typeface="Arial"/>
              </a:rPr>
              <a:t>formation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85">
                <a:latin typeface="Arial"/>
                <a:cs typeface="Arial"/>
              </a:rPr>
              <a:t>easy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50">
                <a:latin typeface="Arial"/>
                <a:cs typeface="Arial"/>
              </a:rPr>
              <a:t>legal </a:t>
            </a:r>
            <a:r>
              <a:rPr dirty="0" sz="1150" spc="-30">
                <a:latin typeface="Arial"/>
                <a:cs typeface="Arial"/>
              </a:rPr>
              <a:t>restrictions required </a:t>
            </a:r>
            <a:r>
              <a:rPr dirty="0" sz="1150" spc="-25">
                <a:latin typeface="Arial"/>
                <a:cs typeface="Arial"/>
              </a:rPr>
              <a:t>like </a:t>
            </a:r>
            <a:r>
              <a:rPr dirty="0" sz="1150" spc="-30">
                <a:latin typeface="Arial"/>
                <a:cs typeface="Arial"/>
              </a:rPr>
              <a:t>registration  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469265" algn="l"/>
                <a:tab pos="469900" algn="l"/>
              </a:tabLst>
            </a:pPr>
            <a:r>
              <a:rPr dirty="0" sz="1150" spc="-145" b="1">
                <a:latin typeface="Arial"/>
                <a:cs typeface="Arial"/>
              </a:rPr>
              <a:t>Easy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Dissolution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AutoNum type="arabicPeriod" startAt="4"/>
            </a:pPr>
            <a:endParaRPr sz="1200">
              <a:latin typeface="Arial"/>
              <a:cs typeface="Arial"/>
            </a:endParaRPr>
          </a:p>
          <a:p>
            <a:pPr marL="12700" marR="7620">
              <a:lnSpc>
                <a:spcPct val="101699"/>
              </a:lnSpc>
              <a:spcBef>
                <a:spcPts val="5"/>
              </a:spcBef>
            </a:pPr>
            <a:r>
              <a:rPr dirty="0" sz="1150" spc="-35">
                <a:latin typeface="Arial"/>
                <a:cs typeface="Arial"/>
              </a:rPr>
              <a:t>Its dissolution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very simple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50">
                <a:latin typeface="Arial"/>
                <a:cs typeface="Arial"/>
              </a:rPr>
              <a:t>legal </a:t>
            </a:r>
            <a:r>
              <a:rPr dirty="0" sz="1150" spc="-30">
                <a:latin typeface="Arial"/>
                <a:cs typeface="Arial"/>
              </a:rPr>
              <a:t>restrictions required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5">
                <a:latin typeface="Arial"/>
                <a:cs typeface="Arial"/>
              </a:rPr>
              <a:t>its  </a:t>
            </a:r>
            <a:r>
              <a:rPr dirty="0" sz="1150" spc="-35">
                <a:latin typeface="Arial"/>
                <a:cs typeface="Arial"/>
              </a:rPr>
              <a:t>dissolution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60">
                <a:latin typeface="Arial"/>
                <a:cs typeface="Arial"/>
              </a:rPr>
              <a:t>dissolved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65">
                <a:latin typeface="Arial"/>
                <a:cs typeface="Arial"/>
              </a:rPr>
              <a:t>any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time.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387350" indent="-375285">
              <a:lnSpc>
                <a:spcPct val="100000"/>
              </a:lnSpc>
              <a:buFont typeface="Times New Roman"/>
              <a:buAutoNum type="arabicPeriod" startAt="5"/>
              <a:tabLst>
                <a:tab pos="387350" algn="l"/>
                <a:tab pos="387985" algn="l"/>
              </a:tabLst>
            </a:pPr>
            <a:r>
              <a:rPr dirty="0" sz="1150" spc="-145" b="1">
                <a:latin typeface="Arial"/>
                <a:cs typeface="Arial"/>
              </a:rPr>
              <a:t>Easy </a:t>
            </a:r>
            <a:r>
              <a:rPr dirty="0" sz="1150" spc="-85" b="1">
                <a:latin typeface="Arial"/>
                <a:cs typeface="Arial"/>
              </a:rPr>
              <a:t>Transfer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130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Ownership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easily be </a:t>
            </a:r>
            <a:r>
              <a:rPr dirty="0" sz="1150" spc="-30">
                <a:latin typeface="Arial"/>
                <a:cs typeface="Arial"/>
              </a:rPr>
              <a:t>transferred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50">
                <a:latin typeface="Arial"/>
                <a:cs typeface="Arial"/>
              </a:rPr>
              <a:t>legal  </a:t>
            </a:r>
            <a:r>
              <a:rPr dirty="0" sz="1150" spc="-20">
                <a:latin typeface="Arial"/>
                <a:cs typeface="Arial"/>
              </a:rPr>
              <a:t>restriction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involved.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6"/>
              <a:tabLst>
                <a:tab pos="469265" algn="l"/>
                <a:tab pos="469900" algn="l"/>
              </a:tabLst>
            </a:pPr>
            <a:r>
              <a:rPr dirty="0" sz="1150" spc="-70" b="1">
                <a:latin typeface="Arial"/>
                <a:cs typeface="Arial"/>
              </a:rPr>
              <a:t>Entire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60" b="1">
                <a:latin typeface="Arial"/>
                <a:cs typeface="Arial"/>
              </a:rPr>
              <a:t>Profit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6"/>
            </a:pPr>
            <a:endParaRPr sz="1200">
              <a:latin typeface="Arial"/>
              <a:cs typeface="Arial"/>
            </a:endParaRPr>
          </a:p>
          <a:p>
            <a:pPr marL="12700" marR="571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only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35">
                <a:latin typeface="Arial"/>
                <a:cs typeface="Arial"/>
              </a:rPr>
              <a:t>where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owner </a:t>
            </a:r>
            <a:r>
              <a:rPr dirty="0" sz="1150" spc="-55">
                <a:latin typeface="Arial"/>
                <a:cs typeface="Arial"/>
              </a:rPr>
              <a:t>enjoys </a:t>
            </a:r>
            <a:r>
              <a:rPr dirty="0" sz="1150" spc="-95">
                <a:latin typeface="Arial"/>
                <a:cs typeface="Arial"/>
              </a:rPr>
              <a:t>100%  </a:t>
            </a:r>
            <a:r>
              <a:rPr dirty="0" sz="1150">
                <a:latin typeface="Arial"/>
                <a:cs typeface="Arial"/>
              </a:rPr>
              <a:t>profit.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7"/>
              <a:tabLst>
                <a:tab pos="469265" algn="l"/>
                <a:tab pos="469900" algn="l"/>
              </a:tabLst>
            </a:pPr>
            <a:r>
              <a:rPr dirty="0" sz="1150" spc="-70" b="1">
                <a:latin typeface="Arial"/>
                <a:cs typeface="Arial"/>
              </a:rPr>
              <a:t>Entire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Control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7"/>
            </a:pPr>
            <a:endParaRPr sz="12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20">
                <a:latin typeface="Arial"/>
                <a:cs typeface="Arial"/>
              </a:rPr>
              <a:t>the entire </a:t>
            </a:r>
            <a:r>
              <a:rPr dirty="0" sz="1150" spc="-15">
                <a:latin typeface="Arial"/>
                <a:cs typeface="Arial"/>
              </a:rPr>
              <a:t>control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is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70">
                <a:latin typeface="Arial"/>
                <a:cs typeface="Arial"/>
              </a:rPr>
              <a:t>hands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one </a:t>
            </a:r>
            <a:r>
              <a:rPr dirty="0" sz="1150" spc="-45">
                <a:latin typeface="Arial"/>
                <a:cs typeface="Arial"/>
              </a:rPr>
              <a:t>person.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95">
                <a:latin typeface="Arial"/>
                <a:cs typeface="Arial"/>
              </a:rPr>
              <a:t>He 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 spc="-35">
                <a:latin typeface="Arial"/>
                <a:cs typeface="Arial"/>
              </a:rPr>
              <a:t>whatever </a:t>
            </a:r>
            <a:r>
              <a:rPr dirty="0" sz="1150" spc="-55">
                <a:latin typeface="Arial"/>
                <a:cs typeface="Arial"/>
              </a:rPr>
              <a:t>he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likes.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8"/>
              <a:tabLst>
                <a:tab pos="469265" algn="l"/>
                <a:tab pos="469900" algn="l"/>
              </a:tabLst>
            </a:pPr>
            <a:r>
              <a:rPr dirty="0" sz="1150" spc="-65" b="1">
                <a:latin typeface="Arial"/>
                <a:cs typeface="Arial"/>
              </a:rPr>
              <a:t>Flexibility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8"/>
            </a:pPr>
            <a:endParaRPr sz="1200">
              <a:latin typeface="Arial"/>
              <a:cs typeface="Arial"/>
            </a:endParaRPr>
          </a:p>
          <a:p>
            <a:pPr marL="12700" marR="6985">
              <a:lnSpc>
                <a:spcPct val="101699"/>
              </a:lnSpc>
            </a:pPr>
            <a:r>
              <a:rPr dirty="0" sz="1150" spc="-65">
                <a:latin typeface="Arial"/>
                <a:cs typeface="Arial"/>
              </a:rPr>
              <a:t>There is </a:t>
            </a:r>
            <a:r>
              <a:rPr dirty="0" sz="1150" spc="-40">
                <a:latin typeface="Arial"/>
                <a:cs typeface="Arial"/>
              </a:rPr>
              <a:t>great </a:t>
            </a:r>
            <a:r>
              <a:rPr dirty="0" sz="1150" spc="-15">
                <a:latin typeface="Arial"/>
                <a:cs typeface="Arial"/>
              </a:rPr>
              <a:t>flexibility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proprietorship. </a:t>
            </a: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 spc="-45">
                <a:latin typeface="Arial"/>
                <a:cs typeface="Arial"/>
              </a:rPr>
              <a:t>policies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60">
                <a:latin typeface="Arial"/>
                <a:cs typeface="Arial"/>
              </a:rPr>
              <a:t>easily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70">
                <a:latin typeface="Arial"/>
                <a:cs typeface="Arial"/>
              </a:rPr>
              <a:t>changed  </a:t>
            </a:r>
            <a:r>
              <a:rPr dirty="0" sz="1150" spc="-50">
                <a:latin typeface="Arial"/>
                <a:cs typeface="Arial"/>
              </a:rPr>
              <a:t>according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market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conditions</a:t>
            </a:r>
            <a:r>
              <a:rPr dirty="0" sz="1150" spc="-55">
                <a:latin typeface="Arial"/>
                <a:cs typeface="Arial"/>
              </a:rPr>
              <a:t> and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demand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people.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9"/>
              <a:tabLst>
                <a:tab pos="469265" algn="l"/>
                <a:tab pos="469900" algn="l"/>
              </a:tabLst>
            </a:pPr>
            <a:r>
              <a:rPr dirty="0" sz="1150" spc="-90" b="1">
                <a:latin typeface="Arial"/>
                <a:cs typeface="Arial"/>
              </a:rPr>
              <a:t>Honesty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AutoNum type="arabicPeriod" startAt="9"/>
            </a:pPr>
            <a:endParaRPr sz="1200">
              <a:latin typeface="Arial"/>
              <a:cs typeface="Arial"/>
            </a:endParaRPr>
          </a:p>
          <a:p>
            <a:pPr marL="12700" marR="762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45">
                <a:latin typeface="Arial"/>
                <a:cs typeface="Arial"/>
              </a:rPr>
              <a:t>master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35">
                <a:latin typeface="Arial"/>
                <a:cs typeface="Arial"/>
              </a:rPr>
              <a:t>performs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30">
                <a:latin typeface="Arial"/>
                <a:cs typeface="Arial"/>
              </a:rPr>
              <a:t>functions </a:t>
            </a:r>
            <a:r>
              <a:rPr dirty="0" sz="1150" spc="-45">
                <a:latin typeface="Arial"/>
                <a:cs typeface="Arial"/>
              </a:rPr>
              <a:t>honesty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effitively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make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70">
                <a:latin typeface="Arial"/>
                <a:cs typeface="Arial"/>
              </a:rPr>
              <a:t>business</a:t>
            </a:r>
            <a:r>
              <a:rPr dirty="0" sz="1150" spc="-65">
                <a:latin typeface="Arial"/>
                <a:cs typeface="Arial"/>
              </a:rPr>
              <a:t> successful.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rabicPeriod" startAt="10"/>
              <a:tabLst>
                <a:tab pos="469265" algn="l"/>
                <a:tab pos="470534" algn="l"/>
              </a:tabLst>
            </a:pPr>
            <a:r>
              <a:rPr dirty="0" sz="1150" spc="-80" b="1">
                <a:latin typeface="Arial"/>
                <a:cs typeface="Arial"/>
              </a:rPr>
              <a:t>Independence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10"/>
            </a:pPr>
            <a:endParaRPr sz="1200">
              <a:latin typeface="Arial"/>
              <a:cs typeface="Arial"/>
            </a:endParaRPr>
          </a:p>
          <a:p>
            <a:pPr marL="12700" marR="7620">
              <a:lnSpc>
                <a:spcPct val="101699"/>
              </a:lnSpc>
              <a:spcBef>
                <a:spcPts val="5"/>
              </a:spcBef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35">
                <a:latin typeface="Arial"/>
                <a:cs typeface="Arial"/>
              </a:rPr>
              <a:t>independent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30">
                <a:latin typeface="Arial"/>
                <a:cs typeface="Arial"/>
              </a:rPr>
              <a:t>interference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10">
                <a:latin typeface="Arial"/>
                <a:cs typeface="Arial"/>
              </a:rPr>
              <a:t>other  </a:t>
            </a:r>
            <a:r>
              <a:rPr dirty="0" sz="1150" spc="-45">
                <a:latin typeface="Arial"/>
                <a:cs typeface="Arial"/>
              </a:rPr>
              <a:t>person.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1"/>
              <a:tabLst>
                <a:tab pos="469265" algn="l"/>
                <a:tab pos="470534" algn="l"/>
              </a:tabLst>
            </a:pPr>
            <a:r>
              <a:rPr dirty="0" sz="1150" spc="-95" b="1">
                <a:latin typeface="Arial"/>
                <a:cs typeface="Arial"/>
              </a:rPr>
              <a:t>Personal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Satisfaction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5715">
              <a:lnSpc>
                <a:spcPct val="101699"/>
              </a:lnSpc>
            </a:pP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 spc="-30">
                <a:latin typeface="Arial"/>
                <a:cs typeface="Arial"/>
              </a:rPr>
              <a:t>activities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55">
                <a:latin typeface="Arial"/>
                <a:cs typeface="Arial"/>
              </a:rPr>
              <a:t>accomplished </a:t>
            </a:r>
            <a:r>
              <a:rPr dirty="0" sz="1150" spc="-35">
                <a:latin typeface="Arial"/>
                <a:cs typeface="Arial"/>
              </a:rPr>
              <a:t>under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supervision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30">
                <a:latin typeface="Arial"/>
                <a:cs typeface="Arial"/>
              </a:rPr>
              <a:t>owner,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55">
                <a:latin typeface="Arial"/>
                <a:cs typeface="Arial"/>
              </a:rPr>
              <a:t>he  </a:t>
            </a:r>
            <a:r>
              <a:rPr dirty="0" sz="1150" spc="-50">
                <a:latin typeface="Arial"/>
                <a:cs typeface="Arial"/>
              </a:rPr>
              <a:t>feels personal </a:t>
            </a:r>
            <a:r>
              <a:rPr dirty="0" sz="1150" spc="-40">
                <a:latin typeface="Arial"/>
                <a:cs typeface="Arial"/>
              </a:rPr>
              <a:t>satisfaction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running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smoothly.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31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7510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AutoNum type="arabicPeriod" startAt="12"/>
              <a:tabLst>
                <a:tab pos="469265" algn="l"/>
                <a:tab pos="470534" algn="l"/>
              </a:tabLst>
            </a:pPr>
            <a:r>
              <a:rPr dirty="0" sz="1150" spc="-80" b="1">
                <a:latin typeface="Arial"/>
                <a:cs typeface="Arial"/>
              </a:rPr>
              <a:t>Prime </a:t>
            </a:r>
            <a:r>
              <a:rPr dirty="0" sz="1150" spc="-75" b="1">
                <a:latin typeface="Arial"/>
                <a:cs typeface="Arial"/>
              </a:rPr>
              <a:t>Credit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Standing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AutoNum type="arabicPeriod" startAt="12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sole </a:t>
            </a:r>
            <a:r>
              <a:rPr dirty="0" sz="1150" spc="-10">
                <a:latin typeface="Arial"/>
                <a:cs typeface="Arial"/>
              </a:rPr>
              <a:t>proprietor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15">
                <a:latin typeface="Arial"/>
                <a:cs typeface="Arial"/>
              </a:rPr>
              <a:t>borrow </a:t>
            </a:r>
            <a:r>
              <a:rPr dirty="0" sz="1150" spc="-45">
                <a:latin typeface="Arial"/>
                <a:cs typeface="Arial"/>
              </a:rPr>
              <a:t>money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55">
                <a:latin typeface="Arial"/>
                <a:cs typeface="Arial"/>
              </a:rPr>
              <a:t>easily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unlimited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liability.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3"/>
              <a:tabLst>
                <a:tab pos="469265" algn="l"/>
                <a:tab pos="470534" algn="l"/>
              </a:tabLst>
            </a:pPr>
            <a:r>
              <a:rPr dirty="0" sz="1150" spc="-95" b="1">
                <a:latin typeface="Arial"/>
                <a:cs typeface="Arial"/>
              </a:rPr>
              <a:t>Quick</a:t>
            </a:r>
            <a:r>
              <a:rPr dirty="0" sz="1150" spc="-75" b="1">
                <a:latin typeface="Arial"/>
                <a:cs typeface="Arial"/>
              </a:rPr>
              <a:t> </a:t>
            </a:r>
            <a:r>
              <a:rPr dirty="0" sz="1150" spc="-105" b="1">
                <a:latin typeface="Arial"/>
                <a:cs typeface="Arial"/>
              </a:rPr>
              <a:t>Decisions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AutoNum type="arabicPeriod" startAt="13"/>
            </a:pPr>
            <a:endParaRPr sz="1200">
              <a:latin typeface="Arial"/>
              <a:cs typeface="Arial"/>
            </a:endParaRPr>
          </a:p>
          <a:p>
            <a:pPr marL="12700" marR="571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Sole </a:t>
            </a:r>
            <a:r>
              <a:rPr dirty="0" sz="1150" spc="-10">
                <a:latin typeface="Arial"/>
                <a:cs typeface="Arial"/>
              </a:rPr>
              <a:t>proprietor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60">
                <a:latin typeface="Arial"/>
                <a:cs typeface="Arial"/>
              </a:rPr>
              <a:t>make </a:t>
            </a:r>
            <a:r>
              <a:rPr dirty="0" sz="1150" spc="-45">
                <a:latin typeface="Arial"/>
                <a:cs typeface="Arial"/>
              </a:rPr>
              <a:t>quick </a:t>
            </a:r>
            <a:r>
              <a:rPr dirty="0" sz="1150" spc="-60">
                <a:latin typeface="Arial"/>
                <a:cs typeface="Arial"/>
              </a:rPr>
              <a:t>decisions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development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welfare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70">
                <a:latin typeface="Arial"/>
                <a:cs typeface="Arial"/>
              </a:rPr>
              <a:t>business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50">
                <a:latin typeface="Arial"/>
                <a:cs typeface="Arial"/>
              </a:rPr>
              <a:t>way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85">
                <a:latin typeface="Arial"/>
                <a:cs typeface="Arial"/>
              </a:rPr>
              <a:t>save </a:t>
            </a:r>
            <a:r>
              <a:rPr dirty="0" sz="1150" spc="-60">
                <a:latin typeface="Arial"/>
                <a:cs typeface="Arial"/>
              </a:rPr>
              <a:t>his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time.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396240" indent="-384175">
              <a:lnSpc>
                <a:spcPct val="100000"/>
              </a:lnSpc>
              <a:buSzPct val="82608"/>
              <a:buFont typeface="Times New Roman"/>
              <a:buAutoNum type="arabicPeriod" startAt="14"/>
              <a:tabLst>
                <a:tab pos="396240" algn="l"/>
                <a:tab pos="396875" algn="l"/>
              </a:tabLst>
            </a:pPr>
            <a:r>
              <a:rPr dirty="0" sz="1150" spc="-95" b="1">
                <a:latin typeface="Arial"/>
                <a:cs typeface="Arial"/>
              </a:rPr>
              <a:t>Personal</a:t>
            </a:r>
            <a:r>
              <a:rPr dirty="0" sz="1150" spc="-130" b="1">
                <a:latin typeface="Arial"/>
                <a:cs typeface="Arial"/>
              </a:rPr>
              <a:t> </a:t>
            </a:r>
            <a:r>
              <a:rPr dirty="0" sz="1150" spc="-55" b="1">
                <a:latin typeface="Arial"/>
                <a:cs typeface="Arial"/>
              </a:rPr>
              <a:t>Interest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AutoNum type="arabicPeriod" startAt="14"/>
            </a:pPr>
            <a:endParaRPr sz="1200">
              <a:latin typeface="Arial"/>
              <a:cs typeface="Arial"/>
            </a:endParaRPr>
          </a:p>
          <a:p>
            <a:pPr marL="12700" marR="571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sole </a:t>
            </a:r>
            <a:r>
              <a:rPr dirty="0" sz="1150" spc="-15">
                <a:latin typeface="Arial"/>
                <a:cs typeface="Arial"/>
              </a:rPr>
              <a:t>proprietor5 </a:t>
            </a:r>
            <a:r>
              <a:rPr dirty="0" sz="1150" spc="-55">
                <a:latin typeface="Arial"/>
                <a:cs typeface="Arial"/>
              </a:rPr>
              <a:t>takes keen </a:t>
            </a:r>
            <a:r>
              <a:rPr dirty="0" sz="1150" spc="-25">
                <a:latin typeface="Arial"/>
                <a:cs typeface="Arial"/>
              </a:rPr>
              <a:t>intere4st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35">
                <a:latin typeface="Arial"/>
                <a:cs typeface="Arial"/>
              </a:rPr>
              <a:t>affairs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45">
                <a:latin typeface="Arial"/>
                <a:cs typeface="Arial"/>
              </a:rPr>
              <a:t>alone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50">
                <a:latin typeface="Arial"/>
                <a:cs typeface="Arial"/>
              </a:rPr>
              <a:t>responsible </a:t>
            </a:r>
            <a:r>
              <a:rPr dirty="0" sz="1150" spc="5">
                <a:latin typeface="Arial"/>
                <a:cs typeface="Arial"/>
              </a:rPr>
              <a:t>for profit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loss.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5"/>
              <a:tabLst>
                <a:tab pos="469265" algn="l"/>
                <a:tab pos="470534" algn="l"/>
              </a:tabLst>
            </a:pPr>
            <a:r>
              <a:rPr dirty="0" sz="1150" spc="-114" b="1">
                <a:latin typeface="Arial"/>
                <a:cs typeface="Arial"/>
              </a:rPr>
              <a:t>Saving </a:t>
            </a:r>
            <a:r>
              <a:rPr dirty="0" sz="1150" spc="-70" b="1">
                <a:latin typeface="Arial"/>
                <a:cs typeface="Arial"/>
              </a:rPr>
              <a:t>in </a:t>
            </a:r>
            <a:r>
              <a:rPr dirty="0" sz="1150" spc="-55" b="1">
                <a:latin typeface="Arial"/>
                <a:cs typeface="Arial"/>
              </a:rPr>
              <a:t>Interest </a:t>
            </a:r>
            <a:r>
              <a:rPr dirty="0" sz="1150" spc="-85" b="1">
                <a:latin typeface="Arial"/>
                <a:cs typeface="Arial"/>
              </a:rPr>
              <a:t>on </a:t>
            </a:r>
            <a:r>
              <a:rPr dirty="0" sz="1150" spc="-80" b="1">
                <a:latin typeface="Arial"/>
                <a:cs typeface="Arial"/>
              </a:rPr>
              <a:t>Borrowed</a:t>
            </a:r>
            <a:r>
              <a:rPr dirty="0" sz="1150" spc="20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AutoNum type="arabicPeriod" startAt="15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60">
                <a:latin typeface="Arial"/>
                <a:cs typeface="Arial"/>
              </a:rPr>
              <a:t>Sometimes,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sole </a:t>
            </a:r>
            <a:r>
              <a:rPr dirty="0" sz="1150" spc="-10">
                <a:latin typeface="Arial"/>
                <a:cs typeface="Arial"/>
              </a:rPr>
              <a:t>proprietor </a:t>
            </a:r>
            <a:r>
              <a:rPr dirty="0" sz="1150" spc="-30">
                <a:latin typeface="Arial"/>
                <a:cs typeface="Arial"/>
              </a:rPr>
              <a:t>borrows </a:t>
            </a:r>
            <a:r>
              <a:rPr dirty="0" sz="1150" spc="-50">
                <a:latin typeface="Arial"/>
                <a:cs typeface="Arial"/>
              </a:rPr>
              <a:t>money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increase his </a:t>
            </a:r>
            <a:r>
              <a:rPr dirty="0" sz="1150" spc="-35">
                <a:latin typeface="Arial"/>
                <a:cs typeface="Arial"/>
              </a:rPr>
              <a:t>capital, </a:t>
            </a:r>
            <a:r>
              <a:rPr dirty="0" sz="1150" spc="-15">
                <a:latin typeface="Arial"/>
                <a:cs typeface="Arial"/>
              </a:rPr>
              <a:t>from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40">
                <a:latin typeface="Arial"/>
                <a:cs typeface="Arial"/>
              </a:rPr>
              <a:t>relatives,  </a:t>
            </a:r>
            <a:r>
              <a:rPr dirty="0" sz="1150">
                <a:latin typeface="Arial"/>
                <a:cs typeface="Arial"/>
              </a:rPr>
              <a:t>without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interest.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6"/>
              <a:tabLst>
                <a:tab pos="469265" algn="l"/>
                <a:tab pos="470534" algn="l"/>
              </a:tabLst>
            </a:pPr>
            <a:r>
              <a:rPr dirty="0" sz="1150" spc="-114" b="1">
                <a:latin typeface="Arial"/>
                <a:cs typeface="Arial"/>
              </a:rPr>
              <a:t>Saving </a:t>
            </a:r>
            <a:r>
              <a:rPr dirty="0" sz="1150" spc="-70" b="1">
                <a:latin typeface="Arial"/>
                <a:cs typeface="Arial"/>
              </a:rPr>
              <a:t>in </a:t>
            </a:r>
            <a:r>
              <a:rPr dirty="0" sz="1150" spc="-110" b="1">
                <a:latin typeface="Arial"/>
                <a:cs typeface="Arial"/>
              </a:rPr>
              <a:t>Legal</a:t>
            </a:r>
            <a:r>
              <a:rPr dirty="0" sz="1150" spc="5" b="1">
                <a:latin typeface="Arial"/>
                <a:cs typeface="Arial"/>
              </a:rPr>
              <a:t> </a:t>
            </a:r>
            <a:r>
              <a:rPr dirty="0" sz="1150" spc="-125" b="1">
                <a:latin typeface="Arial"/>
                <a:cs typeface="Arial"/>
              </a:rPr>
              <a:t>Expenses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AutoNum type="arabicPeriod" startAt="16"/>
            </a:pPr>
            <a:endParaRPr sz="12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</a:pP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50">
                <a:latin typeface="Arial"/>
                <a:cs typeface="Arial"/>
              </a:rPr>
              <a:t>legal </a:t>
            </a:r>
            <a:r>
              <a:rPr dirty="0" sz="1150" spc="-30">
                <a:latin typeface="Arial"/>
                <a:cs typeface="Arial"/>
              </a:rPr>
              <a:t>restrictions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formation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55">
                <a:latin typeface="Arial"/>
                <a:cs typeface="Arial"/>
              </a:rPr>
              <a:t>helps </a:t>
            </a:r>
            <a:r>
              <a:rPr dirty="0" sz="1150" spc="-20">
                <a:latin typeface="Arial"/>
                <a:cs typeface="Arial"/>
              </a:rPr>
              <a:t>in  </a:t>
            </a:r>
            <a:r>
              <a:rPr dirty="0" sz="1150" spc="-55">
                <a:latin typeface="Arial"/>
                <a:cs typeface="Arial"/>
              </a:rPr>
              <a:t>increasing </a:t>
            </a:r>
            <a:r>
              <a:rPr dirty="0" sz="1150" spc="-80">
                <a:latin typeface="Arial"/>
                <a:cs typeface="Arial"/>
              </a:rPr>
              <a:t>savings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50">
                <a:latin typeface="Arial"/>
                <a:cs typeface="Arial"/>
              </a:rPr>
              <a:t>legal </a:t>
            </a:r>
            <a:r>
              <a:rPr dirty="0" sz="1150" spc="-80">
                <a:latin typeface="Arial"/>
                <a:cs typeface="Arial"/>
              </a:rPr>
              <a:t>expenses </a:t>
            </a:r>
            <a:r>
              <a:rPr dirty="0" sz="1150" spc="-50">
                <a:latin typeface="Arial"/>
                <a:cs typeface="Arial"/>
              </a:rPr>
              <a:t>are</a:t>
            </a:r>
            <a:r>
              <a:rPr dirty="0" sz="1150" spc="3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reduced.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rabicPeriod" startAt="17"/>
              <a:tabLst>
                <a:tab pos="469265" algn="l"/>
                <a:tab pos="470534" algn="l"/>
              </a:tabLst>
            </a:pPr>
            <a:r>
              <a:rPr dirty="0" sz="1150" spc="-114" b="1">
                <a:latin typeface="Arial"/>
                <a:cs typeface="Arial"/>
              </a:rPr>
              <a:t>Saving </a:t>
            </a:r>
            <a:r>
              <a:rPr dirty="0" sz="1150" spc="-70" b="1">
                <a:latin typeface="Arial"/>
                <a:cs typeface="Arial"/>
              </a:rPr>
              <a:t>in </a:t>
            </a:r>
            <a:r>
              <a:rPr dirty="0" sz="1150" spc="-65" b="1">
                <a:latin typeface="Arial"/>
                <a:cs typeface="Arial"/>
              </a:rPr>
              <a:t>Management</a:t>
            </a:r>
            <a:r>
              <a:rPr dirty="0" sz="1150" spc="-45" b="1">
                <a:latin typeface="Arial"/>
                <a:cs typeface="Arial"/>
              </a:rPr>
              <a:t> </a:t>
            </a:r>
            <a:r>
              <a:rPr dirty="0" sz="1150" spc="-125" b="1">
                <a:latin typeface="Arial"/>
                <a:cs typeface="Arial"/>
              </a:rPr>
              <a:t>Expenses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AutoNum type="arabicPeriod" startAt="17"/>
            </a:pPr>
            <a:endParaRPr sz="1200">
              <a:latin typeface="Arial"/>
              <a:cs typeface="Arial"/>
            </a:endParaRPr>
          </a:p>
          <a:p>
            <a:pPr marL="12700" marR="571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owner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35">
                <a:latin typeface="Arial"/>
                <a:cs typeface="Arial"/>
              </a:rPr>
              <a:t>himself performs most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functions </a:t>
            </a:r>
            <a:r>
              <a:rPr dirty="0" sz="1150" spc="-85">
                <a:latin typeface="Arial"/>
                <a:cs typeface="Arial"/>
              </a:rPr>
              <a:t>so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0">
                <a:latin typeface="Arial"/>
                <a:cs typeface="Arial"/>
              </a:rPr>
              <a:t>reduces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50">
                <a:latin typeface="Arial"/>
                <a:cs typeface="Arial"/>
              </a:rPr>
              <a:t>management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expenses.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8"/>
              <a:tabLst>
                <a:tab pos="469265" algn="l"/>
                <a:tab pos="470534" algn="l"/>
              </a:tabLst>
            </a:pPr>
            <a:r>
              <a:rPr dirty="0" sz="1150" spc="-114" b="1">
                <a:latin typeface="Arial"/>
                <a:cs typeface="Arial"/>
              </a:rPr>
              <a:t>Saving </a:t>
            </a:r>
            <a:r>
              <a:rPr dirty="0" sz="1150" spc="-70" b="1">
                <a:latin typeface="Arial"/>
                <a:cs typeface="Arial"/>
              </a:rPr>
              <a:t>in</a:t>
            </a:r>
            <a:r>
              <a:rPr dirty="0" sz="1150" spc="-5" b="1">
                <a:latin typeface="Arial"/>
                <a:cs typeface="Arial"/>
              </a:rPr>
              <a:t> </a:t>
            </a:r>
            <a:r>
              <a:rPr dirty="0" sz="1150" spc="-114" b="1">
                <a:latin typeface="Arial"/>
                <a:cs typeface="Arial"/>
              </a:rPr>
              <a:t>Taxes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AutoNum type="arabicPeriod" startAt="18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08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tax </a:t>
            </a:r>
            <a:r>
              <a:rPr dirty="0" sz="1150" spc="-45">
                <a:latin typeface="Arial"/>
                <a:cs typeface="Arial"/>
              </a:rPr>
              <a:t>rates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15">
                <a:latin typeface="Arial"/>
                <a:cs typeface="Arial"/>
              </a:rPr>
              <a:t>low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60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imposed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income </a:t>
            </a:r>
            <a:r>
              <a:rPr dirty="0" sz="1150" spc="-10">
                <a:latin typeface="Arial"/>
                <a:cs typeface="Arial"/>
              </a:rPr>
              <a:t>of  </a:t>
            </a:r>
            <a:r>
              <a:rPr dirty="0" sz="1150" spc="-55">
                <a:latin typeface="Arial"/>
                <a:cs typeface="Arial"/>
              </a:rPr>
              <a:t>single </a:t>
            </a:r>
            <a:r>
              <a:rPr dirty="0" sz="1150" spc="-45">
                <a:latin typeface="Arial"/>
                <a:cs typeface="Arial"/>
              </a:rPr>
              <a:t>person.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9"/>
              <a:tabLst>
                <a:tab pos="469265" algn="l"/>
                <a:tab pos="470534" algn="l"/>
              </a:tabLst>
            </a:pPr>
            <a:r>
              <a:rPr dirty="0" sz="1150" spc="-120" b="1">
                <a:latin typeface="Arial"/>
                <a:cs typeface="Arial"/>
              </a:rPr>
              <a:t>Secrecy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AutoNum type="arabicPeriod" startAt="19"/>
            </a:pPr>
            <a:endParaRPr sz="1200">
              <a:latin typeface="Arial"/>
              <a:cs typeface="Arial"/>
            </a:endParaRPr>
          </a:p>
          <a:p>
            <a:pPr marL="12700" marR="5715">
              <a:lnSpc>
                <a:spcPct val="101699"/>
              </a:lnSpc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10">
                <a:latin typeface="Arial"/>
                <a:cs typeface="Arial"/>
              </a:rPr>
              <a:t>important </a:t>
            </a:r>
            <a:r>
              <a:rPr dirty="0" sz="1150" spc="-20">
                <a:latin typeface="Arial"/>
                <a:cs typeface="Arial"/>
              </a:rPr>
              <a:t>factor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development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0">
                <a:latin typeface="Arial"/>
                <a:cs typeface="Arial"/>
              </a:rPr>
              <a:t>trader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easily </a:t>
            </a:r>
            <a:r>
              <a:rPr dirty="0" sz="1150" spc="-30">
                <a:latin typeface="Arial"/>
                <a:cs typeface="Arial"/>
              </a:rPr>
              <a:t>maintain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secrecy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techniques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profit.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20"/>
              <a:tabLst>
                <a:tab pos="469265" algn="l"/>
                <a:tab pos="470534" algn="l"/>
              </a:tabLst>
            </a:pPr>
            <a:r>
              <a:rPr dirty="0" sz="1150" spc="-105" b="1">
                <a:latin typeface="Arial"/>
                <a:cs typeface="Arial"/>
              </a:rPr>
              <a:t>Social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Benefits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5">
                <a:latin typeface="Arial"/>
                <a:cs typeface="Arial"/>
              </a:rPr>
              <a:t>helpful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solving </a:t>
            </a:r>
            <a:r>
              <a:rPr dirty="0" sz="1150" spc="-60">
                <a:latin typeface="Arial"/>
                <a:cs typeface="Arial"/>
              </a:rPr>
              <a:t>many </a:t>
            </a:r>
            <a:r>
              <a:rPr dirty="0" sz="1150" spc="-55">
                <a:latin typeface="Arial"/>
                <a:cs typeface="Arial"/>
              </a:rPr>
              <a:t>social </a:t>
            </a:r>
            <a:r>
              <a:rPr dirty="0" sz="1150" spc="-40">
                <a:latin typeface="Arial"/>
                <a:cs typeface="Arial"/>
              </a:rPr>
              <a:t>problems </a:t>
            </a:r>
            <a:r>
              <a:rPr dirty="0" sz="1150" spc="-35">
                <a:latin typeface="Arial"/>
                <a:cs typeface="Arial"/>
              </a:rPr>
              <a:t>like unemployment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32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2435" cy="14801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60" b="1">
                <a:latin typeface="Arial"/>
                <a:cs typeface="Arial"/>
              </a:rPr>
              <a:t>DISADVANTAGES </a:t>
            </a:r>
            <a:r>
              <a:rPr dirty="0" sz="1350" spc="-175" b="1">
                <a:latin typeface="Arial"/>
                <a:cs typeface="Arial"/>
              </a:rPr>
              <a:t>OF</a:t>
            </a:r>
            <a:r>
              <a:rPr dirty="0" sz="1350" spc="-204" b="1">
                <a:latin typeface="Arial"/>
                <a:cs typeface="Arial"/>
              </a:rPr>
              <a:t> </a:t>
            </a:r>
            <a:r>
              <a:rPr dirty="0" sz="1350" spc="-225" b="1">
                <a:latin typeface="Arial"/>
                <a:cs typeface="Arial"/>
              </a:rPr>
              <a:t>SOLE </a:t>
            </a:r>
            <a:r>
              <a:rPr dirty="0" sz="1350" spc="-170" b="1">
                <a:latin typeface="Arial"/>
                <a:cs typeface="Arial"/>
              </a:rPr>
              <a:t>PROPRIETORSHIP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disadvantages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0">
                <a:latin typeface="Arial"/>
                <a:cs typeface="Arial"/>
              </a:rPr>
              <a:t>narrated </a:t>
            </a:r>
            <a:r>
              <a:rPr dirty="0" sz="1150" spc="-110">
                <a:latin typeface="Arial"/>
                <a:cs typeface="Arial"/>
              </a:rPr>
              <a:t>as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under: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dirty="0" sz="1150" spc="-35" b="1">
                <a:latin typeface="Arial"/>
                <a:cs typeface="Arial"/>
              </a:rPr>
              <a:t>1.</a:t>
            </a:r>
            <a:r>
              <a:rPr dirty="0" sz="1150" spc="-35">
                <a:latin typeface="Times New Roman"/>
                <a:cs typeface="Times New Roman"/>
              </a:rPr>
              <a:t>	</a:t>
            </a:r>
            <a:r>
              <a:rPr dirty="0" sz="1150" spc="-70" b="1">
                <a:latin typeface="Arial"/>
                <a:cs typeface="Arial"/>
              </a:rPr>
              <a:t>Continuity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20">
                <a:latin typeface="Arial"/>
                <a:cs typeface="Arial"/>
              </a:rPr>
              <a:t>continuity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65">
                <a:latin typeface="Arial"/>
                <a:cs typeface="Arial"/>
              </a:rPr>
              <a:t>depends </a:t>
            </a:r>
            <a:r>
              <a:rPr dirty="0" sz="1150" spc="-40">
                <a:latin typeface="Arial"/>
                <a:cs typeface="Arial"/>
              </a:rPr>
              <a:t>upon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health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0">
                <a:latin typeface="Arial"/>
                <a:cs typeface="Arial"/>
              </a:rPr>
              <a:t>life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owner.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death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owner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no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longer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continues.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33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299" y="2553719"/>
            <a:ext cx="116839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b="1">
                <a:latin typeface="Times New Roman"/>
                <a:cs typeface="Times New Roman"/>
              </a:rPr>
              <a:t>2</a:t>
            </a:r>
            <a:r>
              <a:rPr dirty="0" sz="950" spc="-5" b="1">
                <a:latin typeface="Times New Roman"/>
                <a:cs typeface="Times New Roman"/>
              </a:rPr>
              <a:t>.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83871" y="2527811"/>
            <a:ext cx="106299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30" b="1">
                <a:latin typeface="Arial"/>
                <a:cs typeface="Arial"/>
              </a:rPr>
              <a:t>Chances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spc="-100" b="1">
                <a:latin typeface="Arial"/>
                <a:cs typeface="Arial"/>
              </a:rPr>
              <a:t>Fraud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0303" y="2884426"/>
            <a:ext cx="5513705" cy="572897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proprietorship, proper </a:t>
            </a:r>
            <a:r>
              <a:rPr dirty="0" sz="1150" spc="-50">
                <a:latin typeface="Arial"/>
                <a:cs typeface="Arial"/>
              </a:rPr>
              <a:t>records are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35">
                <a:latin typeface="Arial"/>
                <a:cs typeface="Arial"/>
              </a:rPr>
              <a:t>maintained.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70">
                <a:latin typeface="Arial"/>
                <a:cs typeface="Arial"/>
              </a:rPr>
              <a:t>increases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0">
                <a:latin typeface="Arial"/>
                <a:cs typeface="Arial"/>
              </a:rPr>
              <a:t>chances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35">
                <a:latin typeface="Arial"/>
                <a:cs typeface="Arial"/>
              </a:rPr>
              <a:t>errors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frauds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5">
                <a:latin typeface="Arial"/>
                <a:cs typeface="Arial"/>
              </a:rPr>
              <a:t>dishonest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workers.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150" spc="-110" b="1">
                <a:latin typeface="Arial"/>
                <a:cs typeface="Arial"/>
              </a:rPr>
              <a:t>Expansion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60" b="1">
                <a:latin typeface="Arial"/>
                <a:cs typeface="Arial"/>
              </a:rPr>
              <a:t>Difficulty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3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5">
                <a:latin typeface="Arial"/>
                <a:cs typeface="Arial"/>
              </a:rPr>
              <a:t>difficult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expand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limited life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10">
                <a:latin typeface="Arial"/>
                <a:cs typeface="Arial"/>
              </a:rPr>
              <a:t>proprietor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0">
                <a:latin typeface="Arial"/>
                <a:cs typeface="Arial"/>
              </a:rPr>
              <a:t>limited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capital.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469265" algn="l"/>
                <a:tab pos="469900" algn="l"/>
              </a:tabLst>
            </a:pPr>
            <a:r>
              <a:rPr dirty="0" sz="1150" spc="-135" b="1">
                <a:latin typeface="Arial"/>
                <a:cs typeface="Arial"/>
              </a:rPr>
              <a:t>Lack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170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Advertisement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4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sources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single </a:t>
            </a:r>
            <a:r>
              <a:rPr dirty="0" sz="1150" spc="-50">
                <a:latin typeface="Arial"/>
                <a:cs typeface="Arial"/>
              </a:rPr>
              <a:t>person are </a:t>
            </a:r>
            <a:r>
              <a:rPr dirty="0" sz="1150" spc="-10">
                <a:latin typeface="Arial"/>
                <a:cs typeface="Arial"/>
              </a:rPr>
              <a:t>limited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40">
                <a:latin typeface="Arial"/>
                <a:cs typeface="Arial"/>
              </a:rPr>
              <a:t>cannot </a:t>
            </a:r>
            <a:r>
              <a:rPr dirty="0" sz="1150" spc="-45">
                <a:latin typeface="Arial"/>
                <a:cs typeface="Arial"/>
              </a:rPr>
              <a:t>bear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expense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advertisement,  which </a:t>
            </a:r>
            <a:r>
              <a:rPr dirty="0" sz="1150" spc="-65">
                <a:latin typeface="Arial"/>
                <a:cs typeface="Arial"/>
              </a:rPr>
              <a:t>is also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major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disadvantage.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5"/>
              <a:tabLst>
                <a:tab pos="469265" algn="l"/>
                <a:tab pos="469900" algn="l"/>
              </a:tabLst>
            </a:pPr>
            <a:r>
              <a:rPr dirty="0" sz="1150" spc="-135" b="1">
                <a:latin typeface="Arial"/>
                <a:cs typeface="Arial"/>
              </a:rPr>
              <a:t>Lack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170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5"/>
            </a:pPr>
            <a:endParaRPr sz="1200">
              <a:latin typeface="Arial"/>
              <a:cs typeface="Arial"/>
            </a:endParaRPr>
          </a:p>
          <a:p>
            <a:pPr marL="12700" marR="7620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Generally, </a:t>
            </a:r>
            <a:r>
              <a:rPr dirty="0" sz="1150" spc="-50">
                <a:latin typeface="Arial"/>
                <a:cs typeface="Arial"/>
              </a:rPr>
              <a:t>one-man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15">
                <a:latin typeface="Arial"/>
                <a:cs typeface="Arial"/>
              </a:rPr>
              <a:t>limited, </a:t>
            </a:r>
            <a:r>
              <a:rPr dirty="0" sz="1150" spc="-85">
                <a:latin typeface="Arial"/>
                <a:cs typeface="Arial"/>
              </a:rPr>
              <a:t>so </a:t>
            </a:r>
            <a:r>
              <a:rPr dirty="0" sz="1150" spc="-5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financial </a:t>
            </a:r>
            <a:r>
              <a:rPr dirty="0" sz="1150" spc="-40">
                <a:latin typeface="Arial"/>
                <a:cs typeface="Arial"/>
              </a:rPr>
              <a:t>problems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40">
                <a:latin typeface="Arial"/>
                <a:cs typeface="Arial"/>
              </a:rPr>
              <a:t>cannot </a:t>
            </a:r>
            <a:r>
              <a:rPr dirty="0" sz="1150" spc="-60">
                <a:latin typeface="Arial"/>
                <a:cs typeface="Arial"/>
              </a:rPr>
              <a:t>expand 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65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6"/>
              <a:tabLst>
                <a:tab pos="469265" algn="l"/>
                <a:tab pos="469900" algn="l"/>
              </a:tabLst>
            </a:pPr>
            <a:r>
              <a:rPr dirty="0" sz="1150" spc="-135" b="1">
                <a:latin typeface="Arial"/>
                <a:cs typeface="Arial"/>
              </a:rPr>
              <a:t>Lack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80" b="1">
                <a:latin typeface="Arial"/>
                <a:cs typeface="Arial"/>
              </a:rPr>
              <a:t>Inspection </a:t>
            </a:r>
            <a:r>
              <a:rPr dirty="0" sz="1150" spc="-90" b="1">
                <a:latin typeface="Arial"/>
                <a:cs typeface="Arial"/>
              </a:rPr>
              <a:t>and</a:t>
            </a:r>
            <a:r>
              <a:rPr dirty="0" sz="1150" spc="-15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Audit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6"/>
            </a:pPr>
            <a:endParaRPr sz="12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  <a:spcBef>
                <a:spcPts val="5"/>
              </a:spcBef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20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60">
                <a:latin typeface="Arial"/>
                <a:cs typeface="Arial"/>
              </a:rPr>
              <a:t>lack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inspection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audit,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5">
                <a:latin typeface="Arial"/>
                <a:cs typeface="Arial"/>
              </a:rPr>
              <a:t>increases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0">
                <a:latin typeface="Arial"/>
                <a:cs typeface="Arial"/>
              </a:rPr>
              <a:t>chances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30">
                <a:latin typeface="Arial"/>
                <a:cs typeface="Arial"/>
              </a:rPr>
              <a:t>fraud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illegal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operations.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7"/>
              <a:tabLst>
                <a:tab pos="469265" algn="l"/>
                <a:tab pos="469900" algn="l"/>
              </a:tabLst>
            </a:pPr>
            <a:r>
              <a:rPr dirty="0" sz="1150" spc="-135" b="1">
                <a:latin typeface="Arial"/>
                <a:cs typeface="Arial"/>
              </a:rPr>
              <a:t>Lack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170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Innovation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7"/>
            </a:pPr>
            <a:endParaRPr sz="12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fear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suffering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65">
                <a:latin typeface="Arial"/>
                <a:cs typeface="Arial"/>
              </a:rPr>
              <a:t>loss,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sole </a:t>
            </a:r>
            <a:r>
              <a:rPr dirty="0" sz="1150" spc="-15">
                <a:latin typeface="Arial"/>
                <a:cs typeface="Arial"/>
              </a:rPr>
              <a:t>proprietor </a:t>
            </a:r>
            <a:r>
              <a:rPr dirty="0" sz="1150" spc="-70">
                <a:latin typeface="Arial"/>
                <a:cs typeface="Arial"/>
              </a:rPr>
              <a:t>does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-45">
                <a:latin typeface="Arial"/>
                <a:cs typeface="Arial"/>
              </a:rPr>
              <a:t>new methods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25">
                <a:latin typeface="Arial"/>
                <a:cs typeface="Arial"/>
              </a:rPr>
              <a:t>production. </a:t>
            </a:r>
            <a:r>
              <a:rPr dirty="0" sz="1150" spc="-105">
                <a:latin typeface="Arial"/>
                <a:cs typeface="Arial"/>
              </a:rPr>
              <a:t>So,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25">
                <a:latin typeface="Arial"/>
                <a:cs typeface="Arial"/>
              </a:rPr>
              <a:t>invention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innovation.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8"/>
              <a:tabLst>
                <a:tab pos="469265" algn="l"/>
                <a:tab pos="469900" algn="l"/>
              </a:tabLst>
            </a:pPr>
            <a:r>
              <a:rPr dirty="0" sz="1150" spc="-135" b="1">
                <a:latin typeface="Arial"/>
                <a:cs typeface="Arial"/>
              </a:rPr>
              <a:t>Lack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00" b="1">
                <a:latin typeface="Arial"/>
                <a:cs typeface="Arial"/>
              </a:rPr>
              <a:t>Public</a:t>
            </a:r>
            <a:r>
              <a:rPr dirty="0" sz="1150" spc="-185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Confidence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762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public </a:t>
            </a:r>
            <a:r>
              <a:rPr dirty="0" sz="1150" spc="-65">
                <a:latin typeface="Arial"/>
                <a:cs typeface="Arial"/>
              </a:rPr>
              <a:t>shows </a:t>
            </a:r>
            <a:r>
              <a:rPr dirty="0" sz="1150" spc="-85">
                <a:latin typeface="Arial"/>
                <a:cs typeface="Arial"/>
              </a:rPr>
              <a:t>less </a:t>
            </a:r>
            <a:r>
              <a:rPr dirty="0" sz="1150" spc="-50">
                <a:latin typeface="Arial"/>
                <a:cs typeface="Arial"/>
              </a:rPr>
              <a:t>confidence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25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no  </a:t>
            </a:r>
            <a:r>
              <a:rPr dirty="0" sz="1150" spc="-50">
                <a:latin typeface="Arial"/>
                <a:cs typeface="Arial"/>
              </a:rPr>
              <a:t>legal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registration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control</a:t>
            </a:r>
            <a:r>
              <a:rPr dirty="0" sz="1150" spc="-55">
                <a:latin typeface="Arial"/>
                <a:cs typeface="Arial"/>
              </a:rPr>
              <a:t> and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wind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up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6975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9"/>
              <a:tabLst>
                <a:tab pos="469265" algn="l"/>
                <a:tab pos="469900" algn="l"/>
              </a:tabLst>
            </a:pPr>
            <a:r>
              <a:rPr dirty="0" sz="1150" spc="-135" b="1">
                <a:latin typeface="Arial"/>
                <a:cs typeface="Arial"/>
              </a:rPr>
              <a:t>Lack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85" b="1">
                <a:latin typeface="Arial"/>
                <a:cs typeface="Arial"/>
              </a:rPr>
              <a:t>Skilled</a:t>
            </a:r>
            <a:r>
              <a:rPr dirty="0" sz="1150" spc="-185" b="1">
                <a:latin typeface="Arial"/>
                <a:cs typeface="Arial"/>
              </a:rPr>
              <a:t> </a:t>
            </a:r>
            <a:r>
              <a:rPr dirty="0" sz="1150" spc="-114" b="1">
                <a:latin typeface="Arial"/>
                <a:cs typeface="Arial"/>
              </a:rPr>
              <a:t>Persons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9"/>
            </a:pPr>
            <a:endParaRPr sz="12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One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40">
                <a:latin typeface="Arial"/>
                <a:cs typeface="Arial"/>
              </a:rPr>
              <a:t>cannot </a:t>
            </a:r>
            <a:r>
              <a:rPr dirty="0" sz="1150" spc="-25">
                <a:latin typeface="Arial"/>
                <a:cs typeface="Arial"/>
              </a:rPr>
              <a:t>hire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ser4vices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qualified </a:t>
            </a:r>
            <a:r>
              <a:rPr dirty="0" sz="1150" spc="-50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skilled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10">
                <a:latin typeface="Arial"/>
                <a:cs typeface="Arial"/>
              </a:rPr>
              <a:t>limited  </a:t>
            </a:r>
            <a:r>
              <a:rPr dirty="0" sz="1150" spc="-55">
                <a:latin typeface="Arial"/>
                <a:cs typeface="Arial"/>
              </a:rPr>
              <a:t>resources.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also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great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disadvantage.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rabicPeriod" startAt="10"/>
              <a:tabLst>
                <a:tab pos="469265" algn="l"/>
                <a:tab pos="470534" algn="l"/>
              </a:tabLst>
            </a:pPr>
            <a:r>
              <a:rPr dirty="0" sz="1150" spc="-65" b="1">
                <a:latin typeface="Arial"/>
                <a:cs typeface="Arial"/>
              </a:rPr>
              <a:t>Management</a:t>
            </a:r>
            <a:r>
              <a:rPr dirty="0" sz="1150" spc="-75" b="1">
                <a:latin typeface="Arial"/>
                <a:cs typeface="Arial"/>
              </a:rPr>
              <a:t> </a:t>
            </a:r>
            <a:r>
              <a:rPr dirty="0" sz="1150" spc="-60" b="1">
                <a:latin typeface="Arial"/>
                <a:cs typeface="Arial"/>
              </a:rPr>
              <a:t>Difficulty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10"/>
            </a:pPr>
            <a:endParaRPr sz="1200">
              <a:latin typeface="Arial"/>
              <a:cs typeface="Arial"/>
            </a:endParaRPr>
          </a:p>
          <a:p>
            <a:pPr marL="12700" marR="5715">
              <a:lnSpc>
                <a:spcPct val="101699"/>
              </a:lnSpc>
              <a:spcBef>
                <a:spcPts val="5"/>
              </a:spcBef>
            </a:pPr>
            <a:r>
              <a:rPr dirty="0" sz="1150" spc="-80">
                <a:latin typeface="Arial"/>
                <a:cs typeface="Arial"/>
              </a:rPr>
              <a:t>One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40">
                <a:latin typeface="Arial"/>
                <a:cs typeface="Arial"/>
              </a:rPr>
              <a:t>cannot </a:t>
            </a:r>
            <a:r>
              <a:rPr dirty="0" sz="1150" spc="-20">
                <a:latin typeface="Arial"/>
                <a:cs typeface="Arial"/>
              </a:rPr>
              <a:t>perform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50">
                <a:latin typeface="Arial"/>
                <a:cs typeface="Arial"/>
              </a:rPr>
              <a:t>types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duties </a:t>
            </a:r>
            <a:r>
              <a:rPr dirty="0" sz="1150" spc="-30">
                <a:latin typeface="Arial"/>
                <a:cs typeface="Arial"/>
              </a:rPr>
              <a:t>effectively. </a:t>
            </a: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good </a:t>
            </a:r>
            <a:r>
              <a:rPr dirty="0" sz="1150" spc="-40">
                <a:latin typeface="Arial"/>
                <a:cs typeface="Arial"/>
              </a:rPr>
              <a:t>accountant, </a:t>
            </a:r>
            <a:r>
              <a:rPr dirty="0" sz="1150" spc="-55">
                <a:latin typeface="Arial"/>
                <a:cs typeface="Arial"/>
              </a:rPr>
              <a:t>he 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good </a:t>
            </a:r>
            <a:r>
              <a:rPr dirty="0" sz="1150" spc="-25">
                <a:latin typeface="Arial"/>
                <a:cs typeface="Arial"/>
              </a:rPr>
              <a:t>administrator. </a:t>
            </a:r>
            <a:r>
              <a:rPr dirty="0" sz="1150" spc="-8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this,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5">
                <a:latin typeface="Arial"/>
                <a:cs typeface="Arial"/>
              </a:rPr>
              <a:t>suffers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loss.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1"/>
              <a:tabLst>
                <a:tab pos="469265" algn="l"/>
                <a:tab pos="470534" algn="l"/>
              </a:tabLst>
            </a:pPr>
            <a:r>
              <a:rPr dirty="0" sz="1150" spc="-75" b="1">
                <a:latin typeface="Arial"/>
                <a:cs typeface="Arial"/>
              </a:rPr>
              <a:t>Much </a:t>
            </a:r>
            <a:r>
              <a:rPr dirty="0" sz="1150" spc="-80" b="1">
                <a:latin typeface="Arial"/>
                <a:cs typeface="Arial"/>
              </a:rPr>
              <a:t>Strain </a:t>
            </a:r>
            <a:r>
              <a:rPr dirty="0" sz="1150" spc="-85" b="1">
                <a:latin typeface="Arial"/>
                <a:cs typeface="Arial"/>
              </a:rPr>
              <a:t>on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spc="-60" b="1">
                <a:latin typeface="Arial"/>
                <a:cs typeface="Arial"/>
              </a:rPr>
              <a:t>Health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1"/>
            </a:pPr>
            <a:endParaRPr sz="12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type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much </a:t>
            </a:r>
            <a:r>
              <a:rPr dirty="0" sz="1150" spc="-30">
                <a:latin typeface="Arial"/>
                <a:cs typeface="Arial"/>
              </a:rPr>
              <a:t>strain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health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businessman 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45">
                <a:latin typeface="Arial"/>
                <a:cs typeface="Arial"/>
              </a:rPr>
              <a:t>alone </a:t>
            </a:r>
            <a:r>
              <a:rPr dirty="0" sz="1150" spc="-60">
                <a:latin typeface="Arial"/>
                <a:cs typeface="Arial"/>
              </a:rPr>
              <a:t>handles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45">
                <a:latin typeface="Arial"/>
                <a:cs typeface="Arial"/>
              </a:rPr>
              <a:t>sorts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activities.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2"/>
              <a:tabLst>
                <a:tab pos="469265" algn="l"/>
                <a:tab pos="470534" algn="l"/>
              </a:tabLst>
            </a:pPr>
            <a:r>
              <a:rPr dirty="0" sz="1150" spc="-50" b="1">
                <a:latin typeface="Arial"/>
                <a:cs typeface="Arial"/>
              </a:rPr>
              <a:t>Not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Durable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2"/>
            </a:pPr>
            <a:endParaRPr sz="1200">
              <a:latin typeface="Arial"/>
              <a:cs typeface="Arial"/>
            </a:endParaRPr>
          </a:p>
          <a:p>
            <a:pPr marL="12700" marR="8890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30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40">
                <a:latin typeface="Arial"/>
                <a:cs typeface="Arial"/>
              </a:rPr>
              <a:t>durable </a:t>
            </a:r>
            <a:r>
              <a:rPr dirty="0" sz="1150" spc="-70">
                <a:latin typeface="Arial"/>
                <a:cs typeface="Arial"/>
              </a:rPr>
              <a:t>because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55">
                <a:latin typeface="Arial"/>
                <a:cs typeface="Arial"/>
              </a:rPr>
              <a:t>existence </a:t>
            </a:r>
            <a:r>
              <a:rPr dirty="0" sz="1150" spc="-65">
                <a:latin typeface="Arial"/>
                <a:cs typeface="Arial"/>
              </a:rPr>
              <a:t>depends </a:t>
            </a:r>
            <a:r>
              <a:rPr dirty="0" sz="1150" spc="-40">
                <a:latin typeface="Arial"/>
                <a:cs typeface="Arial"/>
              </a:rPr>
              <a:t>upon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life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sole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proprietor.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3"/>
              <a:tabLst>
                <a:tab pos="469265" algn="l"/>
                <a:tab pos="470534" algn="l"/>
              </a:tabLst>
            </a:pPr>
            <a:r>
              <a:rPr dirty="0" sz="1150" spc="-75" b="1">
                <a:latin typeface="Arial"/>
                <a:cs typeface="Arial"/>
              </a:rPr>
              <a:t>Permanent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100" b="1">
                <a:latin typeface="Arial"/>
                <a:cs typeface="Arial"/>
              </a:rPr>
              <a:t>Existence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3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25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20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need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permanent </a:t>
            </a:r>
            <a:r>
              <a:rPr dirty="0" sz="1150" spc="-55">
                <a:latin typeface="Arial"/>
                <a:cs typeface="Arial"/>
              </a:rPr>
              <a:t>existence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5">
                <a:latin typeface="Arial"/>
                <a:cs typeface="Arial"/>
              </a:rPr>
              <a:t>businessman.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75">
                <a:latin typeface="Arial"/>
                <a:cs typeface="Arial"/>
              </a:rPr>
              <a:t>absence </a:t>
            </a:r>
            <a:r>
              <a:rPr dirty="0" sz="1150" spc="-15">
                <a:latin typeface="Arial"/>
                <a:cs typeface="Arial"/>
              </a:rPr>
              <a:t>from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few </a:t>
            </a:r>
            <a:r>
              <a:rPr dirty="0" sz="1150" spc="-80">
                <a:latin typeface="Arial"/>
                <a:cs typeface="Arial"/>
              </a:rPr>
              <a:t>days </a:t>
            </a:r>
            <a:r>
              <a:rPr dirty="0" sz="1150" spc="-60">
                <a:latin typeface="Arial"/>
                <a:cs typeface="Arial"/>
              </a:rPr>
              <a:t>may become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5">
                <a:latin typeface="Arial"/>
                <a:cs typeface="Arial"/>
              </a:rPr>
              <a:t>cause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loss.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4"/>
              <a:tabLst>
                <a:tab pos="469265" algn="l"/>
                <a:tab pos="470534" algn="l"/>
              </a:tabLst>
            </a:pPr>
            <a:r>
              <a:rPr dirty="0" sz="1150" spc="-125" b="1">
                <a:latin typeface="Arial"/>
                <a:cs typeface="Arial"/>
              </a:rPr>
              <a:t>Risk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10" b="1">
                <a:latin typeface="Arial"/>
                <a:cs typeface="Arial"/>
              </a:rPr>
              <a:t>Careless</a:t>
            </a:r>
            <a:r>
              <a:rPr dirty="0" sz="1150" spc="-204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Drawings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4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proprietorship, owner </a:t>
            </a:r>
            <a:r>
              <a:rPr dirty="0" sz="1150" spc="-35">
                <a:latin typeface="Arial"/>
                <a:cs typeface="Arial"/>
              </a:rPr>
              <a:t>himself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5">
                <a:latin typeface="Arial"/>
                <a:cs typeface="Arial"/>
              </a:rPr>
              <a:t>boss. </a:t>
            </a:r>
            <a:r>
              <a:rPr dirty="0" sz="1150" spc="-60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35">
                <a:latin typeface="Arial"/>
                <a:cs typeface="Arial"/>
              </a:rPr>
              <a:t>question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60">
                <a:latin typeface="Arial"/>
                <a:cs typeface="Arial"/>
              </a:rPr>
              <a:t>decisions </a:t>
            </a:r>
            <a:r>
              <a:rPr dirty="0" sz="1150" spc="-10">
                <a:latin typeface="Arial"/>
                <a:cs typeface="Arial"/>
              </a:rPr>
              <a:t>or  </a:t>
            </a:r>
            <a:r>
              <a:rPr dirty="0" sz="1150" spc="-45">
                <a:latin typeface="Arial"/>
                <a:cs typeface="Arial"/>
              </a:rPr>
              <a:t>actions. </a:t>
            </a:r>
            <a:r>
              <a:rPr dirty="0" sz="1150" spc="-105">
                <a:latin typeface="Arial"/>
                <a:cs typeface="Arial"/>
              </a:rPr>
              <a:t>So,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risk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careless </a:t>
            </a:r>
            <a:r>
              <a:rPr dirty="0" sz="1150" spc="-50">
                <a:latin typeface="Arial"/>
                <a:cs typeface="Arial"/>
              </a:rPr>
              <a:t>drawings by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him.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5"/>
              <a:tabLst>
                <a:tab pos="469265" algn="l"/>
                <a:tab pos="470534" algn="l"/>
              </a:tabLst>
            </a:pPr>
            <a:r>
              <a:rPr dirty="0" sz="1150" spc="-125" b="1">
                <a:latin typeface="Arial"/>
                <a:cs typeface="Arial"/>
              </a:rPr>
              <a:t>Risk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200" b="1">
                <a:latin typeface="Arial"/>
                <a:cs typeface="Arial"/>
              </a:rPr>
              <a:t> </a:t>
            </a:r>
            <a:r>
              <a:rPr dirty="0" sz="1150" spc="-165" b="1">
                <a:latin typeface="Arial"/>
                <a:cs typeface="Arial"/>
              </a:rPr>
              <a:t>Loss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AutoNum type="arabicPeriod" startAt="15"/>
            </a:pPr>
            <a:endParaRPr sz="1200">
              <a:latin typeface="Arial"/>
              <a:cs typeface="Arial"/>
            </a:endParaRPr>
          </a:p>
          <a:p>
            <a:pPr marL="12700" marR="571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single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60">
                <a:latin typeface="Arial"/>
                <a:cs typeface="Arial"/>
              </a:rPr>
              <a:t>bears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losses, </a:t>
            </a:r>
            <a:r>
              <a:rPr dirty="0" sz="1150" spc="-60">
                <a:latin typeface="Arial"/>
                <a:cs typeface="Arial"/>
              </a:rPr>
              <a:t>whereas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35">
                <a:latin typeface="Arial"/>
                <a:cs typeface="Arial"/>
              </a:rPr>
              <a:t>partnership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Joint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Stock</a:t>
            </a:r>
            <a:r>
              <a:rPr dirty="0" sz="1150" spc="-75">
                <a:latin typeface="Arial"/>
                <a:cs typeface="Arial"/>
              </a:rPr>
              <a:t> Company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all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partners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members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bear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loss.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rabicPeriod" startAt="16"/>
              <a:tabLst>
                <a:tab pos="469265" algn="l"/>
                <a:tab pos="470534" algn="l"/>
              </a:tabLst>
            </a:pPr>
            <a:r>
              <a:rPr dirty="0" sz="1150" spc="-60" b="1">
                <a:latin typeface="Arial"/>
                <a:cs typeface="Arial"/>
              </a:rPr>
              <a:t>Unlimited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Liability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7620">
              <a:lnSpc>
                <a:spcPct val="101699"/>
              </a:lnSpc>
              <a:spcBef>
                <a:spcPts val="5"/>
              </a:spcBef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20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unlimited </a:t>
            </a:r>
            <a:r>
              <a:rPr dirty="0" sz="1150" spc="-15">
                <a:latin typeface="Arial"/>
                <a:cs typeface="Arial"/>
              </a:rPr>
              <a:t>liability.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means,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loss </a:t>
            </a:r>
            <a:r>
              <a:rPr dirty="0" sz="1150" spc="-50">
                <a:latin typeface="Arial"/>
                <a:cs typeface="Arial"/>
              </a:rPr>
              <a:t>personal </a:t>
            </a:r>
            <a:r>
              <a:rPr dirty="0" sz="1150" spc="-20">
                <a:latin typeface="Arial"/>
                <a:cs typeface="Arial"/>
              </a:rPr>
              <a:t>property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owner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50">
                <a:latin typeface="Arial"/>
                <a:cs typeface="Arial"/>
              </a:rPr>
              <a:t>sold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satisfy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claimants.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great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disadvantage.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34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4340" cy="15119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65" b="1">
                <a:latin typeface="Arial"/>
                <a:cs typeface="Arial"/>
              </a:rPr>
              <a:t>CONCLUSION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6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above-mentioned </a:t>
            </a:r>
            <a:r>
              <a:rPr dirty="0" sz="1150" spc="-25">
                <a:latin typeface="Arial"/>
                <a:cs typeface="Arial"/>
              </a:rPr>
              <a:t>detail, </a:t>
            </a:r>
            <a:r>
              <a:rPr dirty="0" sz="1150" spc="-40">
                <a:latin typeface="Arial"/>
                <a:cs typeface="Arial"/>
              </a:rPr>
              <a:t>we </a:t>
            </a:r>
            <a:r>
              <a:rPr dirty="0" sz="1150" spc="-55">
                <a:latin typeface="Arial"/>
                <a:cs typeface="Arial"/>
              </a:rPr>
              <a:t>come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point </a:t>
            </a:r>
            <a:r>
              <a:rPr dirty="0" sz="1150">
                <a:latin typeface="Arial"/>
                <a:cs typeface="Arial"/>
              </a:rPr>
              <a:t>that </a:t>
            </a:r>
            <a:r>
              <a:rPr dirty="0" sz="1150" spc="-40">
                <a:latin typeface="Arial"/>
                <a:cs typeface="Arial"/>
              </a:rPr>
              <a:t>despite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above  disadvantages,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10">
                <a:latin typeface="Arial"/>
                <a:cs typeface="Arial"/>
              </a:rPr>
              <a:t>important 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5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fact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15">
                <a:latin typeface="Arial"/>
                <a:cs typeface="Arial"/>
              </a:rPr>
              <a:t>formation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85">
                <a:latin typeface="Arial"/>
                <a:cs typeface="Arial"/>
              </a:rPr>
              <a:t>easy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unlimited </a:t>
            </a:r>
            <a:r>
              <a:rPr dirty="0" sz="1150" spc="-15">
                <a:latin typeface="Arial"/>
                <a:cs typeface="Arial"/>
              </a:rPr>
              <a:t>liability the </a:t>
            </a:r>
            <a:r>
              <a:rPr dirty="0" sz="1150" spc="-25">
                <a:latin typeface="Arial"/>
                <a:cs typeface="Arial"/>
              </a:rPr>
              <a:t>owner </a:t>
            </a:r>
            <a:r>
              <a:rPr dirty="0" sz="1150" spc="-60">
                <a:latin typeface="Arial"/>
                <a:cs typeface="Arial"/>
              </a:rPr>
              <a:t>takes  </a:t>
            </a:r>
            <a:r>
              <a:rPr dirty="0" sz="1150" spc="-40">
                <a:latin typeface="Arial"/>
                <a:cs typeface="Arial"/>
              </a:rPr>
              <a:t>great </a:t>
            </a:r>
            <a:r>
              <a:rPr dirty="0" sz="1150" spc="-60">
                <a:latin typeface="Arial"/>
                <a:cs typeface="Arial"/>
              </a:rPr>
              <a:t>care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interest in the </a:t>
            </a:r>
            <a:r>
              <a:rPr dirty="0" sz="1150" spc="-65">
                <a:latin typeface="Arial"/>
                <a:cs typeface="Arial"/>
              </a:rPr>
              <a:t>business,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loss,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personally responsible. 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55">
                <a:latin typeface="Arial"/>
                <a:cs typeface="Arial"/>
              </a:rPr>
              <a:t>he enjoys </a:t>
            </a:r>
            <a:r>
              <a:rPr dirty="0" sz="1150" spc="-20">
                <a:latin typeface="Arial"/>
                <a:cs typeface="Arial"/>
              </a:rPr>
              <a:t>entire </a:t>
            </a:r>
            <a:r>
              <a:rPr dirty="0" sz="1150" spc="-5">
                <a:latin typeface="Arial"/>
                <a:cs typeface="Arial"/>
              </a:rPr>
              <a:t>profit,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20">
                <a:latin typeface="Arial"/>
                <a:cs typeface="Arial"/>
              </a:rPr>
              <a:t>factor </a:t>
            </a:r>
            <a:r>
              <a:rPr dirty="0" sz="1150" spc="-65">
                <a:latin typeface="Arial"/>
                <a:cs typeface="Arial"/>
              </a:rPr>
              <a:t>also encourages </a:t>
            </a:r>
            <a:r>
              <a:rPr dirty="0" sz="1150" spc="-30">
                <a:latin typeface="Arial"/>
                <a:cs typeface="Arial"/>
              </a:rPr>
              <a:t>him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work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40">
                <a:latin typeface="Arial"/>
                <a:cs typeface="Arial"/>
              </a:rPr>
              <a:t>great </a:t>
            </a:r>
            <a:r>
              <a:rPr dirty="0" sz="1150" spc="-35">
                <a:latin typeface="Arial"/>
                <a:cs typeface="Arial"/>
              </a:rPr>
              <a:t>efficiency  which promotes </a:t>
            </a:r>
            <a:r>
              <a:rPr dirty="0" sz="1150" spc="-55">
                <a:latin typeface="Arial"/>
                <a:cs typeface="Arial"/>
              </a:rPr>
              <a:t>his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35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62" y="886767"/>
            <a:ext cx="5513705" cy="4317365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algn="r" marR="6350">
              <a:lnSpc>
                <a:spcPct val="100000"/>
              </a:lnSpc>
              <a:spcBef>
                <a:spcPts val="1275"/>
              </a:spcBef>
            </a:pPr>
            <a:r>
              <a:rPr dirty="0" sz="1750" spc="-5" b="1">
                <a:latin typeface="Arial"/>
                <a:cs typeface="Arial"/>
              </a:rPr>
              <a:t>Lecture</a:t>
            </a:r>
            <a:r>
              <a:rPr dirty="0" sz="1750" spc="-80" b="1">
                <a:latin typeface="Arial"/>
                <a:cs typeface="Arial"/>
              </a:rPr>
              <a:t> </a:t>
            </a:r>
            <a:r>
              <a:rPr dirty="0" sz="1750" spc="-5" b="1">
                <a:latin typeface="Arial"/>
                <a:cs typeface="Arial"/>
              </a:rPr>
              <a:t>4</a:t>
            </a:r>
            <a:endParaRPr sz="17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175"/>
              </a:spcBef>
            </a:pPr>
            <a:r>
              <a:rPr dirty="0" sz="1750" spc="-220" b="1">
                <a:latin typeface="Arial"/>
                <a:cs typeface="Arial"/>
              </a:rPr>
              <a:t>PARTNERSHIP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90" b="1">
                <a:latin typeface="Arial"/>
                <a:cs typeface="Arial"/>
              </a:rPr>
              <a:t>Partnership </a:t>
            </a:r>
            <a:r>
              <a:rPr dirty="0" sz="1350" spc="-100" b="1">
                <a:latin typeface="Arial"/>
                <a:cs typeface="Arial"/>
              </a:rPr>
              <a:t>and </a:t>
            </a:r>
            <a:r>
              <a:rPr dirty="0" sz="1350" spc="-80" b="1">
                <a:latin typeface="Arial"/>
                <a:cs typeface="Arial"/>
              </a:rPr>
              <a:t>its</a:t>
            </a:r>
            <a:r>
              <a:rPr dirty="0" sz="1350" spc="-40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Characteristics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Partnership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second stage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25">
                <a:latin typeface="Arial"/>
                <a:cs typeface="Arial"/>
              </a:rPr>
              <a:t>evolution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forms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75">
                <a:latin typeface="Arial"/>
                <a:cs typeface="Arial"/>
              </a:rPr>
              <a:t>means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association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5">
                <a:latin typeface="Arial"/>
                <a:cs typeface="Arial"/>
              </a:rPr>
              <a:t>two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65">
                <a:latin typeface="Arial"/>
                <a:cs typeface="Arial"/>
              </a:rPr>
              <a:t>persons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carry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45">
                <a:latin typeface="Arial"/>
                <a:cs typeface="Arial"/>
              </a:rPr>
              <a:t>co-owners, </a:t>
            </a:r>
            <a:r>
              <a:rPr dirty="0" sz="1150" spc="-35">
                <a:latin typeface="Arial"/>
                <a:cs typeface="Arial"/>
              </a:rPr>
              <a:t>i.e.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>
                <a:latin typeface="Arial"/>
                <a:cs typeface="Arial"/>
              </a:rPr>
              <a:t>for profit. 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25">
                <a:latin typeface="Arial"/>
                <a:cs typeface="Arial"/>
              </a:rPr>
              <a:t>constitute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individually </a:t>
            </a:r>
            <a:r>
              <a:rPr dirty="0" sz="1150" spc="-25">
                <a:latin typeface="Arial"/>
                <a:cs typeface="Arial"/>
              </a:rPr>
              <a:t>termed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35">
                <a:latin typeface="Arial"/>
                <a:cs typeface="Arial"/>
              </a:rPr>
              <a:t>collectively known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5">
                <a:latin typeface="Arial"/>
                <a:cs typeface="Arial"/>
              </a:rPr>
              <a:t>firm;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name </a:t>
            </a:r>
            <a:r>
              <a:rPr dirty="0" sz="1150" spc="-35">
                <a:latin typeface="Arial"/>
                <a:cs typeface="Arial"/>
              </a:rPr>
              <a:t>under which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conducted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  </a:t>
            </a:r>
            <a:r>
              <a:rPr dirty="0" sz="1150" spc="-40">
                <a:latin typeface="Arial"/>
                <a:cs typeface="Arial"/>
              </a:rPr>
              <a:t>“The </a:t>
            </a:r>
            <a:r>
              <a:rPr dirty="0" sz="1150" spc="-55">
                <a:latin typeface="Arial"/>
                <a:cs typeface="Arial"/>
              </a:rPr>
              <a:t>Firm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Name”.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ordinary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70">
                <a:latin typeface="Arial"/>
                <a:cs typeface="Arial"/>
              </a:rPr>
              <a:t>exceed </a:t>
            </a:r>
            <a:r>
              <a:rPr dirty="0" sz="1150" spc="-50">
                <a:latin typeface="Arial"/>
                <a:cs typeface="Arial"/>
              </a:rPr>
              <a:t>20,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banking 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25">
                <a:latin typeface="Arial"/>
                <a:cs typeface="Arial"/>
              </a:rPr>
              <a:t>nor </a:t>
            </a:r>
            <a:r>
              <a:rPr dirty="0" sz="1150" spc="-75">
                <a:latin typeface="Arial"/>
                <a:cs typeface="Arial"/>
              </a:rPr>
              <a:t>exceed </a:t>
            </a:r>
            <a:r>
              <a:rPr dirty="0" sz="1150" spc="-50">
                <a:latin typeface="Arial"/>
                <a:cs typeface="Arial"/>
              </a:rPr>
              <a:t>10.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30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35">
                <a:latin typeface="Arial"/>
                <a:cs typeface="Arial"/>
              </a:rPr>
              <a:t>popular </a:t>
            </a:r>
            <a:r>
              <a:rPr dirty="0" sz="1150" spc="-20">
                <a:latin typeface="Arial"/>
                <a:cs typeface="Arial"/>
              </a:rPr>
              <a:t>in  </a:t>
            </a:r>
            <a:r>
              <a:rPr dirty="0" sz="1150" spc="-60">
                <a:latin typeface="Arial"/>
                <a:cs typeface="Arial"/>
              </a:rPr>
              <a:t>Pakistan.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95" b="1">
                <a:latin typeface="Arial"/>
                <a:cs typeface="Arial"/>
              </a:rPr>
              <a:t>DEFINITION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469265" algn="l"/>
              </a:tabLst>
            </a:pPr>
            <a:r>
              <a:rPr dirty="0" sz="1150" spc="-35" b="1">
                <a:latin typeface="Arial"/>
                <a:cs typeface="Arial"/>
              </a:rPr>
              <a:t>1.</a:t>
            </a:r>
            <a:r>
              <a:rPr dirty="0" sz="1150" spc="-35">
                <a:latin typeface="Times New Roman"/>
                <a:cs typeface="Times New Roman"/>
              </a:rPr>
              <a:t>	</a:t>
            </a:r>
            <a:r>
              <a:rPr dirty="0" sz="1150" spc="-110" b="1">
                <a:latin typeface="Arial"/>
                <a:cs typeface="Arial"/>
              </a:rPr>
              <a:t>According </a:t>
            </a:r>
            <a:r>
              <a:rPr dirty="0" sz="1150" spc="-40" b="1">
                <a:latin typeface="Arial"/>
                <a:cs typeface="Arial"/>
              </a:rPr>
              <a:t>to </a:t>
            </a:r>
            <a:r>
              <a:rPr dirty="0" sz="1150" spc="-95" b="1">
                <a:latin typeface="Arial"/>
                <a:cs typeface="Arial"/>
              </a:rPr>
              <a:t>Section </a:t>
            </a:r>
            <a:r>
              <a:rPr dirty="0" sz="1150" spc="-60" b="1">
                <a:latin typeface="Arial"/>
                <a:cs typeface="Arial"/>
              </a:rPr>
              <a:t>4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80" b="1">
                <a:latin typeface="Arial"/>
                <a:cs typeface="Arial"/>
              </a:rPr>
              <a:t>Partnership Act,</a:t>
            </a:r>
            <a:r>
              <a:rPr dirty="0" sz="1150" spc="15" b="1">
                <a:latin typeface="Arial"/>
                <a:cs typeface="Arial"/>
              </a:rPr>
              <a:t> </a:t>
            </a:r>
            <a:r>
              <a:rPr dirty="0" sz="1150" spc="-60" b="1">
                <a:latin typeface="Arial"/>
                <a:cs typeface="Arial"/>
              </a:rPr>
              <a:t>1932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469900" marR="42545">
              <a:lnSpc>
                <a:spcPct val="101699"/>
              </a:lnSpc>
            </a:pPr>
            <a:r>
              <a:rPr dirty="0" sz="1150" spc="-35" i="1">
                <a:latin typeface="Arial"/>
                <a:cs typeface="Arial"/>
              </a:rPr>
              <a:t>“Partnership </a:t>
            </a:r>
            <a:r>
              <a:rPr dirty="0" sz="1150" spc="-65" i="1">
                <a:latin typeface="Arial"/>
                <a:cs typeface="Arial"/>
              </a:rPr>
              <a:t>is </a:t>
            </a:r>
            <a:r>
              <a:rPr dirty="0" sz="1150" spc="-30" i="1">
                <a:latin typeface="Arial"/>
                <a:cs typeface="Arial"/>
              </a:rPr>
              <a:t>the </a:t>
            </a:r>
            <a:r>
              <a:rPr dirty="0" sz="1150" spc="-25" i="1">
                <a:latin typeface="Arial"/>
                <a:cs typeface="Arial"/>
              </a:rPr>
              <a:t>relation </a:t>
            </a:r>
            <a:r>
              <a:rPr dirty="0" sz="1150" spc="-50" i="1">
                <a:latin typeface="Arial"/>
                <a:cs typeface="Arial"/>
              </a:rPr>
              <a:t>between </a:t>
            </a:r>
            <a:r>
              <a:rPr dirty="0" sz="1150" spc="-75" i="1">
                <a:latin typeface="Arial"/>
                <a:cs typeface="Arial"/>
              </a:rPr>
              <a:t>persons </a:t>
            </a:r>
            <a:r>
              <a:rPr dirty="0" sz="1150" spc="-40" i="1">
                <a:latin typeface="Arial"/>
                <a:cs typeface="Arial"/>
              </a:rPr>
              <a:t>who </a:t>
            </a:r>
            <a:r>
              <a:rPr dirty="0" sz="1150" spc="-65" i="1">
                <a:latin typeface="Arial"/>
                <a:cs typeface="Arial"/>
              </a:rPr>
              <a:t>have </a:t>
            </a:r>
            <a:r>
              <a:rPr dirty="0" sz="1150" spc="-55" i="1">
                <a:latin typeface="Arial"/>
                <a:cs typeface="Arial"/>
              </a:rPr>
              <a:t>agreed </a:t>
            </a:r>
            <a:r>
              <a:rPr dirty="0" sz="1150" spc="5" i="1">
                <a:latin typeface="Arial"/>
                <a:cs typeface="Arial"/>
              </a:rPr>
              <a:t>to </a:t>
            </a:r>
            <a:r>
              <a:rPr dirty="0" sz="1150" spc="-65" i="1">
                <a:latin typeface="Arial"/>
                <a:cs typeface="Arial"/>
              </a:rPr>
              <a:t>share </a:t>
            </a:r>
            <a:r>
              <a:rPr dirty="0" sz="1150" spc="-30" i="1">
                <a:latin typeface="Arial"/>
                <a:cs typeface="Arial"/>
              </a:rPr>
              <a:t>the </a:t>
            </a:r>
            <a:r>
              <a:rPr dirty="0" sz="1150" spc="-25" i="1">
                <a:latin typeface="Arial"/>
                <a:cs typeface="Arial"/>
              </a:rPr>
              <a:t>profits </a:t>
            </a:r>
            <a:r>
              <a:rPr dirty="0" sz="1150" spc="-15" i="1">
                <a:latin typeface="Arial"/>
                <a:cs typeface="Arial"/>
              </a:rPr>
              <a:t>of  </a:t>
            </a:r>
            <a:r>
              <a:rPr dirty="0" sz="1150" spc="-50" i="1">
                <a:latin typeface="Arial"/>
                <a:cs typeface="Arial"/>
              </a:rPr>
              <a:t>a </a:t>
            </a:r>
            <a:r>
              <a:rPr dirty="0" sz="1150" spc="-80" i="1">
                <a:latin typeface="Arial"/>
                <a:cs typeface="Arial"/>
              </a:rPr>
              <a:t>business </a:t>
            </a:r>
            <a:r>
              <a:rPr dirty="0" sz="1150" spc="-40" i="1">
                <a:latin typeface="Arial"/>
                <a:cs typeface="Arial"/>
              </a:rPr>
              <a:t>carried </a:t>
            </a:r>
            <a:r>
              <a:rPr dirty="0" sz="1150" spc="-55" i="1">
                <a:latin typeface="Arial"/>
                <a:cs typeface="Arial"/>
              </a:rPr>
              <a:t>on </a:t>
            </a:r>
            <a:r>
              <a:rPr dirty="0" sz="1150" spc="-60" i="1">
                <a:latin typeface="Arial"/>
                <a:cs typeface="Arial"/>
              </a:rPr>
              <a:t>by </a:t>
            </a:r>
            <a:r>
              <a:rPr dirty="0" sz="1150" spc="-10" i="1">
                <a:latin typeface="Arial"/>
                <a:cs typeface="Arial"/>
              </a:rPr>
              <a:t>all </a:t>
            </a:r>
            <a:r>
              <a:rPr dirty="0" sz="1150" spc="-25" i="1">
                <a:latin typeface="Arial"/>
                <a:cs typeface="Arial"/>
              </a:rPr>
              <a:t>or </a:t>
            </a:r>
            <a:r>
              <a:rPr dirty="0" sz="1150" spc="-60" i="1">
                <a:latin typeface="Arial"/>
                <a:cs typeface="Arial"/>
              </a:rPr>
              <a:t>any </a:t>
            </a:r>
            <a:r>
              <a:rPr dirty="0" sz="1150" spc="-15" i="1">
                <a:latin typeface="Arial"/>
                <a:cs typeface="Arial"/>
              </a:rPr>
              <a:t>of </a:t>
            </a:r>
            <a:r>
              <a:rPr dirty="0" sz="1150" spc="-35" i="1">
                <a:latin typeface="Arial"/>
                <a:cs typeface="Arial"/>
              </a:rPr>
              <a:t>them acting </a:t>
            </a:r>
            <a:r>
              <a:rPr dirty="0" sz="1150" spc="-10" i="1">
                <a:latin typeface="Arial"/>
                <a:cs typeface="Arial"/>
              </a:rPr>
              <a:t>for</a:t>
            </a:r>
            <a:r>
              <a:rPr dirty="0" sz="1150" spc="-240" i="1">
                <a:latin typeface="Arial"/>
                <a:cs typeface="Arial"/>
              </a:rPr>
              <a:t> </a:t>
            </a:r>
            <a:r>
              <a:rPr dirty="0" sz="1150" i="1">
                <a:latin typeface="Arial"/>
                <a:cs typeface="Arial"/>
              </a:rPr>
              <a:t>all.”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0263" y="5359401"/>
            <a:ext cx="13970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5" b="1">
                <a:latin typeface="Arial"/>
                <a:cs typeface="Arial"/>
              </a:rPr>
              <a:t>2</a:t>
            </a:r>
            <a:r>
              <a:rPr dirty="0" sz="1150" spc="-15" b="1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87471" y="5359401"/>
            <a:ext cx="135953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10" b="1">
                <a:latin typeface="Arial"/>
                <a:cs typeface="Arial"/>
              </a:rPr>
              <a:t>According </a:t>
            </a:r>
            <a:r>
              <a:rPr dirty="0" sz="1150" spc="-40" b="1">
                <a:latin typeface="Arial"/>
                <a:cs typeface="Arial"/>
              </a:rPr>
              <a:t>to </a:t>
            </a:r>
            <a:r>
              <a:rPr dirty="0" sz="1150" spc="-10" b="1">
                <a:latin typeface="Arial"/>
                <a:cs typeface="Arial"/>
              </a:rPr>
              <a:t>Mr.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Kent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87408" y="5716017"/>
            <a:ext cx="4937760" cy="91440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5" i="1">
                <a:latin typeface="Arial"/>
                <a:cs typeface="Arial"/>
              </a:rPr>
              <a:t>“A</a:t>
            </a:r>
            <a:r>
              <a:rPr dirty="0" sz="1150" spc="-50" i="1">
                <a:latin typeface="Arial"/>
                <a:cs typeface="Arial"/>
              </a:rPr>
              <a:t> </a:t>
            </a:r>
            <a:r>
              <a:rPr dirty="0" sz="1150" spc="-30" i="1">
                <a:latin typeface="Arial"/>
                <a:cs typeface="Arial"/>
              </a:rPr>
              <a:t>contract</a:t>
            </a:r>
            <a:r>
              <a:rPr dirty="0" sz="1150" spc="-50" i="1">
                <a:latin typeface="Arial"/>
                <a:cs typeface="Arial"/>
              </a:rPr>
              <a:t> </a:t>
            </a:r>
            <a:r>
              <a:rPr dirty="0" sz="1150" spc="-15" i="1">
                <a:latin typeface="Arial"/>
                <a:cs typeface="Arial"/>
              </a:rPr>
              <a:t>of</a:t>
            </a:r>
            <a:r>
              <a:rPr dirty="0" sz="1150" spc="-60" i="1">
                <a:latin typeface="Arial"/>
                <a:cs typeface="Arial"/>
              </a:rPr>
              <a:t> </a:t>
            </a:r>
            <a:r>
              <a:rPr dirty="0" sz="1150" i="1">
                <a:latin typeface="Arial"/>
                <a:cs typeface="Arial"/>
              </a:rPr>
              <a:t>two</a:t>
            </a:r>
            <a:r>
              <a:rPr dirty="0" sz="1150" spc="-55" i="1">
                <a:latin typeface="Arial"/>
                <a:cs typeface="Arial"/>
              </a:rPr>
              <a:t> </a:t>
            </a:r>
            <a:r>
              <a:rPr dirty="0" sz="1150" spc="-25" i="1">
                <a:latin typeface="Arial"/>
                <a:cs typeface="Arial"/>
              </a:rPr>
              <a:t>or</a:t>
            </a:r>
            <a:r>
              <a:rPr dirty="0" sz="1150" spc="-50" i="1">
                <a:latin typeface="Arial"/>
                <a:cs typeface="Arial"/>
              </a:rPr>
              <a:t> more</a:t>
            </a:r>
            <a:r>
              <a:rPr dirty="0" sz="1150" spc="-55" i="1">
                <a:latin typeface="Arial"/>
                <a:cs typeface="Arial"/>
              </a:rPr>
              <a:t> </a:t>
            </a:r>
            <a:r>
              <a:rPr dirty="0" sz="1150" spc="-45" i="1">
                <a:latin typeface="Arial"/>
                <a:cs typeface="Arial"/>
              </a:rPr>
              <a:t>competent</a:t>
            </a:r>
            <a:r>
              <a:rPr dirty="0" sz="1150" spc="-55" i="1">
                <a:latin typeface="Arial"/>
                <a:cs typeface="Arial"/>
              </a:rPr>
              <a:t> </a:t>
            </a:r>
            <a:r>
              <a:rPr dirty="0" sz="1150" spc="-75" i="1">
                <a:latin typeface="Arial"/>
                <a:cs typeface="Arial"/>
              </a:rPr>
              <a:t>persons</a:t>
            </a:r>
            <a:r>
              <a:rPr dirty="0" sz="1150" spc="-55" i="1">
                <a:latin typeface="Arial"/>
                <a:cs typeface="Arial"/>
              </a:rPr>
              <a:t> </a:t>
            </a:r>
            <a:r>
              <a:rPr dirty="0" sz="1150" spc="5" i="1">
                <a:latin typeface="Arial"/>
                <a:cs typeface="Arial"/>
              </a:rPr>
              <a:t>to</a:t>
            </a:r>
            <a:r>
              <a:rPr dirty="0" sz="1150" spc="-60" i="1">
                <a:latin typeface="Arial"/>
                <a:cs typeface="Arial"/>
              </a:rPr>
              <a:t> place</a:t>
            </a:r>
            <a:r>
              <a:rPr dirty="0" sz="1150" spc="-50" i="1">
                <a:latin typeface="Arial"/>
                <a:cs typeface="Arial"/>
              </a:rPr>
              <a:t> </a:t>
            </a:r>
            <a:r>
              <a:rPr dirty="0" sz="1150" spc="-15" i="1">
                <a:latin typeface="Arial"/>
                <a:cs typeface="Arial"/>
              </a:rPr>
              <a:t>their</a:t>
            </a:r>
            <a:r>
              <a:rPr dirty="0" sz="1150" spc="-50" i="1">
                <a:latin typeface="Arial"/>
                <a:cs typeface="Arial"/>
              </a:rPr>
              <a:t> </a:t>
            </a:r>
            <a:r>
              <a:rPr dirty="0" sz="1150" spc="-60" i="1">
                <a:latin typeface="Arial"/>
                <a:cs typeface="Arial"/>
              </a:rPr>
              <a:t>money,</a:t>
            </a:r>
            <a:r>
              <a:rPr dirty="0" sz="1150" spc="-55" i="1">
                <a:latin typeface="Arial"/>
                <a:cs typeface="Arial"/>
              </a:rPr>
              <a:t> </a:t>
            </a:r>
            <a:r>
              <a:rPr dirty="0" sz="1150" spc="-25" i="1">
                <a:latin typeface="Arial"/>
                <a:cs typeface="Arial"/>
              </a:rPr>
              <a:t>efforts,</a:t>
            </a:r>
            <a:r>
              <a:rPr dirty="0" sz="1150" spc="-50" i="1">
                <a:latin typeface="Arial"/>
                <a:cs typeface="Arial"/>
              </a:rPr>
              <a:t> </a:t>
            </a:r>
            <a:r>
              <a:rPr dirty="0" sz="1150" spc="-35" i="1">
                <a:latin typeface="Arial"/>
                <a:cs typeface="Arial"/>
              </a:rPr>
              <a:t>labour  </a:t>
            </a:r>
            <a:r>
              <a:rPr dirty="0" sz="1150" spc="-55" i="1">
                <a:latin typeface="Arial"/>
                <a:cs typeface="Arial"/>
              </a:rPr>
              <a:t>and </a:t>
            </a:r>
            <a:r>
              <a:rPr dirty="0" sz="1150" spc="-50" i="1">
                <a:latin typeface="Arial"/>
                <a:cs typeface="Arial"/>
              </a:rPr>
              <a:t>skills, </a:t>
            </a:r>
            <a:r>
              <a:rPr dirty="0" sz="1150" spc="-85" i="1">
                <a:latin typeface="Arial"/>
                <a:cs typeface="Arial"/>
              </a:rPr>
              <a:t>some </a:t>
            </a:r>
            <a:r>
              <a:rPr dirty="0" sz="1150" spc="-25" i="1">
                <a:latin typeface="Arial"/>
                <a:cs typeface="Arial"/>
              </a:rPr>
              <a:t>or </a:t>
            </a:r>
            <a:r>
              <a:rPr dirty="0" sz="1150" spc="-15" i="1">
                <a:latin typeface="Arial"/>
                <a:cs typeface="Arial"/>
              </a:rPr>
              <a:t>all of </a:t>
            </a:r>
            <a:r>
              <a:rPr dirty="0" sz="1150" spc="-35" i="1">
                <a:latin typeface="Arial"/>
                <a:cs typeface="Arial"/>
              </a:rPr>
              <a:t>them, </a:t>
            </a:r>
            <a:r>
              <a:rPr dirty="0" sz="1150" spc="-25" i="1">
                <a:latin typeface="Arial"/>
                <a:cs typeface="Arial"/>
              </a:rPr>
              <a:t>in </a:t>
            </a:r>
            <a:r>
              <a:rPr dirty="0" sz="1150" spc="-50" i="1">
                <a:latin typeface="Arial"/>
                <a:cs typeface="Arial"/>
              </a:rPr>
              <a:t>a </a:t>
            </a:r>
            <a:r>
              <a:rPr dirty="0" sz="1150" spc="-15" i="1">
                <a:latin typeface="Arial"/>
                <a:cs typeface="Arial"/>
              </a:rPr>
              <a:t>lawful </a:t>
            </a:r>
            <a:r>
              <a:rPr dirty="0" sz="1150" spc="-70" i="1">
                <a:latin typeface="Arial"/>
                <a:cs typeface="Arial"/>
              </a:rPr>
              <a:t>commerce </a:t>
            </a:r>
            <a:r>
              <a:rPr dirty="0" sz="1150" spc="-25" i="1">
                <a:latin typeface="Arial"/>
                <a:cs typeface="Arial"/>
              </a:rPr>
              <a:t>or </a:t>
            </a:r>
            <a:r>
              <a:rPr dirty="0" sz="1150" spc="-80" i="1">
                <a:latin typeface="Arial"/>
                <a:cs typeface="Arial"/>
              </a:rPr>
              <a:t>business </a:t>
            </a:r>
            <a:r>
              <a:rPr dirty="0" sz="1150" spc="-55" i="1">
                <a:latin typeface="Arial"/>
                <a:cs typeface="Arial"/>
              </a:rPr>
              <a:t>and </a:t>
            </a:r>
            <a:r>
              <a:rPr dirty="0" sz="1150" spc="5" i="1">
                <a:latin typeface="Arial"/>
                <a:cs typeface="Arial"/>
              </a:rPr>
              <a:t>to </a:t>
            </a:r>
            <a:r>
              <a:rPr dirty="0" sz="1150" spc="-45" i="1">
                <a:latin typeface="Arial"/>
                <a:cs typeface="Arial"/>
              </a:rPr>
              <a:t>divide </a:t>
            </a:r>
            <a:r>
              <a:rPr dirty="0" sz="1150" spc="-30" i="1">
                <a:latin typeface="Arial"/>
                <a:cs typeface="Arial"/>
              </a:rPr>
              <a:t>the  </a:t>
            </a:r>
            <a:r>
              <a:rPr dirty="0" sz="1150" spc="-20" i="1">
                <a:latin typeface="Arial"/>
                <a:cs typeface="Arial"/>
              </a:rPr>
              <a:t>profits </a:t>
            </a:r>
            <a:r>
              <a:rPr dirty="0" sz="1150" spc="-55" i="1">
                <a:latin typeface="Arial"/>
                <a:cs typeface="Arial"/>
              </a:rPr>
              <a:t>and </a:t>
            </a:r>
            <a:r>
              <a:rPr dirty="0" sz="1150" spc="-50" i="1">
                <a:latin typeface="Arial"/>
                <a:cs typeface="Arial"/>
              </a:rPr>
              <a:t>bear </a:t>
            </a:r>
            <a:r>
              <a:rPr dirty="0" sz="1150" spc="-30" i="1">
                <a:latin typeface="Arial"/>
                <a:cs typeface="Arial"/>
              </a:rPr>
              <a:t>the </a:t>
            </a:r>
            <a:r>
              <a:rPr dirty="0" sz="1150" spc="-90" i="1">
                <a:latin typeface="Arial"/>
                <a:cs typeface="Arial"/>
              </a:rPr>
              <a:t>losses </a:t>
            </a:r>
            <a:r>
              <a:rPr dirty="0" sz="1150" spc="-25" i="1">
                <a:latin typeface="Arial"/>
                <a:cs typeface="Arial"/>
              </a:rPr>
              <a:t>in </a:t>
            </a:r>
            <a:r>
              <a:rPr dirty="0" sz="1150" spc="-35" i="1">
                <a:latin typeface="Arial"/>
                <a:cs typeface="Arial"/>
              </a:rPr>
              <a:t>certain</a:t>
            </a:r>
            <a:r>
              <a:rPr dirty="0" sz="1150" spc="-145" i="1">
                <a:latin typeface="Arial"/>
                <a:cs typeface="Arial"/>
              </a:rPr>
              <a:t> </a:t>
            </a:r>
            <a:r>
              <a:rPr dirty="0" sz="1150" spc="-15" i="1">
                <a:latin typeface="Arial"/>
                <a:cs typeface="Arial"/>
              </a:rPr>
              <a:t>proportion.”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384300">
              <a:lnSpc>
                <a:spcPct val="100000"/>
              </a:lnSpc>
            </a:pPr>
            <a:r>
              <a:rPr dirty="0" sz="1150" spc="-75" b="1">
                <a:latin typeface="Arial"/>
                <a:cs typeface="Arial"/>
              </a:rPr>
              <a:t>Structural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Diagram: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69724" y="7582916"/>
            <a:ext cx="87312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50" b="1">
                <a:latin typeface="Arial"/>
                <a:cs typeface="Arial"/>
              </a:rPr>
              <a:t>PARTNERSHIP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70275" y="6867144"/>
            <a:ext cx="1259205" cy="368935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 marL="288925">
              <a:lnSpc>
                <a:spcPct val="100000"/>
              </a:lnSpc>
              <a:spcBef>
                <a:spcPts val="335"/>
              </a:spcBef>
            </a:pPr>
            <a:r>
              <a:rPr dirty="0" sz="1150" spc="-55">
                <a:latin typeface="Arial"/>
                <a:cs typeface="Arial"/>
              </a:rPr>
              <a:t>Association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84375" y="7502652"/>
            <a:ext cx="1030605" cy="460375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335"/>
              </a:spcBef>
            </a:pPr>
            <a:r>
              <a:rPr dirty="0" sz="1150" spc="-15">
                <a:latin typeface="Arial"/>
                <a:cs typeface="Arial"/>
              </a:rPr>
              <a:t>Profit </a:t>
            </a:r>
            <a:r>
              <a:rPr dirty="0" sz="1150" spc="15">
                <a:latin typeface="Arial"/>
                <a:cs typeface="Arial"/>
              </a:rPr>
              <a:t>&amp;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114">
                <a:latin typeface="Arial"/>
                <a:cs typeface="Arial"/>
              </a:rPr>
              <a:t>Loss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99076" y="7502652"/>
            <a:ext cx="1259205" cy="460375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97155" marR="210820">
              <a:lnSpc>
                <a:spcPct val="101699"/>
              </a:lnSpc>
              <a:spcBef>
                <a:spcPts val="315"/>
              </a:spcBef>
            </a:pPr>
            <a:r>
              <a:rPr dirty="0" sz="1150" spc="-35">
                <a:latin typeface="Arial"/>
                <a:cs typeface="Arial"/>
              </a:rPr>
              <a:t>Money, </a:t>
            </a:r>
            <a:r>
              <a:rPr dirty="0" sz="1150" spc="-60">
                <a:latin typeface="Arial"/>
                <a:cs typeface="Arial"/>
              </a:rPr>
              <a:t>Labour  And </a:t>
            </a:r>
            <a:r>
              <a:rPr dirty="0" sz="1150" spc="-35">
                <a:latin typeface="Arial"/>
                <a:cs typeface="Arial"/>
              </a:rPr>
              <a:t>Other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Skills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90087" y="8532876"/>
            <a:ext cx="1259205" cy="344805"/>
          </a:xfrm>
          <a:prstGeom prst="rect">
            <a:avLst/>
          </a:prstGeom>
          <a:ln w="6349">
            <a:solidFill>
              <a:srgbClr val="000000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 marL="161290">
              <a:lnSpc>
                <a:spcPct val="100000"/>
              </a:lnSpc>
              <a:spcBef>
                <a:spcPts val="335"/>
              </a:spcBef>
            </a:pPr>
            <a:r>
              <a:rPr dirty="0" sz="1150" spc="-45">
                <a:latin typeface="Arial"/>
                <a:cs typeface="Arial"/>
              </a:rPr>
              <a:t>Lawful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Business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938420" y="6917435"/>
            <a:ext cx="919480" cy="609600"/>
            <a:chOff x="1938420" y="6917435"/>
            <a:chExt cx="919480" cy="609600"/>
          </a:xfrm>
        </p:grpSpPr>
        <p:sp>
          <p:nvSpPr>
            <p:cNvPr id="15" name="object 15"/>
            <p:cNvSpPr/>
            <p:nvPr/>
          </p:nvSpPr>
          <p:spPr>
            <a:xfrm>
              <a:off x="1943100" y="6955536"/>
              <a:ext cx="0" cy="571500"/>
            </a:xfrm>
            <a:custGeom>
              <a:avLst/>
              <a:gdLst/>
              <a:ahLst/>
              <a:cxnLst/>
              <a:rect l="l" t="t" r="r" b="b"/>
              <a:pathLst>
                <a:path w="0" h="571500">
                  <a:moveTo>
                    <a:pt x="0" y="571499"/>
                  </a:moveTo>
                  <a:lnTo>
                    <a:pt x="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938528" y="6917435"/>
              <a:ext cx="919480" cy="76200"/>
            </a:xfrm>
            <a:custGeom>
              <a:avLst/>
              <a:gdLst/>
              <a:ahLst/>
              <a:cxnLst/>
              <a:rect l="l" t="t" r="r" b="b"/>
              <a:pathLst>
                <a:path w="919480" h="76200">
                  <a:moveTo>
                    <a:pt x="842772" y="0"/>
                  </a:moveTo>
                  <a:lnTo>
                    <a:pt x="842772" y="76200"/>
                  </a:lnTo>
                  <a:lnTo>
                    <a:pt x="909828" y="42672"/>
                  </a:lnTo>
                  <a:lnTo>
                    <a:pt x="854964" y="42672"/>
                  </a:lnTo>
                  <a:lnTo>
                    <a:pt x="859536" y="41148"/>
                  </a:lnTo>
                  <a:lnTo>
                    <a:pt x="859536" y="35052"/>
                  </a:lnTo>
                  <a:lnTo>
                    <a:pt x="854964" y="33528"/>
                  </a:lnTo>
                  <a:lnTo>
                    <a:pt x="909828" y="33528"/>
                  </a:lnTo>
                  <a:lnTo>
                    <a:pt x="842772" y="0"/>
                  </a:lnTo>
                  <a:close/>
                </a:path>
                <a:path w="919480" h="76200">
                  <a:moveTo>
                    <a:pt x="842772" y="33528"/>
                  </a:moveTo>
                  <a:lnTo>
                    <a:pt x="4572" y="33528"/>
                  </a:lnTo>
                  <a:lnTo>
                    <a:pt x="1524" y="35052"/>
                  </a:lnTo>
                  <a:lnTo>
                    <a:pt x="0" y="38100"/>
                  </a:lnTo>
                  <a:lnTo>
                    <a:pt x="1524" y="41148"/>
                  </a:lnTo>
                  <a:lnTo>
                    <a:pt x="4572" y="42672"/>
                  </a:lnTo>
                  <a:lnTo>
                    <a:pt x="842772" y="42672"/>
                  </a:lnTo>
                  <a:lnTo>
                    <a:pt x="842772" y="33528"/>
                  </a:lnTo>
                  <a:close/>
                </a:path>
                <a:path w="919480" h="76200">
                  <a:moveTo>
                    <a:pt x="909828" y="33528"/>
                  </a:moveTo>
                  <a:lnTo>
                    <a:pt x="854964" y="33528"/>
                  </a:lnTo>
                  <a:lnTo>
                    <a:pt x="859536" y="35052"/>
                  </a:lnTo>
                  <a:lnTo>
                    <a:pt x="859536" y="41148"/>
                  </a:lnTo>
                  <a:lnTo>
                    <a:pt x="854964" y="42672"/>
                  </a:lnTo>
                  <a:lnTo>
                    <a:pt x="909828" y="42672"/>
                  </a:lnTo>
                  <a:lnTo>
                    <a:pt x="918972" y="38100"/>
                  </a:lnTo>
                  <a:lnTo>
                    <a:pt x="909828" y="33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1905000" y="8023859"/>
            <a:ext cx="1066800" cy="706120"/>
            <a:chOff x="1905000" y="8023859"/>
            <a:chExt cx="1066800" cy="706120"/>
          </a:xfrm>
        </p:grpSpPr>
        <p:sp>
          <p:nvSpPr>
            <p:cNvPr id="18" name="object 18"/>
            <p:cNvSpPr/>
            <p:nvPr/>
          </p:nvSpPr>
          <p:spPr>
            <a:xfrm>
              <a:off x="1943099" y="8724899"/>
              <a:ext cx="1028700" cy="0"/>
            </a:xfrm>
            <a:custGeom>
              <a:avLst/>
              <a:gdLst/>
              <a:ahLst/>
              <a:cxnLst/>
              <a:rect l="l" t="t" r="r" b="b"/>
              <a:pathLst>
                <a:path w="1028700" h="0">
                  <a:moveTo>
                    <a:pt x="1028699" y="0"/>
                  </a:moveTo>
                  <a:lnTo>
                    <a:pt x="0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905000" y="8023859"/>
              <a:ext cx="76200" cy="690880"/>
            </a:xfrm>
            <a:custGeom>
              <a:avLst/>
              <a:gdLst/>
              <a:ahLst/>
              <a:cxnLst/>
              <a:rect l="l" t="t" r="r" b="b"/>
              <a:pathLst>
                <a:path w="76200" h="690879">
                  <a:moveTo>
                    <a:pt x="38100" y="57912"/>
                  </a:moveTo>
                  <a:lnTo>
                    <a:pt x="35052" y="59436"/>
                  </a:lnTo>
                  <a:lnTo>
                    <a:pt x="33528" y="62484"/>
                  </a:lnTo>
                  <a:lnTo>
                    <a:pt x="33528" y="685800"/>
                  </a:lnTo>
                  <a:lnTo>
                    <a:pt x="35052" y="688848"/>
                  </a:lnTo>
                  <a:lnTo>
                    <a:pt x="38100" y="690372"/>
                  </a:lnTo>
                  <a:lnTo>
                    <a:pt x="41148" y="688848"/>
                  </a:lnTo>
                  <a:lnTo>
                    <a:pt x="42672" y="685800"/>
                  </a:lnTo>
                  <a:lnTo>
                    <a:pt x="42672" y="62484"/>
                  </a:lnTo>
                  <a:lnTo>
                    <a:pt x="41148" y="59436"/>
                  </a:lnTo>
                  <a:lnTo>
                    <a:pt x="38100" y="57912"/>
                  </a:lnTo>
                  <a:close/>
                </a:path>
                <a:path w="76200" h="690879">
                  <a:moveTo>
                    <a:pt x="38100" y="0"/>
                  </a:moveTo>
                  <a:lnTo>
                    <a:pt x="0" y="76200"/>
                  </a:lnTo>
                  <a:lnTo>
                    <a:pt x="33528" y="76200"/>
                  </a:lnTo>
                  <a:lnTo>
                    <a:pt x="33528" y="62484"/>
                  </a:lnTo>
                  <a:lnTo>
                    <a:pt x="35052" y="59436"/>
                  </a:lnTo>
                  <a:lnTo>
                    <a:pt x="38100" y="57912"/>
                  </a:lnTo>
                  <a:lnTo>
                    <a:pt x="67056" y="57912"/>
                  </a:lnTo>
                  <a:lnTo>
                    <a:pt x="38100" y="0"/>
                  </a:lnTo>
                  <a:close/>
                </a:path>
                <a:path w="76200" h="690879">
                  <a:moveTo>
                    <a:pt x="67056" y="57912"/>
                  </a:moveTo>
                  <a:lnTo>
                    <a:pt x="38100" y="57912"/>
                  </a:lnTo>
                  <a:lnTo>
                    <a:pt x="41148" y="59436"/>
                  </a:lnTo>
                  <a:lnTo>
                    <a:pt x="42672" y="62484"/>
                  </a:lnTo>
                  <a:lnTo>
                    <a:pt x="42672" y="76200"/>
                  </a:lnTo>
                  <a:lnTo>
                    <a:pt x="76200" y="76200"/>
                  </a:lnTo>
                  <a:lnTo>
                    <a:pt x="67056" y="579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4343400" y="7936992"/>
            <a:ext cx="1033780" cy="836930"/>
            <a:chOff x="4343400" y="7936992"/>
            <a:chExt cx="1033780" cy="836930"/>
          </a:xfrm>
        </p:grpSpPr>
        <p:sp>
          <p:nvSpPr>
            <p:cNvPr id="21" name="object 21"/>
            <p:cNvSpPr/>
            <p:nvPr/>
          </p:nvSpPr>
          <p:spPr>
            <a:xfrm>
              <a:off x="5372099" y="7936992"/>
              <a:ext cx="0" cy="800100"/>
            </a:xfrm>
            <a:custGeom>
              <a:avLst/>
              <a:gdLst/>
              <a:ahLst/>
              <a:cxnLst/>
              <a:rect l="l" t="t" r="r" b="b"/>
              <a:pathLst>
                <a:path w="0" h="800100">
                  <a:moveTo>
                    <a:pt x="0" y="0"/>
                  </a:moveTo>
                  <a:lnTo>
                    <a:pt x="0" y="800099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343400" y="8697468"/>
              <a:ext cx="1033780" cy="76200"/>
            </a:xfrm>
            <a:custGeom>
              <a:avLst/>
              <a:gdLst/>
              <a:ahLst/>
              <a:cxnLst/>
              <a:rect l="l" t="t" r="r" b="b"/>
              <a:pathLst>
                <a:path w="1033779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2672"/>
                  </a:lnTo>
                  <a:lnTo>
                    <a:pt x="64008" y="42672"/>
                  </a:lnTo>
                  <a:lnTo>
                    <a:pt x="59436" y="41148"/>
                  </a:lnTo>
                  <a:lnTo>
                    <a:pt x="59436" y="33528"/>
                  </a:lnTo>
                  <a:lnTo>
                    <a:pt x="76200" y="33528"/>
                  </a:lnTo>
                  <a:lnTo>
                    <a:pt x="76200" y="0"/>
                  </a:lnTo>
                  <a:close/>
                </a:path>
                <a:path w="1033779" h="76200">
                  <a:moveTo>
                    <a:pt x="76200" y="33528"/>
                  </a:moveTo>
                  <a:lnTo>
                    <a:pt x="59436" y="33528"/>
                  </a:lnTo>
                  <a:lnTo>
                    <a:pt x="59436" y="41148"/>
                  </a:lnTo>
                  <a:lnTo>
                    <a:pt x="64008" y="42672"/>
                  </a:lnTo>
                  <a:lnTo>
                    <a:pt x="76200" y="42672"/>
                  </a:lnTo>
                  <a:lnTo>
                    <a:pt x="76200" y="33528"/>
                  </a:lnTo>
                  <a:close/>
                </a:path>
                <a:path w="1033779" h="76200">
                  <a:moveTo>
                    <a:pt x="1031748" y="33528"/>
                  </a:moveTo>
                  <a:lnTo>
                    <a:pt x="76200" y="33528"/>
                  </a:lnTo>
                  <a:lnTo>
                    <a:pt x="76200" y="42672"/>
                  </a:lnTo>
                  <a:lnTo>
                    <a:pt x="1028700" y="42672"/>
                  </a:lnTo>
                  <a:lnTo>
                    <a:pt x="1031748" y="41148"/>
                  </a:lnTo>
                  <a:lnTo>
                    <a:pt x="1033272" y="38100"/>
                  </a:lnTo>
                  <a:lnTo>
                    <a:pt x="1031748" y="33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4229100" y="6950856"/>
            <a:ext cx="1181100" cy="462280"/>
            <a:chOff x="4229100" y="6950856"/>
            <a:chExt cx="1181100" cy="462280"/>
          </a:xfrm>
        </p:grpSpPr>
        <p:sp>
          <p:nvSpPr>
            <p:cNvPr id="24" name="object 24"/>
            <p:cNvSpPr/>
            <p:nvPr/>
          </p:nvSpPr>
          <p:spPr>
            <a:xfrm>
              <a:off x="4229100" y="6955536"/>
              <a:ext cx="1143000" cy="0"/>
            </a:xfrm>
            <a:custGeom>
              <a:avLst/>
              <a:gdLst/>
              <a:ahLst/>
              <a:cxnLst/>
              <a:rect l="l" t="t" r="r" b="b"/>
              <a:pathLst>
                <a:path w="1143000" h="0">
                  <a:moveTo>
                    <a:pt x="0" y="0"/>
                  </a:moveTo>
                  <a:lnTo>
                    <a:pt x="1142999" y="0"/>
                  </a:lnTo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334000" y="6950964"/>
              <a:ext cx="76200" cy="462280"/>
            </a:xfrm>
            <a:custGeom>
              <a:avLst/>
              <a:gdLst/>
              <a:ahLst/>
              <a:cxnLst/>
              <a:rect l="l" t="t" r="r" b="b"/>
              <a:pathLst>
                <a:path w="76200" h="462279">
                  <a:moveTo>
                    <a:pt x="33528" y="385572"/>
                  </a:moveTo>
                  <a:lnTo>
                    <a:pt x="0" y="385572"/>
                  </a:lnTo>
                  <a:lnTo>
                    <a:pt x="38100" y="461772"/>
                  </a:lnTo>
                  <a:lnTo>
                    <a:pt x="67818" y="402336"/>
                  </a:lnTo>
                  <a:lnTo>
                    <a:pt x="38100" y="402336"/>
                  </a:lnTo>
                  <a:lnTo>
                    <a:pt x="35052" y="400812"/>
                  </a:lnTo>
                  <a:lnTo>
                    <a:pt x="33528" y="397764"/>
                  </a:lnTo>
                  <a:lnTo>
                    <a:pt x="33528" y="385572"/>
                  </a:lnTo>
                  <a:close/>
                </a:path>
                <a:path w="76200" h="462279">
                  <a:moveTo>
                    <a:pt x="38100" y="0"/>
                  </a:moveTo>
                  <a:lnTo>
                    <a:pt x="35052" y="1524"/>
                  </a:lnTo>
                  <a:lnTo>
                    <a:pt x="33528" y="4572"/>
                  </a:lnTo>
                  <a:lnTo>
                    <a:pt x="33528" y="397764"/>
                  </a:lnTo>
                  <a:lnTo>
                    <a:pt x="35052" y="400812"/>
                  </a:lnTo>
                  <a:lnTo>
                    <a:pt x="38100" y="402336"/>
                  </a:lnTo>
                  <a:lnTo>
                    <a:pt x="41148" y="400812"/>
                  </a:lnTo>
                  <a:lnTo>
                    <a:pt x="42672" y="397764"/>
                  </a:lnTo>
                  <a:lnTo>
                    <a:pt x="42672" y="4572"/>
                  </a:lnTo>
                  <a:lnTo>
                    <a:pt x="41148" y="1524"/>
                  </a:lnTo>
                  <a:lnTo>
                    <a:pt x="38100" y="0"/>
                  </a:lnTo>
                  <a:close/>
                </a:path>
                <a:path w="76200" h="462279">
                  <a:moveTo>
                    <a:pt x="76200" y="385572"/>
                  </a:moveTo>
                  <a:lnTo>
                    <a:pt x="42672" y="385572"/>
                  </a:lnTo>
                  <a:lnTo>
                    <a:pt x="42672" y="397764"/>
                  </a:lnTo>
                  <a:lnTo>
                    <a:pt x="41148" y="400812"/>
                  </a:lnTo>
                  <a:lnTo>
                    <a:pt x="38100" y="402336"/>
                  </a:lnTo>
                  <a:lnTo>
                    <a:pt x="67818" y="402336"/>
                  </a:lnTo>
                  <a:lnTo>
                    <a:pt x="76200" y="385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36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070" cy="75425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85" b="1">
                <a:latin typeface="Arial"/>
                <a:cs typeface="Arial"/>
              </a:rPr>
              <a:t>CHARACTERISTICS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main </a:t>
            </a:r>
            <a:r>
              <a:rPr dirty="0" sz="1150" spc="-45">
                <a:latin typeface="Arial"/>
                <a:cs typeface="Arial"/>
              </a:rPr>
              <a:t>characteristics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partnership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0">
                <a:latin typeface="Arial"/>
                <a:cs typeface="Arial"/>
              </a:rPr>
              <a:t>narrated </a:t>
            </a:r>
            <a:r>
              <a:rPr dirty="0" sz="1150" spc="-110">
                <a:latin typeface="Arial"/>
                <a:cs typeface="Arial"/>
              </a:rPr>
              <a:t>as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under: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dirty="0" sz="1150" spc="-80" b="1">
                <a:latin typeface="Arial"/>
                <a:cs typeface="Arial"/>
              </a:rPr>
              <a:t>Agreement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Agreement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75">
                <a:latin typeface="Arial"/>
                <a:cs typeface="Arial"/>
              </a:rPr>
              <a:t>necessary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5">
                <a:latin typeface="Arial"/>
                <a:cs typeface="Arial"/>
              </a:rPr>
              <a:t>partnership. </a:t>
            </a:r>
            <a:r>
              <a:rPr dirty="0" sz="1150" spc="-45">
                <a:latin typeface="Arial"/>
                <a:cs typeface="Arial"/>
              </a:rPr>
              <a:t>Partnership agreement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>
                <a:latin typeface="Arial"/>
                <a:cs typeface="Arial"/>
              </a:rPr>
              <a:t>written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oral.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is  </a:t>
            </a:r>
            <a:r>
              <a:rPr dirty="0" sz="1150" spc="-10">
                <a:latin typeface="Arial"/>
                <a:cs typeface="Arial"/>
              </a:rPr>
              <a:t>better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agreement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written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form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settle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disputes.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1150" spc="-70" b="1">
                <a:latin typeface="Arial"/>
                <a:cs typeface="Arial"/>
              </a:rPr>
              <a:t>Audit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</a:pP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30">
                <a:latin typeface="Arial"/>
                <a:cs typeface="Arial"/>
              </a:rPr>
              <a:t>partnership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40">
                <a:latin typeface="Arial"/>
                <a:cs typeface="Arial"/>
              </a:rPr>
              <a:t>registered,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55">
                <a:latin typeface="Arial"/>
                <a:cs typeface="Arial"/>
              </a:rPr>
              <a:t>legal </a:t>
            </a:r>
            <a:r>
              <a:rPr dirty="0" sz="1150" spc="-15">
                <a:latin typeface="Arial"/>
                <a:cs typeface="Arial"/>
              </a:rPr>
              <a:t>entity. </a:t>
            </a:r>
            <a:r>
              <a:rPr dirty="0" sz="1150" spc="-140">
                <a:latin typeface="Arial"/>
                <a:cs typeface="Arial"/>
              </a:rPr>
              <a:t>So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20">
                <a:latin typeface="Arial"/>
                <a:cs typeface="Arial"/>
              </a:rPr>
              <a:t>restriction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audit 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accounts.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150" spc="-85" b="1">
                <a:latin typeface="Arial"/>
                <a:cs typeface="Arial"/>
              </a:rPr>
              <a:t>Agent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3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partnership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20">
                <a:latin typeface="Arial"/>
                <a:cs typeface="Arial"/>
              </a:rPr>
              <a:t>partner </a:t>
            </a:r>
            <a:r>
              <a:rPr dirty="0" sz="1150" spc="-60">
                <a:latin typeface="Arial"/>
                <a:cs typeface="Arial"/>
              </a:rPr>
              <a:t>acts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50">
                <a:latin typeface="Arial"/>
                <a:cs typeface="Arial"/>
              </a:rPr>
              <a:t>agent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another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partner.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4"/>
              <a:tabLst>
                <a:tab pos="469265" algn="l"/>
                <a:tab pos="469900" algn="l"/>
              </a:tabLst>
            </a:pPr>
            <a:r>
              <a:rPr dirty="0" sz="1150" spc="-130" b="1">
                <a:latin typeface="Arial"/>
                <a:cs typeface="Arial"/>
              </a:rPr>
              <a:t>Business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4"/>
            </a:pPr>
            <a:endParaRPr sz="1200">
              <a:latin typeface="Arial"/>
              <a:cs typeface="Arial"/>
            </a:endParaRPr>
          </a:p>
          <a:p>
            <a:pPr marL="12700" marR="6985">
              <a:lnSpc>
                <a:spcPct val="101699"/>
              </a:lnSpc>
              <a:spcBef>
                <a:spcPts val="5"/>
              </a:spcBef>
            </a:pPr>
            <a:r>
              <a:rPr dirty="0" sz="1150" spc="-45">
                <a:latin typeface="Arial"/>
                <a:cs typeface="Arial"/>
              </a:rPr>
              <a:t>Partnership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5">
                <a:latin typeface="Arial"/>
                <a:cs typeface="Arial"/>
              </a:rPr>
              <a:t>unit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is always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>
                <a:latin typeface="Arial"/>
                <a:cs typeface="Arial"/>
              </a:rPr>
              <a:t>profit.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40">
                <a:latin typeface="Arial"/>
                <a:cs typeface="Arial"/>
              </a:rPr>
              <a:t>include club </a:t>
            </a:r>
            <a:r>
              <a:rPr dirty="0" sz="1150" spc="-10">
                <a:latin typeface="Arial"/>
                <a:cs typeface="Arial"/>
              </a:rPr>
              <a:t>or  </a:t>
            </a:r>
            <a:r>
              <a:rPr dirty="0" sz="1150" spc="-35">
                <a:latin typeface="Arial"/>
                <a:cs typeface="Arial"/>
              </a:rPr>
              <a:t>charitable </a:t>
            </a:r>
            <a:r>
              <a:rPr dirty="0" sz="1150" spc="-30">
                <a:latin typeface="Arial"/>
                <a:cs typeface="Arial"/>
              </a:rPr>
              <a:t>trusts, </a:t>
            </a:r>
            <a:r>
              <a:rPr dirty="0" sz="1150" spc="-45">
                <a:latin typeface="Arial"/>
                <a:cs typeface="Arial"/>
              </a:rPr>
              <a:t>set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welfare.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5"/>
              <a:tabLst>
                <a:tab pos="469265" algn="l"/>
                <a:tab pos="469900" algn="l"/>
              </a:tabLst>
            </a:pPr>
            <a:r>
              <a:rPr dirty="0" sz="1150" spc="-80" b="1">
                <a:latin typeface="Arial"/>
                <a:cs typeface="Arial"/>
              </a:rPr>
              <a:t>Cooperation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5"/>
            </a:pPr>
            <a:endParaRPr sz="1200">
              <a:latin typeface="Arial"/>
              <a:cs typeface="Arial"/>
            </a:endParaRPr>
          </a:p>
          <a:p>
            <a:pPr marL="12700" marR="698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partnership </a:t>
            </a:r>
            <a:r>
              <a:rPr dirty="0" sz="1150" spc="-25">
                <a:latin typeface="Arial"/>
                <a:cs typeface="Arial"/>
              </a:rPr>
              <a:t>mutual </a:t>
            </a:r>
            <a:r>
              <a:rPr dirty="0" sz="1150" spc="-30">
                <a:latin typeface="Arial"/>
                <a:cs typeface="Arial"/>
              </a:rPr>
              <a:t>cooperation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mutual </a:t>
            </a:r>
            <a:r>
              <a:rPr dirty="0" sz="1150" spc="-45">
                <a:latin typeface="Arial"/>
                <a:cs typeface="Arial"/>
              </a:rPr>
              <a:t>confidence 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10">
                <a:latin typeface="Arial"/>
                <a:cs typeface="Arial"/>
              </a:rPr>
              <a:t>important </a:t>
            </a:r>
            <a:r>
              <a:rPr dirty="0" sz="1150" spc="-20">
                <a:latin typeface="Arial"/>
                <a:cs typeface="Arial"/>
              </a:rPr>
              <a:t>factor.  </a:t>
            </a:r>
            <a:r>
              <a:rPr dirty="0" sz="1150" spc="-45">
                <a:latin typeface="Arial"/>
                <a:cs typeface="Arial"/>
              </a:rPr>
              <a:t>Partnership </a:t>
            </a:r>
            <a:r>
              <a:rPr dirty="0" sz="1150" spc="-40">
                <a:latin typeface="Arial"/>
                <a:cs typeface="Arial"/>
              </a:rPr>
              <a:t>cannot take </a:t>
            </a:r>
            <a:r>
              <a:rPr dirty="0" sz="1150" spc="-60">
                <a:latin typeface="Arial"/>
                <a:cs typeface="Arial"/>
              </a:rPr>
              <a:t>place </a:t>
            </a:r>
            <a:r>
              <a:rPr dirty="0" sz="1150" spc="5">
                <a:latin typeface="Arial"/>
                <a:cs typeface="Arial"/>
              </a:rPr>
              <a:t>with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cooperation.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6"/>
              <a:tabLst>
                <a:tab pos="469265" algn="l"/>
                <a:tab pos="469900" algn="l"/>
              </a:tabLst>
            </a:pPr>
            <a:r>
              <a:rPr dirty="0" sz="1150" spc="-85" b="1">
                <a:latin typeface="Arial"/>
                <a:cs typeface="Arial"/>
              </a:rPr>
              <a:t>Dissolution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6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Partnership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temporary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dissolved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60">
                <a:latin typeface="Arial"/>
                <a:cs typeface="Arial"/>
              </a:rPr>
              <a:t>leaves, dies </a:t>
            </a:r>
            <a:r>
              <a:rPr dirty="0" sz="1150" spc="-10">
                <a:latin typeface="Arial"/>
                <a:cs typeface="Arial"/>
              </a:rPr>
              <a:t>or  </a:t>
            </a:r>
            <a:r>
              <a:rPr dirty="0" sz="1150" spc="-50">
                <a:latin typeface="Arial"/>
                <a:cs typeface="Arial"/>
              </a:rPr>
              <a:t>declared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bankrupt.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7"/>
              <a:tabLst>
                <a:tab pos="469265" algn="l"/>
                <a:tab pos="469900" algn="l"/>
              </a:tabLst>
            </a:pPr>
            <a:r>
              <a:rPr dirty="0" sz="1150" spc="-110" b="1">
                <a:latin typeface="Arial"/>
                <a:cs typeface="Arial"/>
              </a:rPr>
              <a:t>Legal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Entity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7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  <a:tabLst>
                <a:tab pos="3607435" algn="l"/>
              </a:tabLst>
            </a:pPr>
            <a:r>
              <a:rPr dirty="0" sz="1150" spc="-5">
                <a:latin typeface="Arial"/>
                <a:cs typeface="Arial"/>
              </a:rPr>
              <a:t>If  </a:t>
            </a:r>
            <a:r>
              <a:rPr dirty="0" sz="1150" spc="-30">
                <a:latin typeface="Arial"/>
                <a:cs typeface="Arial"/>
              </a:rPr>
              <a:t>partnership 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5">
                <a:latin typeface="Arial"/>
                <a:cs typeface="Arial"/>
              </a:rPr>
              <a:t>not  </a:t>
            </a:r>
            <a:r>
              <a:rPr dirty="0" sz="1150" spc="-40">
                <a:latin typeface="Arial"/>
                <a:cs typeface="Arial"/>
              </a:rPr>
              <a:t>registered,  </a:t>
            </a:r>
            <a:r>
              <a:rPr dirty="0" sz="1150" spc="30">
                <a:latin typeface="Arial"/>
                <a:cs typeface="Arial"/>
              </a:rPr>
              <a:t>it  </a:t>
            </a:r>
            <a:r>
              <a:rPr dirty="0" sz="1150" spc="-85">
                <a:latin typeface="Arial"/>
                <a:cs typeface="Arial"/>
              </a:rPr>
              <a:t>has   </a:t>
            </a:r>
            <a:r>
              <a:rPr dirty="0" sz="1150" spc="-40">
                <a:latin typeface="Arial"/>
                <a:cs typeface="Arial"/>
              </a:rPr>
              <a:t>no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legal </a:t>
            </a:r>
            <a:r>
              <a:rPr dirty="0" sz="1150" spc="-3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entity.</a:t>
            </a:r>
            <a:r>
              <a:rPr dirty="0" sz="1150" spc="-10">
                <a:latin typeface="Times New Roman"/>
                <a:cs typeface="Times New Roman"/>
              </a:rPr>
              <a:t>	</a:t>
            </a:r>
            <a:r>
              <a:rPr dirty="0" sz="1150" spc="-30">
                <a:latin typeface="Arial"/>
                <a:cs typeface="Arial"/>
              </a:rPr>
              <a:t>Moreover, </a:t>
            </a:r>
            <a:r>
              <a:rPr dirty="0" sz="1150" spc="-35">
                <a:latin typeface="Arial"/>
                <a:cs typeface="Arial"/>
              </a:rPr>
              <a:t>partnership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40">
                <a:latin typeface="Arial"/>
                <a:cs typeface="Arial"/>
              </a:rPr>
              <a:t>no  </a:t>
            </a:r>
            <a:r>
              <a:rPr dirty="0" sz="1150" spc="-50">
                <a:latin typeface="Arial"/>
                <a:cs typeface="Arial"/>
              </a:rPr>
              <a:t>separate legal </a:t>
            </a:r>
            <a:r>
              <a:rPr dirty="0" sz="1150" spc="-10">
                <a:latin typeface="Arial"/>
                <a:cs typeface="Arial"/>
              </a:rPr>
              <a:t>entity from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55">
                <a:latin typeface="Arial"/>
                <a:cs typeface="Arial"/>
              </a:rPr>
              <a:t>members and vice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versa.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8"/>
              <a:tabLst>
                <a:tab pos="469265" algn="l"/>
                <a:tab pos="469900" algn="l"/>
              </a:tabLst>
            </a:pPr>
            <a:r>
              <a:rPr dirty="0" sz="1150" spc="-65" b="1">
                <a:latin typeface="Arial"/>
                <a:cs typeface="Arial"/>
              </a:rPr>
              <a:t>Management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partnership 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40">
                <a:latin typeface="Arial"/>
                <a:cs typeface="Arial"/>
              </a:rPr>
              <a:t>take </a:t>
            </a:r>
            <a:r>
              <a:rPr dirty="0" sz="1150" spc="-15">
                <a:latin typeface="Arial"/>
                <a:cs typeface="Arial"/>
              </a:rPr>
              <a:t>part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5">
                <a:latin typeface="Arial"/>
                <a:cs typeface="Arial"/>
              </a:rPr>
              <a:t>participate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30">
                <a:latin typeface="Arial"/>
                <a:cs typeface="Arial"/>
              </a:rPr>
              <a:t>activities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business  </a:t>
            </a:r>
            <a:r>
              <a:rPr dirty="0" sz="1150" spc="-50">
                <a:latin typeface="Arial"/>
                <a:cs typeface="Arial"/>
              </a:rPr>
              <a:t>management. </a:t>
            </a:r>
            <a:r>
              <a:rPr dirty="0" sz="1150" spc="-65">
                <a:latin typeface="Arial"/>
                <a:cs typeface="Arial"/>
              </a:rPr>
              <a:t>Sometimes, </a:t>
            </a:r>
            <a:r>
              <a:rPr dirty="0" sz="1150" spc="-30">
                <a:latin typeface="Arial"/>
                <a:cs typeface="Arial"/>
              </a:rPr>
              <a:t>only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few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allowed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75">
                <a:latin typeface="Arial"/>
                <a:cs typeface="Arial"/>
              </a:rPr>
              <a:t>manage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business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affairs.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37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2435" cy="8045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9"/>
              <a:tabLst>
                <a:tab pos="469265" algn="l"/>
                <a:tab pos="469900" algn="l"/>
              </a:tabLst>
            </a:pPr>
            <a:r>
              <a:rPr dirty="0" sz="1150" spc="-75" b="1">
                <a:latin typeface="Arial"/>
                <a:cs typeface="Arial"/>
              </a:rPr>
              <a:t>Number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Partners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9"/>
            </a:pPr>
            <a:endParaRPr sz="1200">
              <a:latin typeface="Arial"/>
              <a:cs typeface="Arial"/>
            </a:endParaRPr>
          </a:p>
          <a:p>
            <a:pPr marL="12700" marR="698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partnership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45">
                <a:latin typeface="Arial"/>
                <a:cs typeface="Arial"/>
              </a:rPr>
              <a:t>least </a:t>
            </a:r>
            <a:r>
              <a:rPr dirty="0" sz="1150">
                <a:latin typeface="Arial"/>
                <a:cs typeface="Arial"/>
              </a:rPr>
              <a:t>two </a:t>
            </a:r>
            <a:r>
              <a:rPr dirty="0" sz="1150" spc="-35">
                <a:latin typeface="Arial"/>
                <a:cs typeface="Arial"/>
              </a:rPr>
              <a:t>partners. </a:t>
            </a:r>
            <a:r>
              <a:rPr dirty="0" sz="1150" spc="-45">
                <a:latin typeface="Arial"/>
                <a:cs typeface="Arial"/>
              </a:rPr>
              <a:t>But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ordinary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partners  must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70">
                <a:latin typeface="Arial"/>
                <a:cs typeface="Arial"/>
              </a:rPr>
              <a:t>exceed </a:t>
            </a:r>
            <a:r>
              <a:rPr dirty="0" sz="1150" spc="-65">
                <a:latin typeface="Arial"/>
                <a:cs typeface="Arial"/>
              </a:rPr>
              <a:t>20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banking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70">
                <a:latin typeface="Arial"/>
                <a:cs typeface="Arial"/>
              </a:rPr>
              <a:t>exceed </a:t>
            </a:r>
            <a:r>
              <a:rPr dirty="0" sz="1150" spc="-45">
                <a:latin typeface="Arial"/>
                <a:cs typeface="Arial"/>
              </a:rPr>
              <a:t>10.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rabicPeriod" startAt="10"/>
              <a:tabLst>
                <a:tab pos="469265" algn="l"/>
                <a:tab pos="470534" algn="l"/>
              </a:tabLst>
            </a:pPr>
            <a:r>
              <a:rPr dirty="0" sz="1150" spc="-75" b="1">
                <a:latin typeface="Arial"/>
                <a:cs typeface="Arial"/>
              </a:rPr>
              <a:t>Object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AutoNum type="arabicPeriod" startAt="10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5">
                <a:latin typeface="Arial"/>
                <a:cs typeface="Arial"/>
              </a:rPr>
              <a:t>Only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70">
                <a:latin typeface="Arial"/>
                <a:cs typeface="Arial"/>
              </a:rPr>
              <a:t>business is </a:t>
            </a:r>
            <a:r>
              <a:rPr dirty="0" sz="1150" spc="-50">
                <a:latin typeface="Arial"/>
                <a:cs typeface="Arial"/>
              </a:rPr>
              <a:t>considered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35">
                <a:latin typeface="Arial"/>
                <a:cs typeface="Arial"/>
              </a:rPr>
              <a:t>partnership, which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established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earn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profit.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1"/>
              <a:tabLst>
                <a:tab pos="469265" algn="l"/>
                <a:tab pos="470534" algn="l"/>
              </a:tabLst>
            </a:pPr>
            <a:r>
              <a:rPr dirty="0" sz="1150" spc="-80" b="1">
                <a:latin typeface="Arial"/>
                <a:cs typeface="Arial"/>
              </a:rPr>
              <a:t>Partnership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100" b="1">
                <a:latin typeface="Arial"/>
                <a:cs typeface="Arial"/>
              </a:rPr>
              <a:t>Act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AutoNum type="arabicPeriod" startAt="11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60">
                <a:latin typeface="Arial"/>
                <a:cs typeface="Arial"/>
              </a:rPr>
              <a:t>Pakistan,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35">
                <a:latin typeface="Arial"/>
                <a:cs typeface="Arial"/>
              </a:rPr>
              <a:t>partnership </a:t>
            </a:r>
            <a:r>
              <a:rPr dirty="0" sz="1150" spc="-75">
                <a:latin typeface="Arial"/>
                <a:cs typeface="Arial"/>
              </a:rPr>
              <a:t>businesses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running under </a:t>
            </a:r>
            <a:r>
              <a:rPr dirty="0" sz="1150" spc="-45">
                <a:latin typeface="Arial"/>
                <a:cs typeface="Arial"/>
              </a:rPr>
              <a:t>Partnership </a:t>
            </a:r>
            <a:r>
              <a:rPr dirty="0" sz="1150" spc="-40">
                <a:latin typeface="Arial"/>
                <a:cs typeface="Arial"/>
              </a:rPr>
              <a:t>Act,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1932.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2"/>
              <a:tabLst>
                <a:tab pos="469265" algn="l"/>
                <a:tab pos="470534" algn="l"/>
              </a:tabLst>
            </a:pPr>
            <a:r>
              <a:rPr dirty="0" sz="1150" spc="-80" b="1">
                <a:latin typeface="Arial"/>
                <a:cs typeface="Arial"/>
              </a:rPr>
              <a:t>Payment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10" b="1">
                <a:latin typeface="Arial"/>
                <a:cs typeface="Arial"/>
              </a:rPr>
              <a:t>Tax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12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4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partnership,</a:t>
            </a:r>
            <a:r>
              <a:rPr dirty="0" sz="1150" spc="-50">
                <a:latin typeface="Arial"/>
                <a:cs typeface="Arial"/>
              </a:rPr>
              <a:t> every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partner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pays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tax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65">
                <a:latin typeface="Arial"/>
                <a:cs typeface="Arial"/>
              </a:rPr>
              <a:t>share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profit,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personally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individually.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3"/>
              <a:tabLst>
                <a:tab pos="469265" algn="l"/>
                <a:tab pos="470534" algn="l"/>
              </a:tabLst>
            </a:pPr>
            <a:r>
              <a:rPr dirty="0" sz="1150" spc="-55" b="1">
                <a:latin typeface="Arial"/>
                <a:cs typeface="Arial"/>
              </a:rPr>
              <a:t>Profit </a:t>
            </a:r>
            <a:r>
              <a:rPr dirty="0" sz="1150" spc="-85" b="1">
                <a:latin typeface="Arial"/>
                <a:cs typeface="Arial"/>
              </a:rPr>
              <a:t>and </a:t>
            </a:r>
            <a:r>
              <a:rPr dirty="0" sz="1150" spc="-170" b="1">
                <a:latin typeface="Arial"/>
                <a:cs typeface="Arial"/>
              </a:rPr>
              <a:t>Loss</a:t>
            </a:r>
            <a:r>
              <a:rPr dirty="0" sz="1150" spc="-50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Distribution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13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5">
                <a:latin typeface="Arial"/>
                <a:cs typeface="Arial"/>
              </a:rPr>
              <a:t>profit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loss </a:t>
            </a:r>
            <a:r>
              <a:rPr dirty="0" sz="1150" spc="-65">
                <a:latin typeface="Arial"/>
                <a:cs typeface="Arial"/>
              </a:rPr>
              <a:t>among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done </a:t>
            </a:r>
            <a:r>
              <a:rPr dirty="0" sz="1150" spc="-55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agreement.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rabicPeriod" startAt="14"/>
              <a:tabLst>
                <a:tab pos="469265" algn="l"/>
                <a:tab pos="470534" algn="l"/>
              </a:tabLst>
            </a:pPr>
            <a:r>
              <a:rPr dirty="0" sz="1150" spc="-80" b="1">
                <a:latin typeface="Arial"/>
                <a:cs typeface="Arial"/>
              </a:rPr>
              <a:t>Registration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14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  <a:spcBef>
                <a:spcPts val="5"/>
              </a:spcBef>
              <a:tabLst>
                <a:tab pos="3727450" algn="l"/>
              </a:tabLst>
            </a:pPr>
            <a:r>
              <a:rPr dirty="0" sz="1150" spc="-40">
                <a:latin typeface="Arial"/>
                <a:cs typeface="Arial"/>
              </a:rPr>
              <a:t>Many  problems  </a:t>
            </a:r>
            <a:r>
              <a:rPr dirty="0" sz="1150" spc="-50">
                <a:latin typeface="Arial"/>
                <a:cs typeface="Arial"/>
              </a:rPr>
              <a:t>are  </a:t>
            </a:r>
            <a:r>
              <a:rPr dirty="0" sz="1150" spc="-45">
                <a:latin typeface="Arial"/>
                <a:cs typeface="Arial"/>
              </a:rPr>
              <a:t>created  </a:t>
            </a:r>
            <a:r>
              <a:rPr dirty="0" sz="1150" spc="-20">
                <a:latin typeface="Arial"/>
                <a:cs typeface="Arial"/>
              </a:rPr>
              <a:t>in  </a:t>
            </a:r>
            <a:r>
              <a:rPr dirty="0" sz="1150" spc="-95">
                <a:latin typeface="Arial"/>
                <a:cs typeface="Arial"/>
              </a:rPr>
              <a:t>case 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unregistered</a:t>
            </a:r>
            <a:r>
              <a:rPr dirty="0" sz="1150" spc="18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firm.</a:t>
            </a:r>
            <a:r>
              <a:rPr dirty="0" sz="1150" spc="-5">
                <a:latin typeface="Times New Roman"/>
                <a:cs typeface="Times New Roman"/>
              </a:rPr>
              <a:t>	</a:t>
            </a:r>
            <a:r>
              <a:rPr dirty="0" sz="1150" spc="-105">
                <a:latin typeface="Arial"/>
                <a:cs typeface="Arial"/>
              </a:rPr>
              <a:t>So,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avoid </a:t>
            </a:r>
            <a:r>
              <a:rPr dirty="0" sz="1150" spc="-50">
                <a:latin typeface="Arial"/>
                <a:cs typeface="Arial"/>
              </a:rPr>
              <a:t>these </a:t>
            </a:r>
            <a:r>
              <a:rPr dirty="0" sz="1150" spc="-45">
                <a:latin typeface="Arial"/>
                <a:cs typeface="Arial"/>
              </a:rPr>
              <a:t>problems  </a:t>
            </a:r>
            <a:r>
              <a:rPr dirty="0" sz="1150" spc="-35">
                <a:latin typeface="Arial"/>
                <a:cs typeface="Arial"/>
              </a:rPr>
              <a:t>partnership </a:t>
            </a:r>
            <a:r>
              <a:rPr dirty="0" sz="1150">
                <a:latin typeface="Arial"/>
                <a:cs typeface="Arial"/>
              </a:rPr>
              <a:t>firm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registered.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5"/>
              <a:tabLst>
                <a:tab pos="469265" algn="l"/>
                <a:tab pos="470534" algn="l"/>
              </a:tabLst>
            </a:pPr>
            <a:r>
              <a:rPr dirty="0" sz="1150" spc="-80" b="1">
                <a:latin typeface="Arial"/>
                <a:cs typeface="Arial"/>
              </a:rPr>
              <a:t>Relationship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5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Partnership </a:t>
            </a:r>
            <a:r>
              <a:rPr dirty="0" sz="1150" spc="-70">
                <a:latin typeface="Arial"/>
                <a:cs typeface="Arial"/>
              </a:rPr>
              <a:t>business 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0">
                <a:latin typeface="Arial"/>
                <a:cs typeface="Arial"/>
              </a:rPr>
              <a:t>carried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them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business 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all.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6"/>
              <a:tabLst>
                <a:tab pos="469265" algn="l"/>
                <a:tab pos="470534" algn="l"/>
              </a:tabLst>
            </a:pPr>
            <a:r>
              <a:rPr dirty="0" sz="1150" spc="-100" b="1">
                <a:latin typeface="Arial"/>
                <a:cs typeface="Arial"/>
              </a:rPr>
              <a:t>Share </a:t>
            </a:r>
            <a:r>
              <a:rPr dirty="0" sz="1150" spc="-60" b="1">
                <a:latin typeface="Arial"/>
                <a:cs typeface="Arial"/>
              </a:rPr>
              <a:t>in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AutoNum type="arabicPeriod" startAt="16"/>
            </a:pPr>
            <a:endParaRPr sz="12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agreement,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20">
                <a:latin typeface="Arial"/>
                <a:cs typeface="Arial"/>
              </a:rPr>
              <a:t>partner </a:t>
            </a:r>
            <a:r>
              <a:rPr dirty="0" sz="1150" spc="-25">
                <a:latin typeface="Arial"/>
                <a:cs typeface="Arial"/>
              </a:rPr>
              <a:t>contributes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65">
                <a:latin typeface="Arial"/>
                <a:cs typeface="Arial"/>
              </a:rPr>
              <a:t>share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capital. </a:t>
            </a:r>
            <a:r>
              <a:rPr dirty="0" sz="1150" spc="-95">
                <a:latin typeface="Arial"/>
                <a:cs typeface="Arial"/>
              </a:rPr>
              <a:t>Some </a:t>
            </a:r>
            <a:r>
              <a:rPr dirty="0" sz="1150" spc="-35">
                <a:latin typeface="Arial"/>
                <a:cs typeface="Arial"/>
              </a:rPr>
              <a:t>partners  provide </a:t>
            </a:r>
            <a:r>
              <a:rPr dirty="0" sz="1150" spc="-30">
                <a:latin typeface="Arial"/>
                <a:cs typeface="Arial"/>
              </a:rPr>
              <a:t>only </a:t>
            </a:r>
            <a:r>
              <a:rPr dirty="0" sz="1150" spc="-50">
                <a:latin typeface="Arial"/>
                <a:cs typeface="Arial"/>
              </a:rPr>
              <a:t>skills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ability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become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4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earn </a:t>
            </a:r>
            <a:r>
              <a:rPr dirty="0" sz="1150">
                <a:latin typeface="Arial"/>
                <a:cs typeface="Arial"/>
              </a:rPr>
              <a:t>profit.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7"/>
              <a:tabLst>
                <a:tab pos="469265" algn="l"/>
                <a:tab pos="470534" algn="l"/>
              </a:tabLst>
            </a:pPr>
            <a:r>
              <a:rPr dirty="0" sz="1150" spc="-85" b="1">
                <a:latin typeface="Arial"/>
                <a:cs typeface="Arial"/>
              </a:rPr>
              <a:t>Transfer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spc="-110" b="1">
                <a:latin typeface="Arial"/>
                <a:cs typeface="Arial"/>
              </a:rPr>
              <a:t>Rights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7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partnership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25">
                <a:latin typeface="Arial"/>
                <a:cs typeface="Arial"/>
              </a:rPr>
              <a:t>transfer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 spc="-15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rights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another </a:t>
            </a:r>
            <a:r>
              <a:rPr dirty="0" sz="1150" spc="-50">
                <a:latin typeface="Arial"/>
                <a:cs typeface="Arial"/>
              </a:rPr>
              <a:t>person, </a:t>
            </a:r>
            <a:r>
              <a:rPr dirty="0" sz="1150">
                <a:latin typeface="Arial"/>
                <a:cs typeface="Arial"/>
              </a:rPr>
              <a:t>without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5">
                <a:latin typeface="Arial"/>
                <a:cs typeface="Arial"/>
              </a:rPr>
              <a:t>consent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partners.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8"/>
              <a:tabLst>
                <a:tab pos="469265" algn="l"/>
                <a:tab pos="470534" algn="l"/>
              </a:tabLst>
            </a:pPr>
            <a:r>
              <a:rPr dirty="0" sz="1150" spc="-60" b="1">
                <a:latin typeface="Arial"/>
                <a:cs typeface="Arial"/>
              </a:rPr>
              <a:t>Unlimited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Liability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698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partnership </a:t>
            </a:r>
            <a:r>
              <a:rPr dirty="0" sz="1150" spc="-15">
                <a:latin typeface="Arial"/>
                <a:cs typeface="Arial"/>
              </a:rPr>
              <a:t>the liability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each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unlimited.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loss,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private </a:t>
            </a:r>
            <a:r>
              <a:rPr dirty="0" sz="1150" spc="-20">
                <a:latin typeface="Arial"/>
                <a:cs typeface="Arial"/>
              </a:rPr>
              <a:t>property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 spc="-65">
                <a:latin typeface="Arial"/>
                <a:cs typeface="Arial"/>
              </a:rPr>
              <a:t>is also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pay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5">
                <a:latin typeface="Arial"/>
                <a:cs typeface="Arial"/>
              </a:rPr>
              <a:t>debts.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38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4340" cy="789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65" b="1">
                <a:latin typeface="Arial"/>
                <a:cs typeface="Arial"/>
              </a:rPr>
              <a:t>ADVANTAGES </a:t>
            </a:r>
            <a:r>
              <a:rPr dirty="0" sz="1350" spc="-175" b="1">
                <a:latin typeface="Arial"/>
                <a:cs typeface="Arial"/>
              </a:rPr>
              <a:t>OF</a:t>
            </a:r>
            <a:r>
              <a:rPr dirty="0" sz="1350" spc="-190" b="1">
                <a:latin typeface="Arial"/>
                <a:cs typeface="Arial"/>
              </a:rPr>
              <a:t> </a:t>
            </a:r>
            <a:r>
              <a:rPr dirty="0" sz="1350" spc="-170" b="1">
                <a:latin typeface="Arial"/>
                <a:cs typeface="Arial"/>
              </a:rPr>
              <a:t>PARTNERSHIP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45">
                <a:latin typeface="Arial"/>
                <a:cs typeface="Arial"/>
              </a:rPr>
              <a:t>Following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advantages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partnership: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dirty="0" sz="1150" spc="-80" b="1">
                <a:latin typeface="Arial"/>
                <a:cs typeface="Arial"/>
              </a:rPr>
              <a:t>Simplicity </a:t>
            </a:r>
            <a:r>
              <a:rPr dirty="0" sz="1150" spc="-70" b="1">
                <a:latin typeface="Arial"/>
                <a:cs typeface="Arial"/>
              </a:rPr>
              <a:t>in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Formation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30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5">
                <a:latin typeface="Arial"/>
                <a:cs typeface="Arial"/>
              </a:rPr>
              <a:t>formed </a:t>
            </a:r>
            <a:r>
              <a:rPr dirty="0" sz="1150" spc="-60">
                <a:latin typeface="Arial"/>
                <a:cs typeface="Arial"/>
              </a:rPr>
              <a:t>easily </a:t>
            </a:r>
            <a:r>
              <a:rPr dirty="0" sz="1150">
                <a:latin typeface="Arial"/>
                <a:cs typeface="Arial"/>
              </a:rPr>
              <a:t>without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50">
                <a:latin typeface="Arial"/>
                <a:cs typeface="Arial"/>
              </a:rPr>
              <a:t>complex </a:t>
            </a:r>
            <a:r>
              <a:rPr dirty="0" sz="1150" spc="-55">
                <a:latin typeface="Arial"/>
                <a:cs typeface="Arial"/>
              </a:rPr>
              <a:t>legal  </a:t>
            </a:r>
            <a:r>
              <a:rPr dirty="0" sz="1150" spc="-25">
                <a:latin typeface="Arial"/>
                <a:cs typeface="Arial"/>
              </a:rPr>
              <a:t>formalities. </a:t>
            </a:r>
            <a:r>
              <a:rPr dirty="0" sz="1150" spc="-65">
                <a:latin typeface="Arial"/>
                <a:cs typeface="Arial"/>
              </a:rPr>
              <a:t>Two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15">
                <a:latin typeface="Arial"/>
                <a:cs typeface="Arial"/>
              </a:rPr>
              <a:t>start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15">
                <a:latin typeface="Arial"/>
                <a:cs typeface="Arial"/>
              </a:rPr>
              <a:t>time. </a:t>
            </a:r>
            <a:r>
              <a:rPr dirty="0" sz="1150" spc="-35">
                <a:latin typeface="Arial"/>
                <a:cs typeface="Arial"/>
              </a:rPr>
              <a:t>Its </a:t>
            </a:r>
            <a:r>
              <a:rPr dirty="0" sz="1150" spc="-25">
                <a:latin typeface="Arial"/>
                <a:cs typeface="Arial"/>
              </a:rPr>
              <a:t>registration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60">
                <a:latin typeface="Arial"/>
                <a:cs typeface="Arial"/>
              </a:rPr>
              <a:t>also  </a:t>
            </a:r>
            <a:r>
              <a:rPr dirty="0" sz="1150" spc="-45">
                <a:latin typeface="Arial"/>
                <a:cs typeface="Arial"/>
              </a:rPr>
              <a:t>very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easy.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1150" spc="-80" b="1">
                <a:latin typeface="Arial"/>
                <a:cs typeface="Arial"/>
              </a:rPr>
              <a:t>Simplicity </a:t>
            </a:r>
            <a:r>
              <a:rPr dirty="0" sz="1150" spc="-70" b="1">
                <a:latin typeface="Arial"/>
                <a:cs typeface="Arial"/>
              </a:rPr>
              <a:t>in</a:t>
            </a:r>
            <a:r>
              <a:rPr dirty="0" sz="1150" spc="-4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Dissolution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Partnership </a:t>
            </a: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dissolved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60">
                <a:latin typeface="Arial"/>
                <a:cs typeface="Arial"/>
              </a:rPr>
              <a:t>any </a:t>
            </a:r>
            <a:r>
              <a:rPr dirty="0" sz="1150" spc="-10">
                <a:latin typeface="Arial"/>
                <a:cs typeface="Arial"/>
              </a:rPr>
              <a:t>time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50">
                <a:latin typeface="Arial"/>
                <a:cs typeface="Arial"/>
              </a:rPr>
              <a:t>legal </a:t>
            </a:r>
            <a:r>
              <a:rPr dirty="0" sz="1150" spc="-30">
                <a:latin typeface="Arial"/>
                <a:cs typeface="Arial"/>
              </a:rPr>
              <a:t>restrictions. </a:t>
            </a:r>
            <a:r>
              <a:rPr dirty="0" sz="1150" spc="-35">
                <a:latin typeface="Arial"/>
                <a:cs typeface="Arial"/>
              </a:rPr>
              <a:t>Its  dissolution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easy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50">
                <a:latin typeface="Arial"/>
                <a:cs typeface="Arial"/>
              </a:rPr>
              <a:t>compared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Joint </a:t>
            </a:r>
            <a:r>
              <a:rPr dirty="0" sz="1150" spc="-75">
                <a:latin typeface="Arial"/>
                <a:cs typeface="Arial"/>
              </a:rPr>
              <a:t>Stock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Company.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150" spc="-75" b="1">
                <a:latin typeface="Arial"/>
                <a:cs typeface="Arial"/>
              </a:rPr>
              <a:t>Sufficient</a:t>
            </a:r>
            <a:r>
              <a:rPr dirty="0" sz="1150" spc="-130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3"/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Partnership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30">
                <a:latin typeface="Arial"/>
                <a:cs typeface="Arial"/>
              </a:rPr>
              <a:t>collect </a:t>
            </a:r>
            <a:r>
              <a:rPr dirty="0" sz="1150" spc="-35">
                <a:latin typeface="Arial"/>
                <a:cs typeface="Arial"/>
              </a:rPr>
              <a:t>more capital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15">
                <a:latin typeface="Arial"/>
                <a:cs typeface="Arial"/>
              </a:rPr>
              <a:t>efforts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 spc="-110">
                <a:latin typeface="Arial"/>
                <a:cs typeface="Arial"/>
              </a:rPr>
              <a:t>as  </a:t>
            </a:r>
            <a:r>
              <a:rPr dirty="0" sz="1150" spc="-50">
                <a:latin typeface="Arial"/>
                <a:cs typeface="Arial"/>
              </a:rPr>
              <a:t>compared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sole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proprietorship.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4"/>
              <a:tabLst>
                <a:tab pos="469265" algn="l"/>
                <a:tab pos="469900" algn="l"/>
              </a:tabLst>
            </a:pPr>
            <a:r>
              <a:rPr dirty="0" sz="1150" spc="-85" b="1">
                <a:latin typeface="Arial"/>
                <a:cs typeface="Arial"/>
              </a:rPr>
              <a:t>Skilled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Workers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4"/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5">
                <a:latin typeface="Arial"/>
                <a:cs typeface="Arial"/>
              </a:rPr>
              <a:t>sufficient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firm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">
                <a:latin typeface="Arial"/>
                <a:cs typeface="Arial"/>
              </a:rPr>
              <a:t>better </a:t>
            </a:r>
            <a:r>
              <a:rPr dirty="0" sz="1150" spc="-25">
                <a:latin typeface="Arial"/>
                <a:cs typeface="Arial"/>
              </a:rPr>
              <a:t>position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hire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qualified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skilled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workers.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469265" algn="l"/>
                <a:tab pos="469900" algn="l"/>
              </a:tabLst>
            </a:pPr>
            <a:r>
              <a:rPr dirty="0" sz="1150" spc="-125" b="1">
                <a:latin typeface="Arial"/>
                <a:cs typeface="Arial"/>
              </a:rPr>
              <a:t>Sense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Responsibility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5"/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unlimited </a:t>
            </a:r>
            <a:r>
              <a:rPr dirty="0" sz="1150" spc="-15">
                <a:latin typeface="Arial"/>
                <a:cs typeface="Arial"/>
              </a:rPr>
              <a:t>liability </a:t>
            </a:r>
            <a:r>
              <a:rPr dirty="0" sz="1150" spc="-1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partnership,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20">
                <a:latin typeface="Arial"/>
                <a:cs typeface="Arial"/>
              </a:rPr>
              <a:t>partner </a:t>
            </a:r>
            <a:r>
              <a:rPr dirty="0" sz="1150" spc="-35">
                <a:latin typeface="Arial"/>
                <a:cs typeface="Arial"/>
              </a:rPr>
              <a:t>performs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15">
                <a:latin typeface="Arial"/>
                <a:cs typeface="Arial"/>
              </a:rPr>
              <a:t>duty  </a:t>
            </a:r>
            <a:r>
              <a:rPr dirty="0" sz="1150" spc="-40">
                <a:latin typeface="Arial"/>
                <a:cs typeface="Arial"/>
              </a:rPr>
              <a:t>honestly.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6"/>
              <a:tabLst>
                <a:tab pos="469265" algn="l"/>
                <a:tab pos="469900" algn="l"/>
              </a:tabLst>
            </a:pPr>
            <a:r>
              <a:rPr dirty="0" sz="1150" spc="-80" b="1">
                <a:latin typeface="Arial"/>
                <a:cs typeface="Arial"/>
              </a:rPr>
              <a:t>Satisfaction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4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Partners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6"/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25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70">
                <a:latin typeface="Arial"/>
                <a:cs typeface="Arial"/>
              </a:rPr>
              <a:t>each </a:t>
            </a:r>
            <a:r>
              <a:rPr dirty="0" sz="1150" spc="-20">
                <a:latin typeface="Arial"/>
                <a:cs typeface="Arial"/>
              </a:rPr>
              <a:t>partner </a:t>
            </a:r>
            <a:r>
              <a:rPr dirty="0" sz="1150" spc="-5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satisfied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 spc="-55">
                <a:latin typeface="Arial"/>
                <a:cs typeface="Arial"/>
              </a:rPr>
              <a:t>he  </a:t>
            </a:r>
            <a:r>
              <a:rPr dirty="0" sz="1150" spc="-70">
                <a:latin typeface="Arial"/>
                <a:cs typeface="Arial"/>
              </a:rPr>
              <a:t>can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take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part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management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7"/>
              <a:tabLst>
                <a:tab pos="469265" algn="l"/>
                <a:tab pos="469900" algn="l"/>
              </a:tabLst>
            </a:pPr>
            <a:r>
              <a:rPr dirty="0" sz="1150" spc="-120" b="1">
                <a:latin typeface="Arial"/>
                <a:cs typeface="Arial"/>
              </a:rPr>
              <a:t>Secrecy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7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partnership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45">
                <a:latin typeface="Arial"/>
                <a:cs typeface="Arial"/>
              </a:rPr>
              <a:t>compulsory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publish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accounts. </a:t>
            </a:r>
            <a:r>
              <a:rPr dirty="0" sz="1150" spc="-105">
                <a:latin typeface="Arial"/>
                <a:cs typeface="Arial"/>
              </a:rPr>
              <a:t>So,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70">
                <a:latin typeface="Arial"/>
                <a:cs typeface="Arial"/>
              </a:rPr>
              <a:t>secrecy  </a:t>
            </a:r>
            <a:r>
              <a:rPr dirty="0" sz="1150" spc="-50">
                <a:latin typeface="Arial"/>
                <a:cs typeface="Arial"/>
              </a:rPr>
              <a:t>remains </a:t>
            </a:r>
            <a:r>
              <a:rPr dirty="0" sz="1150" spc="-5">
                <a:latin typeface="Arial"/>
                <a:cs typeface="Arial"/>
              </a:rPr>
              <a:t>within </a:t>
            </a:r>
            <a:r>
              <a:rPr dirty="0" sz="1150" spc="-35">
                <a:latin typeface="Arial"/>
                <a:cs typeface="Arial"/>
              </a:rPr>
              <a:t>partners.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20">
                <a:latin typeface="Arial"/>
                <a:cs typeface="Arial"/>
              </a:rPr>
              <a:t>factor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25">
                <a:latin typeface="Arial"/>
                <a:cs typeface="Arial"/>
              </a:rPr>
              <a:t>helpful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70">
                <a:latin typeface="Arial"/>
                <a:cs typeface="Arial"/>
              </a:rPr>
              <a:t>successful </a:t>
            </a:r>
            <a:r>
              <a:rPr dirty="0" sz="1150" spc="-25">
                <a:latin typeface="Arial"/>
                <a:cs typeface="Arial"/>
              </a:rPr>
              <a:t>operation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1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8"/>
              <a:tabLst>
                <a:tab pos="469265" algn="l"/>
                <a:tab pos="469900" algn="l"/>
              </a:tabLst>
            </a:pPr>
            <a:r>
              <a:rPr dirty="0" sz="1150" spc="-105" b="1">
                <a:latin typeface="Arial"/>
                <a:cs typeface="Arial"/>
              </a:rPr>
              <a:t>Social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Benefit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60">
                <a:latin typeface="Arial"/>
                <a:cs typeface="Arial"/>
              </a:rPr>
              <a:t>Two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more partners </a:t>
            </a:r>
            <a:r>
              <a:rPr dirty="0" sz="1150">
                <a:latin typeface="Arial"/>
                <a:cs typeface="Arial"/>
              </a:rPr>
              <a:t>with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25">
                <a:latin typeface="Arial"/>
                <a:cs typeface="Arial"/>
              </a:rPr>
              <a:t>build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strong </a:t>
            </a:r>
            <a:r>
              <a:rPr dirty="0" sz="1150" spc="-70">
                <a:latin typeface="Arial"/>
                <a:cs typeface="Arial"/>
              </a:rPr>
              <a:t>business.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20">
                <a:latin typeface="Arial"/>
                <a:cs typeface="Arial"/>
              </a:rPr>
              <a:t>factor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very  </a:t>
            </a:r>
            <a:r>
              <a:rPr dirty="0" sz="1150" spc="-25">
                <a:latin typeface="Arial"/>
                <a:cs typeface="Arial"/>
              </a:rPr>
              <a:t>helpful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solving </a:t>
            </a:r>
            <a:r>
              <a:rPr dirty="0" sz="1150" spc="-55">
                <a:latin typeface="Arial"/>
                <a:cs typeface="Arial"/>
              </a:rPr>
              <a:t>social </a:t>
            </a:r>
            <a:r>
              <a:rPr dirty="0" sz="1150" spc="-40">
                <a:latin typeface="Arial"/>
                <a:cs typeface="Arial"/>
              </a:rPr>
              <a:t>problems </a:t>
            </a:r>
            <a:r>
              <a:rPr dirty="0" sz="1150" spc="-30">
                <a:latin typeface="Arial"/>
                <a:cs typeface="Arial"/>
              </a:rPr>
              <a:t>like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unemployment.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39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070" cy="7688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9"/>
              <a:tabLst>
                <a:tab pos="469265" algn="l"/>
                <a:tab pos="469900" algn="l"/>
              </a:tabLst>
            </a:pPr>
            <a:r>
              <a:rPr dirty="0" sz="1150" spc="-110" b="1">
                <a:latin typeface="Arial"/>
                <a:cs typeface="Arial"/>
              </a:rPr>
              <a:t>Expansion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spc="-130" b="1">
                <a:latin typeface="Arial"/>
                <a:cs typeface="Arial"/>
              </a:rPr>
              <a:t>Business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9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type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85">
                <a:latin typeface="Arial"/>
                <a:cs typeface="Arial"/>
              </a:rPr>
              <a:t>easy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expand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5">
                <a:latin typeface="Arial"/>
                <a:cs typeface="Arial"/>
              </a:rPr>
              <a:t>volume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admitting 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15">
                <a:latin typeface="Arial"/>
                <a:cs typeface="Arial"/>
              </a:rPr>
              <a:t>borrow </a:t>
            </a:r>
            <a:r>
              <a:rPr dirty="0" sz="1150" spc="-50">
                <a:latin typeface="Arial"/>
                <a:cs typeface="Arial"/>
              </a:rPr>
              <a:t>money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easily.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rabicPeriod" startAt="10"/>
              <a:tabLst>
                <a:tab pos="469265" algn="l"/>
                <a:tab pos="470534" algn="l"/>
              </a:tabLst>
            </a:pPr>
            <a:r>
              <a:rPr dirty="0" sz="1150" spc="-65" b="1">
                <a:latin typeface="Arial"/>
                <a:cs typeface="Arial"/>
              </a:rPr>
              <a:t>Flexibility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10"/>
            </a:pPr>
            <a:endParaRPr sz="1200">
              <a:latin typeface="Arial"/>
              <a:cs typeface="Arial"/>
            </a:endParaRPr>
          </a:p>
          <a:p>
            <a:pPr marL="12700" marR="8255">
              <a:lnSpc>
                <a:spcPct val="101699"/>
              </a:lnSpc>
              <a:spcBef>
                <a:spcPts val="5"/>
              </a:spcBef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flexible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75">
                <a:latin typeface="Arial"/>
                <a:cs typeface="Arial"/>
              </a:rPr>
              <a:t>change </a:t>
            </a:r>
            <a:r>
              <a:rPr dirty="0" sz="1150" spc="-5">
                <a:latin typeface="Arial"/>
                <a:cs typeface="Arial"/>
              </a:rPr>
              <a:t>their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5">
                <a:latin typeface="Arial"/>
                <a:cs typeface="Arial"/>
              </a:rPr>
              <a:t>policies </a:t>
            </a:r>
            <a:r>
              <a:rPr dirty="0" sz="1150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mutual  </a:t>
            </a:r>
            <a:r>
              <a:rPr dirty="0" sz="1150" spc="-30">
                <a:latin typeface="Arial"/>
                <a:cs typeface="Arial"/>
              </a:rPr>
              <a:t>consultation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65">
                <a:latin typeface="Arial"/>
                <a:cs typeface="Arial"/>
              </a:rPr>
              <a:t>any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time.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1"/>
              <a:tabLst>
                <a:tab pos="469265" algn="l"/>
                <a:tab pos="470534" algn="l"/>
              </a:tabLst>
            </a:pPr>
            <a:r>
              <a:rPr dirty="0" sz="1150" spc="-110" b="1">
                <a:latin typeface="Arial"/>
                <a:cs typeface="Arial"/>
              </a:rPr>
              <a:t>Tax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Facility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1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Every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80">
                <a:latin typeface="Arial"/>
                <a:cs typeface="Arial"/>
              </a:rPr>
              <a:t>pays </a:t>
            </a:r>
            <a:r>
              <a:rPr dirty="0" sz="1150" spc="-40">
                <a:latin typeface="Arial"/>
                <a:cs typeface="Arial"/>
              </a:rPr>
              <a:t>tax </a:t>
            </a:r>
            <a:r>
              <a:rPr dirty="0" sz="1150" spc="-30">
                <a:latin typeface="Arial"/>
                <a:cs typeface="Arial"/>
              </a:rPr>
              <a:t>individually. </a:t>
            </a:r>
            <a:r>
              <a:rPr dirty="0" sz="1150" spc="-105">
                <a:latin typeface="Arial"/>
                <a:cs typeface="Arial"/>
              </a:rPr>
              <a:t>So,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firm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25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0">
                <a:latin typeface="Arial"/>
                <a:cs typeface="Arial"/>
              </a:rPr>
              <a:t>better </a:t>
            </a:r>
            <a:r>
              <a:rPr dirty="0" sz="1150" spc="-25">
                <a:latin typeface="Arial"/>
                <a:cs typeface="Arial"/>
              </a:rPr>
              <a:t>position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50">
                <a:latin typeface="Arial"/>
                <a:cs typeface="Arial"/>
              </a:rPr>
              <a:t>compared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Joint  </a:t>
            </a:r>
            <a:r>
              <a:rPr dirty="0" sz="1150" spc="-70">
                <a:latin typeface="Arial"/>
                <a:cs typeface="Arial"/>
              </a:rPr>
              <a:t>Stock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Company.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2"/>
              <a:tabLst>
                <a:tab pos="469265" algn="l"/>
                <a:tab pos="470534" algn="l"/>
              </a:tabLst>
            </a:pPr>
            <a:r>
              <a:rPr dirty="0" sz="1150" spc="-95" b="1">
                <a:latin typeface="Arial"/>
                <a:cs typeface="Arial"/>
              </a:rPr>
              <a:t>Public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Factor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2"/>
            </a:pPr>
            <a:endParaRPr sz="1200">
              <a:latin typeface="Arial"/>
              <a:cs typeface="Arial"/>
            </a:endParaRPr>
          </a:p>
          <a:p>
            <a:pPr marL="12700" marR="5715">
              <a:lnSpc>
                <a:spcPct val="101699"/>
              </a:lnSpc>
            </a:pPr>
            <a:r>
              <a:rPr dirty="0" sz="1150" spc="-60">
                <a:latin typeface="Arial"/>
                <a:cs typeface="Arial"/>
              </a:rPr>
              <a:t>Public </a:t>
            </a:r>
            <a:r>
              <a:rPr dirty="0" sz="1150" spc="-70">
                <a:latin typeface="Arial"/>
                <a:cs typeface="Arial"/>
              </a:rPr>
              <a:t>shows </a:t>
            </a:r>
            <a:r>
              <a:rPr dirty="0" sz="1150" spc="-35">
                <a:latin typeface="Arial"/>
                <a:cs typeface="Arial"/>
              </a:rPr>
              <a:t>more </a:t>
            </a:r>
            <a:r>
              <a:rPr dirty="0" sz="1150" spc="-45">
                <a:latin typeface="Arial"/>
                <a:cs typeface="Arial"/>
              </a:rPr>
              <a:t>confidence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partnership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50">
                <a:latin typeface="Arial"/>
                <a:cs typeface="Arial"/>
              </a:rPr>
              <a:t>compared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proprietorship. </a:t>
            </a: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firm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40">
                <a:latin typeface="Arial"/>
                <a:cs typeface="Arial"/>
              </a:rPr>
              <a:t>registered,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30">
                <a:latin typeface="Arial"/>
                <a:cs typeface="Arial"/>
              </a:rPr>
              <a:t>feel </a:t>
            </a:r>
            <a:r>
              <a:rPr dirty="0" sz="1150" spc="-40">
                <a:latin typeface="Arial"/>
                <a:cs typeface="Arial"/>
              </a:rPr>
              <a:t>no risk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0">
                <a:latin typeface="Arial"/>
                <a:cs typeface="Arial"/>
              </a:rPr>
              <a:t>creating </a:t>
            </a:r>
            <a:r>
              <a:rPr dirty="0" sz="1150" spc="-30">
                <a:latin typeface="Arial"/>
                <a:cs typeface="Arial"/>
              </a:rPr>
              <a:t>relations </a:t>
            </a:r>
            <a:r>
              <a:rPr dirty="0" sz="1150" spc="5">
                <a:latin typeface="Arial"/>
                <a:cs typeface="Arial"/>
              </a:rPr>
              <a:t>with</a:t>
            </a:r>
            <a:r>
              <a:rPr dirty="0" sz="1150" spc="-24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such 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3"/>
              <a:tabLst>
                <a:tab pos="469265" algn="l"/>
                <a:tab pos="470534" algn="l"/>
              </a:tabLst>
            </a:pPr>
            <a:r>
              <a:rPr dirty="0" sz="1150" spc="-80" b="1">
                <a:latin typeface="Arial"/>
                <a:cs typeface="Arial"/>
              </a:rPr>
              <a:t>Prime </a:t>
            </a:r>
            <a:r>
              <a:rPr dirty="0" sz="1150" spc="-75" b="1">
                <a:latin typeface="Arial"/>
                <a:cs typeface="Arial"/>
              </a:rPr>
              <a:t>Credit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Standing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3"/>
            </a:pPr>
            <a:endParaRPr sz="1200">
              <a:latin typeface="Arial"/>
              <a:cs typeface="Arial"/>
            </a:endParaRPr>
          </a:p>
          <a:p>
            <a:pPr marL="12700" marR="889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liabilities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unlimited,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banks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5">
                <a:latin typeface="Arial"/>
                <a:cs typeface="Arial"/>
              </a:rPr>
              <a:t>financial </a:t>
            </a:r>
            <a:r>
              <a:rPr dirty="0" sz="1150" spc="-20">
                <a:latin typeface="Arial"/>
                <a:cs typeface="Arial"/>
              </a:rPr>
              <a:t>institutions </a:t>
            </a:r>
            <a:r>
              <a:rPr dirty="0" sz="1150" spc="-35">
                <a:latin typeface="Arial"/>
                <a:cs typeface="Arial"/>
              </a:rPr>
              <a:t>provide  </a:t>
            </a:r>
            <a:r>
              <a:rPr dirty="0" sz="1150" spc="-25">
                <a:latin typeface="Arial"/>
                <a:cs typeface="Arial"/>
              </a:rPr>
              <a:t>them </a:t>
            </a:r>
            <a:r>
              <a:rPr dirty="0" sz="1150" spc="-20">
                <a:latin typeface="Arial"/>
                <a:cs typeface="Arial"/>
              </a:rPr>
              <a:t>credit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easily.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4"/>
              <a:tabLst>
                <a:tab pos="469265" algn="l"/>
                <a:tab pos="470534" algn="l"/>
              </a:tabLst>
            </a:pPr>
            <a:r>
              <a:rPr dirty="0" sz="1150" spc="-40" b="1">
                <a:latin typeface="Arial"/>
                <a:cs typeface="Arial"/>
              </a:rPr>
              <a:t>Minority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Protection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4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  <a:tabLst>
                <a:tab pos="4897755" algn="l"/>
              </a:tabLst>
            </a:pPr>
            <a:r>
              <a:rPr dirty="0" sz="1150" spc="-40">
                <a:latin typeface="Arial"/>
                <a:cs typeface="Arial"/>
              </a:rPr>
              <a:t>In  </a:t>
            </a:r>
            <a:r>
              <a:rPr dirty="0" sz="1150" spc="-30">
                <a:latin typeface="Arial"/>
                <a:cs typeface="Arial"/>
              </a:rPr>
              <a:t>partnership  all  </a:t>
            </a:r>
            <a:r>
              <a:rPr dirty="0" sz="1150" spc="-35">
                <a:latin typeface="Arial"/>
                <a:cs typeface="Arial"/>
              </a:rPr>
              <a:t>policy  </a:t>
            </a:r>
            <a:r>
              <a:rPr dirty="0" sz="1150" spc="-30">
                <a:latin typeface="Arial"/>
                <a:cs typeface="Arial"/>
              </a:rPr>
              <a:t>matters  </a:t>
            </a:r>
            <a:r>
              <a:rPr dirty="0" sz="1150" spc="-50">
                <a:latin typeface="Arial"/>
                <a:cs typeface="Arial"/>
              </a:rPr>
              <a:t>are  decided  </a:t>
            </a:r>
            <a:r>
              <a:rPr dirty="0" sz="1150">
                <a:latin typeface="Arial"/>
                <a:cs typeface="Arial"/>
              </a:rPr>
              <a:t>with </a:t>
            </a:r>
            <a:r>
              <a:rPr dirty="0" sz="1150" spc="-45">
                <a:latin typeface="Arial"/>
                <a:cs typeface="Arial"/>
              </a:rPr>
              <a:t>consent 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7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each 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partner.</a:t>
            </a:r>
            <a:r>
              <a:rPr dirty="0" sz="1150" spc="-25">
                <a:latin typeface="Times New Roman"/>
                <a:cs typeface="Times New Roman"/>
              </a:rPr>
              <a:t>	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75">
                <a:latin typeface="Arial"/>
                <a:cs typeface="Arial"/>
              </a:rPr>
              <a:t>gives  </a:t>
            </a:r>
            <a:r>
              <a:rPr dirty="0" sz="1150" spc="-15">
                <a:latin typeface="Arial"/>
                <a:cs typeface="Arial"/>
              </a:rPr>
              <a:t>protection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minority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partners.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5"/>
              <a:tabLst>
                <a:tab pos="469265" algn="l"/>
                <a:tab pos="470534" algn="l"/>
              </a:tabLst>
            </a:pPr>
            <a:r>
              <a:rPr dirty="0" sz="1150" spc="-40" b="1">
                <a:latin typeface="Arial"/>
                <a:cs typeface="Arial"/>
              </a:rPr>
              <a:t>Moral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Promotion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AutoNum type="arabicPeriod" startAt="15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45">
                <a:latin typeface="Arial"/>
                <a:cs typeface="Arial"/>
              </a:rPr>
              <a:t>Partnership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best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small </a:t>
            </a:r>
            <a:r>
              <a:rPr dirty="0" sz="1150" spc="-40">
                <a:latin typeface="Arial"/>
                <a:cs typeface="Arial"/>
              </a:rPr>
              <a:t>investors.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35">
                <a:latin typeface="Arial"/>
                <a:cs typeface="Arial"/>
              </a:rPr>
              <a:t>promotes </a:t>
            </a:r>
            <a:r>
              <a:rPr dirty="0" sz="1150" spc="-30">
                <a:latin typeface="Arial"/>
                <a:cs typeface="Arial"/>
              </a:rPr>
              <a:t>moral </a:t>
            </a:r>
            <a:r>
              <a:rPr dirty="0" sz="1150" spc="-60">
                <a:latin typeface="Arial"/>
                <a:cs typeface="Arial"/>
              </a:rPr>
              <a:t>courage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partners.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6"/>
              <a:tabLst>
                <a:tab pos="469265" algn="l"/>
                <a:tab pos="470534" algn="l"/>
              </a:tabLst>
            </a:pPr>
            <a:r>
              <a:rPr dirty="0" sz="1150" spc="-65" b="1">
                <a:latin typeface="Arial"/>
                <a:cs typeface="Arial"/>
              </a:rPr>
              <a:t>Distribution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Work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6"/>
            </a:pPr>
            <a:endParaRPr sz="1200">
              <a:latin typeface="Arial"/>
              <a:cs typeface="Arial"/>
            </a:endParaRPr>
          </a:p>
          <a:p>
            <a:pPr marL="12700" marR="5715">
              <a:lnSpc>
                <a:spcPct val="101699"/>
              </a:lnSpc>
            </a:pPr>
            <a:r>
              <a:rPr dirty="0" sz="1150" spc="-65">
                <a:latin typeface="Arial"/>
                <a:cs typeface="Arial"/>
              </a:rPr>
              <a:t>There is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work </a:t>
            </a:r>
            <a:r>
              <a:rPr dirty="0" sz="1150" spc="-65">
                <a:latin typeface="Arial"/>
                <a:cs typeface="Arial"/>
              </a:rPr>
              <a:t>among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 spc="-55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20">
                <a:latin typeface="Arial"/>
                <a:cs typeface="Arial"/>
              </a:rPr>
              <a:t>ability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experience. 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70">
                <a:latin typeface="Arial"/>
                <a:cs typeface="Arial"/>
              </a:rPr>
              <a:t>increases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efficiency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firm.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7"/>
              <a:tabLst>
                <a:tab pos="469265" algn="l"/>
                <a:tab pos="470534" algn="l"/>
              </a:tabLst>
            </a:pPr>
            <a:r>
              <a:rPr dirty="0" sz="1150" spc="-95" b="1">
                <a:latin typeface="Arial"/>
                <a:cs typeface="Arial"/>
              </a:rPr>
              <a:t>Combined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Abilities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Every </a:t>
            </a:r>
            <a:r>
              <a:rPr dirty="0" sz="1150" spc="-20">
                <a:latin typeface="Arial"/>
                <a:cs typeface="Arial"/>
              </a:rPr>
              <a:t>partner </a:t>
            </a:r>
            <a:r>
              <a:rPr dirty="0" sz="1150" spc="-95">
                <a:latin typeface="Arial"/>
                <a:cs typeface="Arial"/>
              </a:rPr>
              <a:t>possesses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20">
                <a:latin typeface="Arial"/>
                <a:cs typeface="Arial"/>
              </a:rPr>
              <a:t>ability,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5">
                <a:latin typeface="Arial"/>
                <a:cs typeface="Arial"/>
              </a:rPr>
              <a:t>helps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running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30">
                <a:latin typeface="Arial"/>
                <a:cs typeface="Arial"/>
              </a:rPr>
              <a:t>effectively, 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45">
                <a:latin typeface="Arial"/>
                <a:cs typeface="Arial"/>
              </a:rPr>
              <a:t>combined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together.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40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8077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1150" spc="-40" b="1">
                <a:latin typeface="Arial"/>
                <a:cs typeface="Arial"/>
              </a:rPr>
              <a:t>18.</a:t>
            </a:r>
            <a:r>
              <a:rPr dirty="0" sz="1150" spc="-40">
                <a:latin typeface="Times New Roman"/>
                <a:cs typeface="Times New Roman"/>
              </a:rPr>
              <a:t>	</a:t>
            </a:r>
            <a:r>
              <a:rPr dirty="0" sz="1150" spc="-114" b="1">
                <a:latin typeface="Arial"/>
                <a:cs typeface="Arial"/>
              </a:rPr>
              <a:t>Absence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Fraud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partnership </a:t>
            </a:r>
            <a:r>
              <a:rPr dirty="0" sz="1150" spc="-70">
                <a:latin typeface="Arial"/>
                <a:cs typeface="Arial"/>
              </a:rPr>
              <a:t>each </a:t>
            </a:r>
            <a:r>
              <a:rPr dirty="0" sz="1150" spc="-20">
                <a:latin typeface="Arial"/>
                <a:cs typeface="Arial"/>
              </a:rPr>
              <a:t>partner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30">
                <a:latin typeface="Arial"/>
                <a:cs typeface="Arial"/>
              </a:rPr>
              <a:t>look </a:t>
            </a: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30">
                <a:latin typeface="Arial"/>
                <a:cs typeface="Arial"/>
              </a:rPr>
              <a:t>activities. </a:t>
            </a:r>
            <a:r>
              <a:rPr dirty="0" sz="1150" spc="-95">
                <a:latin typeface="Arial"/>
                <a:cs typeface="Arial"/>
              </a:rPr>
              <a:t>He </a:t>
            </a:r>
            <a:r>
              <a:rPr dirty="0" sz="1150" spc="-70">
                <a:latin typeface="Arial"/>
                <a:cs typeface="Arial"/>
              </a:rPr>
              <a:t>can check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55">
                <a:latin typeface="Arial"/>
                <a:cs typeface="Arial"/>
              </a:rPr>
              <a:t>accounts. </a:t>
            </a:r>
            <a:r>
              <a:rPr dirty="0" sz="1150" spc="-105">
                <a:latin typeface="Arial"/>
                <a:cs typeface="Arial"/>
              </a:rPr>
              <a:t>So,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no </a:t>
            </a:r>
            <a:r>
              <a:rPr dirty="0" sz="1150" spc="-40">
                <a:latin typeface="Arial"/>
                <a:cs typeface="Arial"/>
              </a:rPr>
              <a:t>risk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fraud.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60" b="1">
                <a:latin typeface="Arial"/>
                <a:cs typeface="Arial"/>
              </a:rPr>
              <a:t>DISADVANTAGES </a:t>
            </a:r>
            <a:r>
              <a:rPr dirty="0" sz="1350" spc="-175" b="1">
                <a:latin typeface="Arial"/>
                <a:cs typeface="Arial"/>
              </a:rPr>
              <a:t>OF</a:t>
            </a:r>
            <a:r>
              <a:rPr dirty="0" sz="1350" spc="-215" b="1">
                <a:latin typeface="Arial"/>
                <a:cs typeface="Arial"/>
              </a:rPr>
              <a:t> </a:t>
            </a:r>
            <a:r>
              <a:rPr dirty="0" sz="1350" spc="-170" b="1">
                <a:latin typeface="Arial"/>
                <a:cs typeface="Arial"/>
              </a:rPr>
              <a:t>PARTNERSHIP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disadvantages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partnership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enumerated </a:t>
            </a:r>
            <a:r>
              <a:rPr dirty="0" sz="1150" spc="-55">
                <a:latin typeface="Arial"/>
                <a:cs typeface="Arial"/>
              </a:rPr>
              <a:t>one </a:t>
            </a:r>
            <a:r>
              <a:rPr dirty="0" sz="1150" spc="-50">
                <a:latin typeface="Arial"/>
                <a:cs typeface="Arial"/>
              </a:rPr>
              <a:t>by one </a:t>
            </a:r>
            <a:r>
              <a:rPr dirty="0" sz="1150" spc="-110">
                <a:latin typeface="Arial"/>
                <a:cs typeface="Arial"/>
              </a:rPr>
              <a:t>as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under: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dirty="0" sz="1150" spc="-60" b="1">
                <a:latin typeface="Arial"/>
                <a:cs typeface="Arial"/>
              </a:rPr>
              <a:t>Unlimited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Liability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main </a:t>
            </a:r>
            <a:r>
              <a:rPr dirty="0" sz="1150" spc="-60">
                <a:latin typeface="Arial"/>
                <a:cs typeface="Arial"/>
              </a:rPr>
              <a:t>disadvantage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partnership.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loss, </a:t>
            </a:r>
            <a:r>
              <a:rPr dirty="0" sz="1150" spc="-50">
                <a:latin typeface="Arial"/>
                <a:cs typeface="Arial"/>
              </a:rPr>
              <a:t>personal </a:t>
            </a:r>
            <a:r>
              <a:rPr dirty="0" sz="1150" spc="-20">
                <a:latin typeface="Arial"/>
                <a:cs typeface="Arial"/>
              </a:rPr>
              <a:t>property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50">
                <a:latin typeface="Arial"/>
                <a:cs typeface="Arial"/>
              </a:rPr>
              <a:t>sold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70">
                <a:latin typeface="Arial"/>
                <a:cs typeface="Arial"/>
              </a:rPr>
              <a:t>pay </a:t>
            </a:r>
            <a:r>
              <a:rPr dirty="0" sz="1150" spc="5">
                <a:latin typeface="Arial"/>
                <a:cs typeface="Arial"/>
              </a:rPr>
              <a:t>off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firm’s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debts.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1150" spc="-75" b="1">
                <a:latin typeface="Arial"/>
                <a:cs typeface="Arial"/>
              </a:rPr>
              <a:t>Limited </a:t>
            </a:r>
            <a:r>
              <a:rPr dirty="0" sz="1150" spc="-90" b="1">
                <a:latin typeface="Arial"/>
                <a:cs typeface="Arial"/>
              </a:rPr>
              <a:t>Life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Firm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life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this type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15">
                <a:latin typeface="Arial"/>
                <a:cs typeface="Arial"/>
              </a:rPr>
              <a:t>limited.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0">
                <a:latin typeface="Arial"/>
                <a:cs typeface="Arial"/>
              </a:rPr>
              <a:t>may come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50">
                <a:latin typeface="Arial"/>
                <a:cs typeface="Arial"/>
              </a:rPr>
              <a:t>end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 spc="-65">
                <a:latin typeface="Arial"/>
                <a:cs typeface="Arial"/>
              </a:rPr>
              <a:t>any 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60">
                <a:latin typeface="Arial"/>
                <a:cs typeface="Arial"/>
              </a:rPr>
              <a:t>dies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40">
                <a:latin typeface="Arial"/>
                <a:cs typeface="Arial"/>
              </a:rPr>
              <a:t>enters </a:t>
            </a:r>
            <a:r>
              <a:rPr dirty="0" sz="1150" spc="-5">
                <a:latin typeface="Arial"/>
                <a:cs typeface="Arial"/>
              </a:rPr>
              <a:t>into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150" spc="-75" b="1">
                <a:latin typeface="Arial"/>
                <a:cs typeface="Arial"/>
              </a:rPr>
              <a:t>Limited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3"/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65">
                <a:latin typeface="Arial"/>
                <a:cs typeface="Arial"/>
              </a:rPr>
              <a:t>No </a:t>
            </a:r>
            <a:r>
              <a:rPr dirty="0" sz="1150" spc="-25">
                <a:latin typeface="Arial"/>
                <a:cs typeface="Arial"/>
              </a:rPr>
              <a:t>doubt,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partnership, capital,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greater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50">
                <a:latin typeface="Arial"/>
                <a:cs typeface="Arial"/>
              </a:rPr>
              <a:t>compared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proprietorship,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50">
                <a:latin typeface="Arial"/>
                <a:cs typeface="Arial"/>
              </a:rPr>
              <a:t>small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50">
                <a:latin typeface="Arial"/>
                <a:cs typeface="Arial"/>
              </a:rPr>
              <a:t>compared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Joint </a:t>
            </a:r>
            <a:r>
              <a:rPr dirty="0" sz="1150" spc="-70">
                <a:latin typeface="Arial"/>
                <a:cs typeface="Arial"/>
              </a:rPr>
              <a:t>Stock Company. </a:t>
            </a:r>
            <a:r>
              <a:rPr dirty="0" sz="1150" spc="-105">
                <a:latin typeface="Arial"/>
                <a:cs typeface="Arial"/>
              </a:rPr>
              <a:t>So,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cannot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60">
                <a:latin typeface="Arial"/>
                <a:cs typeface="Arial"/>
              </a:rPr>
              <a:t>expanded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large  </a:t>
            </a:r>
            <a:r>
              <a:rPr dirty="0" sz="1150" spc="-65">
                <a:latin typeface="Arial"/>
                <a:cs typeface="Arial"/>
              </a:rPr>
              <a:t>scale.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469265" algn="l"/>
                <a:tab pos="469900" algn="l"/>
              </a:tabLst>
            </a:pPr>
            <a:r>
              <a:rPr dirty="0" sz="1150" spc="-75" b="1">
                <a:latin typeface="Arial"/>
                <a:cs typeface="Arial"/>
              </a:rPr>
              <a:t>Limited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Abilities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4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35">
                <a:latin typeface="Arial"/>
                <a:cs typeface="Arial"/>
              </a:rPr>
              <a:t>financial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partnership </a:t>
            </a:r>
            <a:r>
              <a:rPr dirty="0" sz="1150" spc="-45">
                <a:latin typeface="Arial"/>
                <a:cs typeface="Arial"/>
              </a:rPr>
              <a:t>are </a:t>
            </a:r>
            <a:r>
              <a:rPr dirty="0" sz="1150" spc="-10">
                <a:latin typeface="Arial"/>
                <a:cs typeface="Arial"/>
              </a:rPr>
              <a:t>limited </a:t>
            </a:r>
            <a:r>
              <a:rPr dirty="0" sz="1150" spc="-105">
                <a:latin typeface="Arial"/>
                <a:cs typeface="Arial"/>
              </a:rPr>
              <a:t>as </a:t>
            </a:r>
            <a:r>
              <a:rPr dirty="0" sz="1150" spc="-50">
                <a:latin typeface="Arial"/>
                <a:cs typeface="Arial"/>
              </a:rPr>
              <a:t>compared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Joint </a:t>
            </a:r>
            <a:r>
              <a:rPr dirty="0" sz="1150" spc="-75">
                <a:latin typeface="Arial"/>
                <a:cs typeface="Arial"/>
              </a:rPr>
              <a:t>Stock </a:t>
            </a:r>
            <a:r>
              <a:rPr dirty="0" sz="1150" spc="-70">
                <a:latin typeface="Arial"/>
                <a:cs typeface="Arial"/>
              </a:rPr>
              <a:t>Company,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30">
                <a:latin typeface="Arial"/>
                <a:cs typeface="Arial"/>
              </a:rPr>
              <a:t>it 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55">
                <a:latin typeface="Arial"/>
                <a:cs typeface="Arial"/>
              </a:rPr>
              <a:t>possible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80">
                <a:latin typeface="Arial"/>
                <a:cs typeface="Arial"/>
              </a:rPr>
              <a:t>engage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higher technical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qualified </a:t>
            </a:r>
            <a:r>
              <a:rPr dirty="0" sz="1150" spc="-55">
                <a:latin typeface="Arial"/>
                <a:cs typeface="Arial"/>
              </a:rPr>
              <a:t>persons.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90">
                <a:latin typeface="Arial"/>
                <a:cs typeface="Arial"/>
              </a:rPr>
              <a:t>causes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failure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business, </a:t>
            </a:r>
            <a:r>
              <a:rPr dirty="0" sz="1150" spc="-50">
                <a:latin typeface="Arial"/>
                <a:cs typeface="Arial"/>
              </a:rPr>
              <a:t>sooner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later.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5"/>
              <a:tabLst>
                <a:tab pos="469265" algn="l"/>
                <a:tab pos="469900" algn="l"/>
              </a:tabLst>
            </a:pPr>
            <a:r>
              <a:rPr dirty="0" sz="1150" spc="-75" b="1">
                <a:latin typeface="Arial"/>
                <a:cs typeface="Arial"/>
              </a:rPr>
              <a:t>Limited </a:t>
            </a:r>
            <a:r>
              <a:rPr dirty="0" sz="1150" spc="-80" b="1">
                <a:latin typeface="Arial"/>
                <a:cs typeface="Arial"/>
              </a:rPr>
              <a:t>number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Partners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5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partnership,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5">
                <a:latin typeface="Arial"/>
                <a:cs typeface="Arial"/>
              </a:rPr>
              <a:t>limited,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15">
                <a:latin typeface="Arial"/>
                <a:cs typeface="Arial"/>
              </a:rPr>
              <a:t>limited. </a:t>
            </a:r>
            <a:r>
              <a:rPr dirty="0" sz="1150" spc="-55">
                <a:latin typeface="Arial"/>
                <a:cs typeface="Arial"/>
              </a:rPr>
              <a:t>That  </a:t>
            </a:r>
            <a:r>
              <a:rPr dirty="0" sz="1150" spc="-35">
                <a:latin typeface="Arial"/>
                <a:cs typeface="Arial"/>
              </a:rPr>
              <a:t>why </a:t>
            </a:r>
            <a:r>
              <a:rPr dirty="0" sz="1150" spc="-70">
                <a:latin typeface="Arial"/>
                <a:cs typeface="Arial"/>
              </a:rPr>
              <a:t>business can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65">
                <a:latin typeface="Arial"/>
                <a:cs typeface="Arial"/>
              </a:rPr>
              <a:t>expand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50">
                <a:latin typeface="Arial"/>
                <a:cs typeface="Arial"/>
              </a:rPr>
              <a:t>large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scale.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6"/>
              <a:tabLst>
                <a:tab pos="469265" algn="l"/>
                <a:tab pos="469900" algn="l"/>
              </a:tabLst>
            </a:pPr>
            <a:r>
              <a:rPr dirty="0" sz="1150" spc="-110" b="1">
                <a:latin typeface="Arial"/>
                <a:cs typeface="Arial"/>
              </a:rPr>
              <a:t>Legal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Defects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6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30">
                <a:latin typeface="Arial"/>
                <a:cs typeface="Arial"/>
              </a:rPr>
              <a:t>effective </a:t>
            </a:r>
            <a:r>
              <a:rPr dirty="0" sz="1150" spc="-50">
                <a:latin typeface="Arial"/>
                <a:cs typeface="Arial"/>
              </a:rPr>
              <a:t>rules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regulations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control the </a:t>
            </a:r>
            <a:r>
              <a:rPr dirty="0" sz="1150" spc="-35">
                <a:latin typeface="Arial"/>
                <a:cs typeface="Arial"/>
              </a:rPr>
              <a:t>partnership </a:t>
            </a:r>
            <a:r>
              <a:rPr dirty="0" sz="1150" spc="-30">
                <a:latin typeface="Arial"/>
                <a:cs typeface="Arial"/>
              </a:rPr>
              <a:t>activities. </a:t>
            </a:r>
            <a:r>
              <a:rPr dirty="0" sz="1150" spc="-105">
                <a:latin typeface="Arial"/>
                <a:cs typeface="Arial"/>
              </a:rPr>
              <a:t>So, </a:t>
            </a:r>
            <a:r>
              <a:rPr dirty="0" sz="1150" spc="30">
                <a:latin typeface="Arial"/>
                <a:cs typeface="Arial"/>
              </a:rPr>
              <a:t>it  </a:t>
            </a:r>
            <a:r>
              <a:rPr dirty="0" sz="1150" spc="-40">
                <a:latin typeface="Arial"/>
                <a:cs typeface="Arial"/>
              </a:rPr>
              <a:t>cannot </a:t>
            </a:r>
            <a:r>
              <a:rPr dirty="0" sz="1150" spc="-50">
                <a:latin typeface="Arial"/>
                <a:cs typeface="Arial"/>
              </a:rPr>
              <a:t>handle </a:t>
            </a:r>
            <a:r>
              <a:rPr dirty="0" sz="1150" spc="-60">
                <a:latin typeface="Arial"/>
                <a:cs typeface="Arial"/>
              </a:rPr>
              <a:t>large-scale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7"/>
              <a:tabLst>
                <a:tab pos="469265" algn="l"/>
                <a:tab pos="469900" algn="l"/>
              </a:tabLst>
            </a:pPr>
            <a:r>
              <a:rPr dirty="0" sz="1150" spc="-135" b="1">
                <a:latin typeface="Arial"/>
                <a:cs typeface="Arial"/>
              </a:rPr>
              <a:t>Lack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170" b="1">
                <a:latin typeface="Arial"/>
                <a:cs typeface="Arial"/>
              </a:rPr>
              <a:t> </a:t>
            </a:r>
            <a:r>
              <a:rPr dirty="0" sz="1150" spc="-55" b="1">
                <a:latin typeface="Arial"/>
                <a:cs typeface="Arial"/>
              </a:rPr>
              <a:t>Interest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Partners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40">
                <a:latin typeface="Arial"/>
                <a:cs typeface="Arial"/>
              </a:rPr>
              <a:t>take </a:t>
            </a:r>
            <a:r>
              <a:rPr dirty="0" sz="1150" spc="-20">
                <a:latin typeface="Arial"/>
                <a:cs typeface="Arial"/>
              </a:rPr>
              <a:t>interest in 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30">
                <a:latin typeface="Arial"/>
                <a:cs typeface="Arial"/>
              </a:rPr>
              <a:t>activities </a:t>
            </a:r>
            <a:r>
              <a:rPr dirty="0" sz="1150" spc="-5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limited </a:t>
            </a:r>
            <a:r>
              <a:rPr dirty="0" sz="1150" spc="-65">
                <a:latin typeface="Arial"/>
                <a:cs typeface="Arial"/>
              </a:rPr>
              <a:t>share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5">
                <a:latin typeface="Arial"/>
                <a:cs typeface="Arial"/>
              </a:rPr>
              <a:t>profit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10">
                <a:latin typeface="Arial"/>
                <a:cs typeface="Arial"/>
              </a:rPr>
              <a:t>limited </a:t>
            </a:r>
            <a:r>
              <a:rPr dirty="0" sz="1150" spc="-80">
                <a:latin typeface="Arial"/>
                <a:cs typeface="Arial"/>
              </a:rPr>
              <a:t>chances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growth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41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4340" cy="7751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8"/>
              <a:tabLst>
                <a:tab pos="469265" algn="l"/>
                <a:tab pos="469900" algn="l"/>
              </a:tabLst>
            </a:pPr>
            <a:r>
              <a:rPr dirty="0" sz="1150" spc="-135" b="1">
                <a:latin typeface="Arial"/>
                <a:cs typeface="Arial"/>
              </a:rPr>
              <a:t>Lack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00" b="1">
                <a:latin typeface="Arial"/>
                <a:cs typeface="Arial"/>
              </a:rPr>
              <a:t>Public</a:t>
            </a:r>
            <a:r>
              <a:rPr dirty="0" sz="1150" spc="-185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Confidence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8"/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55">
                <a:latin typeface="Arial"/>
                <a:cs typeface="Arial"/>
              </a:rPr>
              <a:t>need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0">
                <a:latin typeface="Arial"/>
                <a:cs typeface="Arial"/>
              </a:rPr>
              <a:t>law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publish </a:t>
            </a:r>
            <a:r>
              <a:rPr dirty="0" sz="1150" spc="-55">
                <a:latin typeface="Arial"/>
                <a:cs typeface="Arial"/>
              </a:rPr>
              <a:t>accounts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partnership,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55">
                <a:latin typeface="Arial"/>
                <a:cs typeface="Arial"/>
              </a:rPr>
              <a:t>lose </a:t>
            </a:r>
            <a:r>
              <a:rPr dirty="0" sz="1150" spc="-45">
                <a:latin typeface="Arial"/>
                <a:cs typeface="Arial"/>
              </a:rPr>
              <a:t>confidence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45">
                <a:latin typeface="Arial"/>
                <a:cs typeface="Arial"/>
              </a:rPr>
              <a:t>avoid </a:t>
            </a:r>
            <a:r>
              <a:rPr dirty="0" sz="1150" spc="-50">
                <a:latin typeface="Arial"/>
                <a:cs typeface="Arial"/>
              </a:rPr>
              <a:t>dealing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entering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25">
                <a:latin typeface="Arial"/>
                <a:cs typeface="Arial"/>
              </a:rPr>
              <a:t>contract </a:t>
            </a:r>
            <a:r>
              <a:rPr dirty="0" sz="1150" spc="5">
                <a:latin typeface="Arial"/>
                <a:cs typeface="Arial"/>
              </a:rPr>
              <a:t>with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10">
                <a:latin typeface="Arial"/>
                <a:cs typeface="Arial"/>
              </a:rPr>
              <a:t>firm.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9"/>
              <a:tabLst>
                <a:tab pos="469265" algn="l"/>
                <a:tab pos="469900" algn="l"/>
              </a:tabLst>
            </a:pPr>
            <a:r>
              <a:rPr dirty="0" sz="1150" spc="-135" b="1">
                <a:latin typeface="Arial"/>
                <a:cs typeface="Arial"/>
              </a:rPr>
              <a:t>Lack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75" b="1">
                <a:latin typeface="Arial"/>
                <a:cs typeface="Arial"/>
              </a:rPr>
              <a:t>Prompt</a:t>
            </a:r>
            <a:r>
              <a:rPr dirty="0" sz="1150" spc="-195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Decision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9"/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  <a:spcBef>
                <a:spcPts val="5"/>
              </a:spcBef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partnership all </a:t>
            </a:r>
            <a:r>
              <a:rPr dirty="0" sz="1150" spc="-60">
                <a:latin typeface="Arial"/>
                <a:cs typeface="Arial"/>
              </a:rPr>
              <a:t>decisions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60">
                <a:latin typeface="Arial"/>
                <a:cs typeface="Arial"/>
              </a:rPr>
              <a:t>made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5">
                <a:latin typeface="Arial"/>
                <a:cs typeface="Arial"/>
              </a:rPr>
              <a:t>mutual </a:t>
            </a:r>
            <a:r>
              <a:rPr dirty="0" sz="1150" spc="-30">
                <a:latin typeface="Arial"/>
                <a:cs typeface="Arial"/>
              </a:rPr>
              <a:t>consultation. </a:t>
            </a:r>
            <a:r>
              <a:rPr dirty="0" sz="1150" spc="-60">
                <a:latin typeface="Arial"/>
                <a:cs typeface="Arial"/>
              </a:rPr>
              <a:t>Sometimes, </a:t>
            </a:r>
            <a:r>
              <a:rPr dirty="0" sz="1150" spc="-55">
                <a:latin typeface="Arial"/>
                <a:cs typeface="Arial"/>
              </a:rPr>
              <a:t>delay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0">
                <a:latin typeface="Arial"/>
                <a:cs typeface="Arial"/>
              </a:rPr>
              <a:t>decisions  </a:t>
            </a:r>
            <a:r>
              <a:rPr dirty="0" sz="1150" spc="-70">
                <a:latin typeface="Arial"/>
                <a:cs typeface="Arial"/>
              </a:rPr>
              <a:t>becomes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5">
                <a:latin typeface="Arial"/>
                <a:cs typeface="Arial"/>
              </a:rPr>
              <a:t>cause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loss.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0"/>
              <a:tabLst>
                <a:tab pos="469265" algn="l"/>
                <a:tab pos="470534" algn="l"/>
              </a:tabLst>
            </a:pPr>
            <a:r>
              <a:rPr dirty="0" sz="1150" spc="-135" b="1">
                <a:latin typeface="Arial"/>
                <a:cs typeface="Arial"/>
              </a:rPr>
              <a:t>Lack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170" b="1">
                <a:latin typeface="Arial"/>
                <a:cs typeface="Arial"/>
              </a:rPr>
              <a:t> </a:t>
            </a:r>
            <a:r>
              <a:rPr dirty="0" sz="1150" spc="-120" b="1">
                <a:latin typeface="Arial"/>
                <a:cs typeface="Arial"/>
              </a:rPr>
              <a:t>Secrecy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0"/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misunderstandings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disputes </a:t>
            </a:r>
            <a:r>
              <a:rPr dirty="0" sz="1150" spc="-65">
                <a:latin typeface="Arial"/>
                <a:cs typeface="Arial"/>
              </a:rPr>
              <a:t>among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partners,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0">
                <a:latin typeface="Arial"/>
                <a:cs typeface="Arial"/>
              </a:rPr>
              <a:t>secrets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 </a:t>
            </a:r>
            <a:r>
              <a:rPr dirty="0" sz="1150" spc="-45">
                <a:latin typeface="Arial"/>
                <a:cs typeface="Arial"/>
              </a:rPr>
              <a:t>revealed.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1"/>
              <a:tabLst>
                <a:tab pos="469265" algn="l"/>
                <a:tab pos="470534" algn="l"/>
              </a:tabLst>
            </a:pPr>
            <a:r>
              <a:rPr dirty="0" sz="1150" spc="-125" b="1">
                <a:latin typeface="Arial"/>
                <a:cs typeface="Arial"/>
              </a:rPr>
              <a:t>Chances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80" b="1">
                <a:latin typeface="Arial"/>
                <a:cs typeface="Arial"/>
              </a:rPr>
              <a:t>Dispute </a:t>
            </a:r>
            <a:r>
              <a:rPr dirty="0" sz="1150" spc="-105" b="1">
                <a:latin typeface="Arial"/>
                <a:cs typeface="Arial"/>
              </a:rPr>
              <a:t>among</a:t>
            </a:r>
            <a:r>
              <a:rPr dirty="0" sz="1150" spc="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Partners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1"/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partnership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45">
                <a:latin typeface="Arial"/>
                <a:cs typeface="Arial"/>
              </a:rPr>
              <a:t>are </a:t>
            </a:r>
            <a:r>
              <a:rPr dirty="0" sz="1150" spc="-50">
                <a:latin typeface="Arial"/>
                <a:cs typeface="Arial"/>
              </a:rPr>
              <a:t>much </a:t>
            </a:r>
            <a:r>
              <a:rPr dirty="0" sz="1150" spc="-80">
                <a:latin typeface="Arial"/>
                <a:cs typeface="Arial"/>
              </a:rPr>
              <a:t>chances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dispute </a:t>
            </a:r>
            <a:r>
              <a:rPr dirty="0" sz="1150" spc="-60">
                <a:latin typeface="Arial"/>
                <a:cs typeface="Arial"/>
              </a:rPr>
              <a:t>among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equal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mind.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2"/>
              <a:tabLst>
                <a:tab pos="469265" algn="l"/>
                <a:tab pos="470534" algn="l"/>
              </a:tabLst>
            </a:pPr>
            <a:r>
              <a:rPr dirty="0" sz="1150" spc="-110" b="1">
                <a:latin typeface="Arial"/>
                <a:cs typeface="Arial"/>
              </a:rPr>
              <a:t>Expansion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Problem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2"/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Partnership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may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60">
                <a:latin typeface="Arial"/>
                <a:cs typeface="Arial"/>
              </a:rPr>
              <a:t>expanded </a:t>
            </a:r>
            <a:r>
              <a:rPr dirty="0" sz="1150" spc="-5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limited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partners, </a:t>
            </a:r>
            <a:r>
              <a:rPr dirty="0" sz="1150" spc="-10">
                <a:latin typeface="Arial"/>
                <a:cs typeface="Arial"/>
              </a:rPr>
              <a:t>limited 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unlimited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liability.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3"/>
              <a:tabLst>
                <a:tab pos="469265" algn="l"/>
                <a:tab pos="470534" algn="l"/>
              </a:tabLst>
            </a:pPr>
            <a:r>
              <a:rPr dirty="0" sz="1150" spc="-100" b="1">
                <a:latin typeface="Arial"/>
                <a:cs typeface="Arial"/>
              </a:rPr>
              <a:t>Frozen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Investment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AutoNum type="arabicPeriod" startAt="13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15">
                <a:latin typeface="Arial"/>
                <a:cs typeface="Arial"/>
              </a:rPr>
              <a:t>It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easy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invest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money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partnership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but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very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difficult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withdraw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it.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4"/>
              <a:tabLst>
                <a:tab pos="469265" algn="l"/>
                <a:tab pos="470534" algn="l"/>
              </a:tabLst>
            </a:pPr>
            <a:r>
              <a:rPr dirty="0" sz="1150" spc="-125" b="1">
                <a:latin typeface="Arial"/>
                <a:cs typeface="Arial"/>
              </a:rPr>
              <a:t>Risk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200" b="1">
                <a:latin typeface="Arial"/>
                <a:cs typeface="Arial"/>
              </a:rPr>
              <a:t> </a:t>
            </a:r>
            <a:r>
              <a:rPr dirty="0" sz="1150" spc="-165" b="1">
                <a:latin typeface="Arial"/>
                <a:cs typeface="Arial"/>
              </a:rPr>
              <a:t>Loss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14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65">
                <a:latin typeface="Arial"/>
                <a:cs typeface="Arial"/>
              </a:rPr>
              <a:t>There 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risk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loss </a:t>
            </a:r>
            <a:r>
              <a:rPr dirty="0" sz="1150" spc="-5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80">
                <a:latin typeface="Arial"/>
                <a:cs typeface="Arial"/>
              </a:rPr>
              <a:t>less </a:t>
            </a:r>
            <a:r>
              <a:rPr dirty="0" sz="1150" spc="-30">
                <a:latin typeface="Arial"/>
                <a:cs typeface="Arial"/>
              </a:rPr>
              <a:t>qualified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80">
                <a:latin typeface="Arial"/>
                <a:cs typeface="Arial"/>
              </a:rPr>
              <a:t>less </a:t>
            </a:r>
            <a:r>
              <a:rPr dirty="0" sz="1150" spc="-50">
                <a:latin typeface="Arial"/>
                <a:cs typeface="Arial"/>
              </a:rPr>
              <a:t>experienced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people.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5"/>
              <a:tabLst>
                <a:tab pos="469265" algn="l"/>
                <a:tab pos="470534" algn="l"/>
              </a:tabLst>
            </a:pPr>
            <a:r>
              <a:rPr dirty="0" sz="1150" spc="-85" b="1">
                <a:latin typeface="Arial"/>
                <a:cs typeface="Arial"/>
              </a:rPr>
              <a:t>Transfer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spc="-110" b="1">
                <a:latin typeface="Arial"/>
                <a:cs typeface="Arial"/>
              </a:rPr>
              <a:t>Rights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4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partnership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no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partner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can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transfer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his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share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without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consent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all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partners.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65" b="1">
                <a:latin typeface="Arial"/>
                <a:cs typeface="Arial"/>
              </a:rPr>
              <a:t>CONCLUSION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6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above-mentioned findings, we </a:t>
            </a:r>
            <a:r>
              <a:rPr dirty="0" sz="1150" spc="-60">
                <a:latin typeface="Arial"/>
                <a:cs typeface="Arial"/>
              </a:rPr>
              <a:t>come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10">
                <a:latin typeface="Arial"/>
                <a:cs typeface="Arial"/>
              </a:rPr>
              <a:t>point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0">
                <a:latin typeface="Arial"/>
                <a:cs typeface="Arial"/>
              </a:rPr>
              <a:t>despite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above  disadvantages, </a:t>
            </a:r>
            <a:r>
              <a:rPr dirty="0" sz="1150" spc="-30">
                <a:latin typeface="Arial"/>
                <a:cs typeface="Arial"/>
              </a:rPr>
              <a:t>partnership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10">
                <a:latin typeface="Arial"/>
                <a:cs typeface="Arial"/>
              </a:rPr>
              <a:t>important from of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75">
                <a:latin typeface="Arial"/>
                <a:cs typeface="Arial"/>
              </a:rPr>
              <a:t>because 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15">
                <a:latin typeface="Arial"/>
                <a:cs typeface="Arial"/>
              </a:rPr>
              <a:t>formation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90">
                <a:latin typeface="Arial"/>
                <a:cs typeface="Arial"/>
              </a:rPr>
              <a:t>easy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unlimited </a:t>
            </a:r>
            <a:r>
              <a:rPr dirty="0" sz="1150" spc="-25">
                <a:latin typeface="Arial"/>
                <a:cs typeface="Arial"/>
              </a:rPr>
              <a:t>liabilities,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 spc="-40">
                <a:latin typeface="Arial"/>
                <a:cs typeface="Arial"/>
              </a:rPr>
              <a:t>take great </a:t>
            </a:r>
            <a:r>
              <a:rPr dirty="0" sz="1150" spc="-20">
                <a:latin typeface="Arial"/>
                <a:cs typeface="Arial"/>
              </a:rPr>
              <a:t>interest in  </a:t>
            </a:r>
            <a:r>
              <a:rPr dirty="0" sz="1150" spc="-65">
                <a:latin typeface="Arial"/>
                <a:cs typeface="Arial"/>
              </a:rPr>
              <a:t>business,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loss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personally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responsible.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42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4340" cy="79292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90" b="1">
                <a:latin typeface="Arial"/>
                <a:cs typeface="Arial"/>
              </a:rPr>
              <a:t>PARTNERS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dirty="0" sz="1150" spc="-50" i="1">
                <a:latin typeface="Arial"/>
                <a:cs typeface="Arial"/>
              </a:rPr>
              <a:t>“The </a:t>
            </a:r>
            <a:r>
              <a:rPr dirty="0" sz="1150" spc="-45" i="1">
                <a:latin typeface="Arial"/>
                <a:cs typeface="Arial"/>
              </a:rPr>
              <a:t>individuals </a:t>
            </a:r>
            <a:r>
              <a:rPr dirty="0" sz="1150" spc="-40" i="1">
                <a:latin typeface="Arial"/>
                <a:cs typeface="Arial"/>
              </a:rPr>
              <a:t>who </a:t>
            </a:r>
            <a:r>
              <a:rPr dirty="0" sz="1150" spc="-60" i="1">
                <a:latin typeface="Arial"/>
                <a:cs typeface="Arial"/>
              </a:rPr>
              <a:t>comprise </a:t>
            </a:r>
            <a:r>
              <a:rPr dirty="0" sz="1150" spc="-50" i="1">
                <a:latin typeface="Arial"/>
                <a:cs typeface="Arial"/>
              </a:rPr>
              <a:t>a </a:t>
            </a:r>
            <a:r>
              <a:rPr dirty="0" sz="1150" spc="-40" i="1">
                <a:latin typeface="Arial"/>
                <a:cs typeface="Arial"/>
              </a:rPr>
              <a:t>partnership </a:t>
            </a:r>
            <a:r>
              <a:rPr dirty="0" sz="1150" spc="-45" i="1">
                <a:latin typeface="Arial"/>
                <a:cs typeface="Arial"/>
              </a:rPr>
              <a:t>are known </a:t>
            </a:r>
            <a:r>
              <a:rPr dirty="0" sz="1150" spc="-95" i="1">
                <a:latin typeface="Arial"/>
                <a:cs typeface="Arial"/>
              </a:rPr>
              <a:t>as</a:t>
            </a:r>
            <a:r>
              <a:rPr dirty="0" sz="1150" spc="-150" i="1">
                <a:latin typeface="Arial"/>
                <a:cs typeface="Arial"/>
              </a:rPr>
              <a:t> </a:t>
            </a:r>
            <a:r>
              <a:rPr dirty="0" sz="1150" spc="-25" i="1">
                <a:latin typeface="Arial"/>
                <a:cs typeface="Arial"/>
              </a:rPr>
              <a:t>partners.”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50" b="1">
                <a:latin typeface="Arial"/>
                <a:cs typeface="Arial"/>
              </a:rPr>
              <a:t>KINDS </a:t>
            </a:r>
            <a:r>
              <a:rPr dirty="0" sz="1350" spc="-175" b="1">
                <a:latin typeface="Arial"/>
                <a:cs typeface="Arial"/>
              </a:rPr>
              <a:t>OF</a:t>
            </a:r>
            <a:r>
              <a:rPr dirty="0" sz="1350" spc="-220" b="1">
                <a:latin typeface="Arial"/>
                <a:cs typeface="Arial"/>
              </a:rPr>
              <a:t> </a:t>
            </a:r>
            <a:r>
              <a:rPr dirty="0" sz="1350" spc="-190" b="1">
                <a:latin typeface="Arial"/>
                <a:cs typeface="Arial"/>
              </a:rPr>
              <a:t>PARTNERS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9525">
              <a:lnSpc>
                <a:spcPct val="101699"/>
              </a:lnSpc>
              <a:spcBef>
                <a:spcPts val="5"/>
              </a:spcBef>
            </a:pPr>
            <a:r>
              <a:rPr dirty="0" sz="1150" spc="-55">
                <a:latin typeface="Arial"/>
                <a:cs typeface="Arial"/>
              </a:rPr>
              <a:t>Partners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50">
                <a:latin typeface="Arial"/>
                <a:cs typeface="Arial"/>
              </a:rPr>
              <a:t>classified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50">
                <a:latin typeface="Arial"/>
                <a:cs typeface="Arial"/>
              </a:rPr>
              <a:t>kinds, depending </a:t>
            </a:r>
            <a:r>
              <a:rPr dirty="0" sz="1150" spc="-35">
                <a:latin typeface="Arial"/>
                <a:cs typeface="Arial"/>
              </a:rPr>
              <a:t>upon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25">
                <a:latin typeface="Arial"/>
                <a:cs typeface="Arial"/>
              </a:rPr>
              <a:t>extent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liability,  </a:t>
            </a:r>
            <a:r>
              <a:rPr dirty="0" sz="1150" spc="-25">
                <a:latin typeface="Arial"/>
                <a:cs typeface="Arial"/>
              </a:rPr>
              <a:t>participation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management, </a:t>
            </a:r>
            <a:r>
              <a:rPr dirty="0" sz="1150" spc="-65">
                <a:latin typeface="Arial"/>
                <a:cs typeface="Arial"/>
              </a:rPr>
              <a:t>share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profits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facts.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/>
              <a:tabLst>
                <a:tab pos="469265" algn="l"/>
                <a:tab pos="470534" algn="l"/>
              </a:tabLst>
            </a:pPr>
            <a:r>
              <a:rPr dirty="0" sz="1150" spc="-85" b="1">
                <a:latin typeface="Arial"/>
                <a:cs typeface="Arial"/>
              </a:rPr>
              <a:t>Active</a:t>
            </a:r>
            <a:r>
              <a:rPr dirty="0" sz="1150" spc="-65" b="1">
                <a:latin typeface="Arial"/>
                <a:cs typeface="Arial"/>
              </a:rPr>
              <a:t> Partner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2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60">
                <a:latin typeface="Arial"/>
                <a:cs typeface="Arial"/>
              </a:rPr>
              <a:t>takes </a:t>
            </a:r>
            <a:r>
              <a:rPr dirty="0" sz="1150" spc="-45">
                <a:latin typeface="Arial"/>
                <a:cs typeface="Arial"/>
              </a:rPr>
              <a:t>active </a:t>
            </a:r>
            <a:r>
              <a:rPr dirty="0" sz="1150" spc="-15">
                <a:latin typeface="Arial"/>
                <a:cs typeface="Arial"/>
              </a:rPr>
              <a:t>part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35">
                <a:latin typeface="Arial"/>
                <a:cs typeface="Arial"/>
              </a:rPr>
              <a:t>affairs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55">
                <a:latin typeface="Arial"/>
                <a:cs typeface="Arial"/>
              </a:rPr>
              <a:t>management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40">
                <a:latin typeface="Arial"/>
                <a:cs typeface="Arial"/>
              </a:rPr>
              <a:t>active  </a:t>
            </a:r>
            <a:r>
              <a:rPr dirty="0" sz="1150" spc="-25">
                <a:latin typeface="Arial"/>
                <a:cs typeface="Arial"/>
              </a:rPr>
              <a:t>partner. </a:t>
            </a:r>
            <a:r>
              <a:rPr dirty="0" sz="1150" spc="-95">
                <a:latin typeface="Arial"/>
                <a:cs typeface="Arial"/>
              </a:rPr>
              <a:t>He </a:t>
            </a:r>
            <a:r>
              <a:rPr dirty="0" sz="1150" spc="-30">
                <a:latin typeface="Arial"/>
                <a:cs typeface="Arial"/>
              </a:rPr>
              <a:t>contributes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65">
                <a:latin typeface="Arial"/>
                <a:cs typeface="Arial"/>
              </a:rPr>
              <a:t>share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liable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pay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obligations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5">
                <a:latin typeface="Arial"/>
                <a:cs typeface="Arial"/>
              </a:rPr>
              <a:t>firm.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2"/>
              <a:tabLst>
                <a:tab pos="469265" algn="l"/>
                <a:tab pos="470534" algn="l"/>
              </a:tabLst>
            </a:pPr>
            <a:r>
              <a:rPr dirty="0" sz="1150" spc="-95" b="1">
                <a:latin typeface="Arial"/>
                <a:cs typeface="Arial"/>
              </a:rPr>
              <a:t>Secret</a:t>
            </a:r>
            <a:r>
              <a:rPr dirty="0" sz="1150" spc="-65" b="1">
                <a:latin typeface="Arial"/>
                <a:cs typeface="Arial"/>
              </a:rPr>
              <a:t> Partner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60">
                <a:latin typeface="Arial"/>
                <a:cs typeface="Arial"/>
              </a:rPr>
              <a:t>takes </a:t>
            </a:r>
            <a:r>
              <a:rPr dirty="0" sz="1150" spc="-45">
                <a:latin typeface="Arial"/>
                <a:cs typeface="Arial"/>
              </a:rPr>
              <a:t>active </a:t>
            </a:r>
            <a:r>
              <a:rPr dirty="0" sz="1150" spc="-15">
                <a:latin typeface="Arial"/>
                <a:cs typeface="Arial"/>
              </a:rPr>
              <a:t>part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35">
                <a:latin typeface="Arial"/>
                <a:cs typeface="Arial"/>
              </a:rPr>
              <a:t>affairs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unknown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public </a:t>
            </a:r>
            <a:r>
              <a:rPr dirty="0" sz="1150" spc="-120">
                <a:latin typeface="Arial"/>
                <a:cs typeface="Arial"/>
              </a:rPr>
              <a:t>as 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50">
                <a:latin typeface="Arial"/>
                <a:cs typeface="Arial"/>
              </a:rPr>
              <a:t>secret </a:t>
            </a:r>
            <a:r>
              <a:rPr dirty="0" sz="1150" spc="-25">
                <a:latin typeface="Arial"/>
                <a:cs typeface="Arial"/>
              </a:rPr>
              <a:t>partner. </a:t>
            </a:r>
            <a:r>
              <a:rPr dirty="0" sz="1150" spc="-95">
                <a:latin typeface="Arial"/>
                <a:cs typeface="Arial"/>
              </a:rPr>
              <a:t>He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liable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creditors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1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firm.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469265" algn="l"/>
                <a:tab pos="470534" algn="l"/>
              </a:tabLst>
            </a:pPr>
            <a:r>
              <a:rPr dirty="0" sz="1150" spc="-95" b="1">
                <a:latin typeface="Arial"/>
                <a:cs typeface="Arial"/>
              </a:rPr>
              <a:t>Sleeping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Partner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3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30">
                <a:latin typeface="Arial"/>
                <a:cs typeface="Arial"/>
              </a:rPr>
              <a:t>who only </a:t>
            </a:r>
            <a:r>
              <a:rPr dirty="0" sz="1150" spc="-25">
                <a:latin typeface="Arial"/>
                <a:cs typeface="Arial"/>
              </a:rPr>
              <a:t>contributes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65">
                <a:latin typeface="Arial"/>
                <a:cs typeface="Arial"/>
              </a:rPr>
              <a:t>does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40">
                <a:latin typeface="Arial"/>
                <a:cs typeface="Arial"/>
              </a:rPr>
              <a:t>take </a:t>
            </a:r>
            <a:r>
              <a:rPr dirty="0" sz="1150" spc="-15">
                <a:latin typeface="Arial"/>
                <a:cs typeface="Arial"/>
              </a:rPr>
              <a:t>part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50">
                <a:latin typeface="Arial"/>
                <a:cs typeface="Arial"/>
              </a:rPr>
              <a:t>management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is </a:t>
            </a:r>
            <a:r>
              <a:rPr dirty="0" sz="1150" spc="-35">
                <a:latin typeface="Arial"/>
                <a:cs typeface="Arial"/>
              </a:rPr>
              <a:t>known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60">
                <a:latin typeface="Arial"/>
                <a:cs typeface="Arial"/>
              </a:rPr>
              <a:t>sleeping </a:t>
            </a:r>
            <a:r>
              <a:rPr dirty="0" sz="1150" spc="-25">
                <a:latin typeface="Arial"/>
                <a:cs typeface="Arial"/>
              </a:rPr>
              <a:t>partner. </a:t>
            </a:r>
            <a:r>
              <a:rPr dirty="0" sz="1150" spc="-95">
                <a:latin typeface="Arial"/>
                <a:cs typeface="Arial"/>
              </a:rPr>
              <a:t>He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liable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pay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obligations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firm.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4"/>
              <a:tabLst>
                <a:tab pos="469265" algn="l"/>
                <a:tab pos="470534" algn="l"/>
              </a:tabLst>
            </a:pPr>
            <a:r>
              <a:rPr dirty="0" sz="1150" spc="-75" b="1">
                <a:latin typeface="Arial"/>
                <a:cs typeface="Arial"/>
              </a:rPr>
              <a:t>Silent</a:t>
            </a:r>
            <a:r>
              <a:rPr dirty="0" sz="1150" spc="-65" b="1">
                <a:latin typeface="Arial"/>
                <a:cs typeface="Arial"/>
              </a:rPr>
              <a:t> Partner</a:t>
            </a:r>
            <a:endParaRPr sz="1150">
              <a:latin typeface="Arial"/>
              <a:cs typeface="Arial"/>
            </a:endParaRPr>
          </a:p>
          <a:p>
            <a:pPr algn="just" marL="12700" marR="1016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70">
                <a:latin typeface="Arial"/>
                <a:cs typeface="Arial"/>
              </a:rPr>
              <a:t>does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40">
                <a:latin typeface="Arial"/>
                <a:cs typeface="Arial"/>
              </a:rPr>
              <a:t>take </a:t>
            </a:r>
            <a:r>
              <a:rPr dirty="0" sz="1150" spc="-15">
                <a:latin typeface="Arial"/>
                <a:cs typeface="Arial"/>
              </a:rPr>
              <a:t>part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50">
                <a:latin typeface="Arial"/>
                <a:cs typeface="Arial"/>
              </a:rPr>
              <a:t>management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known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public 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called </a:t>
            </a:r>
            <a:r>
              <a:rPr dirty="0" sz="1150" spc="-30">
                <a:latin typeface="Arial"/>
                <a:cs typeface="Arial"/>
              </a:rPr>
              <a:t>silent </a:t>
            </a:r>
            <a:r>
              <a:rPr dirty="0" sz="1150" spc="-25">
                <a:latin typeface="Arial"/>
                <a:cs typeface="Arial"/>
              </a:rPr>
              <a:t>partner. </a:t>
            </a:r>
            <a:r>
              <a:rPr dirty="0" sz="1150" spc="-95">
                <a:latin typeface="Arial"/>
                <a:cs typeface="Arial"/>
              </a:rPr>
              <a:t>He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liable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creditors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firm.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5"/>
              <a:tabLst>
                <a:tab pos="469265" algn="l"/>
                <a:tab pos="470534" algn="l"/>
              </a:tabLst>
            </a:pPr>
            <a:r>
              <a:rPr dirty="0" sz="1150" spc="-90" b="1">
                <a:latin typeface="Arial"/>
                <a:cs typeface="Arial"/>
              </a:rPr>
              <a:t>Senior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Partner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5"/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50">
                <a:latin typeface="Arial"/>
                <a:cs typeface="Arial"/>
              </a:rPr>
              <a:t>invests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large </a:t>
            </a:r>
            <a:r>
              <a:rPr dirty="0" sz="1150" spc="-10">
                <a:latin typeface="Arial"/>
                <a:cs typeface="Arial"/>
              </a:rPr>
              <a:t>portion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70">
                <a:latin typeface="Arial"/>
                <a:cs typeface="Arial"/>
              </a:rPr>
              <a:t>business is </a:t>
            </a:r>
            <a:r>
              <a:rPr dirty="0" sz="1150" spc="-45">
                <a:latin typeface="Arial"/>
                <a:cs typeface="Arial"/>
              </a:rPr>
              <a:t>called senior </a:t>
            </a:r>
            <a:r>
              <a:rPr dirty="0" sz="1150" spc="-25">
                <a:latin typeface="Arial"/>
                <a:cs typeface="Arial"/>
              </a:rPr>
              <a:t>partner. </a:t>
            </a:r>
            <a:r>
              <a:rPr dirty="0" sz="1150" spc="-95">
                <a:latin typeface="Arial"/>
                <a:cs typeface="Arial"/>
              </a:rPr>
              <a:t>He 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prominent </a:t>
            </a:r>
            <a:r>
              <a:rPr dirty="0" sz="1150" spc="-25">
                <a:latin typeface="Arial"/>
                <a:cs typeface="Arial"/>
              </a:rPr>
              <a:t>position in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>
                <a:latin typeface="Arial"/>
                <a:cs typeface="Arial"/>
              </a:rPr>
              <a:t>firm </a:t>
            </a:r>
            <a:r>
              <a:rPr dirty="0" sz="1150" spc="-5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50">
                <a:latin typeface="Arial"/>
                <a:cs typeface="Arial"/>
              </a:rPr>
              <a:t>experience, </a:t>
            </a:r>
            <a:r>
              <a:rPr dirty="0" sz="1150" spc="-35">
                <a:latin typeface="Arial"/>
                <a:cs typeface="Arial"/>
              </a:rPr>
              <a:t>skill, </a:t>
            </a:r>
            <a:r>
              <a:rPr dirty="0" sz="1150" spc="-55">
                <a:latin typeface="Arial"/>
                <a:cs typeface="Arial"/>
              </a:rPr>
              <a:t>energy, </a:t>
            </a:r>
            <a:r>
              <a:rPr dirty="0" sz="1150" spc="-90">
                <a:latin typeface="Arial"/>
                <a:cs typeface="Arial"/>
              </a:rPr>
              <a:t>age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24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facts.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6"/>
              <a:tabLst>
                <a:tab pos="469265" algn="l"/>
                <a:tab pos="470534" algn="l"/>
              </a:tabLst>
            </a:pPr>
            <a:r>
              <a:rPr dirty="0" sz="1150" spc="-85" b="1">
                <a:latin typeface="Arial"/>
                <a:cs typeface="Arial"/>
              </a:rPr>
              <a:t>Sub-Partner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6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firm </a:t>
            </a:r>
            <a:r>
              <a:rPr dirty="0" sz="1150" spc="-75">
                <a:latin typeface="Arial"/>
                <a:cs typeface="Arial"/>
              </a:rPr>
              <a:t>can </a:t>
            </a:r>
            <a:r>
              <a:rPr dirty="0" sz="1150" spc="-65">
                <a:latin typeface="Arial"/>
                <a:cs typeface="Arial"/>
              </a:rPr>
              <a:t>make an </a:t>
            </a:r>
            <a:r>
              <a:rPr dirty="0" sz="1150" spc="-45">
                <a:latin typeface="Arial"/>
                <a:cs typeface="Arial"/>
              </a:rPr>
              <a:t>agreement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stranger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share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profits </a:t>
            </a:r>
            <a:r>
              <a:rPr dirty="0" sz="1150" spc="-50">
                <a:latin typeface="Arial"/>
                <a:cs typeface="Arial"/>
              </a:rPr>
              <a:t>earned by  </a:t>
            </a:r>
            <a:r>
              <a:rPr dirty="0" sz="1150" spc="-30">
                <a:latin typeface="Arial"/>
                <a:cs typeface="Arial"/>
              </a:rPr>
              <a:t>him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partnership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sub-partner </a:t>
            </a:r>
            <a:r>
              <a:rPr dirty="0" sz="1150" spc="-60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35">
                <a:latin typeface="Arial"/>
                <a:cs typeface="Arial"/>
              </a:rPr>
              <a:t>liable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25">
                <a:latin typeface="Arial"/>
                <a:cs typeface="Arial"/>
              </a:rPr>
              <a:t>debt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">
                <a:latin typeface="Arial"/>
                <a:cs typeface="Arial"/>
              </a:rPr>
              <a:t>not  </a:t>
            </a:r>
            <a:r>
              <a:rPr dirty="0" sz="1150" spc="-15">
                <a:latin typeface="Arial"/>
                <a:cs typeface="Arial"/>
              </a:rPr>
              <a:t>interfere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70">
                <a:latin typeface="Arial"/>
                <a:cs typeface="Arial"/>
              </a:rPr>
              <a:t>business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matters.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7"/>
              <a:tabLst>
                <a:tab pos="469265" algn="l"/>
                <a:tab pos="470534" algn="l"/>
              </a:tabLst>
            </a:pPr>
            <a:r>
              <a:rPr dirty="0" sz="1150" spc="-100" b="1">
                <a:latin typeface="Arial"/>
                <a:cs typeface="Arial"/>
              </a:rPr>
              <a:t>Junior</a:t>
            </a:r>
            <a:r>
              <a:rPr dirty="0" sz="1150" spc="-75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Partner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90">
                <a:latin typeface="Arial"/>
                <a:cs typeface="Arial"/>
              </a:rPr>
              <a:t>has a </a:t>
            </a:r>
            <a:r>
              <a:rPr dirty="0" sz="1150" spc="-50">
                <a:latin typeface="Arial"/>
                <a:cs typeface="Arial"/>
              </a:rPr>
              <a:t>small </a:t>
            </a:r>
            <a:r>
              <a:rPr dirty="0" sz="1150" spc="-35">
                <a:latin typeface="Arial"/>
                <a:cs typeface="Arial"/>
              </a:rPr>
              <a:t>investment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>
                <a:latin typeface="Arial"/>
                <a:cs typeface="Arial"/>
              </a:rPr>
              <a:t>firm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limited </a:t>
            </a:r>
            <a:r>
              <a:rPr dirty="0" sz="1150" spc="-55">
                <a:latin typeface="Arial"/>
                <a:cs typeface="Arial"/>
              </a:rPr>
              <a:t>experience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15">
                <a:latin typeface="Arial"/>
                <a:cs typeface="Arial"/>
              </a:rPr>
              <a:t>junior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partner.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43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4340" cy="7688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8"/>
              <a:tabLst>
                <a:tab pos="469265" algn="l"/>
                <a:tab pos="469900" algn="l"/>
              </a:tabLst>
            </a:pPr>
            <a:r>
              <a:rPr dirty="0" sz="1150" spc="-35" b="1">
                <a:latin typeface="Arial"/>
                <a:cs typeface="Arial"/>
              </a:rPr>
              <a:t>Major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Partner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8"/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major partner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person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over </a:t>
            </a:r>
            <a:r>
              <a:rPr dirty="0" sz="1150" spc="-55">
                <a:latin typeface="Arial"/>
                <a:cs typeface="Arial"/>
              </a:rPr>
              <a:t>18 </a:t>
            </a:r>
            <a:r>
              <a:rPr dirty="0" sz="1150" spc="-70">
                <a:latin typeface="Arial"/>
                <a:cs typeface="Arial"/>
              </a:rPr>
              <a:t>years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age.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allowed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make  </a:t>
            </a:r>
            <a:r>
              <a:rPr dirty="0" sz="1150" spc="-25">
                <a:latin typeface="Arial"/>
                <a:cs typeface="Arial"/>
              </a:rPr>
              <a:t>contract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30">
                <a:latin typeface="Arial"/>
                <a:cs typeface="Arial"/>
              </a:rPr>
              <a:t>attained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90">
                <a:latin typeface="Arial"/>
                <a:cs typeface="Arial"/>
              </a:rPr>
              <a:t>age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majority.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9"/>
              <a:tabLst>
                <a:tab pos="469265" algn="l"/>
                <a:tab pos="469900" algn="l"/>
              </a:tabLst>
            </a:pPr>
            <a:r>
              <a:rPr dirty="0" sz="1150" spc="-40" b="1">
                <a:latin typeface="Arial"/>
                <a:cs typeface="Arial"/>
              </a:rPr>
              <a:t>Minor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Partner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9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minor </a:t>
            </a:r>
            <a:r>
              <a:rPr dirty="0" sz="1150" spc="-40">
                <a:latin typeface="Arial"/>
                <a:cs typeface="Arial"/>
              </a:rPr>
              <a:t>cannot </a:t>
            </a:r>
            <a:r>
              <a:rPr dirty="0" sz="1150" spc="-20">
                <a:latin typeface="Arial"/>
                <a:cs typeface="Arial"/>
              </a:rPr>
              <a:t>enter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valid </a:t>
            </a:r>
            <a:r>
              <a:rPr dirty="0" sz="1150" spc="-25">
                <a:latin typeface="Arial"/>
                <a:cs typeface="Arial"/>
              </a:rPr>
              <a:t>contract. </a:t>
            </a:r>
            <a:r>
              <a:rPr dirty="0" sz="1150" spc="-50">
                <a:latin typeface="Arial"/>
                <a:cs typeface="Arial"/>
              </a:rPr>
              <a:t>However,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60">
                <a:latin typeface="Arial"/>
                <a:cs typeface="Arial"/>
              </a:rPr>
              <a:t>become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consent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5">
                <a:latin typeface="Arial"/>
                <a:cs typeface="Arial"/>
              </a:rPr>
              <a:t>partners.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minor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65">
                <a:latin typeface="Arial"/>
                <a:cs typeface="Arial"/>
              </a:rPr>
              <a:t>share </a:t>
            </a:r>
            <a:r>
              <a:rPr dirty="0" sz="1150" spc="-15">
                <a:latin typeface="Arial"/>
                <a:cs typeface="Arial"/>
              </a:rPr>
              <a:t>profits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10">
                <a:latin typeface="Arial"/>
                <a:cs typeface="Arial"/>
              </a:rPr>
              <a:t>but 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losses.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0"/>
              <a:tabLst>
                <a:tab pos="469265" algn="l"/>
                <a:tab pos="470534" algn="l"/>
              </a:tabLst>
            </a:pPr>
            <a:r>
              <a:rPr dirty="0" sz="1150" spc="-70" b="1">
                <a:latin typeface="Arial"/>
                <a:cs typeface="Arial"/>
              </a:rPr>
              <a:t>Nominal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Partner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0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20">
                <a:latin typeface="Arial"/>
                <a:cs typeface="Arial"/>
              </a:rPr>
              <a:t>neither </a:t>
            </a:r>
            <a:r>
              <a:rPr dirty="0" sz="1150" spc="-30">
                <a:latin typeface="Arial"/>
                <a:cs typeface="Arial"/>
              </a:rPr>
              <a:t>contributes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20">
                <a:latin typeface="Arial"/>
                <a:cs typeface="Arial"/>
              </a:rPr>
              <a:t>nor </a:t>
            </a:r>
            <a:r>
              <a:rPr dirty="0" sz="1150" spc="-65">
                <a:latin typeface="Arial"/>
                <a:cs typeface="Arial"/>
              </a:rPr>
              <a:t>does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40">
                <a:latin typeface="Arial"/>
                <a:cs typeface="Arial"/>
              </a:rPr>
              <a:t>take </a:t>
            </a:r>
            <a:r>
              <a:rPr dirty="0" sz="1150" spc="-15">
                <a:latin typeface="Arial"/>
                <a:cs typeface="Arial"/>
              </a:rPr>
              <a:t>part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50">
                <a:latin typeface="Arial"/>
                <a:cs typeface="Arial"/>
              </a:rPr>
              <a:t>management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40">
                <a:latin typeface="Arial"/>
                <a:cs typeface="Arial"/>
              </a:rPr>
              <a:t>allows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60">
                <a:latin typeface="Arial"/>
                <a:cs typeface="Arial"/>
              </a:rPr>
              <a:t>name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known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35">
                <a:latin typeface="Arial"/>
                <a:cs typeface="Arial"/>
              </a:rPr>
              <a:t>nominal </a:t>
            </a:r>
            <a:r>
              <a:rPr dirty="0" sz="1150" spc="-25">
                <a:latin typeface="Arial"/>
                <a:cs typeface="Arial"/>
              </a:rPr>
              <a:t>partner.  </a:t>
            </a:r>
            <a:r>
              <a:rPr dirty="0" sz="1150" spc="-95">
                <a:latin typeface="Arial"/>
                <a:cs typeface="Arial"/>
              </a:rPr>
              <a:t>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individually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jointly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liable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debts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firm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along </a:t>
            </a:r>
            <a:r>
              <a:rPr dirty="0" sz="1150" spc="5">
                <a:latin typeface="Arial"/>
                <a:cs typeface="Arial"/>
              </a:rPr>
              <a:t>with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partners.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1"/>
              <a:tabLst>
                <a:tab pos="469265" algn="l"/>
                <a:tab pos="470534" algn="l"/>
              </a:tabLst>
            </a:pPr>
            <a:r>
              <a:rPr dirty="0" sz="1150" spc="-105" b="1">
                <a:latin typeface="Arial"/>
                <a:cs typeface="Arial"/>
              </a:rPr>
              <a:t>Deceased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Partner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1"/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55">
                <a:latin typeface="Arial"/>
                <a:cs typeface="Arial"/>
              </a:rPr>
              <a:t>whose </a:t>
            </a:r>
            <a:r>
              <a:rPr dirty="0" sz="1150" spc="-10">
                <a:latin typeface="Arial"/>
                <a:cs typeface="Arial"/>
              </a:rPr>
              <a:t>life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40">
                <a:latin typeface="Arial"/>
                <a:cs typeface="Arial"/>
              </a:rPr>
              <a:t>expired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known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75">
                <a:latin typeface="Arial"/>
                <a:cs typeface="Arial"/>
              </a:rPr>
              <a:t>deceased </a:t>
            </a:r>
            <a:r>
              <a:rPr dirty="0" sz="1150" spc="-25">
                <a:latin typeface="Arial"/>
                <a:cs typeface="Arial"/>
              </a:rPr>
              <a:t>partner.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share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5">
                <a:latin typeface="Arial"/>
                <a:cs typeface="Arial"/>
              </a:rPr>
              <a:t>profit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such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partner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paid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his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legal </a:t>
            </a:r>
            <a:r>
              <a:rPr dirty="0" sz="1150" spc="-45">
                <a:latin typeface="Arial"/>
                <a:cs typeface="Arial"/>
              </a:rPr>
              <a:t>heirs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lump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sum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installment.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2"/>
              <a:tabLst>
                <a:tab pos="469265" algn="l"/>
                <a:tab pos="470534" algn="l"/>
              </a:tabLst>
            </a:pPr>
            <a:r>
              <a:rPr dirty="0" sz="1150" spc="-75" b="1">
                <a:latin typeface="Arial"/>
                <a:cs typeface="Arial"/>
              </a:rPr>
              <a:t>Limited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Partner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2"/>
            </a:pPr>
            <a:endParaRPr sz="120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55">
                <a:latin typeface="Arial"/>
                <a:cs typeface="Arial"/>
              </a:rPr>
              <a:t>whose </a:t>
            </a:r>
            <a:r>
              <a:rPr dirty="0" sz="1150" spc="-25">
                <a:latin typeface="Arial"/>
                <a:cs typeface="Arial"/>
              </a:rPr>
              <a:t>liabilities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10">
                <a:latin typeface="Arial"/>
                <a:cs typeface="Arial"/>
              </a:rPr>
              <a:t>limited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60">
                <a:latin typeface="Arial"/>
                <a:cs typeface="Arial"/>
              </a:rPr>
              <a:t>share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10">
                <a:latin typeface="Arial"/>
                <a:cs typeface="Arial"/>
              </a:rPr>
              <a:t>limited </a:t>
            </a:r>
            <a:r>
              <a:rPr dirty="0" sz="1150" spc="-25">
                <a:latin typeface="Arial"/>
                <a:cs typeface="Arial"/>
              </a:rPr>
              <a:t>partner. </a:t>
            </a:r>
            <a:r>
              <a:rPr dirty="0" sz="1150" spc="-95">
                <a:latin typeface="Arial"/>
                <a:cs typeface="Arial"/>
              </a:rPr>
              <a:t>He  </a:t>
            </a:r>
            <a:r>
              <a:rPr dirty="0" sz="1150" spc="-40">
                <a:latin typeface="Arial"/>
                <a:cs typeface="Arial"/>
              </a:rPr>
              <a:t>cannot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take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active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part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management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firm.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3"/>
              <a:tabLst>
                <a:tab pos="469265" algn="l"/>
                <a:tab pos="470534" algn="l"/>
              </a:tabLst>
            </a:pPr>
            <a:r>
              <a:rPr dirty="0" sz="1150" spc="-60" b="1">
                <a:latin typeface="Arial"/>
                <a:cs typeface="Arial"/>
              </a:rPr>
              <a:t>Unlimited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Partner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3"/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55">
                <a:latin typeface="Arial"/>
                <a:cs typeface="Arial"/>
              </a:rPr>
              <a:t>whose </a:t>
            </a:r>
            <a:r>
              <a:rPr dirty="0" sz="1150" spc="-25">
                <a:latin typeface="Arial"/>
                <a:cs typeface="Arial"/>
              </a:rPr>
              <a:t>liabilities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unlimited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known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unlimited </a:t>
            </a:r>
            <a:r>
              <a:rPr dirty="0" sz="1150" spc="-25">
                <a:latin typeface="Arial"/>
                <a:cs typeface="Arial"/>
              </a:rPr>
              <a:t>partner. </a:t>
            </a:r>
            <a:r>
              <a:rPr dirty="0" sz="1150" spc="-95">
                <a:latin typeface="Arial"/>
                <a:cs typeface="Arial"/>
              </a:rPr>
              <a:t>He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50">
                <a:latin typeface="Arial"/>
                <a:cs typeface="Arial"/>
              </a:rPr>
              <a:t>personal  </a:t>
            </a:r>
            <a:r>
              <a:rPr dirty="0" sz="1150" spc="-20">
                <a:latin typeface="Arial"/>
                <a:cs typeface="Arial"/>
              </a:rPr>
              <a:t>property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both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liable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clear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debts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firm.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4"/>
              <a:tabLst>
                <a:tab pos="469265" algn="l"/>
                <a:tab pos="470534" algn="l"/>
              </a:tabLst>
            </a:pPr>
            <a:r>
              <a:rPr dirty="0" sz="1150" spc="-90" b="1">
                <a:latin typeface="Arial"/>
                <a:cs typeface="Arial"/>
              </a:rPr>
              <a:t>Incoming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Partner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4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newly </a:t>
            </a:r>
            <a:r>
              <a:rPr dirty="0" sz="1150" spc="-20">
                <a:latin typeface="Arial"/>
                <a:cs typeface="Arial"/>
              </a:rPr>
              <a:t>admitted in the </a:t>
            </a:r>
            <a:r>
              <a:rPr dirty="0" sz="1150">
                <a:latin typeface="Arial"/>
                <a:cs typeface="Arial"/>
              </a:rPr>
              <a:t>firm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consent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incoming </a:t>
            </a:r>
            <a:r>
              <a:rPr dirty="0" sz="1150" spc="-25">
                <a:latin typeface="Arial"/>
                <a:cs typeface="Arial"/>
              </a:rPr>
              <a:t>partner. </a:t>
            </a:r>
            <a:r>
              <a:rPr dirty="0" sz="1150" spc="-95">
                <a:latin typeface="Arial"/>
                <a:cs typeface="Arial"/>
              </a:rPr>
              <a:t>He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35">
                <a:latin typeface="Arial"/>
                <a:cs typeface="Arial"/>
              </a:rPr>
              <a:t>liable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40">
                <a:latin typeface="Arial"/>
                <a:cs typeface="Arial"/>
              </a:rPr>
              <a:t>act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>
                <a:latin typeface="Arial"/>
                <a:cs typeface="Arial"/>
              </a:rPr>
              <a:t>firm </a:t>
            </a:r>
            <a:r>
              <a:rPr dirty="0" sz="1150" spc="-25">
                <a:latin typeface="Arial"/>
                <a:cs typeface="Arial"/>
              </a:rPr>
              <a:t>performed </a:t>
            </a:r>
            <a:r>
              <a:rPr dirty="0" sz="1150" spc="-30">
                <a:latin typeface="Arial"/>
                <a:cs typeface="Arial"/>
              </a:rPr>
              <a:t>before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65">
                <a:latin typeface="Arial"/>
                <a:cs typeface="Arial"/>
              </a:rPr>
              <a:t>became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65">
                <a:latin typeface="Arial"/>
                <a:cs typeface="Arial"/>
              </a:rPr>
              <a:t>unless </a:t>
            </a:r>
            <a:r>
              <a:rPr dirty="0" sz="1150" spc="-55">
                <a:latin typeface="Arial"/>
                <a:cs typeface="Arial"/>
              </a:rPr>
              <a:t>he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agrees.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rabicPeriod" startAt="15"/>
              <a:tabLst>
                <a:tab pos="469265" algn="l"/>
                <a:tab pos="470534" algn="l"/>
              </a:tabLst>
            </a:pPr>
            <a:r>
              <a:rPr dirty="0" sz="1150" spc="-70" b="1">
                <a:latin typeface="Arial"/>
                <a:cs typeface="Arial"/>
              </a:rPr>
              <a:t>Retired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Partner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  <a:spcBef>
                <a:spcPts val="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70">
                <a:latin typeface="Arial"/>
                <a:cs typeface="Arial"/>
              </a:rPr>
              <a:t>leaves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>
                <a:latin typeface="Arial"/>
                <a:cs typeface="Arial"/>
              </a:rPr>
              <a:t>firm </a:t>
            </a:r>
            <a:r>
              <a:rPr dirty="0" sz="1150" spc="-5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certain </a:t>
            </a:r>
            <a:r>
              <a:rPr dirty="0" sz="1150" spc="-70">
                <a:latin typeface="Arial"/>
                <a:cs typeface="Arial"/>
              </a:rPr>
              <a:t>reasons is </a:t>
            </a:r>
            <a:r>
              <a:rPr dirty="0" sz="1150" spc="-35">
                <a:latin typeface="Arial"/>
                <a:cs typeface="Arial"/>
              </a:rPr>
              <a:t>known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15">
                <a:latin typeface="Arial"/>
                <a:cs typeface="Arial"/>
              </a:rPr>
              <a:t>retired </a:t>
            </a:r>
            <a:r>
              <a:rPr dirty="0" sz="1150" spc="-20">
                <a:latin typeface="Arial"/>
                <a:cs typeface="Arial"/>
              </a:rPr>
              <a:t>partner </a:t>
            </a:r>
            <a:r>
              <a:rPr dirty="0" sz="1150" spc="-10">
                <a:latin typeface="Arial"/>
                <a:cs typeface="Arial"/>
              </a:rPr>
              <a:t>or  </a:t>
            </a:r>
            <a:r>
              <a:rPr dirty="0" sz="1150" spc="-35">
                <a:latin typeface="Arial"/>
                <a:cs typeface="Arial"/>
              </a:rPr>
              <a:t>outgoing </a:t>
            </a:r>
            <a:r>
              <a:rPr dirty="0" sz="1150" spc="-25">
                <a:latin typeface="Arial"/>
                <a:cs typeface="Arial"/>
              </a:rPr>
              <a:t>partner. </a:t>
            </a:r>
            <a:r>
              <a:rPr dirty="0" sz="1150" spc="-95">
                <a:latin typeface="Arial"/>
                <a:cs typeface="Arial"/>
              </a:rPr>
              <a:t>He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liable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pay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obligations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debts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>
                <a:latin typeface="Arial"/>
                <a:cs typeface="Arial"/>
              </a:rPr>
              <a:t>firm </a:t>
            </a:r>
            <a:r>
              <a:rPr dirty="0" sz="1150" spc="-30">
                <a:latin typeface="Arial"/>
                <a:cs typeface="Arial"/>
              </a:rPr>
              <a:t>incurred  before </a:t>
            </a:r>
            <a:r>
              <a:rPr dirty="0" sz="1150" spc="-55">
                <a:latin typeface="Arial"/>
                <a:cs typeface="Arial"/>
              </a:rPr>
              <a:t>his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retirement.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44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41548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AutoNum type="arabicPeriod" startAt="16"/>
              <a:tabLst>
                <a:tab pos="469265" algn="l"/>
                <a:tab pos="470534" algn="l"/>
              </a:tabLst>
            </a:pPr>
            <a:r>
              <a:rPr dirty="0" sz="1150" spc="-65" b="1">
                <a:latin typeface="Arial"/>
                <a:cs typeface="Arial"/>
              </a:rPr>
              <a:t>Partner </a:t>
            </a:r>
            <a:r>
              <a:rPr dirty="0" sz="1150" spc="-60" b="1">
                <a:latin typeface="Arial"/>
                <a:cs typeface="Arial"/>
              </a:rPr>
              <a:t>in </a:t>
            </a:r>
            <a:r>
              <a:rPr dirty="0" sz="1150" spc="-75" b="1">
                <a:latin typeface="Arial"/>
                <a:cs typeface="Arial"/>
              </a:rPr>
              <a:t>Profits</a:t>
            </a:r>
            <a:r>
              <a:rPr dirty="0" sz="1150" spc="-50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only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6"/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5">
                <a:latin typeface="Arial"/>
                <a:cs typeface="Arial"/>
              </a:rPr>
              <a:t>entitled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receive </a:t>
            </a:r>
            <a:r>
              <a:rPr dirty="0" sz="1150" spc="-30">
                <a:latin typeface="Arial"/>
                <a:cs typeface="Arial"/>
              </a:rPr>
              <a:t>certain </a:t>
            </a:r>
            <a:r>
              <a:rPr dirty="0" sz="1150" spc="-65">
                <a:latin typeface="Arial"/>
                <a:cs typeface="Arial"/>
              </a:rPr>
              <a:t>share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profits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35">
                <a:latin typeface="Arial"/>
                <a:cs typeface="Arial"/>
              </a:rPr>
              <a:t>held liable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85">
                <a:latin typeface="Arial"/>
                <a:cs typeface="Arial"/>
              </a:rPr>
              <a:t>losses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35">
                <a:latin typeface="Arial"/>
                <a:cs typeface="Arial"/>
              </a:rPr>
              <a:t>known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5">
                <a:latin typeface="Arial"/>
                <a:cs typeface="Arial"/>
              </a:rPr>
              <a:t>profits </a:t>
            </a:r>
            <a:r>
              <a:rPr dirty="0" sz="1150" spc="-35">
                <a:latin typeface="Arial"/>
                <a:cs typeface="Arial"/>
              </a:rPr>
              <a:t>only. </a:t>
            </a:r>
            <a:r>
              <a:rPr dirty="0" sz="1150" spc="-95">
                <a:latin typeface="Arial"/>
                <a:cs typeface="Arial"/>
              </a:rPr>
              <a:t>He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35">
                <a:latin typeface="Arial"/>
                <a:cs typeface="Arial"/>
              </a:rPr>
              <a:t>allowed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take </a:t>
            </a:r>
            <a:r>
              <a:rPr dirty="0" sz="1150" spc="-15">
                <a:latin typeface="Arial"/>
                <a:cs typeface="Arial"/>
              </a:rPr>
              <a:t>part </a:t>
            </a:r>
            <a:r>
              <a:rPr dirty="0" sz="1150" spc="-10">
                <a:latin typeface="Arial"/>
                <a:cs typeface="Arial"/>
              </a:rPr>
              <a:t>in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management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65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rabicPeriod" startAt="17"/>
              <a:tabLst>
                <a:tab pos="469265" algn="l"/>
                <a:tab pos="470534" algn="l"/>
              </a:tabLst>
            </a:pPr>
            <a:r>
              <a:rPr dirty="0" sz="1150" spc="-100" b="1">
                <a:latin typeface="Arial"/>
                <a:cs typeface="Arial"/>
              </a:rPr>
              <a:t>Quasi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Partner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17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person,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80">
                <a:latin typeface="Arial"/>
                <a:cs typeface="Arial"/>
              </a:rPr>
              <a:t>was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par4tner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firm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30">
                <a:latin typeface="Arial"/>
                <a:cs typeface="Arial"/>
              </a:rPr>
              <a:t>now </a:t>
            </a:r>
            <a:r>
              <a:rPr dirty="0" sz="1150" spc="-15">
                <a:latin typeface="Arial"/>
                <a:cs typeface="Arial"/>
              </a:rPr>
              <a:t>retired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40">
                <a:latin typeface="Arial"/>
                <a:cs typeface="Arial"/>
              </a:rPr>
              <a:t>active </a:t>
            </a:r>
            <a:r>
              <a:rPr dirty="0" sz="1150" spc="-25">
                <a:latin typeface="Arial"/>
                <a:cs typeface="Arial"/>
              </a:rPr>
              <a:t>participation </a:t>
            </a:r>
            <a:r>
              <a:rPr dirty="0" sz="1150" spc="-20">
                <a:latin typeface="Arial"/>
                <a:cs typeface="Arial"/>
              </a:rPr>
              <a:t>in 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5">
                <a:latin typeface="Arial"/>
                <a:cs typeface="Arial"/>
              </a:rPr>
              <a:t>left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loan, </a:t>
            </a:r>
            <a:r>
              <a:rPr dirty="0" sz="1150" spc="-45">
                <a:latin typeface="Arial"/>
                <a:cs typeface="Arial"/>
              </a:rPr>
              <a:t>receiving </a:t>
            </a:r>
            <a:r>
              <a:rPr dirty="0" sz="1150" spc="-20">
                <a:latin typeface="Arial"/>
                <a:cs typeface="Arial"/>
              </a:rPr>
              <a:t>interest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10">
                <a:latin typeface="Arial"/>
                <a:cs typeface="Arial"/>
              </a:rPr>
              <a:t>it,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known 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60">
                <a:latin typeface="Arial"/>
                <a:cs typeface="Arial"/>
              </a:rPr>
              <a:t>quasi</a:t>
            </a:r>
            <a:r>
              <a:rPr dirty="0" sz="11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partner.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8"/>
              <a:tabLst>
                <a:tab pos="469265" algn="l"/>
                <a:tab pos="470534" algn="l"/>
              </a:tabLst>
            </a:pPr>
            <a:r>
              <a:rPr dirty="0" sz="1150" spc="-65" b="1">
                <a:latin typeface="Arial"/>
                <a:cs typeface="Arial"/>
              </a:rPr>
              <a:t>Partner </a:t>
            </a:r>
            <a:r>
              <a:rPr dirty="0" sz="1150" spc="-90" b="1">
                <a:latin typeface="Arial"/>
                <a:cs typeface="Arial"/>
              </a:rPr>
              <a:t>by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Estoppel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50">
                <a:latin typeface="Arial"/>
                <a:cs typeface="Arial"/>
              </a:rPr>
              <a:t>holds </a:t>
            </a:r>
            <a:r>
              <a:rPr dirty="0" sz="1150" spc="-35">
                <a:latin typeface="Arial"/>
                <a:cs typeface="Arial"/>
              </a:rPr>
              <a:t>himself </a:t>
            </a:r>
            <a:r>
              <a:rPr dirty="0" sz="1150" spc="-5">
                <a:latin typeface="Arial"/>
                <a:cs typeface="Arial"/>
              </a:rPr>
              <a:t>out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">
                <a:latin typeface="Arial"/>
                <a:cs typeface="Arial"/>
              </a:rPr>
              <a:t>firm, </a:t>
            </a:r>
            <a:r>
              <a:rPr dirty="0" sz="1150" spc="-30">
                <a:latin typeface="Arial"/>
                <a:cs typeface="Arial"/>
              </a:rPr>
              <a:t>before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third </a:t>
            </a:r>
            <a:r>
              <a:rPr dirty="0" sz="1150" spc="-20">
                <a:latin typeface="Arial"/>
                <a:cs typeface="Arial"/>
              </a:rPr>
              <a:t>party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5">
                <a:latin typeface="Arial"/>
                <a:cs typeface="Arial"/>
              </a:rPr>
              <a:t>allows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to 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 spc="-70">
                <a:latin typeface="Arial"/>
                <a:cs typeface="Arial"/>
              </a:rPr>
              <a:t>so, </a:t>
            </a:r>
            <a:r>
              <a:rPr dirty="0" sz="1150" spc="-35">
                <a:latin typeface="Arial"/>
                <a:cs typeface="Arial"/>
              </a:rPr>
              <a:t>though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">
                <a:latin typeface="Arial"/>
                <a:cs typeface="Arial"/>
              </a:rPr>
              <a:t>that firm,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called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40">
                <a:latin typeface="Arial"/>
                <a:cs typeface="Arial"/>
              </a:rPr>
              <a:t>estoppel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holding </a:t>
            </a:r>
            <a:r>
              <a:rPr dirty="0" sz="1150" spc="-5">
                <a:latin typeface="Arial"/>
                <a:cs typeface="Arial"/>
              </a:rPr>
              <a:t>out  </a:t>
            </a:r>
            <a:r>
              <a:rPr dirty="0" sz="1150" spc="-25">
                <a:latin typeface="Arial"/>
                <a:cs typeface="Arial"/>
              </a:rPr>
              <a:t>partner. </a:t>
            </a:r>
            <a:r>
              <a:rPr dirty="0" sz="1150" spc="-95">
                <a:latin typeface="Arial"/>
                <a:cs typeface="Arial"/>
              </a:rPr>
              <a:t>He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10">
                <a:latin typeface="Arial"/>
                <a:cs typeface="Arial"/>
              </a:rPr>
              <a:t>entitled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10">
                <a:latin typeface="Arial"/>
                <a:cs typeface="Arial"/>
              </a:rPr>
              <a:t>right </a:t>
            </a:r>
            <a:r>
              <a:rPr dirty="0" sz="1150" spc="-30">
                <a:latin typeface="Arial"/>
                <a:cs typeface="Arial"/>
              </a:rPr>
              <a:t>like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5">
                <a:latin typeface="Arial"/>
                <a:cs typeface="Arial"/>
              </a:rPr>
              <a:t>firm. </a:t>
            </a:r>
            <a:r>
              <a:rPr dirty="0" sz="1150" spc="-95">
                <a:latin typeface="Arial"/>
                <a:cs typeface="Arial"/>
              </a:rPr>
              <a:t>He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15">
                <a:latin typeface="Arial"/>
                <a:cs typeface="Arial"/>
              </a:rPr>
              <a:t>entitled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15">
                <a:latin typeface="Arial"/>
                <a:cs typeface="Arial"/>
              </a:rPr>
              <a:t>right </a:t>
            </a:r>
            <a:r>
              <a:rPr dirty="0" sz="1150" spc="-30">
                <a:latin typeface="Arial"/>
                <a:cs typeface="Arial"/>
              </a:rPr>
              <a:t>like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">
                <a:latin typeface="Arial"/>
                <a:cs typeface="Arial"/>
              </a:rPr>
              <a:t>firm. </a:t>
            </a:r>
            <a:r>
              <a:rPr dirty="0" sz="1150" spc="-100">
                <a:latin typeface="Arial"/>
                <a:cs typeface="Arial"/>
              </a:rPr>
              <a:t>He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personally </a:t>
            </a:r>
            <a:r>
              <a:rPr dirty="0" sz="1150" spc="-35">
                <a:latin typeface="Arial"/>
                <a:cs typeface="Arial"/>
              </a:rPr>
              <a:t>liable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>
                <a:latin typeface="Arial"/>
                <a:cs typeface="Arial"/>
              </a:rPr>
              <a:t>third </a:t>
            </a:r>
            <a:r>
              <a:rPr dirty="0" sz="1150" spc="-25">
                <a:latin typeface="Arial"/>
                <a:cs typeface="Arial"/>
              </a:rPr>
              <a:t>party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15">
                <a:latin typeface="Arial"/>
                <a:cs typeface="Arial"/>
              </a:rPr>
              <a:t>the  </a:t>
            </a:r>
            <a:r>
              <a:rPr dirty="0" sz="1150" spc="-20">
                <a:latin typeface="Arial"/>
                <a:cs typeface="Arial"/>
              </a:rPr>
              <a:t>credit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given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firm,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faith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his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representation.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350" spc="-150" b="1">
                <a:latin typeface="Arial"/>
                <a:cs typeface="Arial"/>
              </a:rPr>
              <a:t>KINDS </a:t>
            </a:r>
            <a:r>
              <a:rPr dirty="0" sz="1350" spc="-175" b="1">
                <a:latin typeface="Arial"/>
                <a:cs typeface="Arial"/>
              </a:rPr>
              <a:t>OF</a:t>
            </a:r>
            <a:r>
              <a:rPr dirty="0" sz="1350" spc="-220" b="1">
                <a:latin typeface="Arial"/>
                <a:cs typeface="Arial"/>
              </a:rPr>
              <a:t> </a:t>
            </a:r>
            <a:r>
              <a:rPr dirty="0" sz="1350" spc="-170" b="1">
                <a:latin typeface="Arial"/>
                <a:cs typeface="Arial"/>
              </a:rPr>
              <a:t>PARTNERSHIP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5">
                <a:latin typeface="Arial"/>
                <a:cs typeface="Arial"/>
              </a:rPr>
              <a:t>three </a:t>
            </a:r>
            <a:r>
              <a:rPr dirty="0" sz="1150" spc="-50">
                <a:latin typeface="Arial"/>
                <a:cs typeface="Arial"/>
              </a:rPr>
              <a:t>kinds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partnership which </a:t>
            </a:r>
            <a:r>
              <a:rPr dirty="0" sz="1150" spc="-50">
                <a:latin typeface="Arial"/>
                <a:cs typeface="Arial"/>
              </a:rPr>
              <a:t>are described </a:t>
            </a:r>
            <a:r>
              <a:rPr dirty="0" sz="1150" spc="-110">
                <a:latin typeface="Arial"/>
                <a:cs typeface="Arial"/>
              </a:rPr>
              <a:t>as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under: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45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87488" y="5202430"/>
            <a:ext cx="137160" cy="55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5">
                <a:latin typeface="Arial"/>
                <a:cs typeface="Arial"/>
              </a:rPr>
              <a:t>1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55">
                <a:latin typeface="Arial"/>
                <a:cs typeface="Arial"/>
              </a:rPr>
              <a:t>2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55">
                <a:latin typeface="Arial"/>
                <a:cs typeface="Arial"/>
              </a:rPr>
              <a:t>3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4637" y="5202430"/>
            <a:ext cx="1320165" cy="558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45">
                <a:latin typeface="Arial"/>
                <a:cs typeface="Arial"/>
              </a:rPr>
              <a:t>Partnership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>
                <a:latin typeface="Arial"/>
                <a:cs typeface="Arial"/>
              </a:rPr>
              <a:t>will  </a:t>
            </a:r>
            <a:r>
              <a:rPr dirty="0" sz="1150" spc="-40">
                <a:latin typeface="Arial"/>
                <a:cs typeface="Arial"/>
              </a:rPr>
              <a:t>Particular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partnership  Limited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partnership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0294" y="5915661"/>
            <a:ext cx="5512435" cy="27279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 b="1">
                <a:latin typeface="Arial"/>
                <a:cs typeface="Arial"/>
              </a:rPr>
              <a:t>PARTNERSHIP </a:t>
            </a:r>
            <a:r>
              <a:rPr dirty="0" sz="1350" spc="-160" b="1">
                <a:latin typeface="Arial"/>
                <a:cs typeface="Arial"/>
              </a:rPr>
              <a:t>AT</a:t>
            </a:r>
            <a:r>
              <a:rPr dirty="0" sz="1350" spc="-185" b="1">
                <a:latin typeface="Arial"/>
                <a:cs typeface="Arial"/>
              </a:rPr>
              <a:t> </a:t>
            </a:r>
            <a:r>
              <a:rPr dirty="0" sz="1350" spc="-150" b="1">
                <a:latin typeface="Arial"/>
                <a:cs typeface="Arial"/>
              </a:rPr>
              <a:t>WILL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partnership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formed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35">
                <a:latin typeface="Arial"/>
                <a:cs typeface="Arial"/>
              </a:rPr>
              <a:t>undefined </a:t>
            </a:r>
            <a:r>
              <a:rPr dirty="0" sz="1150" spc="-15">
                <a:latin typeface="Arial"/>
                <a:cs typeface="Arial"/>
              </a:rPr>
              <a:t>time,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35">
                <a:latin typeface="Arial"/>
                <a:cs typeface="Arial"/>
              </a:rPr>
              <a:t>partnership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5">
                <a:latin typeface="Arial"/>
                <a:cs typeface="Arial"/>
              </a:rPr>
              <a:t>will. </a:t>
            </a:r>
            <a:r>
              <a:rPr dirty="0" sz="1150" spc="-65">
                <a:latin typeface="Arial"/>
                <a:cs typeface="Arial"/>
              </a:rPr>
              <a:t>Any 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dissolve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10">
                <a:latin typeface="Arial"/>
                <a:cs typeface="Arial"/>
              </a:rPr>
              <a:t>time </a:t>
            </a:r>
            <a:r>
              <a:rPr dirty="0" sz="1150" spc="-50">
                <a:latin typeface="Arial"/>
                <a:cs typeface="Arial"/>
              </a:rPr>
              <a:t>by giving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notice.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dirty="0" sz="1150" spc="-110" b="1">
                <a:latin typeface="Arial"/>
                <a:cs typeface="Arial"/>
              </a:rPr>
              <a:t>According </a:t>
            </a:r>
            <a:r>
              <a:rPr dirty="0" sz="1150" spc="-40" b="1">
                <a:latin typeface="Arial"/>
                <a:cs typeface="Arial"/>
              </a:rPr>
              <a:t>to </a:t>
            </a:r>
            <a:r>
              <a:rPr dirty="0" sz="1150" spc="-80" b="1">
                <a:latin typeface="Arial"/>
                <a:cs typeface="Arial"/>
              </a:rPr>
              <a:t>Partnership Act,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spc="-60" b="1">
                <a:latin typeface="Arial"/>
                <a:cs typeface="Arial"/>
              </a:rPr>
              <a:t>1932: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469265" marR="5080">
              <a:lnSpc>
                <a:spcPct val="101699"/>
              </a:lnSpc>
              <a:spcBef>
                <a:spcPts val="5"/>
              </a:spcBef>
            </a:pPr>
            <a:r>
              <a:rPr dirty="0" sz="1150" spc="25" i="1">
                <a:latin typeface="Arial"/>
                <a:cs typeface="Arial"/>
              </a:rPr>
              <a:t>“If </a:t>
            </a:r>
            <a:r>
              <a:rPr dirty="0" sz="1150" spc="-55" i="1">
                <a:latin typeface="Arial"/>
                <a:cs typeface="Arial"/>
              </a:rPr>
              <a:t>no </a:t>
            </a:r>
            <a:r>
              <a:rPr dirty="0" sz="1150" spc="-45" i="1">
                <a:latin typeface="Arial"/>
                <a:cs typeface="Arial"/>
              </a:rPr>
              <a:t>provision </a:t>
            </a:r>
            <a:r>
              <a:rPr dirty="0" sz="1150" spc="-65" i="1">
                <a:latin typeface="Arial"/>
                <a:cs typeface="Arial"/>
              </a:rPr>
              <a:t>is made </a:t>
            </a:r>
            <a:r>
              <a:rPr dirty="0" sz="1150" spc="-25" i="1">
                <a:latin typeface="Arial"/>
                <a:cs typeface="Arial"/>
              </a:rPr>
              <a:t>in </a:t>
            </a:r>
            <a:r>
              <a:rPr dirty="0" sz="1150" spc="-30" i="1">
                <a:latin typeface="Arial"/>
                <a:cs typeface="Arial"/>
              </a:rPr>
              <a:t>the </a:t>
            </a:r>
            <a:r>
              <a:rPr dirty="0" sz="1150" spc="-45" i="1">
                <a:latin typeface="Arial"/>
                <a:cs typeface="Arial"/>
              </a:rPr>
              <a:t>agreement </a:t>
            </a:r>
            <a:r>
              <a:rPr dirty="0" sz="1150" spc="-40" i="1">
                <a:latin typeface="Arial"/>
                <a:cs typeface="Arial"/>
              </a:rPr>
              <a:t>regarding </a:t>
            </a:r>
            <a:r>
              <a:rPr dirty="0" sz="1150" spc="-30" i="1">
                <a:latin typeface="Arial"/>
                <a:cs typeface="Arial"/>
              </a:rPr>
              <a:t>the </a:t>
            </a:r>
            <a:r>
              <a:rPr dirty="0" sz="1150" spc="-40" i="1">
                <a:latin typeface="Arial"/>
                <a:cs typeface="Arial"/>
              </a:rPr>
              <a:t>partnership, </a:t>
            </a:r>
            <a:r>
              <a:rPr dirty="0" sz="1150" spc="30" i="1">
                <a:latin typeface="Arial"/>
                <a:cs typeface="Arial"/>
              </a:rPr>
              <a:t>it </a:t>
            </a:r>
            <a:r>
              <a:rPr dirty="0" sz="1150" spc="-65" i="1">
                <a:latin typeface="Arial"/>
                <a:cs typeface="Arial"/>
              </a:rPr>
              <a:t>is </a:t>
            </a:r>
            <a:r>
              <a:rPr dirty="0" sz="1150" spc="-50" i="1">
                <a:latin typeface="Arial"/>
                <a:cs typeface="Arial"/>
              </a:rPr>
              <a:t>called  </a:t>
            </a:r>
            <a:r>
              <a:rPr dirty="0" sz="1150" spc="-40" i="1">
                <a:latin typeface="Arial"/>
                <a:cs typeface="Arial"/>
              </a:rPr>
              <a:t>partnership </a:t>
            </a:r>
            <a:r>
              <a:rPr dirty="0" sz="1150" spc="5" i="1">
                <a:latin typeface="Arial"/>
                <a:cs typeface="Arial"/>
              </a:rPr>
              <a:t>at</a:t>
            </a:r>
            <a:r>
              <a:rPr dirty="0" sz="1150" spc="-80" i="1">
                <a:latin typeface="Arial"/>
                <a:cs typeface="Arial"/>
              </a:rPr>
              <a:t> </a:t>
            </a:r>
            <a:r>
              <a:rPr dirty="0" sz="1150" spc="10" i="1">
                <a:latin typeface="Arial"/>
                <a:cs typeface="Arial"/>
              </a:rPr>
              <a:t>will.”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</a:pPr>
            <a:r>
              <a:rPr dirty="0" sz="1150" spc="-45">
                <a:latin typeface="Arial"/>
                <a:cs typeface="Arial"/>
              </a:rPr>
              <a:t>Partnership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>
                <a:latin typeface="Arial"/>
                <a:cs typeface="Arial"/>
              </a:rPr>
              <a:t>will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0">
                <a:latin typeface="Arial"/>
                <a:cs typeface="Arial"/>
              </a:rPr>
              <a:t>created </a:t>
            </a:r>
            <a:r>
              <a:rPr dirty="0" sz="1150" spc="-35">
                <a:latin typeface="Arial"/>
                <a:cs typeface="Arial"/>
              </a:rPr>
              <a:t>under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following </a:t>
            </a:r>
            <a:r>
              <a:rPr dirty="0" sz="1150" spc="-55">
                <a:latin typeface="Arial"/>
                <a:cs typeface="Arial"/>
              </a:rPr>
              <a:t>circumstances: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dirty="0" sz="1150" spc="-35" b="1">
                <a:latin typeface="Arial"/>
                <a:cs typeface="Arial"/>
              </a:rPr>
              <a:t>1.</a:t>
            </a:r>
            <a:r>
              <a:rPr dirty="0" sz="1150" spc="-35">
                <a:latin typeface="Times New Roman"/>
                <a:cs typeface="Times New Roman"/>
              </a:rPr>
              <a:t>	</a:t>
            </a:r>
            <a:r>
              <a:rPr dirty="0" sz="1150" spc="-50" b="1">
                <a:latin typeface="Arial"/>
                <a:cs typeface="Arial"/>
              </a:rPr>
              <a:t>Indefinite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Period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">
                <a:latin typeface="Arial"/>
                <a:cs typeface="Arial"/>
              </a:rPr>
              <a:t>If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partnership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has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been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formed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an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indefinite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period,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called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partnership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at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will.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3" y="892559"/>
            <a:ext cx="5511800" cy="81381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1150" spc="-100" b="1">
                <a:latin typeface="Arial"/>
                <a:cs typeface="Arial"/>
              </a:rPr>
              <a:t>Existence </a:t>
            </a:r>
            <a:r>
              <a:rPr dirty="0" sz="1150" spc="-40" b="1">
                <a:latin typeface="Arial"/>
                <a:cs typeface="Arial"/>
              </a:rPr>
              <a:t>after </a:t>
            </a:r>
            <a:r>
              <a:rPr dirty="0" sz="1150" spc="-80" b="1">
                <a:latin typeface="Arial"/>
                <a:cs typeface="Arial"/>
              </a:rPr>
              <a:t>Completion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spc="-60" b="1">
                <a:latin typeface="Arial"/>
                <a:cs typeface="Arial"/>
              </a:rPr>
              <a:t>Venture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30">
                <a:latin typeface="Arial"/>
                <a:cs typeface="Arial"/>
              </a:rPr>
              <a:t>partnership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5">
                <a:latin typeface="Arial"/>
                <a:cs typeface="Arial"/>
              </a:rPr>
              <a:t>been </a:t>
            </a:r>
            <a:r>
              <a:rPr dirty="0" sz="1150" spc="-25">
                <a:latin typeface="Arial"/>
                <a:cs typeface="Arial"/>
              </a:rPr>
              <a:t>formed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particular </a:t>
            </a:r>
            <a:r>
              <a:rPr dirty="0" sz="1150" spc="-30">
                <a:latin typeface="Arial"/>
                <a:cs typeface="Arial"/>
              </a:rPr>
              <a:t>venture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30">
                <a:latin typeface="Arial"/>
                <a:cs typeface="Arial"/>
              </a:rPr>
              <a:t>completion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30">
                <a:latin typeface="Arial"/>
                <a:cs typeface="Arial"/>
              </a:rPr>
              <a:t>venture </a:t>
            </a:r>
            <a:r>
              <a:rPr dirty="0" sz="1150" spc="30">
                <a:latin typeface="Arial"/>
                <a:cs typeface="Arial"/>
              </a:rPr>
              <a:t>it  </a:t>
            </a:r>
            <a:r>
              <a:rPr dirty="0" sz="1150" spc="-50">
                <a:latin typeface="Arial"/>
                <a:cs typeface="Arial"/>
              </a:rPr>
              <a:t>remains </a:t>
            </a:r>
            <a:r>
              <a:rPr dirty="0" sz="1150" spc="-35">
                <a:latin typeface="Arial"/>
                <a:cs typeface="Arial"/>
              </a:rPr>
              <a:t>continue,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becomes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partnership </a:t>
            </a:r>
            <a:r>
              <a:rPr dirty="0" sz="1150" spc="-15">
                <a:latin typeface="Arial"/>
                <a:cs typeface="Arial"/>
              </a:rPr>
              <a:t>at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will.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150" spc="-100" b="1">
                <a:latin typeface="Arial"/>
                <a:cs typeface="Arial"/>
              </a:rPr>
              <a:t>Existence </a:t>
            </a:r>
            <a:r>
              <a:rPr dirty="0" sz="1150" spc="-40" b="1">
                <a:latin typeface="Arial"/>
                <a:cs typeface="Arial"/>
              </a:rPr>
              <a:t>after </a:t>
            </a:r>
            <a:r>
              <a:rPr dirty="0" sz="1150" spc="-100" b="1">
                <a:latin typeface="Arial"/>
                <a:cs typeface="Arial"/>
              </a:rPr>
              <a:t>Expiry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Period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30">
                <a:latin typeface="Arial"/>
                <a:cs typeface="Arial"/>
              </a:rPr>
              <a:t>partnership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5">
                <a:latin typeface="Arial"/>
                <a:cs typeface="Arial"/>
              </a:rPr>
              <a:t>been </a:t>
            </a:r>
            <a:r>
              <a:rPr dirty="0" sz="1150" spc="-25">
                <a:latin typeface="Arial"/>
                <a:cs typeface="Arial"/>
              </a:rPr>
              <a:t>formed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definite </a:t>
            </a:r>
            <a:r>
              <a:rPr dirty="0" sz="1150" spc="-10">
                <a:latin typeface="Arial"/>
                <a:cs typeface="Arial"/>
              </a:rPr>
              <a:t>time </a:t>
            </a:r>
            <a:r>
              <a:rPr dirty="0" sz="1150" spc="-30">
                <a:latin typeface="Arial"/>
                <a:cs typeface="Arial"/>
              </a:rPr>
              <a:t>period,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expiry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this period, 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becomes </a:t>
            </a:r>
            <a:r>
              <a:rPr dirty="0" sz="1150" spc="-35">
                <a:latin typeface="Arial"/>
                <a:cs typeface="Arial"/>
              </a:rPr>
              <a:t>partnership </a:t>
            </a:r>
            <a:r>
              <a:rPr dirty="0" sz="1150" spc="-15">
                <a:latin typeface="Arial"/>
                <a:cs typeface="Arial"/>
              </a:rPr>
              <a:t>at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will.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75" b="1">
                <a:latin typeface="Arial"/>
                <a:cs typeface="Arial"/>
              </a:rPr>
              <a:t>PARTICULAR</a:t>
            </a:r>
            <a:r>
              <a:rPr dirty="0" sz="1350" spc="-130" b="1">
                <a:latin typeface="Arial"/>
                <a:cs typeface="Arial"/>
              </a:rPr>
              <a:t> </a:t>
            </a:r>
            <a:r>
              <a:rPr dirty="0" sz="1350" spc="-170" b="1">
                <a:latin typeface="Arial"/>
                <a:cs typeface="Arial"/>
              </a:rPr>
              <a:t>PARTNERSHIP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5">
                <a:latin typeface="Arial"/>
                <a:cs typeface="Arial"/>
              </a:rPr>
              <a:t>If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partnership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formed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particular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object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temporary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nature,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45">
                <a:latin typeface="Arial"/>
                <a:cs typeface="Arial"/>
              </a:rPr>
              <a:t> called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particular  </a:t>
            </a:r>
            <a:r>
              <a:rPr dirty="0" sz="1150" spc="-35">
                <a:latin typeface="Arial"/>
                <a:cs typeface="Arial"/>
              </a:rPr>
              <a:t>partnership. </a:t>
            </a:r>
            <a:r>
              <a:rPr dirty="0" sz="1150" spc="-85">
                <a:latin typeface="Arial"/>
                <a:cs typeface="Arial"/>
              </a:rPr>
              <a:t>On </a:t>
            </a:r>
            <a:r>
              <a:rPr dirty="0" sz="1150" spc="-30">
                <a:latin typeface="Arial"/>
                <a:cs typeface="Arial"/>
              </a:rPr>
              <a:t>completion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particular </a:t>
            </a:r>
            <a:r>
              <a:rPr dirty="0" sz="1150" spc="-30">
                <a:latin typeface="Arial"/>
                <a:cs typeface="Arial"/>
              </a:rPr>
              <a:t>venture,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5">
                <a:latin typeface="Arial"/>
                <a:cs typeface="Arial"/>
              </a:rPr>
              <a:t>comes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5">
                <a:latin typeface="Arial"/>
                <a:cs typeface="Arial"/>
              </a:rPr>
              <a:t>end.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Under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40">
                <a:latin typeface="Arial"/>
                <a:cs typeface="Arial"/>
              </a:rPr>
              <a:t>no  regular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done.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example: </a:t>
            </a:r>
            <a:r>
              <a:rPr dirty="0" sz="1150" spc="-45">
                <a:latin typeface="Arial"/>
                <a:cs typeface="Arial"/>
              </a:rPr>
              <a:t>Partnership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construction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building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35">
                <a:latin typeface="Arial"/>
                <a:cs typeface="Arial"/>
              </a:rPr>
              <a:t>partnership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0">
                <a:latin typeface="Arial"/>
                <a:cs typeface="Arial"/>
              </a:rPr>
              <a:t>producing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film.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10" b="1">
                <a:latin typeface="Arial"/>
                <a:cs typeface="Arial"/>
              </a:rPr>
              <a:t>LIMITED</a:t>
            </a:r>
            <a:r>
              <a:rPr dirty="0" sz="1350" spc="-70" b="1">
                <a:latin typeface="Arial"/>
                <a:cs typeface="Arial"/>
              </a:rPr>
              <a:t> </a:t>
            </a:r>
            <a:r>
              <a:rPr dirty="0" sz="1350" spc="-175" b="1">
                <a:latin typeface="Arial"/>
                <a:cs typeface="Arial"/>
              </a:rPr>
              <a:t>PARTBNERSHIP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35">
                <a:latin typeface="Arial"/>
                <a:cs typeface="Arial"/>
              </a:rPr>
              <a:t>Limited partnership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25">
                <a:latin typeface="Arial"/>
                <a:cs typeface="Arial"/>
              </a:rPr>
              <a:t>liabilities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some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10">
                <a:latin typeface="Arial"/>
                <a:cs typeface="Arial"/>
              </a:rPr>
              <a:t>limited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amount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45">
                <a:latin typeface="Arial"/>
                <a:cs typeface="Arial"/>
              </a:rPr>
              <a:t>capitals. 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35">
                <a:latin typeface="Arial"/>
                <a:cs typeface="Arial"/>
              </a:rPr>
              <a:t>partnership,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0">
                <a:latin typeface="Arial"/>
                <a:cs typeface="Arial"/>
              </a:rPr>
              <a:t>at </a:t>
            </a:r>
            <a:r>
              <a:rPr dirty="0" sz="1150" spc="-50">
                <a:latin typeface="Arial"/>
                <a:cs typeface="Arial"/>
              </a:rPr>
              <a:t>least one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20">
                <a:latin typeface="Arial"/>
                <a:cs typeface="Arial"/>
              </a:rPr>
              <a:t>unlimited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liability.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60">
                <a:latin typeface="Arial"/>
                <a:cs typeface="Arial"/>
              </a:rPr>
              <a:t>Pakistan, </a:t>
            </a:r>
            <a:r>
              <a:rPr dirty="0" sz="1150" spc="-30">
                <a:latin typeface="Arial"/>
                <a:cs typeface="Arial"/>
              </a:rPr>
              <a:t>this type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partnership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25">
                <a:latin typeface="Arial"/>
                <a:cs typeface="Arial"/>
              </a:rPr>
              <a:t>formed.  </a:t>
            </a:r>
            <a:r>
              <a:rPr dirty="0" sz="1150" spc="-65">
                <a:latin typeface="Arial"/>
                <a:cs typeface="Arial"/>
              </a:rPr>
              <a:t>There 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separate </a:t>
            </a:r>
            <a:r>
              <a:rPr dirty="0" sz="1150" spc="-35">
                <a:latin typeface="Arial"/>
                <a:cs typeface="Arial"/>
              </a:rPr>
              <a:t>partnership </a:t>
            </a:r>
            <a:r>
              <a:rPr dirty="0" sz="1150" spc="-40">
                <a:latin typeface="Arial"/>
                <a:cs typeface="Arial"/>
              </a:rPr>
              <a:t>act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it.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50" b="1">
                <a:latin typeface="Arial"/>
                <a:cs typeface="Arial"/>
              </a:rPr>
              <a:t>MAIN</a:t>
            </a:r>
            <a:r>
              <a:rPr dirty="0" sz="1350" spc="-70" b="1">
                <a:latin typeface="Arial"/>
                <a:cs typeface="Arial"/>
              </a:rPr>
              <a:t> </a:t>
            </a:r>
            <a:r>
              <a:rPr dirty="0" sz="1350" spc="-195" b="1">
                <a:latin typeface="Arial"/>
                <a:cs typeface="Arial"/>
              </a:rPr>
              <a:t>FEATUTRES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25">
                <a:latin typeface="Arial"/>
                <a:cs typeface="Arial"/>
              </a:rPr>
              <a:t>Main </a:t>
            </a:r>
            <a:r>
              <a:rPr dirty="0" sz="1150" spc="-40">
                <a:latin typeface="Arial"/>
                <a:cs typeface="Arial"/>
              </a:rPr>
              <a:t>features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partnership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are: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1150" spc="-75" b="1">
                <a:latin typeface="Arial"/>
                <a:cs typeface="Arial"/>
              </a:rPr>
              <a:t>Limited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Partner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65">
                <a:latin typeface="Arial"/>
                <a:cs typeface="Arial"/>
              </a:rPr>
              <a:t>There is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45">
                <a:latin typeface="Arial"/>
                <a:cs typeface="Arial"/>
              </a:rPr>
              <a:t>least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20">
                <a:latin typeface="Arial"/>
                <a:cs typeface="Arial"/>
              </a:rPr>
              <a:t>partner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10">
                <a:latin typeface="Arial"/>
                <a:cs typeface="Arial"/>
              </a:rPr>
              <a:t>limited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liability.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1150" spc="-60" b="1">
                <a:latin typeface="Arial"/>
                <a:cs typeface="Arial"/>
              </a:rPr>
              <a:t>Unlimited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Partner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65">
                <a:latin typeface="Arial"/>
                <a:cs typeface="Arial"/>
              </a:rPr>
              <a:t>There is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45">
                <a:latin typeface="Arial"/>
                <a:cs typeface="Arial"/>
              </a:rPr>
              <a:t>least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20">
                <a:latin typeface="Arial"/>
                <a:cs typeface="Arial"/>
              </a:rPr>
              <a:t>partner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20">
                <a:latin typeface="Arial"/>
                <a:cs typeface="Arial"/>
              </a:rPr>
              <a:t>unlimited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liability.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150" spc="-75" b="1">
                <a:latin typeface="Arial"/>
                <a:cs typeface="Arial"/>
              </a:rPr>
              <a:t>Number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Partners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3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45">
                <a:latin typeface="Arial"/>
                <a:cs typeface="Arial"/>
              </a:rPr>
              <a:t>least </a:t>
            </a:r>
            <a:r>
              <a:rPr dirty="0" sz="1150" spc="5">
                <a:latin typeface="Arial"/>
                <a:cs typeface="Arial"/>
              </a:rPr>
              <a:t>two </a:t>
            </a:r>
            <a:r>
              <a:rPr dirty="0" sz="1150" spc="-40">
                <a:latin typeface="Arial"/>
                <a:cs typeface="Arial"/>
              </a:rPr>
              <a:t>partners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5">
                <a:latin typeface="Arial"/>
                <a:cs typeface="Arial"/>
              </a:rPr>
              <a:t>maximum </a:t>
            </a:r>
            <a:r>
              <a:rPr dirty="0" sz="1150" spc="-65">
                <a:latin typeface="Arial"/>
                <a:cs typeface="Arial"/>
              </a:rPr>
              <a:t>20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30">
                <a:latin typeface="Arial"/>
                <a:cs typeface="Arial"/>
              </a:rPr>
              <a:t>ordinary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30">
                <a:latin typeface="Arial"/>
                <a:cs typeface="Arial"/>
              </a:rPr>
              <a:t>more than  </a:t>
            </a:r>
            <a:r>
              <a:rPr dirty="0" sz="1150" spc="-55">
                <a:latin typeface="Arial"/>
                <a:cs typeface="Arial"/>
              </a:rPr>
              <a:t>10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banking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4"/>
              <a:tabLst>
                <a:tab pos="469265" algn="l"/>
                <a:tab pos="469900" algn="l"/>
              </a:tabLst>
            </a:pPr>
            <a:r>
              <a:rPr dirty="0" sz="1150" spc="-105" b="1">
                <a:latin typeface="Arial"/>
                <a:cs typeface="Arial"/>
              </a:rPr>
              <a:t>Admission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65" b="1">
                <a:latin typeface="Arial"/>
                <a:cs typeface="Arial"/>
              </a:rPr>
              <a:t>New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Partner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New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0">
                <a:latin typeface="Arial"/>
                <a:cs typeface="Arial"/>
              </a:rPr>
              <a:t>admitted 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35">
                <a:latin typeface="Arial"/>
                <a:cs typeface="Arial"/>
              </a:rPr>
              <a:t>partnership </a:t>
            </a:r>
            <a:r>
              <a:rPr dirty="0" sz="1150">
                <a:latin typeface="Arial"/>
                <a:cs typeface="Arial"/>
              </a:rPr>
              <a:t>without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consent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limited </a:t>
            </a:r>
            <a:r>
              <a:rPr dirty="0" sz="1150" spc="-35">
                <a:latin typeface="Arial"/>
                <a:cs typeface="Arial"/>
              </a:rPr>
              <a:t>partners  </a:t>
            </a:r>
            <a:r>
              <a:rPr dirty="0" sz="1150" spc="-10">
                <a:latin typeface="Arial"/>
                <a:cs typeface="Arial"/>
              </a:rPr>
              <a:t>but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with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consent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unlimited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partners.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46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1070867"/>
            <a:ext cx="5512435" cy="7364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5"/>
              <a:tabLst>
                <a:tab pos="469265" algn="l"/>
                <a:tab pos="469900" algn="l"/>
              </a:tabLst>
            </a:pPr>
            <a:r>
              <a:rPr dirty="0" sz="1150" spc="-80" b="1">
                <a:latin typeface="Arial"/>
                <a:cs typeface="Arial"/>
              </a:rPr>
              <a:t>Registration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5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registration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35">
                <a:latin typeface="Arial"/>
                <a:cs typeface="Arial"/>
              </a:rPr>
              <a:t>partnership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compulsory </a:t>
            </a:r>
            <a:r>
              <a:rPr dirty="0" sz="1150" spc="-50">
                <a:latin typeface="Arial"/>
                <a:cs typeface="Arial"/>
              </a:rPr>
              <a:t>by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law.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6"/>
              <a:tabLst>
                <a:tab pos="469265" algn="l"/>
                <a:tab pos="469900" algn="l"/>
              </a:tabLst>
            </a:pPr>
            <a:r>
              <a:rPr dirty="0" sz="1150" spc="-70" b="1">
                <a:latin typeface="Arial"/>
                <a:cs typeface="Arial"/>
              </a:rPr>
              <a:t>Transferability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114" b="1">
                <a:latin typeface="Arial"/>
                <a:cs typeface="Arial"/>
              </a:rPr>
              <a:t>Shares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6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35">
                <a:latin typeface="Arial"/>
                <a:cs typeface="Arial"/>
              </a:rPr>
              <a:t>Limited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25">
                <a:latin typeface="Arial"/>
                <a:cs typeface="Arial"/>
              </a:rPr>
              <a:t>transfer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consent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15">
                <a:latin typeface="Arial"/>
                <a:cs typeface="Arial"/>
              </a:rPr>
              <a:t>other  </a:t>
            </a:r>
            <a:r>
              <a:rPr dirty="0" sz="1150" spc="-35">
                <a:latin typeface="Arial"/>
                <a:cs typeface="Arial"/>
              </a:rPr>
              <a:t>partners.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7"/>
              <a:tabLst>
                <a:tab pos="469265" algn="l"/>
                <a:tab pos="469900" algn="l"/>
              </a:tabLst>
            </a:pPr>
            <a:r>
              <a:rPr dirty="0" sz="1150" spc="-80" b="1">
                <a:latin typeface="Arial"/>
                <a:cs typeface="Arial"/>
              </a:rPr>
              <a:t>Inspection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25" b="1">
                <a:latin typeface="Arial"/>
                <a:cs typeface="Arial"/>
              </a:rPr>
              <a:t>Books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AutoNum type="arabicPeriod" startAt="7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35">
                <a:latin typeface="Arial"/>
                <a:cs typeface="Arial"/>
              </a:rPr>
              <a:t>Limited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right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inspect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books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accounts.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8"/>
              <a:tabLst>
                <a:tab pos="469265" algn="l"/>
                <a:tab pos="469900" algn="l"/>
              </a:tabLst>
            </a:pPr>
            <a:r>
              <a:rPr dirty="0" sz="1150" spc="-110" b="1">
                <a:latin typeface="Arial"/>
                <a:cs typeface="Arial"/>
              </a:rPr>
              <a:t>Rights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spc="-114" b="1">
                <a:latin typeface="Arial"/>
                <a:cs typeface="Arial"/>
              </a:rPr>
              <a:t>Suggestions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8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35">
                <a:latin typeface="Arial"/>
                <a:cs typeface="Arial"/>
              </a:rPr>
              <a:t>Limited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right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give </a:t>
            </a:r>
            <a:r>
              <a:rPr dirty="0" sz="1150" spc="-65">
                <a:latin typeface="Arial"/>
                <a:cs typeface="Arial"/>
              </a:rPr>
              <a:t>suggestions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others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75">
                <a:latin typeface="Arial"/>
                <a:cs typeface="Arial"/>
              </a:rPr>
              <a:t>manage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9"/>
              <a:tabLst>
                <a:tab pos="469265" algn="l"/>
                <a:tab pos="469900" algn="l"/>
              </a:tabLst>
            </a:pPr>
            <a:r>
              <a:rPr dirty="0" sz="1150" spc="-70" b="1">
                <a:latin typeface="Arial"/>
                <a:cs typeface="Arial"/>
              </a:rPr>
              <a:t>Participation </a:t>
            </a:r>
            <a:r>
              <a:rPr dirty="0" sz="1150" spc="-60" b="1">
                <a:latin typeface="Arial"/>
                <a:cs typeface="Arial"/>
              </a:rPr>
              <a:t>in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Management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9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05">
                <a:latin typeface="Arial"/>
                <a:cs typeface="Arial"/>
              </a:rPr>
              <a:t>A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limited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partner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cannot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take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part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management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rabicPeriod" startAt="10"/>
              <a:tabLst>
                <a:tab pos="469265" algn="l"/>
                <a:tab pos="470534" algn="l"/>
              </a:tabLst>
            </a:pPr>
            <a:r>
              <a:rPr dirty="0" sz="1150" spc="-55" b="1">
                <a:latin typeface="Arial"/>
                <a:cs typeface="Arial"/>
              </a:rPr>
              <a:t>Withdrawal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70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AutoNum type="arabicPeriod" startAt="10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limited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40">
                <a:latin typeface="Arial"/>
                <a:cs typeface="Arial"/>
              </a:rPr>
              <a:t>cannot </a:t>
            </a:r>
            <a:r>
              <a:rPr dirty="0" sz="1150" spc="-15">
                <a:latin typeface="Arial"/>
                <a:cs typeface="Arial"/>
              </a:rPr>
              <a:t>withdraw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5">
                <a:latin typeface="Arial"/>
                <a:cs typeface="Arial"/>
              </a:rPr>
              <a:t>until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50">
                <a:latin typeface="Arial"/>
                <a:cs typeface="Arial"/>
              </a:rPr>
              <a:t>remains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partnership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1"/>
              <a:tabLst>
                <a:tab pos="469265" algn="l"/>
                <a:tab pos="470534" algn="l"/>
              </a:tabLst>
            </a:pPr>
            <a:r>
              <a:rPr dirty="0" sz="1150" spc="-80" b="1">
                <a:latin typeface="Arial"/>
                <a:cs typeface="Arial"/>
              </a:rPr>
              <a:t>Separate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Legislation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15">
                <a:latin typeface="Arial"/>
                <a:cs typeface="Arial"/>
              </a:rPr>
              <a:t>It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enrolled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under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Limited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Partnership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Act,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1907,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instead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Partnership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Act,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1932.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14" b="1">
                <a:latin typeface="Arial"/>
                <a:cs typeface="Arial"/>
              </a:rPr>
              <a:t>TERMINATION </a:t>
            </a:r>
            <a:r>
              <a:rPr dirty="0" sz="1350" spc="-175" b="1">
                <a:latin typeface="Arial"/>
                <a:cs typeface="Arial"/>
              </a:rPr>
              <a:t>OF</a:t>
            </a:r>
            <a:r>
              <a:rPr dirty="0" sz="1350" spc="-30" b="1">
                <a:latin typeface="Arial"/>
                <a:cs typeface="Arial"/>
              </a:rPr>
              <a:t> </a:t>
            </a:r>
            <a:r>
              <a:rPr dirty="0" sz="1350" spc="-170" b="1">
                <a:latin typeface="Arial"/>
                <a:cs typeface="Arial"/>
              </a:rPr>
              <a:t>PARTNERSHIP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35">
                <a:latin typeface="Arial"/>
                <a:cs typeface="Arial"/>
              </a:rPr>
              <a:t>forms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partnership under </a:t>
            </a:r>
            <a:r>
              <a:rPr dirty="0" sz="1150" spc="-55">
                <a:latin typeface="Arial"/>
                <a:cs typeface="Arial"/>
              </a:rPr>
              <a:t>Islamic </a:t>
            </a:r>
            <a:r>
              <a:rPr dirty="0" sz="1150" spc="-40">
                <a:latin typeface="Arial"/>
                <a:cs typeface="Arial"/>
              </a:rPr>
              <a:t>law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5">
                <a:latin typeface="Arial"/>
                <a:cs typeface="Arial"/>
              </a:rPr>
              <a:t>terminated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as: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dirty="0" sz="1150" spc="-70" b="1">
                <a:latin typeface="Arial"/>
                <a:cs typeface="Arial"/>
              </a:rPr>
              <a:t>Notice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above </a:t>
            </a:r>
            <a:r>
              <a:rPr dirty="0" sz="1150" spc="-30">
                <a:latin typeface="Arial"/>
                <a:cs typeface="Arial"/>
              </a:rPr>
              <a:t>forms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partnership </a:t>
            </a:r>
            <a:r>
              <a:rPr dirty="0" sz="1150" spc="-70">
                <a:latin typeface="Arial"/>
                <a:cs typeface="Arial"/>
              </a:rPr>
              <a:t>each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right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terminate the </a:t>
            </a:r>
            <a:r>
              <a:rPr dirty="0" sz="1150" spc="-35">
                <a:latin typeface="Arial"/>
                <a:cs typeface="Arial"/>
              </a:rPr>
              <a:t>partnership  </a:t>
            </a:r>
            <a:r>
              <a:rPr dirty="0" sz="1150" spc="-50">
                <a:latin typeface="Arial"/>
                <a:cs typeface="Arial"/>
              </a:rPr>
              <a:t>by giving </a:t>
            </a:r>
            <a:r>
              <a:rPr dirty="0" sz="1150" spc="-30">
                <a:latin typeface="Arial"/>
                <a:cs typeface="Arial"/>
              </a:rPr>
              <a:t>notice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partners.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1150" spc="-65" b="1">
                <a:latin typeface="Arial"/>
                <a:cs typeface="Arial"/>
              </a:rPr>
              <a:t>Death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45">
                <a:latin typeface="Arial"/>
                <a:cs typeface="Arial"/>
              </a:rPr>
              <a:t>Partnership </a:t>
            </a:r>
            <a:r>
              <a:rPr dirty="0" sz="1150" spc="-65">
                <a:latin typeface="Arial"/>
                <a:cs typeface="Arial"/>
              </a:rPr>
              <a:t>is also </a:t>
            </a:r>
            <a:r>
              <a:rPr dirty="0" sz="1150" spc="-25">
                <a:latin typeface="Arial"/>
                <a:cs typeface="Arial"/>
              </a:rPr>
              <a:t>terminated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death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partner.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47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1800" cy="66967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 b="1">
                <a:latin typeface="Arial"/>
                <a:cs typeface="Arial"/>
              </a:rPr>
              <a:t>PARTNERSHIP</a:t>
            </a:r>
            <a:r>
              <a:rPr dirty="0" sz="1350" spc="-70" b="1">
                <a:latin typeface="Arial"/>
                <a:cs typeface="Arial"/>
              </a:rPr>
              <a:t> </a:t>
            </a:r>
            <a:r>
              <a:rPr dirty="0" sz="1350" spc="-185" b="1">
                <a:latin typeface="Arial"/>
                <a:cs typeface="Arial"/>
              </a:rPr>
              <a:t>DEED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45">
                <a:latin typeface="Arial"/>
                <a:cs typeface="Arial"/>
              </a:rPr>
              <a:t>Partnership </a:t>
            </a:r>
            <a:r>
              <a:rPr dirty="0" sz="1150" spc="-55">
                <a:latin typeface="Arial"/>
                <a:cs typeface="Arial"/>
              </a:rPr>
              <a:t>deed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document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5">
                <a:latin typeface="Arial"/>
                <a:cs typeface="Arial"/>
              </a:rPr>
              <a:t>contains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terms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conditions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75" b="1">
                <a:latin typeface="Arial"/>
                <a:cs typeface="Arial"/>
              </a:rPr>
              <a:t>CONTENTS </a:t>
            </a:r>
            <a:r>
              <a:rPr dirty="0" sz="1350" spc="-180" b="1">
                <a:latin typeface="Arial"/>
                <a:cs typeface="Arial"/>
              </a:rPr>
              <a:t>OF </a:t>
            </a:r>
            <a:r>
              <a:rPr dirty="0" sz="1350" spc="-170" b="1">
                <a:latin typeface="Arial"/>
                <a:cs typeface="Arial"/>
              </a:rPr>
              <a:t>PARTNERSHIP</a:t>
            </a:r>
            <a:r>
              <a:rPr dirty="0" sz="1350" spc="-245" b="1">
                <a:latin typeface="Arial"/>
                <a:cs typeface="Arial"/>
              </a:rPr>
              <a:t> </a:t>
            </a:r>
            <a:r>
              <a:rPr dirty="0" sz="1350" spc="-185" b="1">
                <a:latin typeface="Arial"/>
                <a:cs typeface="Arial"/>
              </a:rPr>
              <a:t>DEED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Wingdings"/>
              <a:buChar char=""/>
              <a:tabLst>
                <a:tab pos="470534" algn="l"/>
              </a:tabLst>
            </a:pPr>
            <a:r>
              <a:rPr dirty="0" sz="1150" spc="-55">
                <a:latin typeface="Arial"/>
                <a:cs typeface="Arial"/>
              </a:rPr>
              <a:t>Date </a:t>
            </a:r>
            <a:r>
              <a:rPr dirty="0" sz="1150" spc="-35">
                <a:latin typeface="Arial"/>
                <a:cs typeface="Arial"/>
              </a:rPr>
              <a:t>on which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agreement </a:t>
            </a:r>
            <a:r>
              <a:rPr dirty="0" sz="1150" spc="-80">
                <a:latin typeface="Arial"/>
                <a:cs typeface="Arial"/>
              </a:rPr>
              <a:t>was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made.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470534" algn="l"/>
              </a:tabLst>
            </a:pPr>
            <a:r>
              <a:rPr dirty="0" sz="1150" spc="-70">
                <a:latin typeface="Arial"/>
                <a:cs typeface="Arial"/>
              </a:rPr>
              <a:t>Name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business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470534" algn="l"/>
              </a:tabLst>
            </a:pPr>
            <a:r>
              <a:rPr dirty="0" sz="1150" spc="-40">
                <a:latin typeface="Arial"/>
                <a:cs typeface="Arial"/>
              </a:rPr>
              <a:t>Nature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business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0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70">
                <a:latin typeface="Arial"/>
                <a:cs typeface="Arial"/>
              </a:rPr>
              <a:t>clause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0">
                <a:latin typeface="Arial"/>
                <a:cs typeface="Arial"/>
              </a:rPr>
              <a:t>cover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scope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470534" algn="l"/>
              </a:tabLst>
            </a:pPr>
            <a:r>
              <a:rPr dirty="0" sz="1150" spc="-75">
                <a:latin typeface="Arial"/>
                <a:cs typeface="Arial"/>
              </a:rPr>
              <a:t>Names, </a:t>
            </a:r>
            <a:r>
              <a:rPr dirty="0" sz="1150" spc="-70">
                <a:latin typeface="Arial"/>
                <a:cs typeface="Arial"/>
              </a:rPr>
              <a:t>addresses, </a:t>
            </a:r>
            <a:r>
              <a:rPr dirty="0" sz="1150" spc="-35">
                <a:latin typeface="Arial"/>
                <a:cs typeface="Arial"/>
              </a:rPr>
              <a:t>telephone </a:t>
            </a:r>
            <a:r>
              <a:rPr dirty="0" sz="1150" spc="-55">
                <a:latin typeface="Arial"/>
                <a:cs typeface="Arial"/>
              </a:rPr>
              <a:t>Numbers and emails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partners.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470534" algn="l"/>
              </a:tabLst>
            </a:pPr>
            <a:r>
              <a:rPr dirty="0" sz="1150" spc="-55">
                <a:latin typeface="Arial"/>
                <a:cs typeface="Arial"/>
              </a:rPr>
              <a:t>Capital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business</a:t>
            </a:r>
            <a:endParaRPr sz="1150">
              <a:latin typeface="Arial"/>
              <a:cs typeface="Arial"/>
            </a:endParaRPr>
          </a:p>
          <a:p>
            <a:pPr marL="469900" marR="5715" indent="-228600">
              <a:lnSpc>
                <a:spcPct val="101699"/>
              </a:lnSpc>
              <a:buFont typeface="Wingdings"/>
              <a:buChar char=""/>
              <a:tabLst>
                <a:tab pos="470534" algn="l"/>
              </a:tabLst>
            </a:pP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20">
                <a:latin typeface="Arial"/>
                <a:cs typeface="Arial"/>
              </a:rPr>
              <a:t>duration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attached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40">
                <a:latin typeface="Arial"/>
                <a:cs typeface="Arial"/>
              </a:rPr>
              <a:t>clearly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0">
                <a:latin typeface="Arial"/>
                <a:cs typeface="Arial"/>
              </a:rPr>
              <a:t>mentioned </a:t>
            </a:r>
            <a:r>
              <a:rPr dirty="0" sz="1150" spc="-20">
                <a:latin typeface="Arial"/>
                <a:cs typeface="Arial"/>
              </a:rPr>
              <a:t>in the  </a:t>
            </a:r>
            <a:r>
              <a:rPr dirty="0" sz="1150" spc="-35">
                <a:latin typeface="Arial"/>
                <a:cs typeface="Arial"/>
              </a:rPr>
              <a:t>partnership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deed.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0"/>
              </a:spcBef>
              <a:buFont typeface="Wingdings"/>
              <a:buChar char=""/>
              <a:tabLst>
                <a:tab pos="470534" algn="l"/>
              </a:tabLst>
            </a:pPr>
            <a:r>
              <a:rPr dirty="0" sz="1150" spc="-50">
                <a:latin typeface="Arial"/>
                <a:cs typeface="Arial"/>
              </a:rPr>
              <a:t>Duties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partners</a:t>
            </a:r>
            <a:endParaRPr sz="1150">
              <a:latin typeface="Arial"/>
              <a:cs typeface="Arial"/>
            </a:endParaRPr>
          </a:p>
          <a:p>
            <a:pPr marL="469900" marR="6350" indent="-228600">
              <a:lnSpc>
                <a:spcPct val="101699"/>
              </a:lnSpc>
              <a:spcBef>
                <a:spcPts val="5"/>
              </a:spcBef>
              <a:buFont typeface="Wingdings"/>
              <a:buChar char=""/>
              <a:tabLst>
                <a:tab pos="470534" algn="l"/>
              </a:tabLst>
            </a:pPr>
            <a:r>
              <a:rPr dirty="0" sz="1150" spc="-30">
                <a:latin typeface="Arial"/>
                <a:cs typeface="Arial"/>
              </a:rPr>
              <a:t>Whether </a:t>
            </a:r>
            <a:r>
              <a:rPr dirty="0" sz="1150" spc="-60">
                <a:latin typeface="Arial"/>
                <a:cs typeface="Arial"/>
              </a:rPr>
              <a:t>any </a:t>
            </a:r>
            <a:r>
              <a:rPr dirty="0" sz="1150" spc="-20">
                <a:latin typeface="Arial"/>
                <a:cs typeface="Arial"/>
              </a:rPr>
              <a:t>partner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5">
                <a:latin typeface="Arial"/>
                <a:cs typeface="Arial"/>
              </a:rPr>
              <a:t>entitled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salary. </a:t>
            </a: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70">
                <a:latin typeface="Arial"/>
                <a:cs typeface="Arial"/>
              </a:rPr>
              <a:t>yes, </a:t>
            </a:r>
            <a:r>
              <a:rPr dirty="0" sz="1150" spc="-25">
                <a:latin typeface="Arial"/>
                <a:cs typeface="Arial"/>
              </a:rPr>
              <a:t>how </a:t>
            </a:r>
            <a:r>
              <a:rPr dirty="0" sz="1150" spc="-50">
                <a:latin typeface="Arial"/>
                <a:cs typeface="Arial"/>
              </a:rPr>
              <a:t>much </a:t>
            </a:r>
            <a:r>
              <a:rPr dirty="0" sz="1150" spc="-30">
                <a:latin typeface="Arial"/>
                <a:cs typeface="Arial"/>
              </a:rPr>
              <a:t>amount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given 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him </a:t>
            </a:r>
            <a:r>
              <a:rPr dirty="0" sz="1150" spc="-114">
                <a:latin typeface="Arial"/>
                <a:cs typeface="Arial"/>
              </a:rPr>
              <a:t>as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salary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Font typeface="Wingdings"/>
              <a:buChar char=""/>
              <a:tabLst>
                <a:tab pos="470534" algn="l"/>
              </a:tabLst>
            </a:pPr>
            <a:r>
              <a:rPr dirty="0" sz="1150" spc="-15">
                <a:latin typeface="Arial"/>
                <a:cs typeface="Arial"/>
              </a:rPr>
              <a:t>Profit distribution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ratio</a:t>
            </a:r>
            <a:endParaRPr sz="1150">
              <a:latin typeface="Arial"/>
              <a:cs typeface="Arial"/>
            </a:endParaRPr>
          </a:p>
          <a:p>
            <a:pPr marL="469900" marR="5080" indent="-228600">
              <a:lnSpc>
                <a:spcPct val="101699"/>
              </a:lnSpc>
              <a:buFont typeface="Wingdings"/>
              <a:buChar char=""/>
              <a:tabLst>
                <a:tab pos="470534" algn="l"/>
              </a:tabLst>
            </a:pPr>
            <a:r>
              <a:rPr dirty="0" sz="1150" spc="-30">
                <a:latin typeface="Arial"/>
                <a:cs typeface="Arial"/>
              </a:rPr>
              <a:t>Whether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10">
                <a:latin typeface="Arial"/>
                <a:cs typeface="Arial"/>
              </a:rPr>
              <a:t>entitled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withdraw </a:t>
            </a:r>
            <a:r>
              <a:rPr dirty="0" sz="1150" spc="-45">
                <a:latin typeface="Arial"/>
                <a:cs typeface="Arial"/>
              </a:rPr>
              <a:t>money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70">
                <a:latin typeface="Arial"/>
                <a:cs typeface="Arial"/>
              </a:rPr>
              <a:t>yes,  </a:t>
            </a:r>
            <a:r>
              <a:rPr dirty="0" sz="1150" spc="-40">
                <a:latin typeface="Arial"/>
                <a:cs typeface="Arial"/>
              </a:rPr>
              <a:t>procedure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withdrawals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should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also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written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partnership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deed.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470534" algn="l"/>
              </a:tabLst>
            </a:pPr>
            <a:r>
              <a:rPr dirty="0" sz="1150" spc="-15">
                <a:latin typeface="Arial"/>
                <a:cs typeface="Arial"/>
              </a:rPr>
              <a:t>Arbitration</a:t>
            </a:r>
            <a:endParaRPr sz="1150">
              <a:latin typeface="Arial"/>
              <a:cs typeface="Arial"/>
            </a:endParaRPr>
          </a:p>
          <a:p>
            <a:pPr lvl="1" marL="927100" marR="6985" indent="-228600">
              <a:lnSpc>
                <a:spcPct val="101699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conflict, </a:t>
            </a:r>
            <a:r>
              <a:rPr dirty="0" sz="1150" spc="-30">
                <a:latin typeface="Arial"/>
                <a:cs typeface="Arial"/>
              </a:rPr>
              <a:t>how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conflict </a:t>
            </a:r>
            <a:r>
              <a:rPr dirty="0" sz="1150" spc="-25">
                <a:latin typeface="Arial"/>
                <a:cs typeface="Arial"/>
              </a:rPr>
              <a:t>would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5">
                <a:latin typeface="Arial"/>
                <a:cs typeface="Arial"/>
              </a:rPr>
              <a:t>resolved </a:t>
            </a:r>
            <a:r>
              <a:rPr dirty="0" sz="1150" spc="-30">
                <a:latin typeface="Arial"/>
                <a:cs typeface="Arial"/>
              </a:rPr>
              <a:t>before </a:t>
            </a:r>
            <a:r>
              <a:rPr dirty="0" sz="1150" spc="-55">
                <a:latin typeface="Arial"/>
                <a:cs typeface="Arial"/>
              </a:rPr>
              <a:t>going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 court.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45">
                <a:latin typeface="Arial"/>
                <a:cs typeface="Arial"/>
              </a:rPr>
              <a:t>should read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partnership </a:t>
            </a:r>
            <a:r>
              <a:rPr dirty="0" sz="1150" spc="-55">
                <a:latin typeface="Arial"/>
                <a:cs typeface="Arial"/>
              </a:rPr>
              <a:t>deed </a:t>
            </a:r>
            <a:r>
              <a:rPr dirty="0" sz="1150" spc="-35">
                <a:latin typeface="Arial"/>
                <a:cs typeface="Arial"/>
              </a:rPr>
              <a:t>carefully, </a:t>
            </a:r>
            <a:r>
              <a:rPr dirty="0" sz="1150" spc="-55">
                <a:latin typeface="Arial"/>
                <a:cs typeface="Arial"/>
              </a:rPr>
              <a:t>add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50">
                <a:latin typeface="Arial"/>
                <a:cs typeface="Arial"/>
              </a:rPr>
              <a:t>much </a:t>
            </a:r>
            <a:r>
              <a:rPr dirty="0" sz="1150" spc="-75">
                <a:latin typeface="Arial"/>
                <a:cs typeface="Arial"/>
              </a:rPr>
              <a:t>clauses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55">
                <a:latin typeface="Arial"/>
                <a:cs typeface="Arial"/>
              </a:rPr>
              <a:t>possible and  </a:t>
            </a:r>
            <a:r>
              <a:rPr dirty="0" sz="1150" spc="-45">
                <a:latin typeface="Arial"/>
                <a:cs typeface="Arial"/>
              </a:rPr>
              <a:t>never </a:t>
            </a:r>
            <a:r>
              <a:rPr dirty="0" sz="1150" spc="-40">
                <a:latin typeface="Arial"/>
                <a:cs typeface="Arial"/>
              </a:rPr>
              <a:t>take anything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granted.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60" b="1">
                <a:latin typeface="Arial"/>
                <a:cs typeface="Arial"/>
              </a:rPr>
              <a:t>RIGHTS </a:t>
            </a:r>
            <a:r>
              <a:rPr dirty="0" sz="1350" spc="-175" b="1">
                <a:latin typeface="Arial"/>
                <a:cs typeface="Arial"/>
              </a:rPr>
              <a:t>OF THE</a:t>
            </a:r>
            <a:r>
              <a:rPr dirty="0" sz="1350" spc="-105" b="1">
                <a:latin typeface="Arial"/>
                <a:cs typeface="Arial"/>
              </a:rPr>
              <a:t> </a:t>
            </a:r>
            <a:r>
              <a:rPr dirty="0" sz="1350" spc="-190" b="1">
                <a:latin typeface="Arial"/>
                <a:cs typeface="Arial"/>
              </a:rPr>
              <a:t>PARTNERS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Wingdings"/>
              <a:buChar char=""/>
              <a:tabLst>
                <a:tab pos="470534" algn="l"/>
              </a:tabLst>
            </a:pPr>
            <a:r>
              <a:rPr dirty="0" sz="1150" spc="-80">
                <a:latin typeface="Arial"/>
                <a:cs typeface="Arial"/>
              </a:rPr>
              <a:t>Every </a:t>
            </a:r>
            <a:r>
              <a:rPr dirty="0" sz="1150" spc="-25">
                <a:latin typeface="Arial"/>
                <a:cs typeface="Arial"/>
              </a:rPr>
              <a:t>partner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right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to: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40">
                <a:latin typeface="Arial"/>
                <a:cs typeface="Arial"/>
              </a:rPr>
              <a:t>Participate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all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affairs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5">
                <a:latin typeface="Arial"/>
                <a:cs typeface="Arial"/>
              </a:rPr>
              <a:t> business.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60">
                <a:latin typeface="Arial"/>
                <a:cs typeface="Arial"/>
              </a:rPr>
              <a:t>Get </a:t>
            </a:r>
            <a:r>
              <a:rPr dirty="0" sz="1150" spc="-20">
                <a:latin typeface="Arial"/>
                <a:cs typeface="Arial"/>
              </a:rPr>
              <a:t>his/her </a:t>
            </a:r>
            <a:r>
              <a:rPr dirty="0" sz="1150" spc="-65">
                <a:latin typeface="Arial"/>
                <a:cs typeface="Arial"/>
              </a:rPr>
              <a:t>share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5">
                <a:latin typeface="Arial"/>
                <a:cs typeface="Arial"/>
              </a:rPr>
              <a:t>profit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 lvl="1" marL="927100" marR="5715" indent="-228600">
              <a:lnSpc>
                <a:spcPct val="101699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90">
                <a:latin typeface="Arial"/>
                <a:cs typeface="Arial"/>
              </a:rPr>
              <a:t>Leave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partnership </a:t>
            </a:r>
            <a:r>
              <a:rPr dirty="0" sz="1150" spc="-50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terms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conditions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35">
                <a:latin typeface="Arial"/>
                <a:cs typeface="Arial"/>
              </a:rPr>
              <a:t>partnership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deed.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70">
                <a:latin typeface="Arial"/>
                <a:cs typeface="Arial"/>
              </a:rPr>
              <a:t>Claim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salary </a:t>
            </a:r>
            <a:r>
              <a:rPr dirty="0" sz="1150" spc="-55">
                <a:latin typeface="Arial"/>
                <a:cs typeface="Arial"/>
              </a:rPr>
              <a:t>against </a:t>
            </a:r>
            <a:r>
              <a:rPr dirty="0" sz="1150" spc="-20">
                <a:latin typeface="Arial"/>
                <a:cs typeface="Arial"/>
              </a:rPr>
              <a:t>his/her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services.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10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40">
                <a:latin typeface="Arial"/>
                <a:cs typeface="Arial"/>
              </a:rPr>
              <a:t>Participate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55">
                <a:latin typeface="Arial"/>
                <a:cs typeface="Arial"/>
              </a:rPr>
              <a:t>management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48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070" cy="21932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50" b="1">
                <a:latin typeface="Arial"/>
                <a:cs typeface="Arial"/>
              </a:rPr>
              <a:t>DUTIES </a:t>
            </a:r>
            <a:r>
              <a:rPr dirty="0" sz="1350" spc="-180" b="1">
                <a:latin typeface="Arial"/>
                <a:cs typeface="Arial"/>
              </a:rPr>
              <a:t>OF </a:t>
            </a:r>
            <a:r>
              <a:rPr dirty="0" sz="1350" spc="-175" b="1">
                <a:latin typeface="Arial"/>
                <a:cs typeface="Arial"/>
              </a:rPr>
              <a:t>THE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95" b="1">
                <a:latin typeface="Arial"/>
                <a:cs typeface="Arial"/>
              </a:rPr>
              <a:t>PARTNERS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150" spc="-55">
                <a:latin typeface="Arial"/>
                <a:cs typeface="Arial"/>
              </a:rPr>
              <a:t>Partners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maintain </a:t>
            </a:r>
            <a:r>
              <a:rPr dirty="0" sz="1150" spc="-60">
                <a:latin typeface="Arial"/>
                <a:cs typeface="Arial"/>
              </a:rPr>
              <a:t>accounts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5">
                <a:latin typeface="Arial"/>
                <a:cs typeface="Arial"/>
              </a:rPr>
              <a:t>describe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true </a:t>
            </a:r>
            <a:r>
              <a:rPr dirty="0" sz="1150" spc="-25">
                <a:latin typeface="Arial"/>
                <a:cs typeface="Arial"/>
              </a:rPr>
              <a:t>picture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50" spc="-55">
                <a:latin typeface="Arial"/>
                <a:cs typeface="Arial"/>
              </a:rPr>
              <a:t>Partners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45">
                <a:latin typeface="Arial"/>
                <a:cs typeface="Arial"/>
              </a:rPr>
              <a:t>powers </a:t>
            </a:r>
            <a:r>
              <a:rPr dirty="0" sz="1150" spc="-5">
                <a:latin typeface="Arial"/>
                <a:cs typeface="Arial"/>
              </a:rPr>
              <a:t>within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limits </a:t>
            </a:r>
            <a:r>
              <a:rPr dirty="0" sz="1150" spc="-45">
                <a:latin typeface="Arial"/>
                <a:cs typeface="Arial"/>
              </a:rPr>
              <a:t>specified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35">
                <a:latin typeface="Arial"/>
                <a:cs typeface="Arial"/>
              </a:rPr>
              <a:t>partnership </a:t>
            </a:r>
            <a:r>
              <a:rPr dirty="0" sz="1150" spc="-50">
                <a:latin typeface="Arial"/>
                <a:cs typeface="Arial"/>
              </a:rPr>
              <a:t>deed.</a:t>
            </a:r>
            <a:endParaRPr sz="11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20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50" spc="-55">
                <a:latin typeface="Arial"/>
                <a:cs typeface="Arial"/>
              </a:rPr>
              <a:t>Partners </a:t>
            </a:r>
            <a:r>
              <a:rPr dirty="0" sz="1150" spc="-50">
                <a:latin typeface="Arial"/>
                <a:cs typeface="Arial"/>
              </a:rPr>
              <a:t>are responsible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provide </a:t>
            </a:r>
            <a:r>
              <a:rPr dirty="0" sz="1150" spc="-50">
                <a:latin typeface="Arial"/>
                <a:cs typeface="Arial"/>
              </a:rPr>
              <a:t>accurate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Government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bodies.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50" spc="-55">
                <a:latin typeface="Arial"/>
                <a:cs typeface="Arial"/>
              </a:rPr>
              <a:t>Partners </a:t>
            </a:r>
            <a:r>
              <a:rPr dirty="0" sz="1150" spc="-50">
                <a:latin typeface="Arial"/>
                <a:cs typeface="Arial"/>
              </a:rPr>
              <a:t>are responsible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pay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65">
                <a:latin typeface="Arial"/>
                <a:cs typeface="Arial"/>
              </a:rPr>
              <a:t>share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loss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 marL="469900" marR="7620" indent="-228600">
              <a:lnSpc>
                <a:spcPct val="101699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duty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20">
                <a:latin typeface="Arial"/>
                <a:cs typeface="Arial"/>
              </a:rPr>
              <a:t>partner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obey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decision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5">
                <a:latin typeface="Arial"/>
                <a:cs typeface="Arial"/>
              </a:rPr>
              <a:t>been </a:t>
            </a:r>
            <a:r>
              <a:rPr dirty="0" sz="1150" spc="-60">
                <a:latin typeface="Arial"/>
                <a:cs typeface="Arial"/>
              </a:rPr>
              <a:t>made </a:t>
            </a:r>
            <a:r>
              <a:rPr dirty="0" sz="1150" spc="-20">
                <a:latin typeface="Arial"/>
                <a:cs typeface="Arial"/>
              </a:rPr>
              <a:t>in the  </a:t>
            </a:r>
            <a:r>
              <a:rPr dirty="0" sz="1150" spc="-35">
                <a:latin typeface="Arial"/>
                <a:cs typeface="Arial"/>
              </a:rPr>
              <a:t>partnership.</a:t>
            </a:r>
            <a:endParaRPr sz="1150">
              <a:latin typeface="Arial"/>
              <a:cs typeface="Arial"/>
            </a:endParaRPr>
          </a:p>
          <a:p>
            <a:pPr marL="469900" marR="5080" indent="-228600">
              <a:lnSpc>
                <a:spcPct val="101699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150" spc="-55">
                <a:latin typeface="Arial"/>
                <a:cs typeface="Arial"/>
              </a:rPr>
              <a:t>Partners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60">
                <a:latin typeface="Arial"/>
                <a:cs typeface="Arial"/>
              </a:rPr>
              <a:t>disclose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50">
                <a:latin typeface="Arial"/>
                <a:cs typeface="Arial"/>
              </a:rPr>
              <a:t>secret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15">
                <a:latin typeface="Arial"/>
                <a:cs typeface="Arial"/>
              </a:rPr>
              <a:t>other  </a:t>
            </a:r>
            <a:r>
              <a:rPr dirty="0" sz="1150" spc="-45">
                <a:latin typeface="Arial"/>
                <a:cs typeface="Arial"/>
              </a:rPr>
              <a:t>person.</a:t>
            </a:r>
            <a:endParaRPr sz="1150">
              <a:latin typeface="Arial"/>
              <a:cs typeface="Arial"/>
            </a:endParaRPr>
          </a:p>
          <a:p>
            <a:pPr marL="469900" marR="5080" indent="-228600">
              <a:lnSpc>
                <a:spcPct val="101699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moral obligation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legal </a:t>
            </a:r>
            <a:r>
              <a:rPr dirty="0" sz="1150" spc="-35">
                <a:latin typeface="Arial"/>
                <a:cs typeface="Arial"/>
              </a:rPr>
              <a:t>responsibility </a:t>
            </a:r>
            <a:r>
              <a:rPr dirty="0" sz="1150" spc="-5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partners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85">
                <a:latin typeface="Arial"/>
                <a:cs typeface="Arial"/>
              </a:rPr>
              <a:t>use </a:t>
            </a:r>
            <a:r>
              <a:rPr dirty="0" sz="1150" spc="-20">
                <a:latin typeface="Arial"/>
                <a:cs typeface="Arial"/>
              </a:rPr>
              <a:t>firm’s  </a:t>
            </a:r>
            <a:r>
              <a:rPr dirty="0" sz="1150" spc="-15">
                <a:latin typeface="Arial"/>
                <a:cs typeface="Arial"/>
              </a:rPr>
              <a:t>forum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take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any</a:t>
            </a:r>
            <a:r>
              <a:rPr dirty="0" sz="1150" spc="-60">
                <a:latin typeface="Arial"/>
                <a:cs typeface="Arial"/>
              </a:rPr>
              <a:t> advantage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without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intimating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partners.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49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760975" y="1043435"/>
            <a:ext cx="3881120" cy="873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5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185" b="1">
                <a:latin typeface="Arial"/>
                <a:cs typeface="Arial"/>
              </a:rPr>
              <a:t>JOINT </a:t>
            </a:r>
            <a:r>
              <a:rPr dirty="0" sz="1750" spc="-275" b="1">
                <a:latin typeface="Arial"/>
                <a:cs typeface="Arial"/>
              </a:rPr>
              <a:t>STOCK</a:t>
            </a:r>
            <a:r>
              <a:rPr dirty="0" sz="1750" spc="-215" b="1">
                <a:latin typeface="Arial"/>
                <a:cs typeface="Arial"/>
              </a:rPr>
              <a:t> </a:t>
            </a:r>
            <a:r>
              <a:rPr dirty="0" sz="1750" spc="-180" b="1">
                <a:latin typeface="Arial"/>
                <a:cs typeface="Arial"/>
              </a:rPr>
              <a:t>COMPANY</a:t>
            </a:r>
            <a:endParaRPr sz="17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0271" y="2075183"/>
            <a:ext cx="5514340" cy="37674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20" b="1">
                <a:latin typeface="Arial"/>
                <a:cs typeface="Arial"/>
              </a:rPr>
              <a:t>JOINT </a:t>
            </a:r>
            <a:r>
              <a:rPr dirty="0" sz="1150" spc="-185" b="1">
                <a:latin typeface="Arial"/>
                <a:cs typeface="Arial"/>
              </a:rPr>
              <a:t>STOCK</a:t>
            </a:r>
            <a:r>
              <a:rPr dirty="0" sz="1150" spc="-140" b="1">
                <a:latin typeface="Arial"/>
                <a:cs typeface="Arial"/>
              </a:rPr>
              <a:t> </a:t>
            </a:r>
            <a:r>
              <a:rPr dirty="0" sz="1150" spc="-120" b="1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Joint </a:t>
            </a:r>
            <a:r>
              <a:rPr dirty="0" sz="1150" spc="-70">
                <a:latin typeface="Arial"/>
                <a:cs typeface="Arial"/>
              </a:rPr>
              <a:t>Stock </a:t>
            </a:r>
            <a:r>
              <a:rPr dirty="0" sz="1150" spc="-75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>
                <a:latin typeface="Arial"/>
                <a:cs typeface="Arial"/>
              </a:rPr>
              <a:t>third </a:t>
            </a:r>
            <a:r>
              <a:rPr dirty="0" sz="1150" spc="-25">
                <a:latin typeface="Arial"/>
                <a:cs typeface="Arial"/>
              </a:rPr>
              <a:t>major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20">
                <a:latin typeface="Arial"/>
                <a:cs typeface="Arial"/>
              </a:rPr>
              <a:t>entirely 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40">
                <a:latin typeface="Arial"/>
                <a:cs typeface="Arial"/>
              </a:rPr>
              <a:t>organizational </a:t>
            </a:r>
            <a:r>
              <a:rPr dirty="0" sz="1150" spc="-25">
                <a:latin typeface="Arial"/>
                <a:cs typeface="Arial"/>
              </a:rPr>
              <a:t>structure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partnership. </a:t>
            </a: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5">
                <a:latin typeface="Arial"/>
                <a:cs typeface="Arial"/>
              </a:rPr>
              <a:t>two  </a:t>
            </a:r>
            <a:r>
              <a:rPr dirty="0" sz="1150" spc="-65">
                <a:latin typeface="Arial"/>
                <a:cs typeface="Arial"/>
              </a:rPr>
              <a:t>advantages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Joint </a:t>
            </a:r>
            <a:r>
              <a:rPr dirty="0" sz="1150" spc="-75">
                <a:latin typeface="Arial"/>
                <a:cs typeface="Arial"/>
              </a:rPr>
              <a:t>Stock </a:t>
            </a:r>
            <a:r>
              <a:rPr dirty="0" sz="1150" spc="-70">
                <a:latin typeface="Arial"/>
                <a:cs typeface="Arial"/>
              </a:rPr>
              <a:t>Company. </a:t>
            </a:r>
            <a:r>
              <a:rPr dirty="0" sz="1150" spc="-45">
                <a:latin typeface="Arial"/>
                <a:cs typeface="Arial"/>
              </a:rPr>
              <a:t>First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55">
                <a:latin typeface="Arial"/>
                <a:cs typeface="Arial"/>
              </a:rPr>
              <a:t>enjoys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advantage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increased </a:t>
            </a:r>
            <a:r>
              <a:rPr dirty="0" sz="1150" spc="-35">
                <a:latin typeface="Arial"/>
                <a:cs typeface="Arial"/>
              </a:rPr>
              <a:t>capital.  </a:t>
            </a:r>
            <a:r>
              <a:rPr dirty="0" sz="1150" spc="-70">
                <a:latin typeface="Arial"/>
                <a:cs typeface="Arial"/>
              </a:rPr>
              <a:t>Secondly,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company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offers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protection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limited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liability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investors.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law </a:t>
            </a:r>
            <a:r>
              <a:rPr dirty="0" sz="1150" spc="-30">
                <a:latin typeface="Arial"/>
                <a:cs typeface="Arial"/>
              </a:rPr>
              <a:t>relating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Joint </a:t>
            </a:r>
            <a:r>
              <a:rPr dirty="0" sz="1150" spc="-70">
                <a:latin typeface="Arial"/>
                <a:cs typeface="Arial"/>
              </a:rPr>
              <a:t>Stock </a:t>
            </a:r>
            <a:r>
              <a:rPr dirty="0" sz="1150" spc="-75">
                <a:latin typeface="Arial"/>
                <a:cs typeface="Arial"/>
              </a:rPr>
              <a:t>Company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5">
                <a:latin typeface="Arial"/>
                <a:cs typeface="Arial"/>
              </a:rPr>
              <a:t>been </a:t>
            </a:r>
            <a:r>
              <a:rPr dirty="0" sz="1150" spc="-35">
                <a:latin typeface="Arial"/>
                <a:cs typeface="Arial"/>
              </a:rPr>
              <a:t>laid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75">
                <a:latin typeface="Arial"/>
                <a:cs typeface="Arial"/>
              </a:rPr>
              <a:t>Companies </a:t>
            </a:r>
            <a:r>
              <a:rPr dirty="0" sz="1150" spc="-55">
                <a:latin typeface="Arial"/>
                <a:cs typeface="Arial"/>
              </a:rPr>
              <a:t>Ordinance, 1984, </a:t>
            </a:r>
            <a:r>
              <a:rPr dirty="0" sz="1150" spc="-35">
                <a:latin typeface="Arial"/>
                <a:cs typeface="Arial"/>
              </a:rPr>
              <a:t>which  </a:t>
            </a:r>
            <a:r>
              <a:rPr dirty="0" sz="1150" spc="-70">
                <a:latin typeface="Arial"/>
                <a:cs typeface="Arial"/>
              </a:rPr>
              <a:t>came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35">
                <a:latin typeface="Arial"/>
                <a:cs typeface="Arial"/>
              </a:rPr>
              <a:t>force on </a:t>
            </a:r>
            <a:r>
              <a:rPr dirty="0" sz="1150" spc="-75">
                <a:latin typeface="Arial"/>
                <a:cs typeface="Arial"/>
              </a:rPr>
              <a:t>January </a:t>
            </a:r>
            <a:r>
              <a:rPr dirty="0" sz="1150" spc="-45">
                <a:latin typeface="Arial"/>
                <a:cs typeface="Arial"/>
              </a:rPr>
              <a:t>1, </a:t>
            </a:r>
            <a:r>
              <a:rPr dirty="0" sz="1150" spc="-60">
                <a:latin typeface="Arial"/>
                <a:cs typeface="Arial"/>
              </a:rPr>
              <a:t>1985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Pakistan.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05" b="1">
                <a:latin typeface="Arial"/>
                <a:cs typeface="Arial"/>
              </a:rPr>
              <a:t>DEFINITIONS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45">
                <a:latin typeface="Arial"/>
                <a:cs typeface="Arial"/>
              </a:rPr>
              <a:t>Following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15">
                <a:latin typeface="Arial"/>
                <a:cs typeface="Arial"/>
              </a:rPr>
              <a:t>important definition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Joint </a:t>
            </a:r>
            <a:r>
              <a:rPr dirty="0" sz="1150" spc="-75">
                <a:latin typeface="Arial"/>
                <a:cs typeface="Arial"/>
              </a:rPr>
              <a:t>Stock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Company:</a:t>
            </a:r>
            <a:endParaRPr sz="1150">
              <a:latin typeface="Arial"/>
              <a:cs typeface="Arial"/>
            </a:endParaRPr>
          </a:p>
          <a:p>
            <a:pPr marL="156845" indent="-14478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157480" algn="l"/>
              </a:tabLst>
            </a:pPr>
            <a:r>
              <a:rPr dirty="0" sz="1150" spc="-65">
                <a:latin typeface="Arial"/>
                <a:cs typeface="Arial"/>
              </a:rPr>
              <a:t>Simple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Definition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5">
                <a:latin typeface="Arial"/>
                <a:cs typeface="Arial"/>
              </a:rPr>
              <a:t>“A </a:t>
            </a:r>
            <a:r>
              <a:rPr dirty="0" sz="1150" spc="-60">
                <a:latin typeface="Arial"/>
                <a:cs typeface="Arial"/>
              </a:rPr>
              <a:t>company 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5">
                <a:latin typeface="Arial"/>
                <a:cs typeface="Arial"/>
              </a:rPr>
              <a:t>defined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55">
                <a:latin typeface="Arial"/>
                <a:cs typeface="Arial"/>
              </a:rPr>
              <a:t>association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purpose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making </a:t>
            </a:r>
            <a:r>
              <a:rPr dirty="0" sz="1150" spc="10">
                <a:latin typeface="Arial"/>
                <a:cs typeface="Arial"/>
              </a:rPr>
              <a:t>profit.”</a:t>
            </a:r>
            <a:endParaRPr sz="1150">
              <a:latin typeface="Arial"/>
              <a:cs typeface="Arial"/>
            </a:endParaRPr>
          </a:p>
          <a:p>
            <a:pPr marL="156845" indent="-144780">
              <a:lnSpc>
                <a:spcPct val="100000"/>
              </a:lnSpc>
              <a:spcBef>
                <a:spcPts val="25"/>
              </a:spcBef>
              <a:buAutoNum type="arabicPeriod" startAt="2"/>
              <a:tabLst>
                <a:tab pos="157480" algn="l"/>
              </a:tabLst>
            </a:pPr>
            <a:r>
              <a:rPr dirty="0" sz="1150" spc="-55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Kimball,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5">
                <a:latin typeface="Arial"/>
                <a:cs typeface="Arial"/>
              </a:rPr>
              <a:t>“A </a:t>
            </a:r>
            <a:r>
              <a:rPr dirty="0" sz="1150" spc="-25">
                <a:latin typeface="Arial"/>
                <a:cs typeface="Arial"/>
              </a:rPr>
              <a:t>corporation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0">
                <a:latin typeface="Arial"/>
                <a:cs typeface="Arial"/>
              </a:rPr>
              <a:t>nature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15">
                <a:latin typeface="Arial"/>
                <a:cs typeface="Arial"/>
              </a:rPr>
              <a:t>artificial </a:t>
            </a:r>
            <a:r>
              <a:rPr dirty="0" sz="1150" spc="-50">
                <a:latin typeface="Arial"/>
                <a:cs typeface="Arial"/>
              </a:rPr>
              <a:t>person, </a:t>
            </a:r>
            <a:r>
              <a:rPr dirty="0" sz="1150" spc="-40">
                <a:latin typeface="Arial"/>
                <a:cs typeface="Arial"/>
              </a:rPr>
              <a:t>created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authorized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legal </a:t>
            </a:r>
            <a:r>
              <a:rPr dirty="0" sz="1150" spc="-35">
                <a:latin typeface="Arial"/>
                <a:cs typeface="Arial"/>
              </a:rPr>
              <a:t>statue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50">
                <a:latin typeface="Arial"/>
                <a:cs typeface="Arial"/>
              </a:rPr>
              <a:t>specific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purpose.”</a:t>
            </a:r>
            <a:endParaRPr sz="1150">
              <a:latin typeface="Arial"/>
              <a:cs typeface="Arial"/>
            </a:endParaRPr>
          </a:p>
          <a:p>
            <a:pPr marL="156845" indent="-144780">
              <a:lnSpc>
                <a:spcPct val="100000"/>
              </a:lnSpc>
              <a:spcBef>
                <a:spcPts val="25"/>
              </a:spcBef>
              <a:buAutoNum type="arabicPeriod" startAt="3"/>
              <a:tabLst>
                <a:tab pos="157480" algn="l"/>
              </a:tabLst>
            </a:pPr>
            <a:r>
              <a:rPr dirty="0" sz="1150" spc="-55">
                <a:latin typeface="Arial"/>
                <a:cs typeface="Arial"/>
              </a:rPr>
              <a:t>According </a:t>
            </a:r>
            <a:r>
              <a:rPr dirty="0" sz="1150" spc="-35">
                <a:latin typeface="Arial"/>
                <a:cs typeface="Arial"/>
              </a:rPr>
              <a:t>o </a:t>
            </a:r>
            <a:r>
              <a:rPr dirty="0" sz="1150" spc="-130">
                <a:latin typeface="Arial"/>
                <a:cs typeface="Arial"/>
              </a:rPr>
              <a:t>S.E.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Thomas,</a:t>
            </a:r>
            <a:endParaRPr sz="1150">
              <a:latin typeface="Arial"/>
              <a:cs typeface="Arial"/>
            </a:endParaRPr>
          </a:p>
          <a:p>
            <a:pPr marL="12700" marR="8255">
              <a:lnSpc>
                <a:spcPct val="101699"/>
              </a:lnSpc>
            </a:pPr>
            <a:r>
              <a:rPr dirty="0" sz="1150" spc="-5">
                <a:latin typeface="Arial"/>
                <a:cs typeface="Arial"/>
              </a:rPr>
              <a:t>“A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30">
                <a:latin typeface="Arial"/>
                <a:cs typeface="Arial"/>
              </a:rPr>
              <a:t>incorporated </a:t>
            </a:r>
            <a:r>
              <a:rPr dirty="0" sz="1150" spc="-55">
                <a:latin typeface="Arial"/>
                <a:cs typeface="Arial"/>
              </a:rPr>
              <a:t>association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-25">
                <a:latin typeface="Arial"/>
                <a:cs typeface="Arial"/>
              </a:rPr>
              <a:t>formed </a:t>
            </a:r>
            <a:r>
              <a:rPr dirty="0" sz="1150" spc="-50">
                <a:latin typeface="Arial"/>
                <a:cs typeface="Arial"/>
              </a:rPr>
              <a:t>usually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pursuit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45">
                <a:latin typeface="Arial"/>
                <a:cs typeface="Arial"/>
              </a:rPr>
              <a:t>commercial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purpose.”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75" b="1">
                <a:latin typeface="Arial"/>
                <a:cs typeface="Arial"/>
              </a:rPr>
              <a:t>Structural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Diagram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89881" y="6095095"/>
            <a:ext cx="4788874" cy="1829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50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92199" y="892559"/>
            <a:ext cx="5589270" cy="6975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dirty="0" sz="1150" spc="-170" b="1">
                <a:latin typeface="Arial"/>
                <a:cs typeface="Arial"/>
              </a:rPr>
              <a:t>FEATURES </a:t>
            </a:r>
            <a:r>
              <a:rPr dirty="0" sz="1150" spc="-150" b="1">
                <a:latin typeface="Arial"/>
                <a:cs typeface="Arial"/>
              </a:rPr>
              <a:t>OF </a:t>
            </a:r>
            <a:r>
              <a:rPr dirty="0" sz="1150" spc="-125" b="1">
                <a:latin typeface="Arial"/>
                <a:cs typeface="Arial"/>
              </a:rPr>
              <a:t>JOINT </a:t>
            </a:r>
            <a:r>
              <a:rPr dirty="0" sz="1150" spc="-185" b="1">
                <a:latin typeface="Arial"/>
                <a:cs typeface="Arial"/>
              </a:rPr>
              <a:t>STOCK</a:t>
            </a:r>
            <a:r>
              <a:rPr dirty="0" sz="1150" spc="-120" b="1">
                <a:latin typeface="Arial"/>
                <a:cs typeface="Arial"/>
              </a:rPr>
              <a:t> </a:t>
            </a:r>
            <a:r>
              <a:rPr dirty="0" sz="1150" spc="-125" b="1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25"/>
              </a:spcBef>
            </a:pPr>
            <a:r>
              <a:rPr dirty="0" sz="1150" spc="-45">
                <a:latin typeface="Arial"/>
                <a:cs typeface="Arial"/>
              </a:rPr>
              <a:t>Following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main features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Joint </a:t>
            </a:r>
            <a:r>
              <a:rPr dirty="0" sz="1150" spc="-75">
                <a:latin typeface="Arial"/>
                <a:cs typeface="Arial"/>
              </a:rPr>
              <a:t>Stock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Company.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98120" indent="-14795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98755" algn="l"/>
              </a:tabLst>
            </a:pPr>
            <a:r>
              <a:rPr dirty="0" sz="1150" spc="-80" b="1">
                <a:latin typeface="Arial"/>
                <a:cs typeface="Arial"/>
              </a:rPr>
              <a:t>Creation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45" b="1">
                <a:latin typeface="Arial"/>
                <a:cs typeface="Arial"/>
              </a:rPr>
              <a:t> </a:t>
            </a:r>
            <a:r>
              <a:rPr dirty="0" sz="1150" spc="-114" b="1">
                <a:latin typeface="Arial"/>
                <a:cs typeface="Arial"/>
              </a:rPr>
              <a:t>Law</a:t>
            </a:r>
            <a:endParaRPr sz="1150">
              <a:latin typeface="Arial"/>
              <a:cs typeface="Arial"/>
            </a:endParaRPr>
          </a:p>
          <a:p>
            <a:pPr algn="just" marL="50800" marR="4254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creation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law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0">
                <a:latin typeface="Arial"/>
                <a:cs typeface="Arial"/>
              </a:rPr>
              <a:t>special </a:t>
            </a:r>
            <a:r>
              <a:rPr dirty="0" sz="1150" spc="-15">
                <a:latin typeface="Arial"/>
                <a:cs typeface="Arial"/>
              </a:rPr>
              <a:t>‘Act’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state.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5">
                <a:latin typeface="Arial"/>
                <a:cs typeface="Arial"/>
              </a:rPr>
              <a:t>formed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50">
                <a:latin typeface="Arial"/>
                <a:cs typeface="Arial"/>
              </a:rPr>
              <a:t>governed 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Companies </a:t>
            </a:r>
            <a:r>
              <a:rPr dirty="0" sz="1150" spc="-55">
                <a:latin typeface="Arial"/>
                <a:cs typeface="Arial"/>
              </a:rPr>
              <a:t>Ordinance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special </a:t>
            </a:r>
            <a:r>
              <a:rPr dirty="0" sz="1150" spc="-45">
                <a:latin typeface="Arial"/>
                <a:cs typeface="Arial"/>
              </a:rPr>
              <a:t>Act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legislature. </a:t>
            </a:r>
            <a:r>
              <a:rPr dirty="0" sz="1150" spc="-55">
                <a:latin typeface="Arial"/>
                <a:cs typeface="Arial"/>
              </a:rPr>
              <a:t>Pakistani  </a:t>
            </a:r>
            <a:r>
              <a:rPr dirty="0" sz="1150" spc="-60">
                <a:latin typeface="Arial"/>
                <a:cs typeface="Arial"/>
              </a:rPr>
              <a:t>companies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incorporated </a:t>
            </a:r>
            <a:r>
              <a:rPr dirty="0" sz="1150" spc="-35">
                <a:latin typeface="Arial"/>
                <a:cs typeface="Arial"/>
              </a:rPr>
              <a:t>under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Companies </a:t>
            </a:r>
            <a:r>
              <a:rPr dirty="0" sz="1150" spc="-55">
                <a:latin typeface="Arial"/>
                <a:cs typeface="Arial"/>
              </a:rPr>
              <a:t>Ordinance,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1984.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98120" indent="-147955">
              <a:lnSpc>
                <a:spcPct val="100000"/>
              </a:lnSpc>
              <a:buAutoNum type="arabicPeriod" startAt="2"/>
              <a:tabLst>
                <a:tab pos="198755" algn="l"/>
              </a:tabLst>
            </a:pPr>
            <a:r>
              <a:rPr dirty="0" sz="1150" spc="-80" b="1">
                <a:latin typeface="Arial"/>
                <a:cs typeface="Arial"/>
              </a:rPr>
              <a:t>Capital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Borrowing</a:t>
            </a:r>
            <a:endParaRPr sz="11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25"/>
              </a:spcBef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15">
                <a:latin typeface="Arial"/>
                <a:cs typeface="Arial"/>
              </a:rPr>
              <a:t>borrow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its own </a:t>
            </a:r>
            <a:r>
              <a:rPr dirty="0" sz="1150" spc="-65">
                <a:latin typeface="Arial"/>
                <a:cs typeface="Arial"/>
              </a:rPr>
              <a:t>name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expand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98120" indent="-147955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198755" algn="l"/>
              </a:tabLst>
            </a:pPr>
            <a:r>
              <a:rPr dirty="0" sz="1150" spc="-80" b="1">
                <a:latin typeface="Arial"/>
                <a:cs typeface="Arial"/>
              </a:rPr>
              <a:t>Separate </a:t>
            </a:r>
            <a:r>
              <a:rPr dirty="0" sz="1150" spc="-110" b="1">
                <a:latin typeface="Arial"/>
                <a:cs typeface="Arial"/>
              </a:rPr>
              <a:t>Legal</a:t>
            </a:r>
            <a:r>
              <a:rPr dirty="0" sz="1150" spc="-4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Entity</a:t>
            </a:r>
            <a:endParaRPr sz="1150">
              <a:latin typeface="Arial"/>
              <a:cs typeface="Arial"/>
            </a:endParaRPr>
          </a:p>
          <a:p>
            <a:pPr algn="just" marL="50800" marR="4254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Joint </a:t>
            </a:r>
            <a:r>
              <a:rPr dirty="0" sz="1150" spc="-70">
                <a:latin typeface="Arial"/>
                <a:cs typeface="Arial"/>
              </a:rPr>
              <a:t>Stock </a:t>
            </a:r>
            <a:r>
              <a:rPr dirty="0" sz="1150" spc="-75">
                <a:latin typeface="Arial"/>
                <a:cs typeface="Arial"/>
              </a:rPr>
              <a:t>Company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5">
                <a:latin typeface="Arial"/>
                <a:cs typeface="Arial"/>
              </a:rPr>
              <a:t>separate </a:t>
            </a:r>
            <a:r>
              <a:rPr dirty="0" sz="1150" spc="-50">
                <a:latin typeface="Arial"/>
                <a:cs typeface="Arial"/>
              </a:rPr>
              <a:t>legal </a:t>
            </a:r>
            <a:r>
              <a:rPr dirty="0" sz="1150" spc="-15">
                <a:latin typeface="Arial"/>
                <a:cs typeface="Arial"/>
              </a:rPr>
              <a:t>entity, </a:t>
            </a:r>
            <a:r>
              <a:rPr dirty="0" sz="1150" spc="-30">
                <a:latin typeface="Arial"/>
                <a:cs typeface="Arial"/>
              </a:rPr>
              <a:t>apart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50">
                <a:latin typeface="Arial"/>
                <a:cs typeface="Arial"/>
              </a:rPr>
              <a:t>members.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80">
                <a:latin typeface="Arial"/>
                <a:cs typeface="Arial"/>
              </a:rPr>
              <a:t>sue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15">
                <a:latin typeface="Arial"/>
                <a:cs typeface="Arial"/>
              </a:rPr>
              <a:t>court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law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30">
                <a:latin typeface="Arial"/>
                <a:cs typeface="Arial"/>
              </a:rPr>
              <a:t>own </a:t>
            </a:r>
            <a:r>
              <a:rPr dirty="0" sz="1150" spc="-55">
                <a:latin typeface="Arial"/>
                <a:cs typeface="Arial"/>
              </a:rPr>
              <a:t>name.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96850" indent="-146685">
              <a:lnSpc>
                <a:spcPct val="100000"/>
              </a:lnSpc>
              <a:buAutoNum type="arabicPeriod" startAt="4"/>
              <a:tabLst>
                <a:tab pos="197485" algn="l"/>
              </a:tabLst>
            </a:pPr>
            <a:r>
              <a:rPr dirty="0" sz="1150" spc="-110" b="1">
                <a:latin typeface="Arial"/>
                <a:cs typeface="Arial"/>
              </a:rPr>
              <a:t>Legal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110" b="1">
                <a:latin typeface="Arial"/>
                <a:cs typeface="Arial"/>
              </a:rPr>
              <a:t>Person</a:t>
            </a:r>
            <a:endParaRPr sz="1150">
              <a:latin typeface="Arial"/>
              <a:cs typeface="Arial"/>
            </a:endParaRPr>
          </a:p>
          <a:p>
            <a:pPr algn="just" marL="50800" marR="43180">
              <a:lnSpc>
                <a:spcPct val="101699"/>
              </a:lnSpc>
              <a:spcBef>
                <a:spcPts val="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Joint </a:t>
            </a:r>
            <a:r>
              <a:rPr dirty="0" sz="1150" spc="-75">
                <a:latin typeface="Arial"/>
                <a:cs typeface="Arial"/>
              </a:rPr>
              <a:t>Stock </a:t>
            </a:r>
            <a:r>
              <a:rPr dirty="0" sz="1150" spc="-70">
                <a:latin typeface="Arial"/>
                <a:cs typeface="Arial"/>
              </a:rPr>
              <a:t>Company,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legal </a:t>
            </a:r>
            <a:r>
              <a:rPr dirty="0" sz="1150" spc="-50">
                <a:latin typeface="Arial"/>
                <a:cs typeface="Arial"/>
              </a:rPr>
              <a:t>person,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usual </a:t>
            </a:r>
            <a:r>
              <a:rPr dirty="0" sz="1150" spc="-35">
                <a:latin typeface="Arial"/>
                <a:cs typeface="Arial"/>
              </a:rPr>
              <a:t>rights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carry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its own </a:t>
            </a:r>
            <a:r>
              <a:rPr dirty="0" sz="1150" spc="-60">
                <a:latin typeface="Arial"/>
                <a:cs typeface="Arial"/>
              </a:rPr>
              <a:t>name,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own </a:t>
            </a:r>
            <a:r>
              <a:rPr dirty="0" sz="1150" spc="-25">
                <a:latin typeface="Arial"/>
                <a:cs typeface="Arial"/>
              </a:rPr>
              <a:t>property,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borrow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lend </a:t>
            </a:r>
            <a:r>
              <a:rPr dirty="0" sz="1150" spc="-50">
                <a:latin typeface="Arial"/>
                <a:cs typeface="Arial"/>
              </a:rPr>
              <a:t>money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enter </a:t>
            </a:r>
            <a:r>
              <a:rPr dirty="0" sz="1150" spc="-5">
                <a:latin typeface="Arial"/>
                <a:cs typeface="Arial"/>
              </a:rPr>
              <a:t>into  </a:t>
            </a:r>
            <a:r>
              <a:rPr dirty="0" sz="1150" spc="-25">
                <a:latin typeface="Arial"/>
                <a:cs typeface="Arial"/>
              </a:rPr>
              <a:t>contract.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96850" indent="-146685">
              <a:lnSpc>
                <a:spcPct val="100000"/>
              </a:lnSpc>
              <a:buAutoNum type="arabicPeriod" startAt="5"/>
              <a:tabLst>
                <a:tab pos="197485" algn="l"/>
              </a:tabLst>
            </a:pPr>
            <a:r>
              <a:rPr dirty="0" sz="1150" spc="-140" b="1">
                <a:latin typeface="Arial"/>
                <a:cs typeface="Arial"/>
              </a:rPr>
              <a:t>Long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Life</a:t>
            </a:r>
            <a:endParaRPr sz="11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2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45">
                <a:latin typeface="Arial"/>
                <a:cs typeface="Arial"/>
              </a:rPr>
              <a:t>long </a:t>
            </a:r>
            <a:r>
              <a:rPr dirty="0" sz="1150" spc="-10">
                <a:latin typeface="Arial"/>
                <a:cs typeface="Arial"/>
              </a:rPr>
              <a:t>life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50">
                <a:latin typeface="Arial"/>
                <a:cs typeface="Arial"/>
              </a:rPr>
              <a:t>compared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0">
                <a:latin typeface="Arial"/>
                <a:cs typeface="Arial"/>
              </a:rPr>
              <a:t>forms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business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organizations.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96850" indent="-146685">
              <a:lnSpc>
                <a:spcPct val="100000"/>
              </a:lnSpc>
              <a:spcBef>
                <a:spcPts val="5"/>
              </a:spcBef>
              <a:buAutoNum type="arabicPeriod" startAt="6"/>
              <a:tabLst>
                <a:tab pos="197485" algn="l"/>
              </a:tabLst>
            </a:pPr>
            <a:r>
              <a:rPr dirty="0" sz="1150" spc="-75" b="1">
                <a:latin typeface="Arial"/>
                <a:cs typeface="Arial"/>
              </a:rPr>
              <a:t>Limited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Liability</a:t>
            </a:r>
            <a:endParaRPr sz="1150">
              <a:latin typeface="Arial"/>
              <a:cs typeface="Arial"/>
            </a:endParaRPr>
          </a:p>
          <a:p>
            <a:pPr algn="just" marL="50800" marR="431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liability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shareholder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0">
                <a:latin typeface="Arial"/>
                <a:cs typeface="Arial"/>
              </a:rPr>
              <a:t>limited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extent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face value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shar4es </a:t>
            </a:r>
            <a:r>
              <a:rPr dirty="0" sz="1150" spc="-30">
                <a:latin typeface="Arial"/>
                <a:cs typeface="Arial"/>
              </a:rPr>
              <a:t>they  hold.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96850" indent="-146685">
              <a:lnSpc>
                <a:spcPct val="100000"/>
              </a:lnSpc>
              <a:buAutoNum type="arabicPeriod" startAt="7"/>
              <a:tabLst>
                <a:tab pos="197485" algn="l"/>
              </a:tabLst>
            </a:pPr>
            <a:r>
              <a:rPr dirty="0" sz="1150" spc="-110" b="1">
                <a:latin typeface="Arial"/>
                <a:cs typeface="Arial"/>
              </a:rPr>
              <a:t>Large </a:t>
            </a:r>
            <a:r>
              <a:rPr dirty="0" sz="1150" spc="-114" b="1">
                <a:latin typeface="Arial"/>
                <a:cs typeface="Arial"/>
              </a:rPr>
              <a:t>Scale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spc="-130" b="1">
                <a:latin typeface="Arial"/>
                <a:cs typeface="Arial"/>
              </a:rPr>
              <a:t>Business</a:t>
            </a:r>
            <a:endParaRPr sz="1150">
              <a:latin typeface="Arial"/>
              <a:cs typeface="Arial"/>
            </a:endParaRPr>
          </a:p>
          <a:p>
            <a:pPr algn="just" marL="50800" marR="41910">
              <a:lnSpc>
                <a:spcPct val="101699"/>
              </a:lnSpc>
            </a:pPr>
            <a:r>
              <a:rPr dirty="0" sz="1150" spc="-90">
                <a:latin typeface="Arial"/>
                <a:cs typeface="Arial"/>
              </a:rPr>
              <a:t>Because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50">
                <a:latin typeface="Arial"/>
                <a:cs typeface="Arial"/>
              </a:rPr>
              <a:t>members,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40">
                <a:latin typeface="Arial"/>
                <a:cs typeface="Arial"/>
              </a:rPr>
              <a:t>larger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50">
                <a:latin typeface="Arial"/>
                <a:cs typeface="Arial"/>
              </a:rPr>
              <a:t>compared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trade </a:t>
            </a:r>
            <a:r>
              <a:rPr dirty="0" sz="1150" spc="-50">
                <a:latin typeface="Arial"/>
                <a:cs typeface="Arial"/>
              </a:rPr>
              <a:t>ship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35">
                <a:latin typeface="Arial"/>
                <a:cs typeface="Arial"/>
              </a:rPr>
              <a:t>partnership, which </a:t>
            </a:r>
            <a:r>
              <a:rPr dirty="0" sz="1150" spc="-55">
                <a:latin typeface="Arial"/>
                <a:cs typeface="Arial"/>
              </a:rPr>
              <a:t>helps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doing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50">
                <a:latin typeface="Arial"/>
                <a:cs typeface="Arial"/>
              </a:rPr>
              <a:t>large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scale.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98120" indent="-147955">
              <a:lnSpc>
                <a:spcPct val="100000"/>
              </a:lnSpc>
              <a:buAutoNum type="arabicPeriod" startAt="8"/>
              <a:tabLst>
                <a:tab pos="198755" algn="l"/>
              </a:tabLst>
            </a:pPr>
            <a:r>
              <a:rPr dirty="0" sz="1150" spc="-65" b="1">
                <a:latin typeface="Arial"/>
                <a:cs typeface="Arial"/>
              </a:rPr>
              <a:t>Management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75" b="1">
                <a:latin typeface="Arial"/>
                <a:cs typeface="Arial"/>
              </a:rPr>
              <a:t> </a:t>
            </a:r>
            <a:r>
              <a:rPr dirty="0" sz="1150" spc="-110" b="1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 algn="just" marL="50800" marR="44450">
              <a:lnSpc>
                <a:spcPts val="1400"/>
              </a:lnSpc>
              <a:spcBef>
                <a:spcPts val="40"/>
              </a:spcBef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shareholders </a:t>
            </a:r>
            <a:r>
              <a:rPr dirty="0" sz="1150" spc="-30">
                <a:latin typeface="Arial"/>
                <a:cs typeface="Arial"/>
              </a:rPr>
              <a:t>elect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Board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Directors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50">
                <a:latin typeface="Arial"/>
                <a:cs typeface="Arial"/>
              </a:rPr>
              <a:t>Annual </a:t>
            </a:r>
            <a:r>
              <a:rPr dirty="0" sz="1150" spc="-60">
                <a:latin typeface="Arial"/>
                <a:cs typeface="Arial"/>
              </a:rPr>
              <a:t>General </a:t>
            </a:r>
            <a:r>
              <a:rPr dirty="0" sz="1150" spc="-25">
                <a:latin typeface="Arial"/>
                <a:cs typeface="Arial"/>
              </a:rPr>
              <a:t>Meeting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50">
                <a:latin typeface="Arial"/>
                <a:cs typeface="Arial"/>
              </a:rPr>
              <a:t>management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selected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Board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Directors.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Arial"/>
              <a:cs typeface="Arial"/>
            </a:endParaRPr>
          </a:p>
          <a:p>
            <a:pPr algn="just" marL="198120" indent="-147955">
              <a:lnSpc>
                <a:spcPct val="100000"/>
              </a:lnSpc>
              <a:buAutoNum type="arabicPeriod" startAt="9"/>
              <a:tabLst>
                <a:tab pos="198755" algn="l"/>
              </a:tabLst>
            </a:pPr>
            <a:r>
              <a:rPr dirty="0" sz="1150" spc="-75" b="1">
                <a:latin typeface="Arial"/>
                <a:cs typeface="Arial"/>
              </a:rPr>
              <a:t>Number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members</a:t>
            </a:r>
            <a:endParaRPr sz="1150">
              <a:latin typeface="Arial"/>
              <a:cs typeface="Arial"/>
            </a:endParaRPr>
          </a:p>
          <a:p>
            <a:pPr algn="just" marL="50800" marR="4318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private </a:t>
            </a:r>
            <a:r>
              <a:rPr dirty="0" sz="1150" spc="-15">
                <a:latin typeface="Arial"/>
                <a:cs typeface="Arial"/>
              </a:rPr>
              <a:t>limited </a:t>
            </a:r>
            <a:r>
              <a:rPr dirty="0" sz="1150" spc="-55">
                <a:latin typeface="Arial"/>
                <a:cs typeface="Arial"/>
              </a:rPr>
              <a:t>company, </a:t>
            </a:r>
            <a:r>
              <a:rPr dirty="0" sz="1150" spc="-30">
                <a:latin typeface="Arial"/>
                <a:cs typeface="Arial"/>
              </a:rPr>
              <a:t>minimum </a:t>
            </a:r>
            <a:r>
              <a:rPr dirty="0" sz="1150" spc="-40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members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baseline="40740" sz="1125" spc="7">
                <a:latin typeface="Arial"/>
                <a:cs typeface="Arial"/>
              </a:rPr>
              <a:t>1</a:t>
            </a:r>
            <a:r>
              <a:rPr dirty="0" sz="1150" spc="5">
                <a:latin typeface="Arial"/>
                <a:cs typeface="Arial"/>
              </a:rPr>
              <a:t>[two]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maximum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15">
                <a:latin typeface="Arial"/>
                <a:cs typeface="Arial"/>
              </a:rPr>
              <a:t>‘50’;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public </a:t>
            </a:r>
            <a:r>
              <a:rPr dirty="0" sz="1150" spc="-10">
                <a:latin typeface="Arial"/>
                <a:cs typeface="Arial"/>
              </a:rPr>
              <a:t>limited </a:t>
            </a:r>
            <a:r>
              <a:rPr dirty="0" sz="1150" spc="-55">
                <a:latin typeface="Arial"/>
                <a:cs typeface="Arial"/>
              </a:rPr>
              <a:t>company, </a:t>
            </a:r>
            <a:r>
              <a:rPr dirty="0" sz="1150" spc="-30">
                <a:latin typeface="Arial"/>
                <a:cs typeface="Arial"/>
              </a:rPr>
              <a:t>minimum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baseline="40740" sz="1125" spc="-67">
                <a:latin typeface="Arial"/>
                <a:cs typeface="Arial"/>
              </a:rPr>
              <a:t>2</a:t>
            </a:r>
            <a:r>
              <a:rPr dirty="0" sz="1150" spc="-45">
                <a:latin typeface="Arial"/>
                <a:cs typeface="Arial"/>
              </a:rPr>
              <a:t>[seven]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no  </a:t>
            </a:r>
            <a:r>
              <a:rPr dirty="0" sz="1150" spc="5">
                <a:latin typeface="Arial"/>
                <a:cs typeface="Arial"/>
              </a:rPr>
              <a:t>limit for </a:t>
            </a:r>
            <a:r>
              <a:rPr dirty="0" sz="1150" spc="-50">
                <a:latin typeface="Arial"/>
                <a:cs typeface="Arial"/>
              </a:rPr>
              <a:t>maximum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number.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43000" y="8487156"/>
            <a:ext cx="1828800" cy="7620"/>
          </a:xfrm>
          <a:custGeom>
            <a:avLst/>
            <a:gdLst/>
            <a:ahLst/>
            <a:cxnLst/>
            <a:rect l="l" t="t" r="r" b="b"/>
            <a:pathLst>
              <a:path w="1828800" h="7620">
                <a:moveTo>
                  <a:pt x="1828799" y="0"/>
                </a:moveTo>
                <a:lnTo>
                  <a:pt x="0" y="0"/>
                </a:lnTo>
                <a:lnTo>
                  <a:pt x="0" y="7619"/>
                </a:lnTo>
                <a:lnTo>
                  <a:pt x="1828799" y="7619"/>
                </a:lnTo>
                <a:lnTo>
                  <a:pt x="18287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04856" y="8535416"/>
            <a:ext cx="5544820" cy="61468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38100" marR="33020">
              <a:lnSpc>
                <a:spcPts val="1150"/>
              </a:lnSpc>
              <a:spcBef>
                <a:spcPts val="175"/>
              </a:spcBef>
            </a:pPr>
            <a:r>
              <a:rPr dirty="0" baseline="38461" sz="975" spc="-7">
                <a:latin typeface="Times New Roman"/>
                <a:cs typeface="Times New Roman"/>
              </a:rPr>
              <a:t>1 </a:t>
            </a:r>
            <a:r>
              <a:rPr dirty="0" sz="1000">
                <a:latin typeface="Times New Roman"/>
                <a:cs typeface="Times New Roman"/>
              </a:rPr>
              <a:t>Now in </a:t>
            </a:r>
            <a:r>
              <a:rPr dirty="0" sz="1000" spc="-5">
                <a:latin typeface="Times New Roman"/>
                <a:cs typeface="Times New Roman"/>
              </a:rPr>
              <a:t>case </a:t>
            </a:r>
            <a:r>
              <a:rPr dirty="0" sz="1000">
                <a:latin typeface="Times New Roman"/>
                <a:cs typeface="Times New Roman"/>
              </a:rPr>
              <a:t>of </a:t>
            </a:r>
            <a:r>
              <a:rPr dirty="0" sz="1000" spc="-5">
                <a:latin typeface="Times New Roman"/>
                <a:cs typeface="Times New Roman"/>
              </a:rPr>
              <a:t>private limited company, minimum number </a:t>
            </a:r>
            <a:r>
              <a:rPr dirty="0" sz="1000">
                <a:latin typeface="Times New Roman"/>
                <a:cs typeface="Times New Roman"/>
              </a:rPr>
              <a:t>of </a:t>
            </a:r>
            <a:r>
              <a:rPr dirty="0" sz="1000" spc="-5">
                <a:latin typeface="Times New Roman"/>
                <a:cs typeface="Times New Roman"/>
              </a:rPr>
              <a:t>members is ‘one’. (amended by Companies  (Amendment) Ordinance,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2002)</a:t>
            </a:r>
            <a:endParaRPr sz="1000">
              <a:latin typeface="Times New Roman"/>
              <a:cs typeface="Times New Roman"/>
            </a:endParaRPr>
          </a:p>
          <a:p>
            <a:pPr marL="38100">
              <a:lnSpc>
                <a:spcPts val="1090"/>
              </a:lnSpc>
            </a:pPr>
            <a:r>
              <a:rPr dirty="0" baseline="38461" sz="975" spc="-7">
                <a:latin typeface="Times New Roman"/>
                <a:cs typeface="Times New Roman"/>
              </a:rPr>
              <a:t>2 </a:t>
            </a:r>
            <a:r>
              <a:rPr dirty="0" sz="1000">
                <a:latin typeface="Times New Roman"/>
                <a:cs typeface="Times New Roman"/>
              </a:rPr>
              <a:t>Now in </a:t>
            </a:r>
            <a:r>
              <a:rPr dirty="0" sz="1000" spc="-5">
                <a:latin typeface="Times New Roman"/>
                <a:cs typeface="Times New Roman"/>
              </a:rPr>
              <a:t>case </a:t>
            </a:r>
            <a:r>
              <a:rPr dirty="0" sz="1000">
                <a:latin typeface="Times New Roman"/>
                <a:cs typeface="Times New Roman"/>
              </a:rPr>
              <a:t>of </a:t>
            </a:r>
            <a:r>
              <a:rPr dirty="0" sz="1000" spc="-5">
                <a:latin typeface="Times New Roman"/>
                <a:cs typeface="Times New Roman"/>
              </a:rPr>
              <a:t>public limited company, minimum number </a:t>
            </a:r>
            <a:r>
              <a:rPr dirty="0" sz="1000">
                <a:latin typeface="Times New Roman"/>
                <a:cs typeface="Times New Roman"/>
              </a:rPr>
              <a:t>of </a:t>
            </a:r>
            <a:r>
              <a:rPr dirty="0" sz="1000" spc="-5">
                <a:latin typeface="Times New Roman"/>
                <a:cs typeface="Times New Roman"/>
              </a:rPr>
              <a:t>members is ‘three’ (amended by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 spc="-5">
                <a:latin typeface="Times New Roman"/>
                <a:cs typeface="Times New Roman"/>
              </a:rPr>
              <a:t>Companies</a:t>
            </a:r>
            <a:endParaRPr sz="1000">
              <a:latin typeface="Times New Roman"/>
              <a:cs typeface="Times New Roman"/>
            </a:endParaRPr>
          </a:p>
          <a:p>
            <a:pPr marL="38100">
              <a:lnSpc>
                <a:spcPts val="1175"/>
              </a:lnSpc>
            </a:pPr>
            <a:r>
              <a:rPr dirty="0" sz="1000" spc="-5">
                <a:latin typeface="Times New Roman"/>
                <a:cs typeface="Times New Roman"/>
              </a:rPr>
              <a:t>(Amendment) Ordinance,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2002)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51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070" cy="82238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3679" indent="-221615">
              <a:lnSpc>
                <a:spcPct val="100000"/>
              </a:lnSpc>
              <a:spcBef>
                <a:spcPts val="100"/>
              </a:spcBef>
              <a:buAutoNum type="arabicPeriod" startAt="10"/>
              <a:tabLst>
                <a:tab pos="234315" algn="l"/>
              </a:tabLst>
            </a:pPr>
            <a:r>
              <a:rPr dirty="0" sz="1150" spc="-70" b="1">
                <a:latin typeface="Arial"/>
                <a:cs typeface="Arial"/>
              </a:rPr>
              <a:t>Transferability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120" b="1">
                <a:latin typeface="Arial"/>
                <a:cs typeface="Arial"/>
              </a:rPr>
              <a:t>Shares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shareholder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easily </a:t>
            </a:r>
            <a:r>
              <a:rPr dirty="0" sz="1150" spc="-25">
                <a:latin typeface="Arial"/>
                <a:cs typeface="Arial"/>
              </a:rPr>
              <a:t>transfer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60">
                <a:latin typeface="Arial"/>
                <a:cs typeface="Arial"/>
              </a:rPr>
              <a:t>persons. </a:t>
            </a:r>
            <a:r>
              <a:rPr dirty="0" sz="1150" spc="-65">
                <a:latin typeface="Arial"/>
                <a:cs typeface="Arial"/>
              </a:rPr>
              <a:t>There is </a:t>
            </a:r>
            <a:r>
              <a:rPr dirty="0" sz="1150" spc="-45">
                <a:latin typeface="Arial"/>
                <a:cs typeface="Arial"/>
              </a:rPr>
              <a:t>no  </a:t>
            </a:r>
            <a:r>
              <a:rPr dirty="0" sz="1150" spc="-20">
                <a:latin typeface="Arial"/>
                <a:cs typeface="Arial"/>
              </a:rPr>
              <a:t>restriction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purchase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sale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shares.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233679" indent="-221615">
              <a:lnSpc>
                <a:spcPct val="100000"/>
              </a:lnSpc>
              <a:buAutoNum type="arabicPeriod" startAt="11"/>
              <a:tabLst>
                <a:tab pos="234315" algn="l"/>
              </a:tabLst>
            </a:pPr>
            <a:r>
              <a:rPr dirty="0" sz="1150" spc="-80" b="1">
                <a:latin typeface="Arial"/>
                <a:cs typeface="Arial"/>
              </a:rPr>
              <a:t>Trade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Agreement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55">
                <a:latin typeface="Arial"/>
                <a:cs typeface="Arial"/>
              </a:rPr>
              <a:t>enjoys </a:t>
            </a:r>
            <a:r>
              <a:rPr dirty="0" sz="1150" spc="-50">
                <a:latin typeface="Arial"/>
                <a:cs typeface="Arial"/>
              </a:rPr>
              <a:t>separate </a:t>
            </a:r>
            <a:r>
              <a:rPr dirty="0" sz="1150" spc="-55">
                <a:latin typeface="Arial"/>
                <a:cs typeface="Arial"/>
              </a:rPr>
              <a:t>existence, </a:t>
            </a:r>
            <a:r>
              <a:rPr dirty="0" sz="1150" spc="-85">
                <a:latin typeface="Arial"/>
                <a:cs typeface="Arial"/>
              </a:rPr>
              <a:t>so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15">
                <a:latin typeface="Arial"/>
                <a:cs typeface="Arial"/>
              </a:rPr>
              <a:t>join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trade </a:t>
            </a:r>
            <a:r>
              <a:rPr dirty="0" sz="1150" spc="-55">
                <a:latin typeface="Arial"/>
                <a:cs typeface="Arial"/>
              </a:rPr>
              <a:t>agreements </a:t>
            </a:r>
            <a:r>
              <a:rPr dirty="0" sz="1150" spc="5">
                <a:latin typeface="Arial"/>
                <a:cs typeface="Arial"/>
              </a:rPr>
              <a:t>with 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25">
                <a:latin typeface="Arial"/>
                <a:cs typeface="Arial"/>
              </a:rPr>
              <a:t>firms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30">
                <a:latin typeface="Arial"/>
                <a:cs typeface="Arial"/>
              </a:rPr>
              <a:t>own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name.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233679" indent="-221615">
              <a:lnSpc>
                <a:spcPct val="100000"/>
              </a:lnSpc>
              <a:spcBef>
                <a:spcPts val="5"/>
              </a:spcBef>
              <a:buAutoNum type="arabicPeriod" startAt="12"/>
              <a:tabLst>
                <a:tab pos="234315" algn="l"/>
              </a:tabLst>
            </a:pPr>
            <a:r>
              <a:rPr dirty="0" sz="1150" spc="-120" b="1">
                <a:latin typeface="Arial"/>
                <a:cs typeface="Arial"/>
              </a:rPr>
              <a:t>Purchases </a:t>
            </a:r>
            <a:r>
              <a:rPr dirty="0" sz="1150" spc="-85" b="1">
                <a:latin typeface="Arial"/>
                <a:cs typeface="Arial"/>
              </a:rPr>
              <a:t>and </a:t>
            </a:r>
            <a:r>
              <a:rPr dirty="0" sz="1150" spc="-100" b="1">
                <a:latin typeface="Arial"/>
                <a:cs typeface="Arial"/>
              </a:rPr>
              <a:t>Sale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5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Property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60">
                <a:latin typeface="Arial"/>
                <a:cs typeface="Arial"/>
              </a:rPr>
              <a:t>purchase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sale </a:t>
            </a:r>
            <a:r>
              <a:rPr dirty="0" sz="1150" spc="-20">
                <a:latin typeface="Arial"/>
                <a:cs typeface="Arial"/>
              </a:rPr>
              <a:t>the property in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30">
                <a:latin typeface="Arial"/>
                <a:cs typeface="Arial"/>
              </a:rPr>
              <a:t>own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name.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233679" indent="-221615">
              <a:lnSpc>
                <a:spcPct val="100000"/>
              </a:lnSpc>
              <a:buAutoNum type="arabicPeriod" startAt="13"/>
              <a:tabLst>
                <a:tab pos="234315" algn="l"/>
              </a:tabLst>
            </a:pPr>
            <a:r>
              <a:rPr dirty="0" sz="1150" spc="-80" b="1">
                <a:latin typeface="Arial"/>
                <a:cs typeface="Arial"/>
              </a:rPr>
              <a:t>Payment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14" b="1">
                <a:latin typeface="Arial"/>
                <a:cs typeface="Arial"/>
              </a:rPr>
              <a:t>Taxes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80">
                <a:latin typeface="Arial"/>
                <a:cs typeface="Arial"/>
              </a:rPr>
              <a:t>pays </a:t>
            </a:r>
            <a:r>
              <a:rPr dirty="0" sz="1150" spc="-40">
                <a:latin typeface="Arial"/>
                <a:cs typeface="Arial"/>
              </a:rPr>
              <a:t>double </a:t>
            </a:r>
            <a:r>
              <a:rPr dirty="0" sz="1150" spc="-65">
                <a:latin typeface="Arial"/>
                <a:cs typeface="Arial"/>
              </a:rPr>
              <a:t>taxes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government.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233679" indent="-221615">
              <a:lnSpc>
                <a:spcPct val="100000"/>
              </a:lnSpc>
              <a:buAutoNum type="arabicPeriod" startAt="14"/>
              <a:tabLst>
                <a:tab pos="234315" algn="l"/>
              </a:tabLst>
            </a:pPr>
            <a:r>
              <a:rPr dirty="0" sz="1150" spc="-75" b="1">
                <a:latin typeface="Arial"/>
                <a:cs typeface="Arial"/>
              </a:rPr>
              <a:t>Object</a:t>
            </a:r>
            <a:endParaRPr sz="115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  <a:spcBef>
                <a:spcPts val="5"/>
              </a:spcBef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basic </a:t>
            </a:r>
            <a:r>
              <a:rPr dirty="0" sz="1150" spc="-25">
                <a:latin typeface="Arial"/>
                <a:cs typeface="Arial"/>
              </a:rPr>
              <a:t>object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earn </a:t>
            </a:r>
            <a:r>
              <a:rPr dirty="0" sz="1150">
                <a:latin typeface="Arial"/>
                <a:cs typeface="Arial"/>
              </a:rPr>
              <a:t>profit. </a:t>
            </a:r>
            <a:r>
              <a:rPr dirty="0" sz="1150" spc="-40">
                <a:latin typeface="Arial"/>
                <a:cs typeface="Arial"/>
              </a:rPr>
              <a:t>Whole </a:t>
            </a:r>
            <a:r>
              <a:rPr dirty="0" sz="1150" spc="5">
                <a:latin typeface="Arial"/>
                <a:cs typeface="Arial"/>
              </a:rPr>
              <a:t>profit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20">
                <a:latin typeface="Arial"/>
                <a:cs typeface="Arial"/>
              </a:rPr>
              <a:t>distributed  </a:t>
            </a:r>
            <a:r>
              <a:rPr dirty="0" sz="1150" spc="-60">
                <a:latin typeface="Arial"/>
                <a:cs typeface="Arial"/>
              </a:rPr>
              <a:t>among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shareholders. </a:t>
            </a:r>
            <a:r>
              <a:rPr dirty="0" sz="1150" spc="-95">
                <a:latin typeface="Arial"/>
                <a:cs typeface="Arial"/>
              </a:rPr>
              <a:t>Some </a:t>
            </a:r>
            <a:r>
              <a:rPr dirty="0" sz="1150" spc="-10">
                <a:latin typeface="Arial"/>
                <a:cs typeface="Arial"/>
              </a:rPr>
              <a:t>portion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transferred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General </a:t>
            </a:r>
            <a:r>
              <a:rPr dirty="0" sz="1150" spc="-90">
                <a:latin typeface="Arial"/>
                <a:cs typeface="Arial"/>
              </a:rPr>
              <a:t>Reserve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emergencies.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233679" indent="-221615">
              <a:lnSpc>
                <a:spcPct val="100000"/>
              </a:lnSpc>
              <a:buAutoNum type="arabicPeriod" startAt="15"/>
              <a:tabLst>
                <a:tab pos="234315" algn="l"/>
              </a:tabLst>
            </a:pPr>
            <a:r>
              <a:rPr dirty="0" sz="1150" spc="-80" b="1">
                <a:latin typeface="Arial"/>
                <a:cs typeface="Arial"/>
              </a:rPr>
              <a:t>Government</a:t>
            </a:r>
            <a:r>
              <a:rPr dirty="0" sz="1150" spc="-7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Control</a:t>
            </a:r>
            <a:endParaRPr sz="115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45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comply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rules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government.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audit its  </a:t>
            </a:r>
            <a:r>
              <a:rPr dirty="0" sz="1150" spc="-55">
                <a:latin typeface="Arial"/>
                <a:cs typeface="Arial"/>
              </a:rPr>
              <a:t>accounts.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233679" indent="-221615">
              <a:lnSpc>
                <a:spcPct val="100000"/>
              </a:lnSpc>
              <a:buAutoNum type="arabicPeriod" startAt="16"/>
              <a:tabLst>
                <a:tab pos="234315" algn="l"/>
              </a:tabLst>
            </a:pPr>
            <a:r>
              <a:rPr dirty="0" sz="1150" spc="-145" b="1">
                <a:latin typeface="Arial"/>
                <a:cs typeface="Arial"/>
              </a:rPr>
              <a:t>Easy </a:t>
            </a:r>
            <a:r>
              <a:rPr dirty="0" sz="1150" spc="-50" b="1">
                <a:latin typeface="Arial"/>
                <a:cs typeface="Arial"/>
              </a:rPr>
              <a:t>Mode of</a:t>
            </a:r>
            <a:r>
              <a:rPr dirty="0" sz="1150" spc="-180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Investment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45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divided </a:t>
            </a:r>
            <a:r>
              <a:rPr dirty="0" sz="1150">
                <a:latin typeface="Arial"/>
                <a:cs typeface="Arial"/>
              </a:rPr>
              <a:t>into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small value. </a:t>
            </a:r>
            <a:r>
              <a:rPr dirty="0" sz="1150" spc="-105">
                <a:latin typeface="Arial"/>
                <a:cs typeface="Arial"/>
              </a:rPr>
              <a:t>So, </a:t>
            </a:r>
            <a:r>
              <a:rPr dirty="0" sz="1150" spc="-50">
                <a:latin typeface="Arial"/>
                <a:cs typeface="Arial"/>
              </a:rPr>
              <a:t>every  person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60">
                <a:latin typeface="Arial"/>
                <a:cs typeface="Arial"/>
              </a:rPr>
              <a:t>purchase </a:t>
            </a:r>
            <a:r>
              <a:rPr dirty="0" sz="1150" spc="-55">
                <a:latin typeface="Arial"/>
                <a:cs typeface="Arial"/>
              </a:rPr>
              <a:t>these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 spc="-55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45">
                <a:latin typeface="Arial"/>
                <a:cs typeface="Arial"/>
              </a:rPr>
              <a:t>income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saving.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233679" indent="-221615">
              <a:lnSpc>
                <a:spcPct val="100000"/>
              </a:lnSpc>
              <a:spcBef>
                <a:spcPts val="5"/>
              </a:spcBef>
              <a:buAutoNum type="arabicPeriod" startAt="17"/>
              <a:tabLst>
                <a:tab pos="234315" algn="l"/>
              </a:tabLst>
            </a:pPr>
            <a:r>
              <a:rPr dirty="0" sz="1150" spc="-110" b="1">
                <a:latin typeface="Arial"/>
                <a:cs typeface="Arial"/>
              </a:rPr>
              <a:t>Common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105" b="1">
                <a:latin typeface="Arial"/>
                <a:cs typeface="Arial"/>
              </a:rPr>
              <a:t>Seal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90">
                <a:latin typeface="Arial"/>
                <a:cs typeface="Arial"/>
              </a:rPr>
              <a:t>Since a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20">
                <a:latin typeface="Arial"/>
                <a:cs typeface="Arial"/>
              </a:rPr>
              <a:t>artificial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40">
                <a:latin typeface="Arial"/>
                <a:cs typeface="Arial"/>
              </a:rPr>
              <a:t>created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5">
                <a:latin typeface="Arial"/>
                <a:cs typeface="Arial"/>
              </a:rPr>
              <a:t>law, </a:t>
            </a:r>
            <a:r>
              <a:rPr dirty="0" sz="1150" spc="-20">
                <a:latin typeface="Arial"/>
                <a:cs typeface="Arial"/>
              </a:rPr>
              <a:t>therefore,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40">
                <a:latin typeface="Arial"/>
                <a:cs typeface="Arial"/>
              </a:rPr>
              <a:t>cannot </a:t>
            </a:r>
            <a:r>
              <a:rPr dirty="0" sz="1150" spc="-70">
                <a:latin typeface="Arial"/>
                <a:cs typeface="Arial"/>
              </a:rPr>
              <a:t>sign </a:t>
            </a:r>
            <a:r>
              <a:rPr dirty="0" sz="1150" spc="-45">
                <a:latin typeface="Arial"/>
                <a:cs typeface="Arial"/>
              </a:rPr>
              <a:t>documents 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itself.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common </a:t>
            </a:r>
            <a:r>
              <a:rPr dirty="0" sz="1150" spc="-65">
                <a:latin typeface="Arial"/>
                <a:cs typeface="Arial"/>
              </a:rPr>
              <a:t>seal,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name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substitute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5">
                <a:latin typeface="Arial"/>
                <a:cs typeface="Arial"/>
              </a:rPr>
              <a:t>its  </a:t>
            </a:r>
            <a:r>
              <a:rPr dirty="0" sz="1150" spc="-45">
                <a:latin typeface="Arial"/>
                <a:cs typeface="Arial"/>
              </a:rPr>
              <a:t>signature.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Arial"/>
              <a:cs typeface="Arial"/>
            </a:endParaRPr>
          </a:p>
          <a:p>
            <a:pPr marL="12700" marR="1565275">
              <a:lnSpc>
                <a:spcPct val="203500"/>
              </a:lnSpc>
            </a:pPr>
            <a:r>
              <a:rPr dirty="0" sz="1150" spc="-145" b="1">
                <a:latin typeface="Arial"/>
                <a:cs typeface="Arial"/>
              </a:rPr>
              <a:t>ADVANTAGES </a:t>
            </a:r>
            <a:r>
              <a:rPr dirty="0" sz="1150" spc="-114" b="1">
                <a:latin typeface="Arial"/>
                <a:cs typeface="Arial"/>
              </a:rPr>
              <a:t>AND </a:t>
            </a:r>
            <a:r>
              <a:rPr dirty="0" sz="1150" spc="-135" b="1">
                <a:latin typeface="Arial"/>
                <a:cs typeface="Arial"/>
              </a:rPr>
              <a:t>DISADVANTAGES </a:t>
            </a:r>
            <a:r>
              <a:rPr dirty="0" sz="1150" spc="-150" b="1">
                <a:latin typeface="Arial"/>
                <a:cs typeface="Arial"/>
              </a:rPr>
              <a:t>OF </a:t>
            </a:r>
            <a:r>
              <a:rPr dirty="0" sz="1150" spc="-125" b="1">
                <a:latin typeface="Arial"/>
                <a:cs typeface="Arial"/>
              </a:rPr>
              <a:t>JOINT </a:t>
            </a:r>
            <a:r>
              <a:rPr dirty="0" sz="1150" spc="-185" b="1">
                <a:latin typeface="Arial"/>
                <a:cs typeface="Arial"/>
              </a:rPr>
              <a:t>STOCK </a:t>
            </a:r>
            <a:r>
              <a:rPr dirty="0" sz="1150" spc="-120" b="1">
                <a:latin typeface="Arial"/>
                <a:cs typeface="Arial"/>
              </a:rPr>
              <a:t>COMPANY  </a:t>
            </a:r>
            <a:r>
              <a:rPr dirty="0" sz="1150" spc="-145" b="1">
                <a:latin typeface="Arial"/>
                <a:cs typeface="Arial"/>
              </a:rPr>
              <a:t>ADVATNAGES </a:t>
            </a:r>
            <a:r>
              <a:rPr dirty="0" sz="1150" spc="-150" b="1">
                <a:latin typeface="Arial"/>
                <a:cs typeface="Arial"/>
              </a:rPr>
              <a:t>OF </a:t>
            </a:r>
            <a:r>
              <a:rPr dirty="0" sz="1150" spc="-125" b="1">
                <a:latin typeface="Arial"/>
                <a:cs typeface="Arial"/>
              </a:rPr>
              <a:t>JOINT </a:t>
            </a:r>
            <a:r>
              <a:rPr dirty="0" sz="1150" spc="-185" b="1">
                <a:latin typeface="Arial"/>
                <a:cs typeface="Arial"/>
              </a:rPr>
              <a:t>STOCK</a:t>
            </a:r>
            <a:r>
              <a:rPr dirty="0" sz="1150" spc="-170" b="1">
                <a:latin typeface="Arial"/>
                <a:cs typeface="Arial"/>
              </a:rPr>
              <a:t> </a:t>
            </a:r>
            <a:r>
              <a:rPr dirty="0" sz="1150" spc="-125" b="1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45">
                <a:latin typeface="Arial"/>
                <a:cs typeface="Arial"/>
              </a:rPr>
              <a:t>Following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advantages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Joint </a:t>
            </a:r>
            <a:r>
              <a:rPr dirty="0" sz="1150" spc="-75">
                <a:latin typeface="Arial"/>
                <a:cs typeface="Arial"/>
              </a:rPr>
              <a:t>Stock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Company: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60020" indent="-147955">
              <a:lnSpc>
                <a:spcPct val="100000"/>
              </a:lnSpc>
              <a:buAutoNum type="arabicPeriod"/>
              <a:tabLst>
                <a:tab pos="160655" algn="l"/>
              </a:tabLst>
            </a:pPr>
            <a:r>
              <a:rPr dirty="0" sz="1150" spc="-110" b="1">
                <a:latin typeface="Arial"/>
                <a:cs typeface="Arial"/>
              </a:rPr>
              <a:t>Expansion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spc="-130" b="1">
                <a:latin typeface="Arial"/>
                <a:cs typeface="Arial"/>
              </a:rPr>
              <a:t>Business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sells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shares, </a:t>
            </a:r>
            <a:r>
              <a:rPr dirty="0" sz="1150" spc="-45">
                <a:latin typeface="Arial"/>
                <a:cs typeface="Arial"/>
              </a:rPr>
              <a:t>debentures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bond </a:t>
            </a:r>
            <a:r>
              <a:rPr dirty="0" sz="1150" spc="-130">
                <a:latin typeface="Arial"/>
                <a:cs typeface="Arial"/>
              </a:rPr>
              <a:t>s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50">
                <a:latin typeface="Arial"/>
                <a:cs typeface="Arial"/>
              </a:rPr>
              <a:t>large </a:t>
            </a:r>
            <a:r>
              <a:rPr dirty="0" sz="1150" spc="-70">
                <a:latin typeface="Arial"/>
                <a:cs typeface="Arial"/>
              </a:rPr>
              <a:t>scale. </a:t>
            </a:r>
            <a:r>
              <a:rPr dirty="0" sz="1150" spc="-105">
                <a:latin typeface="Arial"/>
                <a:cs typeface="Arial"/>
              </a:rPr>
              <a:t>So,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30">
                <a:latin typeface="Arial"/>
                <a:cs typeface="Arial"/>
              </a:rPr>
              <a:t>collect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large </a:t>
            </a:r>
            <a:r>
              <a:rPr dirty="0" sz="1150" spc="-35">
                <a:latin typeface="Arial"/>
                <a:cs typeface="Arial"/>
              </a:rPr>
              <a:t>amount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60">
                <a:latin typeface="Arial"/>
                <a:cs typeface="Arial"/>
              </a:rPr>
              <a:t>expand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60020" indent="-147955">
              <a:lnSpc>
                <a:spcPct val="100000"/>
              </a:lnSpc>
              <a:buAutoNum type="arabicPeriod" startAt="2"/>
              <a:tabLst>
                <a:tab pos="160655" algn="l"/>
              </a:tabLst>
            </a:pPr>
            <a:r>
              <a:rPr dirty="0" sz="1150" spc="-145" b="1">
                <a:latin typeface="Arial"/>
                <a:cs typeface="Arial"/>
              </a:rPr>
              <a:t>Easy </a:t>
            </a:r>
            <a:r>
              <a:rPr dirty="0" sz="1150" spc="-150" b="1">
                <a:latin typeface="Arial"/>
                <a:cs typeface="Arial"/>
              </a:rPr>
              <a:t>Access </a:t>
            </a:r>
            <a:r>
              <a:rPr dirty="0" sz="1150" spc="-40" b="1">
                <a:latin typeface="Arial"/>
                <a:cs typeface="Arial"/>
              </a:rPr>
              <a:t>to</a:t>
            </a:r>
            <a:r>
              <a:rPr dirty="0" sz="1150" spc="-229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Credit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40">
                <a:latin typeface="Arial"/>
                <a:cs typeface="Arial"/>
              </a:rPr>
              <a:t>get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5">
                <a:latin typeface="Arial"/>
                <a:cs typeface="Arial"/>
              </a:rPr>
              <a:t>huge </a:t>
            </a:r>
            <a:r>
              <a:rPr dirty="0" sz="1150" spc="-35">
                <a:latin typeface="Arial"/>
                <a:cs typeface="Arial"/>
              </a:rPr>
              <a:t>amount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70">
                <a:latin typeface="Arial"/>
                <a:cs typeface="Arial"/>
              </a:rPr>
              <a:t>banks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institutions.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60020" indent="-147955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160655" algn="l"/>
              </a:tabLst>
            </a:pPr>
            <a:r>
              <a:rPr dirty="0" sz="1150" spc="-145" b="1">
                <a:latin typeface="Arial"/>
                <a:cs typeface="Arial"/>
              </a:rPr>
              <a:t>Easy </a:t>
            </a:r>
            <a:r>
              <a:rPr dirty="0" sz="1150" spc="-40" b="1">
                <a:latin typeface="Arial"/>
                <a:cs typeface="Arial"/>
              </a:rPr>
              <a:t>to</a:t>
            </a:r>
            <a:r>
              <a:rPr dirty="0" sz="1150" spc="-15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Exit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easy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separate </a:t>
            </a:r>
            <a:r>
              <a:rPr dirty="0" sz="1150" spc="-45">
                <a:latin typeface="Arial"/>
                <a:cs typeface="Arial"/>
              </a:rPr>
              <a:t>oneself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50">
                <a:latin typeface="Arial"/>
                <a:cs typeface="Arial"/>
              </a:rPr>
              <a:t>by selling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65">
                <a:latin typeface="Arial"/>
                <a:cs typeface="Arial"/>
              </a:rPr>
              <a:t>shares.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52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786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0020" indent="-147955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160655" algn="l"/>
              </a:tabLst>
            </a:pPr>
            <a:r>
              <a:rPr dirty="0" sz="1150" spc="-95" b="1">
                <a:latin typeface="Arial"/>
                <a:cs typeface="Arial"/>
              </a:rPr>
              <a:t>Experts’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114" b="1">
                <a:latin typeface="Arial"/>
                <a:cs typeface="Arial"/>
              </a:rPr>
              <a:t>Services</a:t>
            </a:r>
            <a:endParaRPr sz="115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90">
                <a:latin typeface="Arial"/>
                <a:cs typeface="Arial"/>
              </a:rPr>
              <a:t>Because 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strong </a:t>
            </a:r>
            <a:r>
              <a:rPr dirty="0" sz="1150" spc="-35">
                <a:latin typeface="Arial"/>
                <a:cs typeface="Arial"/>
              </a:rPr>
              <a:t>financial </a:t>
            </a:r>
            <a:r>
              <a:rPr dirty="0" sz="1150" spc="-25">
                <a:latin typeface="Arial"/>
                <a:cs typeface="Arial"/>
              </a:rPr>
              <a:t>position, </a:t>
            </a:r>
            <a:r>
              <a:rPr dirty="0" sz="1150" spc="-85">
                <a:latin typeface="Arial"/>
                <a:cs typeface="Arial"/>
              </a:rPr>
              <a:t>so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20">
                <a:latin typeface="Arial"/>
                <a:cs typeface="Arial"/>
              </a:rPr>
              <a:t>hire the </a:t>
            </a:r>
            <a:r>
              <a:rPr dirty="0" sz="1150" spc="-55">
                <a:latin typeface="Arial"/>
                <a:cs typeface="Arial"/>
              </a:rPr>
              <a:t>service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30">
                <a:latin typeface="Arial"/>
                <a:cs typeface="Arial"/>
              </a:rPr>
              <a:t>qualified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technical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experts.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60020" indent="-147955">
              <a:lnSpc>
                <a:spcPct val="100000"/>
              </a:lnSpc>
              <a:buAutoNum type="arabicPeriod" startAt="5"/>
              <a:tabLst>
                <a:tab pos="160655" algn="l"/>
              </a:tabLst>
            </a:pPr>
            <a:r>
              <a:rPr dirty="0" sz="1150" spc="-85" b="1">
                <a:latin typeface="Arial"/>
                <a:cs typeface="Arial"/>
              </a:rPr>
              <a:t>Employment</a:t>
            </a:r>
            <a:endParaRPr sz="115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companies </a:t>
            </a:r>
            <a:r>
              <a:rPr dirty="0" sz="1150" spc="-55">
                <a:latin typeface="Arial"/>
                <a:cs typeface="Arial"/>
              </a:rPr>
              <a:t>are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50">
                <a:latin typeface="Arial"/>
                <a:cs typeface="Arial"/>
              </a:rPr>
              <a:t>playing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10">
                <a:latin typeface="Arial"/>
                <a:cs typeface="Arial"/>
              </a:rPr>
              <a:t>important </a:t>
            </a:r>
            <a:r>
              <a:rPr dirty="0" sz="1150" spc="-20">
                <a:latin typeface="Arial"/>
                <a:cs typeface="Arial"/>
              </a:rPr>
              <a:t>role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provide employment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45">
                <a:latin typeface="Arial"/>
                <a:cs typeface="Arial"/>
              </a:rPr>
              <a:t>unemployed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country.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60020" indent="-147955">
              <a:lnSpc>
                <a:spcPct val="100000"/>
              </a:lnSpc>
              <a:spcBef>
                <a:spcPts val="5"/>
              </a:spcBef>
              <a:buAutoNum type="arabicPeriod" startAt="6"/>
              <a:tabLst>
                <a:tab pos="160655" algn="l"/>
              </a:tabLst>
            </a:pPr>
            <a:r>
              <a:rPr dirty="0" sz="1150" spc="-70" b="1">
                <a:latin typeface="Arial"/>
                <a:cs typeface="Arial"/>
              </a:rPr>
              <a:t>Flexibility</a:t>
            </a:r>
            <a:endParaRPr sz="11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20"/>
              </a:spcBef>
            </a:pPr>
            <a:r>
              <a:rPr dirty="0" sz="1150" spc="-65">
                <a:latin typeface="Arial"/>
                <a:cs typeface="Arial"/>
              </a:rPr>
              <a:t>There is </a:t>
            </a:r>
            <a:r>
              <a:rPr dirty="0" sz="1150" spc="-15">
                <a:latin typeface="Arial"/>
                <a:cs typeface="Arial"/>
              </a:rPr>
              <a:t>flexibility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70">
                <a:latin typeface="Arial"/>
                <a:cs typeface="Arial"/>
              </a:rPr>
              <a:t>such business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organizations.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58750" indent="-146685">
              <a:lnSpc>
                <a:spcPct val="100000"/>
              </a:lnSpc>
              <a:buAutoNum type="arabicPeriod" startAt="7"/>
              <a:tabLst>
                <a:tab pos="159385" algn="l"/>
              </a:tabLst>
            </a:pPr>
            <a:r>
              <a:rPr dirty="0" sz="1150" spc="-75" b="1">
                <a:latin typeface="Arial"/>
                <a:cs typeface="Arial"/>
              </a:rPr>
              <a:t>Limited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Liability</a:t>
            </a:r>
            <a:endParaRPr sz="115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liability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owner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5">
                <a:latin typeface="Arial"/>
                <a:cs typeface="Arial"/>
              </a:rPr>
              <a:t>limited.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loss,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shareholders are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30">
                <a:latin typeface="Arial"/>
                <a:cs typeface="Arial"/>
              </a:rPr>
              <a:t>required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pay  </a:t>
            </a:r>
            <a:r>
              <a:rPr dirty="0" sz="1150" spc="-40">
                <a:latin typeface="Arial"/>
                <a:cs typeface="Arial"/>
              </a:rPr>
              <a:t>anything </a:t>
            </a:r>
            <a:r>
              <a:rPr dirty="0" sz="1150" spc="-30">
                <a:latin typeface="Arial"/>
                <a:cs typeface="Arial"/>
              </a:rPr>
              <a:t>more than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face </a:t>
            </a:r>
            <a:r>
              <a:rPr dirty="0" sz="1150" spc="-55">
                <a:latin typeface="Arial"/>
                <a:cs typeface="Arial"/>
              </a:rPr>
              <a:t>value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shares.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58750" indent="-146685">
              <a:lnSpc>
                <a:spcPct val="100000"/>
              </a:lnSpc>
              <a:buAutoNum type="arabicPeriod" startAt="8"/>
              <a:tabLst>
                <a:tab pos="159385" algn="l"/>
              </a:tabLst>
            </a:pPr>
            <a:r>
              <a:rPr dirty="0" sz="1150" spc="-110" b="1">
                <a:latin typeface="Arial"/>
                <a:cs typeface="Arial"/>
              </a:rPr>
              <a:t>Large </a:t>
            </a:r>
            <a:r>
              <a:rPr dirty="0" sz="1150" spc="-114" b="1">
                <a:latin typeface="Arial"/>
                <a:cs typeface="Arial"/>
              </a:rPr>
              <a:t>Scale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Production</a:t>
            </a:r>
            <a:endParaRPr sz="115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30">
                <a:latin typeface="Arial"/>
                <a:cs typeface="Arial"/>
              </a:rPr>
              <a:t>Availability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huge </a:t>
            </a:r>
            <a:r>
              <a:rPr dirty="0" sz="1150" spc="-45">
                <a:latin typeface="Arial"/>
                <a:cs typeface="Arial"/>
              </a:rPr>
              <a:t>amounts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80">
                <a:latin typeface="Arial"/>
                <a:cs typeface="Arial"/>
              </a:rPr>
              <a:t>makes </a:t>
            </a:r>
            <a:r>
              <a:rPr dirty="0" sz="1150" spc="-55">
                <a:latin typeface="Arial"/>
                <a:cs typeface="Arial"/>
              </a:rPr>
              <a:t>possible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produce 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50">
                <a:latin typeface="Arial"/>
                <a:cs typeface="Arial"/>
              </a:rPr>
              <a:t>large </a:t>
            </a:r>
            <a:r>
              <a:rPr dirty="0" sz="1150" spc="-70">
                <a:latin typeface="Arial"/>
                <a:cs typeface="Arial"/>
              </a:rPr>
              <a:t>scale,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lower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cost.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58750" indent="-146685">
              <a:lnSpc>
                <a:spcPct val="100000"/>
              </a:lnSpc>
              <a:buAutoNum type="arabicPeriod" startAt="9"/>
              <a:tabLst>
                <a:tab pos="159385" algn="l"/>
              </a:tabLst>
            </a:pPr>
            <a:r>
              <a:rPr dirty="0" sz="1150" spc="-100" b="1">
                <a:latin typeface="Arial"/>
                <a:cs typeface="Arial"/>
              </a:rPr>
              <a:t>Larger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65">
                <a:latin typeface="Arial"/>
                <a:cs typeface="Arial"/>
              </a:rPr>
              <a:t>There is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30">
                <a:latin typeface="Arial"/>
                <a:cs typeface="Arial"/>
              </a:rPr>
              <a:t>problem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45">
                <a:latin typeface="Arial"/>
                <a:cs typeface="Arial"/>
              </a:rPr>
              <a:t>stock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5">
                <a:latin typeface="Arial"/>
                <a:cs typeface="Arial"/>
              </a:rPr>
              <a:t>limit for  </a:t>
            </a:r>
            <a:r>
              <a:rPr dirty="0" sz="1150" spc="-50">
                <a:latin typeface="Arial"/>
                <a:cs typeface="Arial"/>
              </a:rPr>
              <a:t>maximum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members. </a:t>
            </a:r>
            <a:r>
              <a:rPr dirty="0" sz="1150" spc="-105">
                <a:latin typeface="Arial"/>
                <a:cs typeface="Arial"/>
              </a:rPr>
              <a:t>So,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5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45">
                <a:latin typeface="Arial"/>
                <a:cs typeface="Arial"/>
              </a:rPr>
              <a:t>collects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55">
                <a:latin typeface="Arial"/>
                <a:cs typeface="Arial"/>
              </a:rPr>
              <a:t>many  </a:t>
            </a:r>
            <a:r>
              <a:rPr dirty="0" sz="1150" spc="-40">
                <a:latin typeface="Arial"/>
                <a:cs typeface="Arial"/>
              </a:rPr>
              <a:t>people.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233679" indent="-221615">
              <a:lnSpc>
                <a:spcPct val="100000"/>
              </a:lnSpc>
              <a:buAutoNum type="arabicPeriod" startAt="10"/>
              <a:tabLst>
                <a:tab pos="234315" algn="l"/>
              </a:tabLst>
            </a:pPr>
            <a:r>
              <a:rPr dirty="0" sz="1150" spc="-140" b="1">
                <a:latin typeface="Arial"/>
                <a:cs typeface="Arial"/>
              </a:rPr>
              <a:t>Long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Life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permanent </a:t>
            </a:r>
            <a:r>
              <a:rPr dirty="0" sz="1150" spc="-15">
                <a:latin typeface="Arial"/>
                <a:cs typeface="Arial"/>
              </a:rPr>
              <a:t>life. </a:t>
            </a:r>
            <a:r>
              <a:rPr dirty="0" sz="1150" spc="5">
                <a:latin typeface="Arial"/>
                <a:cs typeface="Arial"/>
              </a:rPr>
              <a:t>If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5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more than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45">
                <a:latin typeface="Arial"/>
                <a:cs typeface="Arial"/>
              </a:rPr>
              <a:t>shareholder </a:t>
            </a:r>
            <a:r>
              <a:rPr dirty="0" sz="1150" spc="-35">
                <a:latin typeface="Arial"/>
                <a:cs typeface="Arial"/>
              </a:rPr>
              <a:t>die,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5">
                <a:latin typeface="Arial"/>
                <a:cs typeface="Arial"/>
              </a:rPr>
              <a:t>sell 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shares,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makes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no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difference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company.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New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shareholders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take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place.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233679" indent="-221615">
              <a:lnSpc>
                <a:spcPct val="100000"/>
              </a:lnSpc>
              <a:buAutoNum type="arabicPeriod" startAt="11"/>
              <a:tabLst>
                <a:tab pos="234315" algn="l"/>
              </a:tabLst>
            </a:pPr>
            <a:r>
              <a:rPr dirty="0" sz="1150" spc="-90" b="1">
                <a:latin typeface="Arial"/>
                <a:cs typeface="Arial"/>
              </a:rPr>
              <a:t>Long-term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Projects</a:t>
            </a:r>
            <a:endParaRPr sz="115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permanent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long </a:t>
            </a:r>
            <a:r>
              <a:rPr dirty="0" sz="1150" spc="-5">
                <a:latin typeface="Arial"/>
                <a:cs typeface="Arial"/>
              </a:rPr>
              <a:t>life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huge </a:t>
            </a:r>
            <a:r>
              <a:rPr dirty="0" sz="1150" spc="-35">
                <a:latin typeface="Arial"/>
                <a:cs typeface="Arial"/>
              </a:rPr>
              <a:t>capital. </a:t>
            </a:r>
            <a:r>
              <a:rPr dirty="0" sz="1150" spc="-100">
                <a:latin typeface="Arial"/>
                <a:cs typeface="Arial"/>
              </a:rPr>
              <a:t>Such </a:t>
            </a:r>
            <a:r>
              <a:rPr dirty="0" sz="1150" spc="-45">
                <a:latin typeface="Arial"/>
                <a:cs typeface="Arial"/>
              </a:rPr>
              <a:t>organizations 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40">
                <a:latin typeface="Arial"/>
                <a:cs typeface="Arial"/>
              </a:rPr>
              <a:t>undertake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projects, which </a:t>
            </a:r>
            <a:r>
              <a:rPr dirty="0" sz="1150" spc="-60">
                <a:latin typeface="Arial"/>
                <a:cs typeface="Arial"/>
              </a:rPr>
              <a:t>may give </a:t>
            </a:r>
            <a:r>
              <a:rPr dirty="0" sz="1150" spc="5">
                <a:latin typeface="Arial"/>
                <a:cs typeface="Arial"/>
              </a:rPr>
              <a:t>profit </a:t>
            </a:r>
            <a:r>
              <a:rPr dirty="0" sz="1150" spc="-15">
                <a:latin typeface="Arial"/>
                <a:cs typeface="Arial"/>
              </a:rPr>
              <a:t>after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60">
                <a:latin typeface="Arial"/>
                <a:cs typeface="Arial"/>
              </a:rPr>
              <a:t>years.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233679" indent="-221615">
              <a:lnSpc>
                <a:spcPct val="100000"/>
              </a:lnSpc>
              <a:buAutoNum type="arabicPeriod" startAt="12"/>
              <a:tabLst>
                <a:tab pos="234315" algn="l"/>
              </a:tabLst>
            </a:pPr>
            <a:r>
              <a:rPr dirty="0" sz="1150" spc="-100" b="1">
                <a:latin typeface="Arial"/>
                <a:cs typeface="Arial"/>
              </a:rPr>
              <a:t>Spread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spc="-125" b="1">
                <a:latin typeface="Arial"/>
                <a:cs typeface="Arial"/>
              </a:rPr>
              <a:t>Risk</a:t>
            </a:r>
            <a:endParaRPr sz="115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55">
                <a:latin typeface="Arial"/>
                <a:cs typeface="Arial"/>
              </a:rPr>
              <a:t>company,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risk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60">
                <a:latin typeface="Arial"/>
                <a:cs typeface="Arial"/>
              </a:rPr>
              <a:t>spread </a:t>
            </a:r>
            <a:r>
              <a:rPr dirty="0" sz="1150" spc="-35">
                <a:latin typeface="Arial"/>
                <a:cs typeface="Arial"/>
              </a:rPr>
              <a:t>over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large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people. </a:t>
            </a:r>
            <a:r>
              <a:rPr dirty="0" sz="1150" spc="-105">
                <a:latin typeface="Arial"/>
                <a:cs typeface="Arial"/>
              </a:rPr>
              <a:t>Such  </a:t>
            </a:r>
            <a:r>
              <a:rPr dirty="0" sz="1150" spc="-45">
                <a:latin typeface="Arial"/>
                <a:cs typeface="Arial"/>
              </a:rPr>
              <a:t>organizations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can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undertake</a:t>
            </a:r>
            <a:r>
              <a:rPr dirty="0" sz="1150" spc="-45">
                <a:latin typeface="Arial"/>
                <a:cs typeface="Arial"/>
              </a:rPr>
              <a:t> risky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projects,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which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types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do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not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take.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233679" indent="-221615">
              <a:lnSpc>
                <a:spcPct val="100000"/>
              </a:lnSpc>
              <a:buAutoNum type="arabicPeriod" startAt="13"/>
              <a:tabLst>
                <a:tab pos="234315" algn="l"/>
              </a:tabLst>
            </a:pPr>
            <a:r>
              <a:rPr dirty="0" sz="1150" spc="-85" b="1">
                <a:latin typeface="Arial"/>
                <a:cs typeface="Arial"/>
              </a:rPr>
              <a:t>Transfer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spc="-120" b="1">
                <a:latin typeface="Arial"/>
                <a:cs typeface="Arial"/>
              </a:rPr>
              <a:t>Shares</a:t>
            </a:r>
            <a:endParaRPr sz="115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55">
                <a:latin typeface="Arial"/>
                <a:cs typeface="Arial"/>
              </a:rPr>
              <a:t>company,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public </a:t>
            </a:r>
            <a:r>
              <a:rPr dirty="0" sz="1150" spc="-15">
                <a:latin typeface="Arial"/>
                <a:cs typeface="Arial"/>
              </a:rPr>
              <a:t>limited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60">
                <a:latin typeface="Arial"/>
                <a:cs typeface="Arial"/>
              </a:rPr>
              <a:t>easily </a:t>
            </a:r>
            <a:r>
              <a:rPr dirty="0" sz="1150" spc="-30">
                <a:latin typeface="Arial"/>
                <a:cs typeface="Arial"/>
              </a:rPr>
              <a:t>transferred </a:t>
            </a:r>
            <a:r>
              <a:rPr dirty="0" sz="1150" spc="-10">
                <a:latin typeface="Arial"/>
                <a:cs typeface="Arial"/>
              </a:rPr>
              <a:t>or  </a:t>
            </a:r>
            <a:r>
              <a:rPr dirty="0" sz="1150" spc="-60">
                <a:latin typeface="Arial"/>
                <a:cs typeface="Arial"/>
              </a:rPr>
              <a:t>disposed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off.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There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no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restriction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transfer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shares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joint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stock</a:t>
            </a:r>
            <a:r>
              <a:rPr dirty="0" sz="1150" spc="-55">
                <a:latin typeface="Arial"/>
                <a:cs typeface="Arial"/>
              </a:rPr>
              <a:t> company.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233679" indent="-221615">
              <a:lnSpc>
                <a:spcPct val="100000"/>
              </a:lnSpc>
              <a:buAutoNum type="arabicPeriod" startAt="14"/>
              <a:tabLst>
                <a:tab pos="234315" algn="l"/>
              </a:tabLst>
            </a:pPr>
            <a:r>
              <a:rPr dirty="0" sz="1150" spc="-90" b="1">
                <a:latin typeface="Arial"/>
                <a:cs typeface="Arial"/>
              </a:rPr>
              <a:t>Increase </a:t>
            </a:r>
            <a:r>
              <a:rPr dirty="0" sz="1150" spc="-60" b="1">
                <a:latin typeface="Arial"/>
                <a:cs typeface="Arial"/>
              </a:rPr>
              <a:t>in </a:t>
            </a:r>
            <a:r>
              <a:rPr dirty="0" sz="1150" spc="-114" b="1">
                <a:latin typeface="Arial"/>
                <a:cs typeface="Arial"/>
              </a:rPr>
              <a:t>Saving </a:t>
            </a:r>
            <a:r>
              <a:rPr dirty="0" sz="1150" spc="-85" b="1">
                <a:latin typeface="Arial"/>
                <a:cs typeface="Arial"/>
              </a:rPr>
              <a:t>and</a:t>
            </a:r>
            <a:r>
              <a:rPr dirty="0" sz="1150" spc="4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Investment</a:t>
            </a:r>
            <a:endParaRPr sz="115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large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 spc="-10">
                <a:latin typeface="Arial"/>
                <a:cs typeface="Arial"/>
              </a:rPr>
              <a:t>but their </a:t>
            </a:r>
            <a:r>
              <a:rPr dirty="0" sz="1150" spc="-55">
                <a:latin typeface="Arial"/>
                <a:cs typeface="Arial"/>
              </a:rPr>
              <a:t>value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small.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company may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55">
                <a:latin typeface="Arial"/>
                <a:cs typeface="Arial"/>
              </a:rPr>
              <a:t>value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25">
                <a:latin typeface="Arial"/>
                <a:cs typeface="Arial"/>
              </a:rPr>
              <a:t>Rs. </a:t>
            </a:r>
            <a:r>
              <a:rPr dirty="0" sz="1150" spc="-50">
                <a:latin typeface="Arial"/>
                <a:cs typeface="Arial"/>
              </a:rPr>
              <a:t>10, </a:t>
            </a:r>
            <a:r>
              <a:rPr dirty="0" sz="1150" spc="-125">
                <a:latin typeface="Arial"/>
                <a:cs typeface="Arial"/>
              </a:rPr>
              <a:t>Rs. </a:t>
            </a:r>
            <a:r>
              <a:rPr dirty="0" sz="1150" spc="-60">
                <a:latin typeface="Arial"/>
                <a:cs typeface="Arial"/>
              </a:rPr>
              <a:t>100 </a:t>
            </a:r>
            <a:r>
              <a:rPr dirty="0" sz="1150" spc="-35">
                <a:latin typeface="Arial"/>
                <a:cs typeface="Arial"/>
              </a:rPr>
              <a:t>etc. </a:t>
            </a:r>
            <a:r>
              <a:rPr dirty="0" sz="1150" spc="-105">
                <a:latin typeface="Arial"/>
                <a:cs typeface="Arial"/>
              </a:rPr>
              <a:t>So, </a:t>
            </a:r>
            <a:r>
              <a:rPr dirty="0" sz="1150" spc="-30">
                <a:latin typeface="Arial"/>
                <a:cs typeface="Arial"/>
              </a:rPr>
              <a:t>rich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well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30">
                <a:latin typeface="Arial"/>
                <a:cs typeface="Arial"/>
              </a:rPr>
              <a:t>poor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60">
                <a:latin typeface="Arial"/>
                <a:cs typeface="Arial"/>
              </a:rPr>
              <a:t>purchase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company. 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65">
                <a:latin typeface="Arial"/>
                <a:cs typeface="Arial"/>
              </a:rPr>
              <a:t>leads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increase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80">
                <a:latin typeface="Arial"/>
                <a:cs typeface="Arial"/>
              </a:rPr>
              <a:t>savings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investment.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53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4340" cy="82238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33679" indent="-221615">
              <a:lnSpc>
                <a:spcPct val="100000"/>
              </a:lnSpc>
              <a:spcBef>
                <a:spcPts val="100"/>
              </a:spcBef>
              <a:buAutoNum type="arabicPeriod" startAt="15"/>
              <a:tabLst>
                <a:tab pos="234315" algn="l"/>
              </a:tabLst>
            </a:pPr>
            <a:r>
              <a:rPr dirty="0" sz="1150" spc="-60" b="1">
                <a:latin typeface="Arial"/>
                <a:cs typeface="Arial"/>
              </a:rPr>
              <a:t>Better </a:t>
            </a:r>
            <a:r>
              <a:rPr dirty="0" sz="1150" spc="-65" b="1">
                <a:latin typeface="Arial"/>
                <a:cs typeface="Arial"/>
              </a:rPr>
              <a:t>Management</a:t>
            </a:r>
            <a:endParaRPr sz="115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Such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administered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elected </a:t>
            </a:r>
            <a:r>
              <a:rPr dirty="0" sz="1150" spc="-30">
                <a:latin typeface="Arial"/>
                <a:cs typeface="Arial"/>
              </a:rPr>
              <a:t>directors. </a:t>
            </a: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30">
                <a:latin typeface="Arial"/>
                <a:cs typeface="Arial"/>
              </a:rPr>
              <a:t>directors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generally  </a:t>
            </a:r>
            <a:r>
              <a:rPr dirty="0" sz="1150" spc="-50">
                <a:latin typeface="Arial"/>
                <a:cs typeface="Arial"/>
              </a:rPr>
              <a:t>experienced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qualified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20">
                <a:latin typeface="Arial"/>
                <a:cs typeface="Arial"/>
              </a:rPr>
              <a:t>field.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70">
                <a:latin typeface="Arial"/>
                <a:cs typeface="Arial"/>
              </a:rPr>
              <a:t>increases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efficiency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company.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Arial"/>
              <a:cs typeface="Arial"/>
            </a:endParaRPr>
          </a:p>
          <a:p>
            <a:pPr algn="just" marL="233679" indent="-221615">
              <a:lnSpc>
                <a:spcPct val="100000"/>
              </a:lnSpc>
              <a:buAutoNum type="arabicPeriod" startAt="16"/>
              <a:tabLst>
                <a:tab pos="234315" algn="l"/>
              </a:tabLst>
            </a:pPr>
            <a:r>
              <a:rPr dirty="0" sz="1150" spc="-80" b="1">
                <a:latin typeface="Arial"/>
                <a:cs typeface="Arial"/>
              </a:rPr>
              <a:t>Beneficial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114" b="1">
                <a:latin typeface="Arial"/>
                <a:cs typeface="Arial"/>
              </a:rPr>
              <a:t>Advices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40">
                <a:latin typeface="Arial"/>
                <a:cs typeface="Arial"/>
              </a:rPr>
              <a:t>take </a:t>
            </a:r>
            <a:r>
              <a:rPr dirty="0" sz="1150" spc="-35">
                <a:latin typeface="Arial"/>
                <a:cs typeface="Arial"/>
              </a:rPr>
              <a:t>beneficial </a:t>
            </a:r>
            <a:r>
              <a:rPr dirty="0" sz="1150" spc="-70">
                <a:latin typeface="Arial"/>
                <a:cs typeface="Arial"/>
              </a:rPr>
              <a:t>advices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government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time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need 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0">
                <a:latin typeface="Arial"/>
                <a:cs typeface="Arial"/>
              </a:rPr>
              <a:t>reduces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0">
                <a:latin typeface="Arial"/>
                <a:cs typeface="Arial"/>
              </a:rPr>
              <a:t>chances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failure.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233679" indent="-221615">
              <a:lnSpc>
                <a:spcPct val="100000"/>
              </a:lnSpc>
              <a:buAutoNum type="arabicPeriod" startAt="17"/>
              <a:tabLst>
                <a:tab pos="234315" algn="l"/>
              </a:tabLst>
            </a:pPr>
            <a:r>
              <a:rPr dirty="0" sz="1150" spc="-95" b="1">
                <a:latin typeface="Arial"/>
                <a:cs typeface="Arial"/>
              </a:rPr>
              <a:t>Public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Confidence</a:t>
            </a:r>
            <a:endParaRPr sz="115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created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5">
                <a:latin typeface="Arial"/>
                <a:cs typeface="Arial"/>
              </a:rPr>
              <a:t>law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supervised </a:t>
            </a:r>
            <a:r>
              <a:rPr dirty="0" sz="1150" spc="-50">
                <a:latin typeface="Arial"/>
                <a:cs typeface="Arial"/>
              </a:rPr>
              <a:t>by legal </a:t>
            </a:r>
            <a:r>
              <a:rPr dirty="0" sz="1150" spc="-15">
                <a:latin typeface="Arial"/>
                <a:cs typeface="Arial"/>
              </a:rPr>
              <a:t>authority. </a:t>
            </a:r>
            <a:r>
              <a:rPr dirty="0" sz="1150" spc="-105">
                <a:latin typeface="Arial"/>
                <a:cs typeface="Arial"/>
              </a:rPr>
              <a:t>So,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easily </a:t>
            </a:r>
            <a:r>
              <a:rPr dirty="0" sz="1150" spc="-15">
                <a:latin typeface="Arial"/>
                <a:cs typeface="Arial"/>
              </a:rPr>
              <a:t>win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public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confidence.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233679" indent="-221615">
              <a:lnSpc>
                <a:spcPct val="100000"/>
              </a:lnSpc>
              <a:spcBef>
                <a:spcPts val="5"/>
              </a:spcBef>
              <a:buAutoNum type="arabicPeriod" startAt="18"/>
              <a:tabLst>
                <a:tab pos="234315" algn="l"/>
              </a:tabLst>
            </a:pPr>
            <a:r>
              <a:rPr dirty="0" sz="1150" spc="-85" b="1">
                <a:latin typeface="Arial"/>
                <a:cs typeface="Arial"/>
              </a:rPr>
              <a:t>Higher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Profits</a:t>
            </a:r>
            <a:endParaRPr sz="115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10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help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larger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technical </a:t>
            </a:r>
            <a:r>
              <a:rPr dirty="0" sz="1150" spc="-30">
                <a:latin typeface="Arial"/>
                <a:cs typeface="Arial"/>
              </a:rPr>
              <a:t>skill,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cost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reduced, </a:t>
            </a:r>
            <a:r>
              <a:rPr dirty="0" sz="1150" spc="-35">
                <a:latin typeface="Arial"/>
                <a:cs typeface="Arial"/>
              </a:rPr>
              <a:t>which  </a:t>
            </a:r>
            <a:r>
              <a:rPr dirty="0" sz="1150" spc="-65">
                <a:latin typeface="Arial"/>
                <a:cs typeface="Arial"/>
              </a:rPr>
              <a:t>increases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rate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profit.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140" b="1">
                <a:latin typeface="Arial"/>
                <a:cs typeface="Arial"/>
              </a:rPr>
              <a:t>DISADVANTAGES </a:t>
            </a:r>
            <a:r>
              <a:rPr dirty="0" sz="1150" spc="-150" b="1">
                <a:latin typeface="Arial"/>
                <a:cs typeface="Arial"/>
              </a:rPr>
              <a:t>OF </a:t>
            </a:r>
            <a:r>
              <a:rPr dirty="0" sz="1150" spc="-125" b="1">
                <a:latin typeface="Arial"/>
                <a:cs typeface="Arial"/>
              </a:rPr>
              <a:t>JOINT </a:t>
            </a:r>
            <a:r>
              <a:rPr dirty="0" sz="1150" spc="-185" b="1">
                <a:latin typeface="Arial"/>
                <a:cs typeface="Arial"/>
              </a:rPr>
              <a:t>STOCK </a:t>
            </a:r>
            <a:r>
              <a:rPr dirty="0" sz="1150" spc="-120" b="1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25"/>
              </a:spcBef>
            </a:pPr>
            <a:r>
              <a:rPr dirty="0" sz="1150" spc="-95">
                <a:latin typeface="Arial"/>
                <a:cs typeface="Arial"/>
              </a:rPr>
              <a:t>Some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disadvantages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joint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stock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company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are</a:t>
            </a:r>
            <a:r>
              <a:rPr dirty="0" sz="1150" spc="-55">
                <a:latin typeface="Arial"/>
                <a:cs typeface="Arial"/>
              </a:rPr>
              <a:t> given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below: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58750" indent="-146685">
              <a:lnSpc>
                <a:spcPct val="100000"/>
              </a:lnSpc>
              <a:buAutoNum type="arabicPeriod"/>
              <a:tabLst>
                <a:tab pos="159385" algn="l"/>
              </a:tabLst>
            </a:pPr>
            <a:r>
              <a:rPr dirty="0" sz="1150" spc="-40" b="1">
                <a:latin typeface="Arial"/>
                <a:cs typeface="Arial"/>
              </a:rPr>
              <a:t>Initial</a:t>
            </a:r>
            <a:r>
              <a:rPr dirty="0" sz="1150" spc="-65" b="1">
                <a:latin typeface="Arial"/>
                <a:cs typeface="Arial"/>
              </a:rPr>
              <a:t> Difficulties</a:t>
            </a:r>
            <a:endParaRPr sz="115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5">
                <a:latin typeface="Arial"/>
                <a:cs typeface="Arial"/>
              </a:rPr>
              <a:t>difficult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establish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50">
                <a:latin typeface="Arial"/>
                <a:cs typeface="Arial"/>
              </a:rPr>
              <a:t>compared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70">
                <a:latin typeface="Arial"/>
                <a:cs typeface="Arial"/>
              </a:rPr>
              <a:t>business  </a:t>
            </a:r>
            <a:r>
              <a:rPr dirty="0" sz="1150" spc="-45">
                <a:latin typeface="Arial"/>
                <a:cs typeface="Arial"/>
              </a:rPr>
              <a:t>organizations.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58750" indent="-14668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159385" algn="l"/>
              </a:tabLst>
            </a:pPr>
            <a:r>
              <a:rPr dirty="0" sz="1150" spc="-135" b="1">
                <a:latin typeface="Arial"/>
                <a:cs typeface="Arial"/>
              </a:rPr>
              <a:t>Lack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170" b="1">
                <a:latin typeface="Arial"/>
                <a:cs typeface="Arial"/>
              </a:rPr>
              <a:t> </a:t>
            </a:r>
            <a:r>
              <a:rPr dirty="0" sz="1150" spc="-55" b="1">
                <a:latin typeface="Arial"/>
                <a:cs typeface="Arial"/>
              </a:rPr>
              <a:t>Interest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5">
                <a:latin typeface="Arial"/>
                <a:cs typeface="Arial"/>
              </a:rPr>
              <a:t>Most </a:t>
            </a:r>
            <a:r>
              <a:rPr dirty="0" sz="1150" spc="-50">
                <a:latin typeface="Arial"/>
                <a:cs typeface="Arial"/>
              </a:rPr>
              <a:t>shareholders </a:t>
            </a:r>
            <a:r>
              <a:rPr dirty="0" sz="1150" spc="-60">
                <a:latin typeface="Arial"/>
                <a:cs typeface="Arial"/>
              </a:rPr>
              <a:t>become </a:t>
            </a:r>
            <a:r>
              <a:rPr dirty="0" sz="1150" spc="-50">
                <a:latin typeface="Arial"/>
                <a:cs typeface="Arial"/>
              </a:rPr>
              <a:t>relaxed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leave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functions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0">
                <a:latin typeface="Arial"/>
                <a:cs typeface="Arial"/>
              </a:rPr>
              <a:t>carried </a:t>
            </a:r>
            <a:r>
              <a:rPr dirty="0" sz="1150" spc="-5">
                <a:latin typeface="Arial"/>
                <a:cs typeface="Arial"/>
              </a:rPr>
              <a:t>out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30">
                <a:latin typeface="Arial"/>
                <a:cs typeface="Arial"/>
              </a:rPr>
              <a:t>directors.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50">
                <a:latin typeface="Arial"/>
                <a:cs typeface="Arial"/>
              </a:rPr>
              <a:t>usually </a:t>
            </a:r>
            <a:r>
              <a:rPr dirty="0" sz="1150" spc="-65">
                <a:latin typeface="Arial"/>
                <a:cs typeface="Arial"/>
              </a:rPr>
              <a:t>encourages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directors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promote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25">
                <a:latin typeface="Arial"/>
                <a:cs typeface="Arial"/>
              </a:rPr>
              <a:t>own </a:t>
            </a:r>
            <a:r>
              <a:rPr dirty="0" sz="1150" spc="-20">
                <a:latin typeface="Arial"/>
                <a:cs typeface="Arial"/>
              </a:rPr>
              <a:t>interest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cost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company.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58750" indent="-146685">
              <a:lnSpc>
                <a:spcPct val="100000"/>
              </a:lnSpc>
              <a:buAutoNum type="arabicPeriod" startAt="3"/>
              <a:tabLst>
                <a:tab pos="159385" algn="l"/>
              </a:tabLst>
            </a:pPr>
            <a:r>
              <a:rPr dirty="0" sz="1150" spc="-100" b="1">
                <a:latin typeface="Arial"/>
                <a:cs typeface="Arial"/>
              </a:rPr>
              <a:t>Labor</a:t>
            </a:r>
            <a:r>
              <a:rPr dirty="0" sz="1150" spc="-75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Disputes</a:t>
            </a:r>
            <a:endParaRPr sz="1150">
              <a:latin typeface="Arial"/>
              <a:cs typeface="Arial"/>
            </a:endParaRPr>
          </a:p>
          <a:p>
            <a:pPr algn="just" marL="12700" marR="6350">
              <a:lnSpc>
                <a:spcPct val="101299"/>
              </a:lnSpc>
              <a:spcBef>
                <a:spcPts val="5"/>
              </a:spcBef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65">
                <a:latin typeface="Arial"/>
                <a:cs typeface="Arial"/>
              </a:rPr>
              <a:t>close </a:t>
            </a:r>
            <a:r>
              <a:rPr dirty="0" sz="1150" spc="-35">
                <a:latin typeface="Arial"/>
                <a:cs typeface="Arial"/>
              </a:rPr>
              <a:t>contact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workers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owners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50">
                <a:latin typeface="Arial"/>
                <a:cs typeface="Arial"/>
              </a:rPr>
              <a:t>shareholders.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65">
                <a:latin typeface="Arial"/>
                <a:cs typeface="Arial"/>
              </a:rPr>
              <a:t>leads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formation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labor </a:t>
            </a:r>
            <a:r>
              <a:rPr dirty="0" sz="1150" spc="-45">
                <a:latin typeface="Arial"/>
                <a:cs typeface="Arial"/>
              </a:rPr>
              <a:t>unions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fight </a:t>
            </a:r>
            <a:r>
              <a:rPr dirty="0" sz="1150" spc="-55">
                <a:latin typeface="Arial"/>
                <a:cs typeface="Arial"/>
              </a:rPr>
              <a:t>against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company’s  </a:t>
            </a:r>
            <a:r>
              <a:rPr dirty="0" sz="1150" spc="-50">
                <a:latin typeface="Arial"/>
                <a:cs typeface="Arial"/>
              </a:rPr>
              <a:t>management.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58750" indent="-146685">
              <a:lnSpc>
                <a:spcPct val="100000"/>
              </a:lnSpc>
              <a:buAutoNum type="arabicPeriod" startAt="4"/>
              <a:tabLst>
                <a:tab pos="159385" algn="l"/>
              </a:tabLst>
            </a:pPr>
            <a:r>
              <a:rPr dirty="0" sz="1150" spc="-135" b="1">
                <a:latin typeface="Arial"/>
                <a:cs typeface="Arial"/>
              </a:rPr>
              <a:t>Lack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170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Responsibility</a:t>
            </a:r>
            <a:endParaRPr sz="115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65">
                <a:latin typeface="Arial"/>
                <a:cs typeface="Arial"/>
              </a:rPr>
              <a:t>There is </a:t>
            </a:r>
            <a:r>
              <a:rPr dirty="0" sz="1150" spc="-60">
                <a:latin typeface="Arial"/>
                <a:cs typeface="Arial"/>
              </a:rPr>
              <a:t>lack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personal </a:t>
            </a:r>
            <a:r>
              <a:rPr dirty="0" sz="1150" spc="-25">
                <a:latin typeface="Arial"/>
                <a:cs typeface="Arial"/>
              </a:rPr>
              <a:t>interest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responsibility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45">
                <a:latin typeface="Arial"/>
                <a:cs typeface="Arial"/>
              </a:rPr>
              <a:t>stock </a:t>
            </a:r>
            <a:r>
              <a:rPr dirty="0" sz="1150" spc="-55">
                <a:latin typeface="Arial"/>
                <a:cs typeface="Arial"/>
              </a:rPr>
              <a:t>company.  </a:t>
            </a: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45">
                <a:latin typeface="Arial"/>
                <a:cs typeface="Arial"/>
              </a:rPr>
              <a:t>mistake </a:t>
            </a:r>
            <a:r>
              <a:rPr dirty="0" sz="1150" spc="-60">
                <a:latin typeface="Arial"/>
                <a:cs typeface="Arial"/>
              </a:rPr>
              <a:t>occurs, </a:t>
            </a:r>
            <a:r>
              <a:rPr dirty="0" sz="1150" spc="-50">
                <a:latin typeface="Arial"/>
                <a:cs typeface="Arial"/>
              </a:rPr>
              <a:t>everybody </a:t>
            </a:r>
            <a:r>
              <a:rPr dirty="0" sz="1150" spc="-25">
                <a:latin typeface="Arial"/>
                <a:cs typeface="Arial"/>
              </a:rPr>
              <a:t>tries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shift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5">
                <a:latin typeface="Arial"/>
                <a:cs typeface="Arial"/>
              </a:rPr>
              <a:t>transfer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35">
                <a:latin typeface="Arial"/>
                <a:cs typeface="Arial"/>
              </a:rPr>
              <a:t>responsibilities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other 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-55">
                <a:latin typeface="Arial"/>
                <a:cs typeface="Arial"/>
              </a:rPr>
              <a:t>and he remains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safe.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58750" indent="-146685">
              <a:lnSpc>
                <a:spcPct val="100000"/>
              </a:lnSpc>
              <a:buAutoNum type="arabicPeriod" startAt="5"/>
              <a:tabLst>
                <a:tab pos="159385" algn="l"/>
              </a:tabLst>
            </a:pPr>
            <a:r>
              <a:rPr dirty="0" sz="1150" spc="-135" b="1">
                <a:latin typeface="Arial"/>
                <a:cs typeface="Arial"/>
              </a:rPr>
              <a:t>Lack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170" b="1">
                <a:latin typeface="Arial"/>
                <a:cs typeface="Arial"/>
              </a:rPr>
              <a:t> </a:t>
            </a:r>
            <a:r>
              <a:rPr dirty="0" sz="1150" spc="-120" b="1">
                <a:latin typeface="Arial"/>
                <a:cs typeface="Arial"/>
              </a:rPr>
              <a:t>Secrecy</a:t>
            </a:r>
            <a:endParaRPr sz="115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40">
                <a:latin typeface="Arial"/>
                <a:cs typeface="Arial"/>
              </a:rPr>
              <a:t>cannot </a:t>
            </a:r>
            <a:r>
              <a:rPr dirty="0" sz="1150" spc="-30">
                <a:latin typeface="Arial"/>
                <a:cs typeface="Arial"/>
              </a:rPr>
              <a:t>maintain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70">
                <a:latin typeface="Arial"/>
                <a:cs typeface="Arial"/>
              </a:rPr>
              <a:t>secrecy </a:t>
            </a:r>
            <a:r>
              <a:rPr dirty="0" sz="1150" spc="-5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reason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30">
                <a:latin typeface="Arial"/>
                <a:cs typeface="Arial"/>
              </a:rPr>
              <a:t>submit </a:t>
            </a:r>
            <a:r>
              <a:rPr dirty="0" sz="1150" spc="-50">
                <a:latin typeface="Arial"/>
                <a:cs typeface="Arial"/>
              </a:rPr>
              <a:t>various </a:t>
            </a:r>
            <a:r>
              <a:rPr dirty="0" sz="1150" spc="-25">
                <a:latin typeface="Arial"/>
                <a:cs typeface="Arial"/>
              </a:rPr>
              <a:t>reports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registrar.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58750" indent="-146685">
              <a:lnSpc>
                <a:spcPct val="100000"/>
              </a:lnSpc>
              <a:spcBef>
                <a:spcPts val="5"/>
              </a:spcBef>
              <a:buAutoNum type="arabicPeriod" startAt="6"/>
              <a:tabLst>
                <a:tab pos="159385" algn="l"/>
              </a:tabLst>
            </a:pPr>
            <a:r>
              <a:rPr dirty="0" sz="1150" spc="-135" b="1">
                <a:latin typeface="Arial"/>
                <a:cs typeface="Arial"/>
              </a:rPr>
              <a:t>Lack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170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Freedom</a:t>
            </a:r>
            <a:endParaRPr sz="115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40">
                <a:latin typeface="Arial"/>
                <a:cs typeface="Arial"/>
              </a:rPr>
              <a:t>cannot </a:t>
            </a:r>
            <a:r>
              <a:rPr dirty="0" sz="1150" spc="-20">
                <a:latin typeface="Arial"/>
                <a:cs typeface="Arial"/>
              </a:rPr>
              <a:t>perform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30">
                <a:latin typeface="Arial"/>
                <a:cs typeface="Arial"/>
              </a:rPr>
              <a:t>functions </a:t>
            </a:r>
            <a:r>
              <a:rPr dirty="0" sz="1150" spc="-25">
                <a:latin typeface="Arial"/>
                <a:cs typeface="Arial"/>
              </a:rPr>
              <a:t>freely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submit </a:t>
            </a:r>
            <a:r>
              <a:rPr dirty="0" sz="1150" spc="-50">
                <a:latin typeface="Arial"/>
                <a:cs typeface="Arial"/>
              </a:rPr>
              <a:t>various  </a:t>
            </a:r>
            <a:r>
              <a:rPr dirty="0" sz="1150" spc="-25">
                <a:latin typeface="Arial"/>
                <a:cs typeface="Arial"/>
              </a:rPr>
              <a:t>reports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registrar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form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time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time.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54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1070867"/>
            <a:ext cx="5514340" cy="6975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0020" indent="-147955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160655" algn="l"/>
              </a:tabLst>
            </a:pPr>
            <a:r>
              <a:rPr dirty="0" sz="1150" spc="-65" b="1">
                <a:latin typeface="Arial"/>
                <a:cs typeface="Arial"/>
              </a:rPr>
              <a:t>Monopoly</a:t>
            </a:r>
            <a:endParaRPr sz="115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larger </a:t>
            </a:r>
            <a:r>
              <a:rPr dirty="0" sz="1150" spc="-85">
                <a:latin typeface="Arial"/>
                <a:cs typeface="Arial"/>
              </a:rPr>
              <a:t>size </a:t>
            </a:r>
            <a:r>
              <a:rPr dirty="0" sz="1150" spc="-55">
                <a:latin typeface="Arial"/>
                <a:cs typeface="Arial"/>
              </a:rPr>
              <a:t>and resources,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position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create </a:t>
            </a:r>
            <a:r>
              <a:rPr dirty="0" sz="1150" spc="-35">
                <a:latin typeface="Arial"/>
                <a:cs typeface="Arial"/>
              </a:rPr>
              <a:t>monopoly.  </a:t>
            </a:r>
            <a:r>
              <a:rPr dirty="0" sz="1150" spc="-65">
                <a:latin typeface="Arial"/>
                <a:cs typeface="Arial"/>
              </a:rPr>
              <a:t>Sometimes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few </a:t>
            </a:r>
            <a:r>
              <a:rPr dirty="0" sz="1150" spc="-55">
                <a:latin typeface="Arial"/>
                <a:cs typeface="Arial"/>
              </a:rPr>
              <a:t>customers </a:t>
            </a:r>
            <a:r>
              <a:rPr dirty="0" sz="1150" spc="-65">
                <a:latin typeface="Arial"/>
                <a:cs typeface="Arial"/>
              </a:rPr>
              <a:t>make </a:t>
            </a:r>
            <a:r>
              <a:rPr dirty="0" sz="1150" spc="-45">
                <a:latin typeface="Arial"/>
                <a:cs typeface="Arial"/>
              </a:rPr>
              <a:t>agreement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exploit the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consumers.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60020" indent="-147955">
              <a:lnSpc>
                <a:spcPct val="100000"/>
              </a:lnSpc>
              <a:buAutoNum type="arabicPeriod" startAt="8"/>
              <a:tabLst>
                <a:tab pos="160655" algn="l"/>
              </a:tabLst>
            </a:pPr>
            <a:r>
              <a:rPr dirty="0" sz="1150" spc="-90" b="1">
                <a:latin typeface="Arial"/>
                <a:cs typeface="Arial"/>
              </a:rPr>
              <a:t>Speculation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free transfer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shares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0">
                <a:latin typeface="Arial"/>
                <a:cs typeface="Arial"/>
              </a:rPr>
              <a:t>limited </a:t>
            </a:r>
            <a:r>
              <a:rPr dirty="0" sz="1150" spc="-15">
                <a:latin typeface="Arial"/>
                <a:cs typeface="Arial"/>
              </a:rPr>
              <a:t>liability, </a:t>
            </a:r>
            <a:r>
              <a:rPr dirty="0" sz="1150" spc="-40">
                <a:latin typeface="Arial"/>
                <a:cs typeface="Arial"/>
              </a:rPr>
              <a:t>speculation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45">
                <a:latin typeface="Arial"/>
                <a:cs typeface="Arial"/>
              </a:rPr>
              <a:t>stock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55">
                <a:latin typeface="Arial"/>
                <a:cs typeface="Arial"/>
              </a:rPr>
              <a:t>takes  place,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25">
                <a:latin typeface="Arial"/>
                <a:cs typeface="Arial"/>
              </a:rPr>
              <a:t>affect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economy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country.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60020" indent="-147955">
              <a:lnSpc>
                <a:spcPct val="100000"/>
              </a:lnSpc>
              <a:spcBef>
                <a:spcPts val="5"/>
              </a:spcBef>
              <a:buAutoNum type="arabicPeriod" startAt="9"/>
              <a:tabLst>
                <a:tab pos="160655" algn="l"/>
              </a:tabLst>
            </a:pPr>
            <a:r>
              <a:rPr dirty="0" sz="1150" spc="-80" b="1">
                <a:latin typeface="Arial"/>
                <a:cs typeface="Arial"/>
              </a:rPr>
              <a:t>Corruption</a:t>
            </a:r>
            <a:endParaRPr sz="115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directors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50">
                <a:latin typeface="Arial"/>
                <a:cs typeface="Arial"/>
              </a:rPr>
              <a:t>show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picture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public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60">
                <a:latin typeface="Arial"/>
                <a:cs typeface="Arial"/>
              </a:rPr>
              <a:t>encourage </a:t>
            </a:r>
            <a:r>
              <a:rPr dirty="0" sz="1150" spc="-20">
                <a:latin typeface="Arial"/>
                <a:cs typeface="Arial"/>
              </a:rPr>
              <a:t>corruption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65">
                <a:latin typeface="Arial"/>
                <a:cs typeface="Arial"/>
              </a:rPr>
              <a:t>changing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policies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50">
                <a:latin typeface="Arial"/>
                <a:cs typeface="Arial"/>
              </a:rPr>
              <a:t>personal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interest.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233679" indent="-221615">
              <a:lnSpc>
                <a:spcPct val="100000"/>
              </a:lnSpc>
              <a:buAutoNum type="arabicPeriod" startAt="10"/>
              <a:tabLst>
                <a:tab pos="234315" algn="l"/>
              </a:tabLst>
            </a:pPr>
            <a:r>
              <a:rPr dirty="0" sz="1150" spc="-90" b="1">
                <a:latin typeface="Arial"/>
                <a:cs typeface="Arial"/>
              </a:rPr>
              <a:t>Complicated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130" b="1">
                <a:latin typeface="Arial"/>
                <a:cs typeface="Arial"/>
              </a:rPr>
              <a:t>Process</a:t>
            </a:r>
            <a:endParaRPr sz="115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formation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complicated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 spc="-5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50">
                <a:latin typeface="Arial"/>
                <a:cs typeface="Arial"/>
              </a:rPr>
              <a:t>legal  </a:t>
            </a:r>
            <a:r>
              <a:rPr dirty="0" sz="1150" spc="-25">
                <a:latin typeface="Arial"/>
                <a:cs typeface="Arial"/>
              </a:rPr>
              <a:t>formalities.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233679" indent="-221615">
              <a:lnSpc>
                <a:spcPct val="100000"/>
              </a:lnSpc>
              <a:buAutoNum type="arabicPeriod" startAt="11"/>
              <a:tabLst>
                <a:tab pos="234315" algn="l"/>
              </a:tabLst>
            </a:pPr>
            <a:r>
              <a:rPr dirty="0" sz="1150" spc="-70" b="1">
                <a:latin typeface="Arial"/>
                <a:cs typeface="Arial"/>
              </a:rPr>
              <a:t>Centralization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Power</a:t>
            </a:r>
            <a:endParaRPr sz="115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75">
                <a:latin typeface="Arial"/>
                <a:cs typeface="Arial"/>
              </a:rPr>
              <a:t>Company,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powers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few </a:t>
            </a:r>
            <a:r>
              <a:rPr dirty="0" sz="1150" spc="-70">
                <a:latin typeface="Arial"/>
                <a:cs typeface="Arial"/>
              </a:rPr>
              <a:t>hands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this;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30">
                <a:latin typeface="Arial"/>
                <a:cs typeface="Arial"/>
              </a:rPr>
              <a:t>ordinary  </a:t>
            </a:r>
            <a:r>
              <a:rPr dirty="0" sz="1150" spc="-45">
                <a:latin typeface="Arial"/>
                <a:cs typeface="Arial"/>
              </a:rPr>
              <a:t>shareholder </a:t>
            </a:r>
            <a:r>
              <a:rPr dirty="0" sz="1150" spc="-40">
                <a:latin typeface="Arial"/>
                <a:cs typeface="Arial"/>
              </a:rPr>
              <a:t>cannot </a:t>
            </a:r>
            <a:r>
              <a:rPr dirty="0" sz="1150" spc="-25">
                <a:latin typeface="Arial"/>
                <a:cs typeface="Arial"/>
              </a:rPr>
              <a:t>participate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35">
                <a:latin typeface="Arial"/>
                <a:cs typeface="Arial"/>
              </a:rPr>
              <a:t>affairs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company.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233679" indent="-221615">
              <a:lnSpc>
                <a:spcPct val="100000"/>
              </a:lnSpc>
              <a:buAutoNum type="arabicPeriod" startAt="12"/>
              <a:tabLst>
                <a:tab pos="234315" algn="l"/>
              </a:tabLst>
            </a:pPr>
            <a:r>
              <a:rPr dirty="0" sz="1150" spc="-80" b="1">
                <a:latin typeface="Arial"/>
                <a:cs typeface="Arial"/>
              </a:rPr>
              <a:t>Double</a:t>
            </a:r>
            <a:r>
              <a:rPr dirty="0" sz="1150" spc="-75" b="1">
                <a:latin typeface="Arial"/>
                <a:cs typeface="Arial"/>
              </a:rPr>
              <a:t> </a:t>
            </a:r>
            <a:r>
              <a:rPr dirty="0" sz="1150" spc="-114" b="1">
                <a:latin typeface="Arial"/>
                <a:cs typeface="Arial"/>
              </a:rPr>
              <a:t>Taxes</a:t>
            </a:r>
            <a:endParaRPr sz="115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pay </a:t>
            </a:r>
            <a:r>
              <a:rPr dirty="0" sz="1150" spc="-40">
                <a:latin typeface="Arial"/>
                <a:cs typeface="Arial"/>
              </a:rPr>
              <a:t>double </a:t>
            </a:r>
            <a:r>
              <a:rPr dirty="0" sz="1150" spc="-60">
                <a:latin typeface="Arial"/>
                <a:cs typeface="Arial"/>
              </a:rPr>
              <a:t>taxes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government. Firstly,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80">
                <a:latin typeface="Arial"/>
                <a:cs typeface="Arial"/>
              </a:rPr>
              <a:t>pays </a:t>
            </a:r>
            <a:r>
              <a:rPr dirty="0" sz="1150" spc="-40">
                <a:latin typeface="Arial"/>
                <a:cs typeface="Arial"/>
              </a:rPr>
              <a:t>tax 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whole </a:t>
            </a:r>
            <a:r>
              <a:rPr dirty="0" sz="1150" spc="5">
                <a:latin typeface="Arial"/>
                <a:cs typeface="Arial"/>
              </a:rPr>
              <a:t>profit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company. </a:t>
            </a:r>
            <a:r>
              <a:rPr dirty="0" sz="1150" spc="-70">
                <a:latin typeface="Arial"/>
                <a:cs typeface="Arial"/>
              </a:rPr>
              <a:t>Secondly,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45">
                <a:latin typeface="Arial"/>
                <a:cs typeface="Arial"/>
              </a:rPr>
              <a:t>shareholder </a:t>
            </a:r>
            <a:r>
              <a:rPr dirty="0" sz="1150" spc="-80">
                <a:latin typeface="Arial"/>
                <a:cs typeface="Arial"/>
              </a:rPr>
              <a:t>pays </a:t>
            </a:r>
            <a:r>
              <a:rPr dirty="0" sz="1150" spc="-40">
                <a:latin typeface="Arial"/>
                <a:cs typeface="Arial"/>
              </a:rPr>
              <a:t>tax on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30">
                <a:latin typeface="Arial"/>
                <a:cs typeface="Arial"/>
              </a:rPr>
              <a:t>individual  </a:t>
            </a:r>
            <a:r>
              <a:rPr dirty="0" sz="1150" spc="-45">
                <a:latin typeface="Arial"/>
                <a:cs typeface="Arial"/>
              </a:rPr>
              <a:t>income.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233679" indent="-221615">
              <a:lnSpc>
                <a:spcPct val="100000"/>
              </a:lnSpc>
              <a:buAutoNum type="arabicPeriod" startAt="13"/>
              <a:tabLst>
                <a:tab pos="234315" algn="l"/>
              </a:tabLst>
            </a:pPr>
            <a:r>
              <a:rPr dirty="0" sz="1150" spc="-70" b="1">
                <a:latin typeface="Arial"/>
                <a:cs typeface="Arial"/>
              </a:rPr>
              <a:t>Exploitation</a:t>
            </a:r>
            <a:endParaRPr sz="115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  <a:spcBef>
                <a:spcPts val="5"/>
              </a:spcBef>
            </a:pPr>
            <a:r>
              <a:rPr dirty="0" sz="1150" spc="-45">
                <a:latin typeface="Arial"/>
                <a:cs typeface="Arial"/>
              </a:rPr>
              <a:t>Ordinary </a:t>
            </a:r>
            <a:r>
              <a:rPr dirty="0" sz="1150" spc="-50">
                <a:latin typeface="Arial"/>
                <a:cs typeface="Arial"/>
              </a:rPr>
              <a:t>shareholders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5">
                <a:latin typeface="Arial"/>
                <a:cs typeface="Arial"/>
              </a:rPr>
              <a:t>full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affairs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55">
                <a:latin typeface="Arial"/>
                <a:cs typeface="Arial"/>
              </a:rPr>
              <a:t>company. </a:t>
            </a:r>
            <a:r>
              <a:rPr dirty="0" sz="1150" spc="-105">
                <a:latin typeface="Arial"/>
                <a:cs typeface="Arial"/>
              </a:rPr>
              <a:t>So, 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50">
                <a:latin typeface="Arial"/>
                <a:cs typeface="Arial"/>
              </a:rPr>
              <a:t>are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exploited.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233679" indent="-221615">
              <a:lnSpc>
                <a:spcPct val="100000"/>
              </a:lnSpc>
              <a:buAutoNum type="arabicPeriod" startAt="14"/>
              <a:tabLst>
                <a:tab pos="234315" algn="l"/>
              </a:tabLst>
            </a:pPr>
            <a:r>
              <a:rPr dirty="0" sz="1150" spc="-85" b="1">
                <a:latin typeface="Arial"/>
                <a:cs typeface="Arial"/>
              </a:rPr>
              <a:t>Problem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05" b="1">
                <a:latin typeface="Arial"/>
                <a:cs typeface="Arial"/>
              </a:rPr>
              <a:t>Large-Scale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Production</a:t>
            </a:r>
            <a:endParaRPr sz="11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25"/>
              </a:spcBef>
            </a:pPr>
            <a:r>
              <a:rPr dirty="0" sz="1150" spc="-90">
                <a:latin typeface="Arial"/>
                <a:cs typeface="Arial"/>
              </a:rPr>
              <a:t>Since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55">
                <a:latin typeface="Arial"/>
                <a:cs typeface="Arial"/>
              </a:rPr>
              <a:t>produces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60">
                <a:latin typeface="Arial"/>
                <a:cs typeface="Arial"/>
              </a:rPr>
              <a:t>large-scale,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40">
                <a:latin typeface="Arial"/>
                <a:cs typeface="Arial"/>
              </a:rPr>
              <a:t>problems </a:t>
            </a:r>
            <a:r>
              <a:rPr dirty="0" sz="1150" spc="-55">
                <a:latin typeface="Arial"/>
                <a:cs typeface="Arial"/>
              </a:rPr>
              <a:t>arise </a:t>
            </a:r>
            <a:r>
              <a:rPr dirty="0" sz="1150" spc="-20">
                <a:latin typeface="Arial"/>
                <a:cs typeface="Arial"/>
              </a:rPr>
              <a:t>in the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economy.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algn="just" marL="233679" indent="-221615">
              <a:lnSpc>
                <a:spcPct val="100000"/>
              </a:lnSpc>
              <a:buAutoNum type="arabicPeriod" startAt="15"/>
              <a:tabLst>
                <a:tab pos="234315" algn="l"/>
              </a:tabLst>
            </a:pPr>
            <a:r>
              <a:rPr dirty="0" sz="1150" spc="-75" b="1">
                <a:latin typeface="Arial"/>
                <a:cs typeface="Arial"/>
              </a:rPr>
              <a:t>Nepotism</a:t>
            </a:r>
            <a:endParaRPr sz="115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55">
                <a:latin typeface="Arial"/>
                <a:cs typeface="Arial"/>
              </a:rPr>
              <a:t>company,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directors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40">
                <a:latin typeface="Arial"/>
                <a:cs typeface="Arial"/>
              </a:rPr>
              <a:t>employ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20">
                <a:latin typeface="Arial"/>
                <a:cs typeface="Arial"/>
              </a:rPr>
              <a:t>inefficient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incapable  </a:t>
            </a:r>
            <a:r>
              <a:rPr dirty="0" sz="1150" spc="-40">
                <a:latin typeface="Arial"/>
                <a:cs typeface="Arial"/>
              </a:rPr>
              <a:t>relatives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friends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give key </a:t>
            </a:r>
            <a:r>
              <a:rPr dirty="0" sz="1150" spc="-50">
                <a:latin typeface="Arial"/>
                <a:cs typeface="Arial"/>
              </a:rPr>
              <a:t>jobs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them.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result,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45">
                <a:latin typeface="Arial"/>
                <a:cs typeface="Arial"/>
              </a:rPr>
              <a:t>suffers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loss.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233679" indent="-221615">
              <a:lnSpc>
                <a:spcPct val="100000"/>
              </a:lnSpc>
              <a:buAutoNum type="arabicPeriod" startAt="16"/>
              <a:tabLst>
                <a:tab pos="234315" algn="l"/>
              </a:tabLst>
            </a:pPr>
            <a:r>
              <a:rPr dirty="0" sz="1150" spc="-85" b="1">
                <a:latin typeface="Arial"/>
                <a:cs typeface="Arial"/>
              </a:rPr>
              <a:t>Late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100" b="1">
                <a:latin typeface="Arial"/>
                <a:cs typeface="Arial"/>
              </a:rPr>
              <a:t>Decision</a:t>
            </a:r>
            <a:endParaRPr sz="115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45">
                <a:latin typeface="Arial"/>
                <a:cs typeface="Arial"/>
              </a:rPr>
              <a:t>stock </a:t>
            </a:r>
            <a:r>
              <a:rPr dirty="0" sz="1150" spc="-55">
                <a:latin typeface="Arial"/>
                <a:cs typeface="Arial"/>
              </a:rPr>
              <a:t>company,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decision </a:t>
            </a:r>
            <a:r>
              <a:rPr dirty="0" sz="1150" spc="-55">
                <a:latin typeface="Arial"/>
                <a:cs typeface="Arial"/>
              </a:rPr>
              <a:t>making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0">
                <a:latin typeface="Arial"/>
                <a:cs typeface="Arial"/>
              </a:rPr>
              <a:t>time </a:t>
            </a:r>
            <a:r>
              <a:rPr dirty="0" sz="1150" spc="-55">
                <a:latin typeface="Arial"/>
                <a:cs typeface="Arial"/>
              </a:rPr>
              <a:t>consuming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meeting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75">
                <a:latin typeface="Arial"/>
                <a:cs typeface="Arial"/>
              </a:rPr>
              <a:t>necessary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solve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5">
                <a:latin typeface="Arial"/>
                <a:cs typeface="Arial"/>
              </a:rPr>
              <a:t>problems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matters.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55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4658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60" b="1">
                <a:latin typeface="Arial"/>
                <a:cs typeface="Arial"/>
              </a:rPr>
              <a:t>DIFFERENCE </a:t>
            </a:r>
            <a:r>
              <a:rPr dirty="0" sz="1150" spc="-155" b="1">
                <a:latin typeface="Arial"/>
                <a:cs typeface="Arial"/>
              </a:rPr>
              <a:t>BETWEEN </a:t>
            </a:r>
            <a:r>
              <a:rPr dirty="0" sz="1150" spc="-150" b="1">
                <a:latin typeface="Arial"/>
                <a:cs typeface="Arial"/>
              </a:rPr>
              <a:t>PUBLIC </a:t>
            </a:r>
            <a:r>
              <a:rPr dirty="0" sz="1150" spc="-95" b="1">
                <a:latin typeface="Arial"/>
                <a:cs typeface="Arial"/>
              </a:rPr>
              <a:t>LIMITED </a:t>
            </a:r>
            <a:r>
              <a:rPr dirty="0" sz="1150" spc="-125" b="1">
                <a:latin typeface="Arial"/>
                <a:cs typeface="Arial"/>
              </a:rPr>
              <a:t>COMPANY </a:t>
            </a:r>
            <a:r>
              <a:rPr dirty="0" sz="1150" spc="-110" b="1">
                <a:latin typeface="Arial"/>
                <a:cs typeface="Arial"/>
              </a:rPr>
              <a:t>AND </a:t>
            </a:r>
            <a:r>
              <a:rPr dirty="0" sz="1150" spc="-135" b="1">
                <a:latin typeface="Arial"/>
                <a:cs typeface="Arial"/>
              </a:rPr>
              <a:t>PRIVATE </a:t>
            </a:r>
            <a:r>
              <a:rPr dirty="0" sz="1150" spc="-95" b="1">
                <a:latin typeface="Arial"/>
                <a:cs typeface="Arial"/>
              </a:rPr>
              <a:t>LIMITED</a:t>
            </a:r>
            <a:r>
              <a:rPr dirty="0" sz="1150" spc="-40" b="1">
                <a:latin typeface="Arial"/>
                <a:cs typeface="Arial"/>
              </a:rPr>
              <a:t> </a:t>
            </a:r>
            <a:r>
              <a:rPr dirty="0" sz="1150" spc="-120" b="1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Times New Roman"/>
              <a:buAutoNum type="arabicPeriod"/>
              <a:tabLst>
                <a:tab pos="469900" algn="l"/>
              </a:tabLst>
            </a:pPr>
            <a:r>
              <a:rPr dirty="0" sz="1150" spc="-4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members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public </a:t>
            </a:r>
            <a:r>
              <a:rPr dirty="0" sz="1150" spc="-10">
                <a:latin typeface="Arial"/>
                <a:cs typeface="Arial"/>
              </a:rPr>
              <a:t>limited </a:t>
            </a:r>
            <a:r>
              <a:rPr dirty="0" sz="1150" spc="-55">
                <a:latin typeface="Arial"/>
                <a:cs typeface="Arial"/>
              </a:rPr>
              <a:t>company, </a:t>
            </a:r>
            <a:r>
              <a:rPr dirty="0" sz="1150" spc="-30">
                <a:latin typeface="Arial"/>
                <a:cs typeface="Arial"/>
              </a:rPr>
              <a:t>minimum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members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three.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0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private </a:t>
            </a:r>
            <a:r>
              <a:rPr dirty="0" sz="1150" spc="-10">
                <a:latin typeface="Arial"/>
                <a:cs typeface="Arial"/>
              </a:rPr>
              <a:t>limited </a:t>
            </a:r>
            <a:r>
              <a:rPr dirty="0" sz="1150" spc="-55">
                <a:latin typeface="Arial"/>
                <a:cs typeface="Arial"/>
              </a:rPr>
              <a:t>company, </a:t>
            </a:r>
            <a:r>
              <a:rPr dirty="0" sz="1150" spc="-30">
                <a:latin typeface="Arial"/>
                <a:cs typeface="Arial"/>
              </a:rPr>
              <a:t>minimum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members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one.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dirty="0" sz="1150" spc="-80">
                <a:latin typeface="Arial"/>
                <a:cs typeface="Arial"/>
              </a:rPr>
              <a:t>Issue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shares</a:t>
            </a:r>
            <a:endParaRPr sz="1150">
              <a:latin typeface="Arial"/>
              <a:cs typeface="Arial"/>
            </a:endParaRPr>
          </a:p>
          <a:p>
            <a:pPr lvl="1" marL="926465" marR="5715" indent="-228600">
              <a:lnSpc>
                <a:spcPct val="101699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50" spc="-60">
                <a:latin typeface="Arial"/>
                <a:cs typeface="Arial"/>
              </a:rPr>
              <a:t>Public </a:t>
            </a:r>
            <a:r>
              <a:rPr dirty="0" sz="1150" spc="-10">
                <a:latin typeface="Arial"/>
                <a:cs typeface="Arial"/>
              </a:rPr>
              <a:t>limited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bound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promote </a:t>
            </a:r>
            <a:r>
              <a:rPr dirty="0" sz="1150" spc="-75">
                <a:latin typeface="Arial"/>
                <a:cs typeface="Arial"/>
              </a:rPr>
              <a:t>issue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general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public  </a:t>
            </a:r>
            <a:r>
              <a:rPr dirty="0" sz="1150" spc="-25">
                <a:latin typeface="Arial"/>
                <a:cs typeface="Arial"/>
              </a:rPr>
              <a:t>through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media.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65">
                <a:latin typeface="Arial"/>
                <a:cs typeface="Arial"/>
              </a:rPr>
              <a:t>There is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35">
                <a:latin typeface="Arial"/>
                <a:cs typeface="Arial"/>
              </a:rPr>
              <a:t>provision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private </a:t>
            </a:r>
            <a:r>
              <a:rPr dirty="0" sz="1150" spc="-10">
                <a:latin typeface="Arial"/>
                <a:cs typeface="Arial"/>
              </a:rPr>
              <a:t>limited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company.</a:t>
            </a:r>
            <a:endParaRPr sz="1150">
              <a:latin typeface="Arial"/>
              <a:cs typeface="Arial"/>
            </a:endParaRPr>
          </a:p>
          <a:p>
            <a:pPr marL="454025" indent="-210820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454659" algn="l"/>
              </a:tabLst>
            </a:pPr>
            <a:r>
              <a:rPr dirty="0" sz="1150" spc="-75">
                <a:latin typeface="Arial"/>
                <a:cs typeface="Arial"/>
              </a:rPr>
              <a:t>Name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60">
                <a:latin typeface="Arial"/>
                <a:cs typeface="Arial"/>
              </a:rPr>
              <a:t>Public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limited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companies </a:t>
            </a:r>
            <a:r>
              <a:rPr dirty="0" sz="1150" spc="-55">
                <a:latin typeface="Arial"/>
                <a:cs typeface="Arial"/>
              </a:rPr>
              <a:t>add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word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“Ltd.”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with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their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name.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0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45">
                <a:latin typeface="Arial"/>
                <a:cs typeface="Arial"/>
              </a:rPr>
              <a:t>Private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limited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companies </a:t>
            </a:r>
            <a:r>
              <a:rPr dirty="0" sz="1150" spc="-55">
                <a:latin typeface="Arial"/>
                <a:cs typeface="Arial"/>
              </a:rPr>
              <a:t>add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word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“(Pvt)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Ltd.”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with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name.</a:t>
            </a:r>
            <a:endParaRPr sz="1150">
              <a:latin typeface="Arial"/>
              <a:cs typeface="Arial"/>
            </a:endParaRPr>
          </a:p>
          <a:p>
            <a:pPr marL="388620" indent="-14541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389255" algn="l"/>
              </a:tabLst>
            </a:pPr>
            <a:r>
              <a:rPr dirty="0" sz="1150" spc="-50">
                <a:latin typeface="Arial"/>
                <a:cs typeface="Arial"/>
              </a:rPr>
              <a:t>Annual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report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60">
                <a:latin typeface="Arial"/>
                <a:cs typeface="Arial"/>
              </a:rPr>
              <a:t>Public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limited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companies </a:t>
            </a:r>
            <a:r>
              <a:rPr dirty="0" sz="1150" spc="-65">
                <a:latin typeface="Arial"/>
                <a:cs typeface="Arial"/>
              </a:rPr>
              <a:t>have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present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data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general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public.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65">
                <a:latin typeface="Arial"/>
                <a:cs typeface="Arial"/>
              </a:rPr>
              <a:t>There is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35">
                <a:latin typeface="Arial"/>
                <a:cs typeface="Arial"/>
              </a:rPr>
              <a:t>provision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private </a:t>
            </a:r>
            <a:r>
              <a:rPr dirty="0" sz="1150" spc="-10">
                <a:latin typeface="Arial"/>
                <a:cs typeface="Arial"/>
              </a:rPr>
              <a:t>limited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company.</a:t>
            </a:r>
            <a:endParaRPr sz="1150">
              <a:latin typeface="Arial"/>
              <a:cs typeface="Arial"/>
            </a:endParaRPr>
          </a:p>
          <a:p>
            <a:pPr marL="354965" indent="-143510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355600" algn="l"/>
              </a:tabLst>
            </a:pPr>
            <a:r>
              <a:rPr dirty="0" sz="1150" spc="-55">
                <a:latin typeface="Arial"/>
                <a:cs typeface="Arial"/>
              </a:rPr>
              <a:t>Transfer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shares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20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easy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transfer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public </a:t>
            </a:r>
            <a:r>
              <a:rPr dirty="0" sz="1150" spc="-10">
                <a:latin typeface="Arial"/>
                <a:cs typeface="Arial"/>
              </a:rPr>
              <a:t>limited </a:t>
            </a:r>
            <a:r>
              <a:rPr dirty="0" sz="1150" spc="-55">
                <a:latin typeface="Arial"/>
                <a:cs typeface="Arial"/>
              </a:rPr>
              <a:t>companies.</a:t>
            </a:r>
            <a:endParaRPr sz="1150">
              <a:latin typeface="Arial"/>
              <a:cs typeface="Arial"/>
            </a:endParaRPr>
          </a:p>
          <a:p>
            <a:pPr lvl="1" marL="926465" marR="5080" indent="-228600">
              <a:lnSpc>
                <a:spcPct val="101699"/>
              </a:lnSpc>
              <a:spcBef>
                <a:spcPts val="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private </a:t>
            </a:r>
            <a:r>
              <a:rPr dirty="0" sz="1150" spc="-10">
                <a:latin typeface="Arial"/>
                <a:cs typeface="Arial"/>
              </a:rPr>
              <a:t>limited </a:t>
            </a:r>
            <a:r>
              <a:rPr dirty="0" sz="1150" spc="-55">
                <a:latin typeface="Arial"/>
                <a:cs typeface="Arial"/>
              </a:rPr>
              <a:t>company, </a:t>
            </a:r>
            <a:r>
              <a:rPr dirty="0" sz="1150" spc="-45">
                <a:latin typeface="Arial"/>
                <a:cs typeface="Arial"/>
              </a:rPr>
              <a:t>shareholder </a:t>
            </a:r>
            <a:r>
              <a:rPr dirty="0" sz="1150" spc="-40">
                <a:latin typeface="Arial"/>
                <a:cs typeface="Arial"/>
              </a:rPr>
              <a:t>cannot </a:t>
            </a:r>
            <a:r>
              <a:rPr dirty="0" sz="1150" spc="-25">
                <a:latin typeface="Arial"/>
                <a:cs typeface="Arial"/>
              </a:rPr>
              <a:t>transfer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>
                <a:latin typeface="Arial"/>
                <a:cs typeface="Arial"/>
              </a:rPr>
              <a:t>without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consent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members.</a:t>
            </a:r>
            <a:endParaRPr sz="1150">
              <a:latin typeface="Arial"/>
              <a:cs typeface="Arial"/>
            </a:endParaRPr>
          </a:p>
          <a:p>
            <a:pPr marL="354965" indent="-143510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355600" algn="l"/>
              </a:tabLst>
            </a:pPr>
            <a:r>
              <a:rPr dirty="0" sz="1150" spc="-30">
                <a:latin typeface="Arial"/>
                <a:cs typeface="Arial"/>
              </a:rPr>
              <a:t>Statutory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meeting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15">
                <a:latin typeface="Arial"/>
                <a:cs typeface="Arial"/>
              </a:rPr>
              <a:t>It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obligatory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public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limited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hold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statutory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meeting.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65">
                <a:latin typeface="Arial"/>
                <a:cs typeface="Arial"/>
              </a:rPr>
              <a:t>There is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30">
                <a:latin typeface="Arial"/>
                <a:cs typeface="Arial"/>
              </a:rPr>
              <a:t>obligation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15">
                <a:latin typeface="Arial"/>
                <a:cs typeface="Arial"/>
              </a:rPr>
              <a:t>privet </a:t>
            </a:r>
            <a:r>
              <a:rPr dirty="0" sz="1150" spc="-10">
                <a:latin typeface="Arial"/>
                <a:cs typeface="Arial"/>
              </a:rPr>
              <a:t>limited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 marL="354965" indent="-143510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355600" algn="l"/>
              </a:tabLst>
            </a:pPr>
            <a:r>
              <a:rPr dirty="0" sz="1150" spc="-70">
                <a:latin typeface="Arial"/>
                <a:cs typeface="Arial"/>
              </a:rPr>
              <a:t>Submission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annual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report</a:t>
            </a:r>
            <a:endParaRPr sz="1150">
              <a:latin typeface="Arial"/>
              <a:cs typeface="Arial"/>
            </a:endParaRPr>
          </a:p>
          <a:p>
            <a:pPr lvl="1" marL="926465" marR="6350" indent="-228600">
              <a:lnSpc>
                <a:spcPct val="101699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50" spc="15">
                <a:latin typeface="Arial"/>
                <a:cs typeface="Arial"/>
              </a:rPr>
              <a:t>It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obligatory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the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public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limited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companies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15">
                <a:latin typeface="Arial"/>
                <a:cs typeface="Arial"/>
              </a:rPr>
              <a:t>to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submit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annual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report 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registrar </a:t>
            </a:r>
            <a:r>
              <a:rPr dirty="0" sz="1150" spc="-45">
                <a:latin typeface="Arial"/>
                <a:cs typeface="Arial"/>
              </a:rPr>
              <a:t>Corporate </a:t>
            </a:r>
            <a:r>
              <a:rPr dirty="0" sz="1150" spc="-95">
                <a:latin typeface="Arial"/>
                <a:cs typeface="Arial"/>
              </a:rPr>
              <a:t>Law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Authority.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15">
                <a:latin typeface="Arial"/>
                <a:cs typeface="Arial"/>
              </a:rPr>
              <a:t>It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75">
                <a:latin typeface="Arial"/>
                <a:cs typeface="Arial"/>
              </a:rPr>
              <a:t>necessary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private </a:t>
            </a:r>
            <a:r>
              <a:rPr dirty="0" sz="1150" spc="-10">
                <a:latin typeface="Arial"/>
                <a:cs typeface="Arial"/>
              </a:rPr>
              <a:t>limited </a:t>
            </a:r>
            <a:r>
              <a:rPr dirty="0" sz="1150" spc="-55">
                <a:latin typeface="Arial"/>
                <a:cs typeface="Arial"/>
              </a:rPr>
              <a:t>company.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56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787834" y="1069343"/>
            <a:ext cx="3853815" cy="563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6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750" spc="-185" b="1">
                <a:latin typeface="Arial"/>
                <a:cs typeface="Arial"/>
              </a:rPr>
              <a:t>JOINT </a:t>
            </a:r>
            <a:r>
              <a:rPr dirty="0" sz="1750" spc="-275" b="1">
                <a:latin typeface="Arial"/>
                <a:cs typeface="Arial"/>
              </a:rPr>
              <a:t>STOCK</a:t>
            </a:r>
            <a:r>
              <a:rPr dirty="0" sz="1750" spc="-215" b="1">
                <a:latin typeface="Arial"/>
                <a:cs typeface="Arial"/>
              </a:rPr>
              <a:t> </a:t>
            </a:r>
            <a:r>
              <a:rPr dirty="0" sz="1750" spc="-180" b="1">
                <a:latin typeface="Arial"/>
                <a:cs typeface="Arial"/>
              </a:rPr>
              <a:t>COMPANY</a:t>
            </a:r>
            <a:endParaRPr sz="17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0223" y="1791719"/>
            <a:ext cx="5513705" cy="537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20" b="1">
                <a:latin typeface="Arial"/>
                <a:cs typeface="Arial"/>
              </a:rPr>
              <a:t>JOINT </a:t>
            </a:r>
            <a:r>
              <a:rPr dirty="0" sz="1150" spc="-185" b="1">
                <a:latin typeface="Arial"/>
                <a:cs typeface="Arial"/>
              </a:rPr>
              <a:t>STOCK</a:t>
            </a:r>
            <a:r>
              <a:rPr dirty="0" sz="1150" spc="-140" b="1">
                <a:latin typeface="Arial"/>
                <a:cs typeface="Arial"/>
              </a:rPr>
              <a:t> </a:t>
            </a:r>
            <a:r>
              <a:rPr dirty="0" sz="1150" spc="-120" b="1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Joint </a:t>
            </a:r>
            <a:r>
              <a:rPr dirty="0" sz="1150" spc="-70">
                <a:latin typeface="Arial"/>
                <a:cs typeface="Arial"/>
              </a:rPr>
              <a:t>Stock </a:t>
            </a:r>
            <a:r>
              <a:rPr dirty="0" sz="1150" spc="-75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>
                <a:latin typeface="Arial"/>
                <a:cs typeface="Arial"/>
              </a:rPr>
              <a:t>third </a:t>
            </a:r>
            <a:r>
              <a:rPr dirty="0" sz="1150" spc="-25">
                <a:latin typeface="Arial"/>
                <a:cs typeface="Arial"/>
              </a:rPr>
              <a:t>major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20">
                <a:latin typeface="Arial"/>
                <a:cs typeface="Arial"/>
              </a:rPr>
              <a:t>entirely 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40">
                <a:latin typeface="Arial"/>
                <a:cs typeface="Arial"/>
              </a:rPr>
              <a:t>organizational </a:t>
            </a:r>
            <a:r>
              <a:rPr dirty="0" sz="1150" spc="-25">
                <a:latin typeface="Arial"/>
                <a:cs typeface="Arial"/>
              </a:rPr>
              <a:t>structure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partnership. </a:t>
            </a: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5">
                <a:latin typeface="Arial"/>
                <a:cs typeface="Arial"/>
              </a:rPr>
              <a:t>two  </a:t>
            </a:r>
            <a:r>
              <a:rPr dirty="0" sz="1150" spc="-65">
                <a:latin typeface="Arial"/>
                <a:cs typeface="Arial"/>
              </a:rPr>
              <a:t>advantages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Joint </a:t>
            </a:r>
            <a:r>
              <a:rPr dirty="0" sz="1150" spc="-75">
                <a:latin typeface="Arial"/>
                <a:cs typeface="Arial"/>
              </a:rPr>
              <a:t>Stock </a:t>
            </a:r>
            <a:r>
              <a:rPr dirty="0" sz="1150" spc="-70">
                <a:latin typeface="Arial"/>
                <a:cs typeface="Arial"/>
              </a:rPr>
              <a:t>Company. </a:t>
            </a:r>
            <a:r>
              <a:rPr dirty="0" sz="1150" spc="-45">
                <a:latin typeface="Arial"/>
                <a:cs typeface="Arial"/>
              </a:rPr>
              <a:t>First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55">
                <a:latin typeface="Arial"/>
                <a:cs typeface="Arial"/>
              </a:rPr>
              <a:t>enjoys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advantage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increased </a:t>
            </a:r>
            <a:r>
              <a:rPr dirty="0" sz="1150" spc="-35">
                <a:latin typeface="Arial"/>
                <a:cs typeface="Arial"/>
              </a:rPr>
              <a:t>capital.  </a:t>
            </a:r>
            <a:r>
              <a:rPr dirty="0" sz="1150" spc="-70">
                <a:latin typeface="Arial"/>
                <a:cs typeface="Arial"/>
              </a:rPr>
              <a:t>Secondly,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company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offers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protection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limited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liability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investors.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law </a:t>
            </a:r>
            <a:r>
              <a:rPr dirty="0" sz="1150" spc="-30">
                <a:latin typeface="Arial"/>
                <a:cs typeface="Arial"/>
              </a:rPr>
              <a:t>relating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Joint </a:t>
            </a:r>
            <a:r>
              <a:rPr dirty="0" sz="1150" spc="-70">
                <a:latin typeface="Arial"/>
                <a:cs typeface="Arial"/>
              </a:rPr>
              <a:t>Stock </a:t>
            </a:r>
            <a:r>
              <a:rPr dirty="0" sz="1150" spc="-75">
                <a:latin typeface="Arial"/>
                <a:cs typeface="Arial"/>
              </a:rPr>
              <a:t>Company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5">
                <a:latin typeface="Arial"/>
                <a:cs typeface="Arial"/>
              </a:rPr>
              <a:t>been </a:t>
            </a:r>
            <a:r>
              <a:rPr dirty="0" sz="1150" spc="-35">
                <a:latin typeface="Arial"/>
                <a:cs typeface="Arial"/>
              </a:rPr>
              <a:t>laid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75">
                <a:latin typeface="Arial"/>
                <a:cs typeface="Arial"/>
              </a:rPr>
              <a:t>Companies </a:t>
            </a:r>
            <a:r>
              <a:rPr dirty="0" sz="1150" spc="-55">
                <a:latin typeface="Arial"/>
                <a:cs typeface="Arial"/>
              </a:rPr>
              <a:t>Ordinance, 1984, </a:t>
            </a:r>
            <a:r>
              <a:rPr dirty="0" sz="1150" spc="-35">
                <a:latin typeface="Arial"/>
                <a:cs typeface="Arial"/>
              </a:rPr>
              <a:t>which  </a:t>
            </a:r>
            <a:r>
              <a:rPr dirty="0" sz="1150" spc="-70">
                <a:latin typeface="Arial"/>
                <a:cs typeface="Arial"/>
              </a:rPr>
              <a:t>came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35">
                <a:latin typeface="Arial"/>
                <a:cs typeface="Arial"/>
              </a:rPr>
              <a:t>force on </a:t>
            </a:r>
            <a:r>
              <a:rPr dirty="0" sz="1150" spc="-75">
                <a:latin typeface="Arial"/>
                <a:cs typeface="Arial"/>
              </a:rPr>
              <a:t>January </a:t>
            </a:r>
            <a:r>
              <a:rPr dirty="0" sz="1150" spc="-45">
                <a:latin typeface="Arial"/>
                <a:cs typeface="Arial"/>
              </a:rPr>
              <a:t>1, </a:t>
            </a:r>
            <a:r>
              <a:rPr dirty="0" sz="1150" spc="-60">
                <a:latin typeface="Arial"/>
                <a:cs typeface="Arial"/>
              </a:rPr>
              <a:t>1985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Pakistan.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05" b="1">
                <a:latin typeface="Arial"/>
                <a:cs typeface="Arial"/>
              </a:rPr>
              <a:t>DEFINITIONS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45">
                <a:latin typeface="Arial"/>
                <a:cs typeface="Arial"/>
              </a:rPr>
              <a:t>Following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15">
                <a:latin typeface="Arial"/>
                <a:cs typeface="Arial"/>
              </a:rPr>
              <a:t>important definition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Joint </a:t>
            </a:r>
            <a:r>
              <a:rPr dirty="0" sz="1150" spc="-75">
                <a:latin typeface="Arial"/>
                <a:cs typeface="Arial"/>
              </a:rPr>
              <a:t>Stock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Company:</a:t>
            </a:r>
            <a:endParaRPr sz="1150">
              <a:latin typeface="Arial"/>
              <a:cs typeface="Arial"/>
            </a:endParaRPr>
          </a:p>
          <a:p>
            <a:pPr marL="156845" indent="-144780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157480" algn="l"/>
              </a:tabLst>
            </a:pPr>
            <a:r>
              <a:rPr dirty="0" sz="1150" spc="-65">
                <a:latin typeface="Arial"/>
                <a:cs typeface="Arial"/>
              </a:rPr>
              <a:t>Simple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Definition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150" spc="-5">
                <a:latin typeface="Arial"/>
                <a:cs typeface="Arial"/>
              </a:rPr>
              <a:t>“A </a:t>
            </a:r>
            <a:r>
              <a:rPr dirty="0" sz="1150" spc="-60">
                <a:latin typeface="Arial"/>
                <a:cs typeface="Arial"/>
              </a:rPr>
              <a:t>company 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5">
                <a:latin typeface="Arial"/>
                <a:cs typeface="Arial"/>
              </a:rPr>
              <a:t>defined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55">
                <a:latin typeface="Arial"/>
                <a:cs typeface="Arial"/>
              </a:rPr>
              <a:t>association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purpose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making </a:t>
            </a:r>
            <a:r>
              <a:rPr dirty="0" sz="1150" spc="10">
                <a:latin typeface="Arial"/>
                <a:cs typeface="Arial"/>
              </a:rPr>
              <a:t>profit.”</a:t>
            </a:r>
            <a:endParaRPr sz="1150">
              <a:latin typeface="Arial"/>
              <a:cs typeface="Arial"/>
            </a:endParaRPr>
          </a:p>
          <a:p>
            <a:pPr marL="156845" indent="-144780">
              <a:lnSpc>
                <a:spcPct val="100000"/>
              </a:lnSpc>
              <a:spcBef>
                <a:spcPts val="25"/>
              </a:spcBef>
              <a:buAutoNum type="arabicPeriod" startAt="2"/>
              <a:tabLst>
                <a:tab pos="157480" algn="l"/>
              </a:tabLst>
            </a:pPr>
            <a:r>
              <a:rPr dirty="0" sz="1150" spc="-55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Kimball,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5">
                <a:latin typeface="Arial"/>
                <a:cs typeface="Arial"/>
              </a:rPr>
              <a:t>“A </a:t>
            </a:r>
            <a:r>
              <a:rPr dirty="0" sz="1150" spc="-25">
                <a:latin typeface="Arial"/>
                <a:cs typeface="Arial"/>
              </a:rPr>
              <a:t>corporation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0">
                <a:latin typeface="Arial"/>
                <a:cs typeface="Arial"/>
              </a:rPr>
              <a:t>nature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15">
                <a:latin typeface="Arial"/>
                <a:cs typeface="Arial"/>
              </a:rPr>
              <a:t>artificial </a:t>
            </a:r>
            <a:r>
              <a:rPr dirty="0" sz="1150" spc="-50">
                <a:latin typeface="Arial"/>
                <a:cs typeface="Arial"/>
              </a:rPr>
              <a:t>person, </a:t>
            </a:r>
            <a:r>
              <a:rPr dirty="0" sz="1150" spc="-40">
                <a:latin typeface="Arial"/>
                <a:cs typeface="Arial"/>
              </a:rPr>
              <a:t>created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authorized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legal </a:t>
            </a:r>
            <a:r>
              <a:rPr dirty="0" sz="1150" spc="-35">
                <a:latin typeface="Arial"/>
                <a:cs typeface="Arial"/>
              </a:rPr>
              <a:t>statue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50">
                <a:latin typeface="Arial"/>
                <a:cs typeface="Arial"/>
              </a:rPr>
              <a:t>specific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purpose.”</a:t>
            </a:r>
            <a:endParaRPr sz="1150">
              <a:latin typeface="Arial"/>
              <a:cs typeface="Arial"/>
            </a:endParaRPr>
          </a:p>
          <a:p>
            <a:pPr marL="156845" indent="-144780">
              <a:lnSpc>
                <a:spcPct val="100000"/>
              </a:lnSpc>
              <a:spcBef>
                <a:spcPts val="25"/>
              </a:spcBef>
              <a:buAutoNum type="arabicPeriod" startAt="3"/>
              <a:tabLst>
                <a:tab pos="157480" algn="l"/>
              </a:tabLst>
            </a:pPr>
            <a:r>
              <a:rPr dirty="0" sz="1150" spc="-55">
                <a:latin typeface="Arial"/>
                <a:cs typeface="Arial"/>
              </a:rPr>
              <a:t>According </a:t>
            </a:r>
            <a:r>
              <a:rPr dirty="0" sz="1150" spc="-35">
                <a:latin typeface="Arial"/>
                <a:cs typeface="Arial"/>
              </a:rPr>
              <a:t>o </a:t>
            </a:r>
            <a:r>
              <a:rPr dirty="0" sz="1150" spc="-130">
                <a:latin typeface="Arial"/>
                <a:cs typeface="Arial"/>
              </a:rPr>
              <a:t>S.E.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Thomas,</a:t>
            </a:r>
            <a:endParaRPr sz="1150">
              <a:latin typeface="Arial"/>
              <a:cs typeface="Arial"/>
            </a:endParaRPr>
          </a:p>
          <a:p>
            <a:pPr marL="12700" marR="8255">
              <a:lnSpc>
                <a:spcPct val="101699"/>
              </a:lnSpc>
            </a:pPr>
            <a:r>
              <a:rPr dirty="0" sz="1150" spc="-5">
                <a:latin typeface="Arial"/>
                <a:cs typeface="Arial"/>
              </a:rPr>
              <a:t>“A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30">
                <a:latin typeface="Arial"/>
                <a:cs typeface="Arial"/>
              </a:rPr>
              <a:t>incorporated </a:t>
            </a:r>
            <a:r>
              <a:rPr dirty="0" sz="1150" spc="-55">
                <a:latin typeface="Arial"/>
                <a:cs typeface="Arial"/>
              </a:rPr>
              <a:t>association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-25">
                <a:latin typeface="Arial"/>
                <a:cs typeface="Arial"/>
              </a:rPr>
              <a:t>formed </a:t>
            </a:r>
            <a:r>
              <a:rPr dirty="0" sz="1150" spc="-50">
                <a:latin typeface="Arial"/>
                <a:cs typeface="Arial"/>
              </a:rPr>
              <a:t>usually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pursuit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45">
                <a:latin typeface="Arial"/>
                <a:cs typeface="Arial"/>
              </a:rPr>
              <a:t>commercial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purpose.”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65" b="1">
                <a:latin typeface="Arial"/>
                <a:cs typeface="Arial"/>
              </a:rPr>
              <a:t>PROCEDURE </a:t>
            </a:r>
            <a:r>
              <a:rPr dirty="0" sz="1150" spc="-150" b="1">
                <a:latin typeface="Arial"/>
                <a:cs typeface="Arial"/>
              </a:rPr>
              <a:t>OF </a:t>
            </a:r>
            <a:r>
              <a:rPr dirty="0" sz="1150" spc="-105" b="1">
                <a:latin typeface="Arial"/>
                <a:cs typeface="Arial"/>
              </a:rPr>
              <a:t>FORMATION </a:t>
            </a:r>
            <a:r>
              <a:rPr dirty="0" sz="1150" spc="-150" b="1">
                <a:latin typeface="Arial"/>
                <a:cs typeface="Arial"/>
              </a:rPr>
              <a:t>OF </a:t>
            </a:r>
            <a:r>
              <a:rPr dirty="0" sz="1150" spc="-135" b="1">
                <a:latin typeface="Arial"/>
                <a:cs typeface="Arial"/>
              </a:rPr>
              <a:t>A </a:t>
            </a:r>
            <a:r>
              <a:rPr dirty="0" sz="1150" spc="-125" b="1">
                <a:latin typeface="Arial"/>
                <a:cs typeface="Arial"/>
              </a:rPr>
              <a:t>JOINT </a:t>
            </a:r>
            <a:r>
              <a:rPr dirty="0" sz="1150" spc="-185" b="1">
                <a:latin typeface="Arial"/>
                <a:cs typeface="Arial"/>
              </a:rPr>
              <a:t>STOCK </a:t>
            </a:r>
            <a:r>
              <a:rPr dirty="0" sz="1150" spc="-125" b="1">
                <a:latin typeface="Arial"/>
                <a:cs typeface="Arial"/>
              </a:rPr>
              <a:t>COMPANY </a:t>
            </a:r>
            <a:r>
              <a:rPr dirty="0" sz="1150" spc="-45" b="1">
                <a:latin typeface="Arial"/>
                <a:cs typeface="Arial"/>
              </a:rPr>
              <a:t>IN</a:t>
            </a:r>
            <a:r>
              <a:rPr dirty="0" sz="1150" spc="-195" b="1">
                <a:latin typeface="Arial"/>
                <a:cs typeface="Arial"/>
              </a:rPr>
              <a:t> </a:t>
            </a:r>
            <a:r>
              <a:rPr dirty="0" sz="1150" spc="-140" b="1">
                <a:latin typeface="Arial"/>
                <a:cs typeface="Arial"/>
              </a:rPr>
              <a:t>PAKISTAN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Joint </a:t>
            </a:r>
            <a:r>
              <a:rPr dirty="0" sz="1150" spc="-70">
                <a:latin typeface="Arial"/>
                <a:cs typeface="Arial"/>
              </a:rPr>
              <a:t>Stock </a:t>
            </a:r>
            <a:r>
              <a:rPr dirty="0" sz="1150" spc="-75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>
                <a:latin typeface="Arial"/>
                <a:cs typeface="Arial"/>
              </a:rPr>
              <a:t>third </a:t>
            </a:r>
            <a:r>
              <a:rPr dirty="0" sz="1150" spc="-25">
                <a:latin typeface="Arial"/>
                <a:cs typeface="Arial"/>
              </a:rPr>
              <a:t>major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20">
                <a:latin typeface="Arial"/>
                <a:cs typeface="Arial"/>
              </a:rPr>
              <a:t>entirely 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40">
                <a:latin typeface="Arial"/>
                <a:cs typeface="Arial"/>
              </a:rPr>
              <a:t>organizational </a:t>
            </a:r>
            <a:r>
              <a:rPr dirty="0" sz="1150" spc="-25">
                <a:latin typeface="Arial"/>
                <a:cs typeface="Arial"/>
              </a:rPr>
              <a:t>structure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partnership. </a:t>
            </a: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5">
                <a:latin typeface="Arial"/>
                <a:cs typeface="Arial"/>
              </a:rPr>
              <a:t>two  </a:t>
            </a:r>
            <a:r>
              <a:rPr dirty="0" sz="1150" spc="-65">
                <a:latin typeface="Arial"/>
                <a:cs typeface="Arial"/>
              </a:rPr>
              <a:t>advantages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Joint </a:t>
            </a:r>
            <a:r>
              <a:rPr dirty="0" sz="1150" spc="-75">
                <a:latin typeface="Arial"/>
                <a:cs typeface="Arial"/>
              </a:rPr>
              <a:t>Stock </a:t>
            </a:r>
            <a:r>
              <a:rPr dirty="0" sz="1150" spc="-70">
                <a:latin typeface="Arial"/>
                <a:cs typeface="Arial"/>
              </a:rPr>
              <a:t>Company. </a:t>
            </a:r>
            <a:r>
              <a:rPr dirty="0" sz="1150" spc="-45">
                <a:latin typeface="Arial"/>
                <a:cs typeface="Arial"/>
              </a:rPr>
              <a:t>First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55">
                <a:latin typeface="Arial"/>
                <a:cs typeface="Arial"/>
              </a:rPr>
              <a:t>enjoys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advantage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increased </a:t>
            </a:r>
            <a:r>
              <a:rPr dirty="0" sz="1150" spc="-35">
                <a:latin typeface="Arial"/>
                <a:cs typeface="Arial"/>
              </a:rPr>
              <a:t>capital.  </a:t>
            </a:r>
            <a:r>
              <a:rPr dirty="0" sz="1150" spc="-70">
                <a:latin typeface="Arial"/>
                <a:cs typeface="Arial"/>
              </a:rPr>
              <a:t>Secondary,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company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offers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protection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limited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liability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investors.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law </a:t>
            </a:r>
            <a:r>
              <a:rPr dirty="0" sz="1150" spc="-30">
                <a:latin typeface="Arial"/>
                <a:cs typeface="Arial"/>
              </a:rPr>
              <a:t>relating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Joint </a:t>
            </a:r>
            <a:r>
              <a:rPr dirty="0" sz="1150" spc="-70">
                <a:latin typeface="Arial"/>
                <a:cs typeface="Arial"/>
              </a:rPr>
              <a:t>Stock </a:t>
            </a:r>
            <a:r>
              <a:rPr dirty="0" sz="1150" spc="-75">
                <a:latin typeface="Arial"/>
                <a:cs typeface="Arial"/>
              </a:rPr>
              <a:t>Company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5">
                <a:latin typeface="Arial"/>
                <a:cs typeface="Arial"/>
              </a:rPr>
              <a:t>been </a:t>
            </a:r>
            <a:r>
              <a:rPr dirty="0" sz="1150" spc="-35">
                <a:latin typeface="Arial"/>
                <a:cs typeface="Arial"/>
              </a:rPr>
              <a:t>laid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75">
                <a:latin typeface="Arial"/>
                <a:cs typeface="Arial"/>
              </a:rPr>
              <a:t>Companies </a:t>
            </a:r>
            <a:r>
              <a:rPr dirty="0" sz="1150" spc="-55">
                <a:latin typeface="Arial"/>
                <a:cs typeface="Arial"/>
              </a:rPr>
              <a:t>Ordinance, 1984, </a:t>
            </a:r>
            <a:r>
              <a:rPr dirty="0" sz="1150" spc="-35">
                <a:latin typeface="Arial"/>
                <a:cs typeface="Arial"/>
              </a:rPr>
              <a:t>which  </a:t>
            </a:r>
            <a:r>
              <a:rPr dirty="0" sz="1150" spc="-70">
                <a:latin typeface="Arial"/>
                <a:cs typeface="Arial"/>
              </a:rPr>
              <a:t>came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35">
                <a:latin typeface="Arial"/>
                <a:cs typeface="Arial"/>
              </a:rPr>
              <a:t>force on </a:t>
            </a:r>
            <a:r>
              <a:rPr dirty="0" sz="1150" spc="-75">
                <a:latin typeface="Arial"/>
                <a:cs typeface="Arial"/>
              </a:rPr>
              <a:t>January </a:t>
            </a:r>
            <a:r>
              <a:rPr dirty="0" sz="1150" spc="-45">
                <a:latin typeface="Arial"/>
                <a:cs typeface="Arial"/>
              </a:rPr>
              <a:t>1, </a:t>
            </a:r>
            <a:r>
              <a:rPr dirty="0" sz="1150" spc="-60">
                <a:latin typeface="Arial"/>
                <a:cs typeface="Arial"/>
              </a:rPr>
              <a:t>1985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Pakistan.</a:t>
            </a:r>
            <a:endParaRPr sz="11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25"/>
              </a:spcBef>
            </a:pPr>
            <a:r>
              <a:rPr dirty="0" sz="1150" spc="-45">
                <a:latin typeface="Arial"/>
                <a:cs typeface="Arial"/>
              </a:rPr>
              <a:t>Following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are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important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stages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steps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formation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joint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stock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company: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75" b="1">
                <a:latin typeface="Arial"/>
                <a:cs typeface="Arial"/>
              </a:rPr>
              <a:t>Formation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45" b="1">
                <a:latin typeface="Arial"/>
                <a:cs typeface="Arial"/>
              </a:rPr>
              <a:t>joint </a:t>
            </a:r>
            <a:r>
              <a:rPr dirty="0" sz="1150" spc="-110" b="1">
                <a:latin typeface="Arial"/>
                <a:cs typeface="Arial"/>
              </a:rPr>
              <a:t>Stock</a:t>
            </a:r>
            <a:r>
              <a:rPr dirty="0" sz="1150" spc="-114" b="1">
                <a:latin typeface="Arial"/>
                <a:cs typeface="Arial"/>
              </a:rPr>
              <a:t> </a:t>
            </a:r>
            <a:r>
              <a:rPr dirty="0" sz="1150" spc="-110" b="1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16630" y="7412425"/>
            <a:ext cx="5264913" cy="10870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57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6" y="892559"/>
            <a:ext cx="5513705" cy="79063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0" b="1">
                <a:latin typeface="Arial"/>
                <a:cs typeface="Arial"/>
              </a:rPr>
              <a:t>PROMOTION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175" b="1">
                <a:latin typeface="Arial"/>
                <a:cs typeface="Arial"/>
              </a:rPr>
              <a:t>STAGE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promoters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basic </a:t>
            </a:r>
            <a:r>
              <a:rPr dirty="0" sz="1150" spc="-25">
                <a:latin typeface="Arial"/>
                <a:cs typeface="Arial"/>
              </a:rPr>
              <a:t>work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start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commercial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25">
                <a:latin typeface="Arial"/>
                <a:cs typeface="Arial"/>
              </a:rPr>
              <a:t>industrial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35">
                <a:latin typeface="Arial"/>
                <a:cs typeface="Arial"/>
              </a:rPr>
              <a:t>on  </a:t>
            </a:r>
            <a:r>
              <a:rPr dirty="0" sz="1150" spc="-30">
                <a:latin typeface="Arial"/>
                <a:cs typeface="Arial"/>
              </a:rPr>
              <a:t>corporate </a:t>
            </a:r>
            <a:r>
              <a:rPr dirty="0" sz="1150" spc="-70">
                <a:latin typeface="Arial"/>
                <a:cs typeface="Arial"/>
              </a:rPr>
              <a:t>basis. </a:t>
            </a:r>
            <a:r>
              <a:rPr dirty="0" sz="1150" spc="-35">
                <a:latin typeface="Arial"/>
                <a:cs typeface="Arial"/>
              </a:rPr>
              <a:t>Promotion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discovery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ideas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funds, </a:t>
            </a:r>
            <a:r>
              <a:rPr dirty="0" sz="1150" spc="-20">
                <a:latin typeface="Arial"/>
                <a:cs typeface="Arial"/>
              </a:rPr>
              <a:t>property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35">
                <a:latin typeface="Arial"/>
                <a:cs typeface="Arial"/>
              </a:rPr>
              <a:t>skill,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run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purpose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earning income. Following </a:t>
            </a:r>
            <a:r>
              <a:rPr dirty="0" sz="1150" spc="-60">
                <a:latin typeface="Arial"/>
                <a:cs typeface="Arial"/>
              </a:rPr>
              <a:t>steps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involved </a:t>
            </a:r>
            <a:r>
              <a:rPr dirty="0" sz="1150" spc="-20">
                <a:latin typeface="Arial"/>
                <a:cs typeface="Arial"/>
              </a:rPr>
              <a:t>in  the </a:t>
            </a:r>
            <a:r>
              <a:rPr dirty="0" sz="1150" spc="-65">
                <a:latin typeface="Arial"/>
                <a:cs typeface="Arial"/>
              </a:rPr>
              <a:t>stage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promotion.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58750" indent="-14668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59385" algn="l"/>
              </a:tabLst>
            </a:pPr>
            <a:r>
              <a:rPr dirty="0" sz="1150" spc="-60" b="1">
                <a:latin typeface="Arial"/>
                <a:cs typeface="Arial"/>
              </a:rPr>
              <a:t>Idea </a:t>
            </a:r>
            <a:r>
              <a:rPr dirty="0" sz="1150" spc="-65" b="1">
                <a:latin typeface="Arial"/>
                <a:cs typeface="Arial"/>
              </a:rPr>
              <a:t>about</a:t>
            </a:r>
            <a:r>
              <a:rPr dirty="0" sz="1150" spc="-75" b="1">
                <a:latin typeface="Arial"/>
                <a:cs typeface="Arial"/>
              </a:rPr>
              <a:t> </a:t>
            </a:r>
            <a:r>
              <a:rPr dirty="0" sz="1150" spc="-130" b="1">
                <a:latin typeface="Arial"/>
                <a:cs typeface="Arial"/>
              </a:rPr>
              <a:t>Business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50">
                <a:latin typeface="Arial"/>
                <a:cs typeface="Arial"/>
              </a:rPr>
              <a:t>Before </a:t>
            </a:r>
            <a:r>
              <a:rPr dirty="0" sz="1150" spc="-30">
                <a:latin typeface="Arial"/>
                <a:cs typeface="Arial"/>
              </a:rPr>
              <a:t>starting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business, </a:t>
            </a:r>
            <a:r>
              <a:rPr dirty="0" sz="1150" spc="-30">
                <a:latin typeface="Arial"/>
                <a:cs typeface="Arial"/>
              </a:rPr>
              <a:t>promoters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think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nature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55">
                <a:latin typeface="Arial"/>
                <a:cs typeface="Arial"/>
              </a:rPr>
              <a:t>company’s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58750" indent="-146685">
              <a:lnSpc>
                <a:spcPct val="100000"/>
              </a:lnSpc>
              <a:buAutoNum type="arabicPeriod" startAt="2"/>
              <a:tabLst>
                <a:tab pos="159385" algn="l"/>
              </a:tabLst>
            </a:pPr>
            <a:r>
              <a:rPr dirty="0" sz="1150" spc="-70" b="1">
                <a:latin typeface="Arial"/>
                <a:cs typeface="Arial"/>
              </a:rPr>
              <a:t>Investigation</a:t>
            </a:r>
            <a:endParaRPr sz="115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50">
                <a:latin typeface="Arial"/>
                <a:cs typeface="Arial"/>
              </a:rPr>
              <a:t>deciding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nature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business, </a:t>
            </a:r>
            <a:r>
              <a:rPr dirty="0" sz="1150" spc="-30">
                <a:latin typeface="Arial"/>
                <a:cs typeface="Arial"/>
              </a:rPr>
              <a:t>promoters </a:t>
            </a:r>
            <a:r>
              <a:rPr dirty="0" sz="1150" spc="-75">
                <a:latin typeface="Arial"/>
                <a:cs typeface="Arial"/>
              </a:rPr>
              <a:t>go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preliminary </a:t>
            </a:r>
            <a:r>
              <a:rPr dirty="0" sz="1150" spc="-35">
                <a:latin typeface="Arial"/>
                <a:cs typeface="Arial"/>
              </a:rPr>
              <a:t>investigation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make  </a:t>
            </a:r>
            <a:r>
              <a:rPr dirty="0" sz="1150" spc="-5">
                <a:latin typeface="Arial"/>
                <a:cs typeface="Arial"/>
              </a:rPr>
              <a:t>out </a:t>
            </a:r>
            <a:r>
              <a:rPr dirty="0" sz="1150" spc="-60">
                <a:latin typeface="Arial"/>
                <a:cs typeface="Arial"/>
              </a:rPr>
              <a:t>plans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45">
                <a:latin typeface="Arial"/>
                <a:cs typeface="Arial"/>
              </a:rPr>
              <a:t>regard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availability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capital,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transportation, </a:t>
            </a:r>
            <a:r>
              <a:rPr dirty="0" sz="1150" spc="-30">
                <a:latin typeface="Arial"/>
                <a:cs typeface="Arial"/>
              </a:rPr>
              <a:t>labour, </a:t>
            </a:r>
            <a:r>
              <a:rPr dirty="0" sz="1150" spc="-25">
                <a:latin typeface="Arial"/>
                <a:cs typeface="Arial"/>
              </a:rPr>
              <a:t>electricity,  </a:t>
            </a:r>
            <a:r>
              <a:rPr dirty="0" sz="1150" spc="-90">
                <a:latin typeface="Arial"/>
                <a:cs typeface="Arial"/>
              </a:rPr>
              <a:t>gas, </a:t>
            </a:r>
            <a:r>
              <a:rPr dirty="0" sz="1150" spc="-20">
                <a:latin typeface="Arial"/>
                <a:cs typeface="Arial"/>
              </a:rPr>
              <a:t>water</a:t>
            </a:r>
            <a:r>
              <a:rPr dirty="0" sz="1150" spc="-3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60020" indent="-147955">
              <a:lnSpc>
                <a:spcPct val="100000"/>
              </a:lnSpc>
              <a:buAutoNum type="arabicPeriod" startAt="3"/>
              <a:tabLst>
                <a:tab pos="160655" algn="l"/>
              </a:tabLst>
            </a:pPr>
            <a:r>
              <a:rPr dirty="0" sz="1150" spc="-110" b="1">
                <a:latin typeface="Arial"/>
                <a:cs typeface="Arial"/>
              </a:rPr>
              <a:t>Assembling </a:t>
            </a:r>
            <a:r>
              <a:rPr dirty="0" sz="1150" spc="-90" b="1">
                <a:latin typeface="Arial"/>
                <a:cs typeface="Arial"/>
              </a:rPr>
              <a:t>various</a:t>
            </a:r>
            <a:r>
              <a:rPr dirty="0" sz="1150" spc="-5" b="1">
                <a:latin typeface="Arial"/>
                <a:cs typeface="Arial"/>
              </a:rPr>
              <a:t> </a:t>
            </a:r>
            <a:r>
              <a:rPr dirty="0" sz="1150" spc="-105" b="1">
                <a:latin typeface="Arial"/>
                <a:cs typeface="Arial"/>
              </a:rPr>
              <a:t>Factors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55">
                <a:latin typeface="Arial"/>
                <a:cs typeface="Arial"/>
              </a:rPr>
              <a:t>making </a:t>
            </a:r>
            <a:r>
              <a:rPr dirty="0" sz="1150" spc="-10">
                <a:latin typeface="Arial"/>
                <a:cs typeface="Arial"/>
              </a:rPr>
              <a:t>initial </a:t>
            </a:r>
            <a:r>
              <a:rPr dirty="0" sz="1150" spc="-35">
                <a:latin typeface="Arial"/>
                <a:cs typeface="Arial"/>
              </a:rPr>
              <a:t>investigation,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promoter </a:t>
            </a:r>
            <a:r>
              <a:rPr dirty="0" sz="1150" spc="-35">
                <a:latin typeface="Arial"/>
                <a:cs typeface="Arial"/>
              </a:rPr>
              <a:t>starts </a:t>
            </a:r>
            <a:r>
              <a:rPr dirty="0" sz="1150" spc="-50">
                <a:latin typeface="Arial"/>
                <a:cs typeface="Arial"/>
              </a:rPr>
              <a:t>accumulating various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order 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5">
                <a:latin typeface="Arial"/>
                <a:cs typeface="Arial"/>
              </a:rPr>
              <a:t>assemble </a:t>
            </a:r>
            <a:r>
              <a:rPr dirty="0" sz="1150" spc="-25">
                <a:latin typeface="Arial"/>
                <a:cs typeface="Arial"/>
              </a:rPr>
              <a:t>them. </a:t>
            </a:r>
            <a:r>
              <a:rPr dirty="0" sz="1150" spc="-80">
                <a:latin typeface="Arial"/>
                <a:cs typeface="Arial"/>
              </a:rPr>
              <a:t>They </a:t>
            </a:r>
            <a:r>
              <a:rPr dirty="0" sz="1150" spc="-55">
                <a:latin typeface="Arial"/>
                <a:cs typeface="Arial"/>
              </a:rPr>
              <a:t>arrange license, </a:t>
            </a:r>
            <a:r>
              <a:rPr dirty="0" sz="1150" spc="-40">
                <a:latin typeface="Arial"/>
                <a:cs typeface="Arial"/>
              </a:rPr>
              <a:t>copyrights, </a:t>
            </a:r>
            <a:r>
              <a:rPr dirty="0" sz="1150" spc="-35">
                <a:latin typeface="Arial"/>
                <a:cs typeface="Arial"/>
              </a:rPr>
              <a:t>employment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necessary </a:t>
            </a:r>
            <a:r>
              <a:rPr dirty="0" sz="1150" spc="-60">
                <a:latin typeface="Arial"/>
                <a:cs typeface="Arial"/>
              </a:rPr>
              <a:t>employees 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60020" indent="-147955">
              <a:lnSpc>
                <a:spcPct val="100000"/>
              </a:lnSpc>
              <a:buAutoNum type="arabicPeriod" startAt="4"/>
              <a:tabLst>
                <a:tab pos="160655" algn="l"/>
              </a:tabLst>
            </a:pPr>
            <a:r>
              <a:rPr dirty="0" sz="1150" spc="-90" b="1">
                <a:latin typeface="Arial"/>
                <a:cs typeface="Arial"/>
              </a:rPr>
              <a:t>Financial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125" b="1">
                <a:latin typeface="Arial"/>
                <a:cs typeface="Arial"/>
              </a:rPr>
              <a:t>Sources</a:t>
            </a:r>
            <a:endParaRPr sz="115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promoters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55">
                <a:latin typeface="Arial"/>
                <a:cs typeface="Arial"/>
              </a:rPr>
              <a:t>decide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70">
                <a:latin typeface="Arial"/>
                <a:cs typeface="Arial"/>
              </a:rPr>
              <a:t>sources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20">
                <a:latin typeface="Arial"/>
                <a:cs typeface="Arial"/>
              </a:rPr>
              <a:t>work </a:t>
            </a:r>
            <a:r>
              <a:rPr dirty="0" sz="1150" spc="-5">
                <a:latin typeface="Arial"/>
                <a:cs typeface="Arial"/>
              </a:rPr>
              <a:t>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ways  </a:t>
            </a:r>
            <a:r>
              <a:rPr dirty="0" sz="1150" spc="-25">
                <a:latin typeface="Arial"/>
                <a:cs typeface="Arial"/>
              </a:rPr>
              <a:t>through </a:t>
            </a:r>
            <a:r>
              <a:rPr dirty="0" sz="1150" spc="-35">
                <a:latin typeface="Arial"/>
                <a:cs typeface="Arial"/>
              </a:rPr>
              <a:t>which capital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generated.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60020" indent="-147955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160655" algn="l"/>
              </a:tabLst>
            </a:pPr>
            <a:r>
              <a:rPr dirty="0" sz="1150" spc="-70" b="1">
                <a:latin typeface="Arial"/>
                <a:cs typeface="Arial"/>
              </a:rPr>
              <a:t>Preparation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00" b="1">
                <a:latin typeface="Arial"/>
                <a:cs typeface="Arial"/>
              </a:rPr>
              <a:t>Essential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100" b="1">
                <a:latin typeface="Arial"/>
                <a:cs typeface="Arial"/>
              </a:rPr>
              <a:t>Documents</a:t>
            </a:r>
            <a:endParaRPr sz="115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addition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above </a:t>
            </a:r>
            <a:r>
              <a:rPr dirty="0" sz="1150" spc="-75">
                <a:latin typeface="Arial"/>
                <a:cs typeface="Arial"/>
              </a:rPr>
              <a:t>discussed </a:t>
            </a:r>
            <a:r>
              <a:rPr dirty="0" sz="1150" spc="-30">
                <a:latin typeface="Arial"/>
                <a:cs typeface="Arial"/>
              </a:rPr>
              <a:t>matters,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promoters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40">
                <a:latin typeface="Arial"/>
                <a:cs typeface="Arial"/>
              </a:rPr>
              <a:t>prepare </a:t>
            </a:r>
            <a:r>
              <a:rPr dirty="0" sz="1150" spc="-20">
                <a:latin typeface="Arial"/>
                <a:cs typeface="Arial"/>
              </a:rPr>
              <a:t>following </a:t>
            </a:r>
            <a:r>
              <a:rPr dirty="0" sz="1150" spc="-55">
                <a:latin typeface="Arial"/>
                <a:cs typeface="Arial"/>
              </a:rPr>
              <a:t>essential  </a:t>
            </a:r>
            <a:r>
              <a:rPr dirty="0" sz="1150" spc="-45">
                <a:latin typeface="Arial"/>
                <a:cs typeface="Arial"/>
              </a:rPr>
              <a:t>documents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formation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company:</a:t>
            </a:r>
            <a:endParaRPr sz="1150">
              <a:latin typeface="Arial"/>
              <a:cs typeface="Arial"/>
            </a:endParaRPr>
          </a:p>
          <a:p>
            <a:pPr lvl="1" marL="469900" indent="-228600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35">
                <a:latin typeface="Arial"/>
                <a:cs typeface="Arial"/>
              </a:rPr>
              <a:t>Memorandum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 lvl="1" marL="4699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40">
                <a:latin typeface="Arial"/>
                <a:cs typeface="Arial"/>
              </a:rPr>
              <a:t>Articles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 lvl="1" marL="469900" indent="-228600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65">
                <a:latin typeface="Arial"/>
                <a:cs typeface="Arial"/>
              </a:rPr>
              <a:t>Prospectus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company</a:t>
            </a:r>
            <a:endParaRPr sz="1150">
              <a:latin typeface="Arial"/>
              <a:cs typeface="Arial"/>
            </a:endParaRPr>
          </a:p>
          <a:p>
            <a:pPr algn="just" marL="12700" marR="7620">
              <a:lnSpc>
                <a:spcPts val="1400"/>
              </a:lnSpc>
              <a:spcBef>
                <a:spcPts val="45"/>
              </a:spcBef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promoters </a:t>
            </a:r>
            <a:r>
              <a:rPr dirty="0" sz="1150" spc="-45">
                <a:latin typeface="Arial"/>
                <a:cs typeface="Arial"/>
              </a:rPr>
              <a:t>carrying </a:t>
            </a:r>
            <a:r>
              <a:rPr dirty="0" sz="1150" spc="-5">
                <a:latin typeface="Arial"/>
                <a:cs typeface="Arial"/>
              </a:rPr>
              <a:t>out </a:t>
            </a:r>
            <a:r>
              <a:rPr dirty="0" sz="1150" spc="-50">
                <a:latin typeface="Arial"/>
                <a:cs typeface="Arial"/>
              </a:rPr>
              <a:t>these various </a:t>
            </a:r>
            <a:r>
              <a:rPr dirty="0" sz="1150" spc="-30">
                <a:latin typeface="Arial"/>
                <a:cs typeface="Arial"/>
              </a:rPr>
              <a:t>activities </a:t>
            </a:r>
            <a:r>
              <a:rPr dirty="0" sz="1150" spc="-60">
                <a:latin typeface="Arial"/>
                <a:cs typeface="Arial"/>
              </a:rPr>
              <a:t>give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55">
                <a:latin typeface="Arial"/>
                <a:cs typeface="Arial"/>
              </a:rPr>
              <a:t>physical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 spc="-20">
                <a:latin typeface="Arial"/>
                <a:cs typeface="Arial"/>
              </a:rPr>
              <a:t>in the  </a:t>
            </a:r>
            <a:r>
              <a:rPr dirty="0" sz="1150" spc="-75">
                <a:latin typeface="Arial"/>
                <a:cs typeface="Arial"/>
              </a:rPr>
              <a:t>shape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of:</a:t>
            </a:r>
            <a:endParaRPr sz="1150">
              <a:latin typeface="Arial"/>
              <a:cs typeface="Arial"/>
            </a:endParaRPr>
          </a:p>
          <a:p>
            <a:pPr lvl="1" marL="469900" indent="-228600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60">
                <a:latin typeface="Arial"/>
                <a:cs typeface="Arial"/>
              </a:rPr>
              <a:t>Giving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name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55">
                <a:latin typeface="Arial"/>
                <a:cs typeface="Arial"/>
              </a:rPr>
              <a:t>Sanctioning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Capital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Issue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120" b="1">
                <a:latin typeface="Arial"/>
                <a:cs typeface="Arial"/>
              </a:rPr>
              <a:t>INCORPORATION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180" b="1">
                <a:latin typeface="Arial"/>
                <a:cs typeface="Arial"/>
              </a:rPr>
              <a:t>STAGE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second </a:t>
            </a:r>
            <a:r>
              <a:rPr dirty="0" sz="1150" spc="-70">
                <a:latin typeface="Arial"/>
                <a:cs typeface="Arial"/>
              </a:rPr>
              <a:t>stage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0">
                <a:latin typeface="Arial"/>
                <a:cs typeface="Arial"/>
              </a:rPr>
              <a:t>establishment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get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incorporated.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291465" indent="-279400">
              <a:lnSpc>
                <a:spcPct val="100000"/>
              </a:lnSpc>
              <a:buAutoNum type="arabicPeriod"/>
              <a:tabLst>
                <a:tab pos="291465" algn="l"/>
                <a:tab pos="292100" algn="l"/>
              </a:tabLst>
            </a:pPr>
            <a:r>
              <a:rPr dirty="0" sz="1150" spc="-85" b="1">
                <a:latin typeface="Arial"/>
                <a:cs typeface="Arial"/>
              </a:rPr>
              <a:t>Filling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85" b="1">
                <a:latin typeface="Arial"/>
                <a:cs typeface="Arial"/>
              </a:rPr>
              <a:t>Document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45">
                <a:latin typeface="Arial"/>
                <a:cs typeface="Arial"/>
              </a:rPr>
              <a:t>Following </a:t>
            </a:r>
            <a:r>
              <a:rPr dirty="0" sz="1150" spc="-50">
                <a:latin typeface="Arial"/>
                <a:cs typeface="Arial"/>
              </a:rPr>
              <a:t>documents are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5">
                <a:latin typeface="Arial"/>
                <a:cs typeface="Arial"/>
              </a:rPr>
              <a:t>submitted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promoters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55">
                <a:latin typeface="Arial"/>
                <a:cs typeface="Arial"/>
              </a:rPr>
              <a:t>Registrar’s </a:t>
            </a:r>
            <a:r>
              <a:rPr dirty="0" sz="1150" spc="-25">
                <a:latin typeface="Arial"/>
                <a:cs typeface="Arial"/>
              </a:rPr>
              <a:t>office.</a:t>
            </a:r>
            <a:endParaRPr sz="1150">
              <a:latin typeface="Arial"/>
              <a:cs typeface="Arial"/>
            </a:endParaRPr>
          </a:p>
          <a:p>
            <a:pPr lvl="1" marL="375285" indent="-197485">
              <a:lnSpc>
                <a:spcPct val="100000"/>
              </a:lnSpc>
              <a:spcBef>
                <a:spcPts val="25"/>
              </a:spcBef>
              <a:buAutoNum type="alphaLcParenBoth"/>
              <a:tabLst>
                <a:tab pos="375920" algn="l"/>
              </a:tabLst>
            </a:pPr>
            <a:r>
              <a:rPr dirty="0" sz="1150" spc="-70" b="1">
                <a:latin typeface="Arial"/>
                <a:cs typeface="Arial"/>
              </a:rPr>
              <a:t>Memorandum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100" b="1">
                <a:latin typeface="Arial"/>
                <a:cs typeface="Arial"/>
              </a:rPr>
              <a:t>Association</a:t>
            </a:r>
            <a:endParaRPr sz="1150">
              <a:latin typeface="Arial"/>
              <a:cs typeface="Arial"/>
            </a:endParaRPr>
          </a:p>
          <a:p>
            <a:pPr marL="178435">
              <a:lnSpc>
                <a:spcPct val="100000"/>
              </a:lnSpc>
              <a:spcBef>
                <a:spcPts val="2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document </a:t>
            </a:r>
            <a:r>
              <a:rPr dirty="0" sz="1150" spc="-35">
                <a:latin typeface="Arial"/>
                <a:cs typeface="Arial"/>
              </a:rPr>
              <a:t>indicating </a:t>
            </a:r>
            <a:r>
              <a:rPr dirty="0" sz="1150" spc="-55">
                <a:latin typeface="Arial"/>
                <a:cs typeface="Arial"/>
              </a:rPr>
              <a:t>name, </a:t>
            </a:r>
            <a:r>
              <a:rPr dirty="0" sz="1150" spc="-65">
                <a:latin typeface="Arial"/>
                <a:cs typeface="Arial"/>
              </a:rPr>
              <a:t>address, </a:t>
            </a:r>
            <a:r>
              <a:rPr dirty="0" sz="1150" spc="-40">
                <a:latin typeface="Arial"/>
                <a:cs typeface="Arial"/>
              </a:rPr>
              <a:t>objects, authorized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30">
                <a:latin typeface="Arial"/>
                <a:cs typeface="Arial"/>
              </a:rPr>
              <a:t>etc.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company.</a:t>
            </a:r>
            <a:endParaRPr sz="1150">
              <a:latin typeface="Arial"/>
              <a:cs typeface="Arial"/>
            </a:endParaRPr>
          </a:p>
          <a:p>
            <a:pPr lvl="1" marL="381635" indent="-203200">
              <a:lnSpc>
                <a:spcPct val="100000"/>
              </a:lnSpc>
              <a:spcBef>
                <a:spcPts val="25"/>
              </a:spcBef>
              <a:buAutoNum type="alphaLcParenBoth" startAt="2"/>
              <a:tabLst>
                <a:tab pos="381635" algn="l"/>
              </a:tabLst>
            </a:pPr>
            <a:r>
              <a:rPr dirty="0" sz="1150" spc="-85" b="1">
                <a:latin typeface="Arial"/>
                <a:cs typeface="Arial"/>
              </a:rPr>
              <a:t>Articles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00" b="1">
                <a:latin typeface="Arial"/>
                <a:cs typeface="Arial"/>
              </a:rPr>
              <a:t>Association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58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89" y="892559"/>
            <a:ext cx="5514975" cy="791400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41300" marR="6985" indent="-31115">
              <a:lnSpc>
                <a:spcPct val="101699"/>
              </a:lnSpc>
              <a:spcBef>
                <a:spcPts val="7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document containing </a:t>
            </a:r>
            <a:r>
              <a:rPr dirty="0" sz="1150" spc="-55">
                <a:latin typeface="Arial"/>
                <a:cs typeface="Arial"/>
              </a:rPr>
              <a:t>laws and </a:t>
            </a:r>
            <a:r>
              <a:rPr dirty="0" sz="1150" spc="-45">
                <a:latin typeface="Arial"/>
                <a:cs typeface="Arial"/>
              </a:rPr>
              <a:t>rules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internal </a:t>
            </a:r>
            <a:r>
              <a:rPr dirty="0" sz="1150" spc="-15">
                <a:latin typeface="Arial"/>
                <a:cs typeface="Arial"/>
              </a:rPr>
              <a:t>control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management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55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 marL="396240" indent="-184785">
              <a:lnSpc>
                <a:spcPct val="100000"/>
              </a:lnSpc>
              <a:spcBef>
                <a:spcPts val="25"/>
              </a:spcBef>
              <a:buAutoNum type="alphaLcParenBoth" startAt="3"/>
              <a:tabLst>
                <a:tab pos="396875" algn="l"/>
              </a:tabLst>
            </a:pPr>
            <a:r>
              <a:rPr dirty="0" sz="1150" spc="-105" b="1">
                <a:latin typeface="Arial"/>
                <a:cs typeface="Arial"/>
              </a:rPr>
              <a:t>List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Directors</a:t>
            </a:r>
            <a:endParaRPr sz="1150">
              <a:latin typeface="Arial"/>
              <a:cs typeface="Arial"/>
            </a:endParaRPr>
          </a:p>
          <a:p>
            <a:pPr marL="210185">
              <a:lnSpc>
                <a:spcPct val="100000"/>
              </a:lnSpc>
              <a:spcBef>
                <a:spcPts val="2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list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names, </a:t>
            </a:r>
            <a:r>
              <a:rPr dirty="0" sz="1150" spc="-50">
                <a:latin typeface="Arial"/>
                <a:cs typeface="Arial"/>
              </a:rPr>
              <a:t>occupations, </a:t>
            </a:r>
            <a:r>
              <a:rPr dirty="0" sz="1150" spc="-70">
                <a:latin typeface="Arial"/>
                <a:cs typeface="Arial"/>
              </a:rPr>
              <a:t>addresses, </a:t>
            </a:r>
            <a:r>
              <a:rPr dirty="0" sz="1150" spc="-60">
                <a:latin typeface="Arial"/>
                <a:cs typeface="Arial"/>
              </a:rPr>
              <a:t>along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declaration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directors.</a:t>
            </a:r>
            <a:endParaRPr sz="1150">
              <a:latin typeface="Arial"/>
              <a:cs typeface="Arial"/>
            </a:endParaRPr>
          </a:p>
          <a:p>
            <a:pPr marL="414655" indent="-203200">
              <a:lnSpc>
                <a:spcPct val="100000"/>
              </a:lnSpc>
              <a:spcBef>
                <a:spcPts val="25"/>
              </a:spcBef>
              <a:buAutoNum type="alphaLcParenBoth" startAt="4"/>
              <a:tabLst>
                <a:tab pos="415290" algn="l"/>
              </a:tabLst>
            </a:pPr>
            <a:r>
              <a:rPr dirty="0" sz="1150" spc="-40" b="1">
                <a:latin typeface="Arial"/>
                <a:cs typeface="Arial"/>
              </a:rPr>
              <a:t>Written </a:t>
            </a:r>
            <a:r>
              <a:rPr dirty="0" sz="1150" spc="-105" b="1">
                <a:latin typeface="Arial"/>
                <a:cs typeface="Arial"/>
              </a:rPr>
              <a:t>Consent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Directors</a:t>
            </a:r>
            <a:endParaRPr sz="1150">
              <a:latin typeface="Arial"/>
              <a:cs typeface="Arial"/>
            </a:endParaRPr>
          </a:p>
          <a:p>
            <a:pPr marL="241300" marR="6985" indent="-3111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written </a:t>
            </a:r>
            <a:r>
              <a:rPr dirty="0" sz="1150" spc="-50">
                <a:latin typeface="Arial"/>
                <a:cs typeface="Arial"/>
              </a:rPr>
              <a:t>consent showing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45">
                <a:latin typeface="Arial"/>
                <a:cs typeface="Arial"/>
              </a:rPr>
              <a:t>willingness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act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30">
                <a:latin typeface="Arial"/>
                <a:cs typeface="Arial"/>
              </a:rPr>
              <a:t>directors,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5">
                <a:latin typeface="Arial"/>
                <a:cs typeface="Arial"/>
              </a:rPr>
              <a:t>sent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60">
                <a:latin typeface="Arial"/>
                <a:cs typeface="Arial"/>
              </a:rPr>
              <a:t>Registrar</a:t>
            </a:r>
            <a:endParaRPr sz="1150">
              <a:latin typeface="Arial"/>
              <a:cs typeface="Arial"/>
            </a:endParaRPr>
          </a:p>
          <a:p>
            <a:pPr marL="408940" indent="-197485">
              <a:lnSpc>
                <a:spcPct val="100000"/>
              </a:lnSpc>
              <a:spcBef>
                <a:spcPts val="25"/>
              </a:spcBef>
              <a:buAutoNum type="alphaLcParenBoth" startAt="5"/>
              <a:tabLst>
                <a:tab pos="409575" algn="l"/>
              </a:tabLst>
            </a:pPr>
            <a:r>
              <a:rPr dirty="0" sz="1150" spc="-70" b="1">
                <a:latin typeface="Arial"/>
                <a:cs typeface="Arial"/>
              </a:rPr>
              <a:t>Declaration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75" b="1">
                <a:latin typeface="Arial"/>
                <a:cs typeface="Arial"/>
              </a:rPr>
              <a:t>Qualifying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114" b="1">
                <a:latin typeface="Arial"/>
                <a:cs typeface="Arial"/>
              </a:rPr>
              <a:t>Shares</a:t>
            </a:r>
            <a:endParaRPr sz="1150">
              <a:latin typeface="Arial"/>
              <a:cs typeface="Arial"/>
            </a:endParaRPr>
          </a:p>
          <a:p>
            <a:pPr marL="241300" marR="7620" indent="-3111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declaration </a:t>
            </a:r>
            <a:r>
              <a:rPr dirty="0" sz="1150" spc="-25">
                <a:latin typeface="Arial"/>
                <a:cs typeface="Arial"/>
              </a:rPr>
              <a:t>certificate </a:t>
            </a:r>
            <a:r>
              <a:rPr dirty="0" sz="1150" spc="-50">
                <a:latin typeface="Arial"/>
                <a:cs typeface="Arial"/>
              </a:rPr>
              <a:t>showing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directors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40">
                <a:latin typeface="Arial"/>
                <a:cs typeface="Arial"/>
              </a:rPr>
              <a:t>taken up </a:t>
            </a:r>
            <a:r>
              <a:rPr dirty="0" sz="1150" spc="-35">
                <a:latin typeface="Arial"/>
                <a:cs typeface="Arial"/>
              </a:rPr>
              <a:t>qualifying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65">
                <a:latin typeface="Arial"/>
                <a:cs typeface="Arial"/>
              </a:rPr>
              <a:t>have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paid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up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money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pay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near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future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registrar.</a:t>
            </a:r>
            <a:endParaRPr sz="1150">
              <a:latin typeface="Arial"/>
              <a:cs typeface="Arial"/>
            </a:endParaRPr>
          </a:p>
          <a:p>
            <a:pPr marL="382905" indent="-171450">
              <a:lnSpc>
                <a:spcPct val="100000"/>
              </a:lnSpc>
              <a:spcBef>
                <a:spcPts val="25"/>
              </a:spcBef>
              <a:buAutoNum type="alphaLcParenBoth" startAt="6"/>
              <a:tabLst>
                <a:tab pos="383540" algn="l"/>
              </a:tabLst>
            </a:pPr>
            <a:r>
              <a:rPr dirty="0" sz="1150" spc="-105" b="1">
                <a:latin typeface="Arial"/>
                <a:cs typeface="Arial"/>
              </a:rPr>
              <a:t>Prospectus</a:t>
            </a:r>
            <a:endParaRPr sz="1150">
              <a:latin typeface="Arial"/>
              <a:cs typeface="Arial"/>
            </a:endParaRPr>
          </a:p>
          <a:p>
            <a:pPr marL="212090">
              <a:lnSpc>
                <a:spcPct val="100000"/>
              </a:lnSpc>
              <a:spcBef>
                <a:spcPts val="20"/>
              </a:spcBef>
            </a:pPr>
            <a:r>
              <a:rPr dirty="0" sz="1150" spc="-45">
                <a:latin typeface="Arial"/>
                <a:cs typeface="Arial"/>
              </a:rPr>
              <a:t>Promoters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file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prospectus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registrar.</a:t>
            </a:r>
            <a:endParaRPr sz="1150">
              <a:latin typeface="Arial"/>
              <a:cs typeface="Arial"/>
            </a:endParaRPr>
          </a:p>
          <a:p>
            <a:pPr marL="405765" indent="-194310">
              <a:lnSpc>
                <a:spcPct val="100000"/>
              </a:lnSpc>
              <a:spcBef>
                <a:spcPts val="25"/>
              </a:spcBef>
              <a:buAutoNum type="alphaLcParenBoth" startAt="7"/>
              <a:tabLst>
                <a:tab pos="406400" algn="l"/>
              </a:tabLst>
            </a:pPr>
            <a:r>
              <a:rPr dirty="0" sz="1150" spc="-65" b="1">
                <a:latin typeface="Arial"/>
                <a:cs typeface="Arial"/>
              </a:rPr>
              <a:t>Statutory </a:t>
            </a:r>
            <a:r>
              <a:rPr dirty="0" sz="1150" spc="-70" b="1">
                <a:latin typeface="Arial"/>
                <a:cs typeface="Arial"/>
              </a:rPr>
              <a:t>Declaration</a:t>
            </a:r>
            <a:endParaRPr sz="1150">
              <a:latin typeface="Arial"/>
              <a:cs typeface="Arial"/>
            </a:endParaRPr>
          </a:p>
          <a:p>
            <a:pPr marL="241300" marR="7620" indent="-3111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statutory </a:t>
            </a:r>
            <a:r>
              <a:rPr dirty="0" sz="1150" spc="-35">
                <a:latin typeface="Arial"/>
                <a:cs typeface="Arial"/>
              </a:rPr>
              <a:t>declaration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5">
                <a:latin typeface="Arial"/>
                <a:cs typeface="Arial"/>
              </a:rPr>
              <a:t>sent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Registrar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50">
                <a:latin typeface="Arial"/>
                <a:cs typeface="Arial"/>
              </a:rPr>
              <a:t>legal </a:t>
            </a:r>
            <a:r>
              <a:rPr dirty="0" sz="1150" spc="-20">
                <a:latin typeface="Arial"/>
                <a:cs typeface="Arial"/>
              </a:rPr>
              <a:t>formalities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55">
                <a:latin typeface="Arial"/>
                <a:cs typeface="Arial"/>
              </a:rPr>
              <a:t>been  </a:t>
            </a:r>
            <a:r>
              <a:rPr dirty="0" sz="1150" spc="-35">
                <a:latin typeface="Arial"/>
                <a:cs typeface="Arial"/>
              </a:rPr>
              <a:t>completed.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292735" indent="-280670">
              <a:lnSpc>
                <a:spcPct val="100000"/>
              </a:lnSpc>
              <a:buAutoNum type="arabicPeriod" startAt="2"/>
              <a:tabLst>
                <a:tab pos="292735" algn="l"/>
                <a:tab pos="293370" algn="l"/>
              </a:tabLst>
            </a:pPr>
            <a:r>
              <a:rPr dirty="0" sz="1150" spc="-80" b="1">
                <a:latin typeface="Arial"/>
                <a:cs typeface="Arial"/>
              </a:rPr>
              <a:t>Payment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80" b="1">
                <a:latin typeface="Arial"/>
                <a:cs typeface="Arial"/>
              </a:rPr>
              <a:t>Registration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105" b="1">
                <a:latin typeface="Arial"/>
                <a:cs typeface="Arial"/>
              </a:rPr>
              <a:t>Fee</a:t>
            </a:r>
            <a:endParaRPr sz="115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</a:pP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registration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company,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registration </a:t>
            </a:r>
            <a:r>
              <a:rPr dirty="0" sz="1150" spc="-40">
                <a:latin typeface="Arial"/>
                <a:cs typeface="Arial"/>
              </a:rPr>
              <a:t>fee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45">
                <a:latin typeface="Arial"/>
                <a:cs typeface="Arial"/>
              </a:rPr>
              <a:t>paid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Registrar. </a:t>
            </a:r>
            <a:r>
              <a:rPr dirty="0" sz="1150" spc="-65">
                <a:latin typeface="Arial"/>
                <a:cs typeface="Arial"/>
              </a:rPr>
              <a:t>For  </a:t>
            </a:r>
            <a:r>
              <a:rPr dirty="0" sz="1150" spc="-55">
                <a:latin typeface="Arial"/>
                <a:cs typeface="Arial"/>
              </a:rPr>
              <a:t>example</a:t>
            </a:r>
            <a:endParaRPr sz="115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35">
                <a:latin typeface="Arial"/>
                <a:cs typeface="Arial"/>
              </a:rPr>
              <a:t>Application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documents </a:t>
            </a:r>
            <a:r>
              <a:rPr dirty="0" sz="1150" spc="-20">
                <a:latin typeface="Arial"/>
                <a:cs typeface="Arial"/>
              </a:rPr>
              <a:t>filing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fee</a:t>
            </a:r>
            <a:endParaRPr sz="115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45">
                <a:latin typeface="Arial"/>
                <a:cs typeface="Arial"/>
              </a:rPr>
              <a:t>Registration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fee</a:t>
            </a:r>
            <a:endParaRPr sz="115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70">
                <a:latin typeface="Arial"/>
                <a:cs typeface="Arial"/>
              </a:rPr>
              <a:t>Stamp </a:t>
            </a:r>
            <a:r>
              <a:rPr dirty="0" sz="1150" spc="-40">
                <a:latin typeface="Arial"/>
                <a:cs typeface="Arial"/>
              </a:rPr>
              <a:t>fee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40">
                <a:latin typeface="Arial"/>
                <a:cs typeface="Arial"/>
              </a:rPr>
              <a:t>Memorandum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Articles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200">
              <a:latin typeface="Arial"/>
              <a:cs typeface="Arial"/>
            </a:endParaRPr>
          </a:p>
          <a:p>
            <a:pPr marL="160020" indent="-147955">
              <a:lnSpc>
                <a:spcPct val="100000"/>
              </a:lnSpc>
              <a:buAutoNum type="arabicPeriod" startAt="3"/>
              <a:tabLst>
                <a:tab pos="160655" algn="l"/>
              </a:tabLst>
            </a:pPr>
            <a:r>
              <a:rPr dirty="0" sz="1150" spc="-65" b="1">
                <a:latin typeface="Arial"/>
                <a:cs typeface="Arial"/>
              </a:rPr>
              <a:t>Certificate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70" b="1">
                <a:latin typeface="Arial"/>
                <a:cs typeface="Arial"/>
              </a:rPr>
              <a:t> Incorporation</a:t>
            </a:r>
            <a:endParaRPr sz="1150">
              <a:latin typeface="Arial"/>
              <a:cs typeface="Arial"/>
            </a:endParaRPr>
          </a:p>
          <a:p>
            <a:pPr marL="12700" marR="9525">
              <a:lnSpc>
                <a:spcPct val="101699"/>
              </a:lnSpc>
            </a:pPr>
            <a:r>
              <a:rPr dirty="0" sz="1150" spc="-5">
                <a:latin typeface="Arial"/>
                <a:cs typeface="Arial"/>
              </a:rPr>
              <a:t>If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registrar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finds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all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documents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right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thinks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all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formalities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have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been </a:t>
            </a:r>
            <a:r>
              <a:rPr dirty="0" sz="1150" spc="-10">
                <a:latin typeface="Arial"/>
                <a:cs typeface="Arial"/>
              </a:rPr>
              <a:t>fulfilled  </a:t>
            </a:r>
            <a:r>
              <a:rPr dirty="0" sz="1150" spc="-25">
                <a:latin typeface="Arial"/>
                <a:cs typeface="Arial"/>
              </a:rPr>
              <a:t>then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85">
                <a:latin typeface="Arial"/>
                <a:cs typeface="Arial"/>
              </a:rPr>
              <a:t>issues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certificate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incorporation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promoters.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50" b="1">
                <a:latin typeface="Arial"/>
                <a:cs typeface="Arial"/>
              </a:rPr>
              <a:t>CAPITAL </a:t>
            </a:r>
            <a:r>
              <a:rPr dirty="0" sz="1150" spc="-140" b="1">
                <a:latin typeface="Arial"/>
                <a:cs typeface="Arial"/>
              </a:rPr>
              <a:t>SUBSCRIPTION</a:t>
            </a:r>
            <a:r>
              <a:rPr dirty="0" sz="1150" spc="-130" b="1">
                <a:latin typeface="Arial"/>
                <a:cs typeface="Arial"/>
              </a:rPr>
              <a:t> </a:t>
            </a:r>
            <a:r>
              <a:rPr dirty="0" sz="1150" spc="-180" b="1">
                <a:latin typeface="Arial"/>
                <a:cs typeface="Arial"/>
              </a:rPr>
              <a:t>STAGE</a:t>
            </a:r>
            <a:endParaRPr sz="1150">
              <a:latin typeface="Arial"/>
              <a:cs typeface="Arial"/>
            </a:endParaRPr>
          </a:p>
          <a:p>
            <a:pPr marL="12700" marR="8890">
              <a:lnSpc>
                <a:spcPct val="101699"/>
              </a:lnSpc>
            </a:pP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30">
                <a:latin typeface="Arial"/>
                <a:cs typeface="Arial"/>
              </a:rPr>
              <a:t>getting </a:t>
            </a:r>
            <a:r>
              <a:rPr dirty="0" sz="1150" spc="-25">
                <a:latin typeface="Arial"/>
                <a:cs typeface="Arial"/>
              </a:rPr>
              <a:t>certificate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incorporation,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next </a:t>
            </a:r>
            <a:r>
              <a:rPr dirty="0" sz="1150" spc="-65">
                <a:latin typeface="Arial"/>
                <a:cs typeface="Arial"/>
              </a:rPr>
              <a:t>stage 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make </a:t>
            </a:r>
            <a:r>
              <a:rPr dirty="0" sz="1150" spc="-40">
                <a:latin typeface="Arial"/>
                <a:cs typeface="Arial"/>
              </a:rPr>
              <a:t>arrangement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raising  </a:t>
            </a:r>
            <a:r>
              <a:rPr dirty="0" sz="1150" spc="-35">
                <a:latin typeface="Arial"/>
                <a:cs typeface="Arial"/>
              </a:rPr>
              <a:t>capital. </a:t>
            </a:r>
            <a:r>
              <a:rPr dirty="0" sz="1150" spc="-65">
                <a:latin typeface="Arial"/>
                <a:cs typeface="Arial"/>
              </a:rPr>
              <a:t>For any </a:t>
            </a:r>
            <a:r>
              <a:rPr dirty="0" sz="1150" spc="-30">
                <a:latin typeface="Arial"/>
                <a:cs typeface="Arial"/>
              </a:rPr>
              <a:t>kind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business,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4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70">
                <a:latin typeface="Arial"/>
                <a:cs typeface="Arial"/>
              </a:rPr>
              <a:t>raises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25">
                <a:latin typeface="Arial"/>
                <a:cs typeface="Arial"/>
              </a:rPr>
              <a:t>through </a:t>
            </a:r>
            <a:r>
              <a:rPr dirty="0" sz="1150" spc="-20">
                <a:latin typeface="Arial"/>
                <a:cs typeface="Arial"/>
              </a:rPr>
              <a:t>following </a:t>
            </a:r>
            <a:r>
              <a:rPr dirty="0" sz="1150" spc="-60">
                <a:latin typeface="Arial"/>
                <a:cs typeface="Arial"/>
              </a:rPr>
              <a:t>sources:</a:t>
            </a:r>
            <a:endParaRPr sz="115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105">
                <a:latin typeface="Arial"/>
                <a:cs typeface="Arial"/>
              </a:rPr>
              <a:t>By </a:t>
            </a:r>
            <a:r>
              <a:rPr dirty="0" sz="1150" spc="-65">
                <a:latin typeface="Arial"/>
                <a:cs typeface="Arial"/>
              </a:rPr>
              <a:t>Issuing</a:t>
            </a:r>
            <a:r>
              <a:rPr dirty="0" sz="1150" spc="-20">
                <a:latin typeface="Arial"/>
                <a:cs typeface="Arial"/>
              </a:rPr>
              <a:t> </a:t>
            </a:r>
            <a:r>
              <a:rPr dirty="0" sz="1150" spc="-95">
                <a:latin typeface="Arial"/>
                <a:cs typeface="Arial"/>
              </a:rPr>
              <a:t>Shares</a:t>
            </a:r>
            <a:endParaRPr sz="115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105">
                <a:latin typeface="Arial"/>
                <a:cs typeface="Arial"/>
              </a:rPr>
              <a:t>By </a:t>
            </a:r>
            <a:r>
              <a:rPr dirty="0" sz="1150" spc="-65">
                <a:latin typeface="Arial"/>
                <a:cs typeface="Arial"/>
              </a:rPr>
              <a:t>Issuing</a:t>
            </a:r>
            <a:r>
              <a:rPr dirty="0" sz="1150" spc="-2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Debentures</a:t>
            </a:r>
            <a:endParaRPr sz="115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105">
                <a:latin typeface="Arial"/>
                <a:cs typeface="Arial"/>
              </a:rPr>
              <a:t>By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95">
                <a:latin typeface="Arial"/>
                <a:cs typeface="Arial"/>
              </a:rPr>
              <a:t>Savings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50" b="1">
                <a:latin typeface="Arial"/>
                <a:cs typeface="Arial"/>
              </a:rPr>
              <a:t>CERTIFICATE OF</a:t>
            </a:r>
            <a:r>
              <a:rPr dirty="0" sz="1150" spc="-145" b="1">
                <a:latin typeface="Arial"/>
                <a:cs typeface="Arial"/>
              </a:rPr>
              <a:t> </a:t>
            </a:r>
            <a:r>
              <a:rPr dirty="0" sz="1150" spc="-114" b="1">
                <a:latin typeface="Arial"/>
                <a:cs typeface="Arial"/>
              </a:rPr>
              <a:t>COMMENCEMENT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commencement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business,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35">
                <a:latin typeface="Arial"/>
                <a:cs typeface="Arial"/>
              </a:rPr>
              <a:t>public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obtain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certificate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45">
                <a:latin typeface="Arial"/>
                <a:cs typeface="Arial"/>
              </a:rPr>
              <a:t>commencement,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45">
                <a:latin typeface="Arial"/>
                <a:cs typeface="Arial"/>
              </a:rPr>
              <a:t>requires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">
                <a:latin typeface="Arial"/>
                <a:cs typeface="Arial"/>
              </a:rPr>
              <a:t>fulfillment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following </a:t>
            </a:r>
            <a:r>
              <a:rPr dirty="0" sz="1150" spc="-35">
                <a:latin typeface="Arial"/>
                <a:cs typeface="Arial"/>
              </a:rPr>
              <a:t>conditions: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58750" indent="-14668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59385" algn="l"/>
              </a:tabLst>
            </a:pPr>
            <a:r>
              <a:rPr dirty="0" sz="1150" spc="-105" b="1">
                <a:latin typeface="Arial"/>
                <a:cs typeface="Arial"/>
              </a:rPr>
              <a:t>Issue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spc="-105" b="1">
                <a:latin typeface="Arial"/>
                <a:cs typeface="Arial"/>
              </a:rPr>
              <a:t>Prospectus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75">
                <a:latin typeface="Arial"/>
                <a:cs typeface="Arial"/>
              </a:rPr>
              <a:t>issue </a:t>
            </a:r>
            <a:r>
              <a:rPr dirty="0" sz="1150" spc="-50">
                <a:latin typeface="Arial"/>
                <a:cs typeface="Arial"/>
              </a:rPr>
              <a:t>prospectus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selling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debentures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public.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60020" indent="-147955">
              <a:lnSpc>
                <a:spcPct val="100000"/>
              </a:lnSpc>
              <a:buAutoNum type="arabicPeriod" startAt="2"/>
              <a:tabLst>
                <a:tab pos="160655" algn="l"/>
              </a:tabLst>
            </a:pPr>
            <a:r>
              <a:rPr dirty="0" sz="1150" spc="-60" b="1">
                <a:latin typeface="Arial"/>
                <a:cs typeface="Arial"/>
              </a:rPr>
              <a:t>Allotment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114" b="1">
                <a:latin typeface="Arial"/>
                <a:cs typeface="Arial"/>
              </a:rPr>
              <a:t>Shares</a:t>
            </a:r>
            <a:endParaRPr sz="115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debentures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15">
                <a:latin typeface="Arial"/>
                <a:cs typeface="Arial"/>
              </a:rPr>
              <a:t>allotted </a:t>
            </a:r>
            <a:r>
              <a:rPr dirty="0" sz="1150" spc="-55">
                <a:latin typeface="Arial"/>
                <a:cs typeface="Arial"/>
              </a:rPr>
              <a:t>according </a:t>
            </a:r>
            <a:r>
              <a:rPr dirty="0" sz="1150" spc="2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 </a:t>
            </a:r>
            <a:r>
              <a:rPr dirty="0" sz="1150" spc="-55">
                <a:latin typeface="Arial"/>
                <a:cs typeface="Arial"/>
              </a:rPr>
              <a:t>visions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memorandum, </a:t>
            </a:r>
            <a:r>
              <a:rPr dirty="0" sz="1150" spc="-40">
                <a:latin typeface="Arial"/>
                <a:cs typeface="Arial"/>
              </a:rPr>
              <a:t>when  applications </a:t>
            </a:r>
            <a:r>
              <a:rPr dirty="0" sz="1150" spc="-50">
                <a:latin typeface="Arial"/>
                <a:cs typeface="Arial"/>
              </a:rPr>
              <a:t>are received </a:t>
            </a:r>
            <a:r>
              <a:rPr dirty="0" sz="1150" spc="-15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public.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59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35" b="1">
                <a:latin typeface="Arial"/>
                <a:cs typeface="Arial"/>
              </a:rPr>
              <a:t>3. </a:t>
            </a:r>
            <a:r>
              <a:rPr dirty="0" sz="1150" spc="-55" b="1">
                <a:latin typeface="Arial"/>
                <a:cs typeface="Arial"/>
              </a:rPr>
              <a:t>Minimum</a:t>
            </a:r>
            <a:r>
              <a:rPr dirty="0" sz="1150" spc="-80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Subscription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20">
                <a:latin typeface="Arial"/>
                <a:cs typeface="Arial"/>
              </a:rPr>
              <a:t>certified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55">
                <a:latin typeface="Arial"/>
                <a:cs typeface="Arial"/>
              </a:rPr>
              <a:t>been </a:t>
            </a:r>
            <a:r>
              <a:rPr dirty="0" sz="1150" spc="-15">
                <a:latin typeface="Arial"/>
                <a:cs typeface="Arial"/>
              </a:rPr>
              <a:t>allotted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30">
                <a:latin typeface="Arial"/>
                <a:cs typeface="Arial"/>
              </a:rPr>
              <a:t>amount, </a:t>
            </a:r>
            <a:r>
              <a:rPr dirty="0" sz="1150">
                <a:latin typeface="Arial"/>
                <a:cs typeface="Arial"/>
              </a:rPr>
              <a:t>not </a:t>
            </a:r>
            <a:r>
              <a:rPr dirty="0" sz="1150" spc="-80">
                <a:latin typeface="Arial"/>
                <a:cs typeface="Arial"/>
              </a:rPr>
              <a:t>less </a:t>
            </a:r>
            <a:r>
              <a:rPr dirty="0" sz="1150" spc="-30">
                <a:latin typeface="Arial"/>
                <a:cs typeface="Arial"/>
              </a:rPr>
              <a:t>than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30">
                <a:latin typeface="Arial"/>
                <a:cs typeface="Arial"/>
              </a:rPr>
              <a:t>minimum </a:t>
            </a:r>
            <a:r>
              <a:rPr dirty="0" sz="1150" spc="-40">
                <a:latin typeface="Arial"/>
                <a:cs typeface="Arial"/>
              </a:rPr>
              <a:t>subscription. </a:t>
            </a: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35">
                <a:latin typeface="Arial"/>
                <a:cs typeface="Arial"/>
              </a:rPr>
              <a:t>verifying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foregoing </a:t>
            </a:r>
            <a:r>
              <a:rPr dirty="0" sz="1150" spc="-45">
                <a:latin typeface="Arial"/>
                <a:cs typeface="Arial"/>
              </a:rPr>
              <a:t>documents,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registrar </a:t>
            </a:r>
            <a:r>
              <a:rPr dirty="0" sz="1150" spc="-80">
                <a:latin typeface="Arial"/>
                <a:cs typeface="Arial"/>
              </a:rPr>
              <a:t>issues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25">
                <a:latin typeface="Arial"/>
                <a:cs typeface="Arial"/>
              </a:rPr>
              <a:t>certificate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commencement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public </a:t>
            </a:r>
            <a:r>
              <a:rPr dirty="0" sz="1150" spc="-55">
                <a:latin typeface="Arial"/>
                <a:cs typeface="Arial"/>
              </a:rPr>
              <a:t>company.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60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23465" y="891035"/>
            <a:ext cx="3818254" cy="873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7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165" b="1">
                <a:latin typeface="Arial"/>
                <a:cs typeface="Arial"/>
              </a:rPr>
              <a:t>WHAT </a:t>
            </a:r>
            <a:r>
              <a:rPr dirty="0" sz="1750" spc="-185" b="1">
                <a:latin typeface="Arial"/>
                <a:cs typeface="Arial"/>
              </a:rPr>
              <a:t>IS </a:t>
            </a:r>
            <a:r>
              <a:rPr dirty="0" sz="1750" spc="-204" b="1">
                <a:latin typeface="Arial"/>
                <a:cs typeface="Arial"/>
              </a:rPr>
              <a:t>A</a:t>
            </a:r>
            <a:r>
              <a:rPr dirty="0" sz="1750" spc="60" b="1">
                <a:latin typeface="Arial"/>
                <a:cs typeface="Arial"/>
              </a:rPr>
              <a:t> </a:t>
            </a:r>
            <a:r>
              <a:rPr dirty="0" sz="1750" spc="-155" b="1">
                <a:latin typeface="Arial"/>
                <a:cs typeface="Arial"/>
              </a:rPr>
              <a:t>“MEETING”</a:t>
            </a:r>
            <a:endParaRPr sz="17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0269" y="1922783"/>
            <a:ext cx="5321300" cy="162750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5" i="1">
                <a:latin typeface="Arial"/>
                <a:cs typeface="Arial"/>
              </a:rPr>
              <a:t>“A</a:t>
            </a:r>
            <a:r>
              <a:rPr dirty="0" sz="1150" spc="-50" i="1">
                <a:latin typeface="Arial"/>
                <a:cs typeface="Arial"/>
              </a:rPr>
              <a:t> </a:t>
            </a:r>
            <a:r>
              <a:rPr dirty="0" sz="1150" spc="-35" i="1">
                <a:latin typeface="Arial"/>
                <a:cs typeface="Arial"/>
              </a:rPr>
              <a:t>gathering</a:t>
            </a:r>
            <a:r>
              <a:rPr dirty="0" sz="1150" spc="-55" i="1">
                <a:latin typeface="Arial"/>
                <a:cs typeface="Arial"/>
              </a:rPr>
              <a:t> </a:t>
            </a:r>
            <a:r>
              <a:rPr dirty="0" sz="1150" spc="-15" i="1">
                <a:latin typeface="Arial"/>
                <a:cs typeface="Arial"/>
              </a:rPr>
              <a:t>of</a:t>
            </a:r>
            <a:r>
              <a:rPr dirty="0" sz="1150" spc="-55" i="1">
                <a:latin typeface="Arial"/>
                <a:cs typeface="Arial"/>
              </a:rPr>
              <a:t> </a:t>
            </a:r>
            <a:r>
              <a:rPr dirty="0" sz="1150" i="1">
                <a:latin typeface="Arial"/>
                <a:cs typeface="Arial"/>
              </a:rPr>
              <a:t>two</a:t>
            </a:r>
            <a:r>
              <a:rPr dirty="0" sz="1150" spc="-55" i="1">
                <a:latin typeface="Arial"/>
                <a:cs typeface="Arial"/>
              </a:rPr>
              <a:t> </a:t>
            </a:r>
            <a:r>
              <a:rPr dirty="0" sz="1150" spc="-25" i="1">
                <a:latin typeface="Arial"/>
                <a:cs typeface="Arial"/>
              </a:rPr>
              <a:t>or</a:t>
            </a:r>
            <a:r>
              <a:rPr dirty="0" sz="1150" spc="-50" i="1">
                <a:latin typeface="Arial"/>
                <a:cs typeface="Arial"/>
              </a:rPr>
              <a:t> more </a:t>
            </a:r>
            <a:r>
              <a:rPr dirty="0" sz="1150" spc="-75" i="1">
                <a:latin typeface="Arial"/>
                <a:cs typeface="Arial"/>
              </a:rPr>
              <a:t>persons</a:t>
            </a:r>
            <a:r>
              <a:rPr dirty="0" sz="1150" spc="-55" i="1">
                <a:latin typeface="Arial"/>
                <a:cs typeface="Arial"/>
              </a:rPr>
              <a:t> </a:t>
            </a:r>
            <a:r>
              <a:rPr dirty="0" sz="1150" spc="-60" i="1">
                <a:latin typeface="Arial"/>
                <a:cs typeface="Arial"/>
              </a:rPr>
              <a:t>by</a:t>
            </a:r>
            <a:r>
              <a:rPr dirty="0" sz="1150" spc="-55" i="1">
                <a:latin typeface="Arial"/>
                <a:cs typeface="Arial"/>
              </a:rPr>
              <a:t> previous </a:t>
            </a:r>
            <a:r>
              <a:rPr dirty="0" sz="1150" spc="-40" i="1">
                <a:latin typeface="Arial"/>
                <a:cs typeface="Arial"/>
              </a:rPr>
              <a:t>notice</a:t>
            </a:r>
            <a:r>
              <a:rPr dirty="0" sz="1150" spc="-50" i="1">
                <a:latin typeface="Arial"/>
                <a:cs typeface="Arial"/>
              </a:rPr>
              <a:t> </a:t>
            </a:r>
            <a:r>
              <a:rPr dirty="0" sz="1150" spc="-25" i="1">
                <a:latin typeface="Arial"/>
                <a:cs typeface="Arial"/>
              </a:rPr>
              <a:t>or</a:t>
            </a:r>
            <a:r>
              <a:rPr dirty="0" sz="1150" spc="-50" i="1">
                <a:latin typeface="Arial"/>
                <a:cs typeface="Arial"/>
              </a:rPr>
              <a:t> </a:t>
            </a:r>
            <a:r>
              <a:rPr dirty="0" sz="1150" spc="-60" i="1">
                <a:latin typeface="Arial"/>
                <a:cs typeface="Arial"/>
              </a:rPr>
              <a:t>by</a:t>
            </a:r>
            <a:r>
              <a:rPr dirty="0" sz="1150" spc="-50" i="1">
                <a:latin typeface="Arial"/>
                <a:cs typeface="Arial"/>
              </a:rPr>
              <a:t> </a:t>
            </a:r>
            <a:r>
              <a:rPr dirty="0" sz="1150" spc="-25" i="1">
                <a:latin typeface="Arial"/>
                <a:cs typeface="Arial"/>
              </a:rPr>
              <a:t>mutual</a:t>
            </a:r>
            <a:r>
              <a:rPr dirty="0" sz="1150" spc="-50" i="1">
                <a:latin typeface="Arial"/>
                <a:cs typeface="Arial"/>
              </a:rPr>
              <a:t> </a:t>
            </a:r>
            <a:r>
              <a:rPr dirty="0" sz="1150" spc="-40" i="1">
                <a:latin typeface="Arial"/>
                <a:cs typeface="Arial"/>
              </a:rPr>
              <a:t>arrangement</a:t>
            </a:r>
            <a:r>
              <a:rPr dirty="0" sz="1150" spc="-55" i="1">
                <a:latin typeface="Arial"/>
                <a:cs typeface="Arial"/>
              </a:rPr>
              <a:t> </a:t>
            </a:r>
            <a:r>
              <a:rPr dirty="0" sz="1150" spc="-10" i="1">
                <a:latin typeface="Arial"/>
                <a:cs typeface="Arial"/>
              </a:rPr>
              <a:t>for</a:t>
            </a:r>
            <a:r>
              <a:rPr dirty="0" sz="1150" spc="-55" i="1">
                <a:latin typeface="Arial"/>
                <a:cs typeface="Arial"/>
              </a:rPr>
              <a:t> </a:t>
            </a:r>
            <a:r>
              <a:rPr dirty="0" sz="1150" spc="-30" i="1">
                <a:latin typeface="Arial"/>
                <a:cs typeface="Arial"/>
              </a:rPr>
              <a:t>the  </a:t>
            </a:r>
            <a:r>
              <a:rPr dirty="0" sz="1150" spc="-70" i="1">
                <a:latin typeface="Arial"/>
                <a:cs typeface="Arial"/>
              </a:rPr>
              <a:t>discussion </a:t>
            </a:r>
            <a:r>
              <a:rPr dirty="0" sz="1150" spc="-55" i="1">
                <a:latin typeface="Arial"/>
                <a:cs typeface="Arial"/>
              </a:rPr>
              <a:t>and </a:t>
            </a:r>
            <a:r>
              <a:rPr dirty="0" sz="1150" spc="-35" i="1">
                <a:latin typeface="Arial"/>
                <a:cs typeface="Arial"/>
              </a:rPr>
              <a:t>transaction </a:t>
            </a:r>
            <a:r>
              <a:rPr dirty="0" sz="1150" spc="-15" i="1">
                <a:latin typeface="Arial"/>
                <a:cs typeface="Arial"/>
              </a:rPr>
              <a:t>of </a:t>
            </a:r>
            <a:r>
              <a:rPr dirty="0" sz="1150" spc="-85" i="1">
                <a:latin typeface="Arial"/>
                <a:cs typeface="Arial"/>
              </a:rPr>
              <a:t>some </a:t>
            </a:r>
            <a:r>
              <a:rPr dirty="0" sz="1150" spc="-80" i="1">
                <a:latin typeface="Arial"/>
                <a:cs typeface="Arial"/>
              </a:rPr>
              <a:t>business </a:t>
            </a:r>
            <a:r>
              <a:rPr dirty="0" sz="1150" spc="-65" i="1">
                <a:latin typeface="Arial"/>
                <a:cs typeface="Arial"/>
              </a:rPr>
              <a:t>is </a:t>
            </a:r>
            <a:r>
              <a:rPr dirty="0" sz="1150" spc="-45" i="1">
                <a:latin typeface="Arial"/>
                <a:cs typeface="Arial"/>
              </a:rPr>
              <a:t>called</a:t>
            </a:r>
            <a:r>
              <a:rPr dirty="0" sz="1150" spc="-85" i="1">
                <a:latin typeface="Arial"/>
                <a:cs typeface="Arial"/>
              </a:rPr>
              <a:t> </a:t>
            </a:r>
            <a:r>
              <a:rPr dirty="0" sz="1150" spc="-25" i="1">
                <a:latin typeface="Arial"/>
                <a:cs typeface="Arial"/>
              </a:rPr>
              <a:t>meeting.”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Arial"/>
              <a:cs typeface="Arial"/>
            </a:endParaRPr>
          </a:p>
          <a:p>
            <a:pPr marL="1923414" marR="1716405" indent="-9525">
              <a:lnSpc>
                <a:spcPct val="101699"/>
              </a:lnSpc>
            </a:pPr>
            <a:r>
              <a:rPr dirty="0" sz="1150" spc="-160" b="1">
                <a:latin typeface="Arial"/>
                <a:cs typeface="Arial"/>
              </a:rPr>
              <a:t>SHAREHOLDERS’ </a:t>
            </a:r>
            <a:r>
              <a:rPr dirty="0" sz="1150" spc="-125" b="1">
                <a:latin typeface="Arial"/>
                <a:cs typeface="Arial"/>
              </a:rPr>
              <a:t>MEETINGS  </a:t>
            </a:r>
            <a:r>
              <a:rPr dirty="0" sz="1150" spc="-110" b="1">
                <a:latin typeface="Arial"/>
                <a:cs typeface="Arial"/>
              </a:rPr>
              <a:t>AND </a:t>
            </a:r>
            <a:r>
              <a:rPr dirty="0" sz="1150" spc="-125" b="1">
                <a:latin typeface="Arial"/>
                <a:cs typeface="Arial"/>
              </a:rPr>
              <a:t>COMPANY’S</a:t>
            </a:r>
            <a:r>
              <a:rPr dirty="0" sz="1150" spc="-50" b="1">
                <a:latin typeface="Arial"/>
                <a:cs typeface="Arial"/>
              </a:rPr>
              <a:t> </a:t>
            </a:r>
            <a:r>
              <a:rPr dirty="0" sz="1150" spc="-110" b="1">
                <a:latin typeface="Arial"/>
                <a:cs typeface="Arial"/>
              </a:rPr>
              <a:t>MEETING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343535">
              <a:lnSpc>
                <a:spcPct val="101699"/>
              </a:lnSpc>
            </a:pPr>
            <a:r>
              <a:rPr dirty="0" sz="1150" spc="-25">
                <a:latin typeface="Arial"/>
                <a:cs typeface="Arial"/>
              </a:rPr>
              <a:t>“When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members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40">
                <a:latin typeface="Arial"/>
                <a:cs typeface="Arial"/>
              </a:rPr>
              <a:t>gather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certain </a:t>
            </a:r>
            <a:r>
              <a:rPr dirty="0" sz="1150" spc="-10">
                <a:latin typeface="Arial"/>
                <a:cs typeface="Arial"/>
              </a:rPr>
              <a:t>time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place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discuss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managing </a:t>
            </a:r>
            <a:r>
              <a:rPr dirty="0" sz="1150" spc="-40">
                <a:latin typeface="Arial"/>
                <a:cs typeface="Arial"/>
              </a:rPr>
              <a:t>affairs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35">
                <a:latin typeface="Arial"/>
                <a:cs typeface="Arial"/>
              </a:rPr>
              <a:t>meeting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company.”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90035" y="3701290"/>
            <a:ext cx="3190875" cy="353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50" spc="-140">
                <a:latin typeface="Arial"/>
                <a:cs typeface="Arial"/>
              </a:rPr>
              <a:t>Kinds </a:t>
            </a:r>
            <a:r>
              <a:rPr dirty="0" sz="2150" spc="-10">
                <a:latin typeface="Arial"/>
                <a:cs typeface="Arial"/>
              </a:rPr>
              <a:t>of </a:t>
            </a:r>
            <a:r>
              <a:rPr dirty="0" sz="2150" spc="-125">
                <a:latin typeface="Arial"/>
                <a:cs typeface="Arial"/>
              </a:rPr>
              <a:t>Company’s</a:t>
            </a:r>
            <a:r>
              <a:rPr dirty="0" sz="2150" spc="-240">
                <a:latin typeface="Arial"/>
                <a:cs typeface="Arial"/>
              </a:rPr>
              <a:t> </a:t>
            </a:r>
            <a:r>
              <a:rPr dirty="0" sz="2150" spc="-50">
                <a:latin typeface="Arial"/>
                <a:cs typeface="Arial"/>
              </a:rPr>
              <a:t>Meeting</a:t>
            </a:r>
            <a:endParaRPr sz="2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01869" y="4752850"/>
            <a:ext cx="843915" cy="3797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245">
                <a:latin typeface="Arial"/>
                <a:cs typeface="Arial"/>
              </a:rPr>
              <a:t>S</a:t>
            </a:r>
            <a:r>
              <a:rPr dirty="0" sz="1150" spc="-45">
                <a:latin typeface="Arial"/>
                <a:cs typeface="Arial"/>
              </a:rPr>
              <a:t>h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10">
                <a:latin typeface="Arial"/>
                <a:cs typeface="Arial"/>
              </a:rPr>
              <a:t>r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 spc="-45">
                <a:latin typeface="Arial"/>
                <a:cs typeface="Arial"/>
              </a:rPr>
              <a:t>h</a:t>
            </a:r>
            <a:r>
              <a:rPr dirty="0" sz="1150" spc="-30">
                <a:latin typeface="Arial"/>
                <a:cs typeface="Arial"/>
              </a:rPr>
              <a:t>o</a:t>
            </a:r>
            <a:r>
              <a:rPr dirty="0" sz="1150">
                <a:latin typeface="Arial"/>
                <a:cs typeface="Arial"/>
              </a:rPr>
              <a:t>l</a:t>
            </a:r>
            <a:r>
              <a:rPr dirty="0" sz="1150" spc="-45">
                <a:latin typeface="Arial"/>
                <a:cs typeface="Arial"/>
              </a:rPr>
              <a:t>d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 spc="10">
                <a:latin typeface="Arial"/>
                <a:cs typeface="Arial"/>
              </a:rPr>
              <a:t>r</a:t>
            </a:r>
            <a:r>
              <a:rPr dirty="0" sz="1150" spc="-125">
                <a:latin typeface="Arial"/>
                <a:cs typeface="Arial"/>
              </a:rPr>
              <a:t>s</a:t>
            </a:r>
            <a:r>
              <a:rPr dirty="0" sz="1150" spc="35">
                <a:latin typeface="Arial"/>
                <a:cs typeface="Arial"/>
              </a:rPr>
              <a:t>’ </a:t>
            </a:r>
            <a:r>
              <a:rPr dirty="0" sz="1150" spc="35">
                <a:latin typeface="Times New Roman"/>
                <a:cs typeface="Times New Roman"/>
              </a:rPr>
              <a:t> </a:t>
            </a:r>
            <a:r>
              <a:rPr dirty="0" sz="1150" spc="-40">
                <a:latin typeface="Arial"/>
                <a:cs typeface="Arial"/>
              </a:rPr>
              <a:t>Meetings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87800" y="4752850"/>
            <a:ext cx="606425" cy="3797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 indent="-635">
              <a:lnSpc>
                <a:spcPct val="101699"/>
              </a:lnSpc>
              <a:spcBef>
                <a:spcPts val="75"/>
              </a:spcBef>
            </a:pPr>
            <a:r>
              <a:rPr dirty="0" sz="1150" spc="-125">
                <a:latin typeface="Arial"/>
                <a:cs typeface="Arial"/>
              </a:rPr>
              <a:t>D</a:t>
            </a: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10">
                <a:latin typeface="Arial"/>
                <a:cs typeface="Arial"/>
              </a:rPr>
              <a:t>r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 spc="-85">
                <a:latin typeface="Arial"/>
                <a:cs typeface="Arial"/>
              </a:rPr>
              <a:t>c</a:t>
            </a:r>
            <a:r>
              <a:rPr dirty="0" sz="1150" spc="60">
                <a:latin typeface="Arial"/>
                <a:cs typeface="Arial"/>
              </a:rPr>
              <a:t>t</a:t>
            </a:r>
            <a:r>
              <a:rPr dirty="0" sz="1150" spc="-30">
                <a:latin typeface="Arial"/>
                <a:cs typeface="Arial"/>
              </a:rPr>
              <a:t>o</a:t>
            </a:r>
            <a:r>
              <a:rPr dirty="0" sz="1150" spc="10">
                <a:latin typeface="Arial"/>
                <a:cs typeface="Arial"/>
              </a:rPr>
              <a:t>r</a:t>
            </a:r>
            <a:r>
              <a:rPr dirty="0" sz="1150" spc="-125">
                <a:latin typeface="Arial"/>
                <a:cs typeface="Arial"/>
              </a:rPr>
              <a:t>s</a:t>
            </a:r>
            <a:r>
              <a:rPr dirty="0" sz="1150" spc="35">
                <a:latin typeface="Arial"/>
                <a:cs typeface="Arial"/>
              </a:rPr>
              <a:t>’ </a:t>
            </a:r>
            <a:r>
              <a:rPr dirty="0" sz="1150" spc="35">
                <a:latin typeface="Times New Roman"/>
                <a:cs typeface="Times New Roman"/>
              </a:rPr>
              <a:t> </a:t>
            </a:r>
            <a:r>
              <a:rPr dirty="0" sz="1150" spc="-30">
                <a:latin typeface="Arial"/>
                <a:cs typeface="Arial"/>
              </a:rPr>
              <a:t>Meeting</a:t>
            </a:r>
            <a:endParaRPr sz="115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568406" y="5692141"/>
          <a:ext cx="2393315" cy="502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5810"/>
                <a:gridCol w="886460"/>
                <a:gridCol w="739775"/>
              </a:tblGrid>
              <a:tr h="162305">
                <a:tc>
                  <a:txBody>
                    <a:bodyPr/>
                    <a:lstStyle/>
                    <a:p>
                      <a:pPr marL="31750">
                        <a:lnSpc>
                          <a:spcPts val="1095"/>
                        </a:lnSpc>
                      </a:pPr>
                      <a:r>
                        <a:rPr dirty="0" sz="1150" spc="-30">
                          <a:latin typeface="Arial"/>
                          <a:cs typeface="Arial"/>
                        </a:rPr>
                        <a:t>Statutory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ts val="1095"/>
                        </a:lnSpc>
                      </a:pPr>
                      <a:r>
                        <a:rPr dirty="0" sz="1150" spc="-50">
                          <a:latin typeface="Arial"/>
                          <a:cs typeface="Arial"/>
                        </a:rPr>
                        <a:t>Annual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ts val="1095"/>
                        </a:lnSpc>
                      </a:pPr>
                      <a:r>
                        <a:rPr dirty="0" sz="1150" spc="-55">
                          <a:latin typeface="Arial"/>
                          <a:cs typeface="Arial"/>
                        </a:rPr>
                        <a:t>Extra-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78307">
                <a:tc>
                  <a:txBody>
                    <a:bodyPr/>
                    <a:lstStyle/>
                    <a:p>
                      <a:pPr marL="31750">
                        <a:lnSpc>
                          <a:spcPts val="1220"/>
                        </a:lnSpc>
                      </a:pPr>
                      <a:r>
                        <a:rPr dirty="0" sz="1150" spc="-30">
                          <a:latin typeface="Arial"/>
                          <a:cs typeface="Arial"/>
                        </a:rPr>
                        <a:t>Meeting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ts val="1220"/>
                        </a:lnSpc>
                      </a:pPr>
                      <a:r>
                        <a:rPr dirty="0" sz="1150" spc="-60">
                          <a:latin typeface="Arial"/>
                          <a:cs typeface="Arial"/>
                        </a:rPr>
                        <a:t>General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ts val="1220"/>
                        </a:lnSpc>
                      </a:pPr>
                      <a:r>
                        <a:rPr dirty="0" sz="1150" spc="-30">
                          <a:latin typeface="Arial"/>
                          <a:cs typeface="Arial"/>
                        </a:rPr>
                        <a:t>ordinary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623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ts val="1180"/>
                        </a:lnSpc>
                      </a:pPr>
                      <a:r>
                        <a:rPr dirty="0" sz="1150" spc="-30">
                          <a:latin typeface="Arial"/>
                          <a:cs typeface="Arial"/>
                        </a:rPr>
                        <a:t>Meeting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ts val="1180"/>
                        </a:lnSpc>
                      </a:pPr>
                      <a:r>
                        <a:rPr dirty="0" sz="1150" spc="-30">
                          <a:latin typeface="Arial"/>
                          <a:cs typeface="Arial"/>
                        </a:rPr>
                        <a:t>Meeting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130248" y="6534405"/>
            <a:ext cx="5512435" cy="1984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60" b="1">
                <a:latin typeface="Arial"/>
                <a:cs typeface="Arial"/>
              </a:rPr>
              <a:t>SHAREHOLDERS’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125" b="1">
                <a:latin typeface="Arial"/>
                <a:cs typeface="Arial"/>
              </a:rPr>
              <a:t>MEETINGS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meetings,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5">
                <a:latin typeface="Arial"/>
                <a:cs typeface="Arial"/>
              </a:rPr>
              <a:t>discus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affairs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50">
                <a:latin typeface="Arial"/>
                <a:cs typeface="Arial"/>
              </a:rPr>
              <a:t>shareholders, are  </a:t>
            </a:r>
            <a:r>
              <a:rPr dirty="0" sz="1150" spc="-45">
                <a:latin typeface="Arial"/>
                <a:cs typeface="Arial"/>
              </a:rPr>
              <a:t>called shareholders’ </a:t>
            </a:r>
            <a:r>
              <a:rPr dirty="0" sz="1150" spc="-50">
                <a:latin typeface="Arial"/>
                <a:cs typeface="Arial"/>
              </a:rPr>
              <a:t>meetings. </a:t>
            </a:r>
            <a:r>
              <a:rPr dirty="0" sz="1150" spc="-95">
                <a:latin typeface="Arial"/>
                <a:cs typeface="Arial"/>
              </a:rPr>
              <a:t>These </a:t>
            </a:r>
            <a:r>
              <a:rPr dirty="0" sz="1150" spc="-50">
                <a:latin typeface="Arial"/>
                <a:cs typeface="Arial"/>
              </a:rPr>
              <a:t>meetings </a:t>
            </a:r>
            <a:r>
              <a:rPr dirty="0" sz="1150" spc="-70">
                <a:latin typeface="Arial"/>
                <a:cs typeface="Arial"/>
              </a:rPr>
              <a:t>have </a:t>
            </a:r>
            <a:r>
              <a:rPr dirty="0" sz="1150" spc="-20">
                <a:latin typeface="Arial"/>
                <a:cs typeface="Arial"/>
              </a:rPr>
              <a:t>following </a:t>
            </a:r>
            <a:r>
              <a:rPr dirty="0" sz="1150" spc="-25">
                <a:latin typeface="Arial"/>
                <a:cs typeface="Arial"/>
              </a:rPr>
              <a:t>three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kinds: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150" spc="-150" b="1">
                <a:latin typeface="Arial"/>
                <a:cs typeface="Arial"/>
              </a:rPr>
              <a:t>STATUTORY</a:t>
            </a:r>
            <a:r>
              <a:rPr dirty="0" sz="1150" spc="-70" b="1">
                <a:latin typeface="Arial"/>
                <a:cs typeface="Arial"/>
              </a:rPr>
              <a:t> </a:t>
            </a:r>
            <a:r>
              <a:rPr dirty="0" sz="1150" spc="-110" b="1">
                <a:latin typeface="Arial"/>
                <a:cs typeface="Arial"/>
              </a:rPr>
              <a:t>MEETING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55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section </a:t>
            </a:r>
            <a:r>
              <a:rPr dirty="0" sz="1150" spc="-50">
                <a:latin typeface="Arial"/>
                <a:cs typeface="Arial"/>
              </a:rPr>
              <a:t>157, </a:t>
            </a:r>
            <a:r>
              <a:rPr dirty="0" sz="1150" spc="-30">
                <a:latin typeface="Arial"/>
                <a:cs typeface="Arial"/>
              </a:rPr>
              <a:t>this meting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held </a:t>
            </a:r>
            <a:r>
              <a:rPr dirty="0" sz="1150" spc="-30">
                <a:latin typeface="Arial"/>
                <a:cs typeface="Arial"/>
              </a:rPr>
              <a:t>only </a:t>
            </a:r>
            <a:r>
              <a:rPr dirty="0" sz="1150" spc="-55">
                <a:latin typeface="Arial"/>
                <a:cs typeface="Arial"/>
              </a:rPr>
              <a:t>once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10">
                <a:latin typeface="Arial"/>
                <a:cs typeface="Arial"/>
              </a:rPr>
              <a:t>life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public </a:t>
            </a:r>
            <a:r>
              <a:rPr dirty="0" sz="1150" spc="-55">
                <a:latin typeface="Arial"/>
                <a:cs typeface="Arial"/>
              </a:rPr>
              <a:t>company.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">
                <a:latin typeface="Arial"/>
                <a:cs typeface="Arial"/>
              </a:rPr>
              <a:t>first </a:t>
            </a:r>
            <a:r>
              <a:rPr dirty="0" sz="1150" spc="-35">
                <a:latin typeface="Arial"/>
                <a:cs typeface="Arial"/>
              </a:rPr>
              <a:t>meeting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members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public </a:t>
            </a:r>
            <a:r>
              <a:rPr dirty="0" sz="1150" spc="-10">
                <a:latin typeface="Arial"/>
                <a:cs typeface="Arial"/>
              </a:rPr>
              <a:t>limited </a:t>
            </a:r>
            <a:r>
              <a:rPr dirty="0" sz="1150" spc="-55">
                <a:latin typeface="Arial"/>
                <a:cs typeface="Arial"/>
              </a:rPr>
              <a:t>company. </a:t>
            </a:r>
            <a:r>
              <a:rPr dirty="0" sz="1150" spc="-35">
                <a:latin typeface="Arial"/>
                <a:cs typeface="Arial"/>
              </a:rPr>
              <a:t>Its </a:t>
            </a:r>
            <a:r>
              <a:rPr dirty="0" sz="1150" spc="-40">
                <a:latin typeface="Arial"/>
                <a:cs typeface="Arial"/>
              </a:rPr>
              <a:t>main </a:t>
            </a:r>
            <a:r>
              <a:rPr dirty="0" sz="1150" spc="-30">
                <a:latin typeface="Arial"/>
                <a:cs typeface="Arial"/>
              </a:rPr>
              <a:t>objective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35">
                <a:latin typeface="Arial"/>
                <a:cs typeface="Arial"/>
              </a:rPr>
              <a:t>provide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shareholders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5">
                <a:latin typeface="Arial"/>
                <a:cs typeface="Arial"/>
              </a:rPr>
              <a:t>first </a:t>
            </a:r>
            <a:r>
              <a:rPr dirty="0" sz="1150" spc="-55">
                <a:latin typeface="Arial"/>
                <a:cs typeface="Arial"/>
              </a:rPr>
              <a:t>hand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exact </a:t>
            </a:r>
            <a:r>
              <a:rPr dirty="0" sz="1150" spc="-30">
                <a:latin typeface="Arial"/>
                <a:cs typeface="Arial"/>
              </a:rPr>
              <a:t>position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company’s  </a:t>
            </a:r>
            <a:r>
              <a:rPr dirty="0" sz="1150" spc="-35">
                <a:latin typeface="Arial"/>
                <a:cs typeface="Arial"/>
              </a:rPr>
              <a:t>affairs.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43200" y="4399788"/>
            <a:ext cx="2514600" cy="289560"/>
          </a:xfrm>
          <a:custGeom>
            <a:avLst/>
            <a:gdLst/>
            <a:ahLst/>
            <a:cxnLst/>
            <a:rect l="l" t="t" r="r" b="b"/>
            <a:pathLst>
              <a:path w="2514600" h="289560">
                <a:moveTo>
                  <a:pt x="0" y="0"/>
                </a:moveTo>
                <a:lnTo>
                  <a:pt x="2514599" y="0"/>
                </a:lnTo>
              </a:path>
              <a:path w="2514600" h="289560">
                <a:moveTo>
                  <a:pt x="0" y="0"/>
                </a:moveTo>
                <a:lnTo>
                  <a:pt x="0" y="289559"/>
                </a:lnTo>
              </a:path>
              <a:path w="2514600" h="289560">
                <a:moveTo>
                  <a:pt x="2514599" y="0"/>
                </a:moveTo>
                <a:lnTo>
                  <a:pt x="2514599" y="28955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71900" y="3895344"/>
            <a:ext cx="0" cy="342900"/>
          </a:xfrm>
          <a:custGeom>
            <a:avLst/>
            <a:gdLst/>
            <a:ahLst/>
            <a:cxnLst/>
            <a:rect l="l" t="t" r="r" b="b"/>
            <a:pathLst>
              <a:path w="0" h="342900">
                <a:moveTo>
                  <a:pt x="0" y="0"/>
                </a:moveTo>
                <a:lnTo>
                  <a:pt x="0" y="3428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828800" y="5161788"/>
            <a:ext cx="1828800" cy="419100"/>
          </a:xfrm>
          <a:custGeom>
            <a:avLst/>
            <a:gdLst/>
            <a:ahLst/>
            <a:cxnLst/>
            <a:rect l="l" t="t" r="r" b="b"/>
            <a:pathLst>
              <a:path w="1828800" h="419100">
                <a:moveTo>
                  <a:pt x="914399" y="0"/>
                </a:moveTo>
                <a:lnTo>
                  <a:pt x="914399" y="167639"/>
                </a:lnTo>
              </a:path>
              <a:path w="1828800" h="419100">
                <a:moveTo>
                  <a:pt x="0" y="170687"/>
                </a:moveTo>
                <a:lnTo>
                  <a:pt x="1828799" y="170687"/>
                </a:lnTo>
              </a:path>
              <a:path w="1828800" h="419100">
                <a:moveTo>
                  <a:pt x="0" y="173735"/>
                </a:moveTo>
                <a:lnTo>
                  <a:pt x="0" y="402335"/>
                </a:lnTo>
              </a:path>
              <a:path w="1828800" h="419100">
                <a:moveTo>
                  <a:pt x="1828799" y="190499"/>
                </a:moveTo>
                <a:lnTo>
                  <a:pt x="1828799" y="4190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61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84" y="892559"/>
            <a:ext cx="5513705" cy="8092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9265" algn="l"/>
                <a:tab pos="470534" algn="l"/>
              </a:tabLst>
            </a:pPr>
            <a:r>
              <a:rPr dirty="0" sz="1150" spc="-145" b="1">
                <a:latin typeface="Arial"/>
                <a:cs typeface="Arial"/>
              </a:rPr>
              <a:t>By </a:t>
            </a:r>
            <a:r>
              <a:rPr dirty="0" sz="1150" spc="-75" b="1">
                <a:latin typeface="Arial"/>
                <a:cs typeface="Arial"/>
              </a:rPr>
              <a:t>whom </a:t>
            </a:r>
            <a:r>
              <a:rPr dirty="0" sz="1150" spc="-85" b="1">
                <a:latin typeface="Arial"/>
                <a:cs typeface="Arial"/>
              </a:rPr>
              <a:t>and </a:t>
            </a:r>
            <a:r>
              <a:rPr dirty="0" sz="1150" spc="-70" b="1">
                <a:latin typeface="Arial"/>
                <a:cs typeface="Arial"/>
              </a:rPr>
              <a:t>when</a:t>
            </a:r>
            <a:r>
              <a:rPr dirty="0" sz="1150" spc="-120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held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60">
                <a:latin typeface="Arial"/>
                <a:cs typeface="Arial"/>
              </a:rPr>
              <a:t>Section </a:t>
            </a:r>
            <a:r>
              <a:rPr dirty="0" sz="1150" spc="-55">
                <a:latin typeface="Arial"/>
                <a:cs typeface="Arial"/>
              </a:rPr>
              <a:t>77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Companies </a:t>
            </a:r>
            <a:r>
              <a:rPr dirty="0" sz="1150" spc="-55">
                <a:latin typeface="Arial"/>
                <a:cs typeface="Arial"/>
              </a:rPr>
              <a:t>Ordinance, 1984, </a:t>
            </a:r>
            <a:r>
              <a:rPr dirty="0" sz="1150" spc="-80">
                <a:latin typeface="Arial"/>
                <a:cs typeface="Arial"/>
              </a:rPr>
              <a:t>makes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45">
                <a:latin typeface="Arial"/>
                <a:cs typeface="Arial"/>
              </a:rPr>
              <a:t>compulsory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for: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35">
                <a:latin typeface="Arial"/>
                <a:cs typeface="Arial"/>
              </a:rPr>
              <a:t>public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15">
                <a:latin typeface="Arial"/>
                <a:cs typeface="Arial"/>
              </a:rPr>
              <a:t>limited </a:t>
            </a:r>
            <a:r>
              <a:rPr dirty="0" sz="1150" spc="-50">
                <a:latin typeface="Arial"/>
                <a:cs typeface="Arial"/>
              </a:rPr>
              <a:t>by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shares,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35">
                <a:latin typeface="Arial"/>
                <a:cs typeface="Arial"/>
              </a:rPr>
              <a:t>public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15">
                <a:latin typeface="Arial"/>
                <a:cs typeface="Arial"/>
              </a:rPr>
              <a:t>limited </a:t>
            </a:r>
            <a:r>
              <a:rPr dirty="0" sz="1150" spc="-50">
                <a:latin typeface="Arial"/>
                <a:cs typeface="Arial"/>
              </a:rPr>
              <a:t>by guarantee,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30">
                <a:latin typeface="Arial"/>
                <a:cs typeface="Arial"/>
              </a:rPr>
              <a:t>private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40">
                <a:latin typeface="Arial"/>
                <a:cs typeface="Arial"/>
              </a:rPr>
              <a:t>converted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35">
                <a:latin typeface="Arial"/>
                <a:cs typeface="Arial"/>
              </a:rPr>
              <a:t>public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Symbol"/>
              <a:buChar char=""/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statutory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meeting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must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held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within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period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not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less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than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3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months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not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more  than</a:t>
            </a:r>
            <a:r>
              <a:rPr dirty="0" sz="1150" spc="-60">
                <a:latin typeface="Arial"/>
                <a:cs typeface="Arial"/>
              </a:rPr>
              <a:t> 6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months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from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date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at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which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entitled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commence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469265" algn="l"/>
                <a:tab pos="470534" algn="l"/>
              </a:tabLst>
            </a:pPr>
            <a:r>
              <a:rPr dirty="0" sz="1150" spc="-90" b="1">
                <a:latin typeface="Arial"/>
                <a:cs typeface="Arial"/>
              </a:rPr>
              <a:t>Objects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35">
                <a:latin typeface="Arial"/>
                <a:cs typeface="Arial"/>
              </a:rPr>
              <a:t>Its </a:t>
            </a:r>
            <a:r>
              <a:rPr dirty="0" sz="1150" spc="-40">
                <a:latin typeface="Arial"/>
                <a:cs typeface="Arial"/>
              </a:rPr>
              <a:t>main </a:t>
            </a:r>
            <a:r>
              <a:rPr dirty="0" sz="1150" spc="-25">
                <a:latin typeface="Arial"/>
                <a:cs typeface="Arial"/>
              </a:rPr>
              <a:t>object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is: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provide </a:t>
            </a:r>
            <a:r>
              <a:rPr dirty="0" sz="1150" spc="-55">
                <a:latin typeface="Arial"/>
                <a:cs typeface="Arial"/>
              </a:rPr>
              <a:t>exact and </a:t>
            </a:r>
            <a:r>
              <a:rPr dirty="0" sz="1150" spc="-30">
                <a:latin typeface="Arial"/>
                <a:cs typeface="Arial"/>
              </a:rPr>
              <a:t>latest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affairs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company,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win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confidence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shareholders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company, and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80">
                <a:latin typeface="Arial"/>
                <a:cs typeface="Arial"/>
              </a:rPr>
              <a:t>discuss </a:t>
            </a:r>
            <a:r>
              <a:rPr dirty="0" sz="1150" spc="-20">
                <a:latin typeface="Arial"/>
                <a:cs typeface="Arial"/>
              </a:rPr>
              <a:t>the statutory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report.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150" spc="-70" b="1">
                <a:latin typeface="Arial"/>
                <a:cs typeface="Arial"/>
              </a:rPr>
              <a:t>Notice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3"/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20">
                <a:latin typeface="Arial"/>
                <a:cs typeface="Arial"/>
              </a:rPr>
              <a:t>At </a:t>
            </a:r>
            <a:r>
              <a:rPr dirty="0" sz="1150" spc="-45">
                <a:latin typeface="Arial"/>
                <a:cs typeface="Arial"/>
              </a:rPr>
              <a:t>least </a:t>
            </a:r>
            <a:r>
              <a:rPr dirty="0" sz="1150" spc="-65">
                <a:latin typeface="Arial"/>
                <a:cs typeface="Arial"/>
              </a:rPr>
              <a:t>21 </a:t>
            </a:r>
            <a:r>
              <a:rPr dirty="0" sz="1150" spc="-80">
                <a:latin typeface="Arial"/>
                <a:cs typeface="Arial"/>
              </a:rPr>
              <a:t>days </a:t>
            </a:r>
            <a:r>
              <a:rPr dirty="0" sz="1150" spc="-30">
                <a:latin typeface="Arial"/>
                <a:cs typeface="Arial"/>
              </a:rPr>
              <a:t>before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meeting,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notice </a:t>
            </a:r>
            <a:r>
              <a:rPr dirty="0" sz="1150" spc="-40">
                <a:latin typeface="Arial"/>
                <a:cs typeface="Arial"/>
              </a:rPr>
              <a:t>must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5">
                <a:latin typeface="Arial"/>
                <a:cs typeface="Arial"/>
              </a:rPr>
              <a:t>sent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0">
                <a:latin typeface="Arial"/>
                <a:cs typeface="Arial"/>
              </a:rPr>
              <a:t>each </a:t>
            </a:r>
            <a:r>
              <a:rPr dirty="0" sz="1150" spc="-45">
                <a:latin typeface="Arial"/>
                <a:cs typeface="Arial"/>
              </a:rPr>
              <a:t>shareholder </a:t>
            </a:r>
            <a:r>
              <a:rPr dirty="0" sz="1150" spc="-55">
                <a:latin typeface="Arial"/>
                <a:cs typeface="Arial"/>
              </a:rPr>
              <a:t>along </a:t>
            </a:r>
            <a:r>
              <a:rPr dirty="0" sz="1150" spc="5">
                <a:latin typeface="Arial"/>
                <a:cs typeface="Arial"/>
              </a:rPr>
              <a:t>with  </a:t>
            </a:r>
            <a:r>
              <a:rPr dirty="0" sz="1150" spc="-20">
                <a:latin typeface="Arial"/>
                <a:cs typeface="Arial"/>
              </a:rPr>
              <a:t>the statutory </a:t>
            </a:r>
            <a:r>
              <a:rPr dirty="0" sz="1150" spc="-15">
                <a:latin typeface="Arial"/>
                <a:cs typeface="Arial"/>
              </a:rPr>
              <a:t>report,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15">
                <a:latin typeface="Arial"/>
                <a:cs typeface="Arial"/>
              </a:rPr>
              <a:t>the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secretary.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469265" algn="l"/>
                <a:tab pos="469900" algn="l"/>
              </a:tabLst>
            </a:pPr>
            <a:r>
              <a:rPr dirty="0" sz="1150" spc="-80" b="1">
                <a:latin typeface="Arial"/>
                <a:cs typeface="Arial"/>
              </a:rPr>
              <a:t>How </a:t>
            </a:r>
            <a:r>
              <a:rPr dirty="0" sz="1150" spc="-45" b="1">
                <a:latin typeface="Arial"/>
                <a:cs typeface="Arial"/>
              </a:rPr>
              <a:t>the </a:t>
            </a:r>
            <a:r>
              <a:rPr dirty="0" sz="1150" spc="-75" b="1">
                <a:latin typeface="Arial"/>
                <a:cs typeface="Arial"/>
              </a:rPr>
              <a:t>meeting </a:t>
            </a:r>
            <a:r>
              <a:rPr dirty="0" sz="1150" spc="-110" b="1">
                <a:latin typeface="Arial"/>
                <a:cs typeface="Arial"/>
              </a:rPr>
              <a:t>is</a:t>
            </a:r>
            <a:r>
              <a:rPr dirty="0" sz="1150" spc="-40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called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4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Under </a:t>
            </a:r>
            <a:r>
              <a:rPr dirty="0" sz="1150" spc="-40">
                <a:latin typeface="Arial"/>
                <a:cs typeface="Arial"/>
              </a:rPr>
              <a:t>section </a:t>
            </a:r>
            <a:r>
              <a:rPr dirty="0" sz="1150" spc="-50">
                <a:latin typeface="Arial"/>
                <a:cs typeface="Arial"/>
              </a:rPr>
              <a:t>157(2)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Companies </a:t>
            </a:r>
            <a:r>
              <a:rPr dirty="0" sz="1150" spc="-55">
                <a:latin typeface="Arial"/>
                <a:cs typeface="Arial"/>
              </a:rPr>
              <a:t>Ordinance,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directors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70">
                <a:latin typeface="Arial"/>
                <a:cs typeface="Arial"/>
              </a:rPr>
              <a:t>send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notice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20">
                <a:latin typeface="Arial"/>
                <a:cs typeface="Arial"/>
              </a:rPr>
              <a:t>statutory </a:t>
            </a:r>
            <a:r>
              <a:rPr dirty="0" sz="1150" spc="-40">
                <a:latin typeface="Arial"/>
                <a:cs typeface="Arial"/>
              </a:rPr>
              <a:t>meeting,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shareholders,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45">
                <a:latin typeface="Arial"/>
                <a:cs typeface="Arial"/>
              </a:rPr>
              <a:t>least </a:t>
            </a:r>
            <a:r>
              <a:rPr dirty="0" sz="1150" spc="-55">
                <a:latin typeface="Arial"/>
                <a:cs typeface="Arial"/>
              </a:rPr>
              <a:t>21 </a:t>
            </a:r>
            <a:r>
              <a:rPr dirty="0" sz="1150" spc="-80">
                <a:latin typeface="Arial"/>
                <a:cs typeface="Arial"/>
              </a:rPr>
              <a:t>days </a:t>
            </a:r>
            <a:r>
              <a:rPr dirty="0" sz="1150" spc="-30">
                <a:latin typeface="Arial"/>
                <a:cs typeface="Arial"/>
              </a:rPr>
              <a:t>before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meeting. Directors 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70">
                <a:latin typeface="Arial"/>
                <a:cs typeface="Arial"/>
              </a:rPr>
              <a:t>send </a:t>
            </a:r>
            <a:r>
              <a:rPr dirty="0" sz="1150" spc="-20">
                <a:latin typeface="Arial"/>
                <a:cs typeface="Arial"/>
              </a:rPr>
              <a:t>statutory </a:t>
            </a:r>
            <a:r>
              <a:rPr dirty="0" sz="1150" spc="-10">
                <a:latin typeface="Arial"/>
                <a:cs typeface="Arial"/>
              </a:rPr>
              <a:t>report, </a:t>
            </a:r>
            <a:r>
              <a:rPr dirty="0" sz="1150" spc="-35">
                <a:latin typeface="Arial"/>
                <a:cs typeface="Arial"/>
              </a:rPr>
              <a:t>duly </a:t>
            </a:r>
            <a:r>
              <a:rPr dirty="0" sz="1150" spc="-20">
                <a:latin typeface="Arial"/>
                <a:cs typeface="Arial"/>
              </a:rPr>
              <a:t>certified </a:t>
            </a:r>
            <a:r>
              <a:rPr dirty="0" sz="1150" spc="-45">
                <a:latin typeface="Arial"/>
                <a:cs typeface="Arial"/>
              </a:rPr>
              <a:t>by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45">
                <a:latin typeface="Arial"/>
                <a:cs typeface="Arial"/>
              </a:rPr>
              <a:t>least </a:t>
            </a:r>
            <a:r>
              <a:rPr dirty="0" sz="1150" spc="-60">
                <a:latin typeface="Arial"/>
                <a:cs typeface="Arial"/>
              </a:rPr>
              <a:t>3 </a:t>
            </a:r>
            <a:r>
              <a:rPr dirty="0" sz="1150" spc="-30">
                <a:latin typeface="Arial"/>
                <a:cs typeface="Arial"/>
              </a:rPr>
              <a:t>directors </a:t>
            </a:r>
            <a:r>
              <a:rPr dirty="0" sz="1150" spc="-70">
                <a:latin typeface="Arial"/>
                <a:cs typeface="Arial"/>
              </a:rPr>
              <a:t>–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them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15">
                <a:latin typeface="Arial"/>
                <a:cs typeface="Arial"/>
              </a:rPr>
              <a:t>the  </a:t>
            </a:r>
            <a:r>
              <a:rPr dirty="0" sz="1150" spc="-35">
                <a:latin typeface="Arial"/>
                <a:cs typeface="Arial"/>
              </a:rPr>
              <a:t>chief </a:t>
            </a:r>
            <a:r>
              <a:rPr dirty="0" sz="1150" spc="-50">
                <a:latin typeface="Arial"/>
                <a:cs typeface="Arial"/>
              </a:rPr>
              <a:t>executive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company.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5"/>
              <a:tabLst>
                <a:tab pos="469265" algn="l"/>
                <a:tab pos="469900" algn="l"/>
              </a:tabLst>
            </a:pPr>
            <a:r>
              <a:rPr dirty="0" sz="1150" spc="-90" b="1">
                <a:latin typeface="Arial"/>
                <a:cs typeface="Arial"/>
              </a:rPr>
              <a:t>Privileges </a:t>
            </a:r>
            <a:r>
              <a:rPr dirty="0" sz="1150" spc="-40" b="1">
                <a:latin typeface="Arial"/>
                <a:cs typeface="Arial"/>
              </a:rPr>
              <a:t>to </a:t>
            </a:r>
            <a:r>
              <a:rPr dirty="0" sz="1150" spc="-45" b="1">
                <a:latin typeface="Arial"/>
                <a:cs typeface="Arial"/>
              </a:rPr>
              <a:t>the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members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members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1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meeting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15">
                <a:latin typeface="Arial"/>
                <a:cs typeface="Arial"/>
              </a:rPr>
              <a:t>the liberty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80">
                <a:latin typeface="Arial"/>
                <a:cs typeface="Arial"/>
              </a:rPr>
              <a:t>discuss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10">
                <a:latin typeface="Arial"/>
                <a:cs typeface="Arial"/>
              </a:rPr>
              <a:t>matter </a:t>
            </a:r>
            <a:r>
              <a:rPr dirty="0" sz="1150" spc="-30">
                <a:latin typeface="Arial"/>
                <a:cs typeface="Arial"/>
              </a:rPr>
              <a:t>relating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55">
                <a:latin typeface="Arial"/>
                <a:cs typeface="Arial"/>
              </a:rPr>
              <a:t>company’s </a:t>
            </a:r>
            <a:r>
              <a:rPr dirty="0" sz="1150" spc="-35">
                <a:latin typeface="Arial"/>
                <a:cs typeface="Arial"/>
              </a:rPr>
              <a:t>affairs.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150" spc="-150" b="1">
                <a:latin typeface="Arial"/>
                <a:cs typeface="Arial"/>
              </a:rPr>
              <a:t>STATUTORY</a:t>
            </a:r>
            <a:r>
              <a:rPr dirty="0" sz="1150" spc="-70" b="1">
                <a:latin typeface="Arial"/>
                <a:cs typeface="Arial"/>
              </a:rPr>
              <a:t> </a:t>
            </a:r>
            <a:r>
              <a:rPr dirty="0" sz="1150" spc="-170" b="1">
                <a:latin typeface="Arial"/>
                <a:cs typeface="Arial"/>
              </a:rPr>
              <a:t>REPORT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  <a:spcBef>
                <a:spcPts val="5"/>
              </a:spcBef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report </a:t>
            </a:r>
            <a:r>
              <a:rPr dirty="0" sz="1150" spc="-40">
                <a:latin typeface="Arial"/>
                <a:cs typeface="Arial"/>
              </a:rPr>
              <a:t>prepared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secretary, </a:t>
            </a:r>
            <a:r>
              <a:rPr dirty="0" sz="1150" spc="-20">
                <a:latin typeface="Arial"/>
                <a:cs typeface="Arial"/>
              </a:rPr>
              <a:t>certified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45">
                <a:latin typeface="Arial"/>
                <a:cs typeface="Arial"/>
              </a:rPr>
              <a:t>least </a:t>
            </a:r>
            <a:r>
              <a:rPr dirty="0" sz="1150" spc="-60">
                <a:latin typeface="Arial"/>
                <a:cs typeface="Arial"/>
              </a:rPr>
              <a:t>3 </a:t>
            </a:r>
            <a:r>
              <a:rPr dirty="0" sz="1150" spc="-30">
                <a:latin typeface="Arial"/>
                <a:cs typeface="Arial"/>
              </a:rPr>
              <a:t>directors </a:t>
            </a:r>
            <a:r>
              <a:rPr dirty="0" sz="1150" spc="-70">
                <a:latin typeface="Arial"/>
                <a:cs typeface="Arial"/>
              </a:rPr>
              <a:t>–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them </a:t>
            </a:r>
            <a:r>
              <a:rPr dirty="0" sz="1150" spc="-50">
                <a:latin typeface="Arial"/>
                <a:cs typeface="Arial"/>
              </a:rPr>
              <a:t>being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chief </a:t>
            </a:r>
            <a:r>
              <a:rPr dirty="0" sz="1150" spc="-50">
                <a:latin typeface="Arial"/>
                <a:cs typeface="Arial"/>
              </a:rPr>
              <a:t>executive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15">
                <a:latin typeface="Arial"/>
                <a:cs typeface="Arial"/>
              </a:rPr>
              <a:t>statutory report.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20">
                <a:latin typeface="Arial"/>
                <a:cs typeface="Arial"/>
              </a:rPr>
              <a:t>statutory </a:t>
            </a:r>
            <a:r>
              <a:rPr dirty="0" sz="1150" spc="-10">
                <a:latin typeface="Arial"/>
                <a:cs typeface="Arial"/>
              </a:rPr>
              <a:t>report </a:t>
            </a:r>
            <a:r>
              <a:rPr dirty="0" sz="1150" spc="-45">
                <a:latin typeface="Arial"/>
                <a:cs typeface="Arial"/>
              </a:rPr>
              <a:t>contains  </a:t>
            </a:r>
            <a:r>
              <a:rPr dirty="0" sz="1150" spc="-20">
                <a:latin typeface="Arial"/>
                <a:cs typeface="Arial"/>
              </a:rPr>
              <a:t>the following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information: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dirty="0" sz="1150" spc="-35" b="1">
                <a:latin typeface="Arial"/>
                <a:cs typeface="Arial"/>
              </a:rPr>
              <a:t>1.</a:t>
            </a:r>
            <a:r>
              <a:rPr dirty="0" sz="1150" spc="-35">
                <a:latin typeface="Times New Roman"/>
                <a:cs typeface="Times New Roman"/>
              </a:rPr>
              <a:t>	</a:t>
            </a:r>
            <a:r>
              <a:rPr dirty="0" sz="1150" spc="-100" b="1">
                <a:latin typeface="Arial"/>
                <a:cs typeface="Arial"/>
              </a:rPr>
              <a:t>Share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55" b="1">
                <a:latin typeface="Arial"/>
                <a:cs typeface="Arial"/>
              </a:rPr>
              <a:t>Allotment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40">
                <a:latin typeface="Arial"/>
                <a:cs typeface="Arial"/>
              </a:rPr>
              <a:t>Total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number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shares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allotted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consideration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allotment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62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1070867"/>
            <a:ext cx="5514340" cy="786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1150" spc="-100" b="1">
                <a:latin typeface="Arial"/>
                <a:cs typeface="Arial"/>
              </a:rPr>
              <a:t>Summary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45" b="1">
                <a:latin typeface="Arial"/>
                <a:cs typeface="Arial"/>
              </a:rPr>
              <a:t>Cash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received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70">
                <a:latin typeface="Arial"/>
                <a:cs typeface="Arial"/>
              </a:rPr>
              <a:t>Summary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cash </a:t>
            </a:r>
            <a:r>
              <a:rPr dirty="0" sz="1150" spc="-50">
                <a:latin typeface="Arial"/>
                <a:cs typeface="Arial"/>
              </a:rPr>
              <a:t>received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respect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shares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allotted.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150" spc="-125" b="1">
                <a:latin typeface="Arial"/>
                <a:cs typeface="Arial"/>
              </a:rPr>
              <a:t>Expenses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3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5">
                <a:latin typeface="Arial"/>
                <a:cs typeface="Arial"/>
              </a:rPr>
              <a:t>List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basic </a:t>
            </a:r>
            <a:r>
              <a:rPr dirty="0" sz="1150" spc="-80">
                <a:latin typeface="Arial"/>
                <a:cs typeface="Arial"/>
              </a:rPr>
              <a:t>expenses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469265" algn="l"/>
                <a:tab pos="469900" algn="l"/>
              </a:tabLst>
            </a:pPr>
            <a:r>
              <a:rPr dirty="0" sz="1150" spc="-110" b="1">
                <a:latin typeface="Arial"/>
                <a:cs typeface="Arial"/>
              </a:rPr>
              <a:t>Commission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AutoNum type="arabicPeriod" startAt="4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35">
                <a:latin typeface="Arial"/>
                <a:cs typeface="Arial"/>
              </a:rPr>
              <a:t>Detail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commission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sale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0">
                <a:latin typeface="Arial"/>
                <a:cs typeface="Arial"/>
              </a:rPr>
              <a:t> shares,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5">
                <a:latin typeface="Arial"/>
                <a:cs typeface="Arial"/>
              </a:rPr>
              <a:t>if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5"/>
              <a:tabLst>
                <a:tab pos="469265" algn="l"/>
                <a:tab pos="469900" algn="l"/>
              </a:tabLst>
            </a:pPr>
            <a:r>
              <a:rPr dirty="0" sz="1150" spc="-80" b="1">
                <a:latin typeface="Arial"/>
                <a:cs typeface="Arial"/>
              </a:rPr>
              <a:t>Particulars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85" b="1">
                <a:latin typeface="Arial"/>
                <a:cs typeface="Arial"/>
              </a:rPr>
              <a:t>Contract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AutoNum type="arabicPeriod" startAt="5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particulars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contract</a:t>
            </a:r>
            <a:r>
              <a:rPr dirty="0" sz="1150" spc="-55">
                <a:latin typeface="Arial"/>
                <a:cs typeface="Arial"/>
              </a:rPr>
              <a:t> and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modifications,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15">
                <a:latin typeface="Arial"/>
                <a:cs typeface="Arial"/>
              </a:rPr>
              <a:t>if</a:t>
            </a:r>
            <a:r>
              <a:rPr dirty="0" sz="1150" spc="-60">
                <a:latin typeface="Arial"/>
                <a:cs typeface="Arial"/>
              </a:rPr>
              <a:t> any,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6"/>
              <a:tabLst>
                <a:tab pos="469265" algn="l"/>
                <a:tab pos="469900" algn="l"/>
              </a:tabLst>
            </a:pPr>
            <a:r>
              <a:rPr dirty="0" sz="1150" spc="-80" b="1">
                <a:latin typeface="Arial"/>
                <a:cs typeface="Arial"/>
              </a:rPr>
              <a:t>Particulars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Directors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6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names, </a:t>
            </a:r>
            <a:r>
              <a:rPr dirty="0" sz="1150" spc="-75">
                <a:latin typeface="Arial"/>
                <a:cs typeface="Arial"/>
              </a:rPr>
              <a:t>addresses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occupations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directors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5">
                <a:latin typeface="Arial"/>
                <a:cs typeface="Arial"/>
              </a:rPr>
              <a:t>officers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7"/>
              <a:tabLst>
                <a:tab pos="469265" algn="l"/>
                <a:tab pos="469900" algn="l"/>
              </a:tabLst>
            </a:pPr>
            <a:r>
              <a:rPr dirty="0" sz="1150" spc="-65" b="1">
                <a:latin typeface="Arial"/>
                <a:cs typeface="Arial"/>
              </a:rPr>
              <a:t>Underwriting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Contract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7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particulars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underwriting </a:t>
            </a:r>
            <a:r>
              <a:rPr dirty="0" sz="1150" spc="-25">
                <a:latin typeface="Arial"/>
                <a:cs typeface="Arial"/>
              </a:rPr>
              <a:t>contract, </a:t>
            </a:r>
            <a:r>
              <a:rPr dirty="0" sz="1150" spc="15">
                <a:latin typeface="Arial"/>
                <a:cs typeface="Arial"/>
              </a:rPr>
              <a:t>if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8"/>
              <a:tabLst>
                <a:tab pos="469265" algn="l"/>
                <a:tab pos="469900" algn="l"/>
              </a:tabLst>
            </a:pPr>
            <a:r>
              <a:rPr dirty="0" sz="1150" spc="-105" b="1">
                <a:latin typeface="Arial"/>
                <a:cs typeface="Arial"/>
              </a:rPr>
              <a:t>List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Arrears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arrears,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 spc="-60">
                <a:latin typeface="Arial"/>
                <a:cs typeface="Arial"/>
              </a:rPr>
              <a:t>any, </a:t>
            </a:r>
            <a:r>
              <a:rPr dirty="0" sz="1150" spc="-50">
                <a:latin typeface="Arial"/>
                <a:cs typeface="Arial"/>
              </a:rPr>
              <a:t>due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60">
                <a:latin typeface="Arial"/>
                <a:cs typeface="Arial"/>
              </a:rPr>
              <a:t>calls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director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managing </a:t>
            </a:r>
            <a:r>
              <a:rPr dirty="0" sz="1150" spc="-65">
                <a:latin typeface="Arial"/>
                <a:cs typeface="Arial"/>
              </a:rPr>
              <a:t>agents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25" b="1">
                <a:latin typeface="Arial"/>
                <a:cs typeface="Arial"/>
              </a:rPr>
              <a:t>ANNUAL </a:t>
            </a:r>
            <a:r>
              <a:rPr dirty="0" sz="1150" spc="-175" b="1">
                <a:latin typeface="Arial"/>
                <a:cs typeface="Arial"/>
              </a:rPr>
              <a:t>GENERAL </a:t>
            </a:r>
            <a:r>
              <a:rPr dirty="0" sz="1150" spc="-114" b="1">
                <a:latin typeface="Arial"/>
                <a:cs typeface="Arial"/>
              </a:rPr>
              <a:t>MEETING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8255">
              <a:lnSpc>
                <a:spcPct val="101400"/>
              </a:lnSpc>
              <a:spcBef>
                <a:spcPts val="5"/>
              </a:spcBef>
            </a:pPr>
            <a:r>
              <a:rPr dirty="0" sz="1150" spc="-55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section </a:t>
            </a:r>
            <a:r>
              <a:rPr dirty="0" sz="1150" spc="-60">
                <a:latin typeface="Arial"/>
                <a:cs typeface="Arial"/>
              </a:rPr>
              <a:t>158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Companies </a:t>
            </a:r>
            <a:r>
              <a:rPr dirty="0" sz="1150" spc="-55">
                <a:latin typeface="Arial"/>
                <a:cs typeface="Arial"/>
              </a:rPr>
              <a:t>Ordinance,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30">
                <a:latin typeface="Arial"/>
                <a:cs typeface="Arial"/>
              </a:rPr>
              <a:t>hold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50">
                <a:latin typeface="Arial"/>
                <a:cs typeface="Arial"/>
              </a:rPr>
              <a:t>annual  general </a:t>
            </a:r>
            <a:r>
              <a:rPr dirty="0" sz="1150" spc="-35">
                <a:latin typeface="Arial"/>
                <a:cs typeface="Arial"/>
              </a:rPr>
              <a:t>meeting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50">
                <a:latin typeface="Arial"/>
                <a:cs typeface="Arial"/>
              </a:rPr>
              <a:t>shareholders, </a:t>
            </a:r>
            <a:r>
              <a:rPr dirty="0" sz="1150" spc="-55">
                <a:latin typeface="Arial"/>
                <a:cs typeface="Arial"/>
              </a:rPr>
              <a:t>once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year.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meeting </a:t>
            </a:r>
            <a:r>
              <a:rPr dirty="0" sz="1150" spc="-45">
                <a:latin typeface="Arial"/>
                <a:cs typeface="Arial"/>
              </a:rPr>
              <a:t>provides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15">
                <a:latin typeface="Arial"/>
                <a:cs typeface="Arial"/>
              </a:rPr>
              <a:t>opportunity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45">
                <a:latin typeface="Arial"/>
                <a:cs typeface="Arial"/>
              </a:rPr>
              <a:t>evaluate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measure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efficiency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directors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0">
                <a:latin typeface="Arial"/>
                <a:cs typeface="Arial"/>
              </a:rPr>
              <a:t>officers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carrying </a:t>
            </a:r>
            <a:r>
              <a:rPr dirty="0" sz="1150" spc="-5">
                <a:latin typeface="Arial"/>
                <a:cs typeface="Arial"/>
              </a:rPr>
              <a:t>out </a:t>
            </a:r>
            <a:r>
              <a:rPr dirty="0" sz="1150" spc="-20">
                <a:latin typeface="Arial"/>
                <a:cs typeface="Arial"/>
              </a:rPr>
              <a:t>the   </a:t>
            </a:r>
            <a:r>
              <a:rPr dirty="0" sz="1150" spc="-55">
                <a:latin typeface="Arial"/>
                <a:cs typeface="Arial"/>
              </a:rPr>
              <a:t>company’s </a:t>
            </a:r>
            <a:r>
              <a:rPr dirty="0" sz="1150" spc="-35">
                <a:latin typeface="Arial"/>
                <a:cs typeface="Arial"/>
              </a:rPr>
              <a:t>affairs.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dirty="0" sz="1150" spc="-70" b="1">
                <a:latin typeface="Arial"/>
                <a:cs typeface="Arial"/>
              </a:rPr>
              <a:t>Notice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notice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annual </a:t>
            </a:r>
            <a:r>
              <a:rPr dirty="0" sz="1150" spc="-55">
                <a:latin typeface="Arial"/>
                <a:cs typeface="Arial"/>
              </a:rPr>
              <a:t>general </a:t>
            </a:r>
            <a:r>
              <a:rPr dirty="0" sz="1150" spc="-35">
                <a:latin typeface="Arial"/>
                <a:cs typeface="Arial"/>
              </a:rPr>
              <a:t>meeting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5">
                <a:latin typeface="Arial"/>
                <a:cs typeface="Arial"/>
              </a:rPr>
              <a:t>sent </a:t>
            </a:r>
            <a:r>
              <a:rPr dirty="0" sz="1150" spc="15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shareholders, </a:t>
            </a:r>
            <a:r>
              <a:rPr dirty="0" sz="1150" spc="-20">
                <a:latin typeface="Arial"/>
                <a:cs typeface="Arial"/>
              </a:rPr>
              <a:t>at </a:t>
            </a:r>
            <a:r>
              <a:rPr dirty="0" sz="1150" spc="-45">
                <a:latin typeface="Arial"/>
                <a:cs typeface="Arial"/>
              </a:rPr>
              <a:t>least </a:t>
            </a:r>
            <a:r>
              <a:rPr dirty="0" sz="1150" spc="-55">
                <a:latin typeface="Arial"/>
                <a:cs typeface="Arial"/>
              </a:rPr>
              <a:t>21 </a:t>
            </a:r>
            <a:r>
              <a:rPr dirty="0" sz="1150" spc="-80">
                <a:latin typeface="Arial"/>
                <a:cs typeface="Arial"/>
              </a:rPr>
              <a:t>days  </a:t>
            </a:r>
            <a:r>
              <a:rPr dirty="0" sz="1150" spc="-30">
                <a:latin typeface="Arial"/>
                <a:cs typeface="Arial"/>
              </a:rPr>
              <a:t>before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date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meeting.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1150" spc="-100" b="1">
                <a:latin typeface="Arial"/>
                <a:cs typeface="Arial"/>
              </a:rPr>
              <a:t>Place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spc="-55" b="1">
                <a:latin typeface="Arial"/>
                <a:cs typeface="Arial"/>
              </a:rPr>
              <a:t>Meeting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listed </a:t>
            </a:r>
            <a:r>
              <a:rPr dirty="0" sz="1150" spc="-55">
                <a:latin typeface="Arial"/>
                <a:cs typeface="Arial"/>
              </a:rPr>
              <a:t>company, </a:t>
            </a:r>
            <a:r>
              <a:rPr dirty="0" sz="1150" spc="-50">
                <a:latin typeface="Arial"/>
                <a:cs typeface="Arial"/>
              </a:rPr>
              <a:t>annual general </a:t>
            </a:r>
            <a:r>
              <a:rPr dirty="0" sz="1150" spc="-35">
                <a:latin typeface="Arial"/>
                <a:cs typeface="Arial"/>
              </a:rPr>
              <a:t>meeting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5">
                <a:latin typeface="Arial"/>
                <a:cs typeface="Arial"/>
              </a:rPr>
              <a:t>held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>
                <a:latin typeface="Arial"/>
                <a:cs typeface="Arial"/>
              </a:rPr>
              <a:t>town </a:t>
            </a:r>
            <a:r>
              <a:rPr dirty="0" sz="1150" spc="-35">
                <a:latin typeface="Arial"/>
                <a:cs typeface="Arial"/>
              </a:rPr>
              <a:t>where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0">
                <a:latin typeface="Arial"/>
                <a:cs typeface="Arial"/>
              </a:rPr>
              <a:t>registered </a:t>
            </a:r>
            <a:r>
              <a:rPr dirty="0" sz="1150" spc="-25">
                <a:latin typeface="Arial"/>
                <a:cs typeface="Arial"/>
              </a:rPr>
              <a:t>office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situated.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63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4" y="892559"/>
            <a:ext cx="5513705" cy="6480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150" spc="-90" b="1">
                <a:latin typeface="Arial"/>
                <a:cs typeface="Arial"/>
              </a:rPr>
              <a:t>Role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45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shareholders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3"/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shareholders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35">
                <a:latin typeface="Arial"/>
                <a:cs typeface="Arial"/>
              </a:rPr>
              <a:t>criticize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policies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directors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0">
                <a:latin typeface="Arial"/>
                <a:cs typeface="Arial"/>
              </a:rPr>
              <a:t>officers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">
                <a:latin typeface="Arial"/>
                <a:cs typeface="Arial"/>
              </a:rPr>
              <a:t>offer  </a:t>
            </a:r>
            <a:r>
              <a:rPr dirty="0" sz="1150" spc="-65">
                <a:latin typeface="Arial"/>
                <a:cs typeface="Arial"/>
              </a:rPr>
              <a:t>suggestions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improvement.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469265" algn="l"/>
                <a:tab pos="469900" algn="l"/>
              </a:tabLst>
            </a:pPr>
            <a:r>
              <a:rPr dirty="0" sz="1150" spc="-114" b="1">
                <a:latin typeface="Arial"/>
                <a:cs typeface="Arial"/>
              </a:rPr>
              <a:t>Occasion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4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">
                <a:latin typeface="Arial"/>
                <a:cs typeface="Arial"/>
              </a:rPr>
              <a:t>first </a:t>
            </a:r>
            <a:r>
              <a:rPr dirty="0" sz="1150" spc="-30">
                <a:latin typeface="Arial"/>
                <a:cs typeface="Arial"/>
              </a:rPr>
              <a:t>meting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this nature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5">
                <a:latin typeface="Arial"/>
                <a:cs typeface="Arial"/>
              </a:rPr>
              <a:t>held </a:t>
            </a:r>
            <a:r>
              <a:rPr dirty="0" sz="1150" spc="-5">
                <a:latin typeface="Arial"/>
                <a:cs typeface="Arial"/>
              </a:rPr>
              <a:t>within </a:t>
            </a:r>
            <a:r>
              <a:rPr dirty="0" sz="1150" spc="-55">
                <a:latin typeface="Arial"/>
                <a:cs typeface="Arial"/>
              </a:rPr>
              <a:t>18 </a:t>
            </a:r>
            <a:r>
              <a:rPr dirty="0" sz="1150" spc="-35">
                <a:latin typeface="Arial"/>
                <a:cs typeface="Arial"/>
              </a:rPr>
              <a:t>months </a:t>
            </a:r>
            <a:r>
              <a:rPr dirty="0" sz="1150" spc="-15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date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25">
                <a:latin typeface="Arial"/>
                <a:cs typeface="Arial"/>
              </a:rPr>
              <a:t>incorporation.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80">
                <a:latin typeface="Arial"/>
                <a:cs typeface="Arial"/>
              </a:rPr>
              <a:t>gap </a:t>
            </a:r>
            <a:r>
              <a:rPr dirty="0" sz="1150" spc="-35">
                <a:latin typeface="Arial"/>
                <a:cs typeface="Arial"/>
              </a:rPr>
              <a:t>between </a:t>
            </a:r>
            <a:r>
              <a:rPr dirty="0" sz="1150">
                <a:latin typeface="Arial"/>
                <a:cs typeface="Arial"/>
              </a:rPr>
              <a:t>two </a:t>
            </a:r>
            <a:r>
              <a:rPr dirty="0" sz="1150" spc="-50">
                <a:latin typeface="Arial"/>
                <a:cs typeface="Arial"/>
              </a:rPr>
              <a:t>annual general meetings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0">
                <a:latin typeface="Arial"/>
                <a:cs typeface="Arial"/>
              </a:rPr>
              <a:t>more than </a:t>
            </a:r>
            <a:r>
              <a:rPr dirty="0" sz="1150" spc="-55">
                <a:latin typeface="Arial"/>
                <a:cs typeface="Arial"/>
              </a:rPr>
              <a:t>15  </a:t>
            </a:r>
            <a:r>
              <a:rPr dirty="0" sz="1150" spc="-35">
                <a:latin typeface="Arial"/>
                <a:cs typeface="Arial"/>
              </a:rPr>
              <a:t>months.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5"/>
              <a:tabLst>
                <a:tab pos="469265" algn="l"/>
                <a:tab pos="469900" algn="l"/>
              </a:tabLst>
            </a:pPr>
            <a:r>
              <a:rPr dirty="0" sz="1150" spc="-90" b="1">
                <a:latin typeface="Arial"/>
                <a:cs typeface="Arial"/>
              </a:rPr>
              <a:t>Objects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5"/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main </a:t>
            </a:r>
            <a:r>
              <a:rPr dirty="0" sz="1150" spc="-35">
                <a:latin typeface="Arial"/>
                <a:cs typeface="Arial"/>
              </a:rPr>
              <a:t>objective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35">
                <a:latin typeface="Arial"/>
                <a:cs typeface="Arial"/>
              </a:rPr>
              <a:t>meeting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70">
                <a:latin typeface="Arial"/>
                <a:cs typeface="Arial"/>
              </a:rPr>
              <a:t>check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0">
                <a:latin typeface="Arial"/>
                <a:cs typeface="Arial"/>
              </a:rPr>
              <a:t>ordinary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being </a:t>
            </a:r>
            <a:r>
              <a:rPr dirty="0" sz="1150" spc="-45">
                <a:latin typeface="Arial"/>
                <a:cs typeface="Arial"/>
              </a:rPr>
              <a:t>done  </a:t>
            </a:r>
            <a:r>
              <a:rPr dirty="0" sz="1150" spc="-50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rules </a:t>
            </a:r>
            <a:r>
              <a:rPr dirty="0" sz="1150" spc="-35">
                <a:latin typeface="Arial"/>
                <a:cs typeface="Arial"/>
              </a:rPr>
              <a:t>laid </a:t>
            </a:r>
            <a:r>
              <a:rPr dirty="0" sz="1150" spc="-30">
                <a:latin typeface="Arial"/>
                <a:cs typeface="Arial"/>
              </a:rPr>
              <a:t>down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0">
                <a:latin typeface="Arial"/>
                <a:cs typeface="Arial"/>
              </a:rPr>
              <a:t>articles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association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directors  </a:t>
            </a:r>
            <a:r>
              <a:rPr dirty="0" sz="1150" spc="-30">
                <a:latin typeface="Arial"/>
                <a:cs typeface="Arial"/>
              </a:rPr>
              <a:t>submit </a:t>
            </a:r>
            <a:r>
              <a:rPr dirty="0" sz="1150" spc="-10">
                <a:latin typeface="Arial"/>
                <a:cs typeface="Arial"/>
              </a:rPr>
              <a:t>their report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affairs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35">
                <a:latin typeface="Arial"/>
                <a:cs typeface="Arial"/>
              </a:rPr>
              <a:t>during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proceeding year. </a:t>
            </a:r>
            <a:r>
              <a:rPr dirty="0" sz="1150" spc="-80">
                <a:latin typeface="Arial"/>
                <a:cs typeface="Arial"/>
              </a:rPr>
              <a:t>This  </a:t>
            </a:r>
            <a:r>
              <a:rPr dirty="0" sz="1150" spc="-10">
                <a:latin typeface="Arial"/>
                <a:cs typeface="Arial"/>
              </a:rPr>
              <a:t>report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known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5">
                <a:latin typeface="Arial"/>
                <a:cs typeface="Arial"/>
              </a:rPr>
              <a:t>director’s </a:t>
            </a:r>
            <a:r>
              <a:rPr dirty="0" sz="1150" spc="-15">
                <a:latin typeface="Arial"/>
                <a:cs typeface="Arial"/>
              </a:rPr>
              <a:t>report. </a:t>
            </a:r>
            <a:r>
              <a:rPr dirty="0" sz="1150" spc="-35">
                <a:latin typeface="Arial"/>
                <a:cs typeface="Arial"/>
              </a:rPr>
              <a:t>Other </a:t>
            </a:r>
            <a:r>
              <a:rPr dirty="0" sz="1150" spc="-45">
                <a:latin typeface="Arial"/>
                <a:cs typeface="Arial"/>
              </a:rPr>
              <a:t>objectives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are: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45">
                <a:latin typeface="Arial"/>
                <a:cs typeface="Arial"/>
              </a:rPr>
              <a:t>Election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Directors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25">
                <a:latin typeface="Arial"/>
                <a:cs typeface="Arial"/>
              </a:rPr>
              <a:t>Appointment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auditors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40">
                <a:latin typeface="Arial"/>
                <a:cs typeface="Arial"/>
              </a:rPr>
              <a:t>Declaration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dividend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45">
                <a:latin typeface="Arial"/>
                <a:cs typeface="Arial"/>
              </a:rPr>
              <a:t>Fixation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director’s, auditor’s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managing </a:t>
            </a:r>
            <a:r>
              <a:rPr dirty="0" sz="1150" spc="-50">
                <a:latin typeface="Arial"/>
                <a:cs typeface="Arial"/>
              </a:rPr>
              <a:t>agent’s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remuneration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25">
                <a:latin typeface="Arial"/>
                <a:cs typeface="Arial"/>
              </a:rPr>
              <a:t>Auditor’s </a:t>
            </a:r>
            <a:r>
              <a:rPr dirty="0" sz="1150" spc="-10">
                <a:latin typeface="Arial"/>
                <a:cs typeface="Arial"/>
              </a:rPr>
              <a:t>report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balance </a:t>
            </a:r>
            <a:r>
              <a:rPr dirty="0" sz="1150" spc="-50">
                <a:latin typeface="Arial"/>
                <a:cs typeface="Arial"/>
              </a:rPr>
              <a:t>sheet are </a:t>
            </a:r>
            <a:r>
              <a:rPr dirty="0" sz="1150" spc="-45">
                <a:latin typeface="Arial"/>
                <a:cs typeface="Arial"/>
              </a:rPr>
              <a:t>presented </a:t>
            </a:r>
            <a:r>
              <a:rPr dirty="0" sz="1150" spc="-25">
                <a:latin typeface="Arial"/>
                <a:cs typeface="Arial"/>
              </a:rPr>
              <a:t>in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meeting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6"/>
              <a:tabLst>
                <a:tab pos="469265" algn="l"/>
                <a:tab pos="469900" algn="l"/>
              </a:tabLst>
            </a:pPr>
            <a:r>
              <a:rPr dirty="0" sz="1150" spc="-80" b="1">
                <a:latin typeface="Arial"/>
                <a:cs typeface="Arial"/>
              </a:rPr>
              <a:t>Winding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up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  <a:spcBef>
                <a:spcPts val="5"/>
              </a:spcBef>
            </a:pPr>
            <a:r>
              <a:rPr dirty="0" sz="1150" spc="-55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section </a:t>
            </a:r>
            <a:r>
              <a:rPr dirty="0" sz="1150" spc="-50">
                <a:latin typeface="Arial"/>
                <a:cs typeface="Arial"/>
              </a:rPr>
              <a:t>305(b),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company 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5">
                <a:latin typeface="Arial"/>
                <a:cs typeface="Arial"/>
              </a:rPr>
              <a:t>wound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court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does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30">
                <a:latin typeface="Arial"/>
                <a:cs typeface="Arial"/>
              </a:rPr>
              <a:t>hold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5">
                <a:latin typeface="Arial"/>
                <a:cs typeface="Arial"/>
              </a:rPr>
              <a:t>two </a:t>
            </a:r>
            <a:r>
              <a:rPr dirty="0" sz="1150" spc="-50">
                <a:latin typeface="Arial"/>
                <a:cs typeface="Arial"/>
              </a:rPr>
              <a:t>consecutive annual general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meetings.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140" b="1">
                <a:latin typeface="Arial"/>
                <a:cs typeface="Arial"/>
              </a:rPr>
              <a:t>EXTRAORDINARY </a:t>
            </a:r>
            <a:r>
              <a:rPr dirty="0" sz="1150" spc="-175" b="1">
                <a:latin typeface="Arial"/>
                <a:cs typeface="Arial"/>
              </a:rPr>
              <a:t>GENERAL</a:t>
            </a:r>
            <a:r>
              <a:rPr dirty="0" sz="1150" spc="-160" b="1">
                <a:latin typeface="Arial"/>
                <a:cs typeface="Arial"/>
              </a:rPr>
              <a:t> </a:t>
            </a:r>
            <a:r>
              <a:rPr dirty="0" sz="1150" spc="-110" b="1">
                <a:latin typeface="Arial"/>
                <a:cs typeface="Arial"/>
              </a:rPr>
              <a:t>MEETING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general meetings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0">
                <a:latin typeface="Arial"/>
                <a:cs typeface="Arial"/>
              </a:rPr>
              <a:t>than </a:t>
            </a:r>
            <a:r>
              <a:rPr dirty="0" sz="1150" spc="-50">
                <a:latin typeface="Arial"/>
                <a:cs typeface="Arial"/>
              </a:rPr>
              <a:t>annual general </a:t>
            </a:r>
            <a:r>
              <a:rPr dirty="0" sz="1150" spc="-35">
                <a:latin typeface="Arial"/>
                <a:cs typeface="Arial"/>
              </a:rPr>
              <a:t>meeting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statutory </a:t>
            </a:r>
            <a:r>
              <a:rPr dirty="0" sz="1150" spc="-35">
                <a:latin typeface="Arial"/>
                <a:cs typeface="Arial"/>
              </a:rPr>
              <a:t>meeting </a:t>
            </a:r>
            <a:r>
              <a:rPr dirty="0" sz="1150" spc="-50">
                <a:latin typeface="Arial"/>
                <a:cs typeface="Arial"/>
              </a:rPr>
              <a:t>shall </a:t>
            </a:r>
            <a:r>
              <a:rPr dirty="0" sz="1150" spc="-55">
                <a:latin typeface="Arial"/>
                <a:cs typeface="Arial"/>
              </a:rPr>
              <a:t>be 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30">
                <a:latin typeface="Arial"/>
                <a:cs typeface="Arial"/>
              </a:rPr>
              <a:t>extraordinary </a:t>
            </a:r>
            <a:r>
              <a:rPr dirty="0" sz="1150" spc="-50">
                <a:latin typeface="Arial"/>
                <a:cs typeface="Arial"/>
              </a:rPr>
              <a:t>general </a:t>
            </a:r>
            <a:r>
              <a:rPr dirty="0" sz="1150" spc="-45">
                <a:latin typeface="Arial"/>
                <a:cs typeface="Arial"/>
              </a:rPr>
              <a:t>meetings.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There is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10">
                <a:latin typeface="Arial"/>
                <a:cs typeface="Arial"/>
              </a:rPr>
              <a:t>time </a:t>
            </a:r>
            <a:r>
              <a:rPr dirty="0" sz="1150" spc="5">
                <a:latin typeface="Arial"/>
                <a:cs typeface="Arial"/>
              </a:rPr>
              <a:t>limit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10">
                <a:latin typeface="Arial"/>
                <a:cs typeface="Arial"/>
              </a:rPr>
              <a:t>it.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5">
                <a:latin typeface="Arial"/>
                <a:cs typeface="Arial"/>
              </a:rPr>
              <a:t>held </a:t>
            </a:r>
            <a:r>
              <a:rPr dirty="0" sz="1150" spc="-10">
                <a:latin typeface="Arial"/>
                <a:cs typeface="Arial"/>
              </a:rPr>
              <a:t>from  time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time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dirty="0" sz="1150" spc="-35" b="1">
                <a:latin typeface="Arial"/>
                <a:cs typeface="Arial"/>
              </a:rPr>
              <a:t>1.</a:t>
            </a:r>
            <a:r>
              <a:rPr dirty="0" sz="1150" spc="-35">
                <a:latin typeface="Times New Roman"/>
                <a:cs typeface="Times New Roman"/>
              </a:rPr>
              <a:t>	</a:t>
            </a:r>
            <a:r>
              <a:rPr dirty="0" sz="1150" spc="-90" b="1">
                <a:latin typeface="Arial"/>
                <a:cs typeface="Arial"/>
              </a:rPr>
              <a:t>Right </a:t>
            </a:r>
            <a:r>
              <a:rPr dirty="0" sz="1150" spc="-40" b="1">
                <a:latin typeface="Arial"/>
                <a:cs typeface="Arial"/>
              </a:rPr>
              <a:t>to </a:t>
            </a:r>
            <a:r>
              <a:rPr dirty="0" sz="1150" spc="-95" b="1">
                <a:latin typeface="Arial"/>
                <a:cs typeface="Arial"/>
              </a:rPr>
              <a:t>Call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55" b="1">
                <a:latin typeface="Arial"/>
                <a:cs typeface="Arial"/>
              </a:rPr>
              <a:t>Meeting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64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87493" y="7528052"/>
            <a:ext cx="18415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40">
                <a:latin typeface="Arial"/>
                <a:cs typeface="Arial"/>
              </a:rPr>
              <a:t>(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35">
                <a:latin typeface="Arial"/>
                <a:cs typeface="Arial"/>
              </a:rPr>
              <a:t>)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4616" y="7528052"/>
            <a:ext cx="4598670" cy="3797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 indent="-635">
              <a:lnSpc>
                <a:spcPct val="101699"/>
              </a:lnSpc>
              <a:spcBef>
                <a:spcPts val="75"/>
              </a:spcBef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directors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company may </a:t>
            </a:r>
            <a:r>
              <a:rPr dirty="0" sz="1150" spc="-45">
                <a:latin typeface="Arial"/>
                <a:cs typeface="Arial"/>
              </a:rPr>
              <a:t>call </a:t>
            </a:r>
            <a:r>
              <a:rPr dirty="0" sz="1150" spc="-30">
                <a:latin typeface="Arial"/>
                <a:cs typeface="Arial"/>
              </a:rPr>
              <a:t>extraordinary </a:t>
            </a:r>
            <a:r>
              <a:rPr dirty="0" sz="1150" spc="-50">
                <a:latin typeface="Arial"/>
                <a:cs typeface="Arial"/>
              </a:rPr>
              <a:t>general </a:t>
            </a:r>
            <a:r>
              <a:rPr dirty="0" sz="1150" spc="-35">
                <a:latin typeface="Arial"/>
                <a:cs typeface="Arial"/>
              </a:rPr>
              <a:t>meeting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45">
                <a:latin typeface="Arial"/>
                <a:cs typeface="Arial"/>
              </a:rPr>
              <a:t>doing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30">
                <a:latin typeface="Arial"/>
                <a:cs typeface="Arial"/>
              </a:rPr>
              <a:t>urgent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87491" y="8062976"/>
            <a:ext cx="19050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40">
                <a:latin typeface="Arial"/>
                <a:cs typeface="Arial"/>
              </a:rPr>
              <a:t>(</a:t>
            </a:r>
            <a:r>
              <a:rPr dirty="0" sz="1150" spc="-45">
                <a:latin typeface="Arial"/>
                <a:cs typeface="Arial"/>
              </a:rPr>
              <a:t>b</a:t>
            </a:r>
            <a:r>
              <a:rPr dirty="0" sz="1150" spc="-35">
                <a:latin typeface="Arial"/>
                <a:cs typeface="Arial"/>
              </a:rPr>
              <a:t>)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4558" y="8062976"/>
            <a:ext cx="4598035" cy="3797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 indent="-635">
              <a:lnSpc>
                <a:spcPct val="101699"/>
              </a:lnSpc>
              <a:spcBef>
                <a:spcPts val="75"/>
              </a:spcBef>
            </a:pP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35">
                <a:latin typeface="Arial"/>
                <a:cs typeface="Arial"/>
              </a:rPr>
              <a:t>meeting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5">
                <a:latin typeface="Arial"/>
                <a:cs typeface="Arial"/>
              </a:rPr>
              <a:t>called 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directors,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request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50">
                <a:latin typeface="Arial"/>
                <a:cs typeface="Arial"/>
              </a:rPr>
              <a:t>shareholders,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having </a:t>
            </a:r>
            <a:r>
              <a:rPr dirty="0" sz="1150" spc="-5">
                <a:latin typeface="Arial"/>
                <a:cs typeface="Arial"/>
              </a:rPr>
              <a:t>not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less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than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5">
                <a:latin typeface="Arial"/>
                <a:cs typeface="Arial"/>
              </a:rPr>
              <a:t>tenth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voting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power.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87499" y="892559"/>
            <a:ext cx="17653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40">
                <a:latin typeface="Arial"/>
                <a:cs typeface="Arial"/>
              </a:rPr>
              <a:t>(</a:t>
            </a:r>
            <a:r>
              <a:rPr dirty="0" sz="1150" spc="-85">
                <a:latin typeface="Arial"/>
                <a:cs typeface="Arial"/>
              </a:rPr>
              <a:t>c</a:t>
            </a:r>
            <a:r>
              <a:rPr dirty="0" sz="1150" spc="-35">
                <a:latin typeface="Arial"/>
                <a:cs typeface="Arial"/>
              </a:rPr>
              <a:t>)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65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44645" y="892559"/>
            <a:ext cx="4598670" cy="558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 indent="-635">
              <a:lnSpc>
                <a:spcPct val="101699"/>
              </a:lnSpc>
              <a:spcBef>
                <a:spcPts val="75"/>
              </a:spcBef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directors </a:t>
            </a:r>
            <a:r>
              <a:rPr dirty="0" sz="1150" spc="-15">
                <a:latin typeface="Arial"/>
                <a:cs typeface="Arial"/>
              </a:rPr>
              <a:t>fail </a:t>
            </a:r>
            <a:r>
              <a:rPr dirty="0" sz="1150" spc="2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call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extraordinary </a:t>
            </a:r>
            <a:r>
              <a:rPr dirty="0" sz="1150" spc="-50">
                <a:latin typeface="Arial"/>
                <a:cs typeface="Arial"/>
              </a:rPr>
              <a:t>general </a:t>
            </a:r>
            <a:r>
              <a:rPr dirty="0" sz="1150" spc="-35">
                <a:latin typeface="Arial"/>
                <a:cs typeface="Arial"/>
              </a:rPr>
              <a:t>meeting </a:t>
            </a:r>
            <a:r>
              <a:rPr dirty="0" sz="1150" spc="-5">
                <a:latin typeface="Arial"/>
                <a:cs typeface="Arial"/>
              </a:rPr>
              <a:t>within </a:t>
            </a:r>
            <a:r>
              <a:rPr dirty="0" sz="1150" spc="-55">
                <a:latin typeface="Arial"/>
                <a:cs typeface="Arial"/>
              </a:rPr>
              <a:t>21  </a:t>
            </a:r>
            <a:r>
              <a:rPr dirty="0" sz="1150" spc="-70">
                <a:latin typeface="Arial"/>
                <a:cs typeface="Arial"/>
              </a:rPr>
              <a:t>days,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shareholders </a:t>
            </a:r>
            <a:r>
              <a:rPr dirty="0" sz="1150" spc="-55">
                <a:latin typeface="Arial"/>
                <a:cs typeface="Arial"/>
              </a:rPr>
              <a:t>themselves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45">
                <a:latin typeface="Arial"/>
                <a:cs typeface="Arial"/>
              </a:rPr>
              <a:t>call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meeting.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65">
                <a:latin typeface="Arial"/>
                <a:cs typeface="Arial"/>
              </a:rPr>
              <a:t>such, </a:t>
            </a:r>
            <a:r>
              <a:rPr dirty="0" sz="1150" spc="-80">
                <a:latin typeface="Arial"/>
                <a:cs typeface="Arial"/>
              </a:rPr>
              <a:t>case,  </a:t>
            </a:r>
            <a:r>
              <a:rPr dirty="0" sz="1150" spc="-35">
                <a:latin typeface="Arial"/>
                <a:cs typeface="Arial"/>
              </a:rPr>
              <a:t>meeting must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5">
                <a:latin typeface="Arial"/>
                <a:cs typeface="Arial"/>
              </a:rPr>
              <a:t>held </a:t>
            </a:r>
            <a:r>
              <a:rPr dirty="0" sz="1150" spc="-5">
                <a:latin typeface="Arial"/>
                <a:cs typeface="Arial"/>
              </a:rPr>
              <a:t>within </a:t>
            </a:r>
            <a:r>
              <a:rPr dirty="0" sz="1150" spc="-60">
                <a:latin typeface="Arial"/>
                <a:cs typeface="Arial"/>
              </a:rPr>
              <a:t>3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months.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0297" y="1427483"/>
            <a:ext cx="5514340" cy="7597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1150" spc="-70" b="1">
                <a:latin typeface="Arial"/>
                <a:cs typeface="Arial"/>
              </a:rPr>
              <a:t>Notice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call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extraordinary </a:t>
            </a:r>
            <a:r>
              <a:rPr dirty="0" sz="1150" spc="-40">
                <a:latin typeface="Arial"/>
                <a:cs typeface="Arial"/>
              </a:rPr>
              <a:t>meeting, </a:t>
            </a:r>
            <a:r>
              <a:rPr dirty="0" sz="1150" spc="-65">
                <a:latin typeface="Arial"/>
                <a:cs typeface="Arial"/>
              </a:rPr>
              <a:t>21 </a:t>
            </a:r>
            <a:r>
              <a:rPr dirty="0" sz="1150" spc="-80">
                <a:latin typeface="Arial"/>
                <a:cs typeface="Arial"/>
              </a:rPr>
              <a:t>days </a:t>
            </a:r>
            <a:r>
              <a:rPr dirty="0" sz="1150" spc="-30">
                <a:latin typeface="Arial"/>
                <a:cs typeface="Arial"/>
              </a:rPr>
              <a:t>notice </a:t>
            </a:r>
            <a:r>
              <a:rPr dirty="0" sz="1150" spc="-70">
                <a:latin typeface="Arial"/>
                <a:cs typeface="Arial"/>
              </a:rPr>
              <a:t>is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served.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150" spc="-90" b="1">
                <a:latin typeface="Arial"/>
                <a:cs typeface="Arial"/>
              </a:rPr>
              <a:t>Procedure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3"/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shareholders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submit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55">
                <a:latin typeface="Arial"/>
                <a:cs typeface="Arial"/>
              </a:rPr>
              <a:t>demand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secretary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company. </a:t>
            </a:r>
            <a:r>
              <a:rPr dirty="0" sz="1150" spc="-10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30">
                <a:latin typeface="Arial"/>
                <a:cs typeface="Arial"/>
              </a:rPr>
              <a:t>consultation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directors,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arrange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call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meeting.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60">
                <a:latin typeface="Arial"/>
                <a:cs typeface="Arial"/>
              </a:rPr>
              <a:t>bares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80">
                <a:latin typeface="Arial"/>
                <a:cs typeface="Arial"/>
              </a:rPr>
              <a:t>expenses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meeting.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4"/>
              <a:tabLst>
                <a:tab pos="469265" algn="l"/>
                <a:tab pos="469900" algn="l"/>
              </a:tabLst>
            </a:pPr>
            <a:r>
              <a:rPr dirty="0" sz="1150" spc="-90" b="1">
                <a:latin typeface="Arial"/>
                <a:cs typeface="Arial"/>
              </a:rPr>
              <a:t>Objects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75">
                <a:latin typeface="Arial"/>
                <a:cs typeface="Arial"/>
              </a:rPr>
              <a:t>issue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debentures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alter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memorandum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articles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alter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share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150" spc="-145" b="1">
                <a:latin typeface="Arial"/>
                <a:cs typeface="Arial"/>
              </a:rPr>
              <a:t>DIRECTOR’S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125" b="1">
                <a:latin typeface="Arial"/>
                <a:cs typeface="Arial"/>
              </a:rPr>
              <a:t>MEETINGS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members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30">
                <a:latin typeface="Arial"/>
                <a:cs typeface="Arial"/>
              </a:rPr>
              <a:t>elect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40">
                <a:latin typeface="Arial"/>
                <a:cs typeface="Arial"/>
              </a:rPr>
              <a:t>representatives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run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50">
                <a:latin typeface="Arial"/>
                <a:cs typeface="Arial"/>
              </a:rPr>
              <a:t>management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company. </a:t>
            </a: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45">
                <a:latin typeface="Arial"/>
                <a:cs typeface="Arial"/>
              </a:rPr>
              <a:t>representatives </a:t>
            </a:r>
            <a:r>
              <a:rPr dirty="0" sz="1150" spc="-50">
                <a:latin typeface="Arial"/>
                <a:cs typeface="Arial"/>
              </a:rPr>
              <a:t>are called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directors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55">
                <a:latin typeface="Arial"/>
                <a:cs typeface="Arial"/>
              </a:rPr>
              <a:t>company and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numbers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55">
                <a:latin typeface="Arial"/>
                <a:cs typeface="Arial"/>
              </a:rPr>
              <a:t>companies.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35">
                <a:latin typeface="Arial"/>
                <a:cs typeface="Arial"/>
              </a:rPr>
              <a:t>affairs 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5">
                <a:latin typeface="Arial"/>
                <a:cs typeface="Arial"/>
              </a:rPr>
              <a:t>settled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5">
                <a:latin typeface="Arial"/>
                <a:cs typeface="Arial"/>
              </a:rPr>
              <a:t>mutual </a:t>
            </a:r>
            <a:r>
              <a:rPr dirty="0" sz="1150" spc="-30">
                <a:latin typeface="Arial"/>
                <a:cs typeface="Arial"/>
              </a:rPr>
              <a:t>consultation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 directors. </a:t>
            </a:r>
            <a:r>
              <a:rPr dirty="0" sz="1150" spc="-105">
                <a:latin typeface="Arial"/>
                <a:cs typeface="Arial"/>
              </a:rPr>
              <a:t>So,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meeting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directors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80">
                <a:latin typeface="Arial"/>
                <a:cs typeface="Arial"/>
              </a:rPr>
              <a:t>discuss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policies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take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decisions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25">
                <a:latin typeface="Arial"/>
                <a:cs typeface="Arial"/>
              </a:rPr>
              <a:t>directors’ </a:t>
            </a:r>
            <a:r>
              <a:rPr dirty="0" sz="1150" spc="-40">
                <a:latin typeface="Arial"/>
                <a:cs typeface="Arial"/>
              </a:rPr>
              <a:t>meeting.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dirty="0" sz="1150" spc="-70" b="1">
                <a:latin typeface="Arial"/>
                <a:cs typeface="Arial"/>
              </a:rPr>
              <a:t>When </a:t>
            </a:r>
            <a:r>
              <a:rPr dirty="0" sz="1150" spc="-110" b="1">
                <a:latin typeface="Arial"/>
                <a:cs typeface="Arial"/>
              </a:rPr>
              <a:t>is </a:t>
            </a:r>
            <a:r>
              <a:rPr dirty="0" sz="1150" spc="-10" b="1">
                <a:latin typeface="Arial"/>
                <a:cs typeface="Arial"/>
              </a:rPr>
              <a:t>it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held?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80">
                <a:latin typeface="Arial"/>
                <a:cs typeface="Arial"/>
              </a:rPr>
              <a:t>This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meeting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must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held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at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least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once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three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months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at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least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four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times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50">
                <a:latin typeface="Arial"/>
                <a:cs typeface="Arial"/>
              </a:rPr>
              <a:t> year.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1150" spc="-70" b="1">
                <a:latin typeface="Arial"/>
                <a:cs typeface="Arial"/>
              </a:rPr>
              <a:t>Notice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  <a:spcBef>
                <a:spcPts val="5"/>
              </a:spcBef>
            </a:pPr>
            <a:r>
              <a:rPr dirty="0" sz="1150" spc="-35">
                <a:latin typeface="Arial"/>
                <a:cs typeface="Arial"/>
              </a:rPr>
              <a:t>Notice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35">
                <a:latin typeface="Arial"/>
                <a:cs typeface="Arial"/>
              </a:rPr>
              <a:t>meeting must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5">
                <a:latin typeface="Arial"/>
                <a:cs typeface="Arial"/>
              </a:rPr>
              <a:t>sent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5">
                <a:latin typeface="Arial"/>
                <a:cs typeface="Arial"/>
              </a:rPr>
              <a:t>each </a:t>
            </a:r>
            <a:r>
              <a:rPr dirty="0" sz="1150" spc="-20">
                <a:latin typeface="Arial"/>
                <a:cs typeface="Arial"/>
              </a:rPr>
              <a:t>director, </a:t>
            </a:r>
            <a:r>
              <a:rPr dirty="0" sz="1150" spc="-30">
                <a:latin typeface="Arial"/>
                <a:cs typeface="Arial"/>
              </a:rPr>
              <a:t>otherwise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proceedings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35">
                <a:latin typeface="Arial"/>
                <a:cs typeface="Arial"/>
              </a:rPr>
              <a:t>meeting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50">
                <a:latin typeface="Arial"/>
                <a:cs typeface="Arial"/>
              </a:rPr>
              <a:t>declared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void.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150" spc="-90" b="1">
                <a:latin typeface="Arial"/>
                <a:cs typeface="Arial"/>
              </a:rPr>
              <a:t>Objects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AutoNum type="arabicPeriod" startAt="3"/>
            </a:pPr>
            <a:endParaRPr sz="130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allot</a:t>
            </a:r>
            <a:r>
              <a:rPr dirty="0" sz="1150" spc="-2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shares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invest </a:t>
            </a:r>
            <a:r>
              <a:rPr dirty="0" sz="1150" spc="-55">
                <a:latin typeface="Arial"/>
                <a:cs typeface="Arial"/>
              </a:rPr>
              <a:t>company’s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fund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recommend</a:t>
            </a:r>
            <a:r>
              <a:rPr dirty="0" sz="1150" spc="-3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dividend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keep reserve </a:t>
            </a:r>
            <a:r>
              <a:rPr dirty="0" sz="1150" spc="-5">
                <a:latin typeface="Arial"/>
                <a:cs typeface="Arial"/>
              </a:rPr>
              <a:t>out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profit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make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loans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appoint </a:t>
            </a:r>
            <a:r>
              <a:rPr dirty="0" sz="1150" spc="-35">
                <a:latin typeface="Arial"/>
                <a:cs typeface="Arial"/>
              </a:rPr>
              <a:t>officers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committee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80">
                <a:latin typeface="Arial"/>
                <a:cs typeface="Arial"/>
              </a:rPr>
              <a:t>discuss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contracts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determine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date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next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meeting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6" y="892559"/>
            <a:ext cx="5370830" cy="18059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40335">
              <a:lnSpc>
                <a:spcPct val="100000"/>
              </a:lnSpc>
              <a:spcBef>
                <a:spcPts val="100"/>
              </a:spcBef>
            </a:pPr>
            <a:r>
              <a:rPr dirty="0" sz="1150" spc="-70" b="1">
                <a:latin typeface="Arial"/>
                <a:cs typeface="Arial"/>
              </a:rPr>
              <a:t>WINDING </a:t>
            </a:r>
            <a:r>
              <a:rPr dirty="0" sz="1150" spc="-114" b="1">
                <a:latin typeface="Arial"/>
                <a:cs typeface="Arial"/>
              </a:rPr>
              <a:t>UP </a:t>
            </a:r>
            <a:r>
              <a:rPr dirty="0" sz="1150" spc="-150" b="1">
                <a:latin typeface="Arial"/>
                <a:cs typeface="Arial"/>
              </a:rPr>
              <a:t>OF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spc="-125" b="1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created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5">
                <a:latin typeface="Arial"/>
                <a:cs typeface="Arial"/>
              </a:rPr>
              <a:t>law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legal existence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60">
                <a:latin typeface="Arial"/>
                <a:cs typeface="Arial"/>
              </a:rPr>
              <a:t>abolishes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75">
                <a:latin typeface="Arial"/>
                <a:cs typeface="Arial"/>
              </a:rPr>
              <a:t>comes 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an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end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called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winding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up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liquidation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company.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ctr" marL="142240">
              <a:lnSpc>
                <a:spcPct val="100000"/>
              </a:lnSpc>
              <a:spcBef>
                <a:spcPts val="5"/>
              </a:spcBef>
            </a:pPr>
            <a:r>
              <a:rPr dirty="0" sz="1150" spc="-125" b="1">
                <a:latin typeface="Arial"/>
                <a:cs typeface="Arial"/>
              </a:rPr>
              <a:t>MODES </a:t>
            </a:r>
            <a:r>
              <a:rPr dirty="0" sz="1150" spc="-150" b="1">
                <a:latin typeface="Arial"/>
                <a:cs typeface="Arial"/>
              </a:rPr>
              <a:t>OF  </a:t>
            </a:r>
            <a:r>
              <a:rPr dirty="0" sz="1150" spc="-70" b="1">
                <a:latin typeface="Arial"/>
                <a:cs typeface="Arial"/>
              </a:rPr>
              <a:t>WINDING</a:t>
            </a:r>
            <a:r>
              <a:rPr dirty="0" sz="1150" spc="-105" b="1">
                <a:latin typeface="Arial"/>
                <a:cs typeface="Arial"/>
              </a:rPr>
              <a:t> </a:t>
            </a:r>
            <a:r>
              <a:rPr dirty="0" sz="1150" spc="-114" b="1">
                <a:latin typeface="Arial"/>
                <a:cs typeface="Arial"/>
              </a:rPr>
              <a:t>UP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0">
                <a:latin typeface="Arial"/>
                <a:cs typeface="Arial"/>
              </a:rPr>
              <a:t>wound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20">
                <a:latin typeface="Arial"/>
                <a:cs typeface="Arial"/>
              </a:rPr>
              <a:t>in the following </a:t>
            </a:r>
            <a:r>
              <a:rPr dirty="0" sz="1150" spc="-25">
                <a:latin typeface="Arial"/>
                <a:cs typeface="Arial"/>
              </a:rPr>
              <a:t>three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ways: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ctr" marL="139065">
              <a:lnSpc>
                <a:spcPct val="100000"/>
              </a:lnSpc>
            </a:pPr>
            <a:r>
              <a:rPr dirty="0" sz="1150" spc="-45">
                <a:latin typeface="Arial"/>
                <a:cs typeface="Arial"/>
              </a:rPr>
              <a:t>Winding </a:t>
            </a:r>
            <a:r>
              <a:rPr dirty="0" sz="1150" spc="-35">
                <a:latin typeface="Arial"/>
                <a:cs typeface="Arial"/>
              </a:rPr>
              <a:t>up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Joint </a:t>
            </a:r>
            <a:r>
              <a:rPr dirty="0" sz="1150" spc="-75">
                <a:latin typeface="Arial"/>
                <a:cs typeface="Arial"/>
              </a:rPr>
              <a:t>Stock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025646" y="3438146"/>
          <a:ext cx="3950970" cy="761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2315"/>
                <a:gridCol w="2375535"/>
                <a:gridCol w="833120"/>
              </a:tblGrid>
              <a:tr h="162305">
                <a:tc>
                  <a:txBody>
                    <a:bodyPr/>
                    <a:lstStyle/>
                    <a:p>
                      <a:pPr marL="31750">
                        <a:lnSpc>
                          <a:spcPts val="1095"/>
                        </a:lnSpc>
                      </a:pPr>
                      <a:r>
                        <a:rPr dirty="0" sz="1150" spc="-5">
                          <a:latin typeface="Arial"/>
                          <a:cs typeface="Arial"/>
                        </a:rPr>
                        <a:t>C</a:t>
                      </a:r>
                      <a:r>
                        <a:rPr dirty="0" sz="1150" spc="5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150" spc="5">
                          <a:latin typeface="Arial"/>
                          <a:cs typeface="Arial"/>
                        </a:rPr>
                        <a:t>m</a:t>
                      </a:r>
                      <a:r>
                        <a:rPr dirty="0" sz="1150" spc="-5">
                          <a:latin typeface="Arial"/>
                          <a:cs typeface="Arial"/>
                        </a:rPr>
                        <a:t>pu</a:t>
                      </a:r>
                      <a:r>
                        <a:rPr dirty="0" sz="1150" spc="-5">
                          <a:latin typeface="Arial"/>
                          <a:cs typeface="Arial"/>
                        </a:rPr>
                        <a:t>l</a:t>
                      </a:r>
                      <a:r>
                        <a:rPr dirty="0" sz="1150" spc="5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1150" spc="5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150" spc="-5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150">
                          <a:latin typeface="Arial"/>
                          <a:cs typeface="Arial"/>
                        </a:rPr>
                        <a:t>y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60400">
                        <a:lnSpc>
                          <a:spcPts val="1095"/>
                        </a:lnSpc>
                      </a:pPr>
                      <a:r>
                        <a:rPr dirty="0" sz="1150" spc="-35">
                          <a:latin typeface="Arial"/>
                          <a:cs typeface="Arial"/>
                        </a:rPr>
                        <a:t>Voluntary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1095"/>
                        </a:lnSpc>
                      </a:pPr>
                      <a:r>
                        <a:rPr dirty="0" sz="1150" spc="-45">
                          <a:latin typeface="Arial"/>
                          <a:cs typeface="Arial"/>
                        </a:rPr>
                        <a:t>Under</a:t>
                      </a:r>
                      <a:r>
                        <a:rPr dirty="0" sz="1150" spc="-8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20">
                          <a:latin typeface="Arial"/>
                          <a:cs typeface="Arial"/>
                        </a:rPr>
                        <a:t>the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178307">
                <a:tc>
                  <a:txBody>
                    <a:bodyPr/>
                    <a:lstStyle/>
                    <a:p>
                      <a:pPr marL="31750">
                        <a:lnSpc>
                          <a:spcPts val="1220"/>
                        </a:lnSpc>
                      </a:pPr>
                      <a:r>
                        <a:rPr dirty="0" sz="1150" spc="-45">
                          <a:latin typeface="Arial"/>
                          <a:cs typeface="Arial"/>
                        </a:rPr>
                        <a:t>Winding</a:t>
                      </a:r>
                      <a:r>
                        <a:rPr dirty="0" sz="1150" spc="-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35">
                          <a:latin typeface="Arial"/>
                          <a:cs typeface="Arial"/>
                        </a:rPr>
                        <a:t>up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60400">
                        <a:lnSpc>
                          <a:spcPts val="1220"/>
                        </a:lnSpc>
                      </a:pPr>
                      <a:r>
                        <a:rPr dirty="0" sz="1150" spc="-45">
                          <a:latin typeface="Arial"/>
                          <a:cs typeface="Arial"/>
                        </a:rPr>
                        <a:t>Winding</a:t>
                      </a:r>
                      <a:r>
                        <a:rPr dirty="0" sz="115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35">
                          <a:latin typeface="Arial"/>
                          <a:cs typeface="Arial"/>
                        </a:rPr>
                        <a:t>up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1220"/>
                        </a:lnSpc>
                      </a:pPr>
                      <a:r>
                        <a:rPr dirty="0" sz="1150" spc="-60">
                          <a:latin typeface="Arial"/>
                          <a:cs typeface="Arial"/>
                        </a:rPr>
                        <a:t>Supervision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410715">
                <a:tc>
                  <a:txBody>
                    <a:bodyPr/>
                    <a:lstStyle/>
                    <a:p>
                      <a:pPr marL="31750">
                        <a:lnSpc>
                          <a:spcPts val="1220"/>
                        </a:lnSpc>
                      </a:pPr>
                      <a:r>
                        <a:rPr dirty="0" sz="1150" spc="-50"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115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45">
                          <a:latin typeface="Arial"/>
                          <a:cs typeface="Arial"/>
                        </a:rPr>
                        <a:t>Court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1220"/>
                        </a:lnSpc>
                      </a:pPr>
                      <a:r>
                        <a:rPr dirty="0" sz="115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150" spc="-7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45">
                          <a:latin typeface="Arial"/>
                          <a:cs typeface="Arial"/>
                        </a:rPr>
                        <a:t>Court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501890" y="4458718"/>
            <a:ext cx="77660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5">
                <a:latin typeface="Arial"/>
                <a:cs typeface="Arial"/>
              </a:rPr>
              <a:t>By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Members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88034" y="4458718"/>
            <a:ext cx="74866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5">
                <a:latin typeface="Arial"/>
                <a:cs typeface="Arial"/>
              </a:rPr>
              <a:t>By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Creditors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0296" y="4993642"/>
            <a:ext cx="5513705" cy="3230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50" b="1">
                <a:latin typeface="Arial"/>
                <a:cs typeface="Arial"/>
              </a:rPr>
              <a:t>COMPULSORY </a:t>
            </a:r>
            <a:r>
              <a:rPr dirty="0" sz="1150" spc="-75" b="1">
                <a:latin typeface="Arial"/>
                <a:cs typeface="Arial"/>
              </a:rPr>
              <a:t>WINDING </a:t>
            </a:r>
            <a:r>
              <a:rPr dirty="0" sz="1150" spc="-114" b="1">
                <a:latin typeface="Arial"/>
                <a:cs typeface="Arial"/>
              </a:rPr>
              <a:t>UP </a:t>
            </a:r>
            <a:r>
              <a:rPr dirty="0" sz="1150" spc="-180" b="1">
                <a:latin typeface="Arial"/>
                <a:cs typeface="Arial"/>
              </a:rPr>
              <a:t>BY</a:t>
            </a:r>
            <a:r>
              <a:rPr dirty="0" sz="1150" spc="-85" b="1">
                <a:latin typeface="Arial"/>
                <a:cs typeface="Arial"/>
              </a:rPr>
              <a:t> </a:t>
            </a:r>
            <a:r>
              <a:rPr dirty="0" sz="1150" spc="-150" b="1">
                <a:latin typeface="Arial"/>
                <a:cs typeface="Arial"/>
              </a:rPr>
              <a:t>COURT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8255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Section 305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Companies </a:t>
            </a:r>
            <a:r>
              <a:rPr dirty="0" sz="1150" spc="-55">
                <a:latin typeface="Arial"/>
                <a:cs typeface="Arial"/>
              </a:rPr>
              <a:t>Ordinance,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company 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5">
                <a:latin typeface="Arial"/>
                <a:cs typeface="Arial"/>
              </a:rPr>
              <a:t>wound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45">
                <a:latin typeface="Arial"/>
                <a:cs typeface="Arial"/>
              </a:rPr>
              <a:t>by </a:t>
            </a:r>
            <a:r>
              <a:rPr dirty="0" sz="1150" spc="-15">
                <a:latin typeface="Arial"/>
                <a:cs typeface="Arial"/>
              </a:rPr>
              <a:t>court  </a:t>
            </a:r>
            <a:r>
              <a:rPr dirty="0" sz="1150" spc="-35">
                <a:latin typeface="Arial"/>
                <a:cs typeface="Arial"/>
              </a:rPr>
              <a:t>under </a:t>
            </a:r>
            <a:r>
              <a:rPr dirty="0" sz="1150" spc="-20">
                <a:latin typeface="Arial"/>
                <a:cs typeface="Arial"/>
              </a:rPr>
              <a:t>the following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circumstances: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dirty="0" sz="1150" spc="-100" b="1">
                <a:latin typeface="Arial"/>
                <a:cs typeface="Arial"/>
              </a:rPr>
              <a:t>Special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Resolution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special </a:t>
            </a:r>
            <a:r>
              <a:rPr dirty="0" sz="1150" spc="-30">
                <a:latin typeface="Arial"/>
                <a:cs typeface="Arial"/>
              </a:rPr>
              <a:t>resolution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5">
                <a:latin typeface="Arial"/>
                <a:cs typeface="Arial"/>
              </a:rPr>
              <a:t>been </a:t>
            </a:r>
            <a:r>
              <a:rPr dirty="0" sz="1150" spc="-80">
                <a:latin typeface="Arial"/>
                <a:cs typeface="Arial"/>
              </a:rPr>
              <a:t>passed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5">
                <a:latin typeface="Arial"/>
                <a:cs typeface="Arial"/>
              </a:rPr>
              <a:t>winding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up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1150" spc="-65" b="1">
                <a:latin typeface="Arial"/>
                <a:cs typeface="Arial"/>
              </a:rPr>
              <a:t>Statutory </a:t>
            </a:r>
            <a:r>
              <a:rPr dirty="0" sz="1150" spc="-50" b="1">
                <a:latin typeface="Arial"/>
                <a:cs typeface="Arial"/>
              </a:rPr>
              <a:t>Meeting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marL="12700" marR="7620">
              <a:lnSpc>
                <a:spcPct val="101699"/>
              </a:lnSpc>
            </a:pP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40">
                <a:latin typeface="Arial"/>
                <a:cs typeface="Arial"/>
              </a:rPr>
              <a:t>fails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submit </a:t>
            </a:r>
            <a:r>
              <a:rPr dirty="0" sz="1150" spc="-20">
                <a:latin typeface="Arial"/>
                <a:cs typeface="Arial"/>
              </a:rPr>
              <a:t>statutory </a:t>
            </a:r>
            <a:r>
              <a:rPr dirty="0" sz="1150" spc="-10">
                <a:latin typeface="Arial"/>
                <a:cs typeface="Arial"/>
              </a:rPr>
              <a:t>report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Registrar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5">
                <a:latin typeface="Arial"/>
                <a:cs typeface="Arial"/>
              </a:rPr>
              <a:t>failure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hold </a:t>
            </a:r>
            <a:r>
              <a:rPr dirty="0" sz="1150" spc="-20">
                <a:latin typeface="Arial"/>
                <a:cs typeface="Arial"/>
              </a:rPr>
              <a:t>statutory  </a:t>
            </a:r>
            <a:r>
              <a:rPr dirty="0" sz="1150" spc="-35">
                <a:latin typeface="Arial"/>
                <a:cs typeface="Arial"/>
              </a:rPr>
              <a:t>meeting </a:t>
            </a:r>
            <a:r>
              <a:rPr dirty="0" sz="1150" spc="-5">
                <a:latin typeface="Arial"/>
                <a:cs typeface="Arial"/>
              </a:rPr>
              <a:t>within </a:t>
            </a:r>
            <a:r>
              <a:rPr dirty="0" sz="1150" spc="-45">
                <a:latin typeface="Arial"/>
                <a:cs typeface="Arial"/>
              </a:rPr>
              <a:t>specified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time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150" spc="-90" b="1">
                <a:latin typeface="Arial"/>
                <a:cs typeface="Arial"/>
              </a:rPr>
              <a:t>Commencement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30" b="1">
                <a:latin typeface="Arial"/>
                <a:cs typeface="Arial"/>
              </a:rPr>
              <a:t>Business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40">
                <a:latin typeface="Arial"/>
                <a:cs typeface="Arial"/>
              </a:rPr>
              <a:t>fails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start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5">
                <a:latin typeface="Arial"/>
                <a:cs typeface="Arial"/>
              </a:rPr>
              <a:t>within </a:t>
            </a:r>
            <a:r>
              <a:rPr dirty="0" sz="1150" spc="-50">
                <a:latin typeface="Arial"/>
                <a:cs typeface="Arial"/>
              </a:rPr>
              <a:t>one year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date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incorporation </a:t>
            </a:r>
            <a:r>
              <a:rPr dirty="0" sz="1150" spc="-10">
                <a:latin typeface="Arial"/>
                <a:cs typeface="Arial"/>
              </a:rPr>
              <a:t>or  </a:t>
            </a:r>
            <a:r>
              <a:rPr dirty="0" sz="1150" spc="-50">
                <a:latin typeface="Arial"/>
                <a:cs typeface="Arial"/>
              </a:rPr>
              <a:t>postpones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one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year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400300" y="2740152"/>
            <a:ext cx="3200400" cy="646430"/>
          </a:xfrm>
          <a:custGeom>
            <a:avLst/>
            <a:gdLst/>
            <a:ahLst/>
            <a:cxnLst/>
            <a:rect l="l" t="t" r="r" b="b"/>
            <a:pathLst>
              <a:path w="3200400" h="646429">
                <a:moveTo>
                  <a:pt x="0" y="294131"/>
                </a:moveTo>
                <a:lnTo>
                  <a:pt x="3200399" y="294131"/>
                </a:lnTo>
              </a:path>
              <a:path w="3200400" h="646429">
                <a:moveTo>
                  <a:pt x="0" y="284987"/>
                </a:moveTo>
                <a:lnTo>
                  <a:pt x="0" y="627887"/>
                </a:lnTo>
              </a:path>
              <a:path w="3200400" h="646429">
                <a:moveTo>
                  <a:pt x="3200399" y="303275"/>
                </a:moveTo>
                <a:lnTo>
                  <a:pt x="3200399" y="646175"/>
                </a:lnTo>
              </a:path>
              <a:path w="3200400" h="646429">
                <a:moveTo>
                  <a:pt x="1371599" y="0"/>
                </a:moveTo>
                <a:lnTo>
                  <a:pt x="1371599" y="28193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71900" y="3840480"/>
            <a:ext cx="0" cy="342900"/>
          </a:xfrm>
          <a:custGeom>
            <a:avLst/>
            <a:gdLst/>
            <a:ahLst/>
            <a:cxnLst/>
            <a:rect l="l" t="t" r="r" b="b"/>
            <a:pathLst>
              <a:path w="0" h="342900">
                <a:moveTo>
                  <a:pt x="0" y="0"/>
                </a:moveTo>
                <a:lnTo>
                  <a:pt x="0" y="3428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743200" y="4189476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5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43500" y="4189476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5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66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82238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469265" algn="l"/>
                <a:tab pos="469900" algn="l"/>
              </a:tabLst>
            </a:pPr>
            <a:r>
              <a:rPr dirty="0" sz="1150" spc="-90" b="1">
                <a:latin typeface="Arial"/>
                <a:cs typeface="Arial"/>
              </a:rPr>
              <a:t>Reduction </a:t>
            </a:r>
            <a:r>
              <a:rPr dirty="0" sz="1150" spc="-60" b="1">
                <a:latin typeface="Arial"/>
                <a:cs typeface="Arial"/>
              </a:rPr>
              <a:t>in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Members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4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5">
                <a:latin typeface="Arial"/>
                <a:cs typeface="Arial"/>
              </a:rPr>
              <a:t>If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number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5">
                <a:latin typeface="Arial"/>
                <a:cs typeface="Arial"/>
              </a:rPr>
              <a:t> members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fall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below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seven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95">
                <a:latin typeface="Arial"/>
                <a:cs typeface="Arial"/>
              </a:rPr>
              <a:t>case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public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company and </a:t>
            </a:r>
            <a:r>
              <a:rPr dirty="0" sz="1150" spc="-30">
                <a:latin typeface="Arial"/>
                <a:cs typeface="Arial"/>
              </a:rPr>
              <a:t>below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two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95">
                <a:latin typeface="Arial"/>
                <a:cs typeface="Arial"/>
              </a:rPr>
              <a:t>case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private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company.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5"/>
              <a:tabLst>
                <a:tab pos="469265" algn="l"/>
                <a:tab pos="469900" algn="l"/>
              </a:tabLst>
            </a:pPr>
            <a:r>
              <a:rPr dirty="0" sz="1150" spc="-80" b="1">
                <a:latin typeface="Arial"/>
                <a:cs typeface="Arial"/>
              </a:rPr>
              <a:t>Satisfaction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85" b="1">
                <a:latin typeface="Arial"/>
                <a:cs typeface="Arial"/>
              </a:rPr>
              <a:t>Court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5"/>
            </a:pPr>
            <a:endParaRPr sz="1200">
              <a:latin typeface="Arial"/>
              <a:cs typeface="Arial"/>
            </a:endParaRPr>
          </a:p>
          <a:p>
            <a:pPr marL="12700" marR="7620">
              <a:lnSpc>
                <a:spcPct val="101699"/>
              </a:lnSpc>
              <a:spcBef>
                <a:spcPts val="5"/>
              </a:spcBef>
            </a:pP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court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40">
                <a:latin typeface="Arial"/>
                <a:cs typeface="Arial"/>
              </a:rPr>
              <a:t>satisfied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working, </a:t>
            </a:r>
            <a:r>
              <a:rPr dirty="0" sz="1150" spc="-55">
                <a:latin typeface="Arial"/>
                <a:cs typeface="Arial"/>
              </a:rPr>
              <a:t>management and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35">
                <a:latin typeface="Arial"/>
                <a:cs typeface="Arial"/>
              </a:rPr>
              <a:t>affairs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6"/>
              <a:tabLst>
                <a:tab pos="469265" algn="l"/>
                <a:tab pos="469900" algn="l"/>
              </a:tabLst>
            </a:pPr>
            <a:r>
              <a:rPr dirty="0" sz="1150" spc="-80" b="1">
                <a:latin typeface="Arial"/>
                <a:cs typeface="Arial"/>
              </a:rPr>
              <a:t>Payment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30" b="1">
                <a:latin typeface="Arial"/>
                <a:cs typeface="Arial"/>
              </a:rPr>
              <a:t>Loans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6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unable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pay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debts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7"/>
              <a:tabLst>
                <a:tab pos="469265" algn="l"/>
                <a:tab pos="469900" algn="l"/>
              </a:tabLst>
            </a:pPr>
            <a:r>
              <a:rPr dirty="0" sz="1150" spc="-75" b="1">
                <a:latin typeface="Arial"/>
                <a:cs typeface="Arial"/>
              </a:rPr>
              <a:t>Unlisted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company declares </a:t>
            </a:r>
            <a:r>
              <a:rPr dirty="0" sz="1150" spc="-20">
                <a:latin typeface="Arial"/>
                <a:cs typeface="Arial"/>
              </a:rPr>
              <a:t>itself </a:t>
            </a:r>
            <a:r>
              <a:rPr dirty="0" sz="1150" spc="-30">
                <a:latin typeface="Arial"/>
                <a:cs typeface="Arial"/>
              </a:rPr>
              <a:t>unlisted </a:t>
            </a:r>
            <a:r>
              <a:rPr dirty="0" sz="1150" spc="-5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any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reason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35" b="1">
                <a:latin typeface="Arial"/>
                <a:cs typeface="Arial"/>
              </a:rPr>
              <a:t>VOLUNTARY </a:t>
            </a:r>
            <a:r>
              <a:rPr dirty="0" sz="1150" spc="-75" b="1">
                <a:latin typeface="Arial"/>
                <a:cs typeface="Arial"/>
              </a:rPr>
              <a:t>WIDNIGN</a:t>
            </a:r>
            <a:r>
              <a:rPr dirty="0" sz="1150" spc="-165" b="1">
                <a:latin typeface="Arial"/>
                <a:cs typeface="Arial"/>
              </a:rPr>
              <a:t> </a:t>
            </a:r>
            <a:r>
              <a:rPr dirty="0" sz="1150" spc="-125" b="1">
                <a:latin typeface="Arial"/>
                <a:cs typeface="Arial"/>
              </a:rPr>
              <a:t>UP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0">
                <a:latin typeface="Arial"/>
                <a:cs typeface="Arial"/>
              </a:rPr>
              <a:t>wound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25">
                <a:latin typeface="Arial"/>
                <a:cs typeface="Arial"/>
              </a:rPr>
              <a:t>voluntarily </a:t>
            </a:r>
            <a:r>
              <a:rPr dirty="0" sz="1150" spc="-15">
                <a:latin typeface="Arial"/>
                <a:cs typeface="Arial"/>
              </a:rPr>
              <a:t>in </a:t>
            </a:r>
            <a:r>
              <a:rPr dirty="0" sz="1150" spc="-20">
                <a:latin typeface="Arial"/>
                <a:cs typeface="Arial"/>
              </a:rPr>
              <a:t>following </a:t>
            </a:r>
            <a:r>
              <a:rPr dirty="0" sz="1150">
                <a:latin typeface="Arial"/>
                <a:cs typeface="Arial"/>
              </a:rPr>
              <a:t>two</a:t>
            </a:r>
            <a:r>
              <a:rPr dirty="0" sz="1150" spc="-24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ways: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dirty="0" sz="1150" spc="-35" b="1">
                <a:latin typeface="Arial"/>
                <a:cs typeface="Arial"/>
              </a:rPr>
              <a:t>1.</a:t>
            </a:r>
            <a:r>
              <a:rPr dirty="0" sz="1150" spc="-35">
                <a:latin typeface="Times New Roman"/>
                <a:cs typeface="Times New Roman"/>
              </a:rPr>
              <a:t>	</a:t>
            </a:r>
            <a:r>
              <a:rPr dirty="0" sz="1150" spc="-145" b="1">
                <a:latin typeface="Arial"/>
                <a:cs typeface="Arial"/>
              </a:rPr>
              <a:t>By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Members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6985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section </a:t>
            </a:r>
            <a:r>
              <a:rPr dirty="0" sz="1150" spc="-65">
                <a:latin typeface="Arial"/>
                <a:cs typeface="Arial"/>
              </a:rPr>
              <a:t>362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Companies </a:t>
            </a:r>
            <a:r>
              <a:rPr dirty="0" sz="1150" spc="-50">
                <a:latin typeface="Arial"/>
                <a:cs typeface="Arial"/>
              </a:rPr>
              <a:t>Ordinance, </a:t>
            </a:r>
            <a:r>
              <a:rPr dirty="0" sz="1150" spc="-55">
                <a:latin typeface="Arial"/>
                <a:cs typeface="Arial"/>
              </a:rPr>
              <a:t>1984,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members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20">
                <a:latin typeface="Arial"/>
                <a:cs typeface="Arial"/>
              </a:rPr>
              <a:t>wind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25">
                <a:latin typeface="Arial"/>
                <a:cs typeface="Arial"/>
              </a:rPr>
              <a:t>voluntarily </a:t>
            </a:r>
            <a:r>
              <a:rPr dirty="0" sz="1150" spc="-35">
                <a:latin typeface="Arial"/>
                <a:cs typeface="Arial"/>
              </a:rPr>
              <a:t>under </a:t>
            </a:r>
            <a:r>
              <a:rPr dirty="0" sz="1150" spc="-20">
                <a:latin typeface="Arial"/>
                <a:cs typeface="Arial"/>
              </a:rPr>
              <a:t>following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circumstances: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romanLcParenBoth"/>
              <a:tabLst>
                <a:tab pos="469900" algn="l"/>
                <a:tab pos="470534" algn="l"/>
              </a:tabLst>
            </a:pPr>
            <a:r>
              <a:rPr dirty="0" sz="1150" spc="-100" b="1" i="1">
                <a:latin typeface="Arial"/>
                <a:cs typeface="Arial"/>
              </a:rPr>
              <a:t>Expiry </a:t>
            </a:r>
            <a:r>
              <a:rPr dirty="0" sz="1150" spc="-60" b="1" i="1">
                <a:latin typeface="Arial"/>
                <a:cs typeface="Arial"/>
              </a:rPr>
              <a:t>of</a:t>
            </a:r>
            <a:r>
              <a:rPr dirty="0" sz="1150" spc="-40" b="1" i="1">
                <a:latin typeface="Arial"/>
                <a:cs typeface="Arial"/>
              </a:rPr>
              <a:t> </a:t>
            </a:r>
            <a:r>
              <a:rPr dirty="0" sz="1150" spc="-90" b="1" i="1">
                <a:latin typeface="Arial"/>
                <a:cs typeface="Arial"/>
              </a:rPr>
              <a:t>Period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romanLcParenBoth"/>
            </a:pPr>
            <a:endParaRPr sz="1200">
              <a:latin typeface="Arial"/>
              <a:cs typeface="Arial"/>
            </a:endParaRPr>
          </a:p>
          <a:p>
            <a:pPr marL="12700" marR="762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company 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0">
                <a:latin typeface="Arial"/>
                <a:cs typeface="Arial"/>
              </a:rPr>
              <a:t>wound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20">
                <a:latin typeface="Arial"/>
                <a:cs typeface="Arial"/>
              </a:rPr>
              <a:t>voluntarily </a:t>
            </a:r>
            <a:r>
              <a:rPr dirty="0" sz="1150" spc="-45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members, </a:t>
            </a: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expiry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period, </a:t>
            </a:r>
            <a:r>
              <a:rPr dirty="0" sz="1150" spc="-50">
                <a:latin typeface="Arial"/>
                <a:cs typeface="Arial"/>
              </a:rPr>
              <a:t>by  </a:t>
            </a:r>
            <a:r>
              <a:rPr dirty="0" sz="1150" spc="-75">
                <a:latin typeface="Arial"/>
                <a:cs typeface="Arial"/>
              </a:rPr>
              <a:t>passing </a:t>
            </a:r>
            <a:r>
              <a:rPr dirty="0" sz="1150" spc="-30">
                <a:latin typeface="Arial"/>
                <a:cs typeface="Arial"/>
              </a:rPr>
              <a:t>resolution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55">
                <a:latin typeface="Arial"/>
                <a:cs typeface="Arial"/>
              </a:rPr>
              <a:t>general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meeting.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romanLcParenBoth" startAt="2"/>
              <a:tabLst>
                <a:tab pos="469900" algn="l"/>
                <a:tab pos="470534" algn="l"/>
              </a:tabLst>
            </a:pPr>
            <a:r>
              <a:rPr dirty="0" sz="1150" spc="-65" b="1" i="1">
                <a:latin typeface="Arial"/>
                <a:cs typeface="Arial"/>
              </a:rPr>
              <a:t>Statutory</a:t>
            </a:r>
            <a:r>
              <a:rPr dirty="0" sz="1150" spc="-75" b="1" i="1">
                <a:latin typeface="Arial"/>
                <a:cs typeface="Arial"/>
              </a:rPr>
              <a:t> </a:t>
            </a:r>
            <a:r>
              <a:rPr dirty="0" sz="1150" spc="-70" b="1" i="1">
                <a:latin typeface="Arial"/>
                <a:cs typeface="Arial"/>
              </a:rPr>
              <a:t>Declaration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romanLcParenBoth" startAt="2"/>
            </a:pPr>
            <a:endParaRPr sz="1200">
              <a:latin typeface="Arial"/>
              <a:cs typeface="Arial"/>
            </a:endParaRPr>
          </a:p>
          <a:p>
            <a:pPr marL="12700" marR="7620">
              <a:lnSpc>
                <a:spcPct val="101699"/>
              </a:lnSpc>
              <a:spcBef>
                <a:spcPts val="5"/>
              </a:spcBef>
            </a:pP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15">
                <a:latin typeface="Arial"/>
                <a:cs typeface="Arial"/>
              </a:rPr>
              <a:t>majority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directors </a:t>
            </a:r>
            <a:r>
              <a:rPr dirty="0" sz="1150" spc="-80">
                <a:latin typeface="Arial"/>
                <a:cs typeface="Arial"/>
              </a:rPr>
              <a:t>makes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statutory </a:t>
            </a:r>
            <a:r>
              <a:rPr dirty="0" sz="1150" spc="-35">
                <a:latin typeface="Arial"/>
                <a:cs typeface="Arial"/>
              </a:rPr>
              <a:t>declaration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registrar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be  </a:t>
            </a:r>
            <a:r>
              <a:rPr dirty="0" sz="1150" spc="-50">
                <a:latin typeface="Arial"/>
                <a:cs typeface="Arial"/>
              </a:rPr>
              <a:t>able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pay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debts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full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within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one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year.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romanLcParenBoth" startAt="3"/>
              <a:tabLst>
                <a:tab pos="469900" algn="l"/>
                <a:tab pos="470534" algn="l"/>
              </a:tabLst>
            </a:pPr>
            <a:r>
              <a:rPr dirty="0" sz="1150" spc="-100" b="1" i="1">
                <a:latin typeface="Arial"/>
                <a:cs typeface="Arial"/>
              </a:rPr>
              <a:t>Special </a:t>
            </a:r>
            <a:r>
              <a:rPr dirty="0" sz="1150" spc="-75" b="1" i="1">
                <a:latin typeface="Arial"/>
                <a:cs typeface="Arial"/>
              </a:rPr>
              <a:t>or Ordinary</a:t>
            </a:r>
            <a:r>
              <a:rPr dirty="0" sz="1150" spc="-10" b="1" i="1">
                <a:latin typeface="Arial"/>
                <a:cs typeface="Arial"/>
              </a:rPr>
              <a:t> </a:t>
            </a:r>
            <a:r>
              <a:rPr dirty="0" sz="1150" spc="-95" b="1" i="1">
                <a:latin typeface="Arial"/>
                <a:cs typeface="Arial"/>
              </a:rPr>
              <a:t>Resolution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romanLcParenBoth" startAt="3"/>
            </a:pPr>
            <a:endParaRPr sz="12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</a:pP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25">
                <a:latin typeface="Arial"/>
                <a:cs typeface="Arial"/>
              </a:rPr>
              <a:t>submitting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statutory </a:t>
            </a:r>
            <a:r>
              <a:rPr dirty="0" sz="1150" spc="-35">
                <a:latin typeface="Arial"/>
                <a:cs typeface="Arial"/>
              </a:rPr>
              <a:t>declaration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registrar,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company,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general </a:t>
            </a:r>
            <a:r>
              <a:rPr dirty="0" sz="1150" spc="-35">
                <a:latin typeface="Arial"/>
                <a:cs typeface="Arial"/>
              </a:rPr>
              <a:t>meeting  </a:t>
            </a:r>
            <a:r>
              <a:rPr dirty="0" sz="1150" spc="-100">
                <a:latin typeface="Arial"/>
                <a:cs typeface="Arial"/>
              </a:rPr>
              <a:t>passes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30">
                <a:latin typeface="Arial"/>
                <a:cs typeface="Arial"/>
              </a:rPr>
              <a:t>ordinary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0">
                <a:latin typeface="Arial"/>
                <a:cs typeface="Arial"/>
              </a:rPr>
              <a:t>special </a:t>
            </a:r>
            <a:r>
              <a:rPr dirty="0" sz="1150" spc="-30">
                <a:latin typeface="Arial"/>
                <a:cs typeface="Arial"/>
              </a:rPr>
              <a:t>resolution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wind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company.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40690" indent="-428625">
              <a:lnSpc>
                <a:spcPct val="100000"/>
              </a:lnSpc>
              <a:buAutoNum type="romanLcParenBoth" startAt="4"/>
              <a:tabLst>
                <a:tab pos="440690" algn="l"/>
                <a:tab pos="441325" algn="l"/>
              </a:tabLst>
            </a:pPr>
            <a:r>
              <a:rPr dirty="0" sz="1150" spc="-75" b="1" i="1">
                <a:latin typeface="Arial"/>
                <a:cs typeface="Arial"/>
              </a:rPr>
              <a:t>Appointment </a:t>
            </a:r>
            <a:r>
              <a:rPr dirty="0" sz="1150" spc="-60" b="1" i="1">
                <a:latin typeface="Arial"/>
                <a:cs typeface="Arial"/>
              </a:rPr>
              <a:t>of </a:t>
            </a:r>
            <a:r>
              <a:rPr dirty="0" sz="1150" spc="-90" b="1" i="1">
                <a:latin typeface="Arial"/>
                <a:cs typeface="Arial"/>
              </a:rPr>
              <a:t>Liquidators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825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general </a:t>
            </a:r>
            <a:r>
              <a:rPr dirty="0" sz="1150" spc="-40">
                <a:latin typeface="Arial"/>
                <a:cs typeface="Arial"/>
              </a:rPr>
              <a:t>meeting,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40">
                <a:latin typeface="Arial"/>
                <a:cs typeface="Arial"/>
              </a:rPr>
              <a:t>appoints </a:t>
            </a:r>
            <a:r>
              <a:rPr dirty="0" sz="1150" spc="-25">
                <a:latin typeface="Arial"/>
                <a:cs typeface="Arial"/>
              </a:rPr>
              <a:t>liquidators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wind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company’s </a:t>
            </a:r>
            <a:r>
              <a:rPr dirty="0" sz="1150" spc="-35">
                <a:latin typeface="Arial"/>
                <a:cs typeface="Arial"/>
              </a:rPr>
              <a:t>affairs.  </a:t>
            </a:r>
            <a:r>
              <a:rPr dirty="0" sz="1150" spc="-15">
                <a:latin typeface="Arial"/>
                <a:cs typeface="Arial"/>
              </a:rPr>
              <a:t>Within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ten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days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after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appointment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must</a:t>
            </a:r>
            <a:r>
              <a:rPr dirty="0" sz="1150" spc="-55">
                <a:latin typeface="Arial"/>
                <a:cs typeface="Arial"/>
              </a:rPr>
              <a:t> be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sent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registrar.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67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82238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AutoNum type="romanLcParenBoth" startAt="5"/>
              <a:tabLst>
                <a:tab pos="469900" algn="l"/>
                <a:tab pos="470534" algn="l"/>
              </a:tabLst>
            </a:pPr>
            <a:r>
              <a:rPr dirty="0" sz="1150" spc="-80" b="1" i="1">
                <a:latin typeface="Arial"/>
                <a:cs typeface="Arial"/>
              </a:rPr>
              <a:t>Final</a:t>
            </a:r>
            <a:r>
              <a:rPr dirty="0" sz="1150" spc="-55" b="1" i="1">
                <a:latin typeface="Arial"/>
                <a:cs typeface="Arial"/>
              </a:rPr>
              <a:t> </a:t>
            </a:r>
            <a:r>
              <a:rPr dirty="0" sz="1150" spc="-50" b="1" i="1">
                <a:latin typeface="Arial"/>
                <a:cs typeface="Arial"/>
              </a:rPr>
              <a:t>Meeting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romanLcParenBoth" startAt="5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35">
                <a:latin typeface="Arial"/>
                <a:cs typeface="Arial"/>
              </a:rPr>
              <a:t>winding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affairs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company,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liquidators </a:t>
            </a:r>
            <a:r>
              <a:rPr dirty="0" sz="1150" spc="-45">
                <a:latin typeface="Arial"/>
                <a:cs typeface="Arial"/>
              </a:rPr>
              <a:t>call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general </a:t>
            </a:r>
            <a:r>
              <a:rPr dirty="0" sz="1150" spc="-35">
                <a:latin typeface="Arial"/>
                <a:cs typeface="Arial"/>
              </a:rPr>
              <a:t>meeting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shareholders.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40">
                <a:latin typeface="Arial"/>
                <a:cs typeface="Arial"/>
              </a:rPr>
              <a:t>meeting,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liquidators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30">
                <a:latin typeface="Arial"/>
                <a:cs typeface="Arial"/>
              </a:rPr>
              <a:t>submit </a:t>
            </a:r>
            <a:r>
              <a:rPr dirty="0" sz="1150" spc="-20">
                <a:latin typeface="Arial"/>
                <a:cs typeface="Arial"/>
              </a:rPr>
              <a:t>the final </a:t>
            </a:r>
            <a:r>
              <a:rPr dirty="0" sz="1150" spc="-55">
                <a:latin typeface="Arial"/>
                <a:cs typeface="Arial"/>
              </a:rPr>
              <a:t>accounts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company’s  </a:t>
            </a:r>
            <a:r>
              <a:rPr dirty="0" sz="1150" spc="-35">
                <a:latin typeface="Arial"/>
                <a:cs typeface="Arial"/>
              </a:rPr>
              <a:t>affairs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members.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romanLcParenBoth" startAt="6"/>
              <a:tabLst>
                <a:tab pos="469900" algn="l"/>
                <a:tab pos="470534" algn="l"/>
              </a:tabLst>
            </a:pPr>
            <a:r>
              <a:rPr dirty="0" sz="1150" spc="-90" b="1" i="1">
                <a:latin typeface="Arial"/>
                <a:cs typeface="Arial"/>
              </a:rPr>
              <a:t>Dissolution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15">
                <a:latin typeface="Arial"/>
                <a:cs typeface="Arial"/>
              </a:rPr>
              <a:t>Within </a:t>
            </a:r>
            <a:r>
              <a:rPr dirty="0" sz="1150" spc="-50">
                <a:latin typeface="Arial"/>
                <a:cs typeface="Arial"/>
              </a:rPr>
              <a:t>one week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general </a:t>
            </a:r>
            <a:r>
              <a:rPr dirty="0" sz="1150" spc="-40">
                <a:latin typeface="Arial"/>
                <a:cs typeface="Arial"/>
              </a:rPr>
              <a:t>meeting, </a:t>
            </a:r>
            <a:r>
              <a:rPr dirty="0" sz="1150" spc="-30">
                <a:latin typeface="Arial"/>
                <a:cs typeface="Arial"/>
              </a:rPr>
              <a:t>liquidators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10">
                <a:latin typeface="Arial"/>
                <a:cs typeface="Arial"/>
              </a:rPr>
              <a:t>file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copy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">
                <a:latin typeface="Arial"/>
                <a:cs typeface="Arial"/>
              </a:rPr>
              <a:t>full </a:t>
            </a:r>
            <a:r>
              <a:rPr dirty="0" sz="1150" spc="-60">
                <a:latin typeface="Arial"/>
                <a:cs typeface="Arial"/>
              </a:rPr>
              <a:t>accounts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35">
                <a:latin typeface="Arial"/>
                <a:cs typeface="Arial"/>
              </a:rPr>
              <a:t>registrar. </a:t>
            </a:r>
            <a:r>
              <a:rPr dirty="0" sz="1150" spc="-20">
                <a:latin typeface="Arial"/>
                <a:cs typeface="Arial"/>
              </a:rPr>
              <a:t>At the </a:t>
            </a:r>
            <a:r>
              <a:rPr dirty="0" sz="1150" spc="-50">
                <a:latin typeface="Arial"/>
                <a:cs typeface="Arial"/>
              </a:rPr>
              <a:t>end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3 </a:t>
            </a:r>
            <a:r>
              <a:rPr dirty="0" sz="1150" spc="-35">
                <a:latin typeface="Arial"/>
                <a:cs typeface="Arial"/>
              </a:rPr>
              <a:t>months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date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registration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return, the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50">
                <a:latin typeface="Arial"/>
                <a:cs typeface="Arial"/>
              </a:rPr>
              <a:t>shall 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dissolved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name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will</a:t>
            </a:r>
            <a:r>
              <a:rPr dirty="0" sz="1150" spc="-55">
                <a:latin typeface="Arial"/>
                <a:cs typeface="Arial"/>
              </a:rPr>
              <a:t> be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struck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off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by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Registrar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Joint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Stock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Company.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dirty="0" sz="1150" spc="-35" b="1">
                <a:latin typeface="Arial"/>
                <a:cs typeface="Arial"/>
              </a:rPr>
              <a:t>2.</a:t>
            </a:r>
            <a:r>
              <a:rPr dirty="0" sz="1150" spc="-35">
                <a:latin typeface="Times New Roman"/>
                <a:cs typeface="Times New Roman"/>
              </a:rPr>
              <a:t>	</a:t>
            </a:r>
            <a:r>
              <a:rPr dirty="0" sz="1150" spc="-145" b="1">
                <a:latin typeface="Arial"/>
                <a:cs typeface="Arial"/>
              </a:rPr>
              <a:t>By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Creditors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Members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20">
                <a:latin typeface="Arial"/>
                <a:cs typeface="Arial"/>
              </a:rPr>
              <a:t>wind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25">
                <a:latin typeface="Arial"/>
                <a:cs typeface="Arial"/>
              </a:rPr>
              <a:t>voluntarily </a:t>
            </a:r>
            <a:r>
              <a:rPr dirty="0" sz="1150" spc="-35">
                <a:latin typeface="Arial"/>
                <a:cs typeface="Arial"/>
              </a:rPr>
              <a:t>under </a:t>
            </a:r>
            <a:r>
              <a:rPr dirty="0" sz="1150" spc="-20">
                <a:latin typeface="Arial"/>
                <a:cs typeface="Arial"/>
              </a:rPr>
              <a:t>following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circumstances: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romanLcParenBoth"/>
              <a:tabLst>
                <a:tab pos="469900" algn="l"/>
                <a:tab pos="470534" algn="l"/>
              </a:tabLst>
            </a:pPr>
            <a:r>
              <a:rPr dirty="0" sz="1150" spc="-65" b="1" i="1">
                <a:latin typeface="Arial"/>
                <a:cs typeface="Arial"/>
              </a:rPr>
              <a:t>Statutory</a:t>
            </a:r>
            <a:r>
              <a:rPr dirty="0" sz="1150" spc="-75" b="1" i="1">
                <a:latin typeface="Arial"/>
                <a:cs typeface="Arial"/>
              </a:rPr>
              <a:t> </a:t>
            </a:r>
            <a:r>
              <a:rPr dirty="0" sz="1150" spc="-70" b="1" i="1">
                <a:latin typeface="Arial"/>
                <a:cs typeface="Arial"/>
              </a:rPr>
              <a:t>Declaration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romanLcParenBoth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creditors voluntary winding </a:t>
            </a:r>
            <a:r>
              <a:rPr dirty="0" sz="1150" spc="-40">
                <a:latin typeface="Arial"/>
                <a:cs typeface="Arial"/>
              </a:rPr>
              <a:t>up,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>
                <a:latin typeface="Arial"/>
                <a:cs typeface="Arial"/>
              </a:rPr>
              <a:t>not </a:t>
            </a:r>
            <a:r>
              <a:rPr dirty="0" sz="1150" spc="-75">
                <a:latin typeface="Arial"/>
                <a:cs typeface="Arial"/>
              </a:rPr>
              <a:t>necessary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make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20">
                <a:latin typeface="Arial"/>
                <a:cs typeface="Arial"/>
              </a:rPr>
              <a:t>statutory </a:t>
            </a:r>
            <a:r>
              <a:rPr dirty="0" sz="1150" spc="-35">
                <a:latin typeface="Arial"/>
                <a:cs typeface="Arial"/>
              </a:rPr>
              <a:t>declaration </a:t>
            </a:r>
            <a:r>
              <a:rPr dirty="0" sz="1150" spc="-50">
                <a:latin typeface="Arial"/>
                <a:cs typeface="Arial"/>
              </a:rPr>
              <a:t>regarding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solvency.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romanLcParenBoth" startAt="2"/>
              <a:tabLst>
                <a:tab pos="469900" algn="l"/>
                <a:tab pos="470534" algn="l"/>
              </a:tabLst>
            </a:pPr>
            <a:r>
              <a:rPr dirty="0" sz="1150" spc="-100" b="1" i="1">
                <a:latin typeface="Arial"/>
                <a:cs typeface="Arial"/>
              </a:rPr>
              <a:t>Special</a:t>
            </a:r>
            <a:r>
              <a:rPr dirty="0" sz="1150" spc="-55" b="1" i="1">
                <a:latin typeface="Arial"/>
                <a:cs typeface="Arial"/>
              </a:rPr>
              <a:t> </a:t>
            </a:r>
            <a:r>
              <a:rPr dirty="0" sz="1150" spc="-95" b="1" i="1">
                <a:latin typeface="Arial"/>
                <a:cs typeface="Arial"/>
              </a:rPr>
              <a:t>Resolution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general </a:t>
            </a:r>
            <a:r>
              <a:rPr dirty="0" sz="1150" spc="-35">
                <a:latin typeface="Arial"/>
                <a:cs typeface="Arial"/>
              </a:rPr>
              <a:t>meeting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company’s </a:t>
            </a:r>
            <a:r>
              <a:rPr dirty="0" sz="1150" spc="-50">
                <a:latin typeface="Arial"/>
                <a:cs typeface="Arial"/>
              </a:rPr>
              <a:t>shareholders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0">
                <a:latin typeface="Arial"/>
                <a:cs typeface="Arial"/>
              </a:rPr>
              <a:t>pass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35">
                <a:latin typeface="Arial"/>
                <a:cs typeface="Arial"/>
              </a:rPr>
              <a:t>extra </a:t>
            </a:r>
            <a:r>
              <a:rPr dirty="0" sz="1150" spc="-30">
                <a:latin typeface="Arial"/>
                <a:cs typeface="Arial"/>
              </a:rPr>
              <a:t>ordinary  </a:t>
            </a:r>
            <a:r>
              <a:rPr dirty="0" sz="1150" spc="-25">
                <a:latin typeface="Arial"/>
                <a:cs typeface="Arial"/>
              </a:rPr>
              <a:t>resolution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dissolution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40">
                <a:latin typeface="Arial"/>
                <a:cs typeface="Arial"/>
              </a:rPr>
              <a:t>cannot </a:t>
            </a:r>
            <a:r>
              <a:rPr dirty="0" sz="1150" spc="-30">
                <a:latin typeface="Arial"/>
                <a:cs typeface="Arial"/>
              </a:rPr>
              <a:t>continue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50">
                <a:latin typeface="Arial"/>
                <a:cs typeface="Arial"/>
              </a:rPr>
              <a:t>due </a:t>
            </a:r>
            <a:r>
              <a:rPr dirty="0" sz="1150" spc="5">
                <a:latin typeface="Arial"/>
                <a:cs typeface="Arial"/>
              </a:rPr>
              <a:t>to  </a:t>
            </a:r>
            <a:r>
              <a:rPr dirty="0" sz="1150" spc="-65">
                <a:latin typeface="Arial"/>
                <a:cs typeface="Arial"/>
              </a:rPr>
              <a:t>heavy </a:t>
            </a:r>
            <a:r>
              <a:rPr dirty="0" sz="1150" spc="-25">
                <a:latin typeface="Arial"/>
                <a:cs typeface="Arial"/>
              </a:rPr>
              <a:t>liabilities.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romanLcParenBoth" startAt="3"/>
              <a:tabLst>
                <a:tab pos="469900" algn="l"/>
                <a:tab pos="470534" algn="l"/>
              </a:tabLst>
            </a:pPr>
            <a:r>
              <a:rPr dirty="0" sz="1150" spc="-85" b="1" i="1">
                <a:latin typeface="Arial"/>
                <a:cs typeface="Arial"/>
              </a:rPr>
              <a:t>Creditors’</a:t>
            </a:r>
            <a:r>
              <a:rPr dirty="0" sz="1150" spc="-70" b="1" i="1">
                <a:latin typeface="Arial"/>
                <a:cs typeface="Arial"/>
              </a:rPr>
              <a:t> </a:t>
            </a:r>
            <a:r>
              <a:rPr dirty="0" sz="1150" spc="-50" b="1" i="1">
                <a:latin typeface="Arial"/>
                <a:cs typeface="Arial"/>
              </a:rPr>
              <a:t>Meeting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romanLcParenBoth" startAt="3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0">
                <a:latin typeface="Arial"/>
                <a:cs typeface="Arial"/>
              </a:rPr>
              <a:t>same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next </a:t>
            </a:r>
            <a:r>
              <a:rPr dirty="0" sz="1150" spc="-60">
                <a:latin typeface="Arial"/>
                <a:cs typeface="Arial"/>
              </a:rPr>
              <a:t>day,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meeting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creditors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company.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notice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35">
                <a:latin typeface="Arial"/>
                <a:cs typeface="Arial"/>
              </a:rPr>
              <a:t>meeting must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5">
                <a:latin typeface="Arial"/>
                <a:cs typeface="Arial"/>
              </a:rPr>
              <a:t>sent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5">
                <a:latin typeface="Arial"/>
                <a:cs typeface="Arial"/>
              </a:rPr>
              <a:t>each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creditor.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472440" indent="-460375">
              <a:lnSpc>
                <a:spcPct val="100000"/>
              </a:lnSpc>
              <a:buAutoNum type="romanLcParenBoth" startAt="4"/>
              <a:tabLst>
                <a:tab pos="472440" algn="l"/>
                <a:tab pos="473075" algn="l"/>
              </a:tabLst>
            </a:pPr>
            <a:r>
              <a:rPr dirty="0" sz="1150" spc="-65" b="1" i="1">
                <a:latin typeface="Arial"/>
                <a:cs typeface="Arial"/>
              </a:rPr>
              <a:t>Statement </a:t>
            </a:r>
            <a:r>
              <a:rPr dirty="0" sz="1150" spc="-60" b="1" i="1">
                <a:latin typeface="Arial"/>
                <a:cs typeface="Arial"/>
              </a:rPr>
              <a:t>of</a:t>
            </a:r>
            <a:r>
              <a:rPr dirty="0" sz="1150" spc="-75" b="1" i="1">
                <a:latin typeface="Arial"/>
                <a:cs typeface="Arial"/>
              </a:rPr>
              <a:t> </a:t>
            </a:r>
            <a:r>
              <a:rPr dirty="0" sz="1150" spc="-70" b="1" i="1">
                <a:latin typeface="Arial"/>
                <a:cs typeface="Arial"/>
              </a:rPr>
              <a:t>Affairs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romanLcParenBoth" startAt="4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creditors’ </a:t>
            </a:r>
            <a:r>
              <a:rPr dirty="0" sz="1150" spc="-40">
                <a:latin typeface="Arial"/>
                <a:cs typeface="Arial"/>
              </a:rPr>
              <a:t>meeting,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directors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30">
                <a:latin typeface="Arial"/>
                <a:cs typeface="Arial"/>
              </a:rPr>
              <a:t>submit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statement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affairs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company,  </a:t>
            </a:r>
            <a:r>
              <a:rPr dirty="0" sz="1150" spc="-25">
                <a:latin typeface="Arial"/>
                <a:cs typeface="Arial"/>
              </a:rPr>
              <a:t>together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with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list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creditors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company</a:t>
            </a:r>
            <a:r>
              <a:rPr dirty="0" sz="1150" spc="-55">
                <a:latin typeface="Arial"/>
                <a:cs typeface="Arial"/>
              </a:rPr>
              <a:t> and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estimated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amount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claims.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romanLcParenBoth" startAt="5"/>
              <a:tabLst>
                <a:tab pos="469900" algn="l"/>
                <a:tab pos="470534" algn="l"/>
              </a:tabLst>
            </a:pPr>
            <a:r>
              <a:rPr dirty="0" sz="1150" spc="-50" b="1" i="1">
                <a:latin typeface="Arial"/>
                <a:cs typeface="Arial"/>
              </a:rPr>
              <a:t>Intimation </a:t>
            </a:r>
            <a:r>
              <a:rPr dirty="0" sz="1150" spc="-45" b="1" i="1">
                <a:latin typeface="Arial"/>
                <a:cs typeface="Arial"/>
              </a:rPr>
              <a:t>to</a:t>
            </a:r>
            <a:r>
              <a:rPr dirty="0" sz="1150" spc="-70" b="1" i="1">
                <a:latin typeface="Arial"/>
                <a:cs typeface="Arial"/>
              </a:rPr>
              <a:t> </a:t>
            </a:r>
            <a:r>
              <a:rPr dirty="0" sz="1150" spc="-80" b="1" i="1">
                <a:latin typeface="Arial"/>
                <a:cs typeface="Arial"/>
              </a:rPr>
              <a:t>Registrar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romanLcParenBoth" startAt="5"/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45">
                <a:latin typeface="Arial"/>
                <a:cs typeface="Arial"/>
              </a:rPr>
              <a:t>regarding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notice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85">
                <a:latin typeface="Arial"/>
                <a:cs typeface="Arial"/>
              </a:rPr>
              <a:t>passed </a:t>
            </a:r>
            <a:r>
              <a:rPr dirty="0" sz="1150" spc="-25">
                <a:latin typeface="Arial"/>
                <a:cs typeface="Arial"/>
              </a:rPr>
              <a:t>resolution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5">
                <a:latin typeface="Arial"/>
                <a:cs typeface="Arial"/>
              </a:rPr>
              <a:t>sent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registrar  </a:t>
            </a:r>
            <a:r>
              <a:rPr dirty="0" sz="1150" spc="-5">
                <a:latin typeface="Arial"/>
                <a:cs typeface="Arial"/>
              </a:rPr>
              <a:t>within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ten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days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after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date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creditors’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meeting.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romanLcParenBoth" startAt="6"/>
              <a:tabLst>
                <a:tab pos="469900" algn="l"/>
                <a:tab pos="470534" algn="l"/>
              </a:tabLst>
            </a:pPr>
            <a:r>
              <a:rPr dirty="0" sz="1150" spc="-75" b="1" i="1">
                <a:latin typeface="Arial"/>
                <a:cs typeface="Arial"/>
              </a:rPr>
              <a:t>Appointment </a:t>
            </a:r>
            <a:r>
              <a:rPr dirty="0" sz="1150" spc="-60" b="1" i="1">
                <a:latin typeface="Arial"/>
                <a:cs typeface="Arial"/>
              </a:rPr>
              <a:t>of </a:t>
            </a:r>
            <a:r>
              <a:rPr dirty="0" sz="1150" spc="-80" b="1" i="1">
                <a:latin typeface="Arial"/>
                <a:cs typeface="Arial"/>
              </a:rPr>
              <a:t>Liquidator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creditors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shareholders </a:t>
            </a:r>
            <a:r>
              <a:rPr dirty="0" sz="1150" spc="-30">
                <a:latin typeface="Arial"/>
                <a:cs typeface="Arial"/>
              </a:rPr>
              <a:t>nominate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act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30">
                <a:latin typeface="Arial"/>
                <a:cs typeface="Arial"/>
              </a:rPr>
              <a:t>liquidators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0">
                <a:latin typeface="Arial"/>
                <a:cs typeface="Arial"/>
              </a:rPr>
              <a:t>their  </a:t>
            </a:r>
            <a:r>
              <a:rPr dirty="0" sz="1150" spc="-45">
                <a:latin typeface="Arial"/>
                <a:cs typeface="Arial"/>
              </a:rPr>
              <a:t>respective </a:t>
            </a:r>
            <a:r>
              <a:rPr dirty="0" sz="1150" spc="-50">
                <a:latin typeface="Arial"/>
                <a:cs typeface="Arial"/>
              </a:rPr>
              <a:t>meetings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opinion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creditors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5">
                <a:latin typeface="Arial"/>
                <a:cs typeface="Arial"/>
              </a:rPr>
              <a:t>preferred.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68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4" y="892559"/>
            <a:ext cx="5513705" cy="7332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AutoNum type="romanLcParenBoth" startAt="7"/>
              <a:tabLst>
                <a:tab pos="469900" algn="l"/>
                <a:tab pos="470534" algn="l"/>
              </a:tabLst>
            </a:pPr>
            <a:r>
              <a:rPr dirty="0" sz="1150" spc="-90" b="1" i="1">
                <a:latin typeface="Arial"/>
                <a:cs typeface="Arial"/>
              </a:rPr>
              <a:t>Inspection</a:t>
            </a:r>
            <a:r>
              <a:rPr dirty="0" sz="1150" spc="-70" b="1" i="1">
                <a:latin typeface="Arial"/>
                <a:cs typeface="Arial"/>
              </a:rPr>
              <a:t> </a:t>
            </a:r>
            <a:r>
              <a:rPr dirty="0" sz="1150" spc="-80" b="1" i="1">
                <a:latin typeface="Arial"/>
                <a:cs typeface="Arial"/>
              </a:rPr>
              <a:t>Committee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romanLcParenBoth" startAt="7"/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creditors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shareholders,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45">
                <a:latin typeface="Arial"/>
                <a:cs typeface="Arial"/>
              </a:rPr>
              <a:t>respective </a:t>
            </a:r>
            <a:r>
              <a:rPr dirty="0" sz="1150" spc="-50">
                <a:latin typeface="Arial"/>
                <a:cs typeface="Arial"/>
              </a:rPr>
              <a:t>meetings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25">
                <a:latin typeface="Arial"/>
                <a:cs typeface="Arial"/>
              </a:rPr>
              <a:t>appoint </a:t>
            </a:r>
            <a:r>
              <a:rPr dirty="0" sz="1150" spc="-55">
                <a:latin typeface="Arial"/>
                <a:cs typeface="Arial"/>
              </a:rPr>
              <a:t>eh </a:t>
            </a:r>
            <a:r>
              <a:rPr dirty="0" sz="1150" spc="-35">
                <a:latin typeface="Arial"/>
                <a:cs typeface="Arial"/>
              </a:rPr>
              <a:t>inspection  </a:t>
            </a:r>
            <a:r>
              <a:rPr dirty="0" sz="1150" spc="-25">
                <a:latin typeface="Arial"/>
                <a:cs typeface="Arial"/>
              </a:rPr>
              <a:t>committee </a:t>
            </a:r>
            <a:r>
              <a:rPr dirty="0" sz="1150" spc="-50">
                <a:latin typeface="Arial"/>
                <a:cs typeface="Arial"/>
              </a:rPr>
              <a:t>consisting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five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each </a:t>
            </a:r>
            <a:r>
              <a:rPr dirty="0" sz="1150" spc="-85">
                <a:latin typeface="Arial"/>
                <a:cs typeface="Arial"/>
              </a:rPr>
              <a:t>case.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romanLcParenBoth" startAt="8"/>
              <a:tabLst>
                <a:tab pos="469900" algn="l"/>
                <a:tab pos="470534" algn="l"/>
              </a:tabLst>
            </a:pPr>
            <a:r>
              <a:rPr dirty="0" sz="1150" spc="-80" b="1" i="1">
                <a:latin typeface="Arial"/>
                <a:cs typeface="Arial"/>
              </a:rPr>
              <a:t>Liquidators’ Remuneration, </a:t>
            </a:r>
            <a:r>
              <a:rPr dirty="0" sz="1150" spc="-100" b="1" i="1">
                <a:latin typeface="Arial"/>
                <a:cs typeface="Arial"/>
              </a:rPr>
              <a:t>Rights </a:t>
            </a:r>
            <a:r>
              <a:rPr dirty="0" sz="1150" spc="-80" b="1" i="1">
                <a:latin typeface="Arial"/>
                <a:cs typeface="Arial"/>
              </a:rPr>
              <a:t>and</a:t>
            </a:r>
            <a:r>
              <a:rPr dirty="0" sz="1150" spc="20" b="1" i="1">
                <a:latin typeface="Arial"/>
                <a:cs typeface="Arial"/>
              </a:rPr>
              <a:t> </a:t>
            </a:r>
            <a:r>
              <a:rPr dirty="0" sz="1150" spc="-85" b="1" i="1">
                <a:latin typeface="Arial"/>
                <a:cs typeface="Arial"/>
              </a:rPr>
              <a:t>Duties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AutoNum type="romanLcParenBoth" startAt="8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inspection </a:t>
            </a:r>
            <a:r>
              <a:rPr dirty="0" sz="1150" spc="-25">
                <a:latin typeface="Arial"/>
                <a:cs typeface="Arial"/>
              </a:rPr>
              <a:t>committee </a:t>
            </a:r>
            <a:r>
              <a:rPr dirty="0" sz="1150" spc="-50">
                <a:latin typeface="Arial"/>
                <a:cs typeface="Arial"/>
              </a:rPr>
              <a:t>fixes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remuneration, </a:t>
            </a:r>
            <a:r>
              <a:rPr dirty="0" sz="1150" spc="-35">
                <a:latin typeface="Arial"/>
                <a:cs typeface="Arial"/>
              </a:rPr>
              <a:t>rights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duties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liquidators.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romanLcParenBoth" startAt="9"/>
              <a:tabLst>
                <a:tab pos="469900" algn="l"/>
                <a:tab pos="470534" algn="l"/>
              </a:tabLst>
            </a:pPr>
            <a:r>
              <a:rPr dirty="0" sz="1150" spc="-80" b="1" i="1">
                <a:latin typeface="Arial"/>
                <a:cs typeface="Arial"/>
              </a:rPr>
              <a:t>Final</a:t>
            </a:r>
            <a:r>
              <a:rPr dirty="0" sz="1150" spc="-55" b="1" i="1">
                <a:latin typeface="Arial"/>
                <a:cs typeface="Arial"/>
              </a:rPr>
              <a:t> </a:t>
            </a:r>
            <a:r>
              <a:rPr dirty="0" sz="1150" spc="-50" b="1" i="1">
                <a:latin typeface="Arial"/>
                <a:cs typeface="Arial"/>
              </a:rPr>
              <a:t>Meeting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romanLcParenBoth" startAt="9"/>
            </a:pPr>
            <a:endParaRPr sz="1200">
              <a:latin typeface="Arial"/>
              <a:cs typeface="Arial"/>
            </a:endParaRPr>
          </a:p>
          <a:p>
            <a:pPr marL="12700" marR="571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20">
                <a:latin typeface="Arial"/>
                <a:cs typeface="Arial"/>
              </a:rPr>
              <a:t>the final </a:t>
            </a:r>
            <a:r>
              <a:rPr dirty="0" sz="1150" spc="-40">
                <a:latin typeface="Arial"/>
                <a:cs typeface="Arial"/>
              </a:rPr>
              <a:t>meeting,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liquidators </a:t>
            </a:r>
            <a:r>
              <a:rPr dirty="0" sz="1150" spc="-60">
                <a:latin typeface="Arial"/>
                <a:cs typeface="Arial"/>
              </a:rPr>
              <a:t>place </a:t>
            </a:r>
            <a:r>
              <a:rPr dirty="0" sz="1150" spc="-30">
                <a:latin typeface="Arial"/>
                <a:cs typeface="Arial"/>
              </a:rPr>
              <a:t>before </a:t>
            </a:r>
            <a:r>
              <a:rPr dirty="0" sz="1150" spc="-25">
                <a:latin typeface="Arial"/>
                <a:cs typeface="Arial"/>
              </a:rPr>
              <a:t>them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">
                <a:latin typeface="Arial"/>
                <a:cs typeface="Arial"/>
              </a:rPr>
              <a:t>full </a:t>
            </a:r>
            <a:r>
              <a:rPr dirty="0" sz="1150" spc="-60">
                <a:latin typeface="Arial"/>
                <a:cs typeface="Arial"/>
              </a:rPr>
              <a:t>accounts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company’s  </a:t>
            </a:r>
            <a:r>
              <a:rPr dirty="0" sz="1150" spc="-35">
                <a:latin typeface="Arial"/>
                <a:cs typeface="Arial"/>
              </a:rPr>
              <a:t>affairs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copy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these </a:t>
            </a:r>
            <a:r>
              <a:rPr dirty="0" sz="1150" spc="-60">
                <a:latin typeface="Arial"/>
                <a:cs typeface="Arial"/>
              </a:rPr>
              <a:t>accounts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45">
                <a:latin typeface="Arial"/>
                <a:cs typeface="Arial"/>
              </a:rPr>
              <a:t>sent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registrar </a:t>
            </a:r>
            <a:r>
              <a:rPr dirty="0" sz="1150" spc="-5">
                <a:latin typeface="Arial"/>
                <a:cs typeface="Arial"/>
              </a:rPr>
              <a:t>within </a:t>
            </a:r>
            <a:r>
              <a:rPr dirty="0" sz="1150" spc="-60">
                <a:latin typeface="Arial"/>
                <a:cs typeface="Arial"/>
              </a:rPr>
              <a:t>7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days.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romanLcParenBoth" startAt="10"/>
              <a:tabLst>
                <a:tab pos="469900" algn="l"/>
                <a:tab pos="470534" algn="l"/>
              </a:tabLst>
            </a:pPr>
            <a:r>
              <a:rPr dirty="0" sz="1150" spc="-90" b="1" i="1">
                <a:latin typeface="Arial"/>
                <a:cs typeface="Arial"/>
              </a:rPr>
              <a:t>Dissolution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698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registrar </a:t>
            </a:r>
            <a:r>
              <a:rPr dirty="0" sz="1150" spc="-45">
                <a:latin typeface="Arial"/>
                <a:cs typeface="Arial"/>
              </a:rPr>
              <a:t>registers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documents, sent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company, </a:t>
            </a: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60">
                <a:latin typeface="Arial"/>
                <a:cs typeface="Arial"/>
              </a:rPr>
              <a:t>3 </a:t>
            </a:r>
            <a:r>
              <a:rPr dirty="0" sz="1150" spc="-35">
                <a:latin typeface="Arial"/>
                <a:cs typeface="Arial"/>
              </a:rPr>
              <a:t>months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date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registration,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>
                <a:latin typeface="Arial"/>
                <a:cs typeface="Arial"/>
              </a:rPr>
              <a:t>will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 dissolved.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Arial"/>
              <a:cs typeface="Arial"/>
            </a:endParaRPr>
          </a:p>
          <a:p>
            <a:pPr marL="12700" marR="3436620">
              <a:lnSpc>
                <a:spcPct val="101699"/>
              </a:lnSpc>
            </a:pPr>
            <a:r>
              <a:rPr dirty="0" sz="1150" spc="-135" b="1">
                <a:latin typeface="Arial"/>
                <a:cs typeface="Arial"/>
              </a:rPr>
              <a:t>VOLUNTARY </a:t>
            </a:r>
            <a:r>
              <a:rPr dirty="0" sz="1150" spc="-75" b="1">
                <a:latin typeface="Arial"/>
                <a:cs typeface="Arial"/>
              </a:rPr>
              <a:t>WINDING </a:t>
            </a:r>
            <a:r>
              <a:rPr dirty="0" sz="1150" spc="-125" b="1">
                <a:latin typeface="Arial"/>
                <a:cs typeface="Arial"/>
              </a:rPr>
              <a:t>UP </a:t>
            </a:r>
            <a:r>
              <a:rPr dirty="0" sz="1150" spc="-135" b="1">
                <a:latin typeface="Arial"/>
                <a:cs typeface="Arial"/>
              </a:rPr>
              <a:t>UNDER  </a:t>
            </a:r>
            <a:r>
              <a:rPr dirty="0" sz="1150" spc="-145" b="1">
                <a:latin typeface="Arial"/>
                <a:cs typeface="Arial"/>
              </a:rPr>
              <a:t>THE </a:t>
            </a:r>
            <a:r>
              <a:rPr dirty="0" sz="1150" spc="-130" b="1">
                <a:latin typeface="Arial"/>
                <a:cs typeface="Arial"/>
              </a:rPr>
              <a:t>SUPERVISION </a:t>
            </a:r>
            <a:r>
              <a:rPr dirty="0" sz="1150" spc="-150" b="1">
                <a:latin typeface="Arial"/>
                <a:cs typeface="Arial"/>
              </a:rPr>
              <a:t>OF</a:t>
            </a:r>
            <a:r>
              <a:rPr dirty="0" sz="1150" spc="-105" b="1">
                <a:latin typeface="Arial"/>
                <a:cs typeface="Arial"/>
              </a:rPr>
              <a:t> </a:t>
            </a:r>
            <a:r>
              <a:rPr dirty="0" sz="1150" spc="-150" b="1">
                <a:latin typeface="Arial"/>
                <a:cs typeface="Arial"/>
              </a:rPr>
              <a:t>COURT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section </a:t>
            </a:r>
            <a:r>
              <a:rPr dirty="0" sz="1150" spc="-60">
                <a:latin typeface="Arial"/>
                <a:cs typeface="Arial"/>
              </a:rPr>
              <a:t>396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Companies </a:t>
            </a:r>
            <a:r>
              <a:rPr dirty="0" sz="1150" spc="-55">
                <a:latin typeface="Arial"/>
                <a:cs typeface="Arial"/>
              </a:rPr>
              <a:t>Ordinance,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voluntary </a:t>
            </a:r>
            <a:r>
              <a:rPr dirty="0" sz="1150" spc="-35">
                <a:latin typeface="Arial"/>
                <a:cs typeface="Arial"/>
              </a:rPr>
              <a:t>winding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70">
                <a:latin typeface="Arial"/>
                <a:cs typeface="Arial"/>
              </a:rPr>
              <a:t>can  </a:t>
            </a:r>
            <a:r>
              <a:rPr dirty="0" sz="1150" spc="-60">
                <a:latin typeface="Arial"/>
                <a:cs typeface="Arial"/>
              </a:rPr>
              <a:t>also</a:t>
            </a:r>
            <a:r>
              <a:rPr dirty="0" sz="1150" spc="-55">
                <a:latin typeface="Arial"/>
                <a:cs typeface="Arial"/>
              </a:rPr>
              <a:t> be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carried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under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strict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registration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court.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dirty="0" sz="1150" spc="-85" b="1">
                <a:latin typeface="Arial"/>
                <a:cs typeface="Arial"/>
              </a:rPr>
              <a:t>Resolution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marL="12700" marR="8890">
              <a:lnSpc>
                <a:spcPct val="101699"/>
              </a:lnSpc>
              <a:spcBef>
                <a:spcPts val="5"/>
              </a:spcBef>
            </a:pPr>
            <a:r>
              <a:rPr dirty="0" sz="1150" spc="-20">
                <a:latin typeface="Arial"/>
                <a:cs typeface="Arial"/>
              </a:rPr>
              <a:t>At </a:t>
            </a:r>
            <a:r>
              <a:rPr dirty="0" sz="1150" spc="-10">
                <a:latin typeface="Arial"/>
                <a:cs typeface="Arial"/>
              </a:rPr>
              <a:t>first,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20">
                <a:latin typeface="Arial"/>
                <a:cs typeface="Arial"/>
              </a:rPr>
              <a:t>to </a:t>
            </a:r>
            <a:r>
              <a:rPr dirty="0" sz="1150" spc="-95">
                <a:latin typeface="Arial"/>
                <a:cs typeface="Arial"/>
              </a:rPr>
              <a:t>pass </a:t>
            </a:r>
            <a:r>
              <a:rPr dirty="0" sz="1150" spc="-60">
                <a:latin typeface="Arial"/>
                <a:cs typeface="Arial"/>
              </a:rPr>
              <a:t>special </a:t>
            </a:r>
            <a:r>
              <a:rPr dirty="0" sz="1150" spc="-30">
                <a:latin typeface="Arial"/>
                <a:cs typeface="Arial"/>
              </a:rPr>
              <a:t>resolution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voluntary </a:t>
            </a:r>
            <a:r>
              <a:rPr dirty="0" sz="1150" spc="-30">
                <a:latin typeface="Arial"/>
                <a:cs typeface="Arial"/>
              </a:rPr>
              <a:t>winding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55">
                <a:latin typeface="Arial"/>
                <a:cs typeface="Arial"/>
              </a:rPr>
              <a:t>company.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1150" spc="-95" b="1">
                <a:latin typeface="Arial"/>
                <a:cs typeface="Arial"/>
              </a:rPr>
              <a:t>Supervision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Order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50" spc="-45">
                <a:latin typeface="Arial"/>
                <a:cs typeface="Arial"/>
              </a:rPr>
              <a:t>Following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common </a:t>
            </a:r>
            <a:r>
              <a:rPr dirty="0" sz="1150" spc="-55">
                <a:latin typeface="Arial"/>
                <a:cs typeface="Arial"/>
              </a:rPr>
              <a:t>grounds </a:t>
            </a:r>
            <a:r>
              <a:rPr dirty="0" sz="1150" spc="-35">
                <a:latin typeface="Arial"/>
                <a:cs typeface="Arial"/>
              </a:rPr>
              <a:t>on which </a:t>
            </a:r>
            <a:r>
              <a:rPr dirty="0" sz="1150" spc="-20">
                <a:latin typeface="Arial"/>
                <a:cs typeface="Arial"/>
              </a:rPr>
              <a:t>the court </a:t>
            </a:r>
            <a:r>
              <a:rPr dirty="0" sz="1150" spc="-80">
                <a:latin typeface="Arial"/>
                <a:cs typeface="Arial"/>
              </a:rPr>
              <a:t>issues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supervision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order: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buAutoNum type="arabicPeriod"/>
              <a:tabLst>
                <a:tab pos="927100" algn="l"/>
              </a:tabLst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liquidator </a:t>
            </a:r>
            <a:r>
              <a:rPr dirty="0" sz="1150" spc="-35">
                <a:latin typeface="Arial"/>
                <a:cs typeface="Arial"/>
              </a:rPr>
              <a:t>performs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20">
                <a:latin typeface="Arial"/>
                <a:cs typeface="Arial"/>
              </a:rPr>
              <a:t>duty in partial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manner.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927100" algn="l"/>
              </a:tabLst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winding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25">
                <a:latin typeface="Arial"/>
                <a:cs typeface="Arial"/>
              </a:rPr>
              <a:t>resolution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obtained </a:t>
            </a:r>
            <a:r>
              <a:rPr dirty="0" sz="1150" spc="-50">
                <a:latin typeface="Arial"/>
                <a:cs typeface="Arial"/>
              </a:rPr>
              <a:t>by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fraud.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927100" algn="l"/>
              </a:tabLst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liquidator </a:t>
            </a:r>
            <a:r>
              <a:rPr dirty="0" sz="1150" spc="-70">
                <a:latin typeface="Arial"/>
                <a:cs typeface="Arial"/>
              </a:rPr>
              <a:t>does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20">
                <a:latin typeface="Arial"/>
                <a:cs typeface="Arial"/>
              </a:rPr>
              <a:t>strictly </a:t>
            </a:r>
            <a:r>
              <a:rPr dirty="0" sz="1150" spc="-55">
                <a:latin typeface="Arial"/>
                <a:cs typeface="Arial"/>
              </a:rPr>
              <a:t>observe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rules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winding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150" spc="-80" b="1">
                <a:latin typeface="Arial"/>
                <a:cs typeface="Arial"/>
              </a:rPr>
              <a:t>Power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45" b="1">
                <a:latin typeface="Arial"/>
                <a:cs typeface="Arial"/>
              </a:rPr>
              <a:t>the</a:t>
            </a:r>
            <a:r>
              <a:rPr dirty="0" sz="1150" spc="-70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Court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20">
                <a:latin typeface="Arial"/>
                <a:cs typeface="Arial"/>
              </a:rPr>
              <a:t>court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power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appoint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30">
                <a:latin typeface="Arial"/>
                <a:cs typeface="Arial"/>
              </a:rPr>
              <a:t>additional </a:t>
            </a:r>
            <a:r>
              <a:rPr dirty="0" sz="1150" spc="-20">
                <a:latin typeface="Arial"/>
                <a:cs typeface="Arial"/>
              </a:rPr>
              <a:t>liquidator,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remove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20">
                <a:latin typeface="Arial"/>
                <a:cs typeface="Arial"/>
              </a:rPr>
              <a:t>liquidator.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69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466715" cy="3410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1150" spc="-35" b="1">
                <a:latin typeface="Arial"/>
                <a:cs typeface="Arial"/>
              </a:rPr>
              <a:t>4.</a:t>
            </a:r>
            <a:r>
              <a:rPr dirty="0" sz="1150" spc="-35">
                <a:latin typeface="Times New Roman"/>
                <a:cs typeface="Times New Roman"/>
              </a:rPr>
              <a:t>	</a:t>
            </a:r>
            <a:r>
              <a:rPr dirty="0" sz="1150" spc="-85" b="1">
                <a:latin typeface="Arial"/>
                <a:cs typeface="Arial"/>
              </a:rPr>
              <a:t>Dissolution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5">
                <a:latin typeface="Arial"/>
                <a:cs typeface="Arial"/>
              </a:rPr>
              <a:t>After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supervision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order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made,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liquidator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may exercise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his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powers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winding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up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company.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On </a:t>
            </a:r>
            <a:r>
              <a:rPr dirty="0" sz="1150" spc="-30">
                <a:latin typeface="Arial"/>
                <a:cs typeface="Arial"/>
              </a:rPr>
              <a:t>completion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winding </a:t>
            </a:r>
            <a:r>
              <a:rPr dirty="0" sz="1150" spc="-40">
                <a:latin typeface="Arial"/>
                <a:cs typeface="Arial"/>
              </a:rPr>
              <a:t>up,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court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60">
                <a:latin typeface="Arial"/>
                <a:cs typeface="Arial"/>
              </a:rPr>
              <a:t>make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50">
                <a:latin typeface="Arial"/>
                <a:cs typeface="Arial"/>
              </a:rPr>
              <a:t>dissolved.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175" b="1">
                <a:latin typeface="Arial"/>
                <a:cs typeface="Arial"/>
              </a:rPr>
              <a:t>SHARE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150" b="1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225425">
              <a:lnSpc>
                <a:spcPct val="101699"/>
              </a:lnSpc>
              <a:spcBef>
                <a:spcPts val="5"/>
              </a:spcBef>
            </a:pPr>
            <a:r>
              <a:rPr dirty="0" sz="1150" spc="-40">
                <a:latin typeface="Arial"/>
                <a:cs typeface="Arial"/>
              </a:rPr>
              <a:t>In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simple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words,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term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“capital”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means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particular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amount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money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with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which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70">
                <a:latin typeface="Arial"/>
                <a:cs typeface="Arial"/>
              </a:rPr>
              <a:t>business is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started.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company, </a:t>
            </a:r>
            <a:r>
              <a:rPr dirty="0" sz="1150" spc="-65">
                <a:latin typeface="Arial"/>
                <a:cs typeface="Arial"/>
              </a:rPr>
              <a:t>share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amount </a:t>
            </a:r>
            <a:r>
              <a:rPr dirty="0" sz="1150" spc="-20">
                <a:latin typeface="Arial"/>
                <a:cs typeface="Arial"/>
              </a:rPr>
              <a:t>contributed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shareholders.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95" b="1">
                <a:latin typeface="Arial"/>
                <a:cs typeface="Arial"/>
              </a:rPr>
              <a:t>DEFINITION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dirty="0" sz="1150" spc="-45">
                <a:latin typeface="Arial"/>
                <a:cs typeface="Arial"/>
              </a:rPr>
              <a:t>1.</a:t>
            </a:r>
            <a:r>
              <a:rPr dirty="0" sz="1150" spc="-45">
                <a:latin typeface="Times New Roman"/>
                <a:cs typeface="Times New Roman"/>
              </a:rPr>
              <a:t>	</a:t>
            </a:r>
            <a:r>
              <a:rPr dirty="0" sz="1150" spc="-110" b="1">
                <a:latin typeface="Arial"/>
                <a:cs typeface="Arial"/>
              </a:rPr>
              <a:t>According </a:t>
            </a:r>
            <a:r>
              <a:rPr dirty="0" sz="1150" spc="-40" b="1">
                <a:latin typeface="Arial"/>
                <a:cs typeface="Arial"/>
              </a:rPr>
              <a:t>to </a:t>
            </a:r>
            <a:r>
              <a:rPr dirty="0" sz="1150" spc="-90" b="1">
                <a:latin typeface="Arial"/>
                <a:cs typeface="Arial"/>
              </a:rPr>
              <a:t>Alan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spc="-135" b="1">
                <a:latin typeface="Arial"/>
                <a:cs typeface="Arial"/>
              </a:rPr>
              <a:t>Issacs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469900" marR="140970">
              <a:lnSpc>
                <a:spcPct val="101699"/>
              </a:lnSpc>
            </a:pPr>
            <a:r>
              <a:rPr dirty="0" sz="1150" spc="-60" i="1">
                <a:latin typeface="Arial"/>
                <a:cs typeface="Arial"/>
              </a:rPr>
              <a:t>“Share</a:t>
            </a:r>
            <a:r>
              <a:rPr dirty="0" sz="1150" spc="-55" i="1">
                <a:latin typeface="Arial"/>
                <a:cs typeface="Arial"/>
              </a:rPr>
              <a:t> </a:t>
            </a:r>
            <a:r>
              <a:rPr dirty="0" sz="1150" spc="-30" i="1">
                <a:latin typeface="Arial"/>
                <a:cs typeface="Arial"/>
              </a:rPr>
              <a:t>capital</a:t>
            </a:r>
            <a:r>
              <a:rPr dirty="0" sz="1150" spc="-50" i="1">
                <a:latin typeface="Arial"/>
                <a:cs typeface="Arial"/>
              </a:rPr>
              <a:t> </a:t>
            </a:r>
            <a:r>
              <a:rPr dirty="0" sz="1150" spc="-65" i="1">
                <a:latin typeface="Arial"/>
                <a:cs typeface="Arial"/>
              </a:rPr>
              <a:t>is</a:t>
            </a:r>
            <a:r>
              <a:rPr dirty="0" sz="1150" spc="-60" i="1">
                <a:latin typeface="Arial"/>
                <a:cs typeface="Arial"/>
              </a:rPr>
              <a:t> </a:t>
            </a:r>
            <a:r>
              <a:rPr dirty="0" sz="1150" i="1">
                <a:latin typeface="Arial"/>
                <a:cs typeface="Arial"/>
              </a:rPr>
              <a:t>that</a:t>
            </a:r>
            <a:r>
              <a:rPr dirty="0" sz="1150" spc="-55" i="1">
                <a:latin typeface="Arial"/>
                <a:cs typeface="Arial"/>
              </a:rPr>
              <a:t> </a:t>
            </a:r>
            <a:r>
              <a:rPr dirty="0" sz="1150" spc="-5" i="1">
                <a:latin typeface="Arial"/>
                <a:cs typeface="Arial"/>
              </a:rPr>
              <a:t>part</a:t>
            </a:r>
            <a:r>
              <a:rPr dirty="0" sz="1150" spc="-55" i="1">
                <a:latin typeface="Arial"/>
                <a:cs typeface="Arial"/>
              </a:rPr>
              <a:t> </a:t>
            </a:r>
            <a:r>
              <a:rPr dirty="0" sz="1150" spc="-15" i="1">
                <a:latin typeface="Arial"/>
                <a:cs typeface="Arial"/>
              </a:rPr>
              <a:t>of</a:t>
            </a:r>
            <a:r>
              <a:rPr dirty="0" sz="1150" spc="-55" i="1">
                <a:latin typeface="Arial"/>
                <a:cs typeface="Arial"/>
              </a:rPr>
              <a:t> </a:t>
            </a:r>
            <a:r>
              <a:rPr dirty="0" sz="1150" spc="-30" i="1">
                <a:latin typeface="Arial"/>
                <a:cs typeface="Arial"/>
              </a:rPr>
              <a:t>the</a:t>
            </a:r>
            <a:r>
              <a:rPr dirty="0" sz="1150" spc="-55" i="1">
                <a:latin typeface="Arial"/>
                <a:cs typeface="Arial"/>
              </a:rPr>
              <a:t> </a:t>
            </a:r>
            <a:r>
              <a:rPr dirty="0" sz="1150" spc="-30" i="1">
                <a:latin typeface="Arial"/>
                <a:cs typeface="Arial"/>
              </a:rPr>
              <a:t>capital</a:t>
            </a:r>
            <a:r>
              <a:rPr dirty="0" sz="1150" spc="-50" i="1">
                <a:latin typeface="Arial"/>
                <a:cs typeface="Arial"/>
              </a:rPr>
              <a:t> </a:t>
            </a:r>
            <a:r>
              <a:rPr dirty="0" sz="1150" spc="-15" i="1">
                <a:latin typeface="Arial"/>
                <a:cs typeface="Arial"/>
              </a:rPr>
              <a:t>of</a:t>
            </a:r>
            <a:r>
              <a:rPr dirty="0" sz="1150" spc="-55" i="1">
                <a:latin typeface="Arial"/>
                <a:cs typeface="Arial"/>
              </a:rPr>
              <a:t> </a:t>
            </a:r>
            <a:r>
              <a:rPr dirty="0" sz="1150" spc="-50" i="1">
                <a:latin typeface="Arial"/>
                <a:cs typeface="Arial"/>
              </a:rPr>
              <a:t>a</a:t>
            </a:r>
            <a:r>
              <a:rPr dirty="0" sz="1150" spc="-60" i="1">
                <a:latin typeface="Arial"/>
                <a:cs typeface="Arial"/>
              </a:rPr>
              <a:t> company</a:t>
            </a:r>
            <a:r>
              <a:rPr dirty="0" sz="1150" spc="-50" i="1">
                <a:latin typeface="Arial"/>
                <a:cs typeface="Arial"/>
              </a:rPr>
              <a:t> </a:t>
            </a:r>
            <a:r>
              <a:rPr dirty="0" sz="1150" i="1">
                <a:latin typeface="Arial"/>
                <a:cs typeface="Arial"/>
              </a:rPr>
              <a:t>that</a:t>
            </a:r>
            <a:r>
              <a:rPr dirty="0" sz="1150" spc="-55" i="1">
                <a:latin typeface="Arial"/>
                <a:cs typeface="Arial"/>
              </a:rPr>
              <a:t> </a:t>
            </a:r>
            <a:r>
              <a:rPr dirty="0" sz="1150" spc="-65" i="1">
                <a:latin typeface="Arial"/>
                <a:cs typeface="Arial"/>
              </a:rPr>
              <a:t>arises</a:t>
            </a:r>
            <a:r>
              <a:rPr dirty="0" sz="1150" spc="-55" i="1">
                <a:latin typeface="Arial"/>
                <a:cs typeface="Arial"/>
              </a:rPr>
              <a:t> </a:t>
            </a:r>
            <a:r>
              <a:rPr dirty="0" sz="1150" spc="-20" i="1">
                <a:latin typeface="Arial"/>
                <a:cs typeface="Arial"/>
              </a:rPr>
              <a:t>from</a:t>
            </a:r>
            <a:r>
              <a:rPr dirty="0" sz="1150" spc="-55" i="1">
                <a:latin typeface="Arial"/>
                <a:cs typeface="Arial"/>
              </a:rPr>
              <a:t> </a:t>
            </a:r>
            <a:r>
              <a:rPr dirty="0" sz="1150" spc="-30" i="1">
                <a:latin typeface="Arial"/>
                <a:cs typeface="Arial"/>
              </a:rPr>
              <a:t>the</a:t>
            </a:r>
            <a:r>
              <a:rPr dirty="0" sz="1150" spc="-50" i="1">
                <a:latin typeface="Arial"/>
                <a:cs typeface="Arial"/>
              </a:rPr>
              <a:t> </a:t>
            </a:r>
            <a:r>
              <a:rPr dirty="0" sz="1150" spc="-80" i="1">
                <a:latin typeface="Arial"/>
                <a:cs typeface="Arial"/>
              </a:rPr>
              <a:t>issue</a:t>
            </a:r>
            <a:r>
              <a:rPr dirty="0" sz="1150" spc="-55" i="1">
                <a:latin typeface="Arial"/>
                <a:cs typeface="Arial"/>
              </a:rPr>
              <a:t> </a:t>
            </a:r>
            <a:r>
              <a:rPr dirty="0" sz="1150" spc="-15" i="1">
                <a:latin typeface="Arial"/>
                <a:cs typeface="Arial"/>
              </a:rPr>
              <a:t>of  </a:t>
            </a:r>
            <a:r>
              <a:rPr dirty="0" sz="1150" spc="-55" i="1">
                <a:latin typeface="Arial"/>
                <a:cs typeface="Arial"/>
              </a:rPr>
              <a:t>shares</a:t>
            </a:r>
            <a:r>
              <a:rPr dirty="0" sz="1150" spc="-55">
                <a:latin typeface="Arial"/>
                <a:cs typeface="Arial"/>
              </a:rPr>
              <a:t>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70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299" y="4458718"/>
            <a:ext cx="13716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5">
                <a:latin typeface="Arial"/>
                <a:cs typeface="Arial"/>
              </a:rPr>
              <a:t>2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87498" y="4458718"/>
            <a:ext cx="102743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14" b="1">
                <a:latin typeface="Arial"/>
                <a:cs typeface="Arial"/>
              </a:rPr>
              <a:t>L. </a:t>
            </a:r>
            <a:r>
              <a:rPr dirty="0" sz="1150" spc="-105" b="1">
                <a:latin typeface="Arial"/>
                <a:cs typeface="Arial"/>
              </a:rPr>
              <a:t>B. </a:t>
            </a:r>
            <a:r>
              <a:rPr dirty="0" sz="1150" spc="-110" b="1">
                <a:latin typeface="Arial"/>
                <a:cs typeface="Arial"/>
              </a:rPr>
              <a:t>Curzon</a:t>
            </a:r>
            <a:r>
              <a:rPr dirty="0" sz="1150" spc="-5" b="1">
                <a:latin typeface="Arial"/>
                <a:cs typeface="Arial"/>
              </a:rPr>
              <a:t> </a:t>
            </a:r>
            <a:r>
              <a:rPr dirty="0" sz="1150" spc="-140" b="1">
                <a:latin typeface="Arial"/>
                <a:cs typeface="Arial"/>
              </a:rPr>
              <a:t>says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0294" y="4815333"/>
            <a:ext cx="5466715" cy="394398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469265" marR="5080">
              <a:lnSpc>
                <a:spcPct val="101699"/>
              </a:lnSpc>
              <a:spcBef>
                <a:spcPts val="75"/>
              </a:spcBef>
            </a:pPr>
            <a:r>
              <a:rPr dirty="0" sz="1150" spc="-70" i="1">
                <a:latin typeface="Arial"/>
                <a:cs typeface="Arial"/>
              </a:rPr>
              <a:t>"Share </a:t>
            </a:r>
            <a:r>
              <a:rPr dirty="0" sz="1150" spc="-30" i="1">
                <a:latin typeface="Arial"/>
                <a:cs typeface="Arial"/>
              </a:rPr>
              <a:t>capital </a:t>
            </a:r>
            <a:r>
              <a:rPr dirty="0" sz="1150" spc="-65" i="1">
                <a:latin typeface="Arial"/>
                <a:cs typeface="Arial"/>
              </a:rPr>
              <a:t>is </a:t>
            </a:r>
            <a:r>
              <a:rPr dirty="0" sz="1150" spc="-30" i="1">
                <a:latin typeface="Arial"/>
                <a:cs typeface="Arial"/>
              </a:rPr>
              <a:t>the </a:t>
            </a:r>
            <a:r>
              <a:rPr dirty="0" sz="1150" spc="5" i="1">
                <a:latin typeface="Arial"/>
                <a:cs typeface="Arial"/>
              </a:rPr>
              <a:t>total </a:t>
            </a:r>
            <a:r>
              <a:rPr dirty="0" sz="1150" spc="-35" i="1">
                <a:latin typeface="Arial"/>
                <a:cs typeface="Arial"/>
              </a:rPr>
              <a:t>amount </a:t>
            </a:r>
            <a:r>
              <a:rPr dirty="0" sz="1150" spc="-40" i="1">
                <a:latin typeface="Arial"/>
                <a:cs typeface="Arial"/>
              </a:rPr>
              <a:t>which </a:t>
            </a:r>
            <a:r>
              <a:rPr dirty="0" sz="1150" spc="-50" i="1">
                <a:latin typeface="Arial"/>
                <a:cs typeface="Arial"/>
              </a:rPr>
              <a:t>a </a:t>
            </a:r>
            <a:r>
              <a:rPr dirty="0" sz="1150" spc="-60" i="1">
                <a:latin typeface="Arial"/>
                <a:cs typeface="Arial"/>
              </a:rPr>
              <a:t>company’s shareholders </a:t>
            </a:r>
            <a:r>
              <a:rPr dirty="0" sz="1150" spc="-65" i="1">
                <a:latin typeface="Arial"/>
                <a:cs typeface="Arial"/>
              </a:rPr>
              <a:t>have </a:t>
            </a:r>
            <a:r>
              <a:rPr dirty="0" sz="1150" spc="-30" i="1">
                <a:latin typeface="Arial"/>
                <a:cs typeface="Arial"/>
              </a:rPr>
              <a:t>contributed  </a:t>
            </a:r>
            <a:r>
              <a:rPr dirty="0" sz="1150" spc="-25" i="1">
                <a:latin typeface="Arial"/>
                <a:cs typeface="Arial"/>
              </a:rPr>
              <a:t>or </a:t>
            </a:r>
            <a:r>
              <a:rPr dirty="0" sz="1150" spc="-45" i="1">
                <a:latin typeface="Arial"/>
                <a:cs typeface="Arial"/>
              </a:rPr>
              <a:t>are </a:t>
            </a:r>
            <a:r>
              <a:rPr dirty="0" sz="1150" spc="-35" i="1">
                <a:latin typeface="Arial"/>
                <a:cs typeface="Arial"/>
              </a:rPr>
              <a:t>liable </a:t>
            </a:r>
            <a:r>
              <a:rPr dirty="0" sz="1150" spc="5" i="1">
                <a:latin typeface="Arial"/>
                <a:cs typeface="Arial"/>
              </a:rPr>
              <a:t>to </a:t>
            </a:r>
            <a:r>
              <a:rPr dirty="0" sz="1150" spc="-30" i="1">
                <a:latin typeface="Arial"/>
                <a:cs typeface="Arial"/>
              </a:rPr>
              <a:t>contribute </a:t>
            </a:r>
            <a:r>
              <a:rPr dirty="0" sz="1150" spc="-95" i="1">
                <a:latin typeface="Arial"/>
                <a:cs typeface="Arial"/>
              </a:rPr>
              <a:t>as </a:t>
            </a:r>
            <a:r>
              <a:rPr dirty="0" sz="1150" spc="-45" i="1">
                <a:latin typeface="Arial"/>
                <a:cs typeface="Arial"/>
              </a:rPr>
              <a:t>payment </a:t>
            </a:r>
            <a:r>
              <a:rPr dirty="0" sz="1150" spc="-10" i="1">
                <a:latin typeface="Arial"/>
                <a:cs typeface="Arial"/>
              </a:rPr>
              <a:t>for</a:t>
            </a:r>
            <a:r>
              <a:rPr dirty="0" sz="1150" spc="-240" i="1">
                <a:latin typeface="Arial"/>
                <a:cs typeface="Arial"/>
              </a:rPr>
              <a:t> </a:t>
            </a:r>
            <a:r>
              <a:rPr dirty="0" sz="1150" spc="-15" i="1">
                <a:latin typeface="Arial"/>
                <a:cs typeface="Arial"/>
              </a:rPr>
              <a:t>their </a:t>
            </a:r>
            <a:r>
              <a:rPr dirty="0" sz="1150" spc="-50" i="1">
                <a:latin typeface="Arial"/>
                <a:cs typeface="Arial"/>
              </a:rPr>
              <a:t>shares.”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25" b="1">
                <a:latin typeface="Arial"/>
                <a:cs typeface="Arial"/>
              </a:rPr>
              <a:t>KINDS </a:t>
            </a:r>
            <a:r>
              <a:rPr dirty="0" sz="1150" spc="-150" b="1">
                <a:latin typeface="Arial"/>
                <a:cs typeface="Arial"/>
              </a:rPr>
              <a:t>OF </a:t>
            </a:r>
            <a:r>
              <a:rPr dirty="0" sz="1150" spc="-175" b="1">
                <a:latin typeface="Arial"/>
                <a:cs typeface="Arial"/>
              </a:rPr>
              <a:t>SHARE</a:t>
            </a:r>
            <a:r>
              <a:rPr dirty="0" sz="1150" spc="-85" b="1">
                <a:latin typeface="Arial"/>
                <a:cs typeface="Arial"/>
              </a:rPr>
              <a:t> </a:t>
            </a:r>
            <a:r>
              <a:rPr dirty="0" sz="1150" spc="-150" b="1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55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5">
                <a:latin typeface="Arial"/>
                <a:cs typeface="Arial"/>
              </a:rPr>
              <a:t>Companies </a:t>
            </a:r>
            <a:r>
              <a:rPr dirty="0" sz="1150" spc="-55">
                <a:latin typeface="Arial"/>
                <a:cs typeface="Arial"/>
              </a:rPr>
              <a:t>Ordinance, 1984, </a:t>
            </a:r>
            <a:r>
              <a:rPr dirty="0" sz="1150" spc="-20">
                <a:latin typeface="Arial"/>
                <a:cs typeface="Arial"/>
              </a:rPr>
              <a:t>the following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kinds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share </a:t>
            </a:r>
            <a:r>
              <a:rPr dirty="0" sz="1150" spc="-35">
                <a:latin typeface="Arial"/>
                <a:cs typeface="Arial"/>
              </a:rPr>
              <a:t>capital: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dirty="0" sz="1150" spc="-75" b="1">
                <a:latin typeface="Arial"/>
                <a:cs typeface="Arial"/>
              </a:rPr>
              <a:t>Authorized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marL="12700" marR="255904">
              <a:lnSpc>
                <a:spcPct val="100899"/>
              </a:lnSpc>
            </a:pP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maximum </a:t>
            </a:r>
            <a:r>
              <a:rPr dirty="0" sz="1150" spc="-35">
                <a:latin typeface="Arial"/>
                <a:cs typeface="Arial"/>
              </a:rPr>
              <a:t>amount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registered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0">
                <a:latin typeface="Arial"/>
                <a:cs typeface="Arial"/>
              </a:rPr>
              <a:t>authorized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65">
                <a:latin typeface="Arial"/>
                <a:cs typeface="Arial"/>
              </a:rPr>
              <a:t>issue.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divided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small value.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321310" indent="456565">
              <a:lnSpc>
                <a:spcPct val="101699"/>
              </a:lnSpc>
            </a:pP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authorized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125">
                <a:latin typeface="Arial"/>
                <a:cs typeface="Arial"/>
              </a:rPr>
              <a:t>Rs. </a:t>
            </a:r>
            <a:r>
              <a:rPr dirty="0" sz="1150" spc="-55">
                <a:latin typeface="Arial"/>
                <a:cs typeface="Arial"/>
              </a:rPr>
              <a:t>10, 00,000 </a:t>
            </a:r>
            <a:r>
              <a:rPr dirty="0" sz="1150" spc="-35">
                <a:latin typeface="Arial"/>
                <a:cs typeface="Arial"/>
              </a:rPr>
              <a:t>divided </a:t>
            </a:r>
            <a:r>
              <a:rPr dirty="0" sz="1150" spc="-5">
                <a:latin typeface="Arial"/>
                <a:cs typeface="Arial"/>
              </a:rPr>
              <a:t>into  </a:t>
            </a:r>
            <a:r>
              <a:rPr dirty="0" sz="1150" spc="-45">
                <a:latin typeface="Arial"/>
                <a:cs typeface="Arial"/>
              </a:rPr>
              <a:t>1, </a:t>
            </a:r>
            <a:r>
              <a:rPr dirty="0" sz="1150" spc="-55">
                <a:latin typeface="Arial"/>
                <a:cs typeface="Arial"/>
              </a:rPr>
              <a:t>00,000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25">
                <a:latin typeface="Arial"/>
                <a:cs typeface="Arial"/>
              </a:rPr>
              <a:t>Rs. </a:t>
            </a:r>
            <a:r>
              <a:rPr dirty="0" sz="1150" spc="-55">
                <a:latin typeface="Arial"/>
                <a:cs typeface="Arial"/>
              </a:rPr>
              <a:t>10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each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1150" spc="-105" b="1">
                <a:latin typeface="Arial"/>
                <a:cs typeface="Arial"/>
              </a:rPr>
              <a:t>Issued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15">
                <a:latin typeface="Arial"/>
                <a:cs typeface="Arial"/>
              </a:rPr>
              <a:t>It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part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authorized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capital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which</a:t>
            </a:r>
            <a:r>
              <a:rPr dirty="0" sz="1150" spc="-65">
                <a:latin typeface="Arial"/>
                <a:cs typeface="Arial"/>
              </a:rPr>
              <a:t> is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offered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general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public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sale.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66040" indent="456565">
              <a:lnSpc>
                <a:spcPct val="101699"/>
              </a:lnSpc>
              <a:spcBef>
                <a:spcPts val="5"/>
              </a:spcBef>
            </a:pP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35">
                <a:latin typeface="Arial"/>
                <a:cs typeface="Arial"/>
              </a:rPr>
              <a:t>authorized capital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25">
                <a:latin typeface="Arial"/>
                <a:cs typeface="Arial"/>
              </a:rPr>
              <a:t>Rs. </a:t>
            </a:r>
            <a:r>
              <a:rPr dirty="0" sz="1150" spc="-50">
                <a:latin typeface="Arial"/>
                <a:cs typeface="Arial"/>
              </a:rPr>
              <a:t>10, </a:t>
            </a:r>
            <a:r>
              <a:rPr dirty="0" sz="1150" spc="-55">
                <a:latin typeface="Arial"/>
                <a:cs typeface="Arial"/>
              </a:rPr>
              <a:t>00,000 </a:t>
            </a:r>
            <a:r>
              <a:rPr dirty="0" sz="1150" spc="-35">
                <a:latin typeface="Arial"/>
                <a:cs typeface="Arial"/>
              </a:rPr>
              <a:t>dividend </a:t>
            </a:r>
            <a:r>
              <a:rPr dirty="0" sz="1150" spc="-5">
                <a:latin typeface="Arial"/>
                <a:cs typeface="Arial"/>
              </a:rPr>
              <a:t>into  </a:t>
            </a:r>
            <a:r>
              <a:rPr dirty="0" sz="1150" spc="-45">
                <a:latin typeface="Arial"/>
                <a:cs typeface="Arial"/>
              </a:rPr>
              <a:t>1, </a:t>
            </a:r>
            <a:r>
              <a:rPr dirty="0" sz="1150" spc="-55">
                <a:latin typeface="Arial"/>
                <a:cs typeface="Arial"/>
              </a:rPr>
              <a:t>00,000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25">
                <a:latin typeface="Arial"/>
                <a:cs typeface="Arial"/>
              </a:rPr>
              <a:t>Rs. </a:t>
            </a:r>
            <a:r>
              <a:rPr dirty="0" sz="1150" spc="-55">
                <a:latin typeface="Arial"/>
                <a:cs typeface="Arial"/>
              </a:rPr>
              <a:t>10 </a:t>
            </a:r>
            <a:r>
              <a:rPr dirty="0" sz="1150" spc="-65">
                <a:latin typeface="Arial"/>
                <a:cs typeface="Arial"/>
              </a:rPr>
              <a:t>each.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30">
                <a:latin typeface="Arial"/>
                <a:cs typeface="Arial"/>
              </a:rPr>
              <a:t>offers </a:t>
            </a:r>
            <a:r>
              <a:rPr dirty="0" sz="1150" spc="-55">
                <a:latin typeface="Arial"/>
                <a:cs typeface="Arial"/>
              </a:rPr>
              <a:t>20,000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25">
                <a:latin typeface="Arial"/>
                <a:cs typeface="Arial"/>
              </a:rPr>
              <a:t>Rs. </a:t>
            </a:r>
            <a:r>
              <a:rPr dirty="0" sz="1150" spc="-65">
                <a:latin typeface="Arial"/>
                <a:cs typeface="Arial"/>
              </a:rPr>
              <a:t>10 </a:t>
            </a:r>
            <a:r>
              <a:rPr dirty="0" sz="1150" spc="-75">
                <a:latin typeface="Arial"/>
                <a:cs typeface="Arial"/>
              </a:rPr>
              <a:t>each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general </a:t>
            </a:r>
            <a:r>
              <a:rPr dirty="0" sz="1150" spc="-35">
                <a:latin typeface="Arial"/>
                <a:cs typeface="Arial"/>
              </a:rPr>
              <a:t>public. </a:t>
            </a:r>
            <a:r>
              <a:rPr dirty="0" sz="1150" spc="-140">
                <a:latin typeface="Arial"/>
                <a:cs typeface="Arial"/>
              </a:rPr>
              <a:t>So 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 spc="-70">
                <a:latin typeface="Arial"/>
                <a:cs typeface="Arial"/>
              </a:rPr>
              <a:t>issued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125">
                <a:latin typeface="Arial"/>
                <a:cs typeface="Arial"/>
              </a:rPr>
              <a:t>Rs. </a:t>
            </a:r>
            <a:r>
              <a:rPr dirty="0" sz="1150" spc="-45">
                <a:latin typeface="Arial"/>
                <a:cs typeface="Arial"/>
              </a:rPr>
              <a:t>2,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00,000.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00370" cy="786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150" spc="-95" b="1">
                <a:latin typeface="Arial"/>
                <a:cs typeface="Arial"/>
              </a:rPr>
              <a:t>Un-Issued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 startAt="3"/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15">
                <a:latin typeface="Arial"/>
                <a:cs typeface="Arial"/>
              </a:rPr>
              <a:t>It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part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authorized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capital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which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not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offered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general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public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sale.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139700">
              <a:lnSpc>
                <a:spcPct val="101699"/>
              </a:lnSpc>
              <a:spcBef>
                <a:spcPts val="5"/>
              </a:spcBef>
            </a:pP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35">
                <a:latin typeface="Arial"/>
                <a:cs typeface="Arial"/>
              </a:rPr>
              <a:t>authorized capital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25">
                <a:latin typeface="Arial"/>
                <a:cs typeface="Arial"/>
              </a:rPr>
              <a:t>Rs. </a:t>
            </a:r>
            <a:r>
              <a:rPr dirty="0" sz="1150" spc="-50">
                <a:latin typeface="Arial"/>
                <a:cs typeface="Arial"/>
              </a:rPr>
              <a:t>10, </a:t>
            </a:r>
            <a:r>
              <a:rPr dirty="0" sz="1150" spc="-55">
                <a:latin typeface="Arial"/>
                <a:cs typeface="Arial"/>
              </a:rPr>
              <a:t>00,000 </a:t>
            </a:r>
            <a:r>
              <a:rPr dirty="0" sz="1150" spc="-35">
                <a:latin typeface="Arial"/>
                <a:cs typeface="Arial"/>
              </a:rPr>
              <a:t>divided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45">
                <a:latin typeface="Arial"/>
                <a:cs typeface="Arial"/>
              </a:rPr>
              <a:t>1, </a:t>
            </a:r>
            <a:r>
              <a:rPr dirty="0" sz="1150" spc="-55">
                <a:latin typeface="Arial"/>
                <a:cs typeface="Arial"/>
              </a:rPr>
              <a:t>00,000 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25">
                <a:latin typeface="Arial"/>
                <a:cs typeface="Arial"/>
              </a:rPr>
              <a:t>Rs. </a:t>
            </a:r>
            <a:r>
              <a:rPr dirty="0" sz="1150" spc="-55">
                <a:latin typeface="Arial"/>
                <a:cs typeface="Arial"/>
              </a:rPr>
              <a:t>10 </a:t>
            </a:r>
            <a:r>
              <a:rPr dirty="0" sz="1150" spc="-65">
                <a:latin typeface="Arial"/>
                <a:cs typeface="Arial"/>
              </a:rPr>
              <a:t>each.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30">
                <a:latin typeface="Arial"/>
                <a:cs typeface="Arial"/>
              </a:rPr>
              <a:t>offers </a:t>
            </a:r>
            <a:r>
              <a:rPr dirty="0" sz="1150" spc="-55">
                <a:latin typeface="Arial"/>
                <a:cs typeface="Arial"/>
              </a:rPr>
              <a:t>20,000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25">
                <a:latin typeface="Arial"/>
                <a:cs typeface="Arial"/>
              </a:rPr>
              <a:t>Rs. </a:t>
            </a:r>
            <a:r>
              <a:rPr dirty="0" sz="1150" spc="-55">
                <a:latin typeface="Arial"/>
                <a:cs typeface="Arial"/>
              </a:rPr>
              <a:t>10 </a:t>
            </a:r>
            <a:r>
              <a:rPr dirty="0" sz="1150" spc="-75">
                <a:latin typeface="Arial"/>
                <a:cs typeface="Arial"/>
              </a:rPr>
              <a:t>each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general </a:t>
            </a:r>
            <a:r>
              <a:rPr dirty="0" sz="1150" spc="-35">
                <a:latin typeface="Arial"/>
                <a:cs typeface="Arial"/>
              </a:rPr>
              <a:t>public. </a:t>
            </a:r>
            <a:r>
              <a:rPr dirty="0" sz="1150" spc="-140">
                <a:latin typeface="Arial"/>
                <a:cs typeface="Arial"/>
              </a:rPr>
              <a:t>So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5">
                <a:latin typeface="Arial"/>
                <a:cs typeface="Arial"/>
              </a:rPr>
              <a:t>means  </a:t>
            </a:r>
            <a:r>
              <a:rPr dirty="0" sz="1150" spc="-60">
                <a:latin typeface="Arial"/>
                <a:cs typeface="Arial"/>
              </a:rPr>
              <a:t>un-issued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25">
                <a:latin typeface="Arial"/>
                <a:cs typeface="Arial"/>
              </a:rPr>
              <a:t>Rs. </a:t>
            </a:r>
            <a:r>
              <a:rPr dirty="0" sz="1150" spc="-45">
                <a:latin typeface="Arial"/>
                <a:cs typeface="Arial"/>
              </a:rPr>
              <a:t>8, </a:t>
            </a:r>
            <a:r>
              <a:rPr dirty="0" sz="1150" spc="-55">
                <a:latin typeface="Arial"/>
                <a:cs typeface="Arial"/>
              </a:rPr>
              <a:t>00,000 </a:t>
            </a:r>
            <a:r>
              <a:rPr dirty="0" sz="1150" spc="-50">
                <a:latin typeface="Arial"/>
                <a:cs typeface="Arial"/>
              </a:rPr>
              <a:t>consisting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80,000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25">
                <a:latin typeface="Arial"/>
                <a:cs typeface="Arial"/>
              </a:rPr>
              <a:t>Rs. </a:t>
            </a:r>
            <a:r>
              <a:rPr dirty="0" sz="1150" spc="-65">
                <a:latin typeface="Arial"/>
                <a:cs typeface="Arial"/>
              </a:rPr>
              <a:t>10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each.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4"/>
              <a:tabLst>
                <a:tab pos="469265" algn="l"/>
                <a:tab pos="469900" algn="l"/>
              </a:tabLst>
            </a:pPr>
            <a:r>
              <a:rPr dirty="0" sz="1150" spc="-110" b="1">
                <a:latin typeface="Arial"/>
                <a:cs typeface="Arial"/>
              </a:rPr>
              <a:t>Subscribed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4"/>
            </a:pPr>
            <a:endParaRPr sz="1200">
              <a:latin typeface="Arial"/>
              <a:cs typeface="Arial"/>
            </a:endParaRPr>
          </a:p>
          <a:p>
            <a:pPr marL="12700" marR="422275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That </a:t>
            </a:r>
            <a:r>
              <a:rPr dirty="0" sz="1150" spc="-15">
                <a:latin typeface="Arial"/>
                <a:cs typeface="Arial"/>
              </a:rPr>
              <a:t>part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issued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capital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which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applications</a:t>
            </a:r>
            <a:r>
              <a:rPr dirty="0" sz="1150" spc="-3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are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sent</a:t>
            </a:r>
            <a:r>
              <a:rPr dirty="0" sz="1150" spc="-50">
                <a:latin typeface="Arial"/>
                <a:cs typeface="Arial"/>
              </a:rPr>
              <a:t> by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public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which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are  </a:t>
            </a:r>
            <a:r>
              <a:rPr dirty="0" sz="1150" spc="-55">
                <a:latin typeface="Arial"/>
                <a:cs typeface="Arial"/>
              </a:rPr>
              <a:t>accepted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55">
                <a:latin typeface="Arial"/>
                <a:cs typeface="Arial"/>
              </a:rPr>
              <a:t>subscribed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capital.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62865" indent="456565">
              <a:lnSpc>
                <a:spcPct val="101699"/>
              </a:lnSpc>
            </a:pP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example, </a:t>
            </a:r>
            <a:r>
              <a:rPr dirty="0" sz="1150" spc="-5">
                <a:latin typeface="Arial"/>
                <a:cs typeface="Arial"/>
              </a:rPr>
              <a:t>out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20,000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 spc="-20">
                <a:latin typeface="Arial"/>
                <a:cs typeface="Arial"/>
              </a:rPr>
              <a:t>offered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general </a:t>
            </a:r>
            <a:r>
              <a:rPr dirty="0" sz="1150" spc="-35">
                <a:latin typeface="Arial"/>
                <a:cs typeface="Arial"/>
              </a:rPr>
              <a:t>public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takes 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30">
                <a:latin typeface="Arial"/>
                <a:cs typeface="Arial"/>
              </a:rPr>
              <a:t>only </a:t>
            </a:r>
            <a:r>
              <a:rPr dirty="0" sz="1150" spc="-55">
                <a:latin typeface="Arial"/>
                <a:cs typeface="Arial"/>
              </a:rPr>
              <a:t>10,000 </a:t>
            </a:r>
            <a:r>
              <a:rPr dirty="0" sz="1150" spc="-65">
                <a:latin typeface="Arial"/>
                <a:cs typeface="Arial"/>
              </a:rPr>
              <a:t>shares. </a:t>
            </a:r>
            <a:r>
              <a:rPr dirty="0" sz="1150" spc="-145">
                <a:latin typeface="Arial"/>
                <a:cs typeface="Arial"/>
              </a:rPr>
              <a:t>So </a:t>
            </a:r>
            <a:r>
              <a:rPr dirty="0" sz="1150" spc="-55">
                <a:latin typeface="Arial"/>
                <a:cs typeface="Arial"/>
              </a:rPr>
              <a:t>subscribed </a:t>
            </a:r>
            <a:r>
              <a:rPr dirty="0" sz="1150" spc="-35">
                <a:latin typeface="Arial"/>
                <a:cs typeface="Arial"/>
              </a:rPr>
              <a:t>capital,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125">
                <a:latin typeface="Arial"/>
                <a:cs typeface="Arial"/>
              </a:rPr>
              <a:t>Rs. </a:t>
            </a:r>
            <a:r>
              <a:rPr dirty="0" sz="1150" spc="-45">
                <a:latin typeface="Arial"/>
                <a:cs typeface="Arial"/>
              </a:rPr>
              <a:t>1,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00,000.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5"/>
              <a:tabLst>
                <a:tab pos="469265" algn="l"/>
                <a:tab pos="469900" algn="l"/>
              </a:tabLst>
            </a:pPr>
            <a:r>
              <a:rPr dirty="0" sz="1150" spc="-90" b="1">
                <a:latin typeface="Arial"/>
                <a:cs typeface="Arial"/>
              </a:rPr>
              <a:t>Called up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5"/>
            </a:pPr>
            <a:endParaRPr sz="1200">
              <a:latin typeface="Arial"/>
              <a:cs typeface="Arial"/>
            </a:endParaRPr>
          </a:p>
          <a:p>
            <a:pPr marL="12700" marR="7239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company may </a:t>
            </a:r>
            <a:r>
              <a:rPr dirty="0" sz="1150" spc="-30">
                <a:latin typeface="Arial"/>
                <a:cs typeface="Arial"/>
              </a:rPr>
              <a:t>require </a:t>
            </a:r>
            <a:r>
              <a:rPr dirty="0" sz="1150" spc="-40">
                <a:latin typeface="Arial"/>
                <a:cs typeface="Arial"/>
              </a:rPr>
              <a:t>payment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par </a:t>
            </a:r>
            <a:r>
              <a:rPr dirty="0" sz="1150" spc="-55">
                <a:latin typeface="Arial"/>
                <a:cs typeface="Arial"/>
              </a:rPr>
              <a:t>value </a:t>
            </a:r>
            <a:r>
              <a:rPr dirty="0" sz="1150" spc="-20">
                <a:latin typeface="Arial"/>
                <a:cs typeface="Arial"/>
              </a:rPr>
              <a:t>either in </a:t>
            </a:r>
            <a:r>
              <a:rPr dirty="0" sz="1150" spc="-35">
                <a:latin typeface="Arial"/>
                <a:cs typeface="Arial"/>
              </a:rPr>
              <a:t>installments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lump </a:t>
            </a:r>
            <a:r>
              <a:rPr dirty="0" sz="1150" spc="-60">
                <a:latin typeface="Arial"/>
                <a:cs typeface="Arial"/>
              </a:rPr>
              <a:t>sum.</a:t>
            </a:r>
            <a:r>
              <a:rPr dirty="0" sz="1150" spc="-10">
                <a:latin typeface="Arial"/>
                <a:cs typeface="Arial"/>
              </a:rPr>
              <a:t> </a:t>
            </a:r>
            <a:r>
              <a:rPr dirty="0" sz="1150" spc="-145">
                <a:latin typeface="Arial"/>
                <a:cs typeface="Arial"/>
              </a:rPr>
              <a:t>So  </a:t>
            </a:r>
            <a:r>
              <a:rPr dirty="0" sz="1150" spc="-30">
                <a:latin typeface="Arial"/>
                <a:cs typeface="Arial"/>
              </a:rPr>
              <a:t>amount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 spc="-55">
                <a:latin typeface="Arial"/>
                <a:cs typeface="Arial"/>
              </a:rPr>
              <a:t>demanded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known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30">
                <a:latin typeface="Arial"/>
                <a:cs typeface="Arial"/>
              </a:rPr>
              <a:t>“called </a:t>
            </a:r>
            <a:r>
              <a:rPr dirty="0" sz="1150" spc="-40">
                <a:latin typeface="Arial"/>
                <a:cs typeface="Arial"/>
              </a:rPr>
              <a:t>up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capital”.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5080" indent="456565">
              <a:lnSpc>
                <a:spcPct val="101699"/>
              </a:lnSpc>
              <a:spcBef>
                <a:spcPts val="5"/>
              </a:spcBef>
            </a:pP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example, </a:t>
            </a:r>
            <a:r>
              <a:rPr dirty="0" sz="1150" spc="-5">
                <a:latin typeface="Arial"/>
                <a:cs typeface="Arial"/>
              </a:rPr>
              <a:t>out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10,000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 spc="-40">
                <a:latin typeface="Arial"/>
                <a:cs typeface="Arial"/>
              </a:rPr>
              <a:t>taken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5">
                <a:latin typeface="Arial"/>
                <a:cs typeface="Arial"/>
              </a:rPr>
              <a:t>public,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40">
                <a:latin typeface="Arial"/>
                <a:cs typeface="Arial"/>
              </a:rPr>
              <a:t>requires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payment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6  </a:t>
            </a:r>
            <a:r>
              <a:rPr dirty="0" sz="1150" spc="-30">
                <a:latin typeface="Arial"/>
                <a:cs typeface="Arial"/>
              </a:rPr>
              <a:t>per </a:t>
            </a:r>
            <a:r>
              <a:rPr dirty="0" sz="1150" spc="-60">
                <a:latin typeface="Arial"/>
                <a:cs typeface="Arial"/>
              </a:rPr>
              <a:t>share. </a:t>
            </a:r>
            <a:r>
              <a:rPr dirty="0" sz="1150" spc="-140">
                <a:latin typeface="Arial"/>
                <a:cs typeface="Arial"/>
              </a:rPr>
              <a:t>So </a:t>
            </a:r>
            <a:r>
              <a:rPr dirty="0" sz="1150" spc="-30">
                <a:latin typeface="Arial"/>
                <a:cs typeface="Arial"/>
              </a:rPr>
              <a:t>“called </a:t>
            </a:r>
            <a:r>
              <a:rPr dirty="0" sz="1150" spc="5">
                <a:latin typeface="Arial"/>
                <a:cs typeface="Arial"/>
              </a:rPr>
              <a:t>up”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company is </a:t>
            </a:r>
            <a:r>
              <a:rPr dirty="0" sz="1150" spc="-125">
                <a:latin typeface="Arial"/>
                <a:cs typeface="Arial"/>
              </a:rPr>
              <a:t>Rs. </a:t>
            </a:r>
            <a:r>
              <a:rPr dirty="0" sz="1150" spc="-55">
                <a:latin typeface="Arial"/>
                <a:cs typeface="Arial"/>
              </a:rPr>
              <a:t>60,000 (10,000 </a:t>
            </a:r>
            <a:r>
              <a:rPr dirty="0" sz="1150" spc="-65">
                <a:latin typeface="Arial"/>
                <a:cs typeface="Arial"/>
              </a:rPr>
              <a:t>share </a:t>
            </a:r>
            <a:r>
              <a:rPr dirty="0" sz="1150" spc="-140">
                <a:latin typeface="Arial"/>
                <a:cs typeface="Arial"/>
              </a:rPr>
              <a:t>@ </a:t>
            </a:r>
            <a:r>
              <a:rPr dirty="0" sz="1150" spc="-125">
                <a:latin typeface="Arial"/>
                <a:cs typeface="Arial"/>
              </a:rPr>
              <a:t>Rs.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6).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6"/>
              <a:tabLst>
                <a:tab pos="469265" algn="l"/>
                <a:tab pos="469900" algn="l"/>
              </a:tabLst>
            </a:pPr>
            <a:r>
              <a:rPr dirty="0" sz="1150" spc="-85" b="1">
                <a:latin typeface="Arial"/>
                <a:cs typeface="Arial"/>
              </a:rPr>
              <a:t>Un-Called up</a:t>
            </a:r>
            <a:r>
              <a:rPr dirty="0" sz="1150" spc="-40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6"/>
            </a:pPr>
            <a:endParaRPr sz="1200">
              <a:latin typeface="Arial"/>
              <a:cs typeface="Arial"/>
            </a:endParaRPr>
          </a:p>
          <a:p>
            <a:pPr marL="12700" marR="7239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company may </a:t>
            </a:r>
            <a:r>
              <a:rPr dirty="0" sz="1150" spc="-30">
                <a:latin typeface="Arial"/>
                <a:cs typeface="Arial"/>
              </a:rPr>
              <a:t>require </a:t>
            </a:r>
            <a:r>
              <a:rPr dirty="0" sz="1150" spc="-40">
                <a:latin typeface="Arial"/>
                <a:cs typeface="Arial"/>
              </a:rPr>
              <a:t>payment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par </a:t>
            </a:r>
            <a:r>
              <a:rPr dirty="0" sz="1150" spc="-55">
                <a:latin typeface="Arial"/>
                <a:cs typeface="Arial"/>
              </a:rPr>
              <a:t>value </a:t>
            </a:r>
            <a:r>
              <a:rPr dirty="0" sz="1150" spc="-20">
                <a:latin typeface="Arial"/>
                <a:cs typeface="Arial"/>
              </a:rPr>
              <a:t>either in </a:t>
            </a:r>
            <a:r>
              <a:rPr dirty="0" sz="1150" spc="-35">
                <a:latin typeface="Arial"/>
                <a:cs typeface="Arial"/>
              </a:rPr>
              <a:t>installments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lump </a:t>
            </a:r>
            <a:r>
              <a:rPr dirty="0" sz="1150" spc="-60">
                <a:latin typeface="Arial"/>
                <a:cs typeface="Arial"/>
              </a:rPr>
              <a:t>sum.</a:t>
            </a:r>
            <a:r>
              <a:rPr dirty="0" sz="1150" spc="-10">
                <a:latin typeface="Arial"/>
                <a:cs typeface="Arial"/>
              </a:rPr>
              <a:t> </a:t>
            </a:r>
            <a:r>
              <a:rPr dirty="0" sz="1150" spc="-145">
                <a:latin typeface="Arial"/>
                <a:cs typeface="Arial"/>
              </a:rPr>
              <a:t>So  </a:t>
            </a:r>
            <a:r>
              <a:rPr dirty="0" sz="1150" spc="-30">
                <a:latin typeface="Arial"/>
                <a:cs typeface="Arial"/>
              </a:rPr>
              <a:t>amount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55">
                <a:latin typeface="Arial"/>
                <a:cs typeface="Arial"/>
              </a:rPr>
              <a:t>demanded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known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30">
                <a:latin typeface="Arial"/>
                <a:cs typeface="Arial"/>
              </a:rPr>
              <a:t>“un-called </a:t>
            </a:r>
            <a:r>
              <a:rPr dirty="0" sz="1150" spc="-40">
                <a:latin typeface="Arial"/>
                <a:cs typeface="Arial"/>
              </a:rPr>
              <a:t>up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capital”.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35560" indent="456565">
              <a:lnSpc>
                <a:spcPct val="101699"/>
              </a:lnSpc>
            </a:pP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example, </a:t>
            </a:r>
            <a:r>
              <a:rPr dirty="0" sz="1150" spc="-5">
                <a:latin typeface="Arial"/>
                <a:cs typeface="Arial"/>
              </a:rPr>
              <a:t>out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10,000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 spc="-40">
                <a:latin typeface="Arial"/>
                <a:cs typeface="Arial"/>
              </a:rPr>
              <a:t>taken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5">
                <a:latin typeface="Arial"/>
                <a:cs typeface="Arial"/>
              </a:rPr>
              <a:t>public,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40">
                <a:latin typeface="Arial"/>
                <a:cs typeface="Arial"/>
              </a:rPr>
              <a:t>requires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payment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6 </a:t>
            </a:r>
            <a:r>
              <a:rPr dirty="0" sz="1150" spc="-30">
                <a:latin typeface="Arial"/>
                <a:cs typeface="Arial"/>
              </a:rPr>
              <a:t>per </a:t>
            </a:r>
            <a:r>
              <a:rPr dirty="0" sz="1150" spc="-60">
                <a:latin typeface="Arial"/>
                <a:cs typeface="Arial"/>
              </a:rPr>
              <a:t>share. </a:t>
            </a:r>
            <a:r>
              <a:rPr dirty="0" sz="1150" spc="-140">
                <a:latin typeface="Arial"/>
                <a:cs typeface="Arial"/>
              </a:rPr>
              <a:t>So </a:t>
            </a:r>
            <a:r>
              <a:rPr dirty="0" sz="1150" spc="-30">
                <a:latin typeface="Arial"/>
                <a:cs typeface="Arial"/>
              </a:rPr>
              <a:t>“un-called </a:t>
            </a:r>
            <a:r>
              <a:rPr dirty="0" sz="1150" spc="5">
                <a:latin typeface="Arial"/>
                <a:cs typeface="Arial"/>
              </a:rPr>
              <a:t>up”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25">
                <a:latin typeface="Arial"/>
                <a:cs typeface="Arial"/>
              </a:rPr>
              <a:t>Rs. </a:t>
            </a:r>
            <a:r>
              <a:rPr dirty="0" sz="1150" spc="-55">
                <a:latin typeface="Arial"/>
                <a:cs typeface="Arial"/>
              </a:rPr>
              <a:t>40,000 (10,000 </a:t>
            </a:r>
            <a:r>
              <a:rPr dirty="0" sz="1150" spc="-75">
                <a:latin typeface="Arial"/>
                <a:cs typeface="Arial"/>
              </a:rPr>
              <a:t>shares </a:t>
            </a:r>
            <a:r>
              <a:rPr dirty="0" sz="1150" spc="-140">
                <a:latin typeface="Arial"/>
                <a:cs typeface="Arial"/>
              </a:rPr>
              <a:t>@ </a:t>
            </a:r>
            <a:r>
              <a:rPr dirty="0" sz="1150" spc="-125">
                <a:latin typeface="Arial"/>
                <a:cs typeface="Arial"/>
              </a:rPr>
              <a:t>Rs.  </a:t>
            </a:r>
            <a:r>
              <a:rPr dirty="0" sz="1150" spc="-45">
                <a:latin typeface="Arial"/>
                <a:cs typeface="Arial"/>
              </a:rPr>
              <a:t>4).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7"/>
              <a:tabLst>
                <a:tab pos="469265" algn="l"/>
                <a:tab pos="469900" algn="l"/>
              </a:tabLst>
            </a:pPr>
            <a:r>
              <a:rPr dirty="0" sz="1150" spc="-90" b="1">
                <a:latin typeface="Arial"/>
                <a:cs typeface="Arial"/>
              </a:rPr>
              <a:t>Paid </a:t>
            </a:r>
            <a:r>
              <a:rPr dirty="0" sz="1150" spc="-85" b="1">
                <a:latin typeface="Arial"/>
                <a:cs typeface="Arial"/>
              </a:rPr>
              <a:t>up</a:t>
            </a:r>
            <a:r>
              <a:rPr dirty="0" sz="1150" spc="-40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7"/>
            </a:pPr>
            <a:endParaRPr sz="1200">
              <a:latin typeface="Arial"/>
              <a:cs typeface="Arial"/>
            </a:endParaRPr>
          </a:p>
          <a:p>
            <a:pPr marL="12700" marR="72390">
              <a:lnSpc>
                <a:spcPct val="101699"/>
              </a:lnSpc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15">
                <a:latin typeface="Arial"/>
                <a:cs typeface="Arial"/>
              </a:rPr>
              <a:t>part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called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35">
                <a:latin typeface="Arial"/>
                <a:cs typeface="Arial"/>
              </a:rPr>
              <a:t>capital which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actually </a:t>
            </a:r>
            <a:r>
              <a:rPr dirty="0" sz="1150" spc="-50">
                <a:latin typeface="Arial"/>
                <a:cs typeface="Arial"/>
              </a:rPr>
              <a:t>received 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company. </a:t>
            </a: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70">
                <a:latin typeface="Arial"/>
                <a:cs typeface="Arial"/>
              </a:rPr>
              <a:t>some  </a:t>
            </a:r>
            <a:r>
              <a:rPr dirty="0" sz="1150" spc="-50">
                <a:latin typeface="Arial"/>
                <a:cs typeface="Arial"/>
              </a:rPr>
              <a:t>shareholders </a:t>
            </a:r>
            <a:r>
              <a:rPr dirty="0" sz="1150" spc="-40">
                <a:latin typeface="Arial"/>
                <a:cs typeface="Arial"/>
              </a:rPr>
              <a:t>could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65">
                <a:latin typeface="Arial"/>
                <a:cs typeface="Arial"/>
              </a:rPr>
              <a:t>pay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money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called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35">
                <a:latin typeface="Arial"/>
                <a:cs typeface="Arial"/>
              </a:rPr>
              <a:t>capital,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45">
                <a:latin typeface="Arial"/>
                <a:cs typeface="Arial"/>
              </a:rPr>
              <a:t>money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called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35">
                <a:latin typeface="Arial"/>
                <a:cs typeface="Arial"/>
              </a:rPr>
              <a:t>“calls 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arrears”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“calls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unpaid”.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8"/>
              <a:tabLst>
                <a:tab pos="469265" algn="l"/>
                <a:tab pos="469900" algn="l"/>
              </a:tabLst>
            </a:pPr>
            <a:r>
              <a:rPr dirty="0" sz="1150" spc="-105" b="1">
                <a:latin typeface="Arial"/>
                <a:cs typeface="Arial"/>
              </a:rPr>
              <a:t>Reserve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698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capital which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reserved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unexpected </a:t>
            </a:r>
            <a:r>
              <a:rPr dirty="0" sz="1150" spc="-55">
                <a:latin typeface="Arial"/>
                <a:cs typeface="Arial"/>
              </a:rPr>
              <a:t>events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10">
                <a:latin typeface="Arial"/>
                <a:cs typeface="Arial"/>
              </a:rPr>
              <a:t>future </a:t>
            </a:r>
            <a:r>
              <a:rPr dirty="0" sz="1150" spc="-70">
                <a:latin typeface="Arial"/>
                <a:cs typeface="Arial"/>
              </a:rPr>
              <a:t>needs is </a:t>
            </a:r>
            <a:r>
              <a:rPr dirty="0" sz="1150" spc="-50">
                <a:latin typeface="Arial"/>
                <a:cs typeface="Arial"/>
              </a:rPr>
              <a:t>called </a:t>
            </a:r>
            <a:r>
              <a:rPr dirty="0" sz="1150" spc="-55">
                <a:latin typeface="Arial"/>
                <a:cs typeface="Arial"/>
              </a:rPr>
              <a:t>reserve  </a:t>
            </a:r>
            <a:r>
              <a:rPr dirty="0" sz="1150" spc="-35">
                <a:latin typeface="Arial"/>
                <a:cs typeface="Arial"/>
              </a:rPr>
              <a:t>capital. </a:t>
            </a:r>
            <a:r>
              <a:rPr dirty="0" sz="1150" spc="-75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decides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call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75">
                <a:latin typeface="Arial"/>
                <a:cs typeface="Arial"/>
              </a:rPr>
              <a:t>some </a:t>
            </a:r>
            <a:r>
              <a:rPr dirty="0" sz="1150" spc="-15">
                <a:latin typeface="Arial"/>
                <a:cs typeface="Arial"/>
              </a:rPr>
              <a:t>part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uncalled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5">
                <a:latin typeface="Arial"/>
                <a:cs typeface="Arial"/>
              </a:rPr>
              <a:t>until </a:t>
            </a:r>
            <a:r>
              <a:rPr dirty="0" sz="1150" spc="-35">
                <a:latin typeface="Arial"/>
                <a:cs typeface="Arial"/>
              </a:rPr>
              <a:t>winding </a:t>
            </a:r>
            <a:r>
              <a:rPr dirty="0" sz="1150" spc="-40">
                <a:latin typeface="Arial"/>
                <a:cs typeface="Arial"/>
              </a:rPr>
              <a:t>up. </a:t>
            </a:r>
            <a:r>
              <a:rPr dirty="0" sz="1150" spc="15">
                <a:latin typeface="Arial"/>
                <a:cs typeface="Arial"/>
              </a:rPr>
              <a:t>It 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normally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kept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payment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debts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at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time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winding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up.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71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3220720" cy="55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1150" spc="-35" b="1">
                <a:latin typeface="Arial"/>
                <a:cs typeface="Arial"/>
              </a:rPr>
              <a:t>9.</a:t>
            </a:r>
            <a:r>
              <a:rPr dirty="0" sz="1150" spc="-35">
                <a:latin typeface="Times New Roman"/>
                <a:cs typeface="Times New Roman"/>
              </a:rPr>
              <a:t>	</a:t>
            </a:r>
            <a:r>
              <a:rPr dirty="0" sz="1150" spc="-80" b="1">
                <a:latin typeface="Arial"/>
                <a:cs typeface="Arial"/>
              </a:rPr>
              <a:t>Redeemable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25">
                <a:latin typeface="Arial"/>
                <a:cs typeface="Arial"/>
              </a:rPr>
              <a:t>obtain </a:t>
            </a:r>
            <a:r>
              <a:rPr dirty="0" sz="1150" spc="-50">
                <a:latin typeface="Arial"/>
                <a:cs typeface="Arial"/>
              </a:rPr>
              <a:t>redeemable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75">
                <a:latin typeface="Arial"/>
                <a:cs typeface="Arial"/>
              </a:rPr>
              <a:t>issue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of: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72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87488" y="1605791"/>
            <a:ext cx="190500" cy="55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5">
                <a:latin typeface="Arial"/>
                <a:cs typeface="Arial"/>
              </a:rPr>
              <a:t>(a)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40">
                <a:latin typeface="Arial"/>
                <a:cs typeface="Arial"/>
              </a:rPr>
              <a:t>(</a:t>
            </a:r>
            <a:r>
              <a:rPr dirty="0" sz="1150" spc="-45">
                <a:latin typeface="Arial"/>
                <a:cs typeface="Arial"/>
              </a:rPr>
              <a:t>b</a:t>
            </a:r>
            <a:r>
              <a:rPr dirty="0" sz="1150" spc="-35">
                <a:latin typeface="Arial"/>
                <a:cs typeface="Arial"/>
              </a:rPr>
              <a:t>)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55">
                <a:latin typeface="Arial"/>
                <a:cs typeface="Arial"/>
              </a:rPr>
              <a:t>(c)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4556" y="1605791"/>
            <a:ext cx="1831975" cy="558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30">
                <a:latin typeface="Arial"/>
                <a:cs typeface="Arial"/>
              </a:rPr>
              <a:t>Participation </a:t>
            </a:r>
            <a:r>
              <a:rPr dirty="0" sz="1150" spc="-60">
                <a:latin typeface="Arial"/>
                <a:cs typeface="Arial"/>
              </a:rPr>
              <a:t>Term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Certificates  Musharika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Certificate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60">
                <a:latin typeface="Arial"/>
                <a:cs typeface="Arial"/>
              </a:rPr>
              <a:t>Term </a:t>
            </a:r>
            <a:r>
              <a:rPr dirty="0" sz="1150" spc="-75">
                <a:latin typeface="Arial"/>
                <a:cs typeface="Arial"/>
              </a:rPr>
              <a:t>Finance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Certificate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08226" y="1005335"/>
            <a:ext cx="3833495" cy="873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8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220" b="1">
                <a:latin typeface="Arial"/>
                <a:cs typeface="Arial"/>
              </a:rPr>
              <a:t>COOPERATIVE</a:t>
            </a:r>
            <a:r>
              <a:rPr dirty="0" sz="1750" spc="-100" b="1">
                <a:latin typeface="Arial"/>
                <a:cs typeface="Arial"/>
              </a:rPr>
              <a:t> </a:t>
            </a:r>
            <a:r>
              <a:rPr dirty="0" sz="1750" spc="-240" b="1">
                <a:latin typeface="Arial"/>
                <a:cs typeface="Arial"/>
              </a:rPr>
              <a:t>SOCIETY</a:t>
            </a:r>
            <a:endParaRPr sz="17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0266" y="2215391"/>
            <a:ext cx="5513070" cy="2875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80" b="1">
                <a:latin typeface="Arial"/>
                <a:cs typeface="Arial"/>
              </a:rPr>
              <a:t>Cooperative </a:t>
            </a:r>
            <a:r>
              <a:rPr dirty="0" sz="1150" spc="-95" b="1">
                <a:latin typeface="Arial"/>
                <a:cs typeface="Arial"/>
              </a:rPr>
              <a:t>Society </a:t>
            </a:r>
            <a:r>
              <a:rPr dirty="0" sz="1150" spc="-70" b="1">
                <a:latin typeface="Arial"/>
                <a:cs typeface="Arial"/>
              </a:rPr>
              <a:t>its </a:t>
            </a:r>
            <a:r>
              <a:rPr dirty="0" sz="1150" spc="-90" b="1">
                <a:latin typeface="Arial"/>
                <a:cs typeface="Arial"/>
              </a:rPr>
              <a:t>advantages </a:t>
            </a:r>
            <a:r>
              <a:rPr dirty="0" sz="1150" spc="-85" b="1">
                <a:latin typeface="Arial"/>
                <a:cs typeface="Arial"/>
              </a:rPr>
              <a:t>and</a:t>
            </a:r>
            <a:r>
              <a:rPr dirty="0" sz="1150" spc="25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disadvantages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45" b="1">
                <a:latin typeface="Arial"/>
                <a:cs typeface="Arial"/>
              </a:rPr>
              <a:t>COOPERATIVE</a:t>
            </a:r>
            <a:r>
              <a:rPr dirty="0" sz="1150" spc="-135" b="1">
                <a:latin typeface="Arial"/>
                <a:cs typeface="Arial"/>
              </a:rPr>
              <a:t> </a:t>
            </a:r>
            <a:r>
              <a:rPr dirty="0" sz="1150" spc="-160" b="1">
                <a:latin typeface="Arial"/>
                <a:cs typeface="Arial"/>
              </a:rPr>
              <a:t>SOCIETY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  <a:spcBef>
                <a:spcPts val="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5">
                <a:latin typeface="Arial"/>
                <a:cs typeface="Arial"/>
              </a:rPr>
              <a:t>formed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0">
                <a:latin typeface="Arial"/>
                <a:cs typeface="Arial"/>
              </a:rPr>
              <a:t>limited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0">
                <a:latin typeface="Arial"/>
                <a:cs typeface="Arial"/>
              </a:rPr>
              <a:t>self </a:t>
            </a:r>
            <a:r>
              <a:rPr dirty="0" sz="1150" spc="-35">
                <a:latin typeface="Arial"/>
                <a:cs typeface="Arial"/>
              </a:rPr>
              <a:t>help </a:t>
            </a:r>
            <a:r>
              <a:rPr dirty="0" sz="1150" spc="-25">
                <a:latin typeface="Arial"/>
                <a:cs typeface="Arial"/>
              </a:rPr>
              <a:t>through </a:t>
            </a:r>
            <a:r>
              <a:rPr dirty="0" sz="1150" spc="-20">
                <a:latin typeface="Arial"/>
                <a:cs typeface="Arial"/>
              </a:rPr>
              <a:t>mutual  </a:t>
            </a:r>
            <a:r>
              <a:rPr dirty="0" sz="1150" spc="-35">
                <a:latin typeface="Arial"/>
                <a:cs typeface="Arial"/>
              </a:rPr>
              <a:t>help.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set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protect </a:t>
            </a:r>
            <a:r>
              <a:rPr dirty="0" sz="1150" spc="-45">
                <a:latin typeface="Arial"/>
                <a:cs typeface="Arial"/>
              </a:rPr>
              <a:t>economically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poor </a:t>
            </a:r>
            <a:r>
              <a:rPr dirty="0" sz="1150" spc="-55">
                <a:latin typeface="Arial"/>
                <a:cs typeface="Arial"/>
              </a:rPr>
              <a:t>sections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society.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set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35">
                <a:latin typeface="Arial"/>
                <a:cs typeface="Arial"/>
              </a:rPr>
              <a:t>cooperation,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5">
                <a:latin typeface="Arial"/>
                <a:cs typeface="Arial"/>
              </a:rPr>
              <a:t>competition.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5">
                <a:latin typeface="Arial"/>
                <a:cs typeface="Arial"/>
              </a:rPr>
              <a:t>motto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self </a:t>
            </a:r>
            <a:r>
              <a:rPr dirty="0" sz="1150" spc="-40">
                <a:latin typeface="Arial"/>
                <a:cs typeface="Arial"/>
              </a:rPr>
              <a:t>help, </a:t>
            </a:r>
            <a:r>
              <a:rPr dirty="0" sz="1150">
                <a:latin typeface="Arial"/>
                <a:cs typeface="Arial"/>
              </a:rPr>
              <a:t>without </a:t>
            </a:r>
            <a:r>
              <a:rPr dirty="0" sz="1150" spc="-60">
                <a:latin typeface="Arial"/>
                <a:cs typeface="Arial"/>
              </a:rPr>
              <a:t>dependence 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70">
                <a:latin typeface="Arial"/>
                <a:cs typeface="Arial"/>
              </a:rPr>
              <a:t>business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units.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95" b="1">
                <a:latin typeface="Arial"/>
                <a:cs typeface="Arial"/>
              </a:rPr>
              <a:t>DEFINITION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dirty="0" sz="1150" spc="-45">
                <a:latin typeface="Arial"/>
                <a:cs typeface="Arial"/>
              </a:rPr>
              <a:t>1.</a:t>
            </a:r>
            <a:r>
              <a:rPr dirty="0" sz="1150" spc="-45">
                <a:latin typeface="Times New Roman"/>
                <a:cs typeface="Times New Roman"/>
              </a:rPr>
              <a:t>	</a:t>
            </a:r>
            <a:r>
              <a:rPr dirty="0" sz="1150" spc="-110" b="1">
                <a:latin typeface="Arial"/>
                <a:cs typeface="Arial"/>
              </a:rPr>
              <a:t>According </a:t>
            </a:r>
            <a:r>
              <a:rPr dirty="0" sz="1150" spc="-40" b="1">
                <a:latin typeface="Arial"/>
                <a:cs typeface="Arial"/>
              </a:rPr>
              <a:t>to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Herrik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469900" marR="5080">
              <a:lnSpc>
                <a:spcPct val="101699"/>
              </a:lnSpc>
            </a:pPr>
            <a:r>
              <a:rPr dirty="0" sz="1150" spc="-40" i="1">
                <a:latin typeface="Arial"/>
                <a:cs typeface="Arial"/>
              </a:rPr>
              <a:t>“Cooperation </a:t>
            </a:r>
            <a:r>
              <a:rPr dirty="0" sz="1150" spc="-65" i="1">
                <a:latin typeface="Arial"/>
                <a:cs typeface="Arial"/>
              </a:rPr>
              <a:t>is </a:t>
            </a:r>
            <a:r>
              <a:rPr dirty="0" sz="1150" spc="-50" i="1">
                <a:latin typeface="Arial"/>
                <a:cs typeface="Arial"/>
              </a:rPr>
              <a:t>an </a:t>
            </a:r>
            <a:r>
              <a:rPr dirty="0" sz="1150" spc="-35" i="1">
                <a:latin typeface="Arial"/>
                <a:cs typeface="Arial"/>
              </a:rPr>
              <a:t>action </a:t>
            </a:r>
            <a:r>
              <a:rPr dirty="0" sz="1150" spc="-15" i="1">
                <a:latin typeface="Arial"/>
                <a:cs typeface="Arial"/>
              </a:rPr>
              <a:t>of </a:t>
            </a:r>
            <a:r>
              <a:rPr dirty="0" sz="1150" spc="-75" i="1">
                <a:latin typeface="Arial"/>
                <a:cs typeface="Arial"/>
              </a:rPr>
              <a:t>persons </a:t>
            </a:r>
            <a:r>
              <a:rPr dirty="0" sz="1150" spc="-25" i="1">
                <a:latin typeface="Arial"/>
                <a:cs typeface="Arial"/>
              </a:rPr>
              <a:t>voluntarily </a:t>
            </a:r>
            <a:r>
              <a:rPr dirty="0" sz="1150" spc="-30" i="1">
                <a:latin typeface="Arial"/>
                <a:cs typeface="Arial"/>
              </a:rPr>
              <a:t>united </a:t>
            </a:r>
            <a:r>
              <a:rPr dirty="0" sz="1150" spc="-10" i="1">
                <a:latin typeface="Arial"/>
                <a:cs typeface="Arial"/>
              </a:rPr>
              <a:t>for </a:t>
            </a:r>
            <a:r>
              <a:rPr dirty="0" sz="1150" spc="-25" i="1">
                <a:latin typeface="Arial"/>
                <a:cs typeface="Arial"/>
              </a:rPr>
              <a:t>utilizing </a:t>
            </a:r>
            <a:r>
              <a:rPr dirty="0" sz="1150" spc="-40" i="1">
                <a:latin typeface="Arial"/>
                <a:cs typeface="Arial"/>
              </a:rPr>
              <a:t>reciprocally </a:t>
            </a:r>
            <a:r>
              <a:rPr dirty="0" sz="1150" spc="-15" i="1">
                <a:latin typeface="Arial"/>
                <a:cs typeface="Arial"/>
              </a:rPr>
              <a:t>their  </a:t>
            </a:r>
            <a:r>
              <a:rPr dirty="0" sz="1150" spc="-40" i="1">
                <a:latin typeface="Arial"/>
                <a:cs typeface="Arial"/>
              </a:rPr>
              <a:t>own </a:t>
            </a:r>
            <a:r>
              <a:rPr dirty="0" sz="1150" spc="-55" i="1">
                <a:latin typeface="Arial"/>
                <a:cs typeface="Arial"/>
              </a:rPr>
              <a:t>forces, </a:t>
            </a:r>
            <a:r>
              <a:rPr dirty="0" sz="1150" spc="-70" i="1">
                <a:latin typeface="Arial"/>
                <a:cs typeface="Arial"/>
              </a:rPr>
              <a:t>resources </a:t>
            </a:r>
            <a:r>
              <a:rPr dirty="0" sz="1150" spc="-25" i="1">
                <a:latin typeface="Arial"/>
                <a:cs typeface="Arial"/>
              </a:rPr>
              <a:t>or both </a:t>
            </a:r>
            <a:r>
              <a:rPr dirty="0" sz="1150" spc="-50" i="1">
                <a:latin typeface="Arial"/>
                <a:cs typeface="Arial"/>
              </a:rPr>
              <a:t>under </a:t>
            </a:r>
            <a:r>
              <a:rPr dirty="0" sz="1150" spc="-25" i="1">
                <a:latin typeface="Arial"/>
                <a:cs typeface="Arial"/>
              </a:rPr>
              <a:t>mutual </a:t>
            </a:r>
            <a:r>
              <a:rPr dirty="0" sz="1150" spc="-50" i="1">
                <a:latin typeface="Arial"/>
                <a:cs typeface="Arial"/>
              </a:rPr>
              <a:t>management </a:t>
            </a:r>
            <a:r>
              <a:rPr dirty="0" sz="1150" spc="-10" i="1">
                <a:latin typeface="Arial"/>
                <a:cs typeface="Arial"/>
              </a:rPr>
              <a:t>for </a:t>
            </a:r>
            <a:r>
              <a:rPr dirty="0" sz="1150" spc="-15" i="1">
                <a:latin typeface="Arial"/>
                <a:cs typeface="Arial"/>
              </a:rPr>
              <a:t>their </a:t>
            </a:r>
            <a:r>
              <a:rPr dirty="0" sz="1150" spc="-60" i="1">
                <a:latin typeface="Arial"/>
                <a:cs typeface="Arial"/>
              </a:rPr>
              <a:t>common </a:t>
            </a:r>
            <a:r>
              <a:rPr dirty="0" sz="1150" spc="-5" i="1">
                <a:latin typeface="Arial"/>
                <a:cs typeface="Arial"/>
              </a:rPr>
              <a:t>profit </a:t>
            </a:r>
            <a:r>
              <a:rPr dirty="0" sz="1150" spc="-25" i="1">
                <a:latin typeface="Arial"/>
                <a:cs typeface="Arial"/>
              </a:rPr>
              <a:t>or  </a:t>
            </a:r>
            <a:r>
              <a:rPr dirty="0" sz="1150" spc="-45" i="1">
                <a:latin typeface="Arial"/>
                <a:cs typeface="Arial"/>
              </a:rPr>
              <a:t>loss.”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0264" y="5246625"/>
            <a:ext cx="13716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5">
                <a:latin typeface="Arial"/>
                <a:cs typeface="Arial"/>
              </a:rPr>
              <a:t>2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87472" y="5246625"/>
            <a:ext cx="154114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10" b="1">
                <a:latin typeface="Arial"/>
                <a:cs typeface="Arial"/>
              </a:rPr>
              <a:t>According </a:t>
            </a:r>
            <a:r>
              <a:rPr dirty="0" sz="1150" spc="-40" b="1">
                <a:latin typeface="Arial"/>
                <a:cs typeface="Arial"/>
              </a:rPr>
              <a:t>to </a:t>
            </a:r>
            <a:r>
              <a:rPr dirty="0" sz="1150" spc="-10" b="1">
                <a:latin typeface="Arial"/>
                <a:cs typeface="Arial"/>
              </a:rPr>
              <a:t>Mr.</a:t>
            </a:r>
            <a:r>
              <a:rPr dirty="0" sz="1150" spc="-45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Plunket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6381" y="5603241"/>
            <a:ext cx="3948429" cy="379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3530">
              <a:lnSpc>
                <a:spcPct val="100000"/>
              </a:lnSpc>
              <a:spcBef>
                <a:spcPts val="100"/>
              </a:spcBef>
            </a:pPr>
            <a:r>
              <a:rPr dirty="0" sz="1150" spc="-50" i="1">
                <a:latin typeface="Arial"/>
                <a:cs typeface="Arial"/>
              </a:rPr>
              <a:t>“The </a:t>
            </a:r>
            <a:r>
              <a:rPr dirty="0" sz="1150" spc="-40" i="1">
                <a:latin typeface="Arial"/>
                <a:cs typeface="Arial"/>
              </a:rPr>
              <a:t>cooperation </a:t>
            </a:r>
            <a:r>
              <a:rPr dirty="0" sz="1150" spc="-65" i="1">
                <a:latin typeface="Arial"/>
                <a:cs typeface="Arial"/>
              </a:rPr>
              <a:t>is </a:t>
            </a:r>
            <a:r>
              <a:rPr dirty="0" sz="1150" spc="-50" i="1">
                <a:latin typeface="Arial"/>
                <a:cs typeface="Arial"/>
              </a:rPr>
              <a:t>self help </a:t>
            </a:r>
            <a:r>
              <a:rPr dirty="0" sz="1150" spc="-65" i="1">
                <a:latin typeface="Arial"/>
                <a:cs typeface="Arial"/>
              </a:rPr>
              <a:t>made </a:t>
            </a:r>
            <a:r>
              <a:rPr dirty="0" sz="1150" spc="-35" i="1">
                <a:latin typeface="Arial"/>
                <a:cs typeface="Arial"/>
              </a:rPr>
              <a:t>effective </a:t>
            </a:r>
            <a:r>
              <a:rPr dirty="0" sz="1150" spc="-60" i="1">
                <a:latin typeface="Arial"/>
                <a:cs typeface="Arial"/>
              </a:rPr>
              <a:t>by</a:t>
            </a:r>
            <a:r>
              <a:rPr dirty="0" sz="1150" spc="-160" i="1">
                <a:latin typeface="Arial"/>
                <a:cs typeface="Arial"/>
              </a:rPr>
              <a:t> </a:t>
            </a:r>
            <a:r>
              <a:rPr dirty="0" sz="1150" spc="-25" i="1">
                <a:latin typeface="Arial"/>
                <a:cs typeface="Arial"/>
              </a:rPr>
              <a:t>organization.”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85" b="1">
                <a:latin typeface="Arial"/>
                <a:cs typeface="Arial"/>
              </a:rPr>
              <a:t>Diagram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43300" y="6342888"/>
            <a:ext cx="1485900" cy="3429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150495">
              <a:lnSpc>
                <a:spcPct val="100000"/>
              </a:lnSpc>
              <a:spcBef>
                <a:spcPts val="325"/>
              </a:spcBef>
            </a:pPr>
            <a:r>
              <a:rPr dirty="0" sz="1150" spc="-50">
                <a:latin typeface="Arial"/>
                <a:cs typeface="Arial"/>
              </a:rPr>
              <a:t>Cooperative</a:t>
            </a:r>
            <a:r>
              <a:rPr dirty="0" sz="1150" spc="-65">
                <a:latin typeface="Arial"/>
                <a:cs typeface="Arial"/>
              </a:rPr>
              <a:t> Society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28800" y="7142988"/>
            <a:ext cx="1371600" cy="4572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447675">
              <a:lnSpc>
                <a:spcPct val="100000"/>
              </a:lnSpc>
              <a:spcBef>
                <a:spcPts val="325"/>
              </a:spcBef>
            </a:pPr>
            <a:r>
              <a:rPr dirty="0" sz="1150" spc="-40">
                <a:latin typeface="Arial"/>
                <a:cs typeface="Arial"/>
              </a:rPr>
              <a:t>Welfare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53455" y="7208519"/>
            <a:ext cx="1371600" cy="49403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 marL="112395">
              <a:lnSpc>
                <a:spcPct val="100000"/>
              </a:lnSpc>
              <a:spcBef>
                <a:spcPts val="335"/>
              </a:spcBef>
            </a:pPr>
            <a:r>
              <a:rPr dirty="0" sz="1150" spc="-4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persons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08988" y="8074152"/>
            <a:ext cx="1371600" cy="45910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wrap="square" lIns="0" tIns="42545" rIns="0" bIns="0" rtlCol="0" vert="horz">
            <a:spAutoFit/>
          </a:bodyPr>
          <a:lstStyle/>
          <a:p>
            <a:pPr marL="431165">
              <a:lnSpc>
                <a:spcPct val="100000"/>
              </a:lnSpc>
              <a:spcBef>
                <a:spcPts val="335"/>
              </a:spcBef>
            </a:pPr>
            <a:r>
              <a:rPr dirty="0" sz="1150" spc="-85">
                <a:latin typeface="Arial"/>
                <a:cs typeface="Arial"/>
              </a:rPr>
              <a:t>Business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44311" y="8093964"/>
            <a:ext cx="1371600" cy="492759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wrap="square" lIns="0" tIns="41275" rIns="0" bIns="0" rtlCol="0" vert="horz">
            <a:spAutoFit/>
          </a:bodyPr>
          <a:lstStyle/>
          <a:p>
            <a:pPr marL="234315">
              <a:lnSpc>
                <a:spcPct val="100000"/>
              </a:lnSpc>
              <a:spcBef>
                <a:spcPts val="325"/>
              </a:spcBef>
            </a:pPr>
            <a:r>
              <a:rPr dirty="0" sz="1150" spc="-55">
                <a:latin typeface="Arial"/>
                <a:cs typeface="Arial"/>
              </a:rPr>
              <a:t>Pool</a:t>
            </a:r>
            <a:r>
              <a:rPr dirty="0" sz="1150" spc="-85">
                <a:latin typeface="Arial"/>
                <a:cs typeface="Arial"/>
              </a:rPr>
              <a:t> Resources</a:t>
            </a:r>
            <a:endParaRPr sz="11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395537" y="6533388"/>
            <a:ext cx="1033780" cy="609600"/>
            <a:chOff x="2395537" y="6533388"/>
            <a:chExt cx="1033780" cy="609600"/>
          </a:xfrm>
        </p:grpSpPr>
        <p:sp>
          <p:nvSpPr>
            <p:cNvPr id="16" name="object 16"/>
            <p:cNvSpPr/>
            <p:nvPr/>
          </p:nvSpPr>
          <p:spPr>
            <a:xfrm>
              <a:off x="2400300" y="6571488"/>
              <a:ext cx="0" cy="571500"/>
            </a:xfrm>
            <a:custGeom>
              <a:avLst/>
              <a:gdLst/>
              <a:ahLst/>
              <a:cxnLst/>
              <a:rect l="l" t="t" r="r" b="b"/>
              <a:pathLst>
                <a:path w="0" h="571500">
                  <a:moveTo>
                    <a:pt x="0" y="57149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395728" y="6533388"/>
              <a:ext cx="1033780" cy="76200"/>
            </a:xfrm>
            <a:custGeom>
              <a:avLst/>
              <a:gdLst/>
              <a:ahLst/>
              <a:cxnLst/>
              <a:rect l="l" t="t" r="r" b="b"/>
              <a:pathLst>
                <a:path w="1033779" h="76200">
                  <a:moveTo>
                    <a:pt x="957072" y="0"/>
                  </a:moveTo>
                  <a:lnTo>
                    <a:pt x="957072" y="76200"/>
                  </a:lnTo>
                  <a:lnTo>
                    <a:pt x="1021080" y="44196"/>
                  </a:lnTo>
                  <a:lnTo>
                    <a:pt x="969264" y="44196"/>
                  </a:lnTo>
                  <a:lnTo>
                    <a:pt x="973836" y="42672"/>
                  </a:lnTo>
                  <a:lnTo>
                    <a:pt x="973836" y="35052"/>
                  </a:lnTo>
                  <a:lnTo>
                    <a:pt x="969264" y="33528"/>
                  </a:lnTo>
                  <a:lnTo>
                    <a:pt x="1024128" y="33528"/>
                  </a:lnTo>
                  <a:lnTo>
                    <a:pt x="957072" y="0"/>
                  </a:lnTo>
                  <a:close/>
                </a:path>
                <a:path w="1033779" h="76200">
                  <a:moveTo>
                    <a:pt x="957072" y="33528"/>
                  </a:moveTo>
                  <a:lnTo>
                    <a:pt x="4572" y="33528"/>
                  </a:lnTo>
                  <a:lnTo>
                    <a:pt x="1524" y="35052"/>
                  </a:lnTo>
                  <a:lnTo>
                    <a:pt x="0" y="38100"/>
                  </a:lnTo>
                  <a:lnTo>
                    <a:pt x="1524" y="42672"/>
                  </a:lnTo>
                  <a:lnTo>
                    <a:pt x="4572" y="44196"/>
                  </a:lnTo>
                  <a:lnTo>
                    <a:pt x="957072" y="44196"/>
                  </a:lnTo>
                  <a:lnTo>
                    <a:pt x="957072" y="33528"/>
                  </a:lnTo>
                  <a:close/>
                </a:path>
                <a:path w="1033779" h="76200">
                  <a:moveTo>
                    <a:pt x="1024128" y="33528"/>
                  </a:moveTo>
                  <a:lnTo>
                    <a:pt x="969264" y="33528"/>
                  </a:lnTo>
                  <a:lnTo>
                    <a:pt x="973836" y="35052"/>
                  </a:lnTo>
                  <a:lnTo>
                    <a:pt x="973836" y="42672"/>
                  </a:lnTo>
                  <a:lnTo>
                    <a:pt x="969264" y="44196"/>
                  </a:lnTo>
                  <a:lnTo>
                    <a:pt x="1021080" y="44196"/>
                  </a:lnTo>
                  <a:lnTo>
                    <a:pt x="1033272" y="38100"/>
                  </a:lnTo>
                  <a:lnTo>
                    <a:pt x="1024128" y="335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/>
          <p:nvPr/>
        </p:nvSpPr>
        <p:spPr>
          <a:xfrm>
            <a:off x="2362200" y="7714488"/>
            <a:ext cx="76200" cy="347980"/>
          </a:xfrm>
          <a:custGeom>
            <a:avLst/>
            <a:gdLst/>
            <a:ahLst/>
            <a:cxnLst/>
            <a:rect l="l" t="t" r="r" b="b"/>
            <a:pathLst>
              <a:path w="76200" h="347979">
                <a:moveTo>
                  <a:pt x="38100" y="59436"/>
                </a:moveTo>
                <a:lnTo>
                  <a:pt x="35052" y="60960"/>
                </a:lnTo>
                <a:lnTo>
                  <a:pt x="33528" y="64008"/>
                </a:lnTo>
                <a:lnTo>
                  <a:pt x="33528" y="342900"/>
                </a:lnTo>
                <a:lnTo>
                  <a:pt x="35052" y="345948"/>
                </a:lnTo>
                <a:lnTo>
                  <a:pt x="38100" y="347472"/>
                </a:lnTo>
                <a:lnTo>
                  <a:pt x="41148" y="345948"/>
                </a:lnTo>
                <a:lnTo>
                  <a:pt x="42672" y="342900"/>
                </a:lnTo>
                <a:lnTo>
                  <a:pt x="42672" y="64008"/>
                </a:lnTo>
                <a:lnTo>
                  <a:pt x="41148" y="60960"/>
                </a:lnTo>
                <a:lnTo>
                  <a:pt x="38100" y="59436"/>
                </a:lnTo>
                <a:close/>
              </a:path>
              <a:path w="76200" h="347979">
                <a:moveTo>
                  <a:pt x="38100" y="0"/>
                </a:moveTo>
                <a:lnTo>
                  <a:pt x="0" y="76200"/>
                </a:lnTo>
                <a:lnTo>
                  <a:pt x="33528" y="76200"/>
                </a:lnTo>
                <a:lnTo>
                  <a:pt x="33528" y="64008"/>
                </a:lnTo>
                <a:lnTo>
                  <a:pt x="35052" y="60960"/>
                </a:lnTo>
                <a:lnTo>
                  <a:pt x="38100" y="59436"/>
                </a:lnTo>
                <a:lnTo>
                  <a:pt x="67818" y="59436"/>
                </a:lnTo>
                <a:lnTo>
                  <a:pt x="38100" y="0"/>
                </a:lnTo>
                <a:close/>
              </a:path>
              <a:path w="76200" h="347979">
                <a:moveTo>
                  <a:pt x="67818" y="59436"/>
                </a:moveTo>
                <a:lnTo>
                  <a:pt x="38100" y="59436"/>
                </a:lnTo>
                <a:lnTo>
                  <a:pt x="41148" y="60960"/>
                </a:lnTo>
                <a:lnTo>
                  <a:pt x="42672" y="64008"/>
                </a:lnTo>
                <a:lnTo>
                  <a:pt x="42672" y="76200"/>
                </a:lnTo>
                <a:lnTo>
                  <a:pt x="76200" y="76200"/>
                </a:lnTo>
                <a:lnTo>
                  <a:pt x="67818" y="59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5029200" y="6566725"/>
            <a:ext cx="1066800" cy="576580"/>
            <a:chOff x="5029200" y="6566725"/>
            <a:chExt cx="1066800" cy="576580"/>
          </a:xfrm>
        </p:grpSpPr>
        <p:sp>
          <p:nvSpPr>
            <p:cNvPr id="20" name="object 20"/>
            <p:cNvSpPr/>
            <p:nvPr/>
          </p:nvSpPr>
          <p:spPr>
            <a:xfrm>
              <a:off x="5029200" y="6571488"/>
              <a:ext cx="1028700" cy="0"/>
            </a:xfrm>
            <a:custGeom>
              <a:avLst/>
              <a:gdLst/>
              <a:ahLst/>
              <a:cxnLst/>
              <a:rect l="l" t="t" r="r" b="b"/>
              <a:pathLst>
                <a:path w="1028700" h="0">
                  <a:moveTo>
                    <a:pt x="0" y="0"/>
                  </a:moveTo>
                  <a:lnTo>
                    <a:pt x="1028699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019800" y="6566915"/>
              <a:ext cx="76200" cy="576580"/>
            </a:xfrm>
            <a:custGeom>
              <a:avLst/>
              <a:gdLst/>
              <a:ahLst/>
              <a:cxnLst/>
              <a:rect l="l" t="t" r="r" b="b"/>
              <a:pathLst>
                <a:path w="76200" h="576579">
                  <a:moveTo>
                    <a:pt x="33528" y="499872"/>
                  </a:moveTo>
                  <a:lnTo>
                    <a:pt x="0" y="499872"/>
                  </a:lnTo>
                  <a:lnTo>
                    <a:pt x="38100" y="576072"/>
                  </a:lnTo>
                  <a:lnTo>
                    <a:pt x="67056" y="518160"/>
                  </a:lnTo>
                  <a:lnTo>
                    <a:pt x="38100" y="518160"/>
                  </a:lnTo>
                  <a:lnTo>
                    <a:pt x="35052" y="516636"/>
                  </a:lnTo>
                  <a:lnTo>
                    <a:pt x="33528" y="512064"/>
                  </a:lnTo>
                  <a:lnTo>
                    <a:pt x="33528" y="499872"/>
                  </a:lnTo>
                  <a:close/>
                </a:path>
                <a:path w="76200" h="576579">
                  <a:moveTo>
                    <a:pt x="38100" y="0"/>
                  </a:moveTo>
                  <a:lnTo>
                    <a:pt x="35052" y="1524"/>
                  </a:lnTo>
                  <a:lnTo>
                    <a:pt x="33528" y="4572"/>
                  </a:lnTo>
                  <a:lnTo>
                    <a:pt x="33528" y="512064"/>
                  </a:lnTo>
                  <a:lnTo>
                    <a:pt x="35052" y="516636"/>
                  </a:lnTo>
                  <a:lnTo>
                    <a:pt x="38100" y="518160"/>
                  </a:lnTo>
                  <a:lnTo>
                    <a:pt x="41148" y="516636"/>
                  </a:lnTo>
                  <a:lnTo>
                    <a:pt x="42672" y="512064"/>
                  </a:lnTo>
                  <a:lnTo>
                    <a:pt x="42672" y="4572"/>
                  </a:lnTo>
                  <a:lnTo>
                    <a:pt x="41148" y="1524"/>
                  </a:lnTo>
                  <a:lnTo>
                    <a:pt x="38100" y="0"/>
                  </a:lnTo>
                  <a:close/>
                </a:path>
                <a:path w="76200" h="576579">
                  <a:moveTo>
                    <a:pt x="76200" y="499872"/>
                  </a:moveTo>
                  <a:lnTo>
                    <a:pt x="42672" y="499872"/>
                  </a:lnTo>
                  <a:lnTo>
                    <a:pt x="42672" y="512064"/>
                  </a:lnTo>
                  <a:lnTo>
                    <a:pt x="41148" y="516636"/>
                  </a:lnTo>
                  <a:lnTo>
                    <a:pt x="38100" y="518160"/>
                  </a:lnTo>
                  <a:lnTo>
                    <a:pt x="67056" y="518160"/>
                  </a:lnTo>
                  <a:lnTo>
                    <a:pt x="76200" y="4998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/>
          <p:nvPr/>
        </p:nvSpPr>
        <p:spPr>
          <a:xfrm>
            <a:off x="6019800" y="7709916"/>
            <a:ext cx="76200" cy="347980"/>
          </a:xfrm>
          <a:custGeom>
            <a:avLst/>
            <a:gdLst/>
            <a:ahLst/>
            <a:cxnLst/>
            <a:rect l="l" t="t" r="r" b="b"/>
            <a:pathLst>
              <a:path w="76200" h="347979">
                <a:moveTo>
                  <a:pt x="33528" y="271272"/>
                </a:moveTo>
                <a:lnTo>
                  <a:pt x="0" y="271272"/>
                </a:lnTo>
                <a:lnTo>
                  <a:pt x="38100" y="347472"/>
                </a:lnTo>
                <a:lnTo>
                  <a:pt x="67056" y="289560"/>
                </a:lnTo>
                <a:lnTo>
                  <a:pt x="38100" y="289560"/>
                </a:lnTo>
                <a:lnTo>
                  <a:pt x="35052" y="288036"/>
                </a:lnTo>
                <a:lnTo>
                  <a:pt x="33528" y="283464"/>
                </a:lnTo>
                <a:lnTo>
                  <a:pt x="33528" y="271272"/>
                </a:lnTo>
                <a:close/>
              </a:path>
              <a:path w="76200" h="347979">
                <a:moveTo>
                  <a:pt x="38100" y="0"/>
                </a:moveTo>
                <a:lnTo>
                  <a:pt x="35052" y="1524"/>
                </a:lnTo>
                <a:lnTo>
                  <a:pt x="33528" y="4572"/>
                </a:lnTo>
                <a:lnTo>
                  <a:pt x="33528" y="283464"/>
                </a:lnTo>
                <a:lnTo>
                  <a:pt x="35052" y="288036"/>
                </a:lnTo>
                <a:lnTo>
                  <a:pt x="38100" y="289560"/>
                </a:lnTo>
                <a:lnTo>
                  <a:pt x="41148" y="288036"/>
                </a:lnTo>
                <a:lnTo>
                  <a:pt x="42672" y="283464"/>
                </a:ln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close/>
              </a:path>
              <a:path w="76200" h="347979">
                <a:moveTo>
                  <a:pt x="76200" y="271272"/>
                </a:moveTo>
                <a:lnTo>
                  <a:pt x="42672" y="271272"/>
                </a:lnTo>
                <a:lnTo>
                  <a:pt x="42672" y="283464"/>
                </a:lnTo>
                <a:lnTo>
                  <a:pt x="41148" y="288036"/>
                </a:lnTo>
                <a:lnTo>
                  <a:pt x="38100" y="289560"/>
                </a:lnTo>
                <a:lnTo>
                  <a:pt x="67056" y="289560"/>
                </a:lnTo>
                <a:lnTo>
                  <a:pt x="76200" y="271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314700" y="8247888"/>
            <a:ext cx="2176780" cy="76200"/>
          </a:xfrm>
          <a:custGeom>
            <a:avLst/>
            <a:gdLst/>
            <a:ahLst/>
            <a:cxnLst/>
            <a:rect l="l" t="t" r="r" b="b"/>
            <a:pathLst>
              <a:path w="2176779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2672"/>
                </a:lnTo>
                <a:lnTo>
                  <a:pt x="64008" y="42672"/>
                </a:lnTo>
                <a:lnTo>
                  <a:pt x="59436" y="41148"/>
                </a:lnTo>
                <a:lnTo>
                  <a:pt x="59436" y="35052"/>
                </a:lnTo>
                <a:lnTo>
                  <a:pt x="64008" y="33528"/>
                </a:lnTo>
                <a:lnTo>
                  <a:pt x="76200" y="33528"/>
                </a:lnTo>
                <a:lnTo>
                  <a:pt x="76200" y="0"/>
                </a:lnTo>
                <a:close/>
              </a:path>
              <a:path w="2176779" h="76200">
                <a:moveTo>
                  <a:pt x="76200" y="33528"/>
                </a:moveTo>
                <a:lnTo>
                  <a:pt x="64008" y="33528"/>
                </a:lnTo>
                <a:lnTo>
                  <a:pt x="59436" y="35052"/>
                </a:lnTo>
                <a:lnTo>
                  <a:pt x="59436" y="41148"/>
                </a:lnTo>
                <a:lnTo>
                  <a:pt x="64008" y="42672"/>
                </a:lnTo>
                <a:lnTo>
                  <a:pt x="76200" y="42672"/>
                </a:lnTo>
                <a:lnTo>
                  <a:pt x="76200" y="33528"/>
                </a:lnTo>
                <a:close/>
              </a:path>
              <a:path w="2176779" h="76200">
                <a:moveTo>
                  <a:pt x="2171700" y="33528"/>
                </a:moveTo>
                <a:lnTo>
                  <a:pt x="76200" y="33528"/>
                </a:lnTo>
                <a:lnTo>
                  <a:pt x="76200" y="42672"/>
                </a:lnTo>
                <a:lnTo>
                  <a:pt x="2171700" y="42672"/>
                </a:lnTo>
                <a:lnTo>
                  <a:pt x="2174748" y="41148"/>
                </a:lnTo>
                <a:lnTo>
                  <a:pt x="2176272" y="38100"/>
                </a:lnTo>
                <a:lnTo>
                  <a:pt x="2174748" y="35052"/>
                </a:lnTo>
                <a:lnTo>
                  <a:pt x="2171700" y="335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73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4340" cy="8045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45" b="1">
                <a:latin typeface="Arial"/>
                <a:cs typeface="Arial"/>
              </a:rPr>
              <a:t>ADVANTAGES </a:t>
            </a:r>
            <a:r>
              <a:rPr dirty="0" sz="1150" spc="-150" b="1">
                <a:latin typeface="Arial"/>
                <a:cs typeface="Arial"/>
              </a:rPr>
              <a:t>OF COOPERATIVE</a:t>
            </a:r>
            <a:r>
              <a:rPr dirty="0" sz="1150" spc="-235" b="1">
                <a:latin typeface="Arial"/>
                <a:cs typeface="Arial"/>
              </a:rPr>
              <a:t> </a:t>
            </a:r>
            <a:r>
              <a:rPr dirty="0" sz="1150" spc="-160" b="1">
                <a:latin typeface="Arial"/>
                <a:cs typeface="Arial"/>
              </a:rPr>
              <a:t>SOCIETY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45">
                <a:latin typeface="Arial"/>
                <a:cs typeface="Arial"/>
              </a:rPr>
              <a:t>Following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important </a:t>
            </a:r>
            <a:r>
              <a:rPr dirty="0" sz="1150" spc="-65">
                <a:latin typeface="Arial"/>
                <a:cs typeface="Arial"/>
              </a:rPr>
              <a:t>advantages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merits </a:t>
            </a:r>
            <a:r>
              <a:rPr dirty="0" sz="1150" spc="-10">
                <a:latin typeface="Arial"/>
                <a:cs typeface="Arial"/>
              </a:rPr>
              <a:t>of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45">
                <a:latin typeface="Arial"/>
                <a:cs typeface="Arial"/>
              </a:rPr>
              <a:t>society: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dirty="0" sz="1150" spc="-85" b="1">
                <a:latin typeface="Arial"/>
                <a:cs typeface="Arial"/>
              </a:rPr>
              <a:t>Advantage </a:t>
            </a:r>
            <a:r>
              <a:rPr dirty="0" sz="1150" spc="-50" b="1">
                <a:latin typeface="Arial"/>
                <a:cs typeface="Arial"/>
              </a:rPr>
              <a:t>for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spc="-100" b="1">
                <a:latin typeface="Arial"/>
                <a:cs typeface="Arial"/>
              </a:rPr>
              <a:t>Farmers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70">
                <a:latin typeface="Arial"/>
                <a:cs typeface="Arial"/>
              </a:rPr>
              <a:t>Farmers can </a:t>
            </a:r>
            <a:r>
              <a:rPr dirty="0" sz="1150" spc="-40">
                <a:latin typeface="Arial"/>
                <a:cs typeface="Arial"/>
              </a:rPr>
              <a:t>get </a:t>
            </a:r>
            <a:r>
              <a:rPr dirty="0" sz="1150" spc="-25">
                <a:latin typeface="Arial"/>
                <a:cs typeface="Arial"/>
              </a:rPr>
              <a:t>fertilizers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85">
                <a:latin typeface="Arial"/>
                <a:cs typeface="Arial"/>
              </a:rPr>
              <a:t>seeds </a:t>
            </a:r>
            <a:r>
              <a:rPr dirty="0" sz="1150" spc="-15">
                <a:latin typeface="Arial"/>
                <a:cs typeface="Arial"/>
              </a:rPr>
              <a:t>at low </a:t>
            </a:r>
            <a:r>
              <a:rPr dirty="0" sz="1150" spc="-55">
                <a:latin typeface="Arial"/>
                <a:cs typeface="Arial"/>
              </a:rPr>
              <a:t>prices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50">
                <a:latin typeface="Arial"/>
                <a:cs typeface="Arial"/>
              </a:rPr>
              <a:t>societies. </a:t>
            </a:r>
            <a:r>
              <a:rPr dirty="0" sz="1150" spc="-70">
                <a:latin typeface="Arial"/>
                <a:cs typeface="Arial"/>
              </a:rPr>
              <a:t>Farmers  can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also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self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at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high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rate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prices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through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cooperative</a:t>
            </a:r>
            <a:r>
              <a:rPr dirty="0" sz="1150" spc="-50">
                <a:latin typeface="Arial"/>
                <a:cs typeface="Arial"/>
              </a:rPr>
              <a:t> societies.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2"/>
              <a:tabLst>
                <a:tab pos="469265" algn="l"/>
                <a:tab pos="469900" algn="l"/>
              </a:tabLst>
            </a:pPr>
            <a:r>
              <a:rPr dirty="0" sz="1150" spc="-145" b="1">
                <a:latin typeface="Arial"/>
                <a:cs typeface="Arial"/>
              </a:rPr>
              <a:t>Easy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Formation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formation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75">
                <a:latin typeface="Arial"/>
                <a:cs typeface="Arial"/>
              </a:rPr>
              <a:t>easy.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formalities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5">
                <a:latin typeface="Arial"/>
                <a:cs typeface="Arial"/>
              </a:rPr>
              <a:t>registration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simple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formation </a:t>
            </a:r>
            <a:r>
              <a:rPr dirty="0" sz="1150" spc="-80">
                <a:latin typeface="Arial"/>
                <a:cs typeface="Arial"/>
              </a:rPr>
              <a:t>expenses </a:t>
            </a:r>
            <a:r>
              <a:rPr dirty="0" sz="1150" spc="-55">
                <a:latin typeface="Arial"/>
                <a:cs typeface="Arial"/>
              </a:rPr>
              <a:t>are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30">
                <a:latin typeface="Arial"/>
                <a:cs typeface="Arial"/>
              </a:rPr>
              <a:t>normal.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registration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society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0">
                <a:latin typeface="Arial"/>
                <a:cs typeface="Arial"/>
              </a:rPr>
              <a:t>not </a:t>
            </a:r>
            <a:r>
              <a:rPr dirty="0" sz="1150" spc="-45">
                <a:latin typeface="Arial"/>
                <a:cs typeface="Arial"/>
              </a:rPr>
              <a:t>compulsory </a:t>
            </a:r>
            <a:r>
              <a:rPr dirty="0" sz="1150" spc="-10">
                <a:latin typeface="Arial"/>
                <a:cs typeface="Arial"/>
              </a:rPr>
              <a:t>but 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desirable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registration.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3"/>
              <a:tabLst>
                <a:tab pos="469265" algn="l"/>
                <a:tab pos="469900" algn="l"/>
              </a:tabLst>
            </a:pPr>
            <a:r>
              <a:rPr dirty="0" sz="1150" spc="-100" b="1">
                <a:latin typeface="Arial"/>
                <a:cs typeface="Arial"/>
              </a:rPr>
              <a:t>Equal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110" b="1">
                <a:latin typeface="Arial"/>
                <a:cs typeface="Arial"/>
              </a:rPr>
              <a:t>Rights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3"/>
            </a:pPr>
            <a:endParaRPr sz="120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55">
                <a:latin typeface="Arial"/>
                <a:cs typeface="Arial"/>
              </a:rPr>
              <a:t>members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40">
                <a:latin typeface="Arial"/>
                <a:cs typeface="Arial"/>
              </a:rPr>
              <a:t>enjoy </a:t>
            </a:r>
            <a:r>
              <a:rPr dirty="0" sz="1150" spc="-50">
                <a:latin typeface="Arial"/>
                <a:cs typeface="Arial"/>
              </a:rPr>
              <a:t>equal </a:t>
            </a:r>
            <a:r>
              <a:rPr dirty="0" sz="1150" spc="-15">
                <a:latin typeface="Arial"/>
                <a:cs typeface="Arial"/>
              </a:rPr>
              <a:t>right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vote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ownership. </a:t>
            </a:r>
            <a:r>
              <a:rPr dirty="0" sz="1150" spc="-105">
                <a:latin typeface="Arial"/>
                <a:cs typeface="Arial"/>
              </a:rPr>
              <a:t>Each  </a:t>
            </a:r>
            <a:r>
              <a:rPr dirty="0" sz="1150" spc="-45">
                <a:latin typeface="Arial"/>
                <a:cs typeface="Arial"/>
              </a:rPr>
              <a:t>shareholder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30">
                <a:latin typeface="Arial"/>
                <a:cs typeface="Arial"/>
              </a:rPr>
              <a:t>only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25">
                <a:latin typeface="Arial"/>
                <a:cs typeface="Arial"/>
              </a:rPr>
              <a:t>vote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55">
                <a:latin typeface="Arial"/>
                <a:cs typeface="Arial"/>
              </a:rPr>
              <a:t>management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50">
                <a:latin typeface="Arial"/>
                <a:cs typeface="Arial"/>
              </a:rPr>
              <a:t>societies.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4"/>
              <a:tabLst>
                <a:tab pos="469265" algn="l"/>
                <a:tab pos="469900" algn="l"/>
              </a:tabLst>
            </a:pPr>
            <a:r>
              <a:rPr dirty="0" sz="1150" spc="-100" b="1">
                <a:latin typeface="Arial"/>
                <a:cs typeface="Arial"/>
              </a:rPr>
              <a:t>Equal </a:t>
            </a:r>
            <a:r>
              <a:rPr dirty="0" sz="1150" spc="-65" b="1">
                <a:latin typeface="Arial"/>
                <a:cs typeface="Arial"/>
              </a:rPr>
              <a:t>Distribution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spc="-55" b="1">
                <a:latin typeface="Arial"/>
                <a:cs typeface="Arial"/>
              </a:rPr>
              <a:t>Wealth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4"/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5">
                <a:latin typeface="Arial"/>
                <a:cs typeface="Arial"/>
              </a:rPr>
              <a:t>profit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middlemen </a:t>
            </a:r>
            <a:r>
              <a:rPr dirty="0" sz="1150" spc="-65">
                <a:latin typeface="Arial"/>
                <a:cs typeface="Arial"/>
              </a:rPr>
              <a:t>is also </a:t>
            </a:r>
            <a:r>
              <a:rPr dirty="0" sz="1150" spc="-20">
                <a:latin typeface="Arial"/>
                <a:cs typeface="Arial"/>
              </a:rPr>
              <a:t>distributed </a:t>
            </a:r>
            <a:r>
              <a:rPr dirty="0" sz="1150" spc="-60">
                <a:latin typeface="Arial"/>
                <a:cs typeface="Arial"/>
              </a:rPr>
              <a:t>among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workers. </a:t>
            </a: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50">
                <a:latin typeface="Arial"/>
                <a:cs typeface="Arial"/>
              </a:rPr>
              <a:t>societies </a:t>
            </a:r>
            <a:r>
              <a:rPr dirty="0" sz="1150" spc="-45">
                <a:latin typeface="Arial"/>
                <a:cs typeface="Arial"/>
              </a:rPr>
              <a:t>remove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5">
                <a:latin typeface="Arial"/>
                <a:cs typeface="Arial"/>
              </a:rPr>
              <a:t>unequal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wealth.</a:t>
            </a:r>
            <a:endParaRPr sz="115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5"/>
              </a:spcBef>
              <a:buAutoNum type="arabicPeriod" startAt="5"/>
              <a:tabLst>
                <a:tab pos="469265" algn="l"/>
                <a:tab pos="469900" algn="l"/>
              </a:tabLst>
            </a:pPr>
            <a:r>
              <a:rPr dirty="0" sz="1150" spc="-114" b="1">
                <a:latin typeface="Arial"/>
                <a:cs typeface="Arial"/>
              </a:rPr>
              <a:t>Economic</a:t>
            </a:r>
            <a:r>
              <a:rPr dirty="0" sz="1150" spc="-75" b="1">
                <a:latin typeface="Arial"/>
                <a:cs typeface="Arial"/>
              </a:rPr>
              <a:t> </a:t>
            </a:r>
            <a:r>
              <a:rPr dirty="0" sz="1150" spc="-100" b="1">
                <a:latin typeface="Arial"/>
                <a:cs typeface="Arial"/>
              </a:rPr>
              <a:t>Democracy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5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50">
                <a:latin typeface="Arial"/>
                <a:cs typeface="Arial"/>
              </a:rPr>
              <a:t>Cooperative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domestic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organization. </a:t>
            </a:r>
            <a:r>
              <a:rPr dirty="0" sz="1150" spc="-80">
                <a:latin typeface="Arial"/>
                <a:cs typeface="Arial"/>
              </a:rPr>
              <a:t>Every </a:t>
            </a:r>
            <a:r>
              <a:rPr dirty="0" sz="1150" spc="-40">
                <a:latin typeface="Arial"/>
                <a:cs typeface="Arial"/>
              </a:rPr>
              <a:t>member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allowed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25">
                <a:latin typeface="Arial"/>
                <a:cs typeface="Arial"/>
              </a:rPr>
              <a:t>participate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50">
                <a:latin typeface="Arial"/>
                <a:cs typeface="Arial"/>
              </a:rPr>
              <a:t>management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-105">
                <a:latin typeface="Arial"/>
                <a:cs typeface="Arial"/>
              </a:rPr>
              <a:t>Each </a:t>
            </a:r>
            <a:r>
              <a:rPr dirty="0" sz="1150" spc="-40">
                <a:latin typeface="Arial"/>
                <a:cs typeface="Arial"/>
              </a:rPr>
              <a:t>member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right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cast </a:t>
            </a:r>
            <a:r>
              <a:rPr dirty="0" sz="1150" spc="-25">
                <a:latin typeface="Arial"/>
                <a:cs typeface="Arial"/>
              </a:rPr>
              <a:t>vote. 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decision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majority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honored.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6"/>
              <a:tabLst>
                <a:tab pos="469265" algn="l"/>
                <a:tab pos="469900" algn="l"/>
              </a:tabLst>
            </a:pPr>
            <a:r>
              <a:rPr dirty="0" sz="1150" spc="-70" b="1">
                <a:latin typeface="Arial"/>
                <a:cs typeface="Arial"/>
              </a:rPr>
              <a:t>Elimination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60" b="1">
                <a:latin typeface="Arial"/>
                <a:cs typeface="Arial"/>
              </a:rPr>
              <a:t> Middlemen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AutoNum type="arabicPeriod" startAt="6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50">
                <a:latin typeface="Arial"/>
                <a:cs typeface="Arial"/>
              </a:rPr>
              <a:t>Cooperative society </a:t>
            </a:r>
            <a:r>
              <a:rPr dirty="0" sz="1150" spc="-40">
                <a:latin typeface="Arial"/>
                <a:cs typeface="Arial"/>
              </a:rPr>
              <a:t>eliminates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5">
                <a:latin typeface="Arial"/>
                <a:cs typeface="Arial"/>
              </a:rPr>
              <a:t>profit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middlemen. </a:t>
            </a:r>
            <a:r>
              <a:rPr dirty="0" sz="1150" spc="-95">
                <a:latin typeface="Arial"/>
                <a:cs typeface="Arial"/>
              </a:rPr>
              <a:t>These </a:t>
            </a:r>
            <a:r>
              <a:rPr dirty="0" sz="1150" spc="-50">
                <a:latin typeface="Arial"/>
                <a:cs typeface="Arial"/>
              </a:rPr>
              <a:t>societies </a:t>
            </a:r>
            <a:r>
              <a:rPr dirty="0" sz="1150" spc="-70">
                <a:latin typeface="Arial"/>
                <a:cs typeface="Arial"/>
              </a:rPr>
              <a:t>purchases goods  </a:t>
            </a:r>
            <a:r>
              <a:rPr dirty="0" sz="1150" spc="-25">
                <a:latin typeface="Arial"/>
                <a:cs typeface="Arial"/>
              </a:rPr>
              <a:t>directly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producers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members and </a:t>
            </a:r>
            <a:r>
              <a:rPr dirty="0" sz="1150" spc="-35">
                <a:latin typeface="Arial"/>
                <a:cs typeface="Arial"/>
              </a:rPr>
              <a:t>provide </a:t>
            </a:r>
            <a:r>
              <a:rPr dirty="0" sz="1150" spc="-25">
                <a:latin typeface="Arial"/>
                <a:cs typeface="Arial"/>
              </a:rPr>
              <a:t>them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50">
                <a:latin typeface="Arial"/>
                <a:cs typeface="Arial"/>
              </a:rPr>
              <a:t>wholesale </a:t>
            </a:r>
            <a:r>
              <a:rPr dirty="0" sz="1150" spc="-25">
                <a:latin typeface="Arial"/>
                <a:cs typeface="Arial"/>
              </a:rPr>
              <a:t>rate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society  </a:t>
            </a:r>
            <a:r>
              <a:rPr dirty="0" sz="1150" spc="-50">
                <a:latin typeface="Arial"/>
                <a:cs typeface="Arial"/>
              </a:rPr>
              <a:t>members.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7"/>
              <a:tabLst>
                <a:tab pos="469265" algn="l"/>
                <a:tab pos="469900" algn="l"/>
              </a:tabLst>
            </a:pPr>
            <a:r>
              <a:rPr dirty="0" sz="1150" spc="-85" b="1">
                <a:latin typeface="Arial"/>
                <a:cs typeface="Arial"/>
              </a:rPr>
              <a:t>Financial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110" b="1">
                <a:latin typeface="Arial"/>
                <a:cs typeface="Arial"/>
              </a:rPr>
              <a:t>Assistance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7"/>
            </a:pPr>
            <a:endParaRPr sz="1200">
              <a:latin typeface="Arial"/>
              <a:cs typeface="Arial"/>
            </a:endParaRPr>
          </a:p>
          <a:p>
            <a:pPr algn="just" marL="12700" marR="8890">
              <a:lnSpc>
                <a:spcPct val="101699"/>
              </a:lnSpc>
            </a:pP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50">
                <a:latin typeface="Arial"/>
                <a:cs typeface="Arial"/>
              </a:rPr>
              <a:t>societies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35">
                <a:latin typeface="Arial"/>
                <a:cs typeface="Arial"/>
              </a:rPr>
              <a:t>provide financial </a:t>
            </a:r>
            <a:r>
              <a:rPr dirty="0" sz="1150" spc="-70">
                <a:latin typeface="Arial"/>
                <a:cs typeface="Arial"/>
              </a:rPr>
              <a:t>assistance </a:t>
            </a:r>
            <a:r>
              <a:rPr dirty="0" sz="1150" spc="15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50">
                <a:latin typeface="Arial"/>
                <a:cs typeface="Arial"/>
              </a:rPr>
              <a:t>members.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house </a:t>
            </a:r>
            <a:r>
              <a:rPr dirty="0" sz="1150" spc="-35">
                <a:latin typeface="Arial"/>
                <a:cs typeface="Arial"/>
              </a:rPr>
              <a:t>building  </a:t>
            </a:r>
            <a:r>
              <a:rPr dirty="0" sz="1150" spc="-45">
                <a:latin typeface="Arial"/>
                <a:cs typeface="Arial"/>
              </a:rPr>
              <a:t>cooperatives </a:t>
            </a:r>
            <a:r>
              <a:rPr dirty="0" sz="1150" spc="-55">
                <a:latin typeface="Arial"/>
                <a:cs typeface="Arial"/>
              </a:rPr>
              <a:t>housing </a:t>
            </a:r>
            <a:r>
              <a:rPr dirty="0" sz="1150" spc="-50">
                <a:latin typeface="Arial"/>
                <a:cs typeface="Arial"/>
              </a:rPr>
              <a:t>society </a:t>
            </a:r>
            <a:r>
              <a:rPr dirty="0" sz="1150" spc="-45">
                <a:latin typeface="Arial"/>
                <a:cs typeface="Arial"/>
              </a:rPr>
              <a:t>provides </a:t>
            </a:r>
            <a:r>
              <a:rPr dirty="0" sz="1150" spc="-40">
                <a:latin typeface="Arial"/>
                <a:cs typeface="Arial"/>
              </a:rPr>
              <a:t>loan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purchase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inputs.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8"/>
              <a:tabLst>
                <a:tab pos="469265" algn="l"/>
                <a:tab pos="469900" algn="l"/>
              </a:tabLst>
            </a:pPr>
            <a:r>
              <a:rPr dirty="0" sz="1150" spc="-80" b="1">
                <a:latin typeface="Arial"/>
                <a:cs typeface="Arial"/>
              </a:rPr>
              <a:t>Friendly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Relations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mean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developing </a:t>
            </a:r>
            <a:r>
              <a:rPr dirty="0" sz="1150" spc="-20">
                <a:latin typeface="Arial"/>
                <a:cs typeface="Arial"/>
              </a:rPr>
              <a:t>friendly </a:t>
            </a:r>
            <a:r>
              <a:rPr dirty="0" sz="1150" spc="-30">
                <a:latin typeface="Arial"/>
                <a:cs typeface="Arial"/>
              </a:rPr>
              <a:t>relations </a:t>
            </a:r>
            <a:r>
              <a:rPr dirty="0" sz="1150" spc="-65">
                <a:latin typeface="Arial"/>
                <a:cs typeface="Arial"/>
              </a:rPr>
              <a:t>among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members. </a:t>
            </a:r>
            <a:r>
              <a:rPr dirty="0" sz="1150" spc="-105">
                <a:latin typeface="Arial"/>
                <a:cs typeface="Arial"/>
              </a:rPr>
              <a:t>A  </a:t>
            </a:r>
            <a:r>
              <a:rPr dirty="0" sz="1150" spc="-45">
                <a:latin typeface="Arial"/>
                <a:cs typeface="Arial"/>
              </a:rPr>
              <a:t>society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provides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platform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introduction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members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with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each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other.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74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5610" cy="82238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69900" indent="-457200">
              <a:lnSpc>
                <a:spcPct val="100000"/>
              </a:lnSpc>
              <a:spcBef>
                <a:spcPts val="100"/>
              </a:spcBef>
              <a:buAutoNum type="arabicPeriod" startAt="9"/>
              <a:tabLst>
                <a:tab pos="469900" algn="l"/>
              </a:tabLst>
            </a:pPr>
            <a:r>
              <a:rPr dirty="0" sz="1150" spc="-70" b="1">
                <a:latin typeface="Arial"/>
                <a:cs typeface="Arial"/>
              </a:rPr>
              <a:t>Improve </a:t>
            </a:r>
            <a:r>
              <a:rPr dirty="0" sz="1150" spc="-50" b="1">
                <a:latin typeface="Arial"/>
                <a:cs typeface="Arial"/>
              </a:rPr>
              <a:t>the </a:t>
            </a:r>
            <a:r>
              <a:rPr dirty="0" sz="1150" spc="-85" b="1">
                <a:latin typeface="Arial"/>
                <a:cs typeface="Arial"/>
              </a:rPr>
              <a:t>Standard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105" b="1">
                <a:latin typeface="Arial"/>
                <a:cs typeface="Arial"/>
              </a:rPr>
              <a:t>Living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9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Such </a:t>
            </a:r>
            <a:r>
              <a:rPr dirty="0" sz="1150" spc="-50">
                <a:latin typeface="Arial"/>
                <a:cs typeface="Arial"/>
              </a:rPr>
              <a:t>societies </a:t>
            </a:r>
            <a:r>
              <a:rPr dirty="0" sz="1150" spc="-35">
                <a:latin typeface="Arial"/>
                <a:cs typeface="Arial"/>
              </a:rPr>
              <a:t>provide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members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society </a:t>
            </a:r>
            <a:r>
              <a:rPr dirty="0" sz="1150" spc="-15">
                <a:latin typeface="Arial"/>
                <a:cs typeface="Arial"/>
              </a:rPr>
              <a:t>at low </a:t>
            </a:r>
            <a:r>
              <a:rPr dirty="0" sz="1150" spc="-50">
                <a:latin typeface="Arial"/>
                <a:cs typeface="Arial"/>
              </a:rPr>
              <a:t>prices.  </a:t>
            </a:r>
            <a:r>
              <a:rPr dirty="0" sz="1150" spc="-8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this,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purchasing </a:t>
            </a:r>
            <a:r>
              <a:rPr dirty="0" sz="1150" spc="-25">
                <a:latin typeface="Arial"/>
                <a:cs typeface="Arial"/>
              </a:rPr>
              <a:t>power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65">
                <a:latin typeface="Arial"/>
                <a:cs typeface="Arial"/>
              </a:rPr>
              <a:t>increases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45">
                <a:latin typeface="Arial"/>
                <a:cs typeface="Arial"/>
              </a:rPr>
              <a:t>standard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living  </a:t>
            </a:r>
            <a:r>
              <a:rPr dirty="0" sz="1150" spc="-45">
                <a:latin typeface="Arial"/>
                <a:cs typeface="Arial"/>
              </a:rPr>
              <a:t>improves.</a:t>
            </a:r>
            <a:endParaRPr sz="1150">
              <a:latin typeface="Arial"/>
              <a:cs typeface="Arial"/>
            </a:endParaRPr>
          </a:p>
          <a:p>
            <a:pPr algn="just" marL="469900" indent="-457834">
              <a:lnSpc>
                <a:spcPct val="100000"/>
              </a:lnSpc>
              <a:spcBef>
                <a:spcPts val="25"/>
              </a:spcBef>
              <a:buAutoNum type="arabicPeriod" startAt="10"/>
              <a:tabLst>
                <a:tab pos="470534" algn="l"/>
              </a:tabLst>
            </a:pPr>
            <a:r>
              <a:rPr dirty="0" sz="1150" spc="-90" b="1">
                <a:latin typeface="Arial"/>
                <a:cs typeface="Arial"/>
              </a:rPr>
              <a:t>Increase </a:t>
            </a:r>
            <a:r>
              <a:rPr dirty="0" sz="1150" spc="-60" b="1">
                <a:latin typeface="Arial"/>
                <a:cs typeface="Arial"/>
              </a:rPr>
              <a:t>in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Employment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0"/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50">
                <a:latin typeface="Arial"/>
                <a:cs typeface="Arial"/>
              </a:rPr>
              <a:t>societies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60">
                <a:latin typeface="Arial"/>
                <a:cs typeface="Arial"/>
              </a:rPr>
              <a:t>increase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employment </a:t>
            </a:r>
            <a:r>
              <a:rPr dirty="0" sz="1150" spc="-25">
                <a:latin typeface="Arial"/>
                <a:cs typeface="Arial"/>
              </a:rPr>
              <a:t>opportunities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0">
                <a:latin typeface="Arial"/>
                <a:cs typeface="Arial"/>
              </a:rPr>
              <a:t>people.  </a:t>
            </a:r>
            <a:r>
              <a:rPr dirty="0" sz="1150" spc="-75">
                <a:latin typeface="Arial"/>
                <a:cs typeface="Arial"/>
              </a:rPr>
              <a:t>Thousands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75">
                <a:latin typeface="Arial"/>
                <a:cs typeface="Arial"/>
              </a:rPr>
              <a:t>engaged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50">
                <a:latin typeface="Arial"/>
                <a:cs typeface="Arial"/>
              </a:rPr>
              <a:t>types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cooperative</a:t>
            </a:r>
            <a:r>
              <a:rPr dirty="0" sz="1150" spc="-24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societies.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469900" indent="-457834">
              <a:lnSpc>
                <a:spcPct val="100000"/>
              </a:lnSpc>
              <a:buAutoNum type="arabicPeriod" startAt="11"/>
              <a:tabLst>
                <a:tab pos="470534" algn="l"/>
              </a:tabLst>
            </a:pPr>
            <a:r>
              <a:rPr dirty="0" sz="1150" spc="-75" b="1">
                <a:latin typeface="Arial"/>
                <a:cs typeface="Arial"/>
              </a:rPr>
              <a:t>Limited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Liability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1"/>
            </a:pPr>
            <a:endParaRPr sz="1200">
              <a:latin typeface="Arial"/>
              <a:cs typeface="Arial"/>
            </a:endParaRPr>
          </a:p>
          <a:p>
            <a:pPr algn="just" marL="12700" marR="952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liability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each </a:t>
            </a:r>
            <a:r>
              <a:rPr dirty="0" sz="1150" spc="-40">
                <a:latin typeface="Arial"/>
                <a:cs typeface="Arial"/>
              </a:rPr>
              <a:t>member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0">
                <a:latin typeface="Arial"/>
                <a:cs typeface="Arial"/>
              </a:rPr>
              <a:t>limited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share </a:t>
            </a:r>
            <a:r>
              <a:rPr dirty="0" sz="1150" spc="-35">
                <a:latin typeface="Arial"/>
                <a:cs typeface="Arial"/>
              </a:rPr>
              <a:t>capital, which </a:t>
            </a:r>
            <a:r>
              <a:rPr dirty="0" sz="1150" spc="-55">
                <a:latin typeface="Arial"/>
                <a:cs typeface="Arial"/>
              </a:rPr>
              <a:t>he  </a:t>
            </a:r>
            <a:r>
              <a:rPr dirty="0" sz="1150" spc="-45">
                <a:latin typeface="Arial"/>
                <a:cs typeface="Arial"/>
              </a:rPr>
              <a:t>invested. </a:t>
            </a:r>
            <a:r>
              <a:rPr dirty="0" sz="1150" spc="-80">
                <a:latin typeface="Arial"/>
                <a:cs typeface="Arial"/>
              </a:rPr>
              <a:t>His </a:t>
            </a:r>
            <a:r>
              <a:rPr dirty="0" sz="1150" spc="-35">
                <a:latin typeface="Arial"/>
                <a:cs typeface="Arial"/>
              </a:rPr>
              <a:t>remain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safe.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469900" indent="-457834">
              <a:lnSpc>
                <a:spcPct val="100000"/>
              </a:lnSpc>
              <a:buAutoNum type="arabicPeriod" startAt="12"/>
              <a:tabLst>
                <a:tab pos="470534" algn="l"/>
              </a:tabLst>
            </a:pPr>
            <a:r>
              <a:rPr dirty="0" sz="1150" spc="-40" b="1">
                <a:latin typeface="Arial"/>
                <a:cs typeface="Arial"/>
              </a:rPr>
              <a:t>Mutual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Cooperation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2"/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15">
                <a:latin typeface="Arial"/>
                <a:cs typeface="Arial"/>
              </a:rPr>
              <a:t>It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worthwhile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mention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here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cooperative</a:t>
            </a:r>
            <a:r>
              <a:rPr dirty="0" sz="1150" spc="-45">
                <a:latin typeface="Arial"/>
                <a:cs typeface="Arial"/>
              </a:rPr>
              <a:t> society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very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useful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creating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spirit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friendship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brotherhood </a:t>
            </a:r>
            <a:r>
              <a:rPr dirty="0" sz="1150" spc="-65">
                <a:latin typeface="Arial"/>
                <a:cs typeface="Arial"/>
              </a:rPr>
              <a:t>among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members. </a:t>
            </a:r>
            <a:r>
              <a:rPr dirty="0" sz="1150" spc="-50">
                <a:latin typeface="Arial"/>
                <a:cs typeface="Arial"/>
              </a:rPr>
              <a:t>Cooperative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basic </a:t>
            </a:r>
            <a:r>
              <a:rPr dirty="0" sz="1150" spc="-60">
                <a:latin typeface="Arial"/>
                <a:cs typeface="Arial"/>
              </a:rPr>
              <a:t>need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human being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modern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era.</a:t>
            </a:r>
            <a:endParaRPr sz="1150">
              <a:latin typeface="Arial"/>
              <a:cs typeface="Arial"/>
            </a:endParaRPr>
          </a:p>
          <a:p>
            <a:pPr algn="just" marL="469900" indent="-457834">
              <a:lnSpc>
                <a:spcPct val="100000"/>
              </a:lnSpc>
              <a:spcBef>
                <a:spcPts val="25"/>
              </a:spcBef>
              <a:buAutoNum type="arabicPeriod" startAt="13"/>
              <a:tabLst>
                <a:tab pos="470534" algn="l"/>
              </a:tabLst>
            </a:pPr>
            <a:r>
              <a:rPr dirty="0" sz="1150" spc="-85" b="1">
                <a:latin typeface="Arial"/>
                <a:cs typeface="Arial"/>
              </a:rPr>
              <a:t>No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Monopoly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13"/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  <a:spcBef>
                <a:spcPts val="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start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5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end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monopoly.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monopoly </a:t>
            </a:r>
            <a:r>
              <a:rPr dirty="0" sz="1150" spc="-40">
                <a:latin typeface="Arial"/>
                <a:cs typeface="Arial"/>
              </a:rPr>
              <a:t>eliminates </a:t>
            </a:r>
            <a:r>
              <a:rPr dirty="0" sz="1150" spc="-20">
                <a:latin typeface="Arial"/>
                <a:cs typeface="Arial"/>
              </a:rPr>
              <a:t>the competition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30">
                <a:latin typeface="Arial"/>
                <a:cs typeface="Arial"/>
              </a:rPr>
              <a:t>controls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prices.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25">
                <a:latin typeface="Arial"/>
                <a:cs typeface="Arial"/>
              </a:rPr>
              <a:t>tries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restore </a:t>
            </a:r>
            <a:r>
              <a:rPr dirty="0" sz="1150" spc="-20">
                <a:latin typeface="Arial"/>
                <a:cs typeface="Arial"/>
              </a:rPr>
              <a:t>competition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eliminate  </a:t>
            </a:r>
            <a:r>
              <a:rPr dirty="0" sz="1150" spc="-15">
                <a:latin typeface="Arial"/>
                <a:cs typeface="Arial"/>
              </a:rPr>
              <a:t>control </a:t>
            </a:r>
            <a:r>
              <a:rPr dirty="0" sz="1150" spc="-35">
                <a:latin typeface="Arial"/>
                <a:cs typeface="Arial"/>
              </a:rPr>
              <a:t>over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prices.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469900" indent="-457834">
              <a:lnSpc>
                <a:spcPct val="100000"/>
              </a:lnSpc>
              <a:buAutoNum type="arabicPeriod" startAt="14"/>
              <a:tabLst>
                <a:tab pos="470534" algn="l"/>
              </a:tabLst>
            </a:pPr>
            <a:r>
              <a:rPr dirty="0" sz="1150" spc="-90" b="1">
                <a:latin typeface="Arial"/>
                <a:cs typeface="Arial"/>
              </a:rPr>
              <a:t>Open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Membership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4"/>
            </a:pPr>
            <a:endParaRPr sz="1200">
              <a:latin typeface="Arial"/>
              <a:cs typeface="Arial"/>
            </a:endParaRPr>
          </a:p>
          <a:p>
            <a:pPr algn="just" marL="12700" marR="9525">
              <a:lnSpc>
                <a:spcPct val="101699"/>
              </a:lnSpc>
            </a:pP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membership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open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35">
                <a:latin typeface="Arial"/>
                <a:cs typeface="Arial"/>
              </a:rPr>
              <a:t>living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80">
                <a:latin typeface="Arial"/>
                <a:cs typeface="Arial"/>
              </a:rPr>
              <a:t>same </a:t>
            </a:r>
            <a:r>
              <a:rPr dirty="0" sz="1150" spc="-55">
                <a:latin typeface="Arial"/>
                <a:cs typeface="Arial"/>
              </a:rPr>
              <a:t>area.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voluntary </a:t>
            </a:r>
            <a:r>
              <a:rPr dirty="0" sz="1150" spc="-50">
                <a:latin typeface="Arial"/>
                <a:cs typeface="Arial"/>
              </a:rPr>
              <a:t>association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60">
                <a:latin typeface="Arial"/>
                <a:cs typeface="Arial"/>
              </a:rPr>
              <a:t>caste, </a:t>
            </a:r>
            <a:r>
              <a:rPr dirty="0" sz="1150" spc="-30">
                <a:latin typeface="Arial"/>
                <a:cs typeface="Arial"/>
              </a:rPr>
              <a:t>color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creed.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469900" indent="-457834">
              <a:lnSpc>
                <a:spcPct val="100000"/>
              </a:lnSpc>
              <a:buAutoNum type="arabicPeriod" startAt="15"/>
              <a:tabLst>
                <a:tab pos="470534" algn="l"/>
              </a:tabLst>
            </a:pPr>
            <a:r>
              <a:rPr dirty="0" sz="1150" spc="-70" b="1">
                <a:latin typeface="Arial"/>
                <a:cs typeface="Arial"/>
              </a:rPr>
              <a:t>Protection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40" b="1">
                <a:latin typeface="Arial"/>
                <a:cs typeface="Arial"/>
              </a:rPr>
              <a:t>Mutual</a:t>
            </a:r>
            <a:r>
              <a:rPr dirty="0" sz="1150" spc="-70" b="1">
                <a:latin typeface="Arial"/>
                <a:cs typeface="Arial"/>
              </a:rPr>
              <a:t> </a:t>
            </a:r>
            <a:r>
              <a:rPr dirty="0" sz="1150" spc="-55" b="1">
                <a:latin typeface="Arial"/>
                <a:cs typeface="Arial"/>
              </a:rPr>
              <a:t>Interest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AutoNum type="arabicPeriod" startAt="15"/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cooperative </a:t>
            </a:r>
            <a:r>
              <a:rPr dirty="0" sz="1150" spc="-50">
                <a:latin typeface="Arial"/>
                <a:cs typeface="Arial"/>
              </a:rPr>
              <a:t>societies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55">
                <a:latin typeface="Arial"/>
                <a:cs typeface="Arial"/>
              </a:rPr>
              <a:t>members </a:t>
            </a:r>
            <a:r>
              <a:rPr dirty="0" sz="1150" spc="-40">
                <a:latin typeface="Arial"/>
                <a:cs typeface="Arial"/>
              </a:rPr>
              <a:t>take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60">
                <a:latin typeface="Arial"/>
                <a:cs typeface="Arial"/>
              </a:rPr>
              <a:t>advantage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mutual </a:t>
            </a:r>
            <a:r>
              <a:rPr dirty="0" sz="1150" spc="-20">
                <a:latin typeface="Arial"/>
                <a:cs typeface="Arial"/>
              </a:rPr>
              <a:t>interest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cooperate 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70">
                <a:latin typeface="Arial"/>
                <a:cs typeface="Arial"/>
              </a:rPr>
              <a:t>each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60">
                <a:latin typeface="Arial"/>
                <a:cs typeface="Arial"/>
              </a:rPr>
              <a:t>achieve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common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interest.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469900" indent="-457834">
              <a:lnSpc>
                <a:spcPct val="100000"/>
              </a:lnSpc>
              <a:buAutoNum type="arabicPeriod" startAt="16"/>
              <a:tabLst>
                <a:tab pos="470534" algn="l"/>
              </a:tabLst>
            </a:pPr>
            <a:r>
              <a:rPr dirty="0" sz="1150" spc="-85" b="1">
                <a:latin typeface="Arial"/>
                <a:cs typeface="Arial"/>
              </a:rPr>
              <a:t>Responsibility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6"/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training </a:t>
            </a:r>
            <a:r>
              <a:rPr dirty="0" sz="1150" spc="-35">
                <a:latin typeface="Arial"/>
                <a:cs typeface="Arial"/>
              </a:rPr>
              <a:t>centre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members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feel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35">
                <a:latin typeface="Arial"/>
                <a:cs typeface="Arial"/>
              </a:rPr>
              <a:t>responsibility.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cooperative 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40">
                <a:latin typeface="Arial"/>
                <a:cs typeface="Arial"/>
              </a:rPr>
              <a:t>ideal </a:t>
            </a:r>
            <a:r>
              <a:rPr dirty="0" sz="1150" spc="-60">
                <a:latin typeface="Arial"/>
                <a:cs typeface="Arial"/>
              </a:rPr>
              <a:t>place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building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moral </a:t>
            </a:r>
            <a:r>
              <a:rPr dirty="0" sz="1150" spc="-45">
                <a:latin typeface="Arial"/>
                <a:cs typeface="Arial"/>
              </a:rPr>
              <a:t>character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development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personal  </a:t>
            </a:r>
            <a:r>
              <a:rPr dirty="0" sz="1150" spc="-35">
                <a:latin typeface="Arial"/>
                <a:cs typeface="Arial"/>
              </a:rPr>
              <a:t>qualities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members.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469900" indent="-457834">
              <a:lnSpc>
                <a:spcPct val="100000"/>
              </a:lnSpc>
              <a:buAutoNum type="arabicPeriod" startAt="17"/>
              <a:tabLst>
                <a:tab pos="470534" algn="l"/>
              </a:tabLst>
            </a:pPr>
            <a:r>
              <a:rPr dirty="0" sz="1150" spc="-105" b="1">
                <a:latin typeface="Arial"/>
                <a:cs typeface="Arial"/>
              </a:rPr>
              <a:t>Supply </a:t>
            </a:r>
            <a:r>
              <a:rPr dirty="0" sz="1150" spc="-100" b="1">
                <a:latin typeface="Arial"/>
                <a:cs typeface="Arial"/>
              </a:rPr>
              <a:t>according </a:t>
            </a:r>
            <a:r>
              <a:rPr dirty="0" sz="1150" spc="-40" b="1">
                <a:latin typeface="Arial"/>
                <a:cs typeface="Arial"/>
              </a:rPr>
              <a:t>to</a:t>
            </a:r>
            <a:r>
              <a:rPr dirty="0" sz="1150" spc="25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Demand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Such </a:t>
            </a:r>
            <a:r>
              <a:rPr dirty="0" sz="1150" spc="-50">
                <a:latin typeface="Arial"/>
                <a:cs typeface="Arial"/>
              </a:rPr>
              <a:t>societies </a:t>
            </a:r>
            <a:r>
              <a:rPr dirty="0" sz="1150" spc="-60">
                <a:latin typeface="Arial"/>
                <a:cs typeface="Arial"/>
              </a:rPr>
              <a:t>purchase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5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demand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members.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question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55">
                <a:latin typeface="Arial"/>
                <a:cs typeface="Arial"/>
              </a:rPr>
              <a:t>surplus </a:t>
            </a:r>
            <a:r>
              <a:rPr dirty="0" sz="1150" spc="-70">
                <a:latin typeface="Arial"/>
                <a:cs typeface="Arial"/>
              </a:rPr>
              <a:t>does </a:t>
            </a:r>
            <a:r>
              <a:rPr dirty="0" sz="1150" spc="-5">
                <a:latin typeface="Arial"/>
                <a:cs typeface="Arial"/>
              </a:rPr>
              <a:t>not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arise.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75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1070867"/>
            <a:ext cx="5514340" cy="7688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69900" indent="-457834">
              <a:lnSpc>
                <a:spcPct val="100000"/>
              </a:lnSpc>
              <a:spcBef>
                <a:spcPts val="100"/>
              </a:spcBef>
              <a:buAutoNum type="arabicPeriod" startAt="18"/>
              <a:tabLst>
                <a:tab pos="470534" algn="l"/>
              </a:tabLst>
            </a:pPr>
            <a:r>
              <a:rPr dirty="0" sz="1150" spc="-80" b="1">
                <a:latin typeface="Arial"/>
                <a:cs typeface="Arial"/>
              </a:rPr>
              <a:t>Stable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Life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8"/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50">
                <a:latin typeface="Arial"/>
                <a:cs typeface="Arial"/>
              </a:rPr>
              <a:t>societies,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50">
                <a:latin typeface="Arial"/>
                <a:cs typeface="Arial"/>
              </a:rPr>
              <a:t>compared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30">
                <a:latin typeface="Arial"/>
                <a:cs typeface="Arial"/>
              </a:rPr>
              <a:t>like </a:t>
            </a:r>
            <a:r>
              <a:rPr dirty="0" sz="1150" spc="-55">
                <a:latin typeface="Arial"/>
                <a:cs typeface="Arial"/>
              </a:rPr>
              <a:t>sole-  </a:t>
            </a:r>
            <a:r>
              <a:rPr dirty="0" sz="1150" spc="-25">
                <a:latin typeface="Arial"/>
                <a:cs typeface="Arial"/>
              </a:rPr>
              <a:t>proprietorship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partnership, </a:t>
            </a:r>
            <a:r>
              <a:rPr dirty="0" sz="1150" spc="-55">
                <a:latin typeface="Arial"/>
                <a:cs typeface="Arial"/>
              </a:rPr>
              <a:t>exists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longer </a:t>
            </a:r>
            <a:r>
              <a:rPr dirty="0" sz="1150" spc="-30">
                <a:latin typeface="Arial"/>
                <a:cs typeface="Arial"/>
              </a:rPr>
              <a:t>period.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fairly </a:t>
            </a:r>
            <a:r>
              <a:rPr dirty="0" sz="1150" spc="-45">
                <a:latin typeface="Arial"/>
                <a:cs typeface="Arial"/>
              </a:rPr>
              <a:t>stable</a:t>
            </a:r>
            <a:r>
              <a:rPr dirty="0" sz="1150" spc="-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life.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469900" indent="-457834">
              <a:lnSpc>
                <a:spcPct val="100000"/>
              </a:lnSpc>
              <a:spcBef>
                <a:spcPts val="5"/>
              </a:spcBef>
              <a:buAutoNum type="arabicPeriod" startAt="19"/>
              <a:tabLst>
                <a:tab pos="470534" algn="l"/>
              </a:tabLst>
            </a:pPr>
            <a:r>
              <a:rPr dirty="0" sz="1150" spc="-114" b="1">
                <a:latin typeface="Arial"/>
                <a:cs typeface="Arial"/>
              </a:rPr>
              <a:t>Saving </a:t>
            </a:r>
            <a:r>
              <a:rPr dirty="0" sz="1150" spc="-70" b="1">
                <a:latin typeface="Arial"/>
                <a:cs typeface="Arial"/>
              </a:rPr>
              <a:t>in</a:t>
            </a:r>
            <a:r>
              <a:rPr dirty="0" sz="1150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Expenditure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19"/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  <a:spcBef>
                <a:spcPts val="5"/>
              </a:spcBef>
            </a:pPr>
            <a:r>
              <a:rPr dirty="0" sz="1150" spc="-40">
                <a:latin typeface="Arial"/>
                <a:cs typeface="Arial"/>
              </a:rPr>
              <a:t>In cooperative </a:t>
            </a:r>
            <a:r>
              <a:rPr dirty="0" sz="1150" spc="-50">
                <a:latin typeface="Arial"/>
                <a:cs typeface="Arial"/>
              </a:rPr>
              <a:t>societies, </a:t>
            </a:r>
            <a:r>
              <a:rPr dirty="0" sz="1150" spc="-30">
                <a:latin typeface="Arial"/>
                <a:cs typeface="Arial"/>
              </a:rPr>
              <a:t>most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offices </a:t>
            </a:r>
            <a:r>
              <a:rPr dirty="0" sz="1150" spc="-55">
                <a:latin typeface="Arial"/>
                <a:cs typeface="Arial"/>
              </a:rPr>
              <a:t>bearers </a:t>
            </a:r>
            <a:r>
              <a:rPr dirty="0" sz="1150" spc="-20">
                <a:latin typeface="Arial"/>
                <a:cs typeface="Arial"/>
              </a:rPr>
              <a:t>work </a:t>
            </a:r>
            <a:r>
              <a:rPr dirty="0" sz="1150" spc="-25">
                <a:latin typeface="Arial"/>
                <a:cs typeface="Arial"/>
              </a:rPr>
              <a:t>voluntarily. </a:t>
            </a:r>
            <a:r>
              <a:rPr dirty="0" sz="1150" spc="-105">
                <a:latin typeface="Arial"/>
                <a:cs typeface="Arial"/>
              </a:rPr>
              <a:t>So,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65">
                <a:latin typeface="Arial"/>
                <a:cs typeface="Arial"/>
              </a:rPr>
              <a:t>heavy  </a:t>
            </a:r>
            <a:r>
              <a:rPr dirty="0" sz="1150" spc="-45">
                <a:latin typeface="Arial"/>
                <a:cs typeface="Arial"/>
              </a:rPr>
              <a:t>expenditures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50">
                <a:latin typeface="Arial"/>
                <a:cs typeface="Arial"/>
              </a:rPr>
              <a:t>management.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also reduces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cost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469900" indent="-457834">
              <a:lnSpc>
                <a:spcPct val="100000"/>
              </a:lnSpc>
              <a:buAutoNum type="arabicPeriod" startAt="20"/>
              <a:tabLst>
                <a:tab pos="470534" algn="l"/>
              </a:tabLst>
            </a:pPr>
            <a:r>
              <a:rPr dirty="0" sz="1150" spc="-110" b="1">
                <a:latin typeface="Arial"/>
                <a:cs typeface="Arial"/>
              </a:rPr>
              <a:t>Tax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125" b="1">
                <a:latin typeface="Arial"/>
                <a:cs typeface="Arial"/>
              </a:rPr>
              <a:t>Concession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Government provides </a:t>
            </a:r>
            <a:r>
              <a:rPr dirty="0" sz="1150" spc="-30">
                <a:latin typeface="Arial"/>
                <a:cs typeface="Arial"/>
              </a:rPr>
              <a:t>certain </a:t>
            </a:r>
            <a:r>
              <a:rPr dirty="0" sz="1150" spc="-70">
                <a:latin typeface="Arial"/>
                <a:cs typeface="Arial"/>
              </a:rPr>
              <a:t>concessions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50">
                <a:latin typeface="Arial"/>
                <a:cs typeface="Arial"/>
              </a:rPr>
              <a:t>societies, </a:t>
            </a:r>
            <a:r>
              <a:rPr dirty="0" sz="1150" spc="-35">
                <a:latin typeface="Arial"/>
                <a:cs typeface="Arial"/>
              </a:rPr>
              <a:t>i.e. exemption </a:t>
            </a:r>
            <a:r>
              <a:rPr dirty="0" sz="1150" spc="-15">
                <a:latin typeface="Arial"/>
                <a:cs typeface="Arial"/>
              </a:rPr>
              <a:t>from  </a:t>
            </a:r>
            <a:r>
              <a:rPr dirty="0" sz="1150" spc="-45">
                <a:latin typeface="Arial"/>
                <a:cs typeface="Arial"/>
              </a:rPr>
              <a:t>stamp </a:t>
            </a:r>
            <a:r>
              <a:rPr dirty="0" sz="1150" spc="-25">
                <a:latin typeface="Arial"/>
                <a:cs typeface="Arial"/>
              </a:rPr>
              <a:t>duty, </a:t>
            </a:r>
            <a:r>
              <a:rPr dirty="0" sz="1150" spc="-55">
                <a:latin typeface="Arial"/>
                <a:cs typeface="Arial"/>
              </a:rPr>
              <a:t>super </a:t>
            </a:r>
            <a:r>
              <a:rPr dirty="0" sz="1150" spc="-35">
                <a:latin typeface="Arial"/>
                <a:cs typeface="Arial"/>
              </a:rPr>
              <a:t>tax, </a:t>
            </a:r>
            <a:r>
              <a:rPr dirty="0" sz="1150" spc="-45">
                <a:latin typeface="Arial"/>
                <a:cs typeface="Arial"/>
              </a:rPr>
              <a:t>income </a:t>
            </a:r>
            <a:r>
              <a:rPr dirty="0" sz="1150" spc="-40">
                <a:latin typeface="Arial"/>
                <a:cs typeface="Arial"/>
              </a:rPr>
              <a:t>tax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registration </a:t>
            </a:r>
            <a:r>
              <a:rPr dirty="0" sz="1150" spc="-45">
                <a:latin typeface="Arial"/>
                <a:cs typeface="Arial"/>
              </a:rPr>
              <a:t>fee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140" b="1">
                <a:latin typeface="Arial"/>
                <a:cs typeface="Arial"/>
              </a:rPr>
              <a:t>DISADVANTAGES </a:t>
            </a:r>
            <a:r>
              <a:rPr dirty="0" sz="1150" spc="-150" b="1">
                <a:latin typeface="Arial"/>
                <a:cs typeface="Arial"/>
              </a:rPr>
              <a:t>OF COOPERATIVE</a:t>
            </a:r>
            <a:r>
              <a:rPr dirty="0" sz="1150" spc="-70" b="1">
                <a:latin typeface="Arial"/>
                <a:cs typeface="Arial"/>
              </a:rPr>
              <a:t> </a:t>
            </a:r>
            <a:r>
              <a:rPr dirty="0" sz="1150" spc="-160" b="1">
                <a:latin typeface="Arial"/>
                <a:cs typeface="Arial"/>
              </a:rPr>
              <a:t>SOCIETY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45">
                <a:latin typeface="Arial"/>
                <a:cs typeface="Arial"/>
              </a:rPr>
              <a:t>Following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disadvantages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cooperative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societies: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469900" indent="-4572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dirty="0" sz="1150" spc="-135" b="1">
                <a:latin typeface="Arial"/>
                <a:cs typeface="Arial"/>
              </a:rPr>
              <a:t>Lack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170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Generally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members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50">
                <a:latin typeface="Arial"/>
                <a:cs typeface="Arial"/>
              </a:rPr>
              <a:t>societies are </a:t>
            </a:r>
            <a:r>
              <a:rPr dirty="0" sz="1150" spc="-30">
                <a:latin typeface="Arial"/>
                <a:cs typeface="Arial"/>
              </a:rPr>
              <a:t>related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poor </a:t>
            </a:r>
            <a:r>
              <a:rPr dirty="0" sz="1150" spc="-40">
                <a:latin typeface="Arial"/>
                <a:cs typeface="Arial"/>
              </a:rPr>
              <a:t>group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40">
                <a:latin typeface="Arial"/>
                <a:cs typeface="Arial"/>
              </a:rPr>
              <a:t>cannot  </a:t>
            </a:r>
            <a:r>
              <a:rPr dirty="0" sz="1150" spc="-35">
                <a:latin typeface="Arial"/>
                <a:cs typeface="Arial"/>
              </a:rPr>
              <a:t>provide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capital on </a:t>
            </a:r>
            <a:r>
              <a:rPr dirty="0" sz="1150" spc="-50">
                <a:latin typeface="Arial"/>
                <a:cs typeface="Arial"/>
              </a:rPr>
              <a:t>large </a:t>
            </a:r>
            <a:r>
              <a:rPr dirty="0" sz="1150" spc="-65">
                <a:latin typeface="Arial"/>
                <a:cs typeface="Arial"/>
              </a:rPr>
              <a:t>scale. </a:t>
            </a:r>
            <a:r>
              <a:rPr dirty="0" sz="1150" spc="-50">
                <a:latin typeface="Arial"/>
                <a:cs typeface="Arial"/>
              </a:rPr>
              <a:t>External </a:t>
            </a:r>
            <a:r>
              <a:rPr dirty="0" sz="1150" spc="-35">
                <a:latin typeface="Arial"/>
                <a:cs typeface="Arial"/>
              </a:rPr>
              <a:t>financial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15">
                <a:latin typeface="Arial"/>
                <a:cs typeface="Arial"/>
              </a:rPr>
              <a:t>limited. </a:t>
            </a:r>
            <a:r>
              <a:rPr dirty="0" sz="1150" spc="-105">
                <a:latin typeface="Arial"/>
                <a:cs typeface="Arial"/>
              </a:rPr>
              <a:t>So, 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75">
                <a:latin typeface="Arial"/>
                <a:cs typeface="Arial"/>
              </a:rPr>
              <a:t>faces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shortage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capital, which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handicap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development.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469900" indent="-457200">
              <a:lnSpc>
                <a:spcPct val="100000"/>
              </a:lnSpc>
              <a:buAutoNum type="arabicPeriod" startAt="2"/>
              <a:tabLst>
                <a:tab pos="469900" algn="l"/>
              </a:tabLst>
            </a:pPr>
            <a:r>
              <a:rPr dirty="0" sz="1150" spc="-65" b="1">
                <a:latin typeface="Arial"/>
                <a:cs typeface="Arial"/>
              </a:rPr>
              <a:t>Untrained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Supervision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government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25">
                <a:latin typeface="Arial"/>
                <a:cs typeface="Arial"/>
              </a:rPr>
              <a:t>sufficient </a:t>
            </a:r>
            <a:r>
              <a:rPr dirty="0" sz="1150" spc="-15">
                <a:latin typeface="Arial"/>
                <a:cs typeface="Arial"/>
              </a:rPr>
              <a:t>control </a:t>
            </a:r>
            <a:r>
              <a:rPr dirty="0" sz="1150" spc="-35">
                <a:latin typeface="Arial"/>
                <a:cs typeface="Arial"/>
              </a:rPr>
              <a:t>over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movement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these societies. </a:t>
            </a:r>
            <a:r>
              <a:rPr dirty="0" sz="1150" spc="-90">
                <a:latin typeface="Arial"/>
                <a:cs typeface="Arial"/>
              </a:rPr>
              <a:t>These  </a:t>
            </a:r>
            <a:r>
              <a:rPr dirty="0" sz="1150" spc="-50">
                <a:latin typeface="Arial"/>
                <a:cs typeface="Arial"/>
              </a:rPr>
              <a:t>societies </a:t>
            </a:r>
            <a:r>
              <a:rPr dirty="0" sz="1150" spc="-40">
                <a:latin typeface="Arial"/>
                <a:cs typeface="Arial"/>
              </a:rPr>
              <a:t>cannot </a:t>
            </a:r>
            <a:r>
              <a:rPr dirty="0" sz="1150" spc="-45">
                <a:latin typeface="Arial"/>
                <a:cs typeface="Arial"/>
              </a:rPr>
              <a:t>prosper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 spc="-20">
                <a:latin typeface="Arial"/>
                <a:cs typeface="Arial"/>
              </a:rPr>
              <a:t>the staff </a:t>
            </a:r>
            <a:r>
              <a:rPr dirty="0" sz="1150" spc="-35">
                <a:latin typeface="Arial"/>
                <a:cs typeface="Arial"/>
              </a:rPr>
              <a:t>appointed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5">
                <a:latin typeface="Arial"/>
                <a:cs typeface="Arial"/>
              </a:rPr>
              <a:t>supervision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mostly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untrained.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469900" indent="-457200">
              <a:lnSpc>
                <a:spcPct val="100000"/>
              </a:lnSpc>
              <a:buAutoNum type="arabicPeriod" startAt="3"/>
              <a:tabLst>
                <a:tab pos="469900" algn="l"/>
              </a:tabLst>
            </a:pPr>
            <a:r>
              <a:rPr dirty="0" sz="1150" spc="-70" b="1">
                <a:latin typeface="Arial"/>
                <a:cs typeface="Arial"/>
              </a:rPr>
              <a:t>Defective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Organization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AutoNum type="arabicPeriod" startAt="3"/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organizations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50">
                <a:latin typeface="Arial"/>
                <a:cs typeface="Arial"/>
              </a:rPr>
              <a:t>societies are </a:t>
            </a:r>
            <a:r>
              <a:rPr dirty="0" sz="1150" spc="-35">
                <a:latin typeface="Arial"/>
                <a:cs typeface="Arial"/>
              </a:rPr>
              <a:t>defective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these  </a:t>
            </a:r>
            <a:r>
              <a:rPr dirty="0" sz="1150" spc="-40">
                <a:latin typeface="Arial"/>
                <a:cs typeface="Arial"/>
              </a:rPr>
              <a:t>cannot </a:t>
            </a:r>
            <a:r>
              <a:rPr dirty="0" sz="1150" spc="-35">
                <a:latin typeface="Arial"/>
                <a:cs typeface="Arial"/>
              </a:rPr>
              <a:t>operate  </a:t>
            </a:r>
            <a:r>
              <a:rPr dirty="0" sz="1150" spc="-20">
                <a:latin typeface="Arial"/>
                <a:cs typeface="Arial"/>
              </a:rPr>
              <a:t>efficiently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>
                <a:latin typeface="Arial"/>
                <a:cs typeface="Arial"/>
              </a:rPr>
              <a:t>fulfill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objectives.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469900" indent="-457200">
              <a:lnSpc>
                <a:spcPct val="100000"/>
              </a:lnSpc>
              <a:buAutoNum type="arabicPeriod" startAt="4"/>
              <a:tabLst>
                <a:tab pos="469900" algn="l"/>
              </a:tabLst>
            </a:pPr>
            <a:r>
              <a:rPr dirty="0" sz="1150" spc="-35" b="1">
                <a:latin typeface="Arial"/>
                <a:cs typeface="Arial"/>
              </a:rPr>
              <a:t>Illiterate </a:t>
            </a:r>
            <a:r>
              <a:rPr dirty="0" sz="1150" spc="-85" b="1">
                <a:latin typeface="Arial"/>
                <a:cs typeface="Arial"/>
              </a:rPr>
              <a:t>and </a:t>
            </a:r>
            <a:r>
              <a:rPr dirty="0" sz="1150" spc="-70" b="1">
                <a:latin typeface="Arial"/>
                <a:cs typeface="Arial"/>
              </a:rPr>
              <a:t>Ignorant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4"/>
            </a:pPr>
            <a:endParaRPr sz="120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20">
                <a:latin typeface="Arial"/>
                <a:cs typeface="Arial"/>
              </a:rPr>
              <a:t>our </a:t>
            </a:r>
            <a:r>
              <a:rPr dirty="0" sz="1150" spc="-30">
                <a:latin typeface="Arial"/>
                <a:cs typeface="Arial"/>
              </a:rPr>
              <a:t>country,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villagers are </a:t>
            </a:r>
            <a:r>
              <a:rPr dirty="0" sz="1150" spc="-45">
                <a:latin typeface="Arial"/>
                <a:cs typeface="Arial"/>
              </a:rPr>
              <a:t>generally </a:t>
            </a:r>
            <a:r>
              <a:rPr dirty="0" sz="1150" spc="-10">
                <a:latin typeface="Arial"/>
                <a:cs typeface="Arial"/>
              </a:rPr>
              <a:t>illiterate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ignorant. </a:t>
            </a:r>
            <a:r>
              <a:rPr dirty="0" sz="1150" spc="-105">
                <a:latin typeface="Arial"/>
                <a:cs typeface="Arial"/>
              </a:rPr>
              <a:t>So, </a:t>
            </a:r>
            <a:r>
              <a:rPr dirty="0" sz="1150" spc="-25">
                <a:latin typeface="Arial"/>
                <a:cs typeface="Arial"/>
              </a:rPr>
              <a:t>they </a:t>
            </a:r>
            <a:r>
              <a:rPr dirty="0" sz="1150" spc="-45">
                <a:latin typeface="Arial"/>
                <a:cs typeface="Arial"/>
              </a:rPr>
              <a:t>are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20">
                <a:latin typeface="Arial"/>
                <a:cs typeface="Arial"/>
              </a:rPr>
              <a:t>familiar  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basic </a:t>
            </a:r>
            <a:r>
              <a:rPr dirty="0" sz="1150" spc="-45">
                <a:latin typeface="Arial"/>
                <a:cs typeface="Arial"/>
              </a:rPr>
              <a:t>concept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50">
                <a:latin typeface="Arial"/>
                <a:cs typeface="Arial"/>
              </a:rPr>
              <a:t>societies.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469900" indent="-457200">
              <a:lnSpc>
                <a:spcPct val="100000"/>
              </a:lnSpc>
              <a:buAutoNum type="arabicPeriod" startAt="5"/>
              <a:tabLst>
                <a:tab pos="469900" algn="l"/>
              </a:tabLst>
            </a:pPr>
            <a:r>
              <a:rPr dirty="0" sz="1150" spc="-135" b="1">
                <a:latin typeface="Arial"/>
                <a:cs typeface="Arial"/>
              </a:rPr>
              <a:t>Lack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170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Experience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members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societies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80">
                <a:latin typeface="Arial"/>
                <a:cs typeface="Arial"/>
              </a:rPr>
              <a:t>less </a:t>
            </a:r>
            <a:r>
              <a:rPr dirty="0" sz="1150" spc="-50">
                <a:latin typeface="Arial"/>
                <a:cs typeface="Arial"/>
              </a:rPr>
              <a:t>experience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-8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lack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capital, </a:t>
            </a:r>
            <a:r>
              <a:rPr dirty="0" sz="1150" spc="-30">
                <a:latin typeface="Arial"/>
                <a:cs typeface="Arial"/>
              </a:rPr>
              <a:t>they  </a:t>
            </a:r>
            <a:r>
              <a:rPr dirty="0" sz="1150" spc="-40">
                <a:latin typeface="Arial"/>
                <a:cs typeface="Arial"/>
              </a:rPr>
              <a:t>cannot </a:t>
            </a:r>
            <a:r>
              <a:rPr dirty="0" sz="1150" spc="-25">
                <a:latin typeface="Arial"/>
                <a:cs typeface="Arial"/>
              </a:rPr>
              <a:t>hire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services </a:t>
            </a:r>
            <a:r>
              <a:rPr dirty="0" sz="1150" spc="-10">
                <a:latin typeface="Arial"/>
                <a:cs typeface="Arial"/>
              </a:rPr>
              <a:t>of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experts.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76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7688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469265" algn="l"/>
                <a:tab pos="469900" algn="l"/>
              </a:tabLst>
            </a:pPr>
            <a:r>
              <a:rPr dirty="0" sz="1150" spc="-135" b="1">
                <a:latin typeface="Arial"/>
                <a:cs typeface="Arial"/>
              </a:rPr>
              <a:t>Lack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170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Discipline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6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Every </a:t>
            </a:r>
            <a:r>
              <a:rPr dirty="0" sz="1150" spc="-40">
                <a:latin typeface="Arial"/>
                <a:cs typeface="Arial"/>
              </a:rPr>
              <a:t>member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60">
                <a:latin typeface="Arial"/>
                <a:cs typeface="Arial"/>
              </a:rPr>
              <a:t>considers </a:t>
            </a:r>
            <a:r>
              <a:rPr dirty="0" sz="1150" spc="-35">
                <a:latin typeface="Arial"/>
                <a:cs typeface="Arial"/>
              </a:rPr>
              <a:t>himself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owner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business.  </a:t>
            </a:r>
            <a:r>
              <a:rPr dirty="0" sz="1150" spc="-8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lack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discipline,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5">
                <a:latin typeface="Arial"/>
                <a:cs typeface="Arial"/>
              </a:rPr>
              <a:t>suffers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loss.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 startAt="7"/>
              <a:tabLst>
                <a:tab pos="469265" algn="l"/>
                <a:tab pos="469900" algn="l"/>
              </a:tabLst>
            </a:pPr>
            <a:r>
              <a:rPr dirty="0" sz="1150" spc="-135" b="1">
                <a:latin typeface="Arial"/>
                <a:cs typeface="Arial"/>
              </a:rPr>
              <a:t>Lack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00" b="1">
                <a:latin typeface="Arial"/>
                <a:cs typeface="Arial"/>
              </a:rPr>
              <a:t>Sincere</a:t>
            </a:r>
            <a:r>
              <a:rPr dirty="0" sz="1150" spc="-185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Management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7"/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  <a:spcBef>
                <a:spcPts val="5"/>
              </a:spcBef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our </a:t>
            </a:r>
            <a:r>
              <a:rPr dirty="0" sz="1150" spc="-45">
                <a:latin typeface="Arial"/>
                <a:cs typeface="Arial"/>
              </a:rPr>
              <a:t>common </a:t>
            </a:r>
            <a:r>
              <a:rPr dirty="0" sz="1150" spc="-40">
                <a:latin typeface="Arial"/>
                <a:cs typeface="Arial"/>
              </a:rPr>
              <a:t>observation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management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50">
                <a:latin typeface="Arial"/>
                <a:cs typeface="Arial"/>
              </a:rPr>
              <a:t>remains </a:t>
            </a:r>
            <a:r>
              <a:rPr dirty="0" sz="1150" spc="-25">
                <a:latin typeface="Arial"/>
                <a:cs typeface="Arial"/>
              </a:rPr>
              <a:t>in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hands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45">
                <a:latin typeface="Arial"/>
                <a:cs typeface="Arial"/>
              </a:rPr>
              <a:t>selfish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dishonest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5">
                <a:latin typeface="Arial"/>
                <a:cs typeface="Arial"/>
              </a:rPr>
              <a:t>members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25">
                <a:latin typeface="Arial"/>
                <a:cs typeface="Arial"/>
              </a:rPr>
              <a:t>obtain </a:t>
            </a:r>
            <a:r>
              <a:rPr dirty="0" sz="1150" spc="-45">
                <a:latin typeface="Arial"/>
                <a:cs typeface="Arial"/>
              </a:rPr>
              <a:t>undue </a:t>
            </a:r>
            <a:r>
              <a:rPr dirty="0" sz="1150" spc="-60">
                <a:latin typeface="Arial"/>
                <a:cs typeface="Arial"/>
              </a:rPr>
              <a:t>advantage </a:t>
            </a:r>
            <a:r>
              <a:rPr dirty="0" sz="1150" spc="-5">
                <a:latin typeface="Arial"/>
                <a:cs typeface="Arial"/>
              </a:rPr>
              <a:t>form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40">
                <a:latin typeface="Arial"/>
                <a:cs typeface="Arial"/>
              </a:rPr>
              <a:t>powers.  </a:t>
            </a:r>
            <a:r>
              <a:rPr dirty="0" sz="1150" spc="-105">
                <a:latin typeface="Arial"/>
                <a:cs typeface="Arial"/>
              </a:rPr>
              <a:t>So,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45">
                <a:latin typeface="Arial"/>
                <a:cs typeface="Arial"/>
              </a:rPr>
              <a:t>suffers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loss.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8"/>
              <a:tabLst>
                <a:tab pos="469265" algn="l"/>
                <a:tab pos="469900" algn="l"/>
              </a:tabLst>
            </a:pPr>
            <a:r>
              <a:rPr dirty="0" sz="1150" spc="-135" b="1">
                <a:latin typeface="Arial"/>
                <a:cs typeface="Arial"/>
              </a:rPr>
              <a:t>Lack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55" b="1">
                <a:latin typeface="Arial"/>
                <a:cs typeface="Arial"/>
              </a:rPr>
              <a:t>Profit</a:t>
            </a:r>
            <a:r>
              <a:rPr dirty="0" sz="1150" spc="-19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Incentive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8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5">
                <a:latin typeface="Arial"/>
                <a:cs typeface="Arial"/>
              </a:rPr>
              <a:t>profit </a:t>
            </a:r>
            <a:r>
              <a:rPr dirty="0" sz="1150" spc="-50">
                <a:latin typeface="Arial"/>
                <a:cs typeface="Arial"/>
              </a:rPr>
              <a:t>earning </a:t>
            </a:r>
            <a:r>
              <a:rPr dirty="0" sz="1150" spc="-10">
                <a:latin typeface="Arial"/>
                <a:cs typeface="Arial"/>
              </a:rPr>
              <a:t>institution. </a:t>
            </a:r>
            <a:r>
              <a:rPr dirty="0" sz="1150" spc="-8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5">
                <a:latin typeface="Arial"/>
                <a:cs typeface="Arial"/>
              </a:rPr>
              <a:t>absence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5">
                <a:latin typeface="Arial"/>
                <a:cs typeface="Arial"/>
              </a:rPr>
              <a:t>profit </a:t>
            </a:r>
            <a:r>
              <a:rPr dirty="0" sz="1150" spc="-35">
                <a:latin typeface="Arial"/>
                <a:cs typeface="Arial"/>
              </a:rPr>
              <a:t>incentive,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progress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very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poor.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 startAt="9"/>
              <a:tabLst>
                <a:tab pos="469265" algn="l"/>
                <a:tab pos="469900" algn="l"/>
              </a:tabLst>
            </a:pPr>
            <a:r>
              <a:rPr dirty="0" sz="1150" spc="-135" b="1">
                <a:latin typeface="Arial"/>
                <a:cs typeface="Arial"/>
              </a:rPr>
              <a:t>Lack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170" b="1">
                <a:latin typeface="Arial"/>
                <a:cs typeface="Arial"/>
              </a:rPr>
              <a:t> </a:t>
            </a:r>
            <a:r>
              <a:rPr dirty="0" sz="1150" spc="-120" b="1">
                <a:latin typeface="Arial"/>
                <a:cs typeface="Arial"/>
              </a:rPr>
              <a:t>Secrecy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AutoNum type="arabicPeriod" startAt="9"/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65">
                <a:latin typeface="Arial"/>
                <a:cs typeface="Arial"/>
              </a:rPr>
              <a:t>There is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70">
                <a:latin typeface="Arial"/>
                <a:cs typeface="Arial"/>
              </a:rPr>
              <a:t>secrecy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cooperative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societies.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0"/>
              <a:tabLst>
                <a:tab pos="469265" algn="l"/>
                <a:tab pos="470534" algn="l"/>
              </a:tabLst>
            </a:pPr>
            <a:r>
              <a:rPr dirty="0" sz="1150" spc="-135" b="1">
                <a:latin typeface="Arial"/>
                <a:cs typeface="Arial"/>
              </a:rPr>
              <a:t>Lack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170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Knowledge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 startAt="10"/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members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35">
                <a:latin typeface="Arial"/>
                <a:cs typeface="Arial"/>
              </a:rPr>
              <a:t>know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principles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rules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society.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105">
                <a:latin typeface="Arial"/>
                <a:cs typeface="Arial"/>
              </a:rPr>
              <a:t>So, 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40">
                <a:latin typeface="Arial"/>
                <a:cs typeface="Arial"/>
              </a:rPr>
              <a:t>create great </a:t>
            </a:r>
            <a:r>
              <a:rPr dirty="0" sz="1150" spc="-30">
                <a:latin typeface="Arial"/>
                <a:cs typeface="Arial"/>
              </a:rPr>
              <a:t>problem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society.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"/>
              </a:spcBef>
              <a:buAutoNum type="arabicPeriod" startAt="11"/>
              <a:tabLst>
                <a:tab pos="469265" algn="l"/>
                <a:tab pos="470534" algn="l"/>
              </a:tabLst>
            </a:pPr>
            <a:r>
              <a:rPr dirty="0" sz="1150" spc="-135" b="1">
                <a:latin typeface="Arial"/>
                <a:cs typeface="Arial"/>
              </a:rPr>
              <a:t>Lack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170" b="1">
                <a:latin typeface="Arial"/>
                <a:cs typeface="Arial"/>
              </a:rPr>
              <a:t> </a:t>
            </a:r>
            <a:r>
              <a:rPr dirty="0" sz="1150" spc="-60" b="1">
                <a:latin typeface="Arial"/>
                <a:cs typeface="Arial"/>
              </a:rPr>
              <a:t>Unity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 startAt="11"/>
            </a:pPr>
            <a:endParaRPr sz="120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absence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proper </a:t>
            </a:r>
            <a:r>
              <a:rPr dirty="0" sz="1150" spc="-40">
                <a:latin typeface="Arial"/>
                <a:cs typeface="Arial"/>
              </a:rPr>
              <a:t>education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training,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80">
                <a:latin typeface="Arial"/>
                <a:cs typeface="Arial"/>
              </a:rPr>
              <a:t>useless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think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unity.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lack 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unity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leads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towards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destruction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2"/>
              <a:tabLst>
                <a:tab pos="469265" algn="l"/>
                <a:tab pos="470534" algn="l"/>
              </a:tabLst>
            </a:pPr>
            <a:r>
              <a:rPr dirty="0" sz="1150" spc="-85" b="1">
                <a:latin typeface="Arial"/>
                <a:cs typeface="Arial"/>
              </a:rPr>
              <a:t>No </a:t>
            </a:r>
            <a:r>
              <a:rPr dirty="0" sz="1150" spc="-110" b="1">
                <a:latin typeface="Arial"/>
                <a:cs typeface="Arial"/>
              </a:rPr>
              <a:t>use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65" b="1">
                <a:latin typeface="Arial"/>
                <a:cs typeface="Arial"/>
              </a:rPr>
              <a:t>New</a:t>
            </a:r>
            <a:r>
              <a:rPr dirty="0" sz="1150" spc="-10" b="1">
                <a:latin typeface="Arial"/>
                <a:cs typeface="Arial"/>
              </a:rPr>
              <a:t> </a:t>
            </a:r>
            <a:r>
              <a:rPr dirty="0" sz="1150" spc="-100" b="1">
                <a:latin typeface="Arial"/>
                <a:cs typeface="Arial"/>
              </a:rPr>
              <a:t>Technology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AutoNum type="arabicPeriod" startAt="12"/>
            </a:pPr>
            <a:endParaRPr sz="1200">
              <a:latin typeface="Arial"/>
              <a:cs typeface="Arial"/>
            </a:endParaRPr>
          </a:p>
          <a:p>
            <a:pPr algn="just" marL="12700" marR="8890">
              <a:lnSpc>
                <a:spcPct val="101699"/>
              </a:lnSpc>
              <a:spcBef>
                <a:spcPts val="5"/>
              </a:spcBef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50">
                <a:latin typeface="Arial"/>
                <a:cs typeface="Arial"/>
              </a:rPr>
              <a:t>societies </a:t>
            </a:r>
            <a:r>
              <a:rPr dirty="0" sz="1150" spc="-40">
                <a:latin typeface="Arial"/>
                <a:cs typeface="Arial"/>
              </a:rPr>
              <a:t>cannot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latest </a:t>
            </a:r>
            <a:r>
              <a:rPr dirty="0" sz="1150" spc="-40">
                <a:latin typeface="Arial"/>
                <a:cs typeface="Arial"/>
              </a:rPr>
              <a:t>technology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production.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result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this,  </a:t>
            </a:r>
            <a:r>
              <a:rPr dirty="0" sz="1150" spc="-55">
                <a:latin typeface="Arial"/>
                <a:cs typeface="Arial"/>
              </a:rPr>
              <a:t>demand and </a:t>
            </a:r>
            <a:r>
              <a:rPr dirty="0" sz="1150" spc="5">
                <a:latin typeface="Arial"/>
                <a:cs typeface="Arial"/>
              </a:rPr>
              <a:t>profit </a:t>
            </a:r>
            <a:r>
              <a:rPr dirty="0" sz="1150" spc="-50">
                <a:latin typeface="Arial"/>
                <a:cs typeface="Arial"/>
              </a:rPr>
              <a:t>remains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low.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AutoNum type="arabicPeriod" startAt="13"/>
              <a:tabLst>
                <a:tab pos="469265" algn="l"/>
                <a:tab pos="470534" algn="l"/>
              </a:tabLst>
            </a:pPr>
            <a:r>
              <a:rPr dirty="0" sz="1150" spc="-85" b="1">
                <a:latin typeface="Arial"/>
                <a:cs typeface="Arial"/>
              </a:rPr>
              <a:t>No </a:t>
            </a:r>
            <a:r>
              <a:rPr dirty="0" sz="1150" spc="-100" b="1">
                <a:latin typeface="Arial"/>
                <a:cs typeface="Arial"/>
              </a:rPr>
              <a:t>Public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Confidence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45">
                <a:latin typeface="Arial"/>
                <a:cs typeface="Arial"/>
              </a:rPr>
              <a:t>society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40">
                <a:latin typeface="Arial"/>
                <a:cs typeface="Arial"/>
              </a:rPr>
              <a:t>bound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publish </a:t>
            </a:r>
            <a:r>
              <a:rPr dirty="0" sz="1150" spc="-50">
                <a:latin typeface="Arial"/>
                <a:cs typeface="Arial"/>
              </a:rPr>
              <a:t>annual </a:t>
            </a:r>
            <a:r>
              <a:rPr dirty="0" sz="1150" spc="-35">
                <a:latin typeface="Arial"/>
                <a:cs typeface="Arial"/>
              </a:rPr>
              <a:t>financial </a:t>
            </a:r>
            <a:r>
              <a:rPr dirty="0" sz="1150" spc="-40">
                <a:latin typeface="Arial"/>
                <a:cs typeface="Arial"/>
              </a:rPr>
              <a:t>statements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general </a:t>
            </a:r>
            <a:r>
              <a:rPr dirty="0" sz="1150" spc="-35">
                <a:latin typeface="Arial"/>
                <a:cs typeface="Arial"/>
              </a:rPr>
              <a:t>public. </a:t>
            </a:r>
            <a:r>
              <a:rPr dirty="0" sz="1150" spc="-8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35">
                <a:latin typeface="Arial"/>
                <a:cs typeface="Arial"/>
              </a:rPr>
              <a:t>public </a:t>
            </a:r>
            <a:r>
              <a:rPr dirty="0" sz="1150" spc="-70">
                <a:latin typeface="Arial"/>
                <a:cs typeface="Arial"/>
              </a:rPr>
              <a:t>shows </a:t>
            </a:r>
            <a:r>
              <a:rPr dirty="0" sz="1150" spc="-80">
                <a:latin typeface="Arial"/>
                <a:cs typeface="Arial"/>
              </a:rPr>
              <a:t>less </a:t>
            </a:r>
            <a:r>
              <a:rPr dirty="0" sz="1150" spc="-45">
                <a:latin typeface="Arial"/>
                <a:cs typeface="Arial"/>
              </a:rPr>
              <a:t>confidence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them.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dirty="0" sz="1150" spc="-40" b="1">
                <a:latin typeface="Arial"/>
                <a:cs typeface="Arial"/>
              </a:rPr>
              <a:t>14.</a:t>
            </a:r>
            <a:r>
              <a:rPr dirty="0" sz="1150" spc="-40">
                <a:latin typeface="Times New Roman"/>
                <a:cs typeface="Times New Roman"/>
              </a:rPr>
              <a:t>	</a:t>
            </a:r>
            <a:r>
              <a:rPr dirty="0" sz="1150" spc="-75" b="1">
                <a:latin typeface="Arial"/>
                <a:cs typeface="Arial"/>
              </a:rPr>
              <a:t>Delay </a:t>
            </a:r>
            <a:r>
              <a:rPr dirty="0" sz="1150" spc="-60" b="1">
                <a:latin typeface="Arial"/>
                <a:cs typeface="Arial"/>
              </a:rPr>
              <a:t>in</a:t>
            </a:r>
            <a:r>
              <a:rPr dirty="0" sz="1150" spc="-50" b="1">
                <a:latin typeface="Arial"/>
                <a:cs typeface="Arial"/>
              </a:rPr>
              <a:t> </a:t>
            </a:r>
            <a:r>
              <a:rPr dirty="0" sz="1150" spc="-100" b="1">
                <a:latin typeface="Arial"/>
                <a:cs typeface="Arial"/>
              </a:rPr>
              <a:t>Decision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main </a:t>
            </a:r>
            <a:r>
              <a:rPr dirty="0" sz="1150" spc="-85">
                <a:latin typeface="Arial"/>
                <a:cs typeface="Arial"/>
              </a:rPr>
              <a:t>cause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failure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50">
                <a:latin typeface="Arial"/>
                <a:cs typeface="Arial"/>
              </a:rPr>
              <a:t>societies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delayed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decisions.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77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070" cy="914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1150" spc="-40" b="1">
                <a:latin typeface="Arial"/>
                <a:cs typeface="Arial"/>
              </a:rPr>
              <a:t>15.</a:t>
            </a:r>
            <a:r>
              <a:rPr dirty="0" sz="1150" spc="-40">
                <a:latin typeface="Times New Roman"/>
                <a:cs typeface="Times New Roman"/>
              </a:rPr>
              <a:t>	</a:t>
            </a:r>
            <a:r>
              <a:rPr dirty="0" sz="1150" spc="-80" b="1">
                <a:latin typeface="Arial"/>
                <a:cs typeface="Arial"/>
              </a:rPr>
              <a:t>Government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Control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25">
                <a:latin typeface="Arial"/>
                <a:cs typeface="Arial"/>
              </a:rPr>
              <a:t>department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provincial </a:t>
            </a:r>
            <a:r>
              <a:rPr dirty="0" sz="1150" spc="-40">
                <a:latin typeface="Arial"/>
                <a:cs typeface="Arial"/>
              </a:rPr>
              <a:t>government </a:t>
            </a:r>
            <a:r>
              <a:rPr dirty="0" sz="1150" spc="-65">
                <a:latin typeface="Arial"/>
                <a:cs typeface="Arial"/>
              </a:rPr>
              <a:t>supervises </a:t>
            </a:r>
            <a:r>
              <a:rPr dirty="0" sz="1150" spc="-20">
                <a:latin typeface="Arial"/>
                <a:cs typeface="Arial"/>
              </a:rPr>
              <a:t>the work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  </a:t>
            </a:r>
            <a:r>
              <a:rPr dirty="0" sz="1150" spc="-40">
                <a:latin typeface="Arial"/>
                <a:cs typeface="Arial"/>
              </a:rPr>
              <a:t>cooperative </a:t>
            </a:r>
            <a:r>
              <a:rPr dirty="0" sz="1150" spc="-50">
                <a:latin typeface="Arial"/>
                <a:cs typeface="Arial"/>
              </a:rPr>
              <a:t>societies.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60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25">
                <a:latin typeface="Arial"/>
                <a:cs typeface="Arial"/>
              </a:rPr>
              <a:t>free </a:t>
            </a:r>
            <a:r>
              <a:rPr dirty="0" sz="1150" spc="-30">
                <a:latin typeface="Arial"/>
                <a:cs typeface="Arial"/>
              </a:rPr>
              <a:t>like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0">
                <a:latin typeface="Arial"/>
                <a:cs typeface="Arial"/>
              </a:rPr>
              <a:t>forms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business,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25">
                <a:latin typeface="Arial"/>
                <a:cs typeface="Arial"/>
              </a:rPr>
              <a:t>it  </a:t>
            </a:r>
            <a:r>
              <a:rPr dirty="0" sz="1150" spc="-40">
                <a:latin typeface="Arial"/>
                <a:cs typeface="Arial"/>
              </a:rPr>
              <a:t>cannot </a:t>
            </a:r>
            <a:r>
              <a:rPr dirty="0" sz="1150" spc="-45">
                <a:latin typeface="Arial"/>
                <a:cs typeface="Arial"/>
              </a:rPr>
              <a:t>earn </a:t>
            </a:r>
            <a:r>
              <a:rPr dirty="0" sz="1150" spc="-50">
                <a:latin typeface="Arial"/>
                <a:cs typeface="Arial"/>
              </a:rPr>
              <a:t>maximum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profit.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78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312920" y="891035"/>
            <a:ext cx="4328795" cy="83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9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250" b="1">
                <a:latin typeface="Arial"/>
                <a:cs typeface="Arial"/>
              </a:rPr>
              <a:t>CONCEPT </a:t>
            </a:r>
            <a:r>
              <a:rPr dirty="0" sz="1750" spc="-220" b="1">
                <a:latin typeface="Arial"/>
                <a:cs typeface="Arial"/>
              </a:rPr>
              <a:t>OF</a:t>
            </a:r>
            <a:r>
              <a:rPr dirty="0" sz="1750" spc="-180" b="1">
                <a:latin typeface="Arial"/>
                <a:cs typeface="Arial"/>
              </a:rPr>
              <a:t> </a:t>
            </a:r>
            <a:r>
              <a:rPr dirty="0" sz="1750" spc="-229" b="1">
                <a:latin typeface="Arial"/>
                <a:cs typeface="Arial"/>
              </a:rPr>
              <a:t>ENTREPRENEURSHIP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79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288" y="2125475"/>
            <a:ext cx="5513070" cy="6922134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715">
              <a:lnSpc>
                <a:spcPct val="101699"/>
              </a:lnSpc>
              <a:spcBef>
                <a:spcPts val="75"/>
              </a:spcBef>
            </a:pPr>
            <a:r>
              <a:rPr dirty="0" sz="1150" spc="-45">
                <a:latin typeface="Arial"/>
                <a:cs typeface="Arial"/>
              </a:rPr>
              <a:t>Entrepreneurship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ability 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30">
                <a:latin typeface="Arial"/>
                <a:cs typeface="Arial"/>
              </a:rPr>
              <a:t>individual </a:t>
            </a:r>
            <a:r>
              <a:rPr dirty="0" sz="1150" spc="-25">
                <a:latin typeface="Arial"/>
                <a:cs typeface="Arial"/>
              </a:rPr>
              <a:t>tries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find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opportunity, </a:t>
            </a:r>
            <a:r>
              <a:rPr dirty="0" sz="1150" spc="-40">
                <a:latin typeface="Arial"/>
                <a:cs typeface="Arial"/>
              </a:rPr>
              <a:t>take risk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avail these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opportunities.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85" b="1">
                <a:latin typeface="Arial"/>
                <a:cs typeface="Arial"/>
              </a:rPr>
              <a:t>Who </a:t>
            </a:r>
            <a:r>
              <a:rPr dirty="0" sz="1350" spc="-75" b="1">
                <a:latin typeface="Arial"/>
                <a:cs typeface="Arial"/>
              </a:rPr>
              <a:t>are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Entrepreneurs?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150" spc="-65">
                <a:latin typeface="Arial"/>
                <a:cs typeface="Arial"/>
              </a:rPr>
              <a:t>People have </a:t>
            </a:r>
            <a:r>
              <a:rPr dirty="0" sz="1150" spc="-35">
                <a:latin typeface="Arial"/>
                <a:cs typeface="Arial"/>
              </a:rPr>
              <a:t>more </a:t>
            </a:r>
            <a:r>
              <a:rPr dirty="0" sz="1150" spc="-30">
                <a:latin typeface="Arial"/>
                <a:cs typeface="Arial"/>
              </a:rPr>
              <a:t>entrepreneurial abilities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who: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85">
                <a:latin typeface="Arial"/>
                <a:cs typeface="Arial"/>
              </a:rPr>
              <a:t>Have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aspiration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85">
                <a:latin typeface="Arial"/>
                <a:cs typeface="Arial"/>
              </a:rPr>
              <a:t>Have </a:t>
            </a:r>
            <a:r>
              <a:rPr dirty="0" sz="1150" spc="-35">
                <a:latin typeface="Arial"/>
                <a:cs typeface="Arial"/>
              </a:rPr>
              <a:t>more practical </a:t>
            </a:r>
            <a:r>
              <a:rPr dirty="0" sz="1150" spc="-45">
                <a:latin typeface="Arial"/>
                <a:cs typeface="Arial"/>
              </a:rPr>
              <a:t>strategies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implement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85">
                <a:latin typeface="Arial"/>
                <a:cs typeface="Arial"/>
              </a:rPr>
              <a:t>Have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vision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50">
                <a:latin typeface="Arial"/>
                <a:cs typeface="Arial"/>
              </a:rPr>
              <a:t>Understanding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environment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70">
                <a:latin typeface="Arial"/>
                <a:cs typeface="Arial"/>
              </a:rPr>
              <a:t>Being </a:t>
            </a:r>
            <a:r>
              <a:rPr dirty="0" sz="1150" spc="-45">
                <a:latin typeface="Arial"/>
                <a:cs typeface="Arial"/>
              </a:rPr>
              <a:t>visionary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flexible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0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60">
                <a:latin typeface="Arial"/>
                <a:cs typeface="Arial"/>
              </a:rPr>
              <a:t>Creating </a:t>
            </a:r>
            <a:r>
              <a:rPr dirty="0" sz="1150" spc="-50">
                <a:latin typeface="Arial"/>
                <a:cs typeface="Arial"/>
              </a:rPr>
              <a:t>management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options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75">
                <a:latin typeface="Arial"/>
                <a:cs typeface="Arial"/>
              </a:rPr>
              <a:t>Encourage </a:t>
            </a:r>
            <a:r>
              <a:rPr dirty="0" sz="1150" spc="-30">
                <a:latin typeface="Arial"/>
                <a:cs typeface="Arial"/>
              </a:rPr>
              <a:t>teamwork </a:t>
            </a:r>
            <a:r>
              <a:rPr dirty="0" sz="1150" spc="-25">
                <a:latin typeface="Arial"/>
                <a:cs typeface="Arial"/>
              </a:rPr>
              <a:t>while </a:t>
            </a:r>
            <a:r>
              <a:rPr dirty="0" sz="1150" spc="-45">
                <a:latin typeface="Arial"/>
                <a:cs typeface="Arial"/>
              </a:rPr>
              <a:t>employing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multi-disciplined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approach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65">
                <a:latin typeface="Arial"/>
                <a:cs typeface="Arial"/>
              </a:rPr>
              <a:t>Encouraging </a:t>
            </a:r>
            <a:r>
              <a:rPr dirty="0" sz="1150" spc="-45">
                <a:latin typeface="Arial"/>
                <a:cs typeface="Arial"/>
              </a:rPr>
              <a:t>open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discussion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45">
                <a:latin typeface="Arial"/>
                <a:cs typeface="Arial"/>
              </a:rPr>
              <a:t>6. Building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coalition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supporters.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05" b="1">
                <a:latin typeface="Arial"/>
                <a:cs typeface="Arial"/>
              </a:rPr>
              <a:t>Characteristics </a:t>
            </a:r>
            <a:r>
              <a:rPr dirty="0" sz="1350" spc="-65" b="1">
                <a:latin typeface="Arial"/>
                <a:cs typeface="Arial"/>
              </a:rPr>
              <a:t>of</a:t>
            </a:r>
            <a:r>
              <a:rPr dirty="0" sz="1350" spc="-40" b="1">
                <a:latin typeface="Arial"/>
                <a:cs typeface="Arial"/>
              </a:rPr>
              <a:t> </a:t>
            </a:r>
            <a:r>
              <a:rPr dirty="0" sz="1350" spc="-95" b="1">
                <a:latin typeface="Arial"/>
                <a:cs typeface="Arial"/>
              </a:rPr>
              <a:t>Entrepreneurs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Wingdings"/>
              <a:buChar char=""/>
              <a:tabLst>
                <a:tab pos="470534" algn="l"/>
              </a:tabLst>
            </a:pPr>
            <a:r>
              <a:rPr dirty="0" sz="1250" spc="-100" b="1">
                <a:latin typeface="Arial"/>
                <a:cs typeface="Arial"/>
              </a:rPr>
              <a:t>Personal</a:t>
            </a:r>
            <a:r>
              <a:rPr dirty="0" sz="1250" spc="-60" b="1">
                <a:latin typeface="Arial"/>
                <a:cs typeface="Arial"/>
              </a:rPr>
              <a:t> Interest</a:t>
            </a:r>
            <a:endParaRPr sz="12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30"/>
              </a:spcBef>
            </a:pP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50">
                <a:latin typeface="Arial"/>
                <a:cs typeface="Arial"/>
              </a:rPr>
              <a:t>personal </a:t>
            </a:r>
            <a:r>
              <a:rPr dirty="0" sz="1150" spc="-25">
                <a:latin typeface="Arial"/>
                <a:cs typeface="Arial"/>
              </a:rPr>
              <a:t>interest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>
                <a:latin typeface="Arial"/>
                <a:cs typeface="Arial"/>
              </a:rPr>
              <a:t>of two </a:t>
            </a:r>
            <a:r>
              <a:rPr dirty="0" sz="1150" spc="-50">
                <a:latin typeface="Arial"/>
                <a:cs typeface="Arial"/>
              </a:rPr>
              <a:t>common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types: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25">
                <a:latin typeface="Arial"/>
                <a:cs typeface="Arial"/>
              </a:rPr>
              <a:t>Interest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own </a:t>
            </a:r>
            <a:r>
              <a:rPr dirty="0" sz="1150" spc="-35">
                <a:latin typeface="Arial"/>
                <a:cs typeface="Arial"/>
              </a:rPr>
              <a:t>personality development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25">
                <a:latin typeface="Arial"/>
                <a:cs typeface="Arial"/>
              </a:rPr>
              <a:t>Interest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financial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growth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at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market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place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Font typeface="Wingdings"/>
              <a:buChar char=""/>
            </a:pPr>
            <a:endParaRPr sz="12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Wingdings"/>
              <a:buChar char=""/>
              <a:tabLst>
                <a:tab pos="470534" algn="l"/>
              </a:tabLst>
            </a:pPr>
            <a:r>
              <a:rPr dirty="0" sz="1250" spc="-105" b="1">
                <a:latin typeface="Arial"/>
                <a:cs typeface="Arial"/>
              </a:rPr>
              <a:t>Customer </a:t>
            </a:r>
            <a:r>
              <a:rPr dirty="0" sz="1250" spc="-90" b="1">
                <a:latin typeface="Arial"/>
                <a:cs typeface="Arial"/>
              </a:rPr>
              <a:t>Relationship</a:t>
            </a:r>
            <a:r>
              <a:rPr dirty="0" sz="1250" spc="-20" b="1">
                <a:latin typeface="Arial"/>
                <a:cs typeface="Arial"/>
              </a:rPr>
              <a:t> </a:t>
            </a:r>
            <a:r>
              <a:rPr dirty="0" sz="1250" spc="-85" b="1">
                <a:latin typeface="Arial"/>
                <a:cs typeface="Arial"/>
              </a:rPr>
              <a:t>building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</a:pP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>
                <a:latin typeface="Arial"/>
                <a:cs typeface="Arial"/>
              </a:rPr>
              <a:t>two </a:t>
            </a:r>
            <a:r>
              <a:rPr dirty="0" sz="1150" spc="-50">
                <a:latin typeface="Arial"/>
                <a:cs typeface="Arial"/>
              </a:rPr>
              <a:t>types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customer </a:t>
            </a:r>
            <a:r>
              <a:rPr dirty="0" sz="1150" spc="-20">
                <a:latin typeface="Arial"/>
                <a:cs typeface="Arial"/>
              </a:rPr>
              <a:t>relation </a:t>
            </a:r>
            <a:r>
              <a:rPr dirty="0" sz="1150" spc="-50">
                <a:latin typeface="Arial"/>
                <a:cs typeface="Arial"/>
              </a:rPr>
              <a:t>ship </a:t>
            </a:r>
            <a:r>
              <a:rPr dirty="0" sz="1150" spc="-35">
                <a:latin typeface="Arial"/>
                <a:cs typeface="Arial"/>
              </a:rPr>
              <a:t>building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35">
                <a:latin typeface="Arial"/>
                <a:cs typeface="Arial"/>
              </a:rPr>
              <a:t>under: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lvl="1" marL="927100" indent="-229235">
              <a:lnSpc>
                <a:spcPct val="100000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85" b="1">
                <a:latin typeface="Arial"/>
                <a:cs typeface="Arial"/>
              </a:rPr>
              <a:t>Transactional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60" b="1">
                <a:latin typeface="Arial"/>
                <a:cs typeface="Arial"/>
              </a:rPr>
              <a:t>Marketing</a:t>
            </a:r>
            <a:endParaRPr sz="1150">
              <a:latin typeface="Arial"/>
              <a:cs typeface="Arial"/>
            </a:endParaRPr>
          </a:p>
          <a:p>
            <a:pPr algn="just" marL="9271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30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marketing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75">
                <a:latin typeface="Arial"/>
                <a:cs typeface="Arial"/>
              </a:rPr>
              <a:t>based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30">
                <a:latin typeface="Arial"/>
                <a:cs typeface="Arial"/>
              </a:rPr>
              <a:t>only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35">
                <a:latin typeface="Arial"/>
                <a:cs typeface="Arial"/>
              </a:rPr>
              <a:t>transaction, </a:t>
            </a:r>
            <a:r>
              <a:rPr dirty="0" sz="1150" spc="-20">
                <a:latin typeface="Arial"/>
                <a:cs typeface="Arial"/>
              </a:rPr>
              <a:t>just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get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5">
                <a:latin typeface="Arial"/>
                <a:cs typeface="Arial"/>
              </a:rPr>
              <a:t>financials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35">
                <a:latin typeface="Arial"/>
                <a:cs typeface="Arial"/>
              </a:rPr>
              <a:t>provide products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0">
                <a:latin typeface="Arial"/>
                <a:cs typeface="Arial"/>
              </a:rPr>
              <a:t>return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customers. </a:t>
            </a:r>
            <a:r>
              <a:rPr dirty="0" sz="1150" spc="-35">
                <a:latin typeface="Arial"/>
                <a:cs typeface="Arial"/>
              </a:rPr>
              <a:t>(Its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30">
                <a:latin typeface="Arial"/>
                <a:cs typeface="Arial"/>
              </a:rPr>
              <a:t>how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15">
                <a:latin typeface="Arial"/>
                <a:cs typeface="Arial"/>
              </a:rPr>
              <a:t>traditional </a:t>
            </a:r>
            <a:r>
              <a:rPr dirty="0" sz="1150" spc="-50">
                <a:latin typeface="Arial"/>
                <a:cs typeface="Arial"/>
              </a:rPr>
              <a:t>approach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customer </a:t>
            </a:r>
            <a:r>
              <a:rPr dirty="0" sz="1150" spc="-30">
                <a:latin typeface="Arial"/>
                <a:cs typeface="Arial"/>
              </a:rPr>
              <a:t>relationship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management)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lvl="1" marL="927100" indent="-229235">
              <a:lnSpc>
                <a:spcPct val="100000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80" b="1">
                <a:latin typeface="Arial"/>
                <a:cs typeface="Arial"/>
              </a:rPr>
              <a:t>Relationship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60" b="1">
                <a:latin typeface="Arial"/>
                <a:cs typeface="Arial"/>
              </a:rPr>
              <a:t>Marketing</a:t>
            </a:r>
            <a:endParaRPr sz="1150">
              <a:latin typeface="Arial"/>
              <a:cs typeface="Arial"/>
            </a:endParaRPr>
          </a:p>
          <a:p>
            <a:pPr algn="just" marL="927100" marR="5715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30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marketing </a:t>
            </a:r>
            <a:r>
              <a:rPr dirty="0" sz="1150" spc="-75">
                <a:latin typeface="Arial"/>
                <a:cs typeface="Arial"/>
              </a:rPr>
              <a:t>based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45">
                <a:latin typeface="Arial"/>
                <a:cs typeface="Arial"/>
              </a:rPr>
              <a:t>long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term </a:t>
            </a:r>
            <a:r>
              <a:rPr dirty="0" sz="1150" spc="-60">
                <a:latin typeface="Arial"/>
                <a:cs typeface="Arial"/>
              </a:rPr>
              <a:t>service </a:t>
            </a:r>
            <a:r>
              <a:rPr dirty="0" sz="1150" spc="-35">
                <a:latin typeface="Arial"/>
                <a:cs typeface="Arial"/>
              </a:rPr>
              <a:t>provision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0">
                <a:latin typeface="Arial"/>
                <a:cs typeface="Arial"/>
              </a:rPr>
              <a:t>customer,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get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-55">
                <a:latin typeface="Arial"/>
                <a:cs typeface="Arial"/>
              </a:rPr>
              <a:t>once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30">
                <a:latin typeface="Arial"/>
                <a:cs typeface="Arial"/>
              </a:rPr>
              <a:t>your </a:t>
            </a:r>
            <a:r>
              <a:rPr dirty="0" sz="1150" spc="-40">
                <a:latin typeface="Arial"/>
                <a:cs typeface="Arial"/>
              </a:rPr>
              <a:t>customer, </a:t>
            </a:r>
            <a:r>
              <a:rPr dirty="0" sz="1150">
                <a:latin typeface="Arial"/>
                <a:cs typeface="Arial"/>
              </a:rPr>
              <a:t>fulfill that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best 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possible manners, </a:t>
            </a:r>
            <a:r>
              <a:rPr dirty="0" sz="1150" spc="-35">
                <a:latin typeface="Arial"/>
                <a:cs typeface="Arial"/>
              </a:rPr>
              <a:t>provide </a:t>
            </a: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80">
                <a:latin typeface="Arial"/>
                <a:cs typeface="Arial"/>
              </a:rPr>
              <a:t>sales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retain</a:t>
            </a:r>
            <a:r>
              <a:rPr dirty="0" sz="1150" spc="14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that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8" y="892559"/>
            <a:ext cx="5514340" cy="7416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9271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40">
                <a:latin typeface="Arial"/>
                <a:cs typeface="Arial"/>
              </a:rPr>
              <a:t>customer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0">
                <a:latin typeface="Arial"/>
                <a:cs typeface="Arial"/>
              </a:rPr>
              <a:t>longer </a:t>
            </a:r>
            <a:r>
              <a:rPr dirty="0" sz="1150" spc="-30">
                <a:latin typeface="Arial"/>
                <a:cs typeface="Arial"/>
              </a:rPr>
              <a:t>period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0">
                <a:latin typeface="Arial"/>
                <a:cs typeface="Arial"/>
              </a:rPr>
              <a:t>time </a:t>
            </a:r>
            <a:r>
              <a:rPr dirty="0" sz="1150" spc="5">
                <a:latin typeface="Arial"/>
                <a:cs typeface="Arial"/>
              </a:rPr>
              <a:t>(it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80">
                <a:latin typeface="Arial"/>
                <a:cs typeface="Arial"/>
              </a:rPr>
              <a:t>based </a:t>
            </a:r>
            <a:r>
              <a:rPr dirty="0" sz="1150" spc="-35">
                <a:latin typeface="Arial"/>
                <a:cs typeface="Arial"/>
              </a:rPr>
              <a:t>on modern </a:t>
            </a:r>
            <a:r>
              <a:rPr dirty="0" sz="1150" spc="-40">
                <a:latin typeface="Arial"/>
                <a:cs typeface="Arial"/>
              </a:rPr>
              <a:t>customer  </a:t>
            </a:r>
            <a:r>
              <a:rPr dirty="0" sz="1150" spc="-30">
                <a:latin typeface="Arial"/>
                <a:cs typeface="Arial"/>
              </a:rPr>
              <a:t>relationship </a:t>
            </a:r>
            <a:r>
              <a:rPr dirty="0" sz="1150" spc="-50">
                <a:latin typeface="Arial"/>
                <a:cs typeface="Arial"/>
              </a:rPr>
              <a:t>management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techniques)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50">
                <a:latin typeface="Arial"/>
                <a:cs typeface="Arial"/>
              </a:rPr>
              <a:t>Entrepreneurs </a:t>
            </a:r>
            <a:r>
              <a:rPr dirty="0" sz="1150" spc="-35">
                <a:latin typeface="Arial"/>
                <a:cs typeface="Arial"/>
              </a:rPr>
              <a:t>strongly </a:t>
            </a:r>
            <a:r>
              <a:rPr dirty="0" sz="1150" spc="-5">
                <a:latin typeface="Arial"/>
                <a:cs typeface="Arial"/>
              </a:rPr>
              <a:t>follow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second </a:t>
            </a:r>
            <a:r>
              <a:rPr dirty="0" sz="1150" spc="-30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relationship building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this </a:t>
            </a:r>
            <a:r>
              <a:rPr dirty="0" sz="1150" spc="-40">
                <a:latin typeface="Arial"/>
                <a:cs typeface="Arial"/>
              </a:rPr>
              <a:t>customer </a:t>
            </a:r>
            <a:r>
              <a:rPr dirty="0" sz="1150" spc="5">
                <a:latin typeface="Arial"/>
                <a:cs typeface="Arial"/>
              </a:rPr>
              <a:t>to  </a:t>
            </a:r>
            <a:r>
              <a:rPr dirty="0" sz="1150" spc="-40">
                <a:latin typeface="Arial"/>
                <a:cs typeface="Arial"/>
              </a:rPr>
              <a:t>get </a:t>
            </a:r>
            <a:r>
              <a:rPr dirty="0" sz="1150" spc="-45">
                <a:latin typeface="Arial"/>
                <a:cs typeface="Arial"/>
              </a:rPr>
              <a:t>long </a:t>
            </a:r>
            <a:r>
              <a:rPr dirty="0" sz="1150" spc="-25">
                <a:latin typeface="Arial"/>
                <a:cs typeface="Arial"/>
              </a:rPr>
              <a:t>run </a:t>
            </a:r>
            <a:r>
              <a:rPr dirty="0" sz="1150" spc="-20">
                <a:latin typeface="Arial"/>
                <a:cs typeface="Arial"/>
              </a:rPr>
              <a:t>benefit </a:t>
            </a:r>
            <a:r>
              <a:rPr dirty="0" sz="1150" spc="-10">
                <a:latin typeface="Arial"/>
                <a:cs typeface="Arial"/>
              </a:rPr>
              <a:t>in </a:t>
            </a:r>
            <a:r>
              <a:rPr dirty="0" sz="1150" spc="-20">
                <a:latin typeface="Arial"/>
                <a:cs typeface="Arial"/>
              </a:rPr>
              <a:t>order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enhance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65">
                <a:latin typeface="Arial"/>
                <a:cs typeface="Arial"/>
              </a:rPr>
              <a:t>business. Simple </a:t>
            </a:r>
            <a:r>
              <a:rPr dirty="0" sz="1150" spc="-95">
                <a:latin typeface="Arial"/>
                <a:cs typeface="Arial"/>
              </a:rPr>
              <a:t>E.g. </a:t>
            </a:r>
            <a:r>
              <a:rPr dirty="0" sz="1150" spc="-75">
                <a:latin typeface="Arial"/>
                <a:cs typeface="Arial"/>
              </a:rPr>
              <a:t>can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Doctors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50">
                <a:latin typeface="Arial"/>
                <a:cs typeface="Arial"/>
              </a:rPr>
              <a:t>specific </a:t>
            </a:r>
            <a:r>
              <a:rPr dirty="0" sz="1150" spc="-35">
                <a:latin typeface="Arial"/>
                <a:cs typeface="Arial"/>
              </a:rPr>
              <a:t>community, </a:t>
            </a:r>
            <a:r>
              <a:rPr dirty="0" sz="1150" spc="-55">
                <a:latin typeface="Arial"/>
                <a:cs typeface="Arial"/>
              </a:rPr>
              <a:t>Mechanics, </a:t>
            </a:r>
            <a:r>
              <a:rPr dirty="0" sz="1150" spc="-50">
                <a:latin typeface="Arial"/>
                <a:cs typeface="Arial"/>
              </a:rPr>
              <a:t>Hair </a:t>
            </a:r>
            <a:r>
              <a:rPr dirty="0" sz="1150" spc="-55">
                <a:latin typeface="Arial"/>
                <a:cs typeface="Arial"/>
              </a:rPr>
              <a:t>dresser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 algn="just" marL="469900" indent="-228600">
              <a:lnSpc>
                <a:spcPct val="100000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250" spc="-90" b="1">
                <a:latin typeface="Arial"/>
                <a:cs typeface="Arial"/>
              </a:rPr>
              <a:t>Desire </a:t>
            </a:r>
            <a:r>
              <a:rPr dirty="0" sz="1250" spc="-40" b="1">
                <a:latin typeface="Arial"/>
                <a:cs typeface="Arial"/>
              </a:rPr>
              <a:t>to </a:t>
            </a:r>
            <a:r>
              <a:rPr dirty="0" sz="1250" spc="-95" b="1">
                <a:latin typeface="Arial"/>
                <a:cs typeface="Arial"/>
              </a:rPr>
              <a:t>establish </a:t>
            </a:r>
            <a:r>
              <a:rPr dirty="0" sz="1250" spc="-80" b="1">
                <a:latin typeface="Arial"/>
                <a:cs typeface="Arial"/>
              </a:rPr>
              <a:t>own</a:t>
            </a:r>
            <a:r>
              <a:rPr dirty="0" sz="1250" spc="-25" b="1">
                <a:latin typeface="Arial"/>
                <a:cs typeface="Arial"/>
              </a:rPr>
              <a:t> </a:t>
            </a:r>
            <a:r>
              <a:rPr dirty="0" sz="1250" spc="-125" b="1">
                <a:latin typeface="Arial"/>
                <a:cs typeface="Arial"/>
              </a:rPr>
              <a:t>business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har char=""/>
            </a:pPr>
            <a:endParaRPr sz="1200">
              <a:latin typeface="Arial"/>
              <a:cs typeface="Arial"/>
            </a:endParaRPr>
          </a:p>
          <a:p>
            <a:pPr algn="just" marL="241300" marR="6985">
              <a:lnSpc>
                <a:spcPct val="101699"/>
              </a:lnSpc>
            </a:pPr>
            <a:r>
              <a:rPr dirty="0" sz="1150" spc="-95">
                <a:latin typeface="Arial"/>
                <a:cs typeface="Arial"/>
              </a:rPr>
              <a:t>Some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40">
                <a:latin typeface="Arial"/>
                <a:cs typeface="Arial"/>
              </a:rPr>
              <a:t>strong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30">
                <a:latin typeface="Arial"/>
                <a:cs typeface="Arial"/>
              </a:rPr>
              <a:t>dominant </a:t>
            </a:r>
            <a:r>
              <a:rPr dirty="0" sz="1150" spc="-35">
                <a:latin typeface="Arial"/>
                <a:cs typeface="Arial"/>
              </a:rPr>
              <a:t>personality </a:t>
            </a:r>
            <a:r>
              <a:rPr dirty="0" sz="1150" spc="-15">
                <a:latin typeface="Arial"/>
                <a:cs typeface="Arial"/>
              </a:rPr>
              <a:t>traits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20">
                <a:latin typeface="Arial"/>
                <a:cs typeface="Arial"/>
              </a:rPr>
              <a:t>want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establish </a:t>
            </a:r>
            <a:r>
              <a:rPr dirty="0" sz="1150" spc="-10">
                <a:latin typeface="Arial"/>
                <a:cs typeface="Arial"/>
              </a:rPr>
              <a:t>their  </a:t>
            </a:r>
            <a:r>
              <a:rPr dirty="0" sz="1150" spc="-25">
                <a:latin typeface="Arial"/>
                <a:cs typeface="Arial"/>
              </a:rPr>
              <a:t>own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45">
                <a:latin typeface="Arial"/>
                <a:cs typeface="Arial"/>
              </a:rPr>
              <a:t>instead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working </a:t>
            </a:r>
            <a:r>
              <a:rPr dirty="0" sz="1150" spc="-35">
                <a:latin typeface="Arial"/>
                <a:cs typeface="Arial"/>
              </a:rPr>
              <a:t>under </a:t>
            </a:r>
            <a:r>
              <a:rPr dirty="0" sz="1150" spc="-50">
                <a:latin typeface="Arial"/>
                <a:cs typeface="Arial"/>
              </a:rPr>
              <a:t>supervision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65">
                <a:latin typeface="Arial"/>
                <a:cs typeface="Arial"/>
              </a:rPr>
              <a:t>else </a:t>
            </a:r>
            <a:r>
              <a:rPr dirty="0" sz="1150" spc="-85">
                <a:latin typeface="Arial"/>
                <a:cs typeface="Arial"/>
              </a:rPr>
              <a:t>so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65">
                <a:latin typeface="Arial"/>
                <a:cs typeface="Arial"/>
              </a:rPr>
              <a:t>leads </a:t>
            </a:r>
            <a:r>
              <a:rPr dirty="0" sz="1150" spc="-25">
                <a:latin typeface="Arial"/>
                <a:cs typeface="Arial"/>
              </a:rPr>
              <a:t>them  </a:t>
            </a:r>
            <a:r>
              <a:rPr dirty="0" sz="1150" spc="-35">
                <a:latin typeface="Arial"/>
                <a:cs typeface="Arial"/>
              </a:rPr>
              <a:t>towards entrepreneurship </a:t>
            </a:r>
            <a:r>
              <a:rPr dirty="0" sz="1150" spc="-40">
                <a:latin typeface="Arial"/>
                <a:cs typeface="Arial"/>
              </a:rPr>
              <a:t>establishment. </a:t>
            </a:r>
            <a:r>
              <a:rPr dirty="0" sz="1150" spc="-80">
                <a:latin typeface="Arial"/>
                <a:cs typeface="Arial"/>
              </a:rPr>
              <a:t>They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40">
                <a:latin typeface="Arial"/>
                <a:cs typeface="Arial"/>
              </a:rPr>
              <a:t>strong </a:t>
            </a:r>
            <a:r>
              <a:rPr dirty="0" sz="1150" spc="-50">
                <a:latin typeface="Arial"/>
                <a:cs typeface="Arial"/>
              </a:rPr>
              <a:t>decision </a:t>
            </a:r>
            <a:r>
              <a:rPr dirty="0" sz="1150" spc="-55">
                <a:latin typeface="Arial"/>
                <a:cs typeface="Arial"/>
              </a:rPr>
              <a:t>making </a:t>
            </a:r>
            <a:r>
              <a:rPr dirty="0" sz="1150" spc="-25">
                <a:latin typeface="Arial"/>
                <a:cs typeface="Arial"/>
              </a:rPr>
              <a:t>power </a:t>
            </a:r>
            <a:r>
              <a:rPr dirty="0" sz="1150" spc="15">
                <a:latin typeface="Arial"/>
                <a:cs typeface="Arial"/>
              </a:rPr>
              <a:t>&amp;  </a:t>
            </a:r>
            <a:r>
              <a:rPr dirty="0" sz="1150" spc="-40">
                <a:latin typeface="Arial"/>
                <a:cs typeface="Arial"/>
              </a:rPr>
              <a:t>risk taking </a:t>
            </a:r>
            <a:r>
              <a:rPr dirty="0" sz="1150" spc="-20">
                <a:latin typeface="Arial"/>
                <a:cs typeface="Arial"/>
              </a:rPr>
              <a:t>ability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0">
                <a:latin typeface="Arial"/>
                <a:cs typeface="Arial"/>
              </a:rPr>
              <a:t>helps </a:t>
            </a:r>
            <a:r>
              <a:rPr dirty="0" sz="1150" spc="-25">
                <a:latin typeface="Arial"/>
                <a:cs typeface="Arial"/>
              </a:rPr>
              <a:t>them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10">
                <a:latin typeface="Arial"/>
                <a:cs typeface="Arial"/>
              </a:rPr>
              <a:t>lot to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30">
                <a:latin typeface="Arial"/>
                <a:cs typeface="Arial"/>
              </a:rPr>
              <a:t>entrepreneur.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Arial"/>
              <a:cs typeface="Arial"/>
            </a:endParaRPr>
          </a:p>
          <a:p>
            <a:pPr algn="just" marL="469900" indent="-228600">
              <a:lnSpc>
                <a:spcPct val="100000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250" spc="-80" b="1">
                <a:latin typeface="Arial"/>
                <a:cs typeface="Arial"/>
              </a:rPr>
              <a:t>Need </a:t>
            </a:r>
            <a:r>
              <a:rPr dirty="0" sz="1250" spc="-60" b="1">
                <a:latin typeface="Arial"/>
                <a:cs typeface="Arial"/>
              </a:rPr>
              <a:t>of</a:t>
            </a:r>
            <a:r>
              <a:rPr dirty="0" sz="1250" spc="-45" b="1">
                <a:latin typeface="Arial"/>
                <a:cs typeface="Arial"/>
              </a:rPr>
              <a:t> </a:t>
            </a:r>
            <a:r>
              <a:rPr dirty="0" sz="1250" spc="-75" b="1">
                <a:latin typeface="Arial"/>
                <a:cs typeface="Arial"/>
              </a:rPr>
              <a:t>control</a:t>
            </a:r>
            <a:endParaRPr sz="1250">
              <a:latin typeface="Arial"/>
              <a:cs typeface="Arial"/>
            </a:endParaRPr>
          </a:p>
          <a:p>
            <a:pPr algn="just" marL="241300" marR="6985">
              <a:lnSpc>
                <a:spcPts val="1400"/>
              </a:lnSpc>
              <a:spcBef>
                <a:spcPts val="45"/>
              </a:spcBef>
            </a:pPr>
            <a:r>
              <a:rPr dirty="0" sz="1150" spc="-95">
                <a:latin typeface="Arial"/>
                <a:cs typeface="Arial"/>
              </a:rPr>
              <a:t>Some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20">
                <a:latin typeface="Arial"/>
                <a:cs typeface="Arial"/>
              </a:rPr>
              <a:t>want </a:t>
            </a:r>
            <a:r>
              <a:rPr dirty="0" sz="1150" spc="-25">
                <a:latin typeface="Arial"/>
                <a:cs typeface="Arial"/>
              </a:rPr>
              <a:t>them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0">
                <a:latin typeface="Arial"/>
                <a:cs typeface="Arial"/>
              </a:rPr>
              <a:t>involved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every decision </a:t>
            </a:r>
            <a:r>
              <a:rPr dirty="0" sz="1150" spc="-55">
                <a:latin typeface="Arial"/>
                <a:cs typeface="Arial"/>
              </a:rPr>
              <a:t>making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70">
                <a:latin typeface="Arial"/>
                <a:cs typeface="Arial"/>
              </a:rPr>
              <a:t>business  </a:t>
            </a:r>
            <a:r>
              <a:rPr dirty="0" sz="1150" spc="-50">
                <a:latin typeface="Arial"/>
                <a:cs typeface="Arial"/>
              </a:rPr>
              <a:t>prospects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60">
                <a:latin typeface="Arial"/>
                <a:cs typeface="Arial"/>
              </a:rPr>
              <a:t>aspect </a:t>
            </a:r>
            <a:r>
              <a:rPr dirty="0" sz="1150" spc="-70">
                <a:latin typeface="Arial"/>
                <a:cs typeface="Arial"/>
              </a:rPr>
              <a:t>leads </a:t>
            </a:r>
            <a:r>
              <a:rPr dirty="0" sz="1150" spc="-25">
                <a:latin typeface="Arial"/>
                <a:cs typeface="Arial"/>
              </a:rPr>
              <a:t>them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65">
                <a:latin typeface="Arial"/>
                <a:cs typeface="Arial"/>
              </a:rPr>
              <a:t>an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entrepreneur.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Arial"/>
              <a:cs typeface="Arial"/>
            </a:endParaRPr>
          </a:p>
          <a:p>
            <a:pPr algn="just" marL="469900" indent="-228600">
              <a:lnSpc>
                <a:spcPct val="100000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250" spc="-65" b="1">
                <a:latin typeface="Arial"/>
                <a:cs typeface="Arial"/>
              </a:rPr>
              <a:t>Ability </a:t>
            </a:r>
            <a:r>
              <a:rPr dirty="0" sz="1250" spc="-40" b="1">
                <a:latin typeface="Arial"/>
                <a:cs typeface="Arial"/>
              </a:rPr>
              <a:t>to </a:t>
            </a:r>
            <a:r>
              <a:rPr dirty="0" sz="1250" spc="-75" b="1">
                <a:latin typeface="Arial"/>
                <a:cs typeface="Arial"/>
              </a:rPr>
              <a:t>deal </a:t>
            </a:r>
            <a:r>
              <a:rPr dirty="0" sz="1250" spc="-40" b="1">
                <a:latin typeface="Arial"/>
                <a:cs typeface="Arial"/>
              </a:rPr>
              <a:t>with</a:t>
            </a:r>
            <a:r>
              <a:rPr dirty="0" sz="1250" spc="-85" b="1">
                <a:latin typeface="Arial"/>
                <a:cs typeface="Arial"/>
              </a:rPr>
              <a:t> </a:t>
            </a:r>
            <a:r>
              <a:rPr dirty="0" sz="1250" spc="-80" b="1">
                <a:latin typeface="Arial"/>
                <a:cs typeface="Arial"/>
              </a:rPr>
              <a:t>uncertainties</a:t>
            </a:r>
            <a:endParaRPr sz="1250">
              <a:latin typeface="Arial"/>
              <a:cs typeface="Arial"/>
            </a:endParaRPr>
          </a:p>
          <a:p>
            <a:pPr algn="just" marL="241300" marR="5080">
              <a:lnSpc>
                <a:spcPts val="1400"/>
              </a:lnSpc>
              <a:spcBef>
                <a:spcPts val="50"/>
              </a:spcBef>
            </a:pPr>
            <a:r>
              <a:rPr dirty="0" sz="1150" spc="-95">
                <a:latin typeface="Arial"/>
                <a:cs typeface="Arial"/>
              </a:rPr>
              <a:t>Some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daring </a:t>
            </a:r>
            <a:r>
              <a:rPr dirty="0" sz="1150" spc="-55">
                <a:latin typeface="Arial"/>
                <a:cs typeface="Arial"/>
              </a:rPr>
              <a:t>enough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45">
                <a:latin typeface="Arial"/>
                <a:cs typeface="Arial"/>
              </a:rPr>
              <a:t>professional </a:t>
            </a:r>
            <a:r>
              <a:rPr dirty="0" sz="1150" spc="-10">
                <a:latin typeface="Arial"/>
                <a:cs typeface="Arial"/>
              </a:rPr>
              <a:t>attitude; </a:t>
            </a:r>
            <a:r>
              <a:rPr dirty="0" sz="1150" spc="-30">
                <a:latin typeface="Arial"/>
                <a:cs typeface="Arial"/>
              </a:rPr>
              <a:t>they feel they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easily  </a:t>
            </a:r>
            <a:r>
              <a:rPr dirty="0" sz="1150" spc="-50">
                <a:latin typeface="Arial"/>
                <a:cs typeface="Arial"/>
              </a:rPr>
              <a:t>deal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35">
                <a:latin typeface="Arial"/>
                <a:cs typeface="Arial"/>
              </a:rPr>
              <a:t>uncertainties </a:t>
            </a:r>
            <a:r>
              <a:rPr dirty="0" sz="1150" spc="-25">
                <a:latin typeface="Arial"/>
                <a:cs typeface="Arial"/>
              </a:rPr>
              <a:t>while </a:t>
            </a:r>
            <a:r>
              <a:rPr dirty="0" sz="1150" spc="-60">
                <a:latin typeface="Arial"/>
                <a:cs typeface="Arial"/>
              </a:rPr>
              <a:t>designing </a:t>
            </a:r>
            <a:r>
              <a:rPr dirty="0" sz="1150" spc="-45">
                <a:latin typeface="Arial"/>
                <a:cs typeface="Arial"/>
              </a:rPr>
              <a:t>best strategies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crunch </a:t>
            </a:r>
            <a:r>
              <a:rPr dirty="0" sz="1150" spc="-35">
                <a:latin typeface="Arial"/>
                <a:cs typeface="Arial"/>
              </a:rPr>
              <a:t>situations </a:t>
            </a:r>
            <a:r>
              <a:rPr dirty="0" sz="1150" spc="-85">
                <a:latin typeface="Arial"/>
                <a:cs typeface="Arial"/>
              </a:rPr>
              <a:t>so </a:t>
            </a:r>
            <a:r>
              <a:rPr dirty="0" sz="1150" spc="-30">
                <a:latin typeface="Arial"/>
                <a:cs typeface="Arial"/>
              </a:rPr>
              <a:t>they  </a:t>
            </a:r>
            <a:r>
              <a:rPr dirty="0" sz="1150" spc="-50">
                <a:latin typeface="Arial"/>
                <a:cs typeface="Arial"/>
              </a:rPr>
              <a:t>move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entrepreneurship.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350" spc="-185" b="1">
                <a:latin typeface="Arial"/>
                <a:cs typeface="Arial"/>
              </a:rPr>
              <a:t>BUSINESS </a:t>
            </a:r>
            <a:r>
              <a:rPr dirty="0" sz="1350" spc="-175" b="1">
                <a:latin typeface="Arial"/>
                <a:cs typeface="Arial"/>
              </a:rPr>
              <a:t>PLAN </a:t>
            </a:r>
            <a:r>
              <a:rPr dirty="0" sz="1350" spc="-190" b="1">
                <a:latin typeface="Arial"/>
                <a:cs typeface="Arial"/>
              </a:rPr>
              <a:t>FOR</a:t>
            </a:r>
            <a:r>
              <a:rPr dirty="0" sz="1350" spc="-265" b="1">
                <a:latin typeface="Arial"/>
                <a:cs typeface="Arial"/>
              </a:rPr>
              <a:t> </a:t>
            </a:r>
            <a:r>
              <a:rPr dirty="0" sz="1350" spc="-195" b="1">
                <a:latin typeface="Arial"/>
                <a:cs typeface="Arial"/>
              </a:rPr>
              <a:t>ENTREPRENEURS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 spc="-45">
                <a:latin typeface="Arial"/>
                <a:cs typeface="Arial"/>
              </a:rPr>
              <a:t>plan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written </a:t>
            </a:r>
            <a:r>
              <a:rPr dirty="0" sz="1150" spc="-35">
                <a:latin typeface="Arial"/>
                <a:cs typeface="Arial"/>
              </a:rPr>
              <a:t>document which </a:t>
            </a:r>
            <a:r>
              <a:rPr dirty="0" sz="1150" spc="-45">
                <a:latin typeface="Arial"/>
                <a:cs typeface="Arial"/>
              </a:rPr>
              <a:t>contains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objectives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70">
                <a:latin typeface="Arial"/>
                <a:cs typeface="Arial"/>
              </a:rPr>
              <a:t>ways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achieve </a:t>
            </a:r>
            <a:r>
              <a:rPr dirty="0" sz="1150" spc="-50">
                <a:latin typeface="Arial"/>
                <a:cs typeface="Arial"/>
              </a:rPr>
              <a:t>these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objectives.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good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5">
                <a:latin typeface="Arial"/>
                <a:cs typeface="Arial"/>
              </a:rPr>
              <a:t>plan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5">
                <a:latin typeface="Arial"/>
                <a:cs typeface="Arial"/>
              </a:rPr>
              <a:t>developed </a:t>
            </a:r>
            <a:r>
              <a:rPr dirty="0" sz="1150" spc="-1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exploit the </a:t>
            </a:r>
            <a:r>
              <a:rPr dirty="0" sz="1150" spc="-15">
                <a:latin typeface="Arial"/>
                <a:cs typeface="Arial"/>
              </a:rPr>
              <a:t>opportunity </a:t>
            </a:r>
            <a:r>
              <a:rPr dirty="0" sz="1150" spc="-35">
                <a:latin typeface="Arial"/>
                <a:cs typeface="Arial"/>
              </a:rPr>
              <a:t>defined.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good 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5">
                <a:latin typeface="Arial"/>
                <a:cs typeface="Arial"/>
              </a:rPr>
              <a:t>plan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15">
                <a:latin typeface="Arial"/>
                <a:cs typeface="Arial"/>
              </a:rPr>
              <a:t>important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developing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opportunity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determining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resources  </a:t>
            </a:r>
            <a:r>
              <a:rPr dirty="0" sz="1150" spc="-30">
                <a:latin typeface="Arial"/>
                <a:cs typeface="Arial"/>
              </a:rPr>
              <a:t>required, obtaining </a:t>
            </a:r>
            <a:r>
              <a:rPr dirty="0" sz="1150" spc="-40">
                <a:latin typeface="Arial"/>
                <a:cs typeface="Arial"/>
              </a:rPr>
              <a:t>those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successfully managing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venture.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term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5">
                <a:latin typeface="Arial"/>
                <a:cs typeface="Arial"/>
              </a:rPr>
              <a:t>plan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60">
                <a:latin typeface="Arial"/>
                <a:cs typeface="Arial"/>
              </a:rPr>
              <a:t>made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5">
                <a:latin typeface="Arial"/>
                <a:cs typeface="Arial"/>
              </a:rPr>
              <a:t>two </a:t>
            </a:r>
            <a:r>
              <a:rPr dirty="0" sz="1150" spc="-40">
                <a:latin typeface="Arial"/>
                <a:cs typeface="Arial"/>
              </a:rPr>
              <a:t>words </a:t>
            </a:r>
            <a:r>
              <a:rPr dirty="0" sz="1150" spc="-110" b="1">
                <a:latin typeface="Arial"/>
                <a:cs typeface="Arial"/>
              </a:rPr>
              <a:t>“business”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 b="1">
                <a:latin typeface="Arial"/>
                <a:cs typeface="Arial"/>
              </a:rPr>
              <a:t>“plan”. </a:t>
            </a:r>
            <a:r>
              <a:rPr dirty="0" sz="1150" spc="-105">
                <a:latin typeface="Arial"/>
                <a:cs typeface="Arial"/>
              </a:rPr>
              <a:t>By </a:t>
            </a:r>
            <a:r>
              <a:rPr dirty="0" sz="1150" spc="-45">
                <a:latin typeface="Arial"/>
                <a:cs typeface="Arial"/>
              </a:rPr>
              <a:t>understanding </a:t>
            </a:r>
            <a:r>
              <a:rPr dirty="0" sz="1150" spc="-70">
                <a:latin typeface="Arial"/>
                <a:cs typeface="Arial"/>
              </a:rPr>
              <a:t>each  </a:t>
            </a:r>
            <a:r>
              <a:rPr dirty="0" sz="1150" spc="-40">
                <a:latin typeface="Arial"/>
                <a:cs typeface="Arial"/>
              </a:rPr>
              <a:t>we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will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try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arrive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at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some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usable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definition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business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plan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00">
              <a:latin typeface="Arial"/>
              <a:cs typeface="Arial"/>
            </a:endParaRPr>
          </a:p>
          <a:p>
            <a:pPr algn="just" marL="469900" marR="5080" indent="-228600">
              <a:lnSpc>
                <a:spcPct val="101699"/>
              </a:lnSpc>
              <a:buFont typeface="Wingdings"/>
              <a:buChar char=""/>
              <a:tabLst>
                <a:tab pos="470534" algn="l"/>
              </a:tabLst>
            </a:pPr>
            <a:r>
              <a:rPr dirty="0" sz="1150" spc="-75">
                <a:latin typeface="Arial"/>
                <a:cs typeface="Arial"/>
              </a:rPr>
              <a:t>Business: </a:t>
            </a:r>
            <a:r>
              <a:rPr dirty="0" sz="1150" spc="-30">
                <a:latin typeface="Arial"/>
                <a:cs typeface="Arial"/>
              </a:rPr>
              <a:t>“Any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20">
                <a:latin typeface="Arial"/>
                <a:cs typeface="Arial"/>
              </a:rPr>
              <a:t>activity </a:t>
            </a:r>
            <a:r>
              <a:rPr dirty="0" sz="1150" spc="-35">
                <a:latin typeface="Arial"/>
                <a:cs typeface="Arial"/>
              </a:rPr>
              <a:t>undertaken on </a:t>
            </a:r>
            <a:r>
              <a:rPr dirty="0" sz="1150" spc="-40">
                <a:latin typeface="Arial"/>
                <a:cs typeface="Arial"/>
              </a:rPr>
              <a:t>regular </a:t>
            </a:r>
            <a:r>
              <a:rPr dirty="0" sz="1150" spc="-75">
                <a:latin typeface="Arial"/>
                <a:cs typeface="Arial"/>
              </a:rPr>
              <a:t>basis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earn </a:t>
            </a:r>
            <a:r>
              <a:rPr dirty="0" sz="1150" spc="5">
                <a:latin typeface="Arial"/>
                <a:cs typeface="Arial"/>
              </a:rPr>
              <a:t>profit </a:t>
            </a:r>
            <a:r>
              <a:rPr dirty="0" sz="1150" spc="-50">
                <a:latin typeface="Arial"/>
                <a:cs typeface="Arial"/>
              </a:rPr>
              <a:t>by  </a:t>
            </a:r>
            <a:r>
              <a:rPr dirty="0" sz="1150" spc="-40">
                <a:latin typeface="Arial"/>
                <a:cs typeface="Arial"/>
              </a:rPr>
              <a:t>combining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delivering </a:t>
            </a:r>
            <a:r>
              <a:rPr dirty="0" sz="1150" spc="-55">
                <a:latin typeface="Arial"/>
                <a:cs typeface="Arial"/>
              </a:rPr>
              <a:t>value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society/market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0">
                <a:latin typeface="Arial"/>
                <a:cs typeface="Arial"/>
              </a:rPr>
              <a:t>response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whose  </a:t>
            </a:r>
            <a:r>
              <a:rPr dirty="0" sz="1150" spc="-25">
                <a:latin typeface="Arial"/>
                <a:cs typeface="Arial"/>
              </a:rPr>
              <a:t>unmet </a:t>
            </a:r>
            <a:r>
              <a:rPr dirty="0" sz="1150" spc="-55">
                <a:latin typeface="Arial"/>
                <a:cs typeface="Arial"/>
              </a:rPr>
              <a:t>need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started </a:t>
            </a:r>
            <a:r>
              <a:rPr dirty="0" sz="1150" spc="-60">
                <a:latin typeface="Arial"/>
                <a:cs typeface="Arial"/>
              </a:rPr>
              <a:t>and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run”.</a:t>
            </a:r>
            <a:endParaRPr sz="1150">
              <a:latin typeface="Arial"/>
              <a:cs typeface="Arial"/>
            </a:endParaRPr>
          </a:p>
          <a:p>
            <a:pPr algn="just" marL="469900" marR="7620" indent="-228600">
              <a:lnSpc>
                <a:spcPct val="101699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150" spc="-65">
                <a:latin typeface="Arial"/>
                <a:cs typeface="Arial"/>
              </a:rPr>
              <a:t>Plan: </a:t>
            </a:r>
            <a:r>
              <a:rPr dirty="0" sz="1150" spc="-40">
                <a:latin typeface="Arial"/>
                <a:cs typeface="Arial"/>
              </a:rPr>
              <a:t>“Simply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20">
                <a:latin typeface="Arial"/>
                <a:cs typeface="Arial"/>
              </a:rPr>
              <a:t>product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5">
                <a:latin typeface="Arial"/>
                <a:cs typeface="Arial"/>
              </a:rPr>
              <a:t>result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planning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5">
                <a:latin typeface="Arial"/>
                <a:cs typeface="Arial"/>
              </a:rPr>
              <a:t>defined </a:t>
            </a:r>
            <a:r>
              <a:rPr dirty="0" sz="1150" spc="-105">
                <a:latin typeface="Arial"/>
                <a:cs typeface="Arial"/>
              </a:rPr>
              <a:t>as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35">
                <a:latin typeface="Arial"/>
                <a:cs typeface="Arial"/>
              </a:rPr>
              <a:t>document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piece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thought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which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answers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basic</a:t>
            </a:r>
            <a:r>
              <a:rPr dirty="0" sz="1150" spc="-50">
                <a:latin typeface="Arial"/>
                <a:cs typeface="Arial"/>
              </a:rPr>
              <a:t> questions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planning”.</a:t>
            </a:r>
            <a:endParaRPr sz="1150">
              <a:latin typeface="Arial"/>
              <a:cs typeface="Arial"/>
            </a:endParaRPr>
          </a:p>
          <a:p>
            <a:pPr algn="just" marL="4699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470534" algn="l"/>
              </a:tabLst>
            </a:pP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45">
                <a:latin typeface="Arial"/>
                <a:cs typeface="Arial"/>
              </a:rPr>
              <a:t>plan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25">
                <a:latin typeface="Arial"/>
                <a:cs typeface="Arial"/>
              </a:rPr>
              <a:t>then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70">
                <a:latin typeface="Arial"/>
                <a:cs typeface="Arial"/>
              </a:rPr>
              <a:t>is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planning?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80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7" y="892559"/>
            <a:ext cx="5513705" cy="80695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95" b="1">
                <a:latin typeface="Arial"/>
                <a:cs typeface="Arial"/>
              </a:rPr>
              <a:t>Situations </a:t>
            </a:r>
            <a:r>
              <a:rPr dirty="0" sz="1350" spc="-55" b="1">
                <a:latin typeface="Arial"/>
                <a:cs typeface="Arial"/>
              </a:rPr>
              <a:t>for </a:t>
            </a:r>
            <a:r>
              <a:rPr dirty="0" sz="1350" spc="-80" b="1">
                <a:latin typeface="Arial"/>
                <a:cs typeface="Arial"/>
              </a:rPr>
              <a:t>Entrepreneurial </a:t>
            </a:r>
            <a:r>
              <a:rPr dirty="0" sz="1350" spc="-135" b="1">
                <a:latin typeface="Arial"/>
                <a:cs typeface="Arial"/>
              </a:rPr>
              <a:t>business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Wingdings"/>
              <a:buChar char=""/>
              <a:tabLst>
                <a:tab pos="470534" algn="l"/>
              </a:tabLst>
            </a:pP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>
                <a:latin typeface="Arial"/>
                <a:cs typeface="Arial"/>
              </a:rPr>
              <a:t>two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situations: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har char=""/>
            </a:pPr>
            <a:endParaRPr sz="120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65">
                <a:latin typeface="Arial"/>
                <a:cs typeface="Arial"/>
              </a:rPr>
              <a:t>Buying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45">
                <a:latin typeface="Arial"/>
                <a:cs typeface="Arial"/>
              </a:rPr>
              <a:t>Starting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scratch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15">
                <a:latin typeface="Arial"/>
                <a:cs typeface="Arial"/>
              </a:rPr>
              <a:t>Most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entrepreneurs </a:t>
            </a:r>
            <a:r>
              <a:rPr dirty="0" sz="1150" spc="-65">
                <a:latin typeface="Arial"/>
                <a:cs typeface="Arial"/>
              </a:rPr>
              <a:t>always </a:t>
            </a:r>
            <a:r>
              <a:rPr dirty="0" sz="1150" spc="-30">
                <a:latin typeface="Arial"/>
                <a:cs typeface="Arial"/>
              </a:rPr>
              <a:t>like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start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15">
                <a:latin typeface="Arial"/>
                <a:cs typeface="Arial"/>
              </a:rPr>
              <a:t>right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55">
                <a:latin typeface="Arial"/>
                <a:cs typeface="Arial"/>
              </a:rPr>
              <a:t>scratch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45">
                <a:latin typeface="Arial"/>
                <a:cs typeface="Arial"/>
              </a:rPr>
              <a:t>develop 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25">
                <a:latin typeface="Arial"/>
                <a:cs typeface="Arial"/>
              </a:rPr>
              <a:t>own </a:t>
            </a:r>
            <a:r>
              <a:rPr dirty="0" sz="1150" spc="-45">
                <a:latin typeface="Arial"/>
                <a:cs typeface="Arial"/>
              </a:rPr>
              <a:t>strategies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run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85">
                <a:latin typeface="Arial"/>
                <a:cs typeface="Arial"/>
              </a:rPr>
              <a:t>so </a:t>
            </a:r>
            <a:r>
              <a:rPr dirty="0" sz="1150" spc="-25">
                <a:latin typeface="Arial"/>
                <a:cs typeface="Arial"/>
              </a:rPr>
              <a:t>our </a:t>
            </a:r>
            <a:r>
              <a:rPr dirty="0" sz="1150" spc="-60">
                <a:latin typeface="Arial"/>
                <a:cs typeface="Arial"/>
              </a:rPr>
              <a:t>discussion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move </a:t>
            </a:r>
            <a:r>
              <a:rPr dirty="0" sz="1150" spc="-40">
                <a:latin typeface="Arial"/>
                <a:cs typeface="Arial"/>
              </a:rPr>
              <a:t>around those  </a:t>
            </a:r>
            <a:r>
              <a:rPr dirty="0" sz="1150" spc="-35">
                <a:latin typeface="Arial"/>
                <a:cs typeface="Arial"/>
              </a:rPr>
              <a:t>entrepreneurs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15">
                <a:latin typeface="Arial"/>
                <a:cs typeface="Arial"/>
              </a:rPr>
              <a:t>start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75">
                <a:latin typeface="Arial"/>
                <a:cs typeface="Arial"/>
              </a:rPr>
              <a:t>businesses </a:t>
            </a:r>
            <a:r>
              <a:rPr dirty="0" sz="1150" spc="-10">
                <a:latin typeface="Arial"/>
                <a:cs typeface="Arial"/>
              </a:rPr>
              <a:t>from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scratch.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50" spc="-165" b="1">
                <a:latin typeface="Arial"/>
                <a:cs typeface="Arial"/>
              </a:rPr>
              <a:t>COMPONENTS </a:t>
            </a:r>
            <a:r>
              <a:rPr dirty="0" sz="1450" spc="-185" b="1">
                <a:latin typeface="Arial"/>
                <a:cs typeface="Arial"/>
              </a:rPr>
              <a:t>OF </a:t>
            </a:r>
            <a:r>
              <a:rPr dirty="0" sz="1450" spc="-200" b="1">
                <a:latin typeface="Arial"/>
                <a:cs typeface="Arial"/>
              </a:rPr>
              <a:t>BUSINESS</a:t>
            </a:r>
            <a:r>
              <a:rPr dirty="0" sz="1450" spc="-105" b="1">
                <a:latin typeface="Arial"/>
                <a:cs typeface="Arial"/>
              </a:rPr>
              <a:t> </a:t>
            </a:r>
            <a:r>
              <a:rPr dirty="0" sz="1450" spc="-190" b="1">
                <a:latin typeface="Arial"/>
                <a:cs typeface="Arial"/>
              </a:rPr>
              <a:t>PLAN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90">
                <a:latin typeface="Arial"/>
                <a:cs typeface="Arial"/>
              </a:rPr>
              <a:t>Since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20">
                <a:latin typeface="Arial"/>
                <a:cs typeface="Arial"/>
              </a:rPr>
              <a:t>either </a:t>
            </a:r>
            <a:r>
              <a:rPr dirty="0" sz="1150" spc="-50">
                <a:latin typeface="Arial"/>
                <a:cs typeface="Arial"/>
              </a:rPr>
              <a:t>small </a:t>
            </a:r>
            <a:r>
              <a:rPr dirty="0" sz="1150" spc="-40">
                <a:latin typeface="Arial"/>
                <a:cs typeface="Arial"/>
              </a:rPr>
              <a:t>medium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0">
                <a:latin typeface="Arial"/>
                <a:cs typeface="Arial"/>
              </a:rPr>
              <a:t>large </a:t>
            </a:r>
            <a:r>
              <a:rPr dirty="0" sz="1150" spc="-65">
                <a:latin typeface="Arial"/>
                <a:cs typeface="Arial"/>
              </a:rPr>
              <a:t>always have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45">
                <a:latin typeface="Arial"/>
                <a:cs typeface="Arial"/>
              </a:rPr>
              <a:t>plan </a:t>
            </a:r>
            <a:r>
              <a:rPr dirty="0" sz="1150" spc="-80">
                <a:latin typeface="Arial"/>
                <a:cs typeface="Arial"/>
              </a:rPr>
              <a:t>so  same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0">
                <a:latin typeface="Arial"/>
                <a:cs typeface="Arial"/>
              </a:rPr>
              <a:t>true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entrepreneurial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well. </a:t>
            </a:r>
            <a:r>
              <a:rPr dirty="0" sz="1150" spc="-90">
                <a:latin typeface="Arial"/>
                <a:cs typeface="Arial"/>
              </a:rPr>
              <a:t>Basic </a:t>
            </a:r>
            <a:r>
              <a:rPr dirty="0" sz="1150" spc="-35">
                <a:latin typeface="Arial"/>
                <a:cs typeface="Arial"/>
              </a:rPr>
              <a:t>theme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80" i="1">
                <a:latin typeface="Arial"/>
                <a:cs typeface="Arial"/>
              </a:rPr>
              <a:t>business </a:t>
            </a:r>
            <a:r>
              <a:rPr dirty="0" sz="1150" spc="-60" i="1">
                <a:latin typeface="Arial"/>
                <a:cs typeface="Arial"/>
              </a:rPr>
              <a:t>plans </a:t>
            </a:r>
            <a:r>
              <a:rPr dirty="0" sz="1150" spc="-65" i="1">
                <a:latin typeface="Arial"/>
                <a:cs typeface="Arial"/>
              </a:rPr>
              <a:t>is </a:t>
            </a:r>
            <a:r>
              <a:rPr dirty="0" sz="1150" spc="-50" i="1">
                <a:latin typeface="Arial"/>
                <a:cs typeface="Arial"/>
              </a:rPr>
              <a:t>always  </a:t>
            </a:r>
            <a:r>
              <a:rPr dirty="0" sz="1150" spc="-90" b="1" i="1">
                <a:latin typeface="Arial"/>
                <a:cs typeface="Arial"/>
              </a:rPr>
              <a:t>“ways </a:t>
            </a:r>
            <a:r>
              <a:rPr dirty="0" sz="1150" spc="-45" b="1" i="1">
                <a:latin typeface="Arial"/>
                <a:cs typeface="Arial"/>
              </a:rPr>
              <a:t>to </a:t>
            </a:r>
            <a:r>
              <a:rPr dirty="0" sz="1150" spc="-95" b="1" i="1">
                <a:latin typeface="Arial"/>
                <a:cs typeface="Arial"/>
              </a:rPr>
              <a:t>go </a:t>
            </a:r>
            <a:r>
              <a:rPr dirty="0" sz="1150" spc="-25" b="1" i="1">
                <a:latin typeface="Arial"/>
                <a:cs typeface="Arial"/>
              </a:rPr>
              <a:t>&amp; </a:t>
            </a:r>
            <a:r>
              <a:rPr dirty="0" sz="1150" spc="-80" b="1" i="1">
                <a:latin typeface="Arial"/>
                <a:cs typeface="Arial"/>
              </a:rPr>
              <a:t>how </a:t>
            </a:r>
            <a:r>
              <a:rPr dirty="0" sz="1150" spc="-45" b="1" i="1">
                <a:latin typeface="Arial"/>
                <a:cs typeface="Arial"/>
              </a:rPr>
              <a:t>to </a:t>
            </a:r>
            <a:r>
              <a:rPr dirty="0" sz="1150" spc="-80" b="1" i="1">
                <a:latin typeface="Arial"/>
                <a:cs typeface="Arial"/>
              </a:rPr>
              <a:t>go”</a:t>
            </a:r>
            <a:r>
              <a:rPr dirty="0" sz="1150" spc="-80">
                <a:latin typeface="Arial"/>
                <a:cs typeface="Arial"/>
              </a:rPr>
              <a:t>.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75">
                <a:latin typeface="Arial"/>
                <a:cs typeface="Arial"/>
              </a:rPr>
              <a:t>areas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0">
                <a:latin typeface="Arial"/>
                <a:cs typeface="Arial"/>
              </a:rPr>
              <a:t>SWOT </a:t>
            </a:r>
            <a:r>
              <a:rPr dirty="0" sz="1150" spc="-65">
                <a:latin typeface="Arial"/>
                <a:cs typeface="Arial"/>
              </a:rPr>
              <a:t>analysis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50">
                <a:latin typeface="Arial"/>
                <a:cs typeface="Arial"/>
              </a:rPr>
              <a:t>covered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70">
                <a:latin typeface="Arial"/>
                <a:cs typeface="Arial"/>
              </a:rPr>
              <a:t>business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plan.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Wingdings"/>
              <a:buChar char=""/>
              <a:tabLst>
                <a:tab pos="470534" algn="l"/>
              </a:tabLst>
            </a:pPr>
            <a:r>
              <a:rPr dirty="0" sz="1250" spc="-90" b="1">
                <a:latin typeface="Arial"/>
                <a:cs typeface="Arial"/>
              </a:rPr>
              <a:t>Objectives </a:t>
            </a:r>
            <a:r>
              <a:rPr dirty="0" sz="1250" spc="-60" b="1">
                <a:latin typeface="Arial"/>
                <a:cs typeface="Arial"/>
              </a:rPr>
              <a:t>of </a:t>
            </a:r>
            <a:r>
              <a:rPr dirty="0" sz="1250" spc="-50" b="1">
                <a:latin typeface="Arial"/>
                <a:cs typeface="Arial"/>
              </a:rPr>
              <a:t>the</a:t>
            </a:r>
            <a:r>
              <a:rPr dirty="0" sz="1250" spc="-45" b="1">
                <a:latin typeface="Arial"/>
                <a:cs typeface="Arial"/>
              </a:rPr>
              <a:t> </a:t>
            </a:r>
            <a:r>
              <a:rPr dirty="0" sz="1250" spc="-125" b="1">
                <a:latin typeface="Arial"/>
                <a:cs typeface="Arial"/>
              </a:rPr>
              <a:t>business</a:t>
            </a:r>
            <a:endParaRPr sz="12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15"/>
              </a:spcBef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basic </a:t>
            </a:r>
            <a:r>
              <a:rPr dirty="0" sz="1150" spc="-50">
                <a:latin typeface="Arial"/>
                <a:cs typeface="Arial"/>
              </a:rPr>
              <a:t>purpose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5">
                <a:latin typeface="Arial"/>
                <a:cs typeface="Arial"/>
              </a:rPr>
              <a:t>plan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answer </a:t>
            </a:r>
            <a:r>
              <a:rPr dirty="0" sz="1150" spc="-20">
                <a:latin typeface="Arial"/>
                <a:cs typeface="Arial"/>
              </a:rPr>
              <a:t>following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questions: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70">
                <a:latin typeface="Arial"/>
                <a:cs typeface="Arial"/>
              </a:rPr>
              <a:t>Name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business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70">
                <a:latin typeface="Arial"/>
                <a:cs typeface="Arial"/>
              </a:rPr>
              <a:t>Name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35">
                <a:latin typeface="Arial"/>
                <a:cs typeface="Arial"/>
              </a:rPr>
              <a:t>indicate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0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70">
                <a:latin typeface="Arial"/>
                <a:cs typeface="Arial"/>
              </a:rPr>
              <a:t>Name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simple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65">
                <a:latin typeface="Arial"/>
                <a:cs typeface="Arial"/>
              </a:rPr>
              <a:t>Uniqueness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name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50">
                <a:latin typeface="Arial"/>
                <a:cs typeface="Arial"/>
              </a:rPr>
              <a:t>Location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business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85">
                <a:latin typeface="Arial"/>
                <a:cs typeface="Arial"/>
              </a:rPr>
              <a:t>Legal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considerations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Avoid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names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60">
                <a:latin typeface="Arial"/>
                <a:cs typeface="Arial"/>
              </a:rPr>
              <a:t>encouraged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law. </a:t>
            </a:r>
            <a:r>
              <a:rPr dirty="0" sz="1150" spc="-60">
                <a:latin typeface="Arial"/>
                <a:cs typeface="Arial"/>
              </a:rPr>
              <a:t>e.g. </a:t>
            </a:r>
            <a:r>
              <a:rPr dirty="0" sz="1150" spc="-35">
                <a:latin typeface="Arial"/>
                <a:cs typeface="Arial"/>
              </a:rPr>
              <a:t>National </a:t>
            </a:r>
            <a:r>
              <a:rPr dirty="0" sz="1150" spc="-65">
                <a:latin typeface="Arial"/>
                <a:cs typeface="Arial"/>
              </a:rPr>
              <a:t>Heroes, </a:t>
            </a:r>
            <a:r>
              <a:rPr dirty="0" sz="1150" spc="-40">
                <a:latin typeface="Arial"/>
                <a:cs typeface="Arial"/>
              </a:rPr>
              <a:t>religious personalities 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65" b="1">
                <a:latin typeface="Arial"/>
                <a:cs typeface="Arial"/>
              </a:rPr>
              <a:t>Marketing </a:t>
            </a:r>
            <a:r>
              <a:rPr dirty="0" sz="1350" spc="-105" b="1">
                <a:latin typeface="Arial"/>
                <a:cs typeface="Arial"/>
              </a:rPr>
              <a:t>Component </a:t>
            </a:r>
            <a:r>
              <a:rPr dirty="0" sz="1350" spc="-60" b="1">
                <a:latin typeface="Arial"/>
                <a:cs typeface="Arial"/>
              </a:rPr>
              <a:t>of </a:t>
            </a:r>
            <a:r>
              <a:rPr dirty="0" sz="1350" spc="-55" b="1">
                <a:latin typeface="Arial"/>
                <a:cs typeface="Arial"/>
              </a:rPr>
              <a:t>the</a:t>
            </a:r>
            <a:r>
              <a:rPr dirty="0" sz="1350" spc="-65" b="1">
                <a:latin typeface="Arial"/>
                <a:cs typeface="Arial"/>
              </a:rPr>
              <a:t> </a:t>
            </a:r>
            <a:r>
              <a:rPr dirty="0" sz="1350" spc="-135" b="1">
                <a:latin typeface="Arial"/>
                <a:cs typeface="Arial"/>
              </a:rPr>
              <a:t>business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15">
                <a:latin typeface="Arial"/>
                <a:cs typeface="Arial"/>
              </a:rPr>
              <a:t>part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45">
                <a:latin typeface="Arial"/>
                <a:cs typeface="Arial"/>
              </a:rPr>
              <a:t>plan </a:t>
            </a:r>
            <a:r>
              <a:rPr dirty="0" sz="1150" spc="-60">
                <a:latin typeface="Arial"/>
                <a:cs typeface="Arial"/>
              </a:rPr>
              <a:t>covers </a:t>
            </a:r>
            <a:r>
              <a:rPr dirty="0" sz="1150" spc="-25">
                <a:latin typeface="Arial"/>
                <a:cs typeface="Arial"/>
              </a:rPr>
              <a:t>following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aspects: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50">
                <a:latin typeface="Arial"/>
                <a:cs typeface="Arial"/>
              </a:rPr>
              <a:t>Who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target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those </a:t>
            </a:r>
            <a:r>
              <a:rPr dirty="0" sz="1150" spc="-40">
                <a:latin typeface="Arial"/>
                <a:cs typeface="Arial"/>
              </a:rPr>
              <a:t>products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50">
                <a:latin typeface="Arial"/>
                <a:cs typeface="Arial"/>
              </a:rPr>
              <a:t>Where are </a:t>
            </a:r>
            <a:r>
              <a:rPr dirty="0" sz="1150" spc="-30">
                <a:latin typeface="Arial"/>
                <a:cs typeface="Arial"/>
              </a:rPr>
              <a:t>they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located?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35">
                <a:latin typeface="Arial"/>
                <a:cs typeface="Arial"/>
              </a:rPr>
              <a:t>What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would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-35">
                <a:latin typeface="Arial"/>
                <a:cs typeface="Arial"/>
              </a:rPr>
              <a:t>like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pay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or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service?</a:t>
            </a:r>
            <a:endParaRPr sz="1150">
              <a:latin typeface="Arial"/>
              <a:cs typeface="Arial"/>
            </a:endParaRPr>
          </a:p>
          <a:p>
            <a:pPr lvl="1" marL="927100" marR="6350" indent="-229235">
              <a:lnSpc>
                <a:spcPct val="101699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35">
                <a:latin typeface="Arial"/>
                <a:cs typeface="Arial"/>
              </a:rPr>
              <a:t>What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benefits,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customers are expecting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10">
                <a:latin typeface="Arial"/>
                <a:cs typeface="Arial"/>
              </a:rPr>
              <a:t>or  </a:t>
            </a:r>
            <a:r>
              <a:rPr dirty="0" sz="1150" spc="-65">
                <a:latin typeface="Arial"/>
                <a:cs typeface="Arial"/>
              </a:rPr>
              <a:t>service?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35">
                <a:latin typeface="Arial"/>
                <a:cs typeface="Arial"/>
              </a:rPr>
              <a:t>What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type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products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5">
                <a:latin typeface="Arial"/>
                <a:cs typeface="Arial"/>
              </a:rPr>
              <a:t>&amp;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services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we</a:t>
            </a:r>
            <a:r>
              <a:rPr dirty="0" sz="1150" spc="-50">
                <a:latin typeface="Arial"/>
                <a:cs typeface="Arial"/>
              </a:rPr>
              <a:t> are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going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offer</a:t>
            </a:r>
            <a:endParaRPr sz="1150">
              <a:latin typeface="Arial"/>
              <a:cs typeface="Arial"/>
            </a:endParaRPr>
          </a:p>
          <a:p>
            <a:pPr lvl="1" marL="927100" marR="6350" indent="-229235">
              <a:lnSpc>
                <a:spcPct val="101699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35">
                <a:latin typeface="Arial"/>
                <a:cs typeface="Arial"/>
              </a:rPr>
              <a:t>What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basis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targeting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-70">
                <a:latin typeface="Arial"/>
                <a:cs typeface="Arial"/>
              </a:rPr>
              <a:t>(age, </a:t>
            </a:r>
            <a:r>
              <a:rPr dirty="0" sz="1150" spc="-50">
                <a:latin typeface="Arial"/>
                <a:cs typeface="Arial"/>
              </a:rPr>
              <a:t>gender, </a:t>
            </a:r>
            <a:r>
              <a:rPr dirty="0" sz="1150" spc="-40">
                <a:latin typeface="Arial"/>
                <a:cs typeface="Arial"/>
              </a:rPr>
              <a:t>educational  </a:t>
            </a:r>
            <a:r>
              <a:rPr dirty="0" sz="1150" spc="-45">
                <a:latin typeface="Arial"/>
                <a:cs typeface="Arial"/>
              </a:rPr>
              <a:t>status, </a:t>
            </a:r>
            <a:r>
              <a:rPr dirty="0" sz="1150" spc="-60">
                <a:latin typeface="Arial"/>
                <a:cs typeface="Arial"/>
              </a:rPr>
              <a:t>social </a:t>
            </a:r>
            <a:r>
              <a:rPr dirty="0" sz="1150" spc="-95">
                <a:latin typeface="Arial"/>
                <a:cs typeface="Arial"/>
              </a:rPr>
              <a:t>classes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40">
                <a:latin typeface="Arial"/>
                <a:cs typeface="Arial"/>
              </a:rPr>
              <a:t>behavioral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aspects)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105" b="1">
                <a:latin typeface="Arial"/>
                <a:cs typeface="Arial"/>
              </a:rPr>
              <a:t>Analysis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competitors:</a:t>
            </a:r>
            <a:endParaRPr sz="1150">
              <a:latin typeface="Arial"/>
              <a:cs typeface="Arial"/>
            </a:endParaRPr>
          </a:p>
          <a:p>
            <a:pPr marL="698500" marR="8255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One </a:t>
            </a:r>
            <a:r>
              <a:rPr dirty="0" sz="1150" spc="-10">
                <a:latin typeface="Arial"/>
                <a:cs typeface="Arial"/>
              </a:rPr>
              <a:t>important </a:t>
            </a:r>
            <a:r>
              <a:rPr dirty="0" sz="1150" spc="-35">
                <a:latin typeface="Arial"/>
                <a:cs typeface="Arial"/>
              </a:rPr>
              <a:t>consideration </a:t>
            </a:r>
            <a:r>
              <a:rPr dirty="0" sz="1150" spc="-45">
                <a:latin typeface="Arial"/>
                <a:cs typeface="Arial"/>
              </a:rPr>
              <a:t>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5">
                <a:latin typeface="Arial"/>
                <a:cs typeface="Arial"/>
              </a:rPr>
              <a:t>competitors’ </a:t>
            </a:r>
            <a:r>
              <a:rPr dirty="0" sz="1150" spc="-65">
                <a:latin typeface="Arial"/>
                <a:cs typeface="Arial"/>
              </a:rPr>
              <a:t>analysis, </a:t>
            </a:r>
            <a:r>
              <a:rPr dirty="0" sz="1150" spc="-25">
                <a:latin typeface="Arial"/>
                <a:cs typeface="Arial"/>
              </a:rPr>
              <a:t>while </a:t>
            </a:r>
            <a:r>
              <a:rPr dirty="0" sz="1150" spc="-35">
                <a:latin typeface="Arial"/>
                <a:cs typeface="Arial"/>
              </a:rPr>
              <a:t>clarifying  </a:t>
            </a:r>
            <a:r>
              <a:rPr dirty="0" sz="1150" spc="-20">
                <a:latin typeface="Arial"/>
                <a:cs typeface="Arial"/>
              </a:rPr>
              <a:t>following in the </a:t>
            </a:r>
            <a:r>
              <a:rPr dirty="0" sz="1150" spc="-75">
                <a:latin typeface="Arial"/>
                <a:cs typeface="Arial"/>
              </a:rPr>
              <a:t>business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plan.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81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58904" y="892559"/>
            <a:ext cx="5282565" cy="4217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55700" indent="-229235">
              <a:lnSpc>
                <a:spcPct val="100000"/>
              </a:lnSpc>
              <a:spcBef>
                <a:spcPts val="100"/>
              </a:spcBef>
              <a:buFont typeface="Wingdings"/>
              <a:buChar char=""/>
              <a:tabLst>
                <a:tab pos="1155700" algn="l"/>
              </a:tabLst>
            </a:pPr>
            <a:r>
              <a:rPr dirty="0" sz="1150" spc="-35">
                <a:latin typeface="Arial"/>
                <a:cs typeface="Arial"/>
              </a:rPr>
              <a:t>What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nature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competition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market?</a:t>
            </a:r>
            <a:endParaRPr sz="1150">
              <a:latin typeface="Arial"/>
              <a:cs typeface="Arial"/>
            </a:endParaRPr>
          </a:p>
          <a:p>
            <a:pPr marL="11557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1155700" algn="l"/>
              </a:tabLst>
            </a:pPr>
            <a:r>
              <a:rPr dirty="0" sz="1150" spc="-50">
                <a:latin typeface="Arial"/>
                <a:cs typeface="Arial"/>
              </a:rPr>
              <a:t>Who 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competitors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business?</a:t>
            </a:r>
            <a:endParaRPr sz="1150">
              <a:latin typeface="Arial"/>
              <a:cs typeface="Arial"/>
            </a:endParaRPr>
          </a:p>
          <a:p>
            <a:pPr marL="1155065" marR="5715" indent="-228600">
              <a:lnSpc>
                <a:spcPct val="101699"/>
              </a:lnSpc>
              <a:buFont typeface="Wingdings"/>
              <a:buChar char=""/>
              <a:tabLst>
                <a:tab pos="1155700" algn="l"/>
              </a:tabLst>
            </a:pPr>
            <a:r>
              <a:rPr dirty="0" sz="1150" spc="-55">
                <a:latin typeface="Arial"/>
                <a:cs typeface="Arial"/>
              </a:rPr>
              <a:t>How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0">
                <a:latin typeface="Arial"/>
                <a:cs typeface="Arial"/>
              </a:rPr>
              <a:t>different from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35">
                <a:latin typeface="Arial"/>
                <a:cs typeface="Arial"/>
              </a:rPr>
              <a:t>competitors?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buFont typeface="Wingdings"/>
              <a:buChar char=""/>
              <a:tabLst>
                <a:tab pos="241935" algn="l"/>
              </a:tabLst>
            </a:pPr>
            <a:r>
              <a:rPr dirty="0" sz="1350" spc="-125" b="1">
                <a:latin typeface="Arial"/>
                <a:cs typeface="Arial"/>
              </a:rPr>
              <a:t>Analysis </a:t>
            </a:r>
            <a:r>
              <a:rPr dirty="0" sz="1350" spc="-60" b="1">
                <a:latin typeface="Arial"/>
                <a:cs typeface="Arial"/>
              </a:rPr>
              <a:t>of </a:t>
            </a:r>
            <a:r>
              <a:rPr dirty="0" sz="1350" spc="-85" b="1">
                <a:latin typeface="Arial"/>
                <a:cs typeface="Arial"/>
              </a:rPr>
              <a:t>Promotional</a:t>
            </a:r>
            <a:r>
              <a:rPr dirty="0" sz="1350" spc="-40" b="1">
                <a:latin typeface="Arial"/>
                <a:cs typeface="Arial"/>
              </a:rPr>
              <a:t> </a:t>
            </a:r>
            <a:r>
              <a:rPr dirty="0" sz="1350" spc="-90" b="1">
                <a:latin typeface="Arial"/>
                <a:cs typeface="Arial"/>
              </a:rPr>
              <a:t>Activities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lvl="1" marL="698500" indent="-229235">
              <a:lnSpc>
                <a:spcPct val="100000"/>
              </a:lnSpc>
              <a:buFont typeface="Wingdings"/>
              <a:buChar char=""/>
              <a:tabLst>
                <a:tab pos="699135" algn="l"/>
              </a:tabLst>
            </a:pPr>
            <a:r>
              <a:rPr dirty="0" sz="1150" spc="-55">
                <a:latin typeface="Arial"/>
                <a:cs typeface="Arial"/>
              </a:rPr>
              <a:t>How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will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message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promoted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general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public?</a:t>
            </a:r>
            <a:endParaRPr sz="1150">
              <a:latin typeface="Arial"/>
              <a:cs typeface="Arial"/>
            </a:endParaRPr>
          </a:p>
          <a:p>
            <a:pPr lvl="1" marL="6985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699135" algn="l"/>
              </a:tabLst>
            </a:pPr>
            <a:r>
              <a:rPr dirty="0" sz="1150" spc="-55">
                <a:latin typeface="Arial"/>
                <a:cs typeface="Arial"/>
              </a:rPr>
              <a:t>How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launched?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buFont typeface="Wingdings"/>
              <a:buChar char=""/>
              <a:tabLst>
                <a:tab pos="241935" algn="l"/>
              </a:tabLst>
            </a:pPr>
            <a:r>
              <a:rPr dirty="0" sz="1350" spc="-105" b="1">
                <a:latin typeface="Arial"/>
                <a:cs typeface="Arial"/>
              </a:rPr>
              <a:t>Financial</a:t>
            </a:r>
            <a:r>
              <a:rPr dirty="0" sz="1350" spc="-65" b="1">
                <a:latin typeface="Arial"/>
                <a:cs typeface="Arial"/>
              </a:rPr>
              <a:t> </a:t>
            </a:r>
            <a:r>
              <a:rPr dirty="0" sz="1350" spc="-125" b="1">
                <a:latin typeface="Arial"/>
                <a:cs typeface="Arial"/>
              </a:rPr>
              <a:t>Analysis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lvl="1" marL="698500" marR="5080" indent="-228600">
              <a:lnSpc>
                <a:spcPct val="101699"/>
              </a:lnSpc>
              <a:spcBef>
                <a:spcPts val="5"/>
              </a:spcBef>
              <a:buFont typeface="Wingdings"/>
              <a:buChar char=""/>
              <a:tabLst>
                <a:tab pos="698500" algn="l"/>
              </a:tabLst>
            </a:pPr>
            <a:r>
              <a:rPr dirty="0" sz="1150" spc="-35">
                <a:latin typeface="Arial"/>
                <a:cs typeface="Arial"/>
              </a:rPr>
              <a:t>What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investment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how </a:t>
            </a:r>
            <a:r>
              <a:rPr dirty="0" sz="1150" spc="-50">
                <a:latin typeface="Arial"/>
                <a:cs typeface="Arial"/>
              </a:rPr>
              <a:t>much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 </a:t>
            </a:r>
            <a:r>
              <a:rPr dirty="0" sz="1150" spc="-35">
                <a:latin typeface="Arial"/>
                <a:cs typeface="Arial"/>
              </a:rPr>
              <a:t>borrowed?</a:t>
            </a:r>
            <a:endParaRPr sz="1150">
              <a:latin typeface="Arial"/>
              <a:cs typeface="Arial"/>
            </a:endParaRPr>
          </a:p>
          <a:p>
            <a:pPr lvl="1" marL="698500" indent="-228600">
              <a:lnSpc>
                <a:spcPct val="100000"/>
              </a:lnSpc>
              <a:spcBef>
                <a:spcPts val="20"/>
              </a:spcBef>
              <a:buFont typeface="Wingdings"/>
              <a:buChar char=""/>
              <a:tabLst>
                <a:tab pos="698500" algn="l"/>
              </a:tabLst>
            </a:pPr>
            <a:r>
              <a:rPr dirty="0" sz="1150" spc="-35">
                <a:latin typeface="Arial"/>
                <a:cs typeface="Arial"/>
              </a:rPr>
              <a:t>What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55">
                <a:latin typeface="Arial"/>
                <a:cs typeface="Arial"/>
              </a:rPr>
              <a:t>going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50">
                <a:latin typeface="Arial"/>
                <a:cs typeface="Arial"/>
              </a:rPr>
              <a:t>expected </a:t>
            </a:r>
            <a:r>
              <a:rPr dirty="0" sz="1150" spc="-60">
                <a:latin typeface="Arial"/>
                <a:cs typeface="Arial"/>
              </a:rPr>
              <a:t>revenues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given </a:t>
            </a:r>
            <a:r>
              <a:rPr dirty="0" sz="1150" spc="-30">
                <a:latin typeface="Arial"/>
                <a:cs typeface="Arial"/>
              </a:rPr>
              <a:t>period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time?</a:t>
            </a:r>
            <a:endParaRPr sz="1150">
              <a:latin typeface="Arial"/>
              <a:cs typeface="Arial"/>
            </a:endParaRPr>
          </a:p>
          <a:p>
            <a:pPr lvl="1" marL="698500" marR="5080" indent="-228600">
              <a:lnSpc>
                <a:spcPct val="101699"/>
              </a:lnSpc>
              <a:spcBef>
                <a:spcPts val="5"/>
              </a:spcBef>
              <a:buFont typeface="Wingdings"/>
              <a:buChar char=""/>
              <a:tabLst>
                <a:tab pos="698500" algn="l"/>
              </a:tabLst>
            </a:pPr>
            <a:r>
              <a:rPr dirty="0" sz="1150" spc="-35">
                <a:latin typeface="Arial"/>
                <a:cs typeface="Arial"/>
              </a:rPr>
              <a:t>What </a:t>
            </a:r>
            <a:r>
              <a:rPr dirty="0" sz="1150" spc="-25">
                <a:latin typeface="Arial"/>
                <a:cs typeface="Arial"/>
              </a:rPr>
              <a:t>would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expected </a:t>
            </a:r>
            <a:r>
              <a:rPr dirty="0" sz="1150" spc="-80">
                <a:latin typeface="Arial"/>
                <a:cs typeface="Arial"/>
              </a:rPr>
              <a:t>expenses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given </a:t>
            </a:r>
            <a:r>
              <a:rPr dirty="0" sz="1150" spc="-25">
                <a:latin typeface="Arial"/>
                <a:cs typeface="Arial"/>
              </a:rPr>
              <a:t>period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30">
                <a:latin typeface="Arial"/>
                <a:cs typeface="Arial"/>
              </a:rPr>
              <a:t>time?</a:t>
            </a:r>
            <a:endParaRPr sz="1150">
              <a:latin typeface="Arial"/>
              <a:cs typeface="Arial"/>
            </a:endParaRPr>
          </a:p>
          <a:p>
            <a:pPr lvl="1" marL="698500" indent="-228600">
              <a:lnSpc>
                <a:spcPct val="100000"/>
              </a:lnSpc>
              <a:spcBef>
                <a:spcPts val="20"/>
              </a:spcBef>
              <a:buFont typeface="Wingdings"/>
              <a:buChar char=""/>
              <a:tabLst>
                <a:tab pos="698500" algn="l"/>
              </a:tabLst>
            </a:pPr>
            <a:r>
              <a:rPr dirty="0" sz="1150" spc="-35">
                <a:latin typeface="Arial"/>
                <a:cs typeface="Arial"/>
              </a:rPr>
              <a:t>What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would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net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income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net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profit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55">
                <a:latin typeface="Arial"/>
                <a:cs typeface="Arial"/>
              </a:rPr>
              <a:t> given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period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time?</a:t>
            </a:r>
            <a:endParaRPr sz="1150">
              <a:latin typeface="Arial"/>
              <a:cs typeface="Arial"/>
            </a:endParaRPr>
          </a:p>
          <a:p>
            <a:pPr lvl="1" marL="6985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698500" algn="l"/>
              </a:tabLst>
            </a:pPr>
            <a:r>
              <a:rPr dirty="0" sz="1150" spc="-8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50">
                <a:latin typeface="Arial"/>
                <a:cs typeface="Arial"/>
              </a:rPr>
              <a:t>feasible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not?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5"/>
              </a:spcBef>
              <a:buFont typeface="Wingdings"/>
              <a:buChar char=""/>
              <a:tabLst>
                <a:tab pos="241935" algn="l"/>
              </a:tabLst>
            </a:pPr>
            <a:r>
              <a:rPr dirty="0" sz="1350" spc="-80" b="1">
                <a:latin typeface="Arial"/>
                <a:cs typeface="Arial"/>
              </a:rPr>
              <a:t>Administrative </a:t>
            </a:r>
            <a:r>
              <a:rPr dirty="0" sz="1350" spc="-125" b="1">
                <a:latin typeface="Arial"/>
                <a:cs typeface="Arial"/>
              </a:rPr>
              <a:t>Rights </a:t>
            </a:r>
            <a:r>
              <a:rPr dirty="0" sz="1350" spc="-25" b="1">
                <a:latin typeface="Arial"/>
                <a:cs typeface="Arial"/>
              </a:rPr>
              <a:t>&amp;</a:t>
            </a:r>
            <a:r>
              <a:rPr dirty="0" sz="1350" spc="-35" b="1">
                <a:latin typeface="Arial"/>
                <a:cs typeface="Arial"/>
              </a:rPr>
              <a:t> </a:t>
            </a:r>
            <a:r>
              <a:rPr dirty="0" sz="1350" spc="-110" b="1">
                <a:latin typeface="Arial"/>
                <a:cs typeface="Arial"/>
              </a:rPr>
              <a:t>provisions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lvl="1" marL="698500" indent="-229235">
              <a:lnSpc>
                <a:spcPct val="100000"/>
              </a:lnSpc>
              <a:buFont typeface="Wingdings"/>
              <a:buChar char=""/>
              <a:tabLst>
                <a:tab pos="698500" algn="l"/>
              </a:tabLst>
            </a:pPr>
            <a:r>
              <a:rPr dirty="0" sz="1150" spc="-35">
                <a:latin typeface="Arial"/>
                <a:cs typeface="Arial"/>
              </a:rPr>
              <a:t>What </a:t>
            </a:r>
            <a:r>
              <a:rPr dirty="0" sz="1150" spc="-25">
                <a:latin typeface="Arial"/>
                <a:cs typeface="Arial"/>
              </a:rPr>
              <a:t>would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structure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handle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business?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82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656577" y="1005335"/>
            <a:ext cx="985519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140" b="1">
                <a:latin typeface="Arial"/>
                <a:cs typeface="Arial"/>
              </a:rPr>
              <a:t>Lecture</a:t>
            </a:r>
            <a:r>
              <a:rPr dirty="0" sz="1750" spc="-150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10</a:t>
            </a:r>
            <a:endParaRPr sz="17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83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59072" y="1547879"/>
            <a:ext cx="130302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195" b="1">
                <a:latin typeface="Arial"/>
                <a:cs typeface="Arial"/>
              </a:rPr>
              <a:t>FRANCHISING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0288" y="1907847"/>
            <a:ext cx="5513070" cy="7160895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1150" spc="15">
                <a:solidFill>
                  <a:srgbClr val="320032"/>
                </a:solidFill>
                <a:latin typeface="Arial"/>
                <a:cs typeface="Arial"/>
              </a:rPr>
              <a:t>It </a:t>
            </a:r>
            <a:r>
              <a:rPr dirty="0" sz="1150" spc="-65">
                <a:solidFill>
                  <a:srgbClr val="320032"/>
                </a:solidFill>
                <a:latin typeface="Arial"/>
                <a:cs typeface="Arial"/>
              </a:rPr>
              <a:t>is </a:t>
            </a:r>
            <a:r>
              <a:rPr dirty="0" sz="1150" spc="-35">
                <a:solidFill>
                  <a:srgbClr val="320032"/>
                </a:solidFill>
                <a:latin typeface="Arial"/>
                <a:cs typeface="Arial"/>
              </a:rPr>
              <a:t>defined</a:t>
            </a:r>
            <a:r>
              <a:rPr dirty="0" sz="1150" spc="-125">
                <a:solidFill>
                  <a:srgbClr val="320032"/>
                </a:solidFill>
                <a:latin typeface="Arial"/>
                <a:cs typeface="Arial"/>
              </a:rPr>
              <a:t> </a:t>
            </a:r>
            <a:r>
              <a:rPr dirty="0" sz="1150" spc="-80">
                <a:solidFill>
                  <a:srgbClr val="320032"/>
                </a:solidFill>
                <a:latin typeface="Arial"/>
                <a:cs typeface="Arial"/>
              </a:rPr>
              <a:t>as:</a:t>
            </a:r>
            <a:endParaRPr sz="1150">
              <a:latin typeface="Arial"/>
              <a:cs typeface="Arial"/>
            </a:endParaRPr>
          </a:p>
          <a:p>
            <a:pPr marL="355600" marR="6985" indent="-342900">
              <a:lnSpc>
                <a:spcPct val="101699"/>
              </a:lnSpc>
              <a:spcBef>
                <a:spcPts val="695"/>
              </a:spcBef>
            </a:pPr>
            <a:r>
              <a:rPr dirty="0" sz="1150" spc="-15">
                <a:latin typeface="Arial"/>
                <a:cs typeface="Arial"/>
              </a:rPr>
              <a:t>“An </a:t>
            </a:r>
            <a:r>
              <a:rPr dirty="0" sz="1150" spc="-45">
                <a:latin typeface="Arial"/>
                <a:cs typeface="Arial"/>
              </a:rPr>
              <a:t>agreement </a:t>
            </a:r>
            <a:r>
              <a:rPr dirty="0" sz="1150" spc="-35">
                <a:latin typeface="Arial"/>
                <a:cs typeface="Arial"/>
              </a:rPr>
              <a:t>between </a:t>
            </a:r>
            <a:r>
              <a:rPr dirty="0" sz="1150" spc="5">
                <a:latin typeface="Arial"/>
                <a:cs typeface="Arial"/>
              </a:rPr>
              <a:t>two </a:t>
            </a:r>
            <a:r>
              <a:rPr dirty="0" sz="1150" spc="-35">
                <a:latin typeface="Arial"/>
                <a:cs typeface="Arial"/>
              </a:rPr>
              <a:t>parties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20">
                <a:latin typeface="Arial"/>
                <a:cs typeface="Arial"/>
              </a:rPr>
              <a:t>party </a:t>
            </a:r>
            <a:r>
              <a:rPr dirty="0" sz="1150" spc="-95">
                <a:latin typeface="Arial"/>
                <a:cs typeface="Arial"/>
              </a:rPr>
              <a:t>passes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rights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other  </a:t>
            </a:r>
            <a:r>
              <a:rPr dirty="0" sz="1150" spc="-5">
                <a:latin typeface="Arial"/>
                <a:cs typeface="Arial"/>
              </a:rPr>
              <a:t>party”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150" spc="-60">
                <a:latin typeface="Arial"/>
                <a:cs typeface="Arial"/>
              </a:rPr>
              <a:t>Or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150" spc="-5">
                <a:latin typeface="Arial"/>
                <a:cs typeface="Arial"/>
              </a:rPr>
              <a:t>“A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contractual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license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granted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by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one person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(the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franchisor)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another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(the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franchisee).”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350" spc="-80">
                <a:latin typeface="Arial"/>
                <a:cs typeface="Arial"/>
              </a:rPr>
              <a:t>Rights </a:t>
            </a:r>
            <a:r>
              <a:rPr dirty="0" sz="1350">
                <a:latin typeface="Arial"/>
                <a:cs typeface="Arial"/>
              </a:rPr>
              <a:t>of </a:t>
            </a:r>
            <a:r>
              <a:rPr dirty="0" sz="1350" spc="-60">
                <a:latin typeface="Arial"/>
                <a:cs typeface="Arial"/>
              </a:rPr>
              <a:t>franchisee</a:t>
            </a:r>
            <a:r>
              <a:rPr dirty="0" sz="1350" spc="-150">
                <a:latin typeface="Arial"/>
                <a:cs typeface="Arial"/>
              </a:rPr>
              <a:t> </a:t>
            </a:r>
            <a:r>
              <a:rPr dirty="0" sz="1350" spc="-60">
                <a:latin typeface="Arial"/>
                <a:cs typeface="Arial"/>
              </a:rPr>
              <a:t>includes</a:t>
            </a:r>
            <a:endParaRPr sz="13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680"/>
              </a:spcBef>
              <a:buAutoNum type="arabicPeriod" startAt="3"/>
              <a:tabLst>
                <a:tab pos="927735" algn="l"/>
              </a:tabLst>
            </a:pPr>
            <a:r>
              <a:rPr dirty="0" sz="1150" spc="-60">
                <a:latin typeface="Arial"/>
                <a:cs typeface="Arial"/>
              </a:rPr>
              <a:t>Right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trade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mark.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670"/>
              </a:spcBef>
              <a:buAutoNum type="arabicPeriod" startAt="3"/>
              <a:tabLst>
                <a:tab pos="927735" algn="l"/>
              </a:tabLst>
            </a:pPr>
            <a:r>
              <a:rPr dirty="0" sz="1150" spc="-60">
                <a:latin typeface="Arial"/>
                <a:cs typeface="Arial"/>
              </a:rPr>
              <a:t>Right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name.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675"/>
              </a:spcBef>
              <a:buAutoNum type="arabicPeriod" startAt="3"/>
              <a:tabLst>
                <a:tab pos="927735" algn="l"/>
              </a:tabLst>
            </a:pPr>
            <a:r>
              <a:rPr dirty="0" sz="1150" spc="-60">
                <a:latin typeface="Arial"/>
                <a:cs typeface="Arial"/>
              </a:rPr>
              <a:t>Right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-65">
                <a:latin typeface="Arial"/>
                <a:cs typeface="Arial"/>
              </a:rPr>
              <a:t>systems, </a:t>
            </a:r>
            <a:r>
              <a:rPr dirty="0" sz="1150" spc="-45">
                <a:latin typeface="Arial"/>
                <a:cs typeface="Arial"/>
              </a:rPr>
              <a:t>methods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researches.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670"/>
              </a:spcBef>
              <a:buAutoNum type="arabicPeriod" startAt="3"/>
              <a:tabLst>
                <a:tab pos="927735" algn="l"/>
              </a:tabLst>
            </a:pPr>
            <a:r>
              <a:rPr dirty="0" sz="1150" spc="-60">
                <a:latin typeface="Arial"/>
                <a:cs typeface="Arial"/>
              </a:rPr>
              <a:t>Right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-60">
                <a:latin typeface="Arial"/>
                <a:cs typeface="Arial"/>
              </a:rPr>
              <a:t>packing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material.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65">
                <a:latin typeface="Arial"/>
                <a:cs typeface="Arial"/>
              </a:rPr>
              <a:t>Parties </a:t>
            </a:r>
            <a:r>
              <a:rPr dirty="0" sz="1350" spc="15">
                <a:latin typeface="Arial"/>
                <a:cs typeface="Arial"/>
              </a:rPr>
              <a:t>to </a:t>
            </a:r>
            <a:r>
              <a:rPr dirty="0" sz="1350" spc="-80">
                <a:latin typeface="Arial"/>
                <a:cs typeface="Arial"/>
              </a:rPr>
              <a:t>Franchise</a:t>
            </a:r>
            <a:r>
              <a:rPr dirty="0" sz="1350" spc="-170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agreement</a:t>
            </a:r>
            <a:endParaRPr sz="13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715"/>
              </a:spcBef>
            </a:pP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>
                <a:latin typeface="Arial"/>
                <a:cs typeface="Arial"/>
              </a:rPr>
              <a:t>two </a:t>
            </a:r>
            <a:r>
              <a:rPr dirty="0" sz="1150" spc="-35">
                <a:latin typeface="Arial"/>
                <a:cs typeface="Arial"/>
              </a:rPr>
              <a:t>parties </a:t>
            </a:r>
            <a:r>
              <a:rPr dirty="0" sz="1150" spc="-40">
                <a:latin typeface="Arial"/>
                <a:cs typeface="Arial"/>
              </a:rPr>
              <a:t>involved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franchise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agreement</a:t>
            </a:r>
            <a:endParaRPr sz="1150">
              <a:latin typeface="Arial"/>
              <a:cs typeface="Arial"/>
            </a:endParaRPr>
          </a:p>
          <a:p>
            <a:pPr algn="just" marL="927100" indent="-229235">
              <a:lnSpc>
                <a:spcPct val="100000"/>
              </a:lnSpc>
              <a:spcBef>
                <a:spcPts val="685"/>
              </a:spcBef>
              <a:buAutoNum type="alphaLcParenR" startAt="4"/>
              <a:tabLst>
                <a:tab pos="927735" algn="l"/>
              </a:tabLst>
            </a:pPr>
            <a:r>
              <a:rPr dirty="0" sz="1150" spc="-60">
                <a:latin typeface="Arial"/>
                <a:cs typeface="Arial"/>
              </a:rPr>
              <a:t>Franchiser</a:t>
            </a:r>
            <a:endParaRPr sz="1150">
              <a:latin typeface="Arial"/>
              <a:cs typeface="Arial"/>
            </a:endParaRPr>
          </a:p>
          <a:p>
            <a:pPr algn="just" marL="355600" marR="6985" indent="1142365">
              <a:lnSpc>
                <a:spcPct val="101699"/>
              </a:lnSpc>
              <a:spcBef>
                <a:spcPts val="685"/>
              </a:spcBef>
            </a:pPr>
            <a:r>
              <a:rPr dirty="0" sz="1150" spc="-50">
                <a:latin typeface="Arial"/>
                <a:cs typeface="Arial"/>
              </a:rPr>
              <a:t>Party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0">
                <a:latin typeface="Arial"/>
                <a:cs typeface="Arial"/>
              </a:rPr>
              <a:t>person,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50">
                <a:latin typeface="Arial"/>
                <a:cs typeface="Arial"/>
              </a:rPr>
              <a:t>grants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right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sell/offer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15">
                <a:latin typeface="Arial"/>
                <a:cs typeface="Arial"/>
              </a:rPr>
              <a:t>&amp; 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 spc="-35">
                <a:latin typeface="Arial"/>
                <a:cs typeface="Arial"/>
              </a:rPr>
              <a:t>under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30">
                <a:latin typeface="Arial"/>
                <a:cs typeface="Arial"/>
              </a:rPr>
              <a:t>own </a:t>
            </a:r>
            <a:r>
              <a:rPr dirty="0" sz="1150" spc="-25">
                <a:latin typeface="Arial"/>
                <a:cs typeface="Arial"/>
              </a:rPr>
              <a:t>trade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name,</a:t>
            </a:r>
            <a:endParaRPr sz="1150">
              <a:latin typeface="Arial"/>
              <a:cs typeface="Arial"/>
            </a:endParaRPr>
          </a:p>
          <a:p>
            <a:pPr algn="just" marL="927100" indent="-229235">
              <a:lnSpc>
                <a:spcPct val="100000"/>
              </a:lnSpc>
              <a:spcBef>
                <a:spcPts val="685"/>
              </a:spcBef>
              <a:buAutoNum type="alphaLcParenR" startAt="5"/>
              <a:tabLst>
                <a:tab pos="927735" algn="l"/>
              </a:tabLst>
            </a:pPr>
            <a:r>
              <a:rPr dirty="0" sz="1150" spc="-70">
                <a:latin typeface="Arial"/>
                <a:cs typeface="Arial"/>
              </a:rPr>
              <a:t>Franchisee</a:t>
            </a:r>
            <a:endParaRPr sz="1150">
              <a:latin typeface="Arial"/>
              <a:cs typeface="Arial"/>
            </a:endParaRPr>
          </a:p>
          <a:p>
            <a:pPr algn="just" marL="12700" marR="5080" indent="570865">
              <a:lnSpc>
                <a:spcPct val="101400"/>
              </a:lnSpc>
              <a:spcBef>
                <a:spcPts val="650"/>
              </a:spcBef>
            </a:pPr>
            <a:r>
              <a:rPr dirty="0" sz="1150" spc="-70">
                <a:latin typeface="Arial"/>
                <a:cs typeface="Arial"/>
              </a:rPr>
              <a:t>Franchisee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being </a:t>
            </a:r>
            <a:r>
              <a:rPr dirty="0" sz="1150" spc="-40">
                <a:latin typeface="Arial"/>
                <a:cs typeface="Arial"/>
              </a:rPr>
              <a:t>granted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40">
                <a:latin typeface="Arial"/>
                <a:cs typeface="Arial"/>
              </a:rPr>
              <a:t>franchiser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provide representational </a:t>
            </a:r>
            <a:r>
              <a:rPr dirty="0" sz="1150" spc="-30">
                <a:latin typeface="Arial"/>
                <a:cs typeface="Arial"/>
              </a:rPr>
              <a:t>rights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45">
                <a:latin typeface="Arial"/>
                <a:cs typeface="Arial"/>
              </a:rPr>
              <a:t>sell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manufacture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provide </a:t>
            </a:r>
            <a:r>
              <a:rPr dirty="0" sz="1150" spc="-60">
                <a:latin typeface="Arial"/>
                <a:cs typeface="Arial"/>
              </a:rPr>
              <a:t>service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undertake </a:t>
            </a:r>
            <a:r>
              <a:rPr dirty="0" sz="1150" spc="-65">
                <a:latin typeface="Arial"/>
                <a:cs typeface="Arial"/>
              </a:rPr>
              <a:t>any process </a:t>
            </a:r>
            <a:r>
              <a:rPr dirty="0" sz="1150" spc="-20">
                <a:latin typeface="Arial"/>
                <a:cs typeface="Arial"/>
              </a:rPr>
              <a:t>identified </a:t>
            </a:r>
            <a:r>
              <a:rPr dirty="0" sz="1150" spc="5">
                <a:latin typeface="Arial"/>
                <a:cs typeface="Arial"/>
              </a:rPr>
              <a:t>with  </a:t>
            </a:r>
            <a:r>
              <a:rPr dirty="0" sz="1150" spc="-40">
                <a:latin typeface="Arial"/>
                <a:cs typeface="Arial"/>
              </a:rPr>
              <a:t>franchiser </a:t>
            </a:r>
            <a:r>
              <a:rPr dirty="0" sz="1150" spc="-55">
                <a:latin typeface="Arial"/>
                <a:cs typeface="Arial"/>
              </a:rPr>
              <a:t>against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60">
                <a:latin typeface="Arial"/>
                <a:cs typeface="Arial"/>
              </a:rPr>
              <a:t>agreed </a:t>
            </a:r>
            <a:r>
              <a:rPr dirty="0" sz="1150" spc="-40">
                <a:latin typeface="Arial"/>
                <a:cs typeface="Arial"/>
              </a:rPr>
              <a:t>fee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0">
                <a:latin typeface="Arial"/>
                <a:cs typeface="Arial"/>
              </a:rPr>
              <a:t>consideration including </a:t>
            </a:r>
            <a:r>
              <a:rPr dirty="0" sz="1150" spc="-25">
                <a:latin typeface="Arial"/>
                <a:cs typeface="Arial"/>
              </a:rPr>
              <a:t>royalty, </a:t>
            </a:r>
            <a:r>
              <a:rPr dirty="0" sz="1150" spc="-20">
                <a:latin typeface="Arial"/>
                <a:cs typeface="Arial"/>
              </a:rPr>
              <a:t>whether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trade  </a:t>
            </a:r>
            <a:r>
              <a:rPr dirty="0" sz="1150" spc="-40">
                <a:latin typeface="Arial"/>
                <a:cs typeface="Arial"/>
              </a:rPr>
              <a:t>mark, </a:t>
            </a:r>
            <a:r>
              <a:rPr dirty="0" sz="1150" spc="-60">
                <a:latin typeface="Arial"/>
                <a:cs typeface="Arial"/>
              </a:rPr>
              <a:t>service </a:t>
            </a:r>
            <a:r>
              <a:rPr dirty="0" sz="1150" spc="-40">
                <a:latin typeface="Arial"/>
                <a:cs typeface="Arial"/>
              </a:rPr>
              <a:t>mark, </a:t>
            </a:r>
            <a:r>
              <a:rPr dirty="0" sz="1150" spc="-25">
                <a:latin typeface="Arial"/>
                <a:cs typeface="Arial"/>
              </a:rPr>
              <a:t>trade </a:t>
            </a:r>
            <a:r>
              <a:rPr dirty="0" sz="1150" spc="-60">
                <a:latin typeface="Arial"/>
                <a:cs typeface="Arial"/>
              </a:rPr>
              <a:t>name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5">
                <a:latin typeface="Arial"/>
                <a:cs typeface="Arial"/>
              </a:rPr>
              <a:t>logo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50">
                <a:latin typeface="Arial"/>
                <a:cs typeface="Arial"/>
              </a:rPr>
              <a:t>symbol </a:t>
            </a:r>
            <a:r>
              <a:rPr dirty="0" sz="1150" spc="-35">
                <a:latin typeface="Arial"/>
                <a:cs typeface="Arial"/>
              </a:rPr>
              <a:t>,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involved.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50" spc="-90">
                <a:latin typeface="Arial"/>
                <a:cs typeface="Arial"/>
              </a:rPr>
              <a:t>Advantages </a:t>
            </a:r>
            <a:r>
              <a:rPr dirty="0" sz="1550" spc="-5">
                <a:latin typeface="Arial"/>
                <a:cs typeface="Arial"/>
              </a:rPr>
              <a:t>of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-85">
                <a:latin typeface="Arial"/>
                <a:cs typeface="Arial"/>
              </a:rPr>
              <a:t>Franchising</a:t>
            </a:r>
            <a:endParaRPr sz="1550">
              <a:latin typeface="Arial"/>
              <a:cs typeface="Arial"/>
            </a:endParaRPr>
          </a:p>
          <a:p>
            <a:pPr marL="469900" marR="6350" indent="-228600">
              <a:lnSpc>
                <a:spcPct val="101699"/>
              </a:lnSpc>
              <a:spcBef>
                <a:spcPts val="720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dirty="0" sz="1150" spc="-60">
                <a:latin typeface="Arial"/>
                <a:cs typeface="Arial"/>
              </a:rPr>
              <a:t>Franchiser gets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large </a:t>
            </a:r>
            <a:r>
              <a:rPr dirty="0" sz="1150" spc="-35">
                <a:latin typeface="Arial"/>
                <a:cs typeface="Arial"/>
              </a:rPr>
              <a:t>amount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money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50">
                <a:latin typeface="Arial"/>
                <a:cs typeface="Arial"/>
              </a:rPr>
              <a:t>franchisee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40">
                <a:latin typeface="Arial"/>
                <a:cs typeface="Arial"/>
              </a:rPr>
              <a:t>fee </a:t>
            </a:r>
            <a:r>
              <a:rPr dirty="0" sz="1150" spc="-25">
                <a:latin typeface="Arial"/>
                <a:cs typeface="Arial"/>
              </a:rPr>
              <a:t>while </a:t>
            </a:r>
            <a:r>
              <a:rPr dirty="0" sz="1150" spc="-65">
                <a:latin typeface="Arial"/>
                <a:cs typeface="Arial"/>
              </a:rPr>
              <a:t>using </a:t>
            </a:r>
            <a:r>
              <a:rPr dirty="0" sz="1150" spc="-25">
                <a:latin typeface="Arial"/>
                <a:cs typeface="Arial"/>
              </a:rPr>
              <a:t>its  </a:t>
            </a:r>
            <a:r>
              <a:rPr dirty="0" sz="1150" spc="-55">
                <a:latin typeface="Arial"/>
                <a:cs typeface="Arial"/>
              </a:rPr>
              <a:t>name.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20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dirty="0" sz="1150" spc="-70">
                <a:latin typeface="Arial"/>
                <a:cs typeface="Arial"/>
              </a:rPr>
              <a:t>Franchisee </a:t>
            </a:r>
            <a:r>
              <a:rPr dirty="0" sz="1150" spc="-65">
                <a:latin typeface="Arial"/>
                <a:cs typeface="Arial"/>
              </a:rPr>
              <a:t>gets </a:t>
            </a:r>
            <a:r>
              <a:rPr dirty="0" sz="1150" spc="-100">
                <a:latin typeface="Arial"/>
                <a:cs typeface="Arial"/>
              </a:rPr>
              <a:t>access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big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20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dirty="0" sz="1150" spc="-55">
                <a:latin typeface="Arial"/>
                <a:cs typeface="Arial"/>
              </a:rPr>
              <a:t>Failure </a:t>
            </a:r>
            <a:r>
              <a:rPr dirty="0" sz="1150" spc="-25">
                <a:latin typeface="Arial"/>
                <a:cs typeface="Arial"/>
              </a:rPr>
              <a:t>rate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franchise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25">
                <a:latin typeface="Arial"/>
                <a:cs typeface="Arial"/>
              </a:rPr>
              <a:t>lower </a:t>
            </a:r>
            <a:r>
              <a:rPr dirty="0" sz="1150" spc="-30">
                <a:latin typeface="Arial"/>
                <a:cs typeface="Arial"/>
              </a:rPr>
              <a:t>than </a:t>
            </a:r>
            <a:r>
              <a:rPr dirty="0" sz="1150" spc="-60">
                <a:latin typeface="Arial"/>
                <a:cs typeface="Arial"/>
              </a:rPr>
              <a:t>any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 marL="469900" marR="6350" indent="-228600">
              <a:lnSpc>
                <a:spcPct val="100899"/>
              </a:lnSpc>
              <a:spcBef>
                <a:spcPts val="675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dirty="0" sz="1150" spc="-70">
                <a:latin typeface="Arial"/>
                <a:cs typeface="Arial"/>
              </a:rPr>
              <a:t>Franchisee </a:t>
            </a:r>
            <a:r>
              <a:rPr dirty="0" sz="1150" spc="-95">
                <a:latin typeface="Arial"/>
                <a:cs typeface="Arial"/>
              </a:rPr>
              <a:t>uses </a:t>
            </a:r>
            <a:r>
              <a:rPr dirty="0" sz="1150" spc="-15">
                <a:latin typeface="Arial"/>
                <a:cs typeface="Arial"/>
              </a:rPr>
              <a:t>world </a:t>
            </a:r>
            <a:r>
              <a:rPr dirty="0" sz="1150" spc="-30">
                <a:latin typeface="Arial"/>
                <a:cs typeface="Arial"/>
              </a:rPr>
              <a:t>wide tested </a:t>
            </a:r>
            <a:r>
              <a:rPr dirty="0" sz="1150" spc="-40">
                <a:latin typeface="Arial"/>
                <a:cs typeface="Arial"/>
              </a:rPr>
              <a:t>brand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tested </a:t>
            </a:r>
            <a:r>
              <a:rPr dirty="0" sz="1150" spc="-50">
                <a:latin typeface="Arial"/>
                <a:cs typeface="Arial"/>
              </a:rPr>
              <a:t>procedures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why </a:t>
            </a:r>
            <a:r>
              <a:rPr dirty="0" sz="1150" spc="-25">
                <a:latin typeface="Arial"/>
                <a:cs typeface="Arial"/>
              </a:rPr>
              <a:t>failure  rate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lower in </a:t>
            </a:r>
            <a:r>
              <a:rPr dirty="0" sz="1150" spc="-30">
                <a:latin typeface="Arial"/>
                <a:cs typeface="Arial"/>
              </a:rPr>
              <a:t>this type </a:t>
            </a:r>
            <a:r>
              <a:rPr dirty="0" sz="1150" spc="-10">
                <a:latin typeface="Arial"/>
                <a:cs typeface="Arial"/>
              </a:rPr>
              <a:t>of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20"/>
              </a:spcBef>
              <a:buFont typeface="Wingdings"/>
              <a:buChar char=""/>
              <a:tabLst>
                <a:tab pos="469900" algn="l"/>
                <a:tab pos="470534" algn="l"/>
              </a:tabLst>
            </a:pPr>
            <a:r>
              <a:rPr dirty="0" sz="1150" spc="-60">
                <a:latin typeface="Arial"/>
                <a:cs typeface="Arial"/>
              </a:rPr>
              <a:t>Franchiser </a:t>
            </a:r>
            <a:r>
              <a:rPr dirty="0" sz="1150" spc="-45">
                <a:latin typeface="Arial"/>
                <a:cs typeface="Arial"/>
              </a:rPr>
              <a:t>provides </a:t>
            </a:r>
            <a:r>
              <a:rPr dirty="0" sz="1150" spc="-60">
                <a:latin typeface="Arial"/>
                <a:cs typeface="Arial"/>
              </a:rPr>
              <a:t>guidance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franchisee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35">
                <a:latin typeface="Arial"/>
                <a:cs typeface="Arial"/>
              </a:rPr>
              <a:t>affairs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351" y="801424"/>
            <a:ext cx="5514340" cy="782574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469265" indent="-229235">
              <a:lnSpc>
                <a:spcPct val="100000"/>
              </a:lnSpc>
              <a:spcBef>
                <a:spcPts val="820"/>
              </a:spcBef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dirty="0" sz="1150" spc="-75">
                <a:latin typeface="Arial"/>
                <a:cs typeface="Arial"/>
              </a:rPr>
              <a:t>Choice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location</a:t>
            </a:r>
            <a:endParaRPr sz="11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720"/>
              </a:spcBef>
              <a:buFont typeface="Wingdings"/>
              <a:buChar char=""/>
              <a:tabLst>
                <a:tab pos="469265" algn="l"/>
                <a:tab pos="469900" algn="l"/>
              </a:tabLst>
            </a:pPr>
            <a:r>
              <a:rPr dirty="0" sz="1150" spc="-60">
                <a:latin typeface="Arial"/>
                <a:cs typeface="Arial"/>
              </a:rPr>
              <a:t>Franchiser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always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there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support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franchisee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all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kinds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matters.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buChar char=""/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80">
                <a:latin typeface="Arial"/>
                <a:cs typeface="Arial"/>
              </a:rPr>
              <a:t>Disadvantages </a:t>
            </a:r>
            <a:r>
              <a:rPr dirty="0" sz="1350">
                <a:latin typeface="Arial"/>
                <a:cs typeface="Arial"/>
              </a:rPr>
              <a:t>of</a:t>
            </a:r>
            <a:r>
              <a:rPr dirty="0" sz="1350" spc="-75">
                <a:latin typeface="Arial"/>
                <a:cs typeface="Arial"/>
              </a:rPr>
              <a:t> Franchising</a:t>
            </a:r>
            <a:endParaRPr sz="1350">
              <a:latin typeface="Arial"/>
              <a:cs typeface="Arial"/>
            </a:endParaRPr>
          </a:p>
          <a:p>
            <a:pPr lvl="1" marL="584200" indent="-114935">
              <a:lnSpc>
                <a:spcPct val="100000"/>
              </a:lnSpc>
              <a:spcBef>
                <a:spcPts val="245"/>
              </a:spcBef>
              <a:buFont typeface="Symbol"/>
              <a:buChar char=""/>
              <a:tabLst>
                <a:tab pos="584200" algn="l"/>
              </a:tabLst>
            </a:pPr>
            <a:r>
              <a:rPr dirty="0" sz="1150" spc="-65">
                <a:latin typeface="Arial"/>
                <a:cs typeface="Arial"/>
              </a:rPr>
              <a:t>High </a:t>
            </a:r>
            <a:r>
              <a:rPr dirty="0" sz="1150" spc="-45">
                <a:latin typeface="Arial"/>
                <a:cs typeface="Arial"/>
              </a:rPr>
              <a:t>cost.</a:t>
            </a:r>
            <a:endParaRPr sz="1150">
              <a:latin typeface="Arial"/>
              <a:cs typeface="Arial"/>
            </a:endParaRPr>
          </a:p>
          <a:p>
            <a:pPr lvl="1" marL="584200" indent="-114935">
              <a:lnSpc>
                <a:spcPct val="100000"/>
              </a:lnSpc>
              <a:spcBef>
                <a:spcPts val="75"/>
              </a:spcBef>
              <a:buFont typeface="Symbol"/>
              <a:buChar char=""/>
              <a:tabLst>
                <a:tab pos="584200" algn="l"/>
              </a:tabLst>
            </a:pPr>
            <a:r>
              <a:rPr dirty="0" sz="1150" spc="-30">
                <a:latin typeface="Arial"/>
                <a:cs typeface="Arial"/>
              </a:rPr>
              <a:t>Proportionate </a:t>
            </a:r>
            <a:r>
              <a:rPr dirty="0" sz="1150" spc="5">
                <a:latin typeface="Arial"/>
                <a:cs typeface="Arial"/>
              </a:rPr>
              <a:t>profit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given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franchiser </a:t>
            </a:r>
            <a:r>
              <a:rPr dirty="0" sz="1150" spc="-50">
                <a:latin typeface="Arial"/>
                <a:cs typeface="Arial"/>
              </a:rPr>
              <a:t>by franchisee every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year.</a:t>
            </a:r>
            <a:endParaRPr sz="1150">
              <a:latin typeface="Arial"/>
              <a:cs typeface="Arial"/>
            </a:endParaRPr>
          </a:p>
          <a:p>
            <a:pPr lvl="1" marL="584200" indent="-114300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584200" algn="l"/>
              </a:tabLst>
            </a:pP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10">
                <a:latin typeface="Arial"/>
                <a:cs typeface="Arial"/>
              </a:rPr>
              <a:t>too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30">
                <a:latin typeface="Arial"/>
                <a:cs typeface="Arial"/>
              </a:rPr>
              <a:t>restrictions </a:t>
            </a:r>
            <a:r>
              <a:rPr dirty="0" sz="1150" spc="-15">
                <a:latin typeface="Arial"/>
                <a:cs typeface="Arial"/>
              </a:rPr>
              <a:t>from </a:t>
            </a:r>
            <a:r>
              <a:rPr dirty="0" sz="1150" spc="-40">
                <a:latin typeface="Arial"/>
                <a:cs typeface="Arial"/>
              </a:rPr>
              <a:t>franchiser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franchisee.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40">
                <a:latin typeface="Arial"/>
                <a:cs typeface="Arial"/>
              </a:rPr>
              <a:t>NEW </a:t>
            </a:r>
            <a:r>
              <a:rPr dirty="0" sz="1350" spc="-200">
                <a:latin typeface="Arial"/>
                <a:cs typeface="Arial"/>
              </a:rPr>
              <a:t>TRENDS </a:t>
            </a:r>
            <a:r>
              <a:rPr dirty="0" sz="1350" spc="-75">
                <a:latin typeface="Arial"/>
                <a:cs typeface="Arial"/>
              </a:rPr>
              <a:t>IN </a:t>
            </a:r>
            <a:r>
              <a:rPr dirty="0" sz="1350" spc="-185">
                <a:latin typeface="Arial"/>
                <a:cs typeface="Arial"/>
              </a:rPr>
              <a:t>THE</a:t>
            </a:r>
            <a:r>
              <a:rPr dirty="0" sz="1350" spc="-45">
                <a:latin typeface="Arial"/>
                <a:cs typeface="Arial"/>
              </a:rPr>
              <a:t> </a:t>
            </a:r>
            <a:r>
              <a:rPr dirty="0" sz="1350" spc="-190">
                <a:latin typeface="Arial"/>
                <a:cs typeface="Arial"/>
              </a:rPr>
              <a:t>BUSINESS</a:t>
            </a:r>
            <a:endParaRPr sz="13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35"/>
              </a:spcBef>
              <a:buFont typeface="Wingdings"/>
              <a:buChar char=""/>
              <a:tabLst>
                <a:tab pos="469265" algn="l"/>
                <a:tab pos="470534" algn="l"/>
              </a:tabLst>
            </a:pPr>
            <a:r>
              <a:rPr dirty="0" sz="1350" spc="-95">
                <a:latin typeface="Arial"/>
                <a:cs typeface="Arial"/>
              </a:rPr>
              <a:t>E-Commerce </a:t>
            </a:r>
            <a:r>
              <a:rPr dirty="0" sz="1350" spc="-5">
                <a:latin typeface="Arial"/>
                <a:cs typeface="Arial"/>
              </a:rPr>
              <a:t>or</a:t>
            </a:r>
            <a:r>
              <a:rPr dirty="0" sz="1350" spc="-55">
                <a:latin typeface="Arial"/>
                <a:cs typeface="Arial"/>
              </a:rPr>
              <a:t> </a:t>
            </a:r>
            <a:r>
              <a:rPr dirty="0" sz="1350" spc="-110">
                <a:latin typeface="Arial"/>
                <a:cs typeface="Arial"/>
              </a:rPr>
              <a:t>E-Business</a:t>
            </a:r>
            <a:endParaRPr sz="13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690"/>
              </a:spcBef>
            </a:pPr>
            <a:r>
              <a:rPr dirty="0" sz="1150" spc="-65">
                <a:latin typeface="Arial"/>
                <a:cs typeface="Arial"/>
              </a:rPr>
              <a:t>E-commerce, </a:t>
            </a:r>
            <a:r>
              <a:rPr dirty="0" sz="1150" spc="-35">
                <a:latin typeface="Arial"/>
                <a:cs typeface="Arial"/>
              </a:rPr>
              <a:t>(electronic </a:t>
            </a:r>
            <a:r>
              <a:rPr dirty="0" sz="1150" spc="-50">
                <a:latin typeface="Arial"/>
                <a:cs typeface="Arial"/>
              </a:rPr>
              <a:t>commerce),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online </a:t>
            </a:r>
            <a:r>
              <a:rPr dirty="0" sz="1150" spc="-55">
                <a:latin typeface="Arial"/>
                <a:cs typeface="Arial"/>
              </a:rPr>
              <a:t>commerce </a:t>
            </a:r>
            <a:r>
              <a:rPr dirty="0" sz="1150" spc="-75">
                <a:latin typeface="Arial"/>
                <a:cs typeface="Arial"/>
              </a:rPr>
              <a:t>verses </a:t>
            </a:r>
            <a:r>
              <a:rPr dirty="0" sz="1150" spc="-30">
                <a:latin typeface="Arial"/>
                <a:cs typeface="Arial"/>
              </a:rPr>
              <a:t>real-world </a:t>
            </a:r>
            <a:r>
              <a:rPr dirty="0" sz="1150" spc="-50">
                <a:latin typeface="Arial"/>
                <a:cs typeface="Arial"/>
              </a:rPr>
              <a:t>commerce. </a:t>
            </a:r>
            <a:r>
              <a:rPr dirty="0" sz="1150" spc="-120">
                <a:latin typeface="Arial"/>
                <a:cs typeface="Arial"/>
              </a:rPr>
              <a:t>E-  </a:t>
            </a:r>
            <a:r>
              <a:rPr dirty="0" sz="1150" spc="-55">
                <a:latin typeface="Arial"/>
                <a:cs typeface="Arial"/>
              </a:rPr>
              <a:t>commerce includes </a:t>
            </a:r>
            <a:r>
              <a:rPr dirty="0" sz="1150" spc="-15">
                <a:latin typeface="Arial"/>
                <a:cs typeface="Arial"/>
              </a:rPr>
              <a:t>retail </a:t>
            </a:r>
            <a:r>
              <a:rPr dirty="0" sz="1150" spc="-50">
                <a:latin typeface="Arial"/>
                <a:cs typeface="Arial"/>
              </a:rPr>
              <a:t>shopping, banking, </a:t>
            </a:r>
            <a:r>
              <a:rPr dirty="0" sz="1150" spc="-60">
                <a:latin typeface="Arial"/>
                <a:cs typeface="Arial"/>
              </a:rPr>
              <a:t>stocks </a:t>
            </a:r>
            <a:r>
              <a:rPr dirty="0" sz="1150" spc="-55">
                <a:latin typeface="Arial"/>
                <a:cs typeface="Arial"/>
              </a:rPr>
              <a:t>and bonds </a:t>
            </a:r>
            <a:r>
              <a:rPr dirty="0" sz="1150" spc="-30">
                <a:latin typeface="Arial"/>
                <a:cs typeface="Arial"/>
              </a:rPr>
              <a:t>trading, </a:t>
            </a:r>
            <a:r>
              <a:rPr dirty="0" sz="1150" spc="-40">
                <a:latin typeface="Arial"/>
                <a:cs typeface="Arial"/>
              </a:rPr>
              <a:t>auctions, </a:t>
            </a:r>
            <a:r>
              <a:rPr dirty="0" sz="1150" spc="-35">
                <a:latin typeface="Arial"/>
                <a:cs typeface="Arial"/>
              </a:rPr>
              <a:t>real </a:t>
            </a:r>
            <a:r>
              <a:rPr dirty="0" sz="1150" spc="-40">
                <a:latin typeface="Arial"/>
                <a:cs typeface="Arial"/>
              </a:rPr>
              <a:t>estate  transactions, </a:t>
            </a:r>
            <a:r>
              <a:rPr dirty="0" sz="1150" spc="-25">
                <a:latin typeface="Arial"/>
                <a:cs typeface="Arial"/>
              </a:rPr>
              <a:t>airline </a:t>
            </a:r>
            <a:r>
              <a:rPr dirty="0" sz="1150" spc="-45">
                <a:latin typeface="Arial"/>
                <a:cs typeface="Arial"/>
              </a:rPr>
              <a:t>booking, </a:t>
            </a:r>
            <a:r>
              <a:rPr dirty="0" sz="1150" spc="-40">
                <a:latin typeface="Arial"/>
                <a:cs typeface="Arial"/>
              </a:rPr>
              <a:t>movie </a:t>
            </a:r>
            <a:r>
              <a:rPr dirty="0" sz="1150" spc="-35">
                <a:latin typeface="Arial"/>
                <a:cs typeface="Arial"/>
              </a:rPr>
              <a:t>rentals, </a:t>
            </a:r>
            <a:r>
              <a:rPr dirty="0" sz="1150" spc="-40">
                <a:latin typeface="Arial"/>
                <a:cs typeface="Arial"/>
              </a:rPr>
              <a:t>nearly anything </a:t>
            </a:r>
            <a:r>
              <a:rPr dirty="0" sz="1150" spc="-45">
                <a:latin typeface="Arial"/>
                <a:cs typeface="Arial"/>
              </a:rPr>
              <a:t>you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0">
                <a:latin typeface="Arial"/>
                <a:cs typeface="Arial"/>
              </a:rPr>
              <a:t>imagine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real  </a:t>
            </a:r>
            <a:r>
              <a:rPr dirty="0" sz="1150" spc="-15">
                <a:latin typeface="Arial"/>
                <a:cs typeface="Arial"/>
              </a:rPr>
              <a:t>world. </a:t>
            </a:r>
            <a:r>
              <a:rPr dirty="0" sz="1150" spc="-95">
                <a:latin typeface="Arial"/>
                <a:cs typeface="Arial"/>
              </a:rPr>
              <a:t>Even </a:t>
            </a:r>
            <a:r>
              <a:rPr dirty="0" sz="1150" spc="-50">
                <a:latin typeface="Arial"/>
                <a:cs typeface="Arial"/>
              </a:rPr>
              <a:t>personal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30">
                <a:latin typeface="Arial"/>
                <a:cs typeface="Arial"/>
              </a:rPr>
              <a:t>hair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nail </a:t>
            </a:r>
            <a:r>
              <a:rPr dirty="0" sz="1150" spc="-70">
                <a:latin typeface="Arial"/>
                <a:cs typeface="Arial"/>
              </a:rPr>
              <a:t>salons </a:t>
            </a:r>
            <a:r>
              <a:rPr dirty="0" sz="1150" spc="-75">
                <a:latin typeface="Arial"/>
                <a:cs typeface="Arial"/>
              </a:rPr>
              <a:t>can </a:t>
            </a:r>
            <a:r>
              <a:rPr dirty="0" sz="1150" spc="-20">
                <a:latin typeface="Arial"/>
                <a:cs typeface="Arial"/>
              </a:rPr>
              <a:t>benefit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55">
                <a:latin typeface="Arial"/>
                <a:cs typeface="Arial"/>
              </a:rPr>
              <a:t>e-commerce </a:t>
            </a:r>
            <a:r>
              <a:rPr dirty="0" sz="1150" spc="-50">
                <a:latin typeface="Arial"/>
                <a:cs typeface="Arial"/>
              </a:rPr>
              <a:t>by  </a:t>
            </a:r>
            <a:r>
              <a:rPr dirty="0" sz="1150" spc="-35">
                <a:latin typeface="Arial"/>
                <a:cs typeface="Arial"/>
              </a:rPr>
              <a:t>providing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website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sale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related health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beauty </a:t>
            </a:r>
            <a:r>
              <a:rPr dirty="0" sz="1150" spc="-35">
                <a:latin typeface="Arial"/>
                <a:cs typeface="Arial"/>
              </a:rPr>
              <a:t>products, </a:t>
            </a:r>
            <a:r>
              <a:rPr dirty="0" sz="1150" spc="-30">
                <a:latin typeface="Arial"/>
                <a:cs typeface="Arial"/>
              </a:rPr>
              <a:t>normally </a:t>
            </a:r>
            <a:r>
              <a:rPr dirty="0" sz="1150" spc="-50">
                <a:latin typeface="Arial"/>
                <a:cs typeface="Arial"/>
              </a:rPr>
              <a:t>available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40">
                <a:latin typeface="Arial"/>
                <a:cs typeface="Arial"/>
              </a:rPr>
              <a:t>local </a:t>
            </a:r>
            <a:r>
              <a:rPr dirty="0" sz="1150" spc="-50">
                <a:latin typeface="Arial"/>
                <a:cs typeface="Arial"/>
              </a:rPr>
              <a:t>customers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exclusively.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25"/>
              </a:spcBef>
              <a:buFont typeface="Wingdings"/>
              <a:buChar char=""/>
              <a:tabLst>
                <a:tab pos="469265" algn="l"/>
                <a:tab pos="470534" algn="l"/>
              </a:tabLst>
            </a:pPr>
            <a:r>
              <a:rPr dirty="0" sz="1350" spc="-60">
                <a:latin typeface="Arial"/>
                <a:cs typeface="Arial"/>
              </a:rPr>
              <a:t>Women </a:t>
            </a:r>
            <a:r>
              <a:rPr dirty="0" sz="1350" spc="-15">
                <a:latin typeface="Arial"/>
                <a:cs typeface="Arial"/>
              </a:rPr>
              <a:t>in</a:t>
            </a:r>
            <a:r>
              <a:rPr dirty="0" sz="1350" spc="-95">
                <a:latin typeface="Arial"/>
                <a:cs typeface="Arial"/>
              </a:rPr>
              <a:t> </a:t>
            </a:r>
            <a:r>
              <a:rPr dirty="0" sz="1350" spc="-85">
                <a:latin typeface="Arial"/>
                <a:cs typeface="Arial"/>
              </a:rPr>
              <a:t>business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150" spc="-140">
                <a:latin typeface="Arial"/>
                <a:cs typeface="Arial"/>
              </a:rPr>
              <a:t>So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40">
                <a:latin typeface="Arial"/>
                <a:cs typeface="Arial"/>
              </a:rPr>
              <a:t>women </a:t>
            </a:r>
            <a:r>
              <a:rPr dirty="0" sz="1150" spc="-65">
                <a:latin typeface="Arial"/>
                <a:cs typeface="Arial"/>
              </a:rPr>
              <a:t>have come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75">
                <a:latin typeface="Arial"/>
                <a:cs typeface="Arial"/>
              </a:rPr>
              <a:t>areas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0899"/>
              </a:lnSpc>
              <a:spcBef>
                <a:spcPts val="660"/>
              </a:spcBef>
            </a:pP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10">
                <a:latin typeface="Arial"/>
                <a:cs typeface="Arial"/>
              </a:rPr>
              <a:t>better </a:t>
            </a:r>
            <a:r>
              <a:rPr dirty="0" sz="1150" spc="-50">
                <a:latin typeface="Arial"/>
                <a:cs typeface="Arial"/>
              </a:rPr>
              <a:t>displayed, </a:t>
            </a:r>
            <a:r>
              <a:rPr dirty="0" sz="1150" spc="-15">
                <a:latin typeface="Arial"/>
                <a:cs typeface="Arial"/>
              </a:rPr>
              <a:t>well </a:t>
            </a:r>
            <a:r>
              <a:rPr dirty="0" sz="1150" spc="-50">
                <a:latin typeface="Arial"/>
                <a:cs typeface="Arial"/>
              </a:rPr>
              <a:t>mannered </a:t>
            </a:r>
            <a:r>
              <a:rPr dirty="0" sz="1150" spc="-25">
                <a:latin typeface="Arial"/>
                <a:cs typeface="Arial"/>
              </a:rPr>
              <a:t>staff,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45">
                <a:latin typeface="Arial"/>
                <a:cs typeface="Arial"/>
              </a:rPr>
              <a:t>knowledge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more </a:t>
            </a:r>
            <a:r>
              <a:rPr dirty="0" sz="1150" spc="-30">
                <a:latin typeface="Arial"/>
                <a:cs typeface="Arial"/>
              </a:rPr>
              <a:t>market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oriented.</a:t>
            </a:r>
            <a:endParaRPr sz="11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725"/>
              </a:spcBef>
            </a:pPr>
            <a:r>
              <a:rPr dirty="0" sz="1350" spc="-170">
                <a:latin typeface="Arial"/>
                <a:cs typeface="Arial"/>
              </a:rPr>
              <a:t>GLOBAL</a:t>
            </a:r>
            <a:r>
              <a:rPr dirty="0" sz="1350" spc="-75">
                <a:latin typeface="Arial"/>
                <a:cs typeface="Arial"/>
              </a:rPr>
              <a:t> </a:t>
            </a:r>
            <a:r>
              <a:rPr dirty="0" sz="1350" spc="-165">
                <a:latin typeface="Arial"/>
                <a:cs typeface="Arial"/>
              </a:rPr>
              <a:t>OPPORTUNITIES</a:t>
            </a:r>
            <a:endParaRPr sz="1350">
              <a:latin typeface="Arial"/>
              <a:cs typeface="Arial"/>
            </a:endParaRPr>
          </a:p>
          <a:p>
            <a:pPr algn="just" marL="12700" marR="7620">
              <a:lnSpc>
                <a:spcPct val="100899"/>
              </a:lnSpc>
              <a:spcBef>
                <a:spcPts val="680"/>
              </a:spcBef>
            </a:pPr>
            <a:r>
              <a:rPr dirty="0" sz="1150" spc="-65">
                <a:latin typeface="Arial"/>
                <a:cs typeface="Arial"/>
              </a:rPr>
              <a:t>People have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awareness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global </a:t>
            </a:r>
            <a:r>
              <a:rPr dirty="0" sz="1150" spc="-30">
                <a:latin typeface="Arial"/>
                <a:cs typeface="Arial"/>
              </a:rPr>
              <a:t>market. </a:t>
            </a:r>
            <a:r>
              <a:rPr dirty="0" sz="1150" spc="-15">
                <a:latin typeface="Arial"/>
                <a:cs typeface="Arial"/>
              </a:rPr>
              <a:t>Internet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0">
                <a:latin typeface="Arial"/>
                <a:cs typeface="Arial"/>
              </a:rPr>
              <a:t>played </a:t>
            </a:r>
            <a:r>
              <a:rPr dirty="0" sz="1150" spc="-25">
                <a:latin typeface="Arial"/>
                <a:cs typeface="Arial"/>
              </a:rPr>
              <a:t>major </a:t>
            </a:r>
            <a:r>
              <a:rPr dirty="0" sz="1150" spc="-20">
                <a:latin typeface="Arial"/>
                <a:cs typeface="Arial"/>
              </a:rPr>
              <a:t>role in </a:t>
            </a:r>
            <a:r>
              <a:rPr dirty="0" sz="1150" spc="-80">
                <a:latin typeface="Arial"/>
                <a:cs typeface="Arial"/>
              </a:rPr>
              <a:t>accessing  </a:t>
            </a:r>
            <a:r>
              <a:rPr dirty="0" sz="1150" spc="-45">
                <a:latin typeface="Arial"/>
                <a:cs typeface="Arial"/>
              </a:rPr>
              <a:t>global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markets.</a:t>
            </a:r>
            <a:endParaRPr sz="1150">
              <a:latin typeface="Arial"/>
              <a:cs typeface="Arial"/>
            </a:endParaRPr>
          </a:p>
          <a:p>
            <a:pPr algn="just" marL="12700" marR="6350">
              <a:lnSpc>
                <a:spcPct val="100899"/>
              </a:lnSpc>
              <a:spcBef>
                <a:spcPts val="670"/>
              </a:spcBef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60">
                <a:latin typeface="Arial"/>
                <a:cs typeface="Arial"/>
              </a:rPr>
              <a:t>Pakistan,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30">
                <a:latin typeface="Arial"/>
                <a:cs typeface="Arial"/>
              </a:rPr>
              <a:t>got </a:t>
            </a:r>
            <a:r>
              <a:rPr dirty="0" sz="1150" spc="-65">
                <a:latin typeface="Arial"/>
                <a:cs typeface="Arial"/>
              </a:rPr>
              <a:t>huge </a:t>
            </a:r>
            <a:r>
              <a:rPr dirty="0" sz="1150" spc="-95">
                <a:latin typeface="Arial"/>
                <a:cs typeface="Arial"/>
              </a:rPr>
              <a:t>success </a:t>
            </a:r>
            <a:r>
              <a:rPr dirty="0" sz="1150" spc="-40">
                <a:latin typeface="Arial"/>
                <a:cs typeface="Arial"/>
              </a:rPr>
              <a:t>globally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40">
                <a:latin typeface="Arial"/>
                <a:cs typeface="Arial"/>
              </a:rPr>
              <a:t>could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65">
                <a:latin typeface="Arial"/>
                <a:cs typeface="Arial"/>
              </a:rPr>
              <a:t>make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brand </a:t>
            </a:r>
            <a:r>
              <a:rPr dirty="0" sz="1150" spc="-60">
                <a:latin typeface="Arial"/>
                <a:cs typeface="Arial"/>
              </a:rPr>
              <a:t>name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global  </a:t>
            </a:r>
            <a:r>
              <a:rPr dirty="0" sz="1150" spc="-30">
                <a:latin typeface="Arial"/>
                <a:cs typeface="Arial"/>
              </a:rPr>
              <a:t>market.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350" spc="-75">
                <a:latin typeface="Arial"/>
                <a:cs typeface="Arial"/>
              </a:rPr>
              <a:t>Factors </a:t>
            </a:r>
            <a:r>
              <a:rPr dirty="0" sz="1350" spc="5">
                <a:latin typeface="Arial"/>
                <a:cs typeface="Arial"/>
              </a:rPr>
              <a:t>for </a:t>
            </a:r>
            <a:r>
              <a:rPr dirty="0" sz="1350" spc="-25">
                <a:latin typeface="Arial"/>
                <a:cs typeface="Arial"/>
              </a:rPr>
              <a:t>lower </a:t>
            </a:r>
            <a:r>
              <a:rPr dirty="0" sz="1350" spc="-30">
                <a:latin typeface="Arial"/>
                <a:cs typeface="Arial"/>
              </a:rPr>
              <a:t>failure</a:t>
            </a:r>
            <a:r>
              <a:rPr dirty="0" sz="1350" spc="-210">
                <a:latin typeface="Arial"/>
                <a:cs typeface="Arial"/>
              </a:rPr>
              <a:t> </a:t>
            </a:r>
            <a:r>
              <a:rPr dirty="0" sz="1350" spc="-25">
                <a:latin typeface="Arial"/>
                <a:cs typeface="Arial"/>
              </a:rPr>
              <a:t>rate</a:t>
            </a:r>
            <a:endParaRPr sz="13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75"/>
              </a:spcBef>
              <a:buFont typeface="Wingdings"/>
              <a:buChar char=""/>
              <a:tabLst>
                <a:tab pos="469265" algn="l"/>
                <a:tab pos="470534" algn="l"/>
              </a:tabLst>
            </a:pPr>
            <a:r>
              <a:rPr dirty="0" sz="1150" spc="-45">
                <a:latin typeface="Arial"/>
                <a:cs typeface="Arial"/>
              </a:rPr>
              <a:t>Government’s </a:t>
            </a:r>
            <a:r>
              <a:rPr dirty="0" sz="1150" spc="-50">
                <a:latin typeface="Arial"/>
                <a:cs typeface="Arial"/>
              </a:rPr>
              <a:t>preferences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priorities.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469265" algn="l"/>
                <a:tab pos="470534" algn="l"/>
              </a:tabLst>
            </a:pPr>
            <a:r>
              <a:rPr dirty="0" sz="1150" spc="-45">
                <a:latin typeface="Arial"/>
                <a:cs typeface="Arial"/>
              </a:rPr>
              <a:t>Government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convinced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support corporate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sector.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0"/>
              </a:spcBef>
              <a:buFont typeface="Wingdings"/>
              <a:buChar char=""/>
              <a:tabLst>
                <a:tab pos="469265" algn="l"/>
                <a:tab pos="470534" algn="l"/>
              </a:tabLst>
            </a:pPr>
            <a:r>
              <a:rPr dirty="0" sz="1150" spc="-90">
                <a:latin typeface="Arial"/>
                <a:cs typeface="Arial"/>
              </a:rPr>
              <a:t>Businesses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now </a:t>
            </a:r>
            <a:r>
              <a:rPr dirty="0" sz="1150" spc="-50">
                <a:latin typeface="Arial"/>
                <a:cs typeface="Arial"/>
              </a:rPr>
              <a:t>being </a:t>
            </a:r>
            <a:r>
              <a:rPr dirty="0" sz="1150" spc="-45">
                <a:latin typeface="Arial"/>
                <a:cs typeface="Arial"/>
              </a:rPr>
              <a:t>set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45">
                <a:latin typeface="Arial"/>
                <a:cs typeface="Arial"/>
              </a:rPr>
              <a:t>professional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grounds.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469265" algn="l"/>
                <a:tab pos="470534" algn="l"/>
              </a:tabLst>
            </a:pPr>
            <a:r>
              <a:rPr dirty="0" sz="1150" spc="-45">
                <a:latin typeface="Arial"/>
                <a:cs typeface="Arial"/>
              </a:rPr>
              <a:t>Support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35">
                <a:latin typeface="Arial"/>
                <a:cs typeface="Arial"/>
              </a:rPr>
              <a:t>financial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institutions.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0"/>
              </a:spcBef>
              <a:buFont typeface="Wingdings"/>
              <a:buChar char=""/>
              <a:tabLst>
                <a:tab pos="469265" algn="l"/>
                <a:tab pos="470534" algn="l"/>
              </a:tabLst>
            </a:pPr>
            <a:r>
              <a:rPr dirty="0" sz="1150" spc="-60">
                <a:latin typeface="Arial"/>
                <a:cs typeface="Arial"/>
              </a:rPr>
              <a:t>General </a:t>
            </a:r>
            <a:r>
              <a:rPr dirty="0" sz="1150" spc="-55">
                <a:latin typeface="Arial"/>
                <a:cs typeface="Arial"/>
              </a:rPr>
              <a:t>economy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country.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469265" algn="l"/>
                <a:tab pos="470534" algn="l"/>
              </a:tabLst>
            </a:pPr>
            <a:r>
              <a:rPr dirty="0" sz="1150" spc="-65">
                <a:latin typeface="Arial"/>
                <a:cs typeface="Arial"/>
              </a:rPr>
              <a:t>People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acquiring professional </a:t>
            </a:r>
            <a:r>
              <a:rPr dirty="0" sz="1150" spc="-50">
                <a:latin typeface="Arial"/>
                <a:cs typeface="Arial"/>
              </a:rPr>
              <a:t>knowledge </a:t>
            </a:r>
            <a:r>
              <a:rPr dirty="0" sz="1150" spc="-30">
                <a:latin typeface="Arial"/>
                <a:cs typeface="Arial"/>
              </a:rPr>
              <a:t>about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469265" algn="l"/>
                <a:tab pos="470534" algn="l"/>
              </a:tabLst>
            </a:pPr>
            <a:r>
              <a:rPr dirty="0" sz="1150" spc="-45">
                <a:latin typeface="Arial"/>
                <a:cs typeface="Arial"/>
              </a:rPr>
              <a:t>Government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0">
                <a:latin typeface="Arial"/>
                <a:cs typeface="Arial"/>
              </a:rPr>
              <a:t>developed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25">
                <a:latin typeface="Arial"/>
                <a:cs typeface="Arial"/>
              </a:rPr>
              <a:t>training </a:t>
            </a:r>
            <a:r>
              <a:rPr dirty="0" sz="1150" spc="-35">
                <a:latin typeface="Arial"/>
                <a:cs typeface="Arial"/>
              </a:rPr>
              <a:t>centre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train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30">
                <a:latin typeface="Arial"/>
                <a:cs typeface="Arial"/>
              </a:rPr>
              <a:t>related </a:t>
            </a:r>
            <a:r>
              <a:rPr dirty="0" sz="1150" spc="5">
                <a:latin typeface="Arial"/>
                <a:cs typeface="Arial"/>
              </a:rPr>
              <a:t>to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550"/>
              </a:spcBef>
            </a:pPr>
            <a:r>
              <a:rPr dirty="0" sz="1150" spc="-70">
                <a:latin typeface="Arial"/>
                <a:cs typeface="Arial"/>
              </a:rPr>
              <a:t>Skills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development.</a:t>
            </a:r>
            <a:endParaRPr sz="11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720"/>
              </a:spcBef>
            </a:pPr>
            <a:r>
              <a:rPr dirty="0" sz="1150" spc="-25">
                <a:latin typeface="Arial"/>
                <a:cs typeface="Arial"/>
              </a:rPr>
              <a:t>Institutions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develop </a:t>
            </a:r>
            <a:r>
              <a:rPr dirty="0" sz="1150" spc="-60">
                <a:latin typeface="Arial"/>
                <a:cs typeface="Arial"/>
              </a:rPr>
              <a:t>man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power.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84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01" y="1005335"/>
            <a:ext cx="5511800" cy="8124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40" b="1">
                <a:latin typeface="Arial"/>
                <a:cs typeface="Arial"/>
              </a:rPr>
              <a:t>Lecture</a:t>
            </a:r>
            <a:r>
              <a:rPr dirty="0" sz="1750" spc="-16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11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</a:pPr>
            <a:r>
              <a:rPr dirty="0" sz="1750" spc="-310" b="1">
                <a:latin typeface="Arial"/>
                <a:cs typeface="Arial"/>
              </a:rPr>
              <a:t>SUCCESS </a:t>
            </a:r>
            <a:r>
              <a:rPr dirty="0" sz="1750" spc="-165" b="1">
                <a:latin typeface="Arial"/>
                <a:cs typeface="Arial"/>
              </a:rPr>
              <a:t>AND </a:t>
            </a:r>
            <a:r>
              <a:rPr dirty="0" sz="1750" spc="-225" b="1">
                <a:latin typeface="Arial"/>
                <a:cs typeface="Arial"/>
              </a:rPr>
              <a:t>FAILURE </a:t>
            </a:r>
            <a:r>
              <a:rPr dirty="0" sz="1750" spc="-220" b="1">
                <a:latin typeface="Arial"/>
                <a:cs typeface="Arial"/>
              </a:rPr>
              <a:t>OF</a:t>
            </a:r>
            <a:r>
              <a:rPr dirty="0" sz="1750" spc="-110" b="1">
                <a:latin typeface="Arial"/>
                <a:cs typeface="Arial"/>
              </a:rPr>
              <a:t> </a:t>
            </a:r>
            <a:r>
              <a:rPr dirty="0" sz="1750" spc="-240" b="1">
                <a:latin typeface="Arial"/>
                <a:cs typeface="Arial"/>
              </a:rPr>
              <a:t>BUSINESS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170">
                <a:latin typeface="Arial"/>
                <a:cs typeface="Arial"/>
              </a:rPr>
              <a:t>Causes </a:t>
            </a:r>
            <a:r>
              <a:rPr dirty="0" sz="1750" spc="-10">
                <a:latin typeface="Arial"/>
                <a:cs typeface="Arial"/>
              </a:rPr>
              <a:t>of </a:t>
            </a:r>
            <a:r>
              <a:rPr dirty="0" sz="1750" spc="-80">
                <a:latin typeface="Arial"/>
                <a:cs typeface="Arial"/>
              </a:rPr>
              <a:t>Failure </a:t>
            </a:r>
            <a:r>
              <a:rPr dirty="0" sz="1750" spc="-20">
                <a:latin typeface="Arial"/>
                <a:cs typeface="Arial"/>
              </a:rPr>
              <a:t>in</a:t>
            </a:r>
            <a:r>
              <a:rPr dirty="0" sz="1750" spc="-114">
                <a:latin typeface="Arial"/>
                <a:cs typeface="Arial"/>
              </a:rPr>
              <a:t> </a:t>
            </a:r>
            <a:r>
              <a:rPr dirty="0" sz="1750" spc="-130">
                <a:latin typeface="Arial"/>
                <a:cs typeface="Arial"/>
              </a:rPr>
              <a:t>Business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150" spc="-35">
                <a:latin typeface="Arial"/>
                <a:cs typeface="Arial"/>
              </a:rPr>
              <a:t>Normally, </a:t>
            </a:r>
            <a:r>
              <a:rPr dirty="0" sz="1150" spc="-20">
                <a:latin typeface="Arial"/>
                <a:cs typeface="Arial"/>
              </a:rPr>
              <a:t>following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5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common </a:t>
            </a:r>
            <a:r>
              <a:rPr dirty="0" sz="1150" spc="-95">
                <a:latin typeface="Arial"/>
                <a:cs typeface="Arial"/>
              </a:rPr>
              <a:t>causes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failure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any business: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45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100">
                <a:latin typeface="Arial"/>
                <a:cs typeface="Arial"/>
              </a:rPr>
              <a:t>Lack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market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knowledge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40">
                <a:latin typeface="Arial"/>
                <a:cs typeface="Arial"/>
              </a:rPr>
              <a:t>Start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4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>
                <a:latin typeface="Arial"/>
                <a:cs typeface="Arial"/>
              </a:rPr>
              <a:t>without </a:t>
            </a:r>
            <a:r>
              <a:rPr dirty="0" sz="1150" spc="-55">
                <a:latin typeface="Arial"/>
                <a:cs typeface="Arial"/>
              </a:rPr>
              <a:t>having </a:t>
            </a:r>
            <a:r>
              <a:rPr dirty="0" sz="1150" spc="-25">
                <a:latin typeface="Arial"/>
                <a:cs typeface="Arial"/>
              </a:rPr>
              <a:t>proper </a:t>
            </a:r>
            <a:r>
              <a:rPr dirty="0" sz="1150" spc="-50">
                <a:latin typeface="Arial"/>
                <a:cs typeface="Arial"/>
              </a:rPr>
              <a:t>experience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15">
                <a:latin typeface="Arial"/>
                <a:cs typeface="Arial"/>
              </a:rPr>
              <a:t>field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100">
                <a:latin typeface="Arial"/>
                <a:cs typeface="Arial"/>
              </a:rPr>
              <a:t>Lack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control </a:t>
            </a:r>
            <a:r>
              <a:rPr dirty="0" sz="1150" spc="-35">
                <a:latin typeface="Arial"/>
                <a:cs typeface="Arial"/>
              </a:rPr>
              <a:t>over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procedures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45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100">
                <a:latin typeface="Arial"/>
                <a:cs typeface="Arial"/>
              </a:rPr>
              <a:t>Lack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understanding </a:t>
            </a:r>
            <a:r>
              <a:rPr dirty="0" sz="1150" spc="-40">
                <a:latin typeface="Arial"/>
                <a:cs typeface="Arial"/>
              </a:rPr>
              <a:t>customer’s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demand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35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45">
                <a:latin typeface="Arial"/>
                <a:cs typeface="Arial"/>
              </a:rPr>
              <a:t>Poorly </a:t>
            </a:r>
            <a:r>
              <a:rPr dirty="0" sz="1150" spc="-60">
                <a:latin typeface="Arial"/>
                <a:cs typeface="Arial"/>
              </a:rPr>
              <a:t>designed </a:t>
            </a:r>
            <a:r>
              <a:rPr dirty="0" sz="1150" spc="-40">
                <a:latin typeface="Arial"/>
                <a:cs typeface="Arial"/>
              </a:rPr>
              <a:t>Production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Processes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80">
                <a:latin typeface="Arial"/>
                <a:cs typeface="Arial"/>
              </a:rPr>
              <a:t>Cost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45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70">
                <a:latin typeface="Arial"/>
                <a:cs typeface="Arial"/>
              </a:rPr>
              <a:t>Wastage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45">
                <a:latin typeface="Arial"/>
                <a:cs typeface="Arial"/>
              </a:rPr>
              <a:t>Complaint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handling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35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35">
                <a:latin typeface="Arial"/>
                <a:cs typeface="Arial"/>
              </a:rPr>
              <a:t>Quality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30">
                <a:latin typeface="Arial"/>
                <a:cs typeface="Arial"/>
              </a:rPr>
              <a:t>Insufficient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capital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95">
                <a:latin typeface="Arial"/>
                <a:cs typeface="Arial"/>
              </a:rPr>
              <a:t>Bad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Luck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35">
                <a:latin typeface="Arial"/>
                <a:cs typeface="Arial"/>
              </a:rPr>
              <a:t>Natural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Disaster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50" spc="-150">
                <a:latin typeface="Arial"/>
                <a:cs typeface="Arial"/>
              </a:rPr>
              <a:t>Reasons </a:t>
            </a:r>
            <a:r>
              <a:rPr dirty="0" sz="1750">
                <a:latin typeface="Arial"/>
                <a:cs typeface="Arial"/>
              </a:rPr>
              <a:t>for </a:t>
            </a:r>
            <a:r>
              <a:rPr dirty="0" sz="1750" spc="-175">
                <a:latin typeface="Arial"/>
                <a:cs typeface="Arial"/>
              </a:rPr>
              <a:t>Success </a:t>
            </a:r>
            <a:r>
              <a:rPr dirty="0" sz="1750" spc="-20">
                <a:latin typeface="Arial"/>
                <a:cs typeface="Arial"/>
              </a:rPr>
              <a:t>in </a:t>
            </a:r>
            <a:r>
              <a:rPr dirty="0" sz="1750" spc="-130">
                <a:latin typeface="Arial"/>
                <a:cs typeface="Arial"/>
              </a:rPr>
              <a:t>Business </a:t>
            </a:r>
            <a:r>
              <a:rPr dirty="0" sz="1750" spc="-40">
                <a:latin typeface="Arial"/>
                <a:cs typeface="Arial"/>
              </a:rPr>
              <a:t>(controllable</a:t>
            </a:r>
            <a:r>
              <a:rPr dirty="0" sz="1750" spc="-75">
                <a:latin typeface="Arial"/>
                <a:cs typeface="Arial"/>
              </a:rPr>
              <a:t> </a:t>
            </a:r>
            <a:r>
              <a:rPr dirty="0" sz="1750" spc="-55">
                <a:latin typeface="Arial"/>
                <a:cs typeface="Arial"/>
              </a:rPr>
              <a:t>factors)</a:t>
            </a:r>
            <a:endParaRPr sz="17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1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90">
                <a:latin typeface="Arial"/>
                <a:cs typeface="Arial"/>
              </a:rPr>
              <a:t>Response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Market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60">
                <a:latin typeface="Arial"/>
                <a:cs typeface="Arial"/>
              </a:rPr>
              <a:t>Competence </a:t>
            </a:r>
            <a:r>
              <a:rPr dirty="0" sz="1150" spc="-70">
                <a:latin typeface="Arial"/>
                <a:cs typeface="Arial"/>
              </a:rPr>
              <a:t>–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20">
                <a:latin typeface="Arial"/>
                <a:cs typeface="Arial"/>
              </a:rPr>
              <a:t>ability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work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60">
                <a:latin typeface="Arial"/>
                <a:cs typeface="Arial"/>
              </a:rPr>
              <a:t>Knowledge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Market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3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60">
                <a:latin typeface="Arial"/>
                <a:cs typeface="Arial"/>
              </a:rPr>
              <a:t>Knowledge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Product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4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60">
                <a:latin typeface="Arial"/>
                <a:cs typeface="Arial"/>
              </a:rPr>
              <a:t>Knowledge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Systems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Symbol"/>
              <a:buChar char=""/>
            </a:pP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150">
                <a:latin typeface="Arial"/>
                <a:cs typeface="Arial"/>
              </a:rPr>
              <a:t>Reasons </a:t>
            </a:r>
            <a:r>
              <a:rPr dirty="0" sz="1750">
                <a:latin typeface="Arial"/>
                <a:cs typeface="Arial"/>
              </a:rPr>
              <a:t>for </a:t>
            </a:r>
            <a:r>
              <a:rPr dirty="0" sz="1750" spc="-175">
                <a:latin typeface="Arial"/>
                <a:cs typeface="Arial"/>
              </a:rPr>
              <a:t>Success </a:t>
            </a:r>
            <a:r>
              <a:rPr dirty="0" sz="1750" spc="-20">
                <a:latin typeface="Arial"/>
                <a:cs typeface="Arial"/>
              </a:rPr>
              <a:t>in </a:t>
            </a:r>
            <a:r>
              <a:rPr dirty="0" sz="1750" spc="-130">
                <a:latin typeface="Arial"/>
                <a:cs typeface="Arial"/>
              </a:rPr>
              <a:t>Business </a:t>
            </a:r>
            <a:r>
              <a:rPr dirty="0" sz="1750" spc="-45">
                <a:latin typeface="Arial"/>
                <a:cs typeface="Arial"/>
              </a:rPr>
              <a:t>(uncontrollable</a:t>
            </a:r>
            <a:r>
              <a:rPr dirty="0" sz="1750" spc="-65">
                <a:latin typeface="Arial"/>
                <a:cs typeface="Arial"/>
              </a:rPr>
              <a:t> </a:t>
            </a:r>
            <a:r>
              <a:rPr dirty="0" sz="1750" spc="-50">
                <a:latin typeface="Arial"/>
                <a:cs typeface="Arial"/>
              </a:rPr>
              <a:t>factors)</a:t>
            </a:r>
            <a:endParaRPr sz="17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82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85">
                <a:latin typeface="Arial"/>
                <a:cs typeface="Arial"/>
              </a:rPr>
              <a:t>Luck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Act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God</a:t>
            </a:r>
            <a:endParaRPr sz="11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90">
                <a:latin typeface="Arial"/>
                <a:cs typeface="Arial"/>
              </a:rPr>
              <a:t>Law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Government</a:t>
            </a:r>
            <a:endParaRPr sz="11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60">
                <a:latin typeface="Arial"/>
                <a:cs typeface="Arial"/>
              </a:rPr>
              <a:t>State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95">
                <a:latin typeface="Arial"/>
                <a:cs typeface="Arial"/>
              </a:rPr>
              <a:t>Laws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85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31" y="809044"/>
            <a:ext cx="5513705" cy="738187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469900" indent="-229235">
              <a:lnSpc>
                <a:spcPct val="100000"/>
              </a:lnSpc>
              <a:spcBef>
                <a:spcPts val="83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50">
                <a:latin typeface="Arial"/>
                <a:cs typeface="Arial"/>
              </a:rPr>
              <a:t>Climate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change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70">
                <a:latin typeface="Arial"/>
                <a:cs typeface="Arial"/>
              </a:rPr>
              <a:t>Using </a:t>
            </a:r>
            <a:r>
              <a:rPr dirty="0" sz="1150" spc="-50">
                <a:latin typeface="Arial"/>
                <a:cs typeface="Arial"/>
              </a:rPr>
              <a:t>disaster </a:t>
            </a:r>
            <a:r>
              <a:rPr dirty="0" sz="1150" spc="-5">
                <a:latin typeface="Arial"/>
                <a:cs typeface="Arial"/>
              </a:rPr>
              <a:t>(if </a:t>
            </a:r>
            <a:r>
              <a:rPr dirty="0" sz="1150" spc="-60">
                <a:latin typeface="Arial"/>
                <a:cs typeface="Arial"/>
              </a:rPr>
              <a:t>any)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70">
                <a:latin typeface="Arial"/>
                <a:cs typeface="Arial"/>
              </a:rPr>
              <a:t>an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opportunity)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Symbol"/>
              <a:buChar char=""/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65">
                <a:latin typeface="Arial"/>
                <a:cs typeface="Arial"/>
              </a:rPr>
              <a:t>Joint</a:t>
            </a:r>
            <a:r>
              <a:rPr dirty="0" sz="1750" spc="-90">
                <a:latin typeface="Arial"/>
                <a:cs typeface="Arial"/>
              </a:rPr>
              <a:t> </a:t>
            </a:r>
            <a:r>
              <a:rPr dirty="0" sz="1750" spc="-55">
                <a:latin typeface="Arial"/>
                <a:cs typeface="Arial"/>
              </a:rPr>
              <a:t>Venture</a:t>
            </a:r>
            <a:endParaRPr sz="1750">
              <a:latin typeface="Arial"/>
              <a:cs typeface="Arial"/>
            </a:endParaRPr>
          </a:p>
          <a:p>
            <a:pPr algn="just" marL="12700" marR="5715">
              <a:lnSpc>
                <a:spcPct val="101400"/>
              </a:lnSpc>
              <a:spcBef>
                <a:spcPts val="690"/>
              </a:spcBef>
            </a:pPr>
            <a:r>
              <a:rPr dirty="0" sz="1150" spc="-60">
                <a:latin typeface="Arial"/>
                <a:cs typeface="Arial"/>
              </a:rPr>
              <a:t>Two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more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5">
                <a:latin typeface="Arial"/>
                <a:cs typeface="Arial"/>
              </a:rPr>
              <a:t>organizations </a:t>
            </a:r>
            <a:r>
              <a:rPr dirty="0" sz="1150" spc="-15">
                <a:latin typeface="Arial"/>
                <a:cs typeface="Arial"/>
              </a:rPr>
              <a:t>join </a:t>
            </a:r>
            <a:r>
              <a:rPr dirty="0" sz="1150" spc="-70">
                <a:latin typeface="Arial"/>
                <a:cs typeface="Arial"/>
              </a:rPr>
              <a:t>hands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decide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combine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30">
                <a:latin typeface="Arial"/>
                <a:cs typeface="Arial"/>
              </a:rPr>
              <a:t>venture,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equal </a:t>
            </a:r>
            <a:r>
              <a:rPr dirty="0" sz="1150" spc="-55">
                <a:latin typeface="Arial"/>
                <a:cs typeface="Arial"/>
              </a:rPr>
              <a:t>sharing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capital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70">
                <a:latin typeface="Arial"/>
                <a:cs typeface="Arial"/>
              </a:rPr>
              <a:t>each </a:t>
            </a:r>
            <a:r>
              <a:rPr dirty="0" sz="1150" spc="-5">
                <a:latin typeface="Arial"/>
                <a:cs typeface="Arial"/>
              </a:rPr>
              <a:t>firm. </a:t>
            </a:r>
            <a:r>
              <a:rPr dirty="0" sz="1150" spc="-50">
                <a:latin typeface="Arial"/>
                <a:cs typeface="Arial"/>
              </a:rPr>
              <a:t>Instead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expanding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35">
                <a:latin typeface="Arial"/>
                <a:cs typeface="Arial"/>
              </a:rPr>
              <a:t>broader </a:t>
            </a:r>
            <a:r>
              <a:rPr dirty="0" sz="1150" spc="-40">
                <a:latin typeface="Arial"/>
                <a:cs typeface="Arial"/>
              </a:rPr>
              <a:t>level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start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45">
                <a:latin typeface="Arial"/>
                <a:cs typeface="Arial"/>
              </a:rPr>
              <a:t>very high cost, </a:t>
            </a:r>
            <a:r>
              <a:rPr dirty="0" sz="1150">
                <a:latin typeface="Arial"/>
                <a:cs typeface="Arial"/>
              </a:rPr>
              <a:t>joint </a:t>
            </a:r>
            <a:r>
              <a:rPr dirty="0" sz="1150" spc="-30">
                <a:latin typeface="Arial"/>
                <a:cs typeface="Arial"/>
              </a:rPr>
              <a:t>venture  </a:t>
            </a:r>
            <a:r>
              <a:rPr dirty="0" sz="1150" spc="-75">
                <a:latin typeface="Arial"/>
                <a:cs typeface="Arial"/>
              </a:rPr>
              <a:t>shares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financial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burden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order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gain </a:t>
            </a:r>
            <a:r>
              <a:rPr dirty="0" sz="1150" spc="-40">
                <a:latin typeface="Arial"/>
                <a:cs typeface="Arial"/>
              </a:rPr>
              <a:t>new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opportunities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at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diversified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level.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550" spc="-90">
                <a:latin typeface="Arial"/>
                <a:cs typeface="Arial"/>
              </a:rPr>
              <a:t>Advantages </a:t>
            </a:r>
            <a:r>
              <a:rPr dirty="0" sz="1550" spc="-5">
                <a:latin typeface="Arial"/>
                <a:cs typeface="Arial"/>
              </a:rPr>
              <a:t>of </a:t>
            </a:r>
            <a:r>
              <a:rPr dirty="0" sz="1550" spc="-60">
                <a:latin typeface="Arial"/>
                <a:cs typeface="Arial"/>
              </a:rPr>
              <a:t>Joint</a:t>
            </a:r>
            <a:r>
              <a:rPr dirty="0" sz="1550" spc="-165">
                <a:latin typeface="Arial"/>
                <a:cs typeface="Arial"/>
              </a:rPr>
              <a:t> </a:t>
            </a:r>
            <a:r>
              <a:rPr dirty="0" sz="1550" spc="-50">
                <a:latin typeface="Arial"/>
                <a:cs typeface="Arial"/>
              </a:rPr>
              <a:t>Venture</a:t>
            </a:r>
            <a:endParaRPr sz="15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770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50">
                <a:latin typeface="Arial"/>
                <a:cs typeface="Arial"/>
              </a:rPr>
              <a:t>Provide </a:t>
            </a:r>
            <a:r>
              <a:rPr dirty="0" sz="1150" spc="-25">
                <a:latin typeface="Arial"/>
                <a:cs typeface="Arial"/>
              </a:rPr>
              <a:t>opportunities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acquire </a:t>
            </a:r>
            <a:r>
              <a:rPr dirty="0" sz="1150" spc="-40">
                <a:latin typeface="Arial"/>
                <a:cs typeface="Arial"/>
              </a:rPr>
              <a:t>new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expertise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30">
                <a:latin typeface="Arial"/>
                <a:cs typeface="Arial"/>
              </a:rPr>
              <a:t>Allow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enter in </a:t>
            </a:r>
            <a:r>
              <a:rPr dirty="0" sz="1150" spc="-40">
                <a:latin typeface="Arial"/>
                <a:cs typeface="Arial"/>
              </a:rPr>
              <a:t>new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geographic </a:t>
            </a:r>
            <a:r>
              <a:rPr dirty="0" sz="1150" spc="-45">
                <a:latin typeface="Arial"/>
                <a:cs typeface="Arial"/>
              </a:rPr>
              <a:t>markets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745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60">
                <a:latin typeface="Arial"/>
                <a:cs typeface="Arial"/>
              </a:rPr>
              <a:t>gain </a:t>
            </a:r>
            <a:r>
              <a:rPr dirty="0" sz="1150" spc="-40">
                <a:latin typeface="Arial"/>
                <a:cs typeface="Arial"/>
              </a:rPr>
              <a:t>new technological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knowledge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735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75">
                <a:latin typeface="Arial"/>
                <a:cs typeface="Arial"/>
              </a:rPr>
              <a:t>Sharing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specialized </a:t>
            </a:r>
            <a:r>
              <a:rPr dirty="0" sz="1150" spc="-20">
                <a:latin typeface="Arial"/>
                <a:cs typeface="Arial"/>
              </a:rPr>
              <a:t>staff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technology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55">
                <a:latin typeface="Arial"/>
                <a:cs typeface="Arial"/>
              </a:rPr>
              <a:t>sharing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risks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50" spc="-70">
                <a:latin typeface="Arial"/>
                <a:cs typeface="Arial"/>
              </a:rPr>
              <a:t>Strategic</a:t>
            </a:r>
            <a:r>
              <a:rPr dirty="0" sz="1550" spc="-80">
                <a:latin typeface="Arial"/>
                <a:cs typeface="Arial"/>
              </a:rPr>
              <a:t> </a:t>
            </a:r>
            <a:r>
              <a:rPr dirty="0" sz="1550" spc="-65">
                <a:latin typeface="Arial"/>
                <a:cs typeface="Arial"/>
              </a:rPr>
              <a:t>Alliance</a:t>
            </a:r>
            <a:endParaRPr sz="15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710"/>
              </a:spcBef>
            </a:pPr>
            <a:r>
              <a:rPr dirty="0" sz="1150" spc="-4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strategies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alliances,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two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more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than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two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organizations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collaborate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for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mutual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profits.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ts val="1400"/>
              </a:lnSpc>
              <a:spcBef>
                <a:spcPts val="45"/>
              </a:spcBef>
            </a:pPr>
            <a:r>
              <a:rPr dirty="0" sz="1150" spc="-40">
                <a:latin typeface="Arial"/>
                <a:cs typeface="Arial"/>
              </a:rPr>
              <a:t>In strategic </a:t>
            </a:r>
            <a:r>
              <a:rPr dirty="0" sz="1150" spc="-55">
                <a:latin typeface="Arial"/>
                <a:cs typeface="Arial"/>
              </a:rPr>
              <a:t>alliances, </a:t>
            </a:r>
            <a:r>
              <a:rPr dirty="0" sz="1150" spc="-65">
                <a:latin typeface="Arial"/>
                <a:cs typeface="Arial"/>
              </a:rPr>
              <a:t>Pool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 spc="-65">
                <a:latin typeface="Arial"/>
                <a:cs typeface="Arial"/>
              </a:rPr>
              <a:t>occurs </a:t>
            </a:r>
            <a:r>
              <a:rPr dirty="0" sz="1150" spc="-75">
                <a:latin typeface="Arial"/>
                <a:cs typeface="Arial"/>
              </a:rPr>
              <a:t>such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both </a:t>
            </a:r>
            <a:r>
              <a:rPr dirty="0" sz="1150" spc="-25">
                <a:latin typeface="Arial"/>
                <a:cs typeface="Arial"/>
              </a:rPr>
              <a:t>firms, </a:t>
            </a:r>
            <a:r>
              <a:rPr dirty="0" sz="1150" spc="-15">
                <a:latin typeface="Arial"/>
                <a:cs typeface="Arial"/>
              </a:rPr>
              <a:t>distribution  </a:t>
            </a:r>
            <a:r>
              <a:rPr dirty="0" sz="1150" spc="-65">
                <a:latin typeface="Arial"/>
                <a:cs typeface="Arial"/>
              </a:rPr>
              <a:t>channels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50">
                <a:latin typeface="Arial"/>
                <a:cs typeface="Arial"/>
              </a:rPr>
              <a:t>by every </a:t>
            </a:r>
            <a:r>
              <a:rPr dirty="0" sz="1150" spc="-5">
                <a:latin typeface="Arial"/>
                <a:cs typeface="Arial"/>
              </a:rPr>
              <a:t>firm, </a:t>
            </a:r>
            <a:r>
              <a:rPr dirty="0" sz="1150" spc="-35">
                <a:latin typeface="Arial"/>
                <a:cs typeface="Arial"/>
              </a:rPr>
              <a:t>manufacturing </a:t>
            </a:r>
            <a:r>
              <a:rPr dirty="0" sz="1150" spc="-40">
                <a:latin typeface="Arial"/>
                <a:cs typeface="Arial"/>
              </a:rPr>
              <a:t>capabilities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firms, </a:t>
            </a:r>
            <a:r>
              <a:rPr dirty="0" sz="1150" spc="-10">
                <a:latin typeface="Arial"/>
                <a:cs typeface="Arial"/>
              </a:rPr>
              <a:t>future </a:t>
            </a:r>
            <a:r>
              <a:rPr dirty="0" sz="1150" spc="-35">
                <a:latin typeface="Arial"/>
                <a:cs typeface="Arial"/>
              </a:rPr>
              <a:t>projects funding,  capital </a:t>
            </a:r>
            <a:r>
              <a:rPr dirty="0" sz="1150" spc="-30">
                <a:latin typeface="Arial"/>
                <a:cs typeface="Arial"/>
              </a:rPr>
              <a:t>equipment </a:t>
            </a:r>
            <a:r>
              <a:rPr dirty="0" sz="1150" spc="-55">
                <a:latin typeface="Arial"/>
                <a:cs typeface="Arial"/>
              </a:rPr>
              <a:t>sharing, </a:t>
            </a:r>
            <a:r>
              <a:rPr dirty="0" sz="1150" spc="-45">
                <a:latin typeface="Arial"/>
                <a:cs typeface="Arial"/>
              </a:rPr>
              <a:t>knowledge, expertise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intellectual </a:t>
            </a:r>
            <a:r>
              <a:rPr dirty="0" sz="1150" spc="-20">
                <a:latin typeface="Arial"/>
                <a:cs typeface="Arial"/>
              </a:rPr>
              <a:t>property </a:t>
            </a:r>
            <a:r>
              <a:rPr dirty="0" sz="1150" spc="-55">
                <a:latin typeface="Arial"/>
                <a:cs typeface="Arial"/>
              </a:rPr>
              <a:t>sharing </a:t>
            </a:r>
            <a:r>
              <a:rPr dirty="0" sz="1150" spc="-60">
                <a:latin typeface="Arial"/>
                <a:cs typeface="Arial"/>
              </a:rPr>
              <a:t>among  </a:t>
            </a:r>
            <a:r>
              <a:rPr dirty="0" sz="1150" spc="-15">
                <a:latin typeface="Arial"/>
                <a:cs typeface="Arial"/>
              </a:rPr>
              <a:t>both </a:t>
            </a:r>
            <a:r>
              <a:rPr dirty="0" sz="1150">
                <a:latin typeface="Arial"/>
                <a:cs typeface="Arial"/>
              </a:rPr>
              <a:t>firm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basic </a:t>
            </a:r>
            <a:r>
              <a:rPr dirty="0" sz="1150" spc="-10">
                <a:latin typeface="Arial"/>
                <a:cs typeface="Arial"/>
              </a:rPr>
              <a:t>out </a:t>
            </a:r>
            <a:r>
              <a:rPr dirty="0" sz="1150" spc="-75">
                <a:latin typeface="Arial"/>
                <a:cs typeface="Arial"/>
              </a:rPr>
              <a:t>comes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strategic </a:t>
            </a:r>
            <a:r>
              <a:rPr dirty="0" sz="1150" spc="-55">
                <a:latin typeface="Arial"/>
                <a:cs typeface="Arial"/>
              </a:rPr>
              <a:t>alliances.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80">
                <a:latin typeface="Arial"/>
                <a:cs typeface="Arial"/>
              </a:rPr>
              <a:t>One </a:t>
            </a:r>
            <a:r>
              <a:rPr dirty="0" sz="1150" spc="-55">
                <a:latin typeface="Arial"/>
                <a:cs typeface="Arial"/>
              </a:rPr>
              <a:t>good </a:t>
            </a:r>
            <a:r>
              <a:rPr dirty="0" sz="1150" spc="-60">
                <a:latin typeface="Arial"/>
                <a:cs typeface="Arial"/>
              </a:rPr>
              <a:t>e.g.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strategic </a:t>
            </a:r>
            <a:r>
              <a:rPr dirty="0" sz="1150" spc="-55">
                <a:latin typeface="Arial"/>
                <a:cs typeface="Arial"/>
              </a:rPr>
              <a:t>alliances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commonly </a:t>
            </a:r>
            <a:r>
              <a:rPr dirty="0" sz="1150" spc="-80">
                <a:latin typeface="Arial"/>
                <a:cs typeface="Arial"/>
              </a:rPr>
              <a:t>seen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Air </a:t>
            </a:r>
            <a:r>
              <a:rPr dirty="0" sz="1150" spc="-80">
                <a:latin typeface="Arial"/>
                <a:cs typeface="Arial"/>
              </a:rPr>
              <a:t>Lines </a:t>
            </a:r>
            <a:r>
              <a:rPr dirty="0" sz="1150" spc="-30">
                <a:latin typeface="Arial"/>
                <a:cs typeface="Arial"/>
              </a:rPr>
              <a:t>industry </a:t>
            </a:r>
            <a:r>
              <a:rPr dirty="0" sz="1150" spc="-40">
                <a:latin typeface="Arial"/>
                <a:cs typeface="Arial"/>
              </a:rPr>
              <a:t>around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world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50" spc="-45">
                <a:latin typeface="Arial"/>
                <a:cs typeface="Arial"/>
              </a:rPr>
              <a:t>Merger </a:t>
            </a:r>
            <a:r>
              <a:rPr dirty="0" sz="1550" spc="-75">
                <a:latin typeface="Arial"/>
                <a:cs typeface="Arial"/>
              </a:rPr>
              <a:t>and</a:t>
            </a:r>
            <a:r>
              <a:rPr dirty="0" sz="1550" spc="-125">
                <a:latin typeface="Arial"/>
                <a:cs typeface="Arial"/>
              </a:rPr>
              <a:t> </a:t>
            </a:r>
            <a:r>
              <a:rPr dirty="0" sz="1550" spc="-50">
                <a:latin typeface="Arial"/>
                <a:cs typeface="Arial"/>
              </a:rPr>
              <a:t>Acquisition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35">
                <a:latin typeface="Arial"/>
                <a:cs typeface="Arial"/>
              </a:rPr>
              <a:t>Merger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15">
                <a:latin typeface="Arial"/>
                <a:cs typeface="Arial"/>
              </a:rPr>
              <a:t>trend </a:t>
            </a:r>
            <a:r>
              <a:rPr dirty="0" sz="1150" spc="-1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5">
                <a:latin typeface="Arial"/>
                <a:cs typeface="Arial"/>
              </a:rPr>
              <a:t>two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more </a:t>
            </a:r>
            <a:r>
              <a:rPr dirty="0" sz="1150" spc="-45">
                <a:latin typeface="Arial"/>
                <a:cs typeface="Arial"/>
              </a:rPr>
              <a:t>organizations combine </a:t>
            </a:r>
            <a:r>
              <a:rPr dirty="0" sz="1150" spc="-25">
                <a:latin typeface="Arial"/>
                <a:cs typeface="Arial"/>
              </a:rPr>
              <a:t>together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new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50" spc="-50">
                <a:latin typeface="Arial"/>
                <a:cs typeface="Arial"/>
              </a:rPr>
              <a:t>Acquisition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50">
                <a:latin typeface="Arial"/>
                <a:cs typeface="Arial"/>
              </a:rPr>
              <a:t>Slightly </a:t>
            </a:r>
            <a:r>
              <a:rPr dirty="0" sz="1150" spc="-10">
                <a:latin typeface="Arial"/>
                <a:cs typeface="Arial"/>
              </a:rPr>
              <a:t>differ </a:t>
            </a:r>
            <a:r>
              <a:rPr dirty="0" sz="1150" spc="-5">
                <a:latin typeface="Arial"/>
                <a:cs typeface="Arial"/>
              </a:rPr>
              <a:t>from </a:t>
            </a:r>
            <a:r>
              <a:rPr dirty="0" sz="1150" spc="-35">
                <a:latin typeface="Arial"/>
                <a:cs typeface="Arial"/>
              </a:rPr>
              <a:t>Merger; </a:t>
            </a:r>
            <a:r>
              <a:rPr dirty="0" sz="1150" spc="-45">
                <a:latin typeface="Arial"/>
                <a:cs typeface="Arial"/>
              </a:rPr>
              <a:t>here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55">
                <a:latin typeface="Arial"/>
                <a:cs typeface="Arial"/>
              </a:rPr>
              <a:t>acquires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45">
                <a:latin typeface="Arial"/>
                <a:cs typeface="Arial"/>
              </a:rPr>
              <a:t>instead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40">
                <a:latin typeface="Arial"/>
                <a:cs typeface="Arial"/>
              </a:rPr>
              <a:t>combining. </a:t>
            </a:r>
            <a:r>
              <a:rPr dirty="0" sz="1150" spc="-50">
                <a:latin typeface="Arial"/>
                <a:cs typeface="Arial"/>
              </a:rPr>
              <a:t>Ownership </a:t>
            </a:r>
            <a:r>
              <a:rPr dirty="0" sz="1150" spc="-70">
                <a:latin typeface="Arial"/>
                <a:cs typeface="Arial"/>
              </a:rPr>
              <a:t>moves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35">
                <a:latin typeface="Arial"/>
                <a:cs typeface="Arial"/>
              </a:rPr>
              <a:t>towards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acquiring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partner.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86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25" y="759561"/>
            <a:ext cx="5511800" cy="2698115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1550" spc="-95">
                <a:latin typeface="Arial"/>
                <a:cs typeface="Arial"/>
              </a:rPr>
              <a:t>Common </a:t>
            </a:r>
            <a:r>
              <a:rPr dirty="0" sz="1550" spc="-90">
                <a:latin typeface="Arial"/>
                <a:cs typeface="Arial"/>
              </a:rPr>
              <a:t>Advantages </a:t>
            </a:r>
            <a:r>
              <a:rPr dirty="0" sz="1550">
                <a:latin typeface="Arial"/>
                <a:cs typeface="Arial"/>
              </a:rPr>
              <a:t>of </a:t>
            </a:r>
            <a:r>
              <a:rPr dirty="0" sz="1550" spc="-45">
                <a:latin typeface="Arial"/>
                <a:cs typeface="Arial"/>
              </a:rPr>
              <a:t>Merger </a:t>
            </a:r>
            <a:r>
              <a:rPr dirty="0" sz="1550" spc="20">
                <a:latin typeface="Arial"/>
                <a:cs typeface="Arial"/>
              </a:rPr>
              <a:t>&amp;</a:t>
            </a:r>
            <a:r>
              <a:rPr dirty="0" sz="1550" spc="-200">
                <a:latin typeface="Arial"/>
                <a:cs typeface="Arial"/>
              </a:rPr>
              <a:t> </a:t>
            </a:r>
            <a:r>
              <a:rPr dirty="0" sz="1550" spc="-50">
                <a:latin typeface="Arial"/>
                <a:cs typeface="Arial"/>
              </a:rPr>
              <a:t>Acquisition</a:t>
            </a:r>
            <a:endParaRPr sz="15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75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70">
                <a:latin typeface="Arial"/>
                <a:cs typeface="Arial"/>
              </a:rPr>
              <a:t>Expansion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size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30">
                <a:latin typeface="Arial"/>
                <a:cs typeface="Arial"/>
              </a:rPr>
              <a:t>Minimize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operational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cost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35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reduce</a:t>
            </a:r>
            <a:r>
              <a:rPr dirty="0" sz="1150" spc="-3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competition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1150" spc="-114" b="1">
                <a:latin typeface="Arial"/>
                <a:cs typeface="Arial"/>
              </a:rPr>
              <a:t>ACTIVITY</a:t>
            </a:r>
            <a:endParaRPr sz="1150">
              <a:latin typeface="Arial"/>
              <a:cs typeface="Arial"/>
            </a:endParaRPr>
          </a:p>
          <a:p>
            <a:pPr algn="just" marL="12700" marR="5080" indent="-635">
              <a:lnSpc>
                <a:spcPct val="101499"/>
              </a:lnSpc>
              <a:spcBef>
                <a:spcPts val="650"/>
              </a:spcBef>
            </a:pPr>
            <a:r>
              <a:rPr dirty="0" sz="1150" spc="-20" i="1">
                <a:latin typeface="Arial"/>
                <a:cs typeface="Arial"/>
              </a:rPr>
              <a:t>After </a:t>
            </a:r>
            <a:r>
              <a:rPr dirty="0" sz="1150" spc="-45" i="1">
                <a:latin typeface="Arial"/>
                <a:cs typeface="Arial"/>
              </a:rPr>
              <a:t>studying </a:t>
            </a:r>
            <a:r>
              <a:rPr dirty="0" sz="1150" spc="-25" i="1">
                <a:latin typeface="Arial"/>
                <a:cs typeface="Arial"/>
              </a:rPr>
              <a:t>the </a:t>
            </a:r>
            <a:r>
              <a:rPr dirty="0" sz="1150" spc="-15" i="1">
                <a:latin typeface="Arial"/>
                <a:cs typeface="Arial"/>
              </a:rPr>
              <a:t>all </a:t>
            </a:r>
            <a:r>
              <a:rPr dirty="0" sz="1150" spc="-25" i="1">
                <a:latin typeface="Arial"/>
                <a:cs typeface="Arial"/>
              </a:rPr>
              <a:t>the </a:t>
            </a:r>
            <a:r>
              <a:rPr dirty="0" sz="1150" spc="-65" i="1">
                <a:latin typeface="Arial"/>
                <a:cs typeface="Arial"/>
              </a:rPr>
              <a:t>concepts </a:t>
            </a:r>
            <a:r>
              <a:rPr dirty="0" sz="1150" spc="-45" i="1">
                <a:latin typeface="Arial"/>
                <a:cs typeface="Arial"/>
              </a:rPr>
              <a:t>mentioned </a:t>
            </a:r>
            <a:r>
              <a:rPr dirty="0" sz="1150" spc="-55" i="1">
                <a:latin typeface="Arial"/>
                <a:cs typeface="Arial"/>
              </a:rPr>
              <a:t>above, you </a:t>
            </a:r>
            <a:r>
              <a:rPr dirty="0" sz="1150" spc="-95" i="1">
                <a:latin typeface="Arial"/>
                <a:cs typeface="Arial"/>
              </a:rPr>
              <a:t>as </a:t>
            </a:r>
            <a:r>
              <a:rPr dirty="0" sz="1150" spc="-50" i="1">
                <a:latin typeface="Arial"/>
                <a:cs typeface="Arial"/>
              </a:rPr>
              <a:t>a </a:t>
            </a:r>
            <a:r>
              <a:rPr dirty="0" sz="1150" spc="-40" i="1">
                <a:latin typeface="Arial"/>
                <a:cs typeface="Arial"/>
              </a:rPr>
              <a:t>student </a:t>
            </a:r>
            <a:r>
              <a:rPr dirty="0" sz="1150" spc="-10" i="1">
                <a:latin typeface="Arial"/>
                <a:cs typeface="Arial"/>
              </a:rPr>
              <a:t>of </a:t>
            </a:r>
            <a:r>
              <a:rPr dirty="0" sz="1150" spc="-25" i="1">
                <a:latin typeface="Arial"/>
                <a:cs typeface="Arial"/>
              </a:rPr>
              <a:t>Introduction </a:t>
            </a:r>
            <a:r>
              <a:rPr dirty="0" sz="1150" spc="5" i="1">
                <a:latin typeface="Arial"/>
                <a:cs typeface="Arial"/>
              </a:rPr>
              <a:t>to </a:t>
            </a:r>
            <a:r>
              <a:rPr dirty="0" sz="1150" spc="325" i="1">
                <a:latin typeface="Arial"/>
                <a:cs typeface="Arial"/>
              </a:rPr>
              <a:t> </a:t>
            </a:r>
            <a:r>
              <a:rPr dirty="0" sz="1150" spc="-80" i="1">
                <a:latin typeface="Arial"/>
                <a:cs typeface="Arial"/>
              </a:rPr>
              <a:t>business </a:t>
            </a:r>
            <a:r>
              <a:rPr dirty="0" sz="1150" spc="-55" i="1">
                <a:latin typeface="Arial"/>
                <a:cs typeface="Arial"/>
              </a:rPr>
              <a:t>studies </a:t>
            </a:r>
            <a:r>
              <a:rPr dirty="0" sz="1150" spc="-65" i="1">
                <a:latin typeface="Arial"/>
                <a:cs typeface="Arial"/>
              </a:rPr>
              <a:t>is </a:t>
            </a:r>
            <a:r>
              <a:rPr dirty="0" sz="1150" spc="-40" i="1">
                <a:latin typeface="Arial"/>
                <a:cs typeface="Arial"/>
              </a:rPr>
              <a:t>required </a:t>
            </a:r>
            <a:r>
              <a:rPr dirty="0" sz="1150" spc="5" i="1">
                <a:latin typeface="Arial"/>
                <a:cs typeface="Arial"/>
              </a:rPr>
              <a:t>to </a:t>
            </a:r>
            <a:r>
              <a:rPr dirty="0" sz="1150" spc="-50" i="1">
                <a:latin typeface="Arial"/>
                <a:cs typeface="Arial"/>
              </a:rPr>
              <a:t>acquire knowledge </a:t>
            </a:r>
            <a:r>
              <a:rPr dirty="0" sz="1150" spc="-30" i="1">
                <a:latin typeface="Arial"/>
                <a:cs typeface="Arial"/>
              </a:rPr>
              <a:t>about practical </a:t>
            </a:r>
            <a:r>
              <a:rPr dirty="0" sz="1150" spc="-45" i="1">
                <a:latin typeface="Arial"/>
                <a:cs typeface="Arial"/>
              </a:rPr>
              <a:t>organizations </a:t>
            </a:r>
            <a:r>
              <a:rPr dirty="0" sz="1150" spc="-40" i="1">
                <a:latin typeface="Arial"/>
                <a:cs typeface="Arial"/>
              </a:rPr>
              <a:t>who </a:t>
            </a:r>
            <a:r>
              <a:rPr dirty="0" sz="1150" spc="-45" i="1">
                <a:latin typeface="Arial"/>
                <a:cs typeface="Arial"/>
              </a:rPr>
              <a:t>are   </a:t>
            </a:r>
            <a:r>
              <a:rPr dirty="0" sz="1150" spc="-30" i="1">
                <a:latin typeface="Arial"/>
                <a:cs typeface="Arial"/>
              </a:rPr>
              <a:t>performing </a:t>
            </a:r>
            <a:r>
              <a:rPr dirty="0" sz="1150" spc="-15" i="1">
                <a:latin typeface="Arial"/>
                <a:cs typeface="Arial"/>
              </a:rPr>
              <a:t>their </a:t>
            </a:r>
            <a:r>
              <a:rPr dirty="0" sz="1150" spc="-30" i="1">
                <a:latin typeface="Arial"/>
                <a:cs typeface="Arial"/>
              </a:rPr>
              <a:t>activities </a:t>
            </a:r>
            <a:r>
              <a:rPr dirty="0" sz="1150" spc="-50" i="1">
                <a:latin typeface="Arial"/>
                <a:cs typeface="Arial"/>
              </a:rPr>
              <a:t>under </a:t>
            </a:r>
            <a:r>
              <a:rPr dirty="0" sz="1150" spc="-55" i="1">
                <a:latin typeface="Arial"/>
                <a:cs typeface="Arial"/>
              </a:rPr>
              <a:t>any </a:t>
            </a:r>
            <a:r>
              <a:rPr dirty="0" sz="1150" spc="-80" i="1">
                <a:latin typeface="Arial"/>
                <a:cs typeface="Arial"/>
              </a:rPr>
              <a:t>business </a:t>
            </a:r>
            <a:r>
              <a:rPr dirty="0" sz="1150" spc="-15" i="1">
                <a:latin typeface="Arial"/>
                <a:cs typeface="Arial"/>
              </a:rPr>
              <a:t>form </a:t>
            </a:r>
            <a:r>
              <a:rPr dirty="0" sz="1150" spc="-45" i="1">
                <a:latin typeface="Arial"/>
                <a:cs typeface="Arial"/>
              </a:rPr>
              <a:t>mentioned </a:t>
            </a:r>
            <a:r>
              <a:rPr dirty="0" sz="1150" spc="-65" i="1">
                <a:latin typeface="Arial"/>
                <a:cs typeface="Arial"/>
              </a:rPr>
              <a:t>above </a:t>
            </a:r>
            <a:r>
              <a:rPr dirty="0" sz="1150" spc="-50" i="1">
                <a:latin typeface="Arial"/>
                <a:cs typeface="Arial"/>
              </a:rPr>
              <a:t>and </a:t>
            </a:r>
            <a:r>
              <a:rPr dirty="0" sz="1150" spc="15" i="1">
                <a:latin typeface="Arial"/>
                <a:cs typeface="Arial"/>
              </a:rPr>
              <a:t>if </a:t>
            </a:r>
            <a:r>
              <a:rPr dirty="0" sz="1150" spc="-35" i="1">
                <a:latin typeface="Arial"/>
                <a:cs typeface="Arial"/>
              </a:rPr>
              <a:t>they </a:t>
            </a:r>
            <a:r>
              <a:rPr dirty="0" sz="1150" spc="-45" i="1">
                <a:latin typeface="Arial"/>
                <a:cs typeface="Arial"/>
              </a:rPr>
              <a:t>are  </a:t>
            </a:r>
            <a:r>
              <a:rPr dirty="0" sz="1150" spc="-75" i="1">
                <a:latin typeface="Arial"/>
                <a:cs typeface="Arial"/>
              </a:rPr>
              <a:t>successful, </a:t>
            </a:r>
            <a:r>
              <a:rPr dirty="0" sz="1150" spc="-15" i="1">
                <a:latin typeface="Arial"/>
                <a:cs typeface="Arial"/>
              </a:rPr>
              <a:t>what </a:t>
            </a:r>
            <a:r>
              <a:rPr dirty="0" sz="1150" spc="-45" i="1">
                <a:latin typeface="Arial"/>
                <a:cs typeface="Arial"/>
              </a:rPr>
              <a:t>are </a:t>
            </a:r>
            <a:r>
              <a:rPr dirty="0" sz="1150" spc="-30" i="1">
                <a:latin typeface="Arial"/>
                <a:cs typeface="Arial"/>
              </a:rPr>
              <a:t>the </a:t>
            </a:r>
            <a:r>
              <a:rPr dirty="0" sz="1150" spc="-60" i="1">
                <a:latin typeface="Arial"/>
                <a:cs typeface="Arial"/>
              </a:rPr>
              <a:t>core </a:t>
            </a:r>
            <a:r>
              <a:rPr dirty="0" sz="1150" spc="-45" i="1">
                <a:latin typeface="Arial"/>
                <a:cs typeface="Arial"/>
              </a:rPr>
              <a:t>strengths </a:t>
            </a:r>
            <a:r>
              <a:rPr dirty="0" sz="1150" spc="-15" i="1">
                <a:latin typeface="Arial"/>
                <a:cs typeface="Arial"/>
              </a:rPr>
              <a:t>of their </a:t>
            </a:r>
            <a:r>
              <a:rPr dirty="0" sz="1150" spc="-105" i="1">
                <a:latin typeface="Arial"/>
                <a:cs typeface="Arial"/>
              </a:rPr>
              <a:t>success </a:t>
            </a:r>
            <a:r>
              <a:rPr dirty="0" sz="1150" spc="15" i="1">
                <a:latin typeface="Arial"/>
                <a:cs typeface="Arial"/>
              </a:rPr>
              <a:t>&amp; if </a:t>
            </a:r>
            <a:r>
              <a:rPr dirty="0" sz="1150" spc="-40" i="1">
                <a:latin typeface="Arial"/>
                <a:cs typeface="Arial"/>
              </a:rPr>
              <a:t>they </a:t>
            </a:r>
            <a:r>
              <a:rPr dirty="0" sz="1150" spc="-45" i="1">
                <a:latin typeface="Arial"/>
                <a:cs typeface="Arial"/>
              </a:rPr>
              <a:t>are </a:t>
            </a:r>
            <a:r>
              <a:rPr dirty="0" sz="1150" spc="-25" i="1">
                <a:latin typeface="Arial"/>
                <a:cs typeface="Arial"/>
              </a:rPr>
              <a:t>failure, </a:t>
            </a:r>
            <a:r>
              <a:rPr dirty="0" sz="1150" spc="-10" i="1">
                <a:latin typeface="Arial"/>
                <a:cs typeface="Arial"/>
              </a:rPr>
              <a:t>(at </a:t>
            </a:r>
            <a:r>
              <a:rPr dirty="0" sz="1150" spc="-60" i="1">
                <a:latin typeface="Arial"/>
                <a:cs typeface="Arial"/>
              </a:rPr>
              <a:t>any </a:t>
            </a:r>
            <a:r>
              <a:rPr dirty="0" sz="1150" spc="-15" i="1">
                <a:latin typeface="Arial"/>
                <a:cs typeface="Arial"/>
              </a:rPr>
              <a:t>part)  </a:t>
            </a:r>
            <a:r>
              <a:rPr dirty="0" sz="1150" spc="-50" i="1">
                <a:latin typeface="Arial"/>
                <a:cs typeface="Arial"/>
              </a:rPr>
              <a:t>where </a:t>
            </a:r>
            <a:r>
              <a:rPr dirty="0" sz="1150" spc="-45" i="1">
                <a:latin typeface="Arial"/>
                <a:cs typeface="Arial"/>
              </a:rPr>
              <a:t>were </a:t>
            </a:r>
            <a:r>
              <a:rPr dirty="0" sz="1150" spc="-30" i="1">
                <a:latin typeface="Arial"/>
                <a:cs typeface="Arial"/>
              </a:rPr>
              <a:t>the</a:t>
            </a:r>
            <a:r>
              <a:rPr dirty="0" sz="1150" spc="-100" i="1">
                <a:latin typeface="Arial"/>
                <a:cs typeface="Arial"/>
              </a:rPr>
              <a:t> </a:t>
            </a:r>
            <a:r>
              <a:rPr dirty="0" sz="1150" spc="-90" i="1">
                <a:latin typeface="Arial"/>
                <a:cs typeface="Arial"/>
              </a:rPr>
              <a:t>weaknesses?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87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334248" y="891035"/>
            <a:ext cx="4307840" cy="1063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40" b="1">
                <a:latin typeface="Arial"/>
                <a:cs typeface="Arial"/>
              </a:rPr>
              <a:t>Lecture</a:t>
            </a:r>
            <a:r>
              <a:rPr dirty="0" sz="1750" spc="-16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12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210" b="1">
                <a:latin typeface="Arial"/>
                <a:cs typeface="Arial"/>
              </a:rPr>
              <a:t>FOREIGN </a:t>
            </a:r>
            <a:r>
              <a:rPr dirty="0" sz="1750" spc="-240" b="1">
                <a:latin typeface="Arial"/>
                <a:cs typeface="Arial"/>
              </a:rPr>
              <a:t>TRADE </a:t>
            </a:r>
            <a:r>
              <a:rPr dirty="0" sz="1750" spc="-35" b="1">
                <a:latin typeface="Arial"/>
                <a:cs typeface="Arial"/>
              </a:rPr>
              <a:t>&amp; </a:t>
            </a:r>
            <a:r>
              <a:rPr dirty="0" sz="1750" spc="-210" b="1">
                <a:latin typeface="Arial"/>
                <a:cs typeface="Arial"/>
              </a:rPr>
              <a:t>FOREIGN</a:t>
            </a:r>
            <a:r>
              <a:rPr dirty="0" sz="1750" spc="-130" b="1">
                <a:latin typeface="Arial"/>
                <a:cs typeface="Arial"/>
              </a:rPr>
              <a:t> </a:t>
            </a:r>
            <a:r>
              <a:rPr dirty="0" sz="1750" spc="-240" b="1">
                <a:latin typeface="Arial"/>
                <a:cs typeface="Arial"/>
              </a:rPr>
              <a:t>BUSINESS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88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299" y="2143762"/>
            <a:ext cx="5513705" cy="659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35">
                <a:solidFill>
                  <a:srgbClr val="320032"/>
                </a:solidFill>
                <a:latin typeface="Arial"/>
                <a:cs typeface="Arial"/>
              </a:rPr>
              <a:t>Imports</a:t>
            </a:r>
            <a:endParaRPr sz="13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10"/>
              </a:spcBef>
            </a:pPr>
            <a:r>
              <a:rPr dirty="0" sz="1150" spc="-25">
                <a:solidFill>
                  <a:srgbClr val="320032"/>
                </a:solidFill>
                <a:latin typeface="Arial"/>
                <a:cs typeface="Arial"/>
              </a:rPr>
              <a:t>International trade </a:t>
            </a:r>
            <a:r>
              <a:rPr dirty="0" sz="1150" spc="-65">
                <a:solidFill>
                  <a:srgbClr val="320032"/>
                </a:solidFill>
                <a:latin typeface="Arial"/>
                <a:cs typeface="Arial"/>
              </a:rPr>
              <a:t>is </a:t>
            </a:r>
            <a:r>
              <a:rPr dirty="0" sz="1150" spc="-75">
                <a:solidFill>
                  <a:srgbClr val="320032"/>
                </a:solidFill>
                <a:latin typeface="Arial"/>
                <a:cs typeface="Arial"/>
              </a:rPr>
              <a:t>exchange </a:t>
            </a:r>
            <a:r>
              <a:rPr dirty="0" sz="1150">
                <a:solidFill>
                  <a:srgbClr val="320032"/>
                </a:solidFill>
                <a:latin typeface="Arial"/>
                <a:cs typeface="Arial"/>
              </a:rPr>
              <a:t>of </a:t>
            </a:r>
            <a:r>
              <a:rPr dirty="0" sz="1150" spc="-35">
                <a:solidFill>
                  <a:srgbClr val="320032"/>
                </a:solidFill>
                <a:latin typeface="Arial"/>
                <a:cs typeface="Arial"/>
              </a:rPr>
              <a:t>capital, </a:t>
            </a:r>
            <a:r>
              <a:rPr dirty="0" sz="1150" spc="-65">
                <a:solidFill>
                  <a:srgbClr val="320032"/>
                </a:solidFill>
                <a:latin typeface="Arial"/>
                <a:cs typeface="Arial"/>
              </a:rPr>
              <a:t>goods, </a:t>
            </a:r>
            <a:r>
              <a:rPr dirty="0" sz="1150" spc="-55">
                <a:solidFill>
                  <a:srgbClr val="320032"/>
                </a:solidFill>
                <a:latin typeface="Arial"/>
                <a:cs typeface="Arial"/>
              </a:rPr>
              <a:t>and </a:t>
            </a:r>
            <a:r>
              <a:rPr dirty="0" sz="1150" spc="-65">
                <a:solidFill>
                  <a:srgbClr val="320032"/>
                </a:solidFill>
                <a:latin typeface="Arial"/>
                <a:cs typeface="Arial"/>
              </a:rPr>
              <a:t>services </a:t>
            </a:r>
            <a:r>
              <a:rPr dirty="0" sz="1150" spc="-75">
                <a:solidFill>
                  <a:srgbClr val="320032"/>
                </a:solidFill>
                <a:latin typeface="Arial"/>
                <a:cs typeface="Arial"/>
              </a:rPr>
              <a:t>across </a:t>
            </a:r>
            <a:r>
              <a:rPr dirty="0" sz="1150" spc="-20">
                <a:solidFill>
                  <a:srgbClr val="320032"/>
                </a:solidFill>
                <a:latin typeface="Arial"/>
                <a:cs typeface="Arial"/>
              </a:rPr>
              <a:t>international </a:t>
            </a:r>
            <a:r>
              <a:rPr dirty="0" sz="1150" spc="-40">
                <a:solidFill>
                  <a:srgbClr val="320032"/>
                </a:solidFill>
                <a:latin typeface="Arial"/>
                <a:cs typeface="Arial"/>
              </a:rPr>
              <a:t>borders  </a:t>
            </a:r>
            <a:r>
              <a:rPr dirty="0" sz="1150" spc="-10">
                <a:solidFill>
                  <a:srgbClr val="320032"/>
                </a:solidFill>
                <a:latin typeface="Arial"/>
                <a:cs typeface="Arial"/>
              </a:rPr>
              <a:t>or </a:t>
            </a:r>
            <a:r>
              <a:rPr dirty="0" sz="1150" spc="-15">
                <a:solidFill>
                  <a:srgbClr val="320032"/>
                </a:solidFill>
                <a:latin typeface="Arial"/>
                <a:cs typeface="Arial"/>
              </a:rPr>
              <a:t>territories. </a:t>
            </a:r>
            <a:r>
              <a:rPr dirty="0" sz="1150" spc="-40">
                <a:solidFill>
                  <a:srgbClr val="320032"/>
                </a:solidFill>
                <a:latin typeface="Arial"/>
                <a:cs typeface="Arial"/>
              </a:rPr>
              <a:t>In </a:t>
            </a:r>
            <a:r>
              <a:rPr dirty="0" sz="1150" spc="-30">
                <a:solidFill>
                  <a:srgbClr val="320032"/>
                </a:solidFill>
                <a:latin typeface="Arial"/>
                <a:cs typeface="Arial"/>
              </a:rPr>
              <a:t>most </a:t>
            </a:r>
            <a:r>
              <a:rPr dirty="0" sz="1150" spc="-40">
                <a:solidFill>
                  <a:srgbClr val="320032"/>
                </a:solidFill>
                <a:latin typeface="Arial"/>
                <a:cs typeface="Arial"/>
              </a:rPr>
              <a:t>countries, </a:t>
            </a:r>
            <a:r>
              <a:rPr dirty="0" sz="1150" spc="30">
                <a:solidFill>
                  <a:srgbClr val="320032"/>
                </a:solidFill>
                <a:latin typeface="Arial"/>
                <a:cs typeface="Arial"/>
              </a:rPr>
              <a:t>it </a:t>
            </a:r>
            <a:r>
              <a:rPr dirty="0" sz="1150" spc="-45">
                <a:solidFill>
                  <a:srgbClr val="320032"/>
                </a:solidFill>
                <a:latin typeface="Arial"/>
                <a:cs typeface="Arial"/>
              </a:rPr>
              <a:t>represents </a:t>
            </a:r>
            <a:r>
              <a:rPr dirty="0" sz="1150" spc="-90">
                <a:solidFill>
                  <a:srgbClr val="320032"/>
                </a:solidFill>
                <a:latin typeface="Arial"/>
                <a:cs typeface="Arial"/>
              </a:rPr>
              <a:t>a </a:t>
            </a:r>
            <a:r>
              <a:rPr dirty="0" sz="1150" spc="-35">
                <a:solidFill>
                  <a:srgbClr val="320032"/>
                </a:solidFill>
                <a:latin typeface="Arial"/>
                <a:cs typeface="Arial"/>
              </a:rPr>
              <a:t>significant </a:t>
            </a:r>
            <a:r>
              <a:rPr dirty="0" sz="1150" spc="-65">
                <a:solidFill>
                  <a:srgbClr val="320032"/>
                </a:solidFill>
                <a:latin typeface="Arial"/>
                <a:cs typeface="Arial"/>
              </a:rPr>
              <a:t>share </a:t>
            </a:r>
            <a:r>
              <a:rPr dirty="0" sz="1150">
                <a:solidFill>
                  <a:srgbClr val="320032"/>
                </a:solidFill>
                <a:latin typeface="Arial"/>
                <a:cs typeface="Arial"/>
              </a:rPr>
              <a:t>of </a:t>
            </a:r>
            <a:r>
              <a:rPr dirty="0" sz="1150" spc="-75">
                <a:solidFill>
                  <a:srgbClr val="320032"/>
                </a:solidFill>
                <a:latin typeface="Arial"/>
                <a:cs typeface="Arial"/>
              </a:rPr>
              <a:t>gross </a:t>
            </a:r>
            <a:r>
              <a:rPr dirty="0" sz="1150" spc="-45">
                <a:solidFill>
                  <a:srgbClr val="320032"/>
                </a:solidFill>
                <a:latin typeface="Arial"/>
                <a:cs typeface="Arial"/>
              </a:rPr>
              <a:t>domestic </a:t>
            </a:r>
            <a:r>
              <a:rPr dirty="0" sz="1150" spc="-25">
                <a:solidFill>
                  <a:srgbClr val="320032"/>
                </a:solidFill>
                <a:latin typeface="Arial"/>
                <a:cs typeface="Arial"/>
              </a:rPr>
              <a:t>product  </a:t>
            </a:r>
            <a:r>
              <a:rPr dirty="0" sz="1150" spc="-95">
                <a:solidFill>
                  <a:srgbClr val="320032"/>
                </a:solidFill>
                <a:latin typeface="Arial"/>
                <a:cs typeface="Arial"/>
              </a:rPr>
              <a:t>(GDP).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also </a:t>
            </a:r>
            <a:r>
              <a:rPr dirty="0" sz="1150" spc="-35">
                <a:latin typeface="Arial"/>
                <a:cs typeface="Arial"/>
              </a:rPr>
              <a:t>defined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as:</a:t>
            </a:r>
            <a:endParaRPr sz="1150">
              <a:latin typeface="Arial"/>
              <a:cs typeface="Arial"/>
            </a:endParaRPr>
          </a:p>
          <a:p>
            <a:pPr marL="355600" marR="5080" indent="-342900">
              <a:lnSpc>
                <a:spcPct val="100899"/>
              </a:lnSpc>
              <a:spcBef>
                <a:spcPts val="705"/>
              </a:spcBef>
            </a:pPr>
            <a:r>
              <a:rPr dirty="0" sz="1150" spc="-85">
                <a:latin typeface="Arial"/>
                <a:cs typeface="Arial"/>
              </a:rPr>
              <a:t>Goods </a:t>
            </a:r>
            <a:r>
              <a:rPr dirty="0" sz="1150" spc="-45">
                <a:latin typeface="Arial"/>
                <a:cs typeface="Arial"/>
              </a:rPr>
              <a:t>produced </a:t>
            </a:r>
            <a:r>
              <a:rPr dirty="0" sz="1150" spc="-50">
                <a:latin typeface="Arial"/>
                <a:cs typeface="Arial"/>
              </a:rPr>
              <a:t>somewhere </a:t>
            </a:r>
            <a:r>
              <a:rPr dirty="0" sz="1150" spc="-65">
                <a:latin typeface="Arial"/>
                <a:cs typeface="Arial"/>
              </a:rPr>
              <a:t>else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sold </a:t>
            </a:r>
            <a:r>
              <a:rPr dirty="0" sz="1150" spc="-40">
                <a:latin typeface="Arial"/>
                <a:cs typeface="Arial"/>
              </a:rPr>
              <a:t>domestically. </a:t>
            </a:r>
            <a:r>
              <a:rPr dirty="0" sz="1150" spc="-105">
                <a:latin typeface="Arial"/>
                <a:cs typeface="Arial"/>
              </a:rPr>
              <a:t>Such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75">
                <a:latin typeface="Arial"/>
                <a:cs typeface="Arial"/>
              </a:rPr>
              <a:t>Chemicals </a:t>
            </a:r>
            <a:r>
              <a:rPr dirty="0" sz="1150" spc="-60">
                <a:latin typeface="Arial"/>
                <a:cs typeface="Arial"/>
              </a:rPr>
              <a:t>Technology  </a:t>
            </a:r>
            <a:r>
              <a:rPr dirty="0" sz="1150" spc="-40">
                <a:latin typeface="Arial"/>
                <a:cs typeface="Arial"/>
              </a:rPr>
              <a:t>(Machinery, </a:t>
            </a:r>
            <a:r>
              <a:rPr dirty="0" sz="1150" spc="-45">
                <a:latin typeface="Arial"/>
                <a:cs typeface="Arial"/>
              </a:rPr>
              <a:t>Software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50">
                <a:latin typeface="Arial"/>
                <a:cs typeface="Arial"/>
              </a:rPr>
              <a:t>Hardware,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Expertise)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150" spc="-10">
                <a:latin typeface="Arial"/>
                <a:cs typeface="Arial"/>
              </a:rPr>
              <a:t>Import </a:t>
            </a:r>
            <a:r>
              <a:rPr dirty="0" sz="1150" spc="-35">
                <a:latin typeface="Arial"/>
                <a:cs typeface="Arial"/>
              </a:rPr>
              <a:t>- </a:t>
            </a:r>
            <a:r>
              <a:rPr dirty="0" sz="1150" spc="-40">
                <a:latin typeface="Arial"/>
                <a:cs typeface="Arial"/>
              </a:rPr>
              <a:t>commodities </a:t>
            </a:r>
            <a:r>
              <a:rPr dirty="0" sz="1150" spc="-65">
                <a:latin typeface="Arial"/>
                <a:cs typeface="Arial"/>
              </a:rPr>
              <a:t>(goods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5">
                <a:latin typeface="Arial"/>
                <a:cs typeface="Arial"/>
              </a:rPr>
              <a:t>services) </a:t>
            </a:r>
            <a:r>
              <a:rPr dirty="0" sz="1150" spc="-35">
                <a:latin typeface="Arial"/>
                <a:cs typeface="Arial"/>
              </a:rPr>
              <a:t>bought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foreign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country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350" spc="-75">
                <a:latin typeface="Arial"/>
                <a:cs typeface="Arial"/>
              </a:rPr>
              <a:t>Factors </a:t>
            </a:r>
            <a:r>
              <a:rPr dirty="0" sz="1350" spc="15">
                <a:latin typeface="Arial"/>
                <a:cs typeface="Arial"/>
              </a:rPr>
              <a:t>to </a:t>
            </a:r>
            <a:r>
              <a:rPr dirty="0" sz="1350" spc="-65">
                <a:latin typeface="Arial"/>
                <a:cs typeface="Arial"/>
              </a:rPr>
              <a:t>be </a:t>
            </a:r>
            <a:r>
              <a:rPr dirty="0" sz="1350" spc="-60">
                <a:latin typeface="Arial"/>
                <a:cs typeface="Arial"/>
              </a:rPr>
              <a:t>considered </a:t>
            </a:r>
            <a:r>
              <a:rPr dirty="0" sz="1350" spc="-25">
                <a:latin typeface="Arial"/>
                <a:cs typeface="Arial"/>
              </a:rPr>
              <a:t>while</a:t>
            </a:r>
            <a:r>
              <a:rPr dirty="0" sz="1350" spc="-180">
                <a:latin typeface="Arial"/>
                <a:cs typeface="Arial"/>
              </a:rPr>
              <a:t> </a:t>
            </a:r>
            <a:r>
              <a:rPr dirty="0" sz="1350" spc="-25">
                <a:latin typeface="Arial"/>
                <a:cs typeface="Arial"/>
              </a:rPr>
              <a:t>importing</a:t>
            </a:r>
            <a:endParaRPr sz="13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20">
                <a:latin typeface="Arial"/>
                <a:cs typeface="Arial"/>
              </a:rPr>
              <a:t>Identification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0">
                <a:latin typeface="Arial"/>
                <a:cs typeface="Arial"/>
              </a:rPr>
              <a:t>imported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60">
                <a:latin typeface="Arial"/>
                <a:cs typeface="Arial"/>
              </a:rPr>
              <a:t>Procedures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35">
                <a:latin typeface="Arial"/>
                <a:cs typeface="Arial"/>
              </a:rPr>
              <a:t>Methodologies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60">
                <a:latin typeface="Arial"/>
                <a:cs typeface="Arial"/>
              </a:rPr>
              <a:t>Technical </a:t>
            </a:r>
            <a:r>
              <a:rPr dirty="0" sz="1150" spc="-80">
                <a:latin typeface="Arial"/>
                <a:cs typeface="Arial"/>
              </a:rPr>
              <a:t>processes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55">
                <a:latin typeface="Arial"/>
                <a:cs typeface="Arial"/>
              </a:rPr>
              <a:t>Documents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imports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350" spc="-70">
                <a:latin typeface="Arial"/>
                <a:cs typeface="Arial"/>
              </a:rPr>
              <a:t>Exports</a:t>
            </a:r>
            <a:endParaRPr sz="1350">
              <a:latin typeface="Arial"/>
              <a:cs typeface="Arial"/>
            </a:endParaRPr>
          </a:p>
          <a:p>
            <a:pPr algn="just" marL="12700" marR="5715">
              <a:lnSpc>
                <a:spcPts val="1400"/>
              </a:lnSpc>
              <a:spcBef>
                <a:spcPts val="50"/>
              </a:spcBef>
            </a:pPr>
            <a:r>
              <a:rPr dirty="0" sz="1150" spc="-40">
                <a:solidFill>
                  <a:srgbClr val="320032"/>
                </a:solidFill>
                <a:latin typeface="Arial"/>
                <a:cs typeface="Arial"/>
              </a:rPr>
              <a:t>In </a:t>
            </a:r>
            <a:r>
              <a:rPr dirty="0" sz="1150" spc="-55">
                <a:solidFill>
                  <a:srgbClr val="320032"/>
                </a:solidFill>
                <a:latin typeface="Arial"/>
                <a:cs typeface="Arial"/>
              </a:rPr>
              <a:t>economics, </a:t>
            </a:r>
            <a:r>
              <a:rPr dirty="0" sz="1150" spc="-65">
                <a:solidFill>
                  <a:srgbClr val="320032"/>
                </a:solidFill>
                <a:latin typeface="Arial"/>
                <a:cs typeface="Arial"/>
              </a:rPr>
              <a:t>an </a:t>
            </a:r>
            <a:r>
              <a:rPr dirty="0" sz="1150" spc="-25">
                <a:solidFill>
                  <a:srgbClr val="320032"/>
                </a:solidFill>
                <a:latin typeface="Arial"/>
                <a:cs typeface="Arial"/>
              </a:rPr>
              <a:t>export </a:t>
            </a:r>
            <a:r>
              <a:rPr dirty="0" sz="1150" spc="-65">
                <a:solidFill>
                  <a:srgbClr val="320032"/>
                </a:solidFill>
                <a:latin typeface="Arial"/>
                <a:cs typeface="Arial"/>
              </a:rPr>
              <a:t>is any </a:t>
            </a:r>
            <a:r>
              <a:rPr dirty="0" sz="1150" spc="-50">
                <a:solidFill>
                  <a:srgbClr val="320032"/>
                </a:solidFill>
                <a:latin typeface="Arial"/>
                <a:cs typeface="Arial"/>
              </a:rPr>
              <a:t>good </a:t>
            </a:r>
            <a:r>
              <a:rPr dirty="0" sz="1150" spc="-10">
                <a:solidFill>
                  <a:srgbClr val="320032"/>
                </a:solidFill>
                <a:latin typeface="Arial"/>
                <a:cs typeface="Arial"/>
              </a:rPr>
              <a:t>or </a:t>
            </a:r>
            <a:r>
              <a:rPr dirty="0" sz="1150" spc="-30">
                <a:solidFill>
                  <a:srgbClr val="320032"/>
                </a:solidFill>
                <a:latin typeface="Arial"/>
                <a:cs typeface="Arial"/>
              </a:rPr>
              <a:t>commodity, </a:t>
            </a:r>
            <a:r>
              <a:rPr dirty="0" sz="1150" spc="-25">
                <a:solidFill>
                  <a:srgbClr val="320032"/>
                </a:solidFill>
                <a:latin typeface="Arial"/>
                <a:cs typeface="Arial"/>
              </a:rPr>
              <a:t>transported </a:t>
            </a:r>
            <a:r>
              <a:rPr dirty="0" sz="1150" spc="-5">
                <a:solidFill>
                  <a:srgbClr val="320032"/>
                </a:solidFill>
                <a:latin typeface="Arial"/>
                <a:cs typeface="Arial"/>
              </a:rPr>
              <a:t>from </a:t>
            </a:r>
            <a:r>
              <a:rPr dirty="0" sz="1150" spc="-50">
                <a:solidFill>
                  <a:srgbClr val="320032"/>
                </a:solidFill>
                <a:latin typeface="Arial"/>
                <a:cs typeface="Arial"/>
              </a:rPr>
              <a:t>one </a:t>
            </a:r>
            <a:r>
              <a:rPr dirty="0" sz="1150" spc="-25">
                <a:solidFill>
                  <a:srgbClr val="320032"/>
                </a:solidFill>
                <a:latin typeface="Arial"/>
                <a:cs typeface="Arial"/>
              </a:rPr>
              <a:t>country </a:t>
            </a:r>
            <a:r>
              <a:rPr dirty="0" sz="1150" spc="10">
                <a:solidFill>
                  <a:srgbClr val="320032"/>
                </a:solidFill>
                <a:latin typeface="Arial"/>
                <a:cs typeface="Arial"/>
              </a:rPr>
              <a:t>to  </a:t>
            </a:r>
            <a:r>
              <a:rPr dirty="0" sz="1150" spc="-30">
                <a:solidFill>
                  <a:srgbClr val="320032"/>
                </a:solidFill>
                <a:latin typeface="Arial"/>
                <a:cs typeface="Arial"/>
              </a:rPr>
              <a:t>another </a:t>
            </a:r>
            <a:r>
              <a:rPr dirty="0" sz="1150" spc="-25">
                <a:solidFill>
                  <a:srgbClr val="320032"/>
                </a:solidFill>
                <a:latin typeface="Arial"/>
                <a:cs typeface="Arial"/>
              </a:rPr>
              <a:t>country </a:t>
            </a:r>
            <a:r>
              <a:rPr dirty="0" sz="1150" spc="-20">
                <a:solidFill>
                  <a:srgbClr val="320032"/>
                </a:solidFill>
                <a:latin typeface="Arial"/>
                <a:cs typeface="Arial"/>
              </a:rPr>
              <a:t>in </a:t>
            </a:r>
            <a:r>
              <a:rPr dirty="0" sz="1150" spc="-90">
                <a:solidFill>
                  <a:srgbClr val="320032"/>
                </a:solidFill>
                <a:latin typeface="Arial"/>
                <a:cs typeface="Arial"/>
              </a:rPr>
              <a:t>a </a:t>
            </a:r>
            <a:r>
              <a:rPr dirty="0" sz="1150" spc="-25">
                <a:solidFill>
                  <a:srgbClr val="320032"/>
                </a:solidFill>
                <a:latin typeface="Arial"/>
                <a:cs typeface="Arial"/>
              </a:rPr>
              <a:t>legitimate </a:t>
            </a:r>
            <a:r>
              <a:rPr dirty="0" sz="1150" spc="-45">
                <a:solidFill>
                  <a:srgbClr val="320032"/>
                </a:solidFill>
                <a:latin typeface="Arial"/>
                <a:cs typeface="Arial"/>
              </a:rPr>
              <a:t>fashion, </a:t>
            </a:r>
            <a:r>
              <a:rPr dirty="0" sz="1150" spc="-30">
                <a:solidFill>
                  <a:srgbClr val="320032"/>
                </a:solidFill>
                <a:latin typeface="Arial"/>
                <a:cs typeface="Arial"/>
              </a:rPr>
              <a:t>typically </a:t>
            </a:r>
            <a:r>
              <a:rPr dirty="0" sz="1150" spc="5">
                <a:solidFill>
                  <a:srgbClr val="320032"/>
                </a:solidFill>
                <a:latin typeface="Arial"/>
                <a:cs typeface="Arial"/>
              </a:rPr>
              <a:t>for </a:t>
            </a:r>
            <a:r>
              <a:rPr dirty="0" sz="1150" spc="-80">
                <a:solidFill>
                  <a:srgbClr val="320032"/>
                </a:solidFill>
                <a:latin typeface="Arial"/>
                <a:cs typeface="Arial"/>
              </a:rPr>
              <a:t>use </a:t>
            </a:r>
            <a:r>
              <a:rPr dirty="0" sz="1150" spc="-20">
                <a:solidFill>
                  <a:srgbClr val="320032"/>
                </a:solidFill>
                <a:latin typeface="Arial"/>
                <a:cs typeface="Arial"/>
              </a:rPr>
              <a:t>in </a:t>
            </a:r>
            <a:r>
              <a:rPr dirty="0" sz="1150" spc="-25">
                <a:solidFill>
                  <a:srgbClr val="320032"/>
                </a:solidFill>
                <a:latin typeface="Arial"/>
                <a:cs typeface="Arial"/>
              </a:rPr>
              <a:t>trade. </a:t>
            </a:r>
            <a:r>
              <a:rPr dirty="0" sz="1150" spc="-45">
                <a:solidFill>
                  <a:srgbClr val="320032"/>
                </a:solidFill>
                <a:latin typeface="Arial"/>
                <a:cs typeface="Arial"/>
              </a:rPr>
              <a:t>Export </a:t>
            </a:r>
            <a:r>
              <a:rPr dirty="0" sz="1150" spc="-70">
                <a:solidFill>
                  <a:srgbClr val="320032"/>
                </a:solidFill>
                <a:latin typeface="Arial"/>
                <a:cs typeface="Arial"/>
              </a:rPr>
              <a:t>goods </a:t>
            </a:r>
            <a:r>
              <a:rPr dirty="0" sz="1150" spc="-10">
                <a:solidFill>
                  <a:srgbClr val="320032"/>
                </a:solidFill>
                <a:latin typeface="Arial"/>
                <a:cs typeface="Arial"/>
              </a:rPr>
              <a:t>or </a:t>
            </a:r>
            <a:r>
              <a:rPr dirty="0" sz="1150" spc="-65">
                <a:solidFill>
                  <a:srgbClr val="320032"/>
                </a:solidFill>
                <a:latin typeface="Arial"/>
                <a:cs typeface="Arial"/>
              </a:rPr>
              <a:t>services  </a:t>
            </a:r>
            <a:r>
              <a:rPr dirty="0" sz="1150" spc="-50">
                <a:solidFill>
                  <a:srgbClr val="320032"/>
                </a:solidFill>
                <a:latin typeface="Arial"/>
                <a:cs typeface="Arial"/>
              </a:rPr>
              <a:t>are </a:t>
            </a:r>
            <a:r>
              <a:rPr dirty="0" sz="1150" spc="-35">
                <a:solidFill>
                  <a:srgbClr val="320032"/>
                </a:solidFill>
                <a:latin typeface="Arial"/>
                <a:cs typeface="Arial"/>
              </a:rPr>
              <a:t>provided </a:t>
            </a:r>
            <a:r>
              <a:rPr dirty="0" sz="1150" spc="10">
                <a:solidFill>
                  <a:srgbClr val="320032"/>
                </a:solidFill>
                <a:latin typeface="Arial"/>
                <a:cs typeface="Arial"/>
              </a:rPr>
              <a:t>to </a:t>
            </a:r>
            <a:r>
              <a:rPr dirty="0" sz="1150" spc="-30">
                <a:solidFill>
                  <a:srgbClr val="320032"/>
                </a:solidFill>
                <a:latin typeface="Arial"/>
                <a:cs typeface="Arial"/>
              </a:rPr>
              <a:t>foreign </a:t>
            </a:r>
            <a:r>
              <a:rPr dirty="0" sz="1150" spc="-65">
                <a:solidFill>
                  <a:srgbClr val="320032"/>
                </a:solidFill>
                <a:latin typeface="Arial"/>
                <a:cs typeface="Arial"/>
              </a:rPr>
              <a:t>consumers </a:t>
            </a:r>
            <a:r>
              <a:rPr dirty="0" sz="1150" spc="-50">
                <a:solidFill>
                  <a:srgbClr val="320032"/>
                </a:solidFill>
                <a:latin typeface="Arial"/>
                <a:cs typeface="Arial"/>
              </a:rPr>
              <a:t>by </a:t>
            </a:r>
            <a:r>
              <a:rPr dirty="0" sz="1150" spc="-45">
                <a:solidFill>
                  <a:srgbClr val="320032"/>
                </a:solidFill>
                <a:latin typeface="Arial"/>
                <a:cs typeface="Arial"/>
              </a:rPr>
              <a:t>domestic</a:t>
            </a:r>
            <a:r>
              <a:rPr dirty="0" sz="1150" spc="-180">
                <a:solidFill>
                  <a:srgbClr val="320032"/>
                </a:solidFill>
                <a:latin typeface="Arial"/>
                <a:cs typeface="Arial"/>
              </a:rPr>
              <a:t> </a:t>
            </a:r>
            <a:r>
              <a:rPr dirty="0" sz="1150" spc="-45">
                <a:solidFill>
                  <a:srgbClr val="320032"/>
                </a:solidFill>
                <a:latin typeface="Arial"/>
                <a:cs typeface="Arial"/>
              </a:rPr>
              <a:t>producers.</a:t>
            </a:r>
            <a:endParaRPr sz="11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680"/>
              </a:spcBef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also </a:t>
            </a:r>
            <a:r>
              <a:rPr dirty="0" sz="1150" spc="-35">
                <a:latin typeface="Arial"/>
                <a:cs typeface="Arial"/>
              </a:rPr>
              <a:t>defined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as: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150" spc="-85">
                <a:latin typeface="Arial"/>
                <a:cs typeface="Arial"/>
              </a:rPr>
              <a:t>Goods </a:t>
            </a:r>
            <a:r>
              <a:rPr dirty="0" sz="1150" spc="-45">
                <a:latin typeface="Arial"/>
                <a:cs typeface="Arial"/>
              </a:rPr>
              <a:t>produced </a:t>
            </a:r>
            <a:r>
              <a:rPr dirty="0" sz="1150" spc="-40">
                <a:latin typeface="Arial"/>
                <a:cs typeface="Arial"/>
              </a:rPr>
              <a:t>domestically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sold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country.</a:t>
            </a:r>
            <a:endParaRPr sz="1150">
              <a:latin typeface="Arial"/>
              <a:cs typeface="Arial"/>
            </a:endParaRPr>
          </a:p>
          <a:p>
            <a:pPr marL="355600" marR="6985" indent="-342900">
              <a:lnSpc>
                <a:spcPct val="101699"/>
              </a:lnSpc>
              <a:spcBef>
                <a:spcPts val="695"/>
              </a:spcBef>
            </a:pPr>
            <a:r>
              <a:rPr dirty="0" sz="1150" spc="-45">
                <a:latin typeface="Arial"/>
                <a:cs typeface="Arial"/>
              </a:rPr>
              <a:t>Export </a:t>
            </a:r>
            <a:r>
              <a:rPr dirty="0" sz="1150" spc="-35">
                <a:latin typeface="Arial"/>
                <a:cs typeface="Arial"/>
              </a:rPr>
              <a:t>- </a:t>
            </a:r>
            <a:r>
              <a:rPr dirty="0" sz="1150" spc="-45">
                <a:latin typeface="Arial"/>
                <a:cs typeface="Arial"/>
              </a:rPr>
              <a:t>sell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5">
                <a:latin typeface="Arial"/>
                <a:cs typeface="Arial"/>
              </a:rPr>
              <a:t>transfer </a:t>
            </a:r>
            <a:r>
              <a:rPr dirty="0" sz="1150" spc="-45">
                <a:latin typeface="Arial"/>
                <a:cs typeface="Arial"/>
              </a:rPr>
              <a:t>abroad; </a:t>
            </a:r>
            <a:r>
              <a:rPr dirty="0" sz="1150" spc="-10">
                <a:latin typeface="Arial"/>
                <a:cs typeface="Arial"/>
              </a:rPr>
              <a:t>"In </a:t>
            </a:r>
            <a:r>
              <a:rPr dirty="0" sz="1150" spc="-65">
                <a:latin typeface="Arial"/>
                <a:cs typeface="Arial"/>
              </a:rPr>
              <a:t>Pakistan </a:t>
            </a:r>
            <a:r>
              <a:rPr dirty="0" sz="1150" spc="-40">
                <a:latin typeface="Arial"/>
                <a:cs typeface="Arial"/>
              </a:rPr>
              <a:t>we </a:t>
            </a:r>
            <a:r>
              <a:rPr dirty="0" sz="1150" spc="-25">
                <a:latin typeface="Arial"/>
                <a:cs typeface="Arial"/>
              </a:rPr>
              <a:t>export </a:t>
            </a:r>
            <a:r>
              <a:rPr dirty="0" sz="1150" spc="-85">
                <a:latin typeface="Arial"/>
                <a:cs typeface="Arial"/>
              </a:rPr>
              <a:t>less </a:t>
            </a:r>
            <a:r>
              <a:rPr dirty="0" sz="1150" spc="-30">
                <a:latin typeface="Arial"/>
                <a:cs typeface="Arial"/>
              </a:rPr>
              <a:t>than </a:t>
            </a:r>
            <a:r>
              <a:rPr dirty="0" sz="1150" spc="-40">
                <a:latin typeface="Arial"/>
                <a:cs typeface="Arial"/>
              </a:rPr>
              <a:t>we </a:t>
            </a:r>
            <a:r>
              <a:rPr dirty="0" sz="1150" spc="-5">
                <a:latin typeface="Arial"/>
                <a:cs typeface="Arial"/>
              </a:rPr>
              <a:t>import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50">
                <a:latin typeface="Arial"/>
                <a:cs typeface="Arial"/>
              </a:rPr>
              <a:t>negative </a:t>
            </a:r>
            <a:r>
              <a:rPr dirty="0" sz="1150" spc="-25">
                <a:latin typeface="Arial"/>
                <a:cs typeface="Arial"/>
              </a:rPr>
              <a:t>trade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balance"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1350" spc="-80">
                <a:latin typeface="Arial"/>
                <a:cs typeface="Arial"/>
              </a:rPr>
              <a:t>Advantages </a:t>
            </a:r>
            <a:r>
              <a:rPr dirty="0" sz="1350">
                <a:latin typeface="Arial"/>
                <a:cs typeface="Arial"/>
              </a:rPr>
              <a:t>of</a:t>
            </a:r>
            <a:r>
              <a:rPr dirty="0" sz="1350" spc="-75">
                <a:latin typeface="Arial"/>
                <a:cs typeface="Arial"/>
              </a:rPr>
              <a:t> </a:t>
            </a:r>
            <a:r>
              <a:rPr dirty="0" sz="1350" spc="-70">
                <a:latin typeface="Arial"/>
                <a:cs typeface="Arial"/>
              </a:rPr>
              <a:t>Exports</a:t>
            </a:r>
            <a:endParaRPr sz="13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750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45">
                <a:latin typeface="Arial"/>
                <a:cs typeface="Arial"/>
              </a:rPr>
              <a:t>Support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Government.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65">
                <a:latin typeface="Arial"/>
                <a:cs typeface="Arial"/>
              </a:rPr>
              <a:t>High </a:t>
            </a:r>
            <a:r>
              <a:rPr dirty="0" sz="1150" spc="-35">
                <a:latin typeface="Arial"/>
                <a:cs typeface="Arial"/>
              </a:rPr>
              <a:t>Profits.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735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55">
                <a:latin typeface="Arial"/>
                <a:cs typeface="Arial"/>
              </a:rPr>
              <a:t>Pride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country.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25">
                <a:latin typeface="Arial"/>
                <a:cs typeface="Arial"/>
              </a:rPr>
              <a:t>Utilization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production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capacity.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30236" y="435359"/>
            <a:ext cx="5514340" cy="828738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  <a:tabLst>
                <a:tab pos="5061585" algn="l"/>
              </a:tabLst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</a:t>
            </a:r>
            <a:r>
              <a:rPr dirty="0" sz="1050" spc="-110">
                <a:latin typeface="Arial"/>
                <a:cs typeface="Arial"/>
              </a:rPr>
              <a:t> </a:t>
            </a:r>
            <a:r>
              <a:rPr dirty="0" sz="1050" spc="-80">
                <a:latin typeface="Arial"/>
                <a:cs typeface="Arial"/>
              </a:rPr>
              <a:t>–MGT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r>
              <a:rPr dirty="0" sz="1050" spc="-55">
                <a:latin typeface="Times New Roman"/>
                <a:cs typeface="Times New Roman"/>
              </a:rPr>
              <a:t>	</a:t>
            </a:r>
            <a:r>
              <a:rPr dirty="0" sz="1050" spc="-75" b="1">
                <a:latin typeface="Arial"/>
                <a:cs typeface="Arial"/>
              </a:rPr>
              <a:t>VU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65">
                <a:latin typeface="Arial"/>
                <a:cs typeface="Arial"/>
              </a:rPr>
              <a:t>GATT </a:t>
            </a:r>
            <a:r>
              <a:rPr dirty="0" sz="1350" spc="-70">
                <a:latin typeface="Arial"/>
                <a:cs typeface="Arial"/>
              </a:rPr>
              <a:t>(General </a:t>
            </a:r>
            <a:r>
              <a:rPr dirty="0" sz="1350" spc="-60">
                <a:latin typeface="Arial"/>
                <a:cs typeface="Arial"/>
              </a:rPr>
              <a:t>Agreement </a:t>
            </a:r>
            <a:r>
              <a:rPr dirty="0" sz="1350" spc="-40">
                <a:latin typeface="Arial"/>
                <a:cs typeface="Arial"/>
              </a:rPr>
              <a:t>on </a:t>
            </a:r>
            <a:r>
              <a:rPr dirty="0" sz="1350" spc="-30">
                <a:latin typeface="Arial"/>
                <a:cs typeface="Arial"/>
              </a:rPr>
              <a:t>Tariff </a:t>
            </a:r>
            <a:r>
              <a:rPr dirty="0" sz="1350" spc="20">
                <a:latin typeface="Arial"/>
                <a:cs typeface="Arial"/>
              </a:rPr>
              <a:t>&amp;</a:t>
            </a:r>
            <a:r>
              <a:rPr dirty="0" sz="1350" spc="-285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Trade)</a:t>
            </a:r>
            <a:endParaRPr sz="1350">
              <a:latin typeface="Arial"/>
              <a:cs typeface="Arial"/>
            </a:endParaRPr>
          </a:p>
          <a:p>
            <a:pPr algn="just" marL="12700" marR="5715">
              <a:lnSpc>
                <a:spcPct val="100899"/>
              </a:lnSpc>
              <a:spcBef>
                <a:spcPts val="66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multilateral treaty </a:t>
            </a:r>
            <a:r>
              <a:rPr dirty="0" sz="1150" spc="-30">
                <a:latin typeface="Arial"/>
                <a:cs typeface="Arial"/>
              </a:rPr>
              <a:t>intended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help </a:t>
            </a:r>
            <a:r>
              <a:rPr dirty="0" sz="1150" spc="-50">
                <a:latin typeface="Arial"/>
                <a:cs typeface="Arial"/>
              </a:rPr>
              <a:t>reduce </a:t>
            </a:r>
            <a:r>
              <a:rPr dirty="0" sz="1150" spc="-30">
                <a:latin typeface="Arial"/>
                <a:cs typeface="Arial"/>
              </a:rPr>
              <a:t>trade </a:t>
            </a:r>
            <a:r>
              <a:rPr dirty="0" sz="1150" spc="-35">
                <a:latin typeface="Arial"/>
                <a:cs typeface="Arial"/>
              </a:rPr>
              <a:t>barriers between </a:t>
            </a:r>
            <a:r>
              <a:rPr dirty="0" sz="1150" spc="-40">
                <a:latin typeface="Arial"/>
                <a:cs typeface="Arial"/>
              </a:rPr>
              <a:t>signatory </a:t>
            </a:r>
            <a:r>
              <a:rPr dirty="0" sz="1150" spc="-35">
                <a:latin typeface="Arial"/>
                <a:cs typeface="Arial"/>
              </a:rPr>
              <a:t>countries 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promote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trade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through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tariff</a:t>
            </a:r>
            <a:r>
              <a:rPr dirty="0" sz="1150" spc="-65">
                <a:latin typeface="Arial"/>
                <a:cs typeface="Arial"/>
              </a:rPr>
              <a:t> concessions.</a:t>
            </a:r>
            <a:endParaRPr sz="11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725"/>
              </a:spcBef>
            </a:pPr>
            <a:r>
              <a:rPr dirty="0" sz="1350" spc="-135">
                <a:latin typeface="Arial"/>
                <a:cs typeface="Arial"/>
              </a:rPr>
              <a:t>WTO </a:t>
            </a:r>
            <a:r>
              <a:rPr dirty="0" sz="1350" spc="-80">
                <a:latin typeface="Arial"/>
                <a:cs typeface="Arial"/>
              </a:rPr>
              <a:t>– </a:t>
            </a:r>
            <a:r>
              <a:rPr dirty="0" sz="1350" spc="-25">
                <a:latin typeface="Arial"/>
                <a:cs typeface="Arial"/>
              </a:rPr>
              <a:t>World </a:t>
            </a:r>
            <a:r>
              <a:rPr dirty="0" sz="1350" spc="-80">
                <a:latin typeface="Arial"/>
                <a:cs typeface="Arial"/>
              </a:rPr>
              <a:t>Trade </a:t>
            </a:r>
            <a:r>
              <a:rPr dirty="0" sz="1350" spc="-55">
                <a:latin typeface="Arial"/>
                <a:cs typeface="Arial"/>
              </a:rPr>
              <a:t>Organization </a:t>
            </a:r>
            <a:r>
              <a:rPr dirty="0" sz="1350" spc="-65">
                <a:latin typeface="Arial"/>
                <a:cs typeface="Arial"/>
              </a:rPr>
              <a:t>and </a:t>
            </a:r>
            <a:r>
              <a:rPr dirty="0" sz="1350" spc="-20">
                <a:latin typeface="Arial"/>
                <a:cs typeface="Arial"/>
              </a:rPr>
              <a:t>its</a:t>
            </a:r>
            <a:r>
              <a:rPr dirty="0" sz="1350" spc="-105">
                <a:latin typeface="Arial"/>
                <a:cs typeface="Arial"/>
              </a:rPr>
              <a:t> </a:t>
            </a:r>
            <a:r>
              <a:rPr dirty="0" sz="1350" spc="-90">
                <a:latin typeface="Arial"/>
                <a:cs typeface="Arial"/>
              </a:rPr>
              <a:t>scope</a:t>
            </a:r>
            <a:endParaRPr sz="13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670"/>
              </a:spcBef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14">
                <a:latin typeface="Arial"/>
                <a:cs typeface="Arial"/>
              </a:rPr>
              <a:t>WTO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20">
                <a:latin typeface="Arial"/>
                <a:cs typeface="Arial"/>
              </a:rPr>
              <a:t>international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forum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multilateral </a:t>
            </a:r>
            <a:r>
              <a:rPr dirty="0" sz="1150" spc="-35">
                <a:latin typeface="Arial"/>
                <a:cs typeface="Arial"/>
              </a:rPr>
              <a:t>negotiations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its  </a:t>
            </a:r>
            <a:r>
              <a:rPr dirty="0" sz="1150" spc="-45">
                <a:latin typeface="Arial"/>
                <a:cs typeface="Arial"/>
              </a:rPr>
              <a:t>Members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45">
                <a:latin typeface="Arial"/>
                <a:cs typeface="Arial"/>
              </a:rPr>
              <a:t>global </a:t>
            </a:r>
            <a:r>
              <a:rPr dirty="0" sz="1150" spc="-25">
                <a:latin typeface="Arial"/>
                <a:cs typeface="Arial"/>
              </a:rPr>
              <a:t>trade </a:t>
            </a:r>
            <a:r>
              <a:rPr dirty="0" sz="1150" spc="-30">
                <a:latin typeface="Arial"/>
                <a:cs typeface="Arial"/>
              </a:rPr>
              <a:t>liberalization </a:t>
            </a:r>
            <a:r>
              <a:rPr dirty="0" sz="1150" spc="-45">
                <a:latin typeface="Arial"/>
                <a:cs typeface="Arial"/>
              </a:rPr>
              <a:t>rules,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25">
                <a:latin typeface="Arial"/>
                <a:cs typeface="Arial"/>
              </a:rPr>
              <a:t>administration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application. Mainly,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14">
                <a:latin typeface="Arial"/>
                <a:cs typeface="Arial"/>
              </a:rPr>
              <a:t>WTO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understood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set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external </a:t>
            </a:r>
            <a:r>
              <a:rPr dirty="0" sz="1150" spc="-25">
                <a:latin typeface="Arial"/>
                <a:cs typeface="Arial"/>
              </a:rPr>
              <a:t>trade </a:t>
            </a:r>
            <a:r>
              <a:rPr dirty="0" sz="1150" spc="-45">
                <a:latin typeface="Arial"/>
                <a:cs typeface="Arial"/>
              </a:rPr>
              <a:t>rules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>
                <a:latin typeface="Arial"/>
                <a:cs typeface="Arial"/>
              </a:rPr>
              <a:t>"traffic </a:t>
            </a:r>
            <a:r>
              <a:rPr dirty="0" sz="1150" spc="-30">
                <a:latin typeface="Arial"/>
                <a:cs typeface="Arial"/>
              </a:rPr>
              <a:t>rules"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external  </a:t>
            </a:r>
            <a:r>
              <a:rPr dirty="0" sz="1150" spc="-30">
                <a:latin typeface="Arial"/>
                <a:cs typeface="Arial"/>
              </a:rPr>
              <a:t>trade,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45">
                <a:latin typeface="Arial"/>
                <a:cs typeface="Arial"/>
              </a:rPr>
              <a:t>Members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15">
                <a:latin typeface="Arial"/>
                <a:cs typeface="Arial"/>
              </a:rPr>
              <a:t>follow.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20">
                <a:latin typeface="Arial"/>
                <a:cs typeface="Arial"/>
              </a:rPr>
              <a:t>WTO </a:t>
            </a:r>
            <a:r>
              <a:rPr dirty="0" sz="1150" spc="-75">
                <a:latin typeface="Arial"/>
                <a:cs typeface="Arial"/>
              </a:rPr>
              <a:t>was </a:t>
            </a:r>
            <a:r>
              <a:rPr dirty="0" sz="1150" spc="-50">
                <a:latin typeface="Arial"/>
                <a:cs typeface="Arial"/>
              </a:rPr>
              <a:t>established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1995,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result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Uruguay </a:t>
            </a:r>
            <a:r>
              <a:rPr dirty="0" sz="1150" spc="-30">
                <a:latin typeface="Arial"/>
                <a:cs typeface="Arial"/>
              </a:rPr>
              <a:t>round </a:t>
            </a:r>
            <a:r>
              <a:rPr dirty="0" sz="1150" spc="-35">
                <a:latin typeface="Arial"/>
                <a:cs typeface="Arial"/>
              </a:rPr>
              <a:t>negotiations. </a:t>
            </a:r>
            <a:r>
              <a:rPr dirty="0" sz="1150" spc="-10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establishment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organization,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set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14">
                <a:latin typeface="Arial"/>
                <a:cs typeface="Arial"/>
              </a:rPr>
              <a:t>WTO  </a:t>
            </a:r>
            <a:r>
              <a:rPr dirty="0" sz="1150" spc="-55">
                <a:latin typeface="Arial"/>
                <a:cs typeface="Arial"/>
              </a:rPr>
              <a:t>agreements </a:t>
            </a:r>
            <a:r>
              <a:rPr dirty="0" sz="1150" spc="-80">
                <a:latin typeface="Arial"/>
                <a:cs typeface="Arial"/>
              </a:rPr>
              <a:t>was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50">
                <a:latin typeface="Arial"/>
                <a:cs typeface="Arial"/>
              </a:rPr>
              <a:t>concluded </a:t>
            </a:r>
            <a:r>
              <a:rPr dirty="0" sz="1150" spc="-70">
                <a:latin typeface="Arial"/>
                <a:cs typeface="Arial"/>
              </a:rPr>
              <a:t>–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45">
                <a:latin typeface="Arial"/>
                <a:cs typeface="Arial"/>
              </a:rPr>
              <a:t>regard </a:t>
            </a:r>
            <a:r>
              <a:rPr dirty="0" sz="1150" spc="2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goods, </a:t>
            </a:r>
            <a:r>
              <a:rPr dirty="0" sz="1150" spc="-65">
                <a:latin typeface="Arial"/>
                <a:cs typeface="Arial"/>
              </a:rPr>
              <a:t>services, </a:t>
            </a:r>
            <a:r>
              <a:rPr dirty="0" sz="1150" spc="-25">
                <a:latin typeface="Arial"/>
                <a:cs typeface="Arial"/>
              </a:rPr>
              <a:t>intellectual property,  </a:t>
            </a:r>
            <a:r>
              <a:rPr dirty="0" sz="1150" spc="-35">
                <a:latin typeface="Arial"/>
                <a:cs typeface="Arial"/>
              </a:rPr>
              <a:t>dispute </a:t>
            </a:r>
            <a:r>
              <a:rPr dirty="0" sz="1150" spc="-25">
                <a:latin typeface="Arial"/>
                <a:cs typeface="Arial"/>
              </a:rPr>
              <a:t>settlement, </a:t>
            </a:r>
            <a:r>
              <a:rPr dirty="0" sz="1150" spc="-20">
                <a:latin typeface="Arial"/>
                <a:cs typeface="Arial"/>
              </a:rPr>
              <a:t>multilateral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agreements. </a:t>
            </a:r>
            <a:r>
              <a:rPr dirty="0" sz="1150" spc="-15">
                <a:latin typeface="Arial"/>
                <a:cs typeface="Arial"/>
              </a:rPr>
              <a:t>Until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0">
                <a:latin typeface="Arial"/>
                <a:cs typeface="Arial"/>
              </a:rPr>
              <a:t>establishment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120">
                <a:latin typeface="Arial"/>
                <a:cs typeface="Arial"/>
              </a:rPr>
              <a:t>WTO  </a:t>
            </a:r>
            <a:r>
              <a:rPr dirty="0" sz="1150" spc="-15">
                <a:latin typeface="Arial"/>
                <a:cs typeface="Arial"/>
              </a:rPr>
              <a:t>multilateral </a:t>
            </a:r>
            <a:r>
              <a:rPr dirty="0" sz="1150" spc="-25">
                <a:latin typeface="Arial"/>
                <a:cs typeface="Arial"/>
              </a:rPr>
              <a:t>trade </a:t>
            </a:r>
            <a:r>
              <a:rPr dirty="0" sz="1150" spc="-35">
                <a:latin typeface="Arial"/>
                <a:cs typeface="Arial"/>
              </a:rPr>
              <a:t>relations were </a:t>
            </a:r>
            <a:r>
              <a:rPr dirty="0" sz="1150" spc="-50">
                <a:latin typeface="Arial"/>
                <a:cs typeface="Arial"/>
              </a:rPr>
              <a:t>governed by </a:t>
            </a:r>
            <a:r>
              <a:rPr dirty="0" sz="1150" spc="-65">
                <a:latin typeface="Arial"/>
                <a:cs typeface="Arial"/>
              </a:rPr>
              <a:t>General </a:t>
            </a:r>
            <a:r>
              <a:rPr dirty="0" sz="1150" spc="-50">
                <a:latin typeface="Arial"/>
                <a:cs typeface="Arial"/>
              </a:rPr>
              <a:t>Agreement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45">
                <a:latin typeface="Arial"/>
                <a:cs typeface="Arial"/>
              </a:rPr>
              <a:t>Tariffs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Trade  </a:t>
            </a:r>
            <a:r>
              <a:rPr dirty="0" sz="1150" spc="-100">
                <a:latin typeface="Arial"/>
                <a:cs typeface="Arial"/>
              </a:rPr>
              <a:t>(GATT), </a:t>
            </a:r>
            <a:r>
              <a:rPr dirty="0" sz="1150" spc="-50">
                <a:latin typeface="Arial"/>
                <a:cs typeface="Arial"/>
              </a:rPr>
              <a:t>concluded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65">
                <a:latin typeface="Arial"/>
                <a:cs typeface="Arial"/>
              </a:rPr>
              <a:t>1947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0">
                <a:latin typeface="Arial"/>
                <a:cs typeface="Arial"/>
              </a:rPr>
              <a:t>opened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trade liberalization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reduction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5">
                <a:latin typeface="Arial"/>
                <a:cs typeface="Arial"/>
              </a:rPr>
              <a:t>tariff  </a:t>
            </a:r>
            <a:r>
              <a:rPr dirty="0" sz="1150" spc="-35">
                <a:latin typeface="Arial"/>
                <a:cs typeface="Arial"/>
              </a:rPr>
              <a:t>barriers.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main </a:t>
            </a:r>
            <a:r>
              <a:rPr dirty="0" sz="1150" spc="-55">
                <a:latin typeface="Arial"/>
                <a:cs typeface="Arial"/>
              </a:rPr>
              <a:t>goal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14">
                <a:latin typeface="Arial"/>
                <a:cs typeface="Arial"/>
              </a:rPr>
              <a:t>WTO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free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facilitated </a:t>
            </a:r>
            <a:r>
              <a:rPr dirty="0" sz="1150" spc="-30">
                <a:latin typeface="Arial"/>
                <a:cs typeface="Arial"/>
              </a:rPr>
              <a:t>trade, </a:t>
            </a:r>
            <a:r>
              <a:rPr dirty="0" sz="1150" spc="-50">
                <a:latin typeface="Arial"/>
                <a:cs typeface="Arial"/>
              </a:rPr>
              <a:t>governed by equal </a:t>
            </a:r>
            <a:r>
              <a:rPr dirty="0" sz="1150" spc="-45">
                <a:latin typeface="Arial"/>
                <a:cs typeface="Arial"/>
              </a:rPr>
              <a:t>rules,  </a:t>
            </a:r>
            <a:r>
              <a:rPr dirty="0" sz="1150" spc="-25">
                <a:latin typeface="Arial"/>
                <a:cs typeface="Arial"/>
              </a:rPr>
              <a:t>while </a:t>
            </a:r>
            <a:r>
              <a:rPr dirty="0" sz="1150" spc="-35">
                <a:latin typeface="Arial"/>
                <a:cs typeface="Arial"/>
              </a:rPr>
              <a:t>similarly </a:t>
            </a:r>
            <a:r>
              <a:rPr dirty="0" sz="1150" spc="-40">
                <a:latin typeface="Arial"/>
                <a:cs typeface="Arial"/>
              </a:rPr>
              <a:t>taking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45">
                <a:latin typeface="Arial"/>
                <a:cs typeface="Arial"/>
              </a:rPr>
              <a:t>account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20">
                <a:latin typeface="Arial"/>
                <a:cs typeface="Arial"/>
              </a:rPr>
              <a:t>the potential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developing </a:t>
            </a:r>
            <a:r>
              <a:rPr dirty="0" sz="1150" spc="-35">
                <a:latin typeface="Arial"/>
                <a:cs typeface="Arial"/>
              </a:rPr>
              <a:t>countries.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20">
                <a:latin typeface="Arial"/>
                <a:cs typeface="Arial"/>
              </a:rPr>
              <a:t>WTO 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represented almost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35">
                <a:latin typeface="Arial"/>
                <a:cs typeface="Arial"/>
              </a:rPr>
              <a:t>countries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world </a:t>
            </a:r>
            <a:r>
              <a:rPr dirty="0" sz="1150" spc="-70">
                <a:latin typeface="Arial"/>
                <a:cs typeface="Arial"/>
              </a:rPr>
              <a:t>– </a:t>
            </a:r>
            <a:r>
              <a:rPr dirty="0" sz="1150" spc="-25">
                <a:latin typeface="Arial"/>
                <a:cs typeface="Arial"/>
              </a:rPr>
              <a:t>currently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14">
                <a:latin typeface="Arial"/>
                <a:cs typeface="Arial"/>
              </a:rPr>
              <a:t>WTO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65">
                <a:latin typeface="Arial"/>
                <a:cs typeface="Arial"/>
              </a:rPr>
              <a:t>147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Members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815"/>
              </a:spcBef>
            </a:pPr>
            <a:r>
              <a:rPr dirty="0" sz="1350" spc="-90">
                <a:latin typeface="Arial"/>
                <a:cs typeface="Arial"/>
              </a:rPr>
              <a:t>Per </a:t>
            </a:r>
            <a:r>
              <a:rPr dirty="0" sz="1350" spc="-75">
                <a:latin typeface="Arial"/>
                <a:cs typeface="Arial"/>
              </a:rPr>
              <a:t>Capita</a:t>
            </a:r>
            <a:r>
              <a:rPr dirty="0" sz="1350" spc="-50">
                <a:latin typeface="Arial"/>
                <a:cs typeface="Arial"/>
              </a:rPr>
              <a:t> </a:t>
            </a:r>
            <a:r>
              <a:rPr dirty="0" sz="1350" spc="-60">
                <a:latin typeface="Arial"/>
                <a:cs typeface="Arial"/>
              </a:rPr>
              <a:t>Income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75">
                <a:solidFill>
                  <a:srgbClr val="320032"/>
                </a:solidFill>
                <a:latin typeface="Arial"/>
                <a:cs typeface="Arial"/>
              </a:rPr>
              <a:t>Per </a:t>
            </a:r>
            <a:r>
              <a:rPr dirty="0" sz="1150" spc="-40">
                <a:solidFill>
                  <a:srgbClr val="320032"/>
                </a:solidFill>
                <a:latin typeface="Arial"/>
                <a:cs typeface="Arial"/>
              </a:rPr>
              <a:t>capita </a:t>
            </a:r>
            <a:r>
              <a:rPr dirty="0" sz="1150" spc="-50">
                <a:solidFill>
                  <a:srgbClr val="320032"/>
                </a:solidFill>
                <a:latin typeface="Arial"/>
                <a:cs typeface="Arial"/>
              </a:rPr>
              <a:t>income </a:t>
            </a:r>
            <a:r>
              <a:rPr dirty="0" sz="1150" spc="-75">
                <a:solidFill>
                  <a:srgbClr val="320032"/>
                </a:solidFill>
                <a:latin typeface="Arial"/>
                <a:cs typeface="Arial"/>
              </a:rPr>
              <a:t>means </a:t>
            </a:r>
            <a:r>
              <a:rPr dirty="0" sz="1150" spc="-30">
                <a:solidFill>
                  <a:srgbClr val="320032"/>
                </a:solidFill>
                <a:latin typeface="Arial"/>
                <a:cs typeface="Arial"/>
              </a:rPr>
              <a:t>how </a:t>
            </a:r>
            <a:r>
              <a:rPr dirty="0" sz="1150" spc="-50">
                <a:solidFill>
                  <a:srgbClr val="320032"/>
                </a:solidFill>
                <a:latin typeface="Arial"/>
                <a:cs typeface="Arial"/>
              </a:rPr>
              <a:t>much </a:t>
            </a:r>
            <a:r>
              <a:rPr dirty="0" sz="1150" spc="-75">
                <a:solidFill>
                  <a:srgbClr val="320032"/>
                </a:solidFill>
                <a:latin typeface="Arial"/>
                <a:cs typeface="Arial"/>
              </a:rPr>
              <a:t>each </a:t>
            </a:r>
            <a:r>
              <a:rPr dirty="0" sz="1150" spc="-30">
                <a:solidFill>
                  <a:srgbClr val="320032"/>
                </a:solidFill>
                <a:latin typeface="Arial"/>
                <a:cs typeface="Arial"/>
              </a:rPr>
              <a:t>individual </a:t>
            </a:r>
            <a:r>
              <a:rPr dirty="0" sz="1150" spc="-55">
                <a:solidFill>
                  <a:srgbClr val="320032"/>
                </a:solidFill>
                <a:latin typeface="Arial"/>
                <a:cs typeface="Arial"/>
              </a:rPr>
              <a:t>receives, </a:t>
            </a:r>
            <a:r>
              <a:rPr dirty="0" sz="1150" spc="-20">
                <a:solidFill>
                  <a:srgbClr val="320032"/>
                </a:solidFill>
                <a:latin typeface="Arial"/>
                <a:cs typeface="Arial"/>
              </a:rPr>
              <a:t>in </a:t>
            </a:r>
            <a:r>
              <a:rPr dirty="0" sz="1150" spc="-35">
                <a:solidFill>
                  <a:srgbClr val="320032"/>
                </a:solidFill>
                <a:latin typeface="Arial"/>
                <a:cs typeface="Arial"/>
              </a:rPr>
              <a:t>monetary </a:t>
            </a:r>
            <a:r>
              <a:rPr dirty="0" sz="1150" spc="-30">
                <a:solidFill>
                  <a:srgbClr val="320032"/>
                </a:solidFill>
                <a:latin typeface="Arial"/>
                <a:cs typeface="Arial"/>
              </a:rPr>
              <a:t>terms. </a:t>
            </a:r>
            <a:r>
              <a:rPr dirty="0" sz="1150" spc="15">
                <a:solidFill>
                  <a:srgbClr val="320032"/>
                </a:solidFill>
                <a:latin typeface="Arial"/>
                <a:cs typeface="Arial"/>
              </a:rPr>
              <a:t>It </a:t>
            </a:r>
            <a:r>
              <a:rPr dirty="0" sz="1150" spc="-70">
                <a:solidFill>
                  <a:srgbClr val="320032"/>
                </a:solidFill>
                <a:latin typeface="Arial"/>
                <a:cs typeface="Arial"/>
              </a:rPr>
              <a:t>is </a:t>
            </a:r>
            <a:r>
              <a:rPr dirty="0" sz="1150" spc="-20">
                <a:solidFill>
                  <a:srgbClr val="320032"/>
                </a:solidFill>
                <a:latin typeface="Arial"/>
                <a:cs typeface="Arial"/>
              </a:rPr>
              <a:t>the  </a:t>
            </a:r>
            <a:r>
              <a:rPr dirty="0" sz="1150" spc="-60">
                <a:solidFill>
                  <a:srgbClr val="320032"/>
                </a:solidFill>
                <a:latin typeface="Arial"/>
                <a:cs typeface="Arial"/>
              </a:rPr>
              <a:t>measure </a:t>
            </a:r>
            <a:r>
              <a:rPr dirty="0" sz="1150">
                <a:solidFill>
                  <a:srgbClr val="320032"/>
                </a:solidFill>
                <a:latin typeface="Arial"/>
                <a:cs typeface="Arial"/>
              </a:rPr>
              <a:t>of </a:t>
            </a:r>
            <a:r>
              <a:rPr dirty="0" sz="1150" spc="-20">
                <a:solidFill>
                  <a:srgbClr val="320032"/>
                </a:solidFill>
                <a:latin typeface="Arial"/>
                <a:cs typeface="Arial"/>
              </a:rPr>
              <a:t>the </a:t>
            </a:r>
            <a:r>
              <a:rPr dirty="0" sz="1150" spc="-35">
                <a:solidFill>
                  <a:srgbClr val="320032"/>
                </a:solidFill>
                <a:latin typeface="Arial"/>
                <a:cs typeface="Arial"/>
              </a:rPr>
              <a:t>amount </a:t>
            </a:r>
            <a:r>
              <a:rPr dirty="0" sz="1150">
                <a:solidFill>
                  <a:srgbClr val="320032"/>
                </a:solidFill>
                <a:latin typeface="Arial"/>
                <a:cs typeface="Arial"/>
              </a:rPr>
              <a:t>of </a:t>
            </a:r>
            <a:r>
              <a:rPr dirty="0" sz="1150" spc="-45">
                <a:solidFill>
                  <a:srgbClr val="320032"/>
                </a:solidFill>
                <a:latin typeface="Arial"/>
                <a:cs typeface="Arial"/>
              </a:rPr>
              <a:t>money </a:t>
            </a:r>
            <a:r>
              <a:rPr dirty="0" sz="1150" spc="-5">
                <a:solidFill>
                  <a:srgbClr val="320032"/>
                </a:solidFill>
                <a:latin typeface="Arial"/>
                <a:cs typeface="Arial"/>
              </a:rPr>
              <a:t>that </a:t>
            </a:r>
            <a:r>
              <a:rPr dirty="0" sz="1150" spc="-70">
                <a:solidFill>
                  <a:srgbClr val="320032"/>
                </a:solidFill>
                <a:latin typeface="Arial"/>
                <a:cs typeface="Arial"/>
              </a:rPr>
              <a:t>each </a:t>
            </a:r>
            <a:r>
              <a:rPr dirty="0" sz="1150" spc="-50">
                <a:solidFill>
                  <a:srgbClr val="320032"/>
                </a:solidFill>
                <a:latin typeface="Arial"/>
                <a:cs typeface="Arial"/>
              </a:rPr>
              <a:t>person </a:t>
            </a:r>
            <a:r>
              <a:rPr dirty="0" sz="1150" spc="-65">
                <a:solidFill>
                  <a:srgbClr val="320032"/>
                </a:solidFill>
                <a:latin typeface="Arial"/>
                <a:cs typeface="Arial"/>
              </a:rPr>
              <a:t>earns </a:t>
            </a:r>
            <a:r>
              <a:rPr dirty="0" sz="1150" spc="-20">
                <a:solidFill>
                  <a:srgbClr val="320032"/>
                </a:solidFill>
                <a:latin typeface="Arial"/>
                <a:cs typeface="Arial"/>
              </a:rPr>
              <a:t>in the </a:t>
            </a:r>
            <a:r>
              <a:rPr dirty="0" sz="1150" spc="-30">
                <a:solidFill>
                  <a:srgbClr val="320032"/>
                </a:solidFill>
                <a:latin typeface="Arial"/>
                <a:cs typeface="Arial"/>
              </a:rPr>
              <a:t>country, </a:t>
            </a:r>
            <a:r>
              <a:rPr dirty="0" sz="1150">
                <a:solidFill>
                  <a:srgbClr val="320032"/>
                </a:solidFill>
                <a:latin typeface="Arial"/>
                <a:cs typeface="Arial"/>
              </a:rPr>
              <a:t>of </a:t>
            </a:r>
            <a:r>
              <a:rPr dirty="0" sz="1150" spc="-20">
                <a:solidFill>
                  <a:srgbClr val="320032"/>
                </a:solidFill>
                <a:latin typeface="Arial"/>
                <a:cs typeface="Arial"/>
              </a:rPr>
              <a:t>the </a:t>
            </a:r>
            <a:r>
              <a:rPr dirty="0" sz="1150" spc="-45">
                <a:solidFill>
                  <a:srgbClr val="320032"/>
                </a:solidFill>
                <a:latin typeface="Arial"/>
                <a:cs typeface="Arial"/>
              </a:rPr>
              <a:t>yearly  income generated </a:t>
            </a:r>
            <a:r>
              <a:rPr dirty="0" sz="1150" spc="-20">
                <a:solidFill>
                  <a:srgbClr val="320032"/>
                </a:solidFill>
                <a:latin typeface="Arial"/>
                <a:cs typeface="Arial"/>
              </a:rPr>
              <a:t>in the</a:t>
            </a:r>
            <a:r>
              <a:rPr dirty="0" sz="1150" spc="-135">
                <a:solidFill>
                  <a:srgbClr val="320032"/>
                </a:solidFill>
                <a:latin typeface="Arial"/>
                <a:cs typeface="Arial"/>
              </a:rPr>
              <a:t> </a:t>
            </a:r>
            <a:r>
              <a:rPr dirty="0" sz="1150" spc="-30">
                <a:solidFill>
                  <a:srgbClr val="320032"/>
                </a:solidFill>
                <a:latin typeface="Arial"/>
                <a:cs typeface="Arial"/>
              </a:rPr>
              <a:t>country.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 marL="783590" marR="3096895" indent="-771525">
              <a:lnSpc>
                <a:spcPct val="152200"/>
              </a:lnSpc>
              <a:spcBef>
                <a:spcPts val="835"/>
              </a:spcBef>
            </a:pPr>
            <a:r>
              <a:rPr dirty="0" sz="1150" spc="-75">
                <a:latin typeface="Arial"/>
                <a:cs typeface="Arial"/>
              </a:rPr>
              <a:t>Per </a:t>
            </a:r>
            <a:r>
              <a:rPr dirty="0" sz="1150" spc="-65">
                <a:latin typeface="Arial"/>
                <a:cs typeface="Arial"/>
              </a:rPr>
              <a:t>Capita </a:t>
            </a:r>
            <a:r>
              <a:rPr dirty="0" sz="1150" spc="-100">
                <a:latin typeface="Arial"/>
                <a:cs typeface="Arial"/>
              </a:rPr>
              <a:t>= </a:t>
            </a:r>
            <a:r>
              <a:rPr dirty="0" u="sng" sz="1150" spc="-4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Total </a:t>
            </a:r>
            <a:r>
              <a:rPr dirty="0" u="sng" sz="1150" spc="-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income </a:t>
            </a:r>
            <a:r>
              <a:rPr dirty="0" u="sng" sz="115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 </a:t>
            </a:r>
            <a:r>
              <a:rPr dirty="0" u="sng" sz="1150" spc="-2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 </a:t>
            </a:r>
            <a:r>
              <a:rPr dirty="0" u="sng" sz="1150" spc="-3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country </a:t>
            </a:r>
            <a:r>
              <a:rPr dirty="0" sz="1150" spc="-3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Total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population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845"/>
              </a:spcBef>
            </a:pPr>
            <a:r>
              <a:rPr dirty="0" sz="1550" spc="-90">
                <a:latin typeface="Arial"/>
                <a:cs typeface="Arial"/>
              </a:rPr>
              <a:t>Tools </a:t>
            </a:r>
            <a:r>
              <a:rPr dirty="0" sz="1550">
                <a:latin typeface="Arial"/>
                <a:cs typeface="Arial"/>
              </a:rPr>
              <a:t>for </a:t>
            </a:r>
            <a:r>
              <a:rPr dirty="0" sz="1550" spc="-75">
                <a:latin typeface="Arial"/>
                <a:cs typeface="Arial"/>
              </a:rPr>
              <a:t>measuring </a:t>
            </a:r>
            <a:r>
              <a:rPr dirty="0" sz="1550" spc="-80">
                <a:latin typeface="Arial"/>
                <a:cs typeface="Arial"/>
              </a:rPr>
              <a:t>economies </a:t>
            </a:r>
            <a:r>
              <a:rPr dirty="0" sz="1550" spc="-5">
                <a:latin typeface="Arial"/>
                <a:cs typeface="Arial"/>
              </a:rPr>
              <a:t>of </a:t>
            </a:r>
            <a:r>
              <a:rPr dirty="0" sz="1550" spc="-25">
                <a:latin typeface="Arial"/>
                <a:cs typeface="Arial"/>
              </a:rPr>
              <a:t>the</a:t>
            </a:r>
            <a:r>
              <a:rPr dirty="0" sz="1550" spc="-229">
                <a:latin typeface="Arial"/>
                <a:cs typeface="Arial"/>
              </a:rPr>
              <a:t> </a:t>
            </a:r>
            <a:r>
              <a:rPr dirty="0" sz="1550" spc="-20">
                <a:latin typeface="Arial"/>
                <a:cs typeface="Arial"/>
              </a:rPr>
              <a:t>world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150" spc="-25">
                <a:latin typeface="Arial"/>
                <a:cs typeface="Arial"/>
              </a:rPr>
              <a:t>World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can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divided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three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major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categories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basis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per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capita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income.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4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350" spc="-75">
                <a:latin typeface="Arial"/>
                <a:cs typeface="Arial"/>
              </a:rPr>
              <a:t>High </a:t>
            </a:r>
            <a:r>
              <a:rPr dirty="0" sz="1350" spc="-55">
                <a:latin typeface="Arial"/>
                <a:cs typeface="Arial"/>
              </a:rPr>
              <a:t>income</a:t>
            </a:r>
            <a:r>
              <a:rPr dirty="0" sz="1350" spc="-75">
                <a:latin typeface="Arial"/>
                <a:cs typeface="Arial"/>
              </a:rPr>
              <a:t> </a:t>
            </a:r>
            <a:r>
              <a:rPr dirty="0" sz="1350" spc="-45">
                <a:latin typeface="Arial"/>
                <a:cs typeface="Arial"/>
              </a:rPr>
              <a:t>countries</a:t>
            </a:r>
            <a:endParaRPr sz="135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95"/>
              </a:spcBef>
            </a:pPr>
            <a:r>
              <a:rPr dirty="0" sz="1150" spc="-80">
                <a:latin typeface="Arial"/>
                <a:cs typeface="Arial"/>
              </a:rPr>
              <a:t>Those </a:t>
            </a:r>
            <a:r>
              <a:rPr dirty="0" sz="1150" spc="-35">
                <a:latin typeface="Arial"/>
                <a:cs typeface="Arial"/>
              </a:rPr>
              <a:t>countries where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50">
                <a:latin typeface="Arial"/>
                <a:cs typeface="Arial"/>
              </a:rPr>
              <a:t>are earning </a:t>
            </a:r>
            <a:r>
              <a:rPr dirty="0" sz="1150" spc="-165">
                <a:latin typeface="Arial"/>
                <a:cs typeface="Arial"/>
              </a:rPr>
              <a:t>US </a:t>
            </a:r>
            <a:r>
              <a:rPr dirty="0" sz="1150" spc="-60">
                <a:latin typeface="Arial"/>
                <a:cs typeface="Arial"/>
              </a:rPr>
              <a:t>$9000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more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5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350" spc="-20">
                <a:latin typeface="Arial"/>
                <a:cs typeface="Arial"/>
              </a:rPr>
              <a:t>Middle </a:t>
            </a:r>
            <a:r>
              <a:rPr dirty="0" sz="1350" spc="-55">
                <a:latin typeface="Arial"/>
                <a:cs typeface="Arial"/>
              </a:rPr>
              <a:t>income</a:t>
            </a:r>
            <a:r>
              <a:rPr dirty="0" sz="1350" spc="-140">
                <a:latin typeface="Arial"/>
                <a:cs typeface="Arial"/>
              </a:rPr>
              <a:t> </a:t>
            </a:r>
            <a:r>
              <a:rPr dirty="0" sz="1350" spc="-45">
                <a:latin typeface="Arial"/>
                <a:cs typeface="Arial"/>
              </a:rPr>
              <a:t>countries</a:t>
            </a:r>
            <a:endParaRPr sz="135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95"/>
              </a:spcBef>
            </a:pPr>
            <a:r>
              <a:rPr dirty="0" sz="1150" spc="-80">
                <a:latin typeface="Arial"/>
                <a:cs typeface="Arial"/>
              </a:rPr>
              <a:t>Those </a:t>
            </a:r>
            <a:r>
              <a:rPr dirty="0" sz="1150" spc="-35">
                <a:latin typeface="Arial"/>
                <a:cs typeface="Arial"/>
              </a:rPr>
              <a:t>countries where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50">
                <a:latin typeface="Arial"/>
                <a:cs typeface="Arial"/>
              </a:rPr>
              <a:t>are earning </a:t>
            </a:r>
            <a:r>
              <a:rPr dirty="0" sz="1150" spc="-35">
                <a:latin typeface="Arial"/>
                <a:cs typeface="Arial"/>
              </a:rPr>
              <a:t>between </a:t>
            </a:r>
            <a:r>
              <a:rPr dirty="0" sz="1150" spc="-165">
                <a:latin typeface="Arial"/>
                <a:cs typeface="Arial"/>
              </a:rPr>
              <a:t>US </a:t>
            </a:r>
            <a:r>
              <a:rPr dirty="0" sz="1150" spc="-65">
                <a:latin typeface="Arial"/>
                <a:cs typeface="Arial"/>
              </a:rPr>
              <a:t>$765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$9000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9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350" spc="-60">
                <a:latin typeface="Arial"/>
                <a:cs typeface="Arial"/>
              </a:rPr>
              <a:t>Lower </a:t>
            </a:r>
            <a:r>
              <a:rPr dirty="0" sz="1350" spc="-55">
                <a:latin typeface="Arial"/>
                <a:cs typeface="Arial"/>
              </a:rPr>
              <a:t>income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-45">
                <a:latin typeface="Arial"/>
                <a:cs typeface="Arial"/>
              </a:rPr>
              <a:t>countries</a:t>
            </a:r>
            <a:endParaRPr sz="135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95"/>
              </a:spcBef>
            </a:pPr>
            <a:r>
              <a:rPr dirty="0" sz="1150" spc="-80">
                <a:latin typeface="Arial"/>
                <a:cs typeface="Arial"/>
              </a:rPr>
              <a:t>Those </a:t>
            </a:r>
            <a:r>
              <a:rPr dirty="0" sz="1150" spc="-35">
                <a:latin typeface="Arial"/>
                <a:cs typeface="Arial"/>
              </a:rPr>
              <a:t>countries where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50">
                <a:latin typeface="Arial"/>
                <a:cs typeface="Arial"/>
              </a:rPr>
              <a:t>are earning </a:t>
            </a:r>
            <a:r>
              <a:rPr dirty="0" sz="1150" spc="-35">
                <a:latin typeface="Arial"/>
                <a:cs typeface="Arial"/>
              </a:rPr>
              <a:t>below </a:t>
            </a:r>
            <a:r>
              <a:rPr dirty="0" sz="1150" spc="-175">
                <a:latin typeface="Arial"/>
                <a:cs typeface="Arial"/>
              </a:rPr>
              <a:t>US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$765</a:t>
            </a:r>
            <a:endParaRPr sz="11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89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80498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715">
              <a:lnSpc>
                <a:spcPct val="101699"/>
              </a:lnSpc>
              <a:spcBef>
                <a:spcPts val="75"/>
              </a:spcBef>
            </a:pPr>
            <a:r>
              <a:rPr dirty="0" sz="1150" spc="-65">
                <a:latin typeface="Arial"/>
                <a:cs typeface="Arial"/>
              </a:rPr>
              <a:t>Pakistan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10">
                <a:latin typeface="Arial"/>
                <a:cs typeface="Arial"/>
              </a:rPr>
              <a:t>little </a:t>
            </a:r>
            <a:r>
              <a:rPr dirty="0" sz="1150" spc="-35">
                <a:latin typeface="Arial"/>
                <a:cs typeface="Arial"/>
              </a:rPr>
              <a:t>below </a:t>
            </a:r>
            <a:r>
              <a:rPr dirty="0" sz="1150" spc="-30">
                <a:latin typeface="Arial"/>
                <a:cs typeface="Arial"/>
              </a:rPr>
              <a:t>than </a:t>
            </a:r>
            <a:r>
              <a:rPr dirty="0" sz="1150" spc="-165">
                <a:latin typeface="Arial"/>
                <a:cs typeface="Arial"/>
              </a:rPr>
              <a:t>US </a:t>
            </a:r>
            <a:r>
              <a:rPr dirty="0" sz="1150" spc="-60">
                <a:latin typeface="Arial"/>
                <a:cs typeface="Arial"/>
              </a:rPr>
              <a:t>$765 </a:t>
            </a:r>
            <a:r>
              <a:rPr dirty="0" sz="1150" spc="-50">
                <a:latin typeface="Arial"/>
                <a:cs typeface="Arial"/>
              </a:rPr>
              <a:t>income </a:t>
            </a:r>
            <a:r>
              <a:rPr dirty="0" sz="1150" spc="-30">
                <a:latin typeface="Arial"/>
                <a:cs typeface="Arial"/>
              </a:rPr>
              <a:t>line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moving </a:t>
            </a:r>
            <a:r>
              <a:rPr dirty="0" sz="1150" spc="-35">
                <a:latin typeface="Arial"/>
                <a:cs typeface="Arial"/>
              </a:rPr>
              <a:t>towards </a:t>
            </a:r>
            <a:r>
              <a:rPr dirty="0" sz="1150" spc="-30">
                <a:latin typeface="Arial"/>
                <a:cs typeface="Arial"/>
              </a:rPr>
              <a:t>middle </a:t>
            </a:r>
            <a:r>
              <a:rPr dirty="0" sz="1150" spc="-50">
                <a:latin typeface="Arial"/>
                <a:cs typeface="Arial"/>
              </a:rPr>
              <a:t>income  </a:t>
            </a:r>
            <a:r>
              <a:rPr dirty="0" sz="1150" spc="-90">
                <a:latin typeface="Arial"/>
                <a:cs typeface="Arial"/>
              </a:rPr>
              <a:t>class </a:t>
            </a:r>
            <a:r>
              <a:rPr dirty="0" sz="1150" spc="-35">
                <a:latin typeface="Arial"/>
                <a:cs typeface="Arial"/>
              </a:rPr>
              <a:t>countries. </a:t>
            </a:r>
            <a:r>
              <a:rPr dirty="0" sz="1150" spc="-65">
                <a:latin typeface="Arial"/>
                <a:cs typeface="Arial"/>
              </a:rPr>
              <a:t>Pakistan is </a:t>
            </a:r>
            <a:r>
              <a:rPr dirty="0" sz="1150" spc="-30">
                <a:latin typeface="Arial"/>
                <a:cs typeface="Arial"/>
              </a:rPr>
              <a:t>exporting </a:t>
            </a:r>
            <a:r>
              <a:rPr dirty="0" sz="1150" spc="-65">
                <a:latin typeface="Arial"/>
                <a:cs typeface="Arial"/>
              </a:rPr>
              <a:t>Sports </a:t>
            </a:r>
            <a:r>
              <a:rPr dirty="0" sz="1150" spc="-35">
                <a:latin typeface="Arial"/>
                <a:cs typeface="Arial"/>
              </a:rPr>
              <a:t>items </a:t>
            </a:r>
            <a:r>
              <a:rPr dirty="0" sz="1150" spc="-30">
                <a:latin typeface="Arial"/>
                <a:cs typeface="Arial"/>
              </a:rPr>
              <a:t>Agricultural </a:t>
            </a:r>
            <a:r>
              <a:rPr dirty="0" sz="1150" spc="-40">
                <a:latin typeface="Arial"/>
                <a:cs typeface="Arial"/>
              </a:rPr>
              <a:t>products (rice), </a:t>
            </a:r>
            <a:r>
              <a:rPr dirty="0" sz="1150" spc="-45">
                <a:latin typeface="Arial"/>
                <a:cs typeface="Arial"/>
              </a:rPr>
              <a:t>Textile 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75">
                <a:latin typeface="Arial"/>
                <a:cs typeface="Arial"/>
              </a:rPr>
              <a:t>(Bed Sheets, </a:t>
            </a:r>
            <a:r>
              <a:rPr dirty="0" sz="1150" spc="-60">
                <a:latin typeface="Arial"/>
                <a:cs typeface="Arial"/>
              </a:rPr>
              <a:t>T-Shirts, </a:t>
            </a:r>
            <a:r>
              <a:rPr dirty="0" sz="1150" spc="-65">
                <a:latin typeface="Arial"/>
                <a:cs typeface="Arial"/>
              </a:rPr>
              <a:t>Towels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etc.)</a:t>
            </a:r>
            <a:endParaRPr sz="11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30"/>
              </a:spcBef>
            </a:pPr>
            <a:r>
              <a:rPr dirty="0" sz="1350" spc="-15">
                <a:latin typeface="Arial"/>
                <a:cs typeface="Arial"/>
              </a:rPr>
              <a:t>Import </a:t>
            </a:r>
            <a:r>
              <a:rPr dirty="0" sz="1350" spc="-65">
                <a:latin typeface="Arial"/>
                <a:cs typeface="Arial"/>
              </a:rPr>
              <a:t>and </a:t>
            </a:r>
            <a:r>
              <a:rPr dirty="0" sz="1350" spc="-55">
                <a:latin typeface="Arial"/>
                <a:cs typeface="Arial"/>
              </a:rPr>
              <a:t>Export</a:t>
            </a:r>
            <a:r>
              <a:rPr dirty="0" sz="1350" spc="-140">
                <a:latin typeface="Arial"/>
                <a:cs typeface="Arial"/>
              </a:rPr>
              <a:t> </a:t>
            </a:r>
            <a:r>
              <a:rPr dirty="0" sz="1350" spc="-90">
                <a:latin typeface="Arial"/>
                <a:cs typeface="Arial"/>
              </a:rPr>
              <a:t>Balance</a:t>
            </a:r>
            <a:endParaRPr sz="135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  <a:spcBef>
                <a:spcPts val="695"/>
              </a:spcBef>
            </a:pPr>
            <a:r>
              <a:rPr dirty="0" sz="1150" spc="-100">
                <a:latin typeface="Arial"/>
                <a:cs typeface="Arial"/>
              </a:rPr>
              <a:t>Gap </a:t>
            </a:r>
            <a:r>
              <a:rPr dirty="0" sz="1150" spc="-35">
                <a:latin typeface="Arial"/>
                <a:cs typeface="Arial"/>
              </a:rPr>
              <a:t>between </a:t>
            </a:r>
            <a:r>
              <a:rPr dirty="0" sz="1150" spc="-25">
                <a:latin typeface="Arial"/>
                <a:cs typeface="Arial"/>
              </a:rPr>
              <a:t>imports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exports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55">
                <a:latin typeface="Arial"/>
                <a:cs typeface="Arial"/>
              </a:rPr>
              <a:t>surplus and </a:t>
            </a:r>
            <a:r>
              <a:rPr dirty="0" sz="1150" spc="-15">
                <a:latin typeface="Arial"/>
                <a:cs typeface="Arial"/>
              </a:rPr>
              <a:t>deficit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55">
                <a:latin typeface="Arial"/>
                <a:cs typeface="Arial"/>
              </a:rPr>
              <a:t>varies </a:t>
            </a:r>
            <a:r>
              <a:rPr dirty="0" sz="1150" spc="-5">
                <a:latin typeface="Arial"/>
                <a:cs typeface="Arial"/>
              </a:rPr>
              <a:t>from </a:t>
            </a:r>
            <a:r>
              <a:rPr dirty="0" sz="1150" spc="-25">
                <a:latin typeface="Arial"/>
                <a:cs typeface="Arial"/>
              </a:rPr>
              <a:t>country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30">
                <a:latin typeface="Arial"/>
                <a:cs typeface="Arial"/>
              </a:rPr>
              <a:t>country.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90">
                <a:latin typeface="Arial"/>
                <a:cs typeface="Arial"/>
              </a:rPr>
              <a:t>Balance </a:t>
            </a:r>
            <a:r>
              <a:rPr dirty="0" sz="1350">
                <a:latin typeface="Arial"/>
                <a:cs typeface="Arial"/>
              </a:rPr>
              <a:t>of</a:t>
            </a:r>
            <a:r>
              <a:rPr dirty="0" sz="1350" spc="-65">
                <a:latin typeface="Arial"/>
                <a:cs typeface="Arial"/>
              </a:rPr>
              <a:t> </a:t>
            </a:r>
            <a:r>
              <a:rPr dirty="0" sz="1350" spc="-70">
                <a:latin typeface="Arial"/>
                <a:cs typeface="Arial"/>
              </a:rPr>
              <a:t>Payment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150" spc="-75">
                <a:latin typeface="Arial"/>
                <a:cs typeface="Arial"/>
              </a:rPr>
              <a:t>Balance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payment </a:t>
            </a:r>
            <a:r>
              <a:rPr dirty="0" sz="1150" spc="-100">
                <a:latin typeface="Arial"/>
                <a:cs typeface="Arial"/>
              </a:rPr>
              <a:t>= </a:t>
            </a:r>
            <a:r>
              <a:rPr dirty="0" sz="1150" spc="-45">
                <a:latin typeface="Arial"/>
                <a:cs typeface="Arial"/>
              </a:rPr>
              <a:t>Total </a:t>
            </a:r>
            <a:r>
              <a:rPr dirty="0" sz="1150" spc="-40">
                <a:latin typeface="Arial"/>
                <a:cs typeface="Arial"/>
              </a:rPr>
              <a:t>receipts </a:t>
            </a:r>
            <a:r>
              <a:rPr dirty="0" sz="1150" spc="-35">
                <a:latin typeface="Arial"/>
                <a:cs typeface="Arial"/>
              </a:rPr>
              <a:t>- </a:t>
            </a:r>
            <a:r>
              <a:rPr dirty="0" sz="1150" spc="-40">
                <a:latin typeface="Arial"/>
                <a:cs typeface="Arial"/>
              </a:rPr>
              <a:t>Total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payments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40">
                <a:latin typeface="Arial"/>
                <a:cs typeface="Arial"/>
              </a:rPr>
              <a:t>receipts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greater, </a:t>
            </a:r>
            <a:r>
              <a:rPr dirty="0" sz="1150" spc="-60">
                <a:latin typeface="Arial"/>
                <a:cs typeface="Arial"/>
              </a:rPr>
              <a:t>balance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payment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favorable.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50">
                <a:latin typeface="Arial"/>
                <a:cs typeface="Arial"/>
              </a:rPr>
              <a:t>payments are </a:t>
            </a:r>
            <a:r>
              <a:rPr dirty="0" sz="1150" spc="-35">
                <a:latin typeface="Arial"/>
                <a:cs typeface="Arial"/>
              </a:rPr>
              <a:t>greater, </a:t>
            </a:r>
            <a:r>
              <a:rPr dirty="0" sz="1150" spc="-65">
                <a:latin typeface="Arial"/>
                <a:cs typeface="Arial"/>
              </a:rPr>
              <a:t>balance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payment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unfavorable.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10" b="1">
                <a:latin typeface="Arial"/>
                <a:cs typeface="Arial"/>
              </a:rPr>
              <a:t>Level </a:t>
            </a:r>
            <a:r>
              <a:rPr dirty="0" sz="1350" spc="-65" b="1">
                <a:latin typeface="Arial"/>
                <a:cs typeface="Arial"/>
              </a:rPr>
              <a:t>of </a:t>
            </a:r>
            <a:r>
              <a:rPr dirty="0" sz="1350" spc="-80" b="1">
                <a:latin typeface="Arial"/>
                <a:cs typeface="Arial"/>
              </a:rPr>
              <a:t>involvement </a:t>
            </a:r>
            <a:r>
              <a:rPr dirty="0" sz="1350" spc="-75" b="1">
                <a:latin typeface="Arial"/>
                <a:cs typeface="Arial"/>
              </a:rPr>
              <a:t>in </a:t>
            </a:r>
            <a:r>
              <a:rPr dirty="0" sz="1350" spc="-65" b="1">
                <a:latin typeface="Arial"/>
                <a:cs typeface="Arial"/>
              </a:rPr>
              <a:t>international</a:t>
            </a:r>
            <a:r>
              <a:rPr dirty="0" sz="1350" spc="-55" b="1">
                <a:latin typeface="Arial"/>
                <a:cs typeface="Arial"/>
              </a:rPr>
              <a:t> </a:t>
            </a:r>
            <a:r>
              <a:rPr dirty="0" sz="1350" spc="-135" b="1">
                <a:latin typeface="Arial"/>
                <a:cs typeface="Arial"/>
              </a:rPr>
              <a:t>business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350" spc="-35">
                <a:latin typeface="Arial"/>
                <a:cs typeface="Arial"/>
              </a:rPr>
              <a:t>Imports </a:t>
            </a:r>
            <a:r>
              <a:rPr dirty="0" sz="1350" spc="-5">
                <a:latin typeface="Arial"/>
                <a:cs typeface="Arial"/>
              </a:rPr>
              <a:t>or</a:t>
            </a:r>
            <a:r>
              <a:rPr dirty="0" sz="1350" spc="-114">
                <a:latin typeface="Arial"/>
                <a:cs typeface="Arial"/>
              </a:rPr>
              <a:t> </a:t>
            </a:r>
            <a:r>
              <a:rPr dirty="0" sz="1350" spc="-70">
                <a:latin typeface="Arial"/>
                <a:cs typeface="Arial"/>
              </a:rPr>
              <a:t>Exports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150" spc="-70">
                <a:latin typeface="Arial"/>
                <a:cs typeface="Arial"/>
              </a:rPr>
              <a:t>We 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15">
                <a:latin typeface="Arial"/>
                <a:cs typeface="Arial"/>
              </a:rPr>
              <a:t>importer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exporter.</a:t>
            </a:r>
            <a:endParaRPr sz="1150">
              <a:latin typeface="Arial"/>
              <a:cs typeface="Arial"/>
            </a:endParaRPr>
          </a:p>
          <a:p>
            <a:pPr marL="12700" marR="759460">
              <a:lnSpc>
                <a:spcPct val="148700"/>
              </a:lnSpc>
              <a:spcBef>
                <a:spcPts val="10"/>
              </a:spcBef>
            </a:pPr>
            <a:r>
              <a:rPr dirty="0" sz="1150" spc="-70">
                <a:latin typeface="Arial"/>
                <a:cs typeface="Arial"/>
              </a:rPr>
              <a:t>We </a:t>
            </a:r>
            <a:r>
              <a:rPr dirty="0" sz="1150" spc="5">
                <a:latin typeface="Arial"/>
                <a:cs typeface="Arial"/>
              </a:rPr>
              <a:t>try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90">
                <a:latin typeface="Arial"/>
                <a:cs typeface="Arial"/>
              </a:rPr>
              <a:t>see </a:t>
            </a:r>
            <a:r>
              <a:rPr dirty="0" sz="1150" spc="-15">
                <a:latin typeface="Arial"/>
                <a:cs typeface="Arial"/>
              </a:rPr>
              <a:t>opportunity </a:t>
            </a:r>
            <a:r>
              <a:rPr dirty="0" sz="1150" spc="-20">
                <a:latin typeface="Arial"/>
                <a:cs typeface="Arial"/>
              </a:rPr>
              <a:t>in international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5">
                <a:latin typeface="Arial"/>
                <a:cs typeface="Arial"/>
              </a:rPr>
              <a:t>to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consume </a:t>
            </a:r>
            <a:r>
              <a:rPr dirty="0" sz="1150" spc="-55">
                <a:latin typeface="Arial"/>
                <a:cs typeface="Arial"/>
              </a:rPr>
              <a:t>surplus </a:t>
            </a:r>
            <a:r>
              <a:rPr dirty="0" sz="1150" spc="-35">
                <a:latin typeface="Arial"/>
                <a:cs typeface="Arial"/>
              </a:rPr>
              <a:t>products. 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called</a:t>
            </a:r>
            <a:r>
              <a:rPr dirty="0" sz="1150" spc="-3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exports.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1350" spc="-25">
                <a:latin typeface="Arial"/>
                <a:cs typeface="Arial"/>
              </a:rPr>
              <a:t>International</a:t>
            </a:r>
            <a:r>
              <a:rPr dirty="0" sz="1350" spc="-80">
                <a:latin typeface="Arial"/>
                <a:cs typeface="Arial"/>
              </a:rPr>
              <a:t> </a:t>
            </a:r>
            <a:r>
              <a:rPr dirty="0" sz="1350" spc="-75">
                <a:latin typeface="Arial"/>
                <a:cs typeface="Arial"/>
              </a:rPr>
              <a:t>Firms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00899"/>
              </a:lnSpc>
              <a:spcBef>
                <a:spcPts val="665"/>
              </a:spcBef>
            </a:pPr>
            <a:r>
              <a:rPr dirty="0" sz="1150" spc="-25">
                <a:latin typeface="Arial"/>
                <a:cs typeface="Arial"/>
              </a:rPr>
              <a:t>International firms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35">
                <a:latin typeface="Arial"/>
                <a:cs typeface="Arial"/>
              </a:rPr>
              <a:t>operations </a:t>
            </a:r>
            <a:r>
              <a:rPr dirty="0" sz="1150" spc="-15">
                <a:latin typeface="Arial"/>
                <a:cs typeface="Arial"/>
              </a:rPr>
              <a:t>world </a:t>
            </a:r>
            <a:r>
              <a:rPr dirty="0" sz="1150" spc="-30">
                <a:latin typeface="Arial"/>
                <a:cs typeface="Arial"/>
              </a:rPr>
              <a:t>wide. </a:t>
            </a: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25">
                <a:latin typeface="Arial"/>
                <a:cs typeface="Arial"/>
              </a:rPr>
              <a:t>firms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50">
                <a:latin typeface="Arial"/>
                <a:cs typeface="Arial"/>
              </a:rPr>
              <a:t>called </a:t>
            </a:r>
            <a:r>
              <a:rPr dirty="0" sz="1150" spc="-30">
                <a:latin typeface="Arial"/>
                <a:cs typeface="Arial"/>
              </a:rPr>
              <a:t>multinationals.  </a:t>
            </a:r>
            <a:r>
              <a:rPr dirty="0" sz="1150" spc="-25">
                <a:latin typeface="Arial"/>
                <a:cs typeface="Arial"/>
              </a:rPr>
              <a:t>Multinationals </a:t>
            </a:r>
            <a:r>
              <a:rPr dirty="0" sz="1150" spc="-65">
                <a:latin typeface="Arial"/>
                <a:cs typeface="Arial"/>
              </a:rPr>
              <a:t>design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50">
                <a:latin typeface="Arial"/>
                <a:cs typeface="Arial"/>
              </a:rPr>
              <a:t>separately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75">
                <a:latin typeface="Arial"/>
                <a:cs typeface="Arial"/>
              </a:rPr>
              <a:t>each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country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1400" spc="-100" b="1">
                <a:latin typeface="Arial"/>
                <a:cs typeface="Arial"/>
              </a:rPr>
              <a:t>Global</a:t>
            </a:r>
            <a:r>
              <a:rPr dirty="0" sz="1400" spc="-75" b="1">
                <a:latin typeface="Arial"/>
                <a:cs typeface="Arial"/>
              </a:rPr>
              <a:t> </a:t>
            </a:r>
            <a:r>
              <a:rPr dirty="0" sz="1400" spc="-105" b="1">
                <a:latin typeface="Arial"/>
                <a:cs typeface="Arial"/>
              </a:rPr>
              <a:t>Organizations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899"/>
              </a:lnSpc>
              <a:spcBef>
                <a:spcPts val="680"/>
              </a:spcBef>
            </a:pPr>
            <a:r>
              <a:rPr dirty="0" sz="1150" spc="-80">
                <a:latin typeface="Arial"/>
                <a:cs typeface="Arial"/>
              </a:rPr>
              <a:t>Those </a:t>
            </a:r>
            <a:r>
              <a:rPr dirty="0" sz="1150" spc="-45">
                <a:latin typeface="Arial"/>
                <a:cs typeface="Arial"/>
              </a:rPr>
              <a:t>organizations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45">
                <a:latin typeface="Arial"/>
                <a:cs typeface="Arial"/>
              </a:rPr>
              <a:t>consider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whole </a:t>
            </a:r>
            <a:r>
              <a:rPr dirty="0" sz="1150" spc="-25">
                <a:latin typeface="Arial"/>
                <a:cs typeface="Arial"/>
              </a:rPr>
              <a:t>country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55">
                <a:latin typeface="Arial"/>
                <a:cs typeface="Arial"/>
              </a:rPr>
              <a:t>single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55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called global  organizations.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45">
                <a:latin typeface="Arial"/>
                <a:cs typeface="Arial"/>
              </a:rPr>
              <a:t>organizations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50">
                <a:latin typeface="Arial"/>
                <a:cs typeface="Arial"/>
              </a:rPr>
              <a:t>standardized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35">
                <a:latin typeface="Arial"/>
                <a:cs typeface="Arial"/>
              </a:rPr>
              <a:t>over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world.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350" spc="-60" b="1">
                <a:latin typeface="Arial"/>
                <a:cs typeface="Arial"/>
              </a:rPr>
              <a:t>International </a:t>
            </a:r>
            <a:r>
              <a:rPr dirty="0" sz="1350" spc="-90" b="1">
                <a:latin typeface="Arial"/>
                <a:cs typeface="Arial"/>
              </a:rPr>
              <a:t>Organizational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90" b="1">
                <a:latin typeface="Arial"/>
                <a:cs typeface="Arial"/>
              </a:rPr>
              <a:t>Structure</a:t>
            </a:r>
            <a:endParaRPr sz="13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9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40">
                <a:latin typeface="Arial"/>
                <a:cs typeface="Arial"/>
              </a:rPr>
              <a:t>Independent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Agent</a:t>
            </a:r>
            <a:endParaRPr sz="115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dirty="0" sz="1150" spc="-105">
                <a:latin typeface="Arial"/>
                <a:cs typeface="Arial"/>
              </a:rPr>
              <a:t>A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person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5">
                <a:latin typeface="Arial"/>
                <a:cs typeface="Arial"/>
              </a:rPr>
              <a:t> an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works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an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exporter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importer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9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25">
                <a:latin typeface="Arial"/>
                <a:cs typeface="Arial"/>
              </a:rPr>
              <a:t>Appointment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representative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abroad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70">
                <a:latin typeface="Arial"/>
                <a:cs typeface="Arial"/>
              </a:rPr>
              <a:t>Licensing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agreement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40">
                <a:latin typeface="Arial"/>
                <a:cs typeface="Arial"/>
              </a:rPr>
              <a:t>Independent </a:t>
            </a:r>
            <a:r>
              <a:rPr dirty="0" sz="1150" spc="-65">
                <a:latin typeface="Arial"/>
                <a:cs typeface="Arial"/>
              </a:rPr>
              <a:t>Branch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Office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55">
                <a:latin typeface="Arial"/>
                <a:cs typeface="Arial"/>
              </a:rPr>
              <a:t>Strategic </a:t>
            </a:r>
            <a:r>
              <a:rPr dirty="0" sz="1150" spc="-50">
                <a:latin typeface="Arial"/>
                <a:cs typeface="Arial"/>
              </a:rPr>
              <a:t>Alliance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35">
                <a:latin typeface="Arial"/>
                <a:cs typeface="Arial"/>
              </a:rPr>
              <a:t>Direct </a:t>
            </a:r>
            <a:r>
              <a:rPr dirty="0" sz="1150" spc="-60">
                <a:latin typeface="Arial"/>
                <a:cs typeface="Arial"/>
              </a:rPr>
              <a:t>Foreign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Investment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90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62384"/>
            <a:ext cx="3822065" cy="62166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u="heavy" sz="1150" spc="-9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Study</a:t>
            </a:r>
            <a:r>
              <a:rPr dirty="0" u="heavy" sz="1150" spc="-6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150" spc="-114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Links: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4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u="sng" sz="1150" spc="-45" i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www.offshoredealers.com</a:t>
            </a:r>
            <a:endParaRPr sz="11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7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u="sng" sz="1150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www.mfa.gov.lv/en/policy/economic/WTO/WhatIsWTO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91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42241" y="1439675"/>
            <a:ext cx="4499610" cy="83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13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254" b="1">
                <a:latin typeface="Arial"/>
                <a:cs typeface="Arial"/>
              </a:rPr>
              <a:t>BARRIERS </a:t>
            </a:r>
            <a:r>
              <a:rPr dirty="0" sz="1750" spc="-195" b="1">
                <a:latin typeface="Arial"/>
                <a:cs typeface="Arial"/>
              </a:rPr>
              <a:t>TO </a:t>
            </a:r>
            <a:r>
              <a:rPr dirty="0" sz="1750" spc="-180" b="1">
                <a:latin typeface="Arial"/>
                <a:cs typeface="Arial"/>
              </a:rPr>
              <a:t>INTERNATIONAL</a:t>
            </a:r>
            <a:r>
              <a:rPr dirty="0" sz="1750" spc="-345" b="1">
                <a:latin typeface="Arial"/>
                <a:cs typeface="Arial"/>
              </a:rPr>
              <a:t> </a:t>
            </a:r>
            <a:r>
              <a:rPr dirty="0" sz="1750" spc="-235" b="1">
                <a:latin typeface="Arial"/>
                <a:cs typeface="Arial"/>
              </a:rPr>
              <a:t>TRADE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0286" y="2526287"/>
            <a:ext cx="5513070" cy="611505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70">
                <a:latin typeface="Arial"/>
                <a:cs typeface="Arial"/>
              </a:rPr>
              <a:t>Trade </a:t>
            </a:r>
            <a:r>
              <a:rPr dirty="0" sz="1150" spc="-35">
                <a:latin typeface="Arial"/>
                <a:cs typeface="Arial"/>
              </a:rPr>
              <a:t>barriers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general </a:t>
            </a:r>
            <a:r>
              <a:rPr dirty="0" sz="1150" spc="-10">
                <a:latin typeface="Arial"/>
                <a:cs typeface="Arial"/>
              </a:rPr>
              <a:t>term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0">
                <a:latin typeface="Arial"/>
                <a:cs typeface="Arial"/>
              </a:rPr>
              <a:t>describes </a:t>
            </a:r>
            <a:r>
              <a:rPr dirty="0" sz="1150" spc="-70">
                <a:latin typeface="Arial"/>
                <a:cs typeface="Arial"/>
              </a:rPr>
              <a:t>any </a:t>
            </a:r>
            <a:r>
              <a:rPr dirty="0" sz="1150" spc="-40">
                <a:latin typeface="Arial"/>
                <a:cs typeface="Arial"/>
              </a:rPr>
              <a:t>government </a:t>
            </a:r>
            <a:r>
              <a:rPr dirty="0" sz="1150" spc="-35">
                <a:latin typeface="Arial"/>
                <a:cs typeface="Arial"/>
              </a:rPr>
              <a:t>policy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regulation </a:t>
            </a:r>
            <a:r>
              <a:rPr dirty="0" sz="1150" spc="-5">
                <a:latin typeface="Arial"/>
                <a:cs typeface="Arial"/>
              </a:rPr>
              <a:t>that  </a:t>
            </a:r>
            <a:r>
              <a:rPr dirty="0" sz="1150" spc="-30">
                <a:latin typeface="Arial"/>
                <a:cs typeface="Arial"/>
              </a:rPr>
              <a:t>restricts </a:t>
            </a:r>
            <a:r>
              <a:rPr dirty="0" sz="1150" spc="-20">
                <a:latin typeface="Arial"/>
                <a:cs typeface="Arial"/>
              </a:rPr>
              <a:t>international </a:t>
            </a:r>
            <a:r>
              <a:rPr dirty="0" sz="1150" spc="-30">
                <a:latin typeface="Arial"/>
                <a:cs typeface="Arial"/>
              </a:rPr>
              <a:t>trade.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barriers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40">
                <a:latin typeface="Arial"/>
                <a:cs typeface="Arial"/>
              </a:rPr>
              <a:t>take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35">
                <a:latin typeface="Arial"/>
                <a:cs typeface="Arial"/>
              </a:rPr>
              <a:t>forms, </a:t>
            </a:r>
            <a:r>
              <a:rPr dirty="0" sz="1150" spc="-40">
                <a:latin typeface="Arial"/>
                <a:cs typeface="Arial"/>
              </a:rPr>
              <a:t>including </a:t>
            </a:r>
            <a:r>
              <a:rPr dirty="0" sz="1150" spc="-20">
                <a:latin typeface="Arial"/>
                <a:cs typeface="Arial"/>
              </a:rPr>
              <a:t>the following 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terms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0">
                <a:latin typeface="Arial"/>
                <a:cs typeface="Arial"/>
              </a:rPr>
              <a:t>include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30">
                <a:latin typeface="Arial"/>
                <a:cs typeface="Arial"/>
              </a:rPr>
              <a:t>restrictions </a:t>
            </a:r>
            <a:r>
              <a:rPr dirty="0" sz="1150" spc="-20">
                <a:latin typeface="Arial"/>
                <a:cs typeface="Arial"/>
              </a:rPr>
              <a:t>in international </a:t>
            </a:r>
            <a:r>
              <a:rPr dirty="0" sz="1150" spc="-25">
                <a:latin typeface="Arial"/>
                <a:cs typeface="Arial"/>
              </a:rPr>
              <a:t>trade </a:t>
            </a:r>
            <a:r>
              <a:rPr dirty="0" sz="1150" spc="-5">
                <a:latin typeface="Arial"/>
                <a:cs typeface="Arial"/>
              </a:rPr>
              <a:t>within </a:t>
            </a:r>
            <a:r>
              <a:rPr dirty="0" sz="1150" spc="-15">
                <a:latin typeface="Arial"/>
                <a:cs typeface="Arial"/>
              </a:rPr>
              <a:t>multiple </a:t>
            </a:r>
            <a:r>
              <a:rPr dirty="0" sz="1150" spc="-35">
                <a:latin typeface="Arial"/>
                <a:cs typeface="Arial"/>
              </a:rPr>
              <a:t>countries </a:t>
            </a:r>
            <a:r>
              <a:rPr dirty="0" sz="1150" spc="-5">
                <a:latin typeface="Arial"/>
                <a:cs typeface="Arial"/>
              </a:rPr>
              <a:t>that  import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export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35">
                <a:latin typeface="Arial"/>
                <a:cs typeface="Arial"/>
              </a:rPr>
              <a:t>items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trade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350" spc="-85">
                <a:latin typeface="Arial"/>
                <a:cs typeface="Arial"/>
              </a:rPr>
              <a:t>Social </a:t>
            </a:r>
            <a:r>
              <a:rPr dirty="0" sz="1350" spc="-65">
                <a:latin typeface="Arial"/>
                <a:cs typeface="Arial"/>
              </a:rPr>
              <a:t>and </a:t>
            </a:r>
            <a:r>
              <a:rPr dirty="0" sz="1350" spc="-45">
                <a:latin typeface="Arial"/>
                <a:cs typeface="Arial"/>
              </a:rPr>
              <a:t>Cultural</a:t>
            </a:r>
            <a:r>
              <a:rPr dirty="0" sz="1350" spc="-75">
                <a:latin typeface="Arial"/>
                <a:cs typeface="Arial"/>
              </a:rPr>
              <a:t> </a:t>
            </a:r>
            <a:r>
              <a:rPr dirty="0" sz="1350" spc="-120">
                <a:latin typeface="Arial"/>
                <a:cs typeface="Arial"/>
              </a:rPr>
              <a:t>Changes</a:t>
            </a:r>
            <a:endParaRPr sz="13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715"/>
              </a:spcBef>
            </a:pPr>
            <a:r>
              <a:rPr dirty="0" sz="1150" spc="-20">
                <a:latin typeface="Arial"/>
                <a:cs typeface="Arial"/>
              </a:rPr>
              <a:t>Different </a:t>
            </a:r>
            <a:r>
              <a:rPr dirty="0" sz="1150" spc="-35">
                <a:latin typeface="Arial"/>
                <a:cs typeface="Arial"/>
              </a:rPr>
              <a:t>countries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10">
                <a:latin typeface="Arial"/>
                <a:cs typeface="Arial"/>
              </a:rPr>
              <a:t>different life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styles.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9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350" spc="-65">
                <a:latin typeface="Arial"/>
                <a:cs typeface="Arial"/>
              </a:rPr>
              <a:t>Religion</a:t>
            </a:r>
            <a:endParaRPr sz="135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  <a:spcBef>
                <a:spcPts val="655"/>
              </a:spcBef>
            </a:pPr>
            <a:r>
              <a:rPr dirty="0" sz="1150" spc="-80">
                <a:latin typeface="Arial"/>
                <a:cs typeface="Arial"/>
              </a:rPr>
              <a:t>Every </a:t>
            </a:r>
            <a:r>
              <a:rPr dirty="0" sz="1150" spc="-30">
                <a:latin typeface="Arial"/>
                <a:cs typeface="Arial"/>
              </a:rPr>
              <a:t>religion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25">
                <a:latin typeface="Arial"/>
                <a:cs typeface="Arial"/>
              </a:rPr>
              <a:t>its own </a:t>
            </a:r>
            <a:r>
              <a:rPr dirty="0" sz="1150" spc="-45">
                <a:latin typeface="Arial"/>
                <a:cs typeface="Arial"/>
              </a:rPr>
              <a:t>set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rules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5">
                <a:latin typeface="Arial"/>
                <a:cs typeface="Arial"/>
              </a:rPr>
              <a:t>its followers. </a:t>
            </a:r>
            <a:r>
              <a:rPr dirty="0" sz="1150" spc="-55">
                <a:latin typeface="Arial"/>
                <a:cs typeface="Arial"/>
              </a:rPr>
              <a:t>Religion </a:t>
            </a:r>
            <a:r>
              <a:rPr dirty="0" sz="1150" spc="-100">
                <a:latin typeface="Arial"/>
                <a:cs typeface="Arial"/>
              </a:rPr>
              <a:t>asks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60">
                <a:latin typeface="Arial"/>
                <a:cs typeface="Arial"/>
              </a:rPr>
              <a:t>spending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30">
                <a:latin typeface="Arial"/>
                <a:cs typeface="Arial"/>
              </a:rPr>
              <a:t>certain  </a:t>
            </a:r>
            <a:r>
              <a:rPr dirty="0" sz="1150" spc="-45">
                <a:latin typeface="Arial"/>
                <a:cs typeface="Arial"/>
              </a:rPr>
              <a:t>things </a:t>
            </a:r>
            <a:r>
              <a:rPr dirty="0" sz="1150" spc="-55">
                <a:latin typeface="Arial"/>
                <a:cs typeface="Arial"/>
              </a:rPr>
              <a:t>and stops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60">
                <a:latin typeface="Arial"/>
                <a:cs typeface="Arial"/>
              </a:rPr>
              <a:t>spending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30">
                <a:latin typeface="Arial"/>
                <a:cs typeface="Arial"/>
              </a:rPr>
              <a:t>certain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things.</a:t>
            </a:r>
            <a:endParaRPr sz="11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8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350" spc="-60">
                <a:latin typeface="Arial"/>
                <a:cs typeface="Arial"/>
              </a:rPr>
              <a:t>Climate</a:t>
            </a:r>
            <a:endParaRPr sz="13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79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350" spc="-110">
                <a:latin typeface="Arial"/>
                <a:cs typeface="Arial"/>
              </a:rPr>
              <a:t>Laws</a:t>
            </a:r>
            <a:endParaRPr sz="1350">
              <a:latin typeface="Arial"/>
              <a:cs typeface="Arial"/>
            </a:endParaRPr>
          </a:p>
          <a:p>
            <a:pPr marL="469900" marR="1779905">
              <a:lnSpc>
                <a:spcPct val="148700"/>
              </a:lnSpc>
              <a:spcBef>
                <a:spcPts val="10"/>
              </a:spcBef>
            </a:pP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55">
                <a:latin typeface="Arial"/>
                <a:cs typeface="Arial"/>
              </a:rPr>
              <a:t>laws </a:t>
            </a:r>
            <a:r>
              <a:rPr dirty="0" sz="1150" spc="-25">
                <a:latin typeface="Arial"/>
                <a:cs typeface="Arial"/>
              </a:rPr>
              <a:t>in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35">
                <a:latin typeface="Arial"/>
                <a:cs typeface="Arial"/>
              </a:rPr>
              <a:t>parts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4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 world.  </a:t>
            </a: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45">
                <a:latin typeface="Arial"/>
                <a:cs typeface="Arial"/>
              </a:rPr>
              <a:t>include </a:t>
            </a:r>
            <a:r>
              <a:rPr dirty="0" sz="1150" spc="-60">
                <a:latin typeface="Arial"/>
                <a:cs typeface="Arial"/>
              </a:rPr>
              <a:t>laws </a:t>
            </a:r>
            <a:r>
              <a:rPr dirty="0" sz="1150" spc="-30">
                <a:latin typeface="Arial"/>
                <a:cs typeface="Arial"/>
              </a:rPr>
              <a:t>related</a:t>
            </a:r>
            <a:r>
              <a:rPr dirty="0" sz="1150" spc="-2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to:</a:t>
            </a:r>
            <a:endParaRPr sz="1150">
              <a:latin typeface="Arial"/>
              <a:cs typeface="Arial"/>
            </a:endParaRPr>
          </a:p>
          <a:p>
            <a:pPr marL="927100" marR="4184015">
              <a:lnSpc>
                <a:spcPts val="1980"/>
              </a:lnSpc>
              <a:spcBef>
                <a:spcPts val="150"/>
              </a:spcBef>
            </a:pPr>
            <a:r>
              <a:rPr dirty="0" sz="1150" spc="-114">
                <a:latin typeface="Arial"/>
                <a:cs typeface="Arial"/>
              </a:rPr>
              <a:t>H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>
                <a:latin typeface="Arial"/>
                <a:cs typeface="Arial"/>
              </a:rPr>
              <a:t>l</a:t>
            </a:r>
            <a:r>
              <a:rPr dirty="0" sz="1150" spc="60">
                <a:latin typeface="Arial"/>
                <a:cs typeface="Arial"/>
              </a:rPr>
              <a:t>t</a:t>
            </a:r>
            <a:r>
              <a:rPr dirty="0" sz="1150" spc="-30">
                <a:latin typeface="Arial"/>
                <a:cs typeface="Arial"/>
              </a:rPr>
              <a:t>h 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-65">
                <a:latin typeface="Arial"/>
                <a:cs typeface="Arial"/>
              </a:rPr>
              <a:t>Safety</a:t>
            </a:r>
            <a:endParaRPr sz="1150">
              <a:latin typeface="Arial"/>
              <a:cs typeface="Arial"/>
            </a:endParaRPr>
          </a:p>
          <a:p>
            <a:pPr marL="927100" marR="3230245">
              <a:lnSpc>
                <a:spcPts val="1980"/>
              </a:lnSpc>
            </a:pPr>
            <a:r>
              <a:rPr dirty="0" sz="1150" spc="-55">
                <a:latin typeface="Arial"/>
                <a:cs typeface="Arial"/>
              </a:rPr>
              <a:t>Customer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Relationship  </a:t>
            </a:r>
            <a:r>
              <a:rPr dirty="0" sz="1150" spc="-55">
                <a:latin typeface="Arial"/>
                <a:cs typeface="Arial"/>
              </a:rPr>
              <a:t>Pricing</a:t>
            </a:r>
            <a:endParaRPr sz="115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dirty="0" sz="1150" spc="-75">
                <a:latin typeface="Arial"/>
                <a:cs typeface="Arial"/>
              </a:rPr>
              <a:t>Packing</a:t>
            </a:r>
            <a:endParaRPr sz="1150">
              <a:latin typeface="Arial"/>
              <a:cs typeface="Arial"/>
            </a:endParaRPr>
          </a:p>
          <a:p>
            <a:pPr marL="882650">
              <a:lnSpc>
                <a:spcPct val="100000"/>
              </a:lnSpc>
              <a:spcBef>
                <a:spcPts val="720"/>
              </a:spcBef>
            </a:pPr>
            <a:r>
              <a:rPr dirty="0" sz="1150" spc="-40">
                <a:latin typeface="Arial"/>
                <a:cs typeface="Arial"/>
              </a:rPr>
              <a:t>Environment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9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350" spc="-80">
                <a:latin typeface="Arial"/>
                <a:cs typeface="Arial"/>
              </a:rPr>
              <a:t>Economic</a:t>
            </a:r>
            <a:r>
              <a:rPr dirty="0" sz="1350" spc="-90">
                <a:latin typeface="Arial"/>
                <a:cs typeface="Arial"/>
              </a:rPr>
              <a:t> </a:t>
            </a:r>
            <a:r>
              <a:rPr dirty="0" sz="1350" spc="-55">
                <a:latin typeface="Arial"/>
                <a:cs typeface="Arial"/>
              </a:rPr>
              <a:t>Differences</a:t>
            </a:r>
            <a:endParaRPr sz="1350">
              <a:latin typeface="Arial"/>
              <a:cs typeface="Arial"/>
            </a:endParaRPr>
          </a:p>
          <a:p>
            <a:pPr marL="469265" marR="1951355">
              <a:lnSpc>
                <a:spcPct val="148700"/>
              </a:lnSpc>
              <a:spcBef>
                <a:spcPts val="10"/>
              </a:spcBef>
            </a:pPr>
            <a:r>
              <a:rPr dirty="0" sz="1150" spc="-75">
                <a:latin typeface="Arial"/>
                <a:cs typeface="Arial"/>
              </a:rPr>
              <a:t>Per </a:t>
            </a:r>
            <a:r>
              <a:rPr dirty="0" sz="1150" spc="-65">
                <a:latin typeface="Arial"/>
                <a:cs typeface="Arial"/>
              </a:rPr>
              <a:t>Capita </a:t>
            </a:r>
            <a:r>
              <a:rPr dirty="0" sz="1150" spc="-55">
                <a:latin typeface="Arial"/>
                <a:cs typeface="Arial"/>
              </a:rPr>
              <a:t>Income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15">
                <a:latin typeface="Arial"/>
                <a:cs typeface="Arial"/>
              </a:rPr>
              <a:t>different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35">
                <a:latin typeface="Arial"/>
                <a:cs typeface="Arial"/>
              </a:rPr>
              <a:t>countries.  </a:t>
            </a:r>
            <a:r>
              <a:rPr dirty="0" sz="1150" spc="-20">
                <a:latin typeface="Arial"/>
                <a:cs typeface="Arial"/>
              </a:rPr>
              <a:t>Different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50">
                <a:latin typeface="Arial"/>
                <a:cs typeface="Arial"/>
              </a:rPr>
              <a:t>economic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systems.</a:t>
            </a:r>
            <a:endParaRPr sz="1150">
              <a:latin typeface="Arial"/>
              <a:cs typeface="Arial"/>
            </a:endParaRPr>
          </a:p>
          <a:p>
            <a:pPr marL="410209">
              <a:lnSpc>
                <a:spcPct val="100000"/>
              </a:lnSpc>
              <a:spcBef>
                <a:spcPts val="705"/>
              </a:spcBef>
            </a:pPr>
            <a:r>
              <a:rPr dirty="0" sz="1150" spc="-65">
                <a:latin typeface="Arial"/>
                <a:cs typeface="Arial"/>
              </a:rPr>
              <a:t>People </a:t>
            </a:r>
            <a:r>
              <a:rPr dirty="0" sz="1150" spc="-40">
                <a:latin typeface="Arial"/>
                <a:cs typeface="Arial"/>
              </a:rPr>
              <a:t>preference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particular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350" spc="-40">
                <a:latin typeface="Arial"/>
                <a:cs typeface="Arial"/>
              </a:rPr>
              <a:t>Political</a:t>
            </a:r>
            <a:r>
              <a:rPr dirty="0" sz="1350" spc="-80">
                <a:latin typeface="Arial"/>
                <a:cs typeface="Arial"/>
              </a:rPr>
              <a:t> </a:t>
            </a:r>
            <a:r>
              <a:rPr dirty="0" sz="1350" spc="-95">
                <a:latin typeface="Arial"/>
                <a:cs typeface="Arial"/>
              </a:rPr>
              <a:t>System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46" y="800529"/>
            <a:ext cx="5513705" cy="831850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469900" indent="-229235">
              <a:lnSpc>
                <a:spcPct val="100000"/>
              </a:lnSpc>
              <a:spcBef>
                <a:spcPts val="90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350" spc="-30">
                <a:latin typeface="Arial"/>
                <a:cs typeface="Arial"/>
              </a:rPr>
              <a:t>Tariff</a:t>
            </a:r>
            <a:endParaRPr sz="135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80"/>
              </a:spcBef>
            </a:pPr>
            <a:r>
              <a:rPr dirty="0" sz="1150" spc="-105">
                <a:latin typeface="Arial"/>
                <a:cs typeface="Arial"/>
              </a:rPr>
              <a:t>Tax </a:t>
            </a:r>
            <a:r>
              <a:rPr dirty="0" sz="1150" spc="-40">
                <a:latin typeface="Arial"/>
                <a:cs typeface="Arial"/>
              </a:rPr>
              <a:t>levied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30">
                <a:latin typeface="Arial"/>
                <a:cs typeface="Arial"/>
              </a:rPr>
              <a:t>entering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country.</a:t>
            </a:r>
            <a:endParaRPr sz="115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75"/>
              </a:spcBef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also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5">
                <a:latin typeface="Arial"/>
                <a:cs typeface="Arial"/>
              </a:rPr>
              <a:t>measure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reduce </a:t>
            </a:r>
            <a:r>
              <a:rPr dirty="0" sz="1150" spc="-25">
                <a:latin typeface="Arial"/>
                <a:cs typeface="Arial"/>
              </a:rPr>
              <a:t>imports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country.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9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350" spc="-50">
                <a:latin typeface="Arial"/>
                <a:cs typeface="Arial"/>
              </a:rPr>
              <a:t>Quota</a:t>
            </a:r>
            <a:endParaRPr sz="135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80"/>
              </a:spcBef>
            </a:pPr>
            <a:r>
              <a:rPr dirty="0" sz="1150" spc="-25">
                <a:latin typeface="Arial"/>
                <a:cs typeface="Arial"/>
              </a:rPr>
              <a:t>Limit </a:t>
            </a:r>
            <a:r>
              <a:rPr dirty="0" sz="1150" spc="-50">
                <a:latin typeface="Arial"/>
                <a:cs typeface="Arial"/>
              </a:rPr>
              <a:t>imposed by one </a:t>
            </a:r>
            <a:r>
              <a:rPr dirty="0" sz="1150" spc="-30">
                <a:latin typeface="Arial"/>
                <a:cs typeface="Arial"/>
              </a:rPr>
              <a:t>country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importing </a:t>
            </a:r>
            <a:r>
              <a:rPr dirty="0" sz="1150" spc="-40">
                <a:latin typeface="Arial"/>
                <a:cs typeface="Arial"/>
              </a:rPr>
              <a:t>commodities </a:t>
            </a:r>
            <a:r>
              <a:rPr dirty="0" sz="1150" spc="-10">
                <a:latin typeface="Arial"/>
                <a:cs typeface="Arial"/>
              </a:rPr>
              <a:t>from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another country.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350" spc="-90">
                <a:latin typeface="Arial"/>
                <a:cs typeface="Arial"/>
              </a:rPr>
              <a:t>Subsidies</a:t>
            </a:r>
            <a:endParaRPr sz="135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80"/>
              </a:spcBef>
            </a:pPr>
            <a:r>
              <a:rPr dirty="0" sz="1150" spc="-85">
                <a:latin typeface="Arial"/>
                <a:cs typeface="Arial"/>
              </a:rPr>
              <a:t>Concessions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provided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by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country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producers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order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protect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economy.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1750" spc="-195" b="1">
                <a:latin typeface="Arial"/>
                <a:cs typeface="Arial"/>
              </a:rPr>
              <a:t>Business</a:t>
            </a:r>
            <a:r>
              <a:rPr dirty="0" sz="1750" spc="-95" b="1">
                <a:latin typeface="Arial"/>
                <a:cs typeface="Arial"/>
              </a:rPr>
              <a:t> </a:t>
            </a:r>
            <a:r>
              <a:rPr dirty="0" sz="1750" spc="-170" b="1">
                <a:latin typeface="Arial"/>
                <a:cs typeface="Arial"/>
              </a:rPr>
              <a:t>Ethics</a:t>
            </a:r>
            <a:endParaRPr sz="1750">
              <a:latin typeface="Arial"/>
              <a:cs typeface="Arial"/>
            </a:endParaRPr>
          </a:p>
          <a:p>
            <a:pPr marL="355600" marR="6350" indent="-342900">
              <a:lnSpc>
                <a:spcPct val="101699"/>
              </a:lnSpc>
              <a:spcBef>
                <a:spcPts val="720"/>
              </a:spcBef>
            </a:pPr>
            <a:r>
              <a:rPr dirty="0" sz="1150" spc="-70">
                <a:latin typeface="Arial"/>
                <a:cs typeface="Arial"/>
              </a:rPr>
              <a:t>Ethics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70">
                <a:latin typeface="Arial"/>
                <a:cs typeface="Arial"/>
              </a:rPr>
              <a:t>basic </a:t>
            </a:r>
            <a:r>
              <a:rPr dirty="0" sz="1150" spc="-40">
                <a:latin typeface="Arial"/>
                <a:cs typeface="Arial"/>
              </a:rPr>
              <a:t>beliefs,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decides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pursue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implement </a:t>
            </a:r>
            <a:r>
              <a:rPr dirty="0" sz="1150" spc="-35">
                <a:latin typeface="Arial"/>
                <a:cs typeface="Arial"/>
              </a:rPr>
              <a:t>during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course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30">
                <a:latin typeface="Arial"/>
                <a:cs typeface="Arial"/>
              </a:rPr>
              <a:t>action.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60">
                <a:latin typeface="Arial"/>
                <a:cs typeface="Arial"/>
              </a:rPr>
              <a:t>Ethical</a:t>
            </a:r>
            <a:r>
              <a:rPr dirty="0" sz="1350" spc="-80">
                <a:latin typeface="Arial"/>
                <a:cs typeface="Arial"/>
              </a:rPr>
              <a:t> </a:t>
            </a:r>
            <a:r>
              <a:rPr dirty="0" sz="1350" spc="-65">
                <a:latin typeface="Arial"/>
                <a:cs typeface="Arial"/>
              </a:rPr>
              <a:t>Behavior</a:t>
            </a:r>
            <a:endParaRPr sz="13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65">
                <a:latin typeface="Arial"/>
                <a:cs typeface="Arial"/>
              </a:rPr>
              <a:t>system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5">
                <a:latin typeface="Arial"/>
                <a:cs typeface="Arial"/>
              </a:rPr>
              <a:t>confirms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beliefs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society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being </a:t>
            </a:r>
            <a:r>
              <a:rPr dirty="0" sz="1150" spc="-25">
                <a:latin typeface="Arial"/>
                <a:cs typeface="Arial"/>
              </a:rPr>
              <a:t>run </a:t>
            </a:r>
            <a:r>
              <a:rPr dirty="0" sz="1150" spc="-5">
                <a:latin typeface="Arial"/>
                <a:cs typeface="Arial"/>
              </a:rPr>
              <a:t>within that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system.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45">
                <a:latin typeface="Arial"/>
                <a:cs typeface="Arial"/>
              </a:rPr>
              <a:t>Corporate </a:t>
            </a:r>
            <a:r>
              <a:rPr dirty="0" sz="1150" spc="-55">
                <a:latin typeface="Arial"/>
                <a:cs typeface="Arial"/>
              </a:rPr>
              <a:t>Citizenship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practice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30">
                <a:latin typeface="Arial"/>
                <a:cs typeface="Arial"/>
              </a:rPr>
              <a:t>confirmed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society.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har char=""/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00" b="1">
                <a:latin typeface="Arial"/>
                <a:cs typeface="Arial"/>
              </a:rPr>
              <a:t>Ethical Behavior </a:t>
            </a:r>
            <a:r>
              <a:rPr dirty="0" sz="1350" spc="-80" b="1">
                <a:latin typeface="Arial"/>
                <a:cs typeface="Arial"/>
              </a:rPr>
              <a:t>in </a:t>
            </a:r>
            <a:r>
              <a:rPr dirty="0" sz="1350" spc="-75" b="1">
                <a:latin typeface="Arial"/>
                <a:cs typeface="Arial"/>
              </a:rPr>
              <a:t>Managerial </a:t>
            </a:r>
            <a:r>
              <a:rPr dirty="0" sz="1350" spc="-114" b="1">
                <a:latin typeface="Arial"/>
                <a:cs typeface="Arial"/>
              </a:rPr>
              <a:t>Practices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includes: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50">
                <a:latin typeface="Arial"/>
                <a:cs typeface="Arial"/>
              </a:rPr>
              <a:t>Responsibility </a:t>
            </a:r>
            <a:r>
              <a:rPr dirty="0" sz="1150" spc="-35">
                <a:latin typeface="Arial"/>
                <a:cs typeface="Arial"/>
              </a:rPr>
              <a:t>towards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employees.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73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50">
                <a:latin typeface="Arial"/>
                <a:cs typeface="Arial"/>
              </a:rPr>
              <a:t>Relationship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organizations.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25">
                <a:latin typeface="Arial"/>
                <a:cs typeface="Arial"/>
              </a:rPr>
              <a:t>Interaction </a:t>
            </a:r>
            <a:r>
              <a:rPr dirty="0" sz="1150" spc="5">
                <a:latin typeface="Arial"/>
                <a:cs typeface="Arial"/>
              </a:rPr>
              <a:t>with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Government.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74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85">
                <a:latin typeface="Arial"/>
                <a:cs typeface="Arial"/>
              </a:rPr>
              <a:t>Plans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initiate </a:t>
            </a:r>
            <a:r>
              <a:rPr dirty="0" sz="1150" spc="-30">
                <a:latin typeface="Arial"/>
                <a:cs typeface="Arial"/>
              </a:rPr>
              <a:t>ethical </a:t>
            </a:r>
            <a:r>
              <a:rPr dirty="0" sz="1150" spc="-40">
                <a:latin typeface="Arial"/>
                <a:cs typeface="Arial"/>
              </a:rPr>
              <a:t>behavior </a:t>
            </a:r>
            <a:r>
              <a:rPr dirty="0" sz="1150" spc="-35">
                <a:latin typeface="Arial"/>
                <a:cs typeface="Arial"/>
              </a:rPr>
              <a:t>towards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people.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initiate </a:t>
            </a:r>
            <a:r>
              <a:rPr dirty="0" sz="1150" spc="-30">
                <a:latin typeface="Arial"/>
                <a:cs typeface="Arial"/>
              </a:rPr>
              <a:t>ethical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programs.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90" b="1">
                <a:latin typeface="Arial"/>
                <a:cs typeface="Arial"/>
              </a:rPr>
              <a:t>Corporate </a:t>
            </a:r>
            <a:r>
              <a:rPr dirty="0" sz="1350" spc="-125" b="1">
                <a:latin typeface="Arial"/>
                <a:cs typeface="Arial"/>
              </a:rPr>
              <a:t>Social</a:t>
            </a:r>
            <a:r>
              <a:rPr dirty="0" sz="1350" spc="-65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Responsibilities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think </a:t>
            </a:r>
            <a:r>
              <a:rPr dirty="0" sz="1150" spc="-30">
                <a:latin typeface="Arial"/>
                <a:cs typeface="Arial"/>
              </a:rPr>
              <a:t>about benefiting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avoid </a:t>
            </a:r>
            <a:r>
              <a:rPr dirty="0" sz="1150" spc="-25">
                <a:latin typeface="Arial"/>
                <a:cs typeface="Arial"/>
              </a:rPr>
              <a:t>harmful </a:t>
            </a:r>
            <a:r>
              <a:rPr dirty="0" sz="1150" spc="-30">
                <a:latin typeface="Arial"/>
                <a:cs typeface="Arial"/>
              </a:rPr>
              <a:t>activities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  Corporate </a:t>
            </a:r>
            <a:r>
              <a:rPr dirty="0" sz="1150" spc="-75">
                <a:latin typeface="Arial"/>
                <a:cs typeface="Arial"/>
              </a:rPr>
              <a:t>Social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Responsibilities.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150" spc="-90">
                <a:latin typeface="Arial"/>
                <a:cs typeface="Arial"/>
              </a:rPr>
              <a:t>These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include: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74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50">
                <a:latin typeface="Arial"/>
                <a:cs typeface="Arial"/>
              </a:rPr>
              <a:t>Ethical </a:t>
            </a:r>
            <a:r>
              <a:rPr dirty="0" sz="1150" spc="-10">
                <a:latin typeface="Arial"/>
                <a:cs typeface="Arial"/>
              </a:rPr>
              <a:t>attitude </a:t>
            </a:r>
            <a:r>
              <a:rPr dirty="0" sz="1150" spc="-35">
                <a:latin typeface="Arial"/>
                <a:cs typeface="Arial"/>
              </a:rPr>
              <a:t>towards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customers.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60">
                <a:latin typeface="Arial"/>
                <a:cs typeface="Arial"/>
              </a:rPr>
              <a:t>Dealing </a:t>
            </a:r>
            <a:r>
              <a:rPr dirty="0" sz="1150" spc="5">
                <a:latin typeface="Arial"/>
                <a:cs typeface="Arial"/>
              </a:rPr>
              <a:t>with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employees.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73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50">
                <a:latin typeface="Arial"/>
                <a:cs typeface="Arial"/>
              </a:rPr>
              <a:t>Ethical </a:t>
            </a:r>
            <a:r>
              <a:rPr dirty="0" sz="1150" spc="-40">
                <a:latin typeface="Arial"/>
                <a:cs typeface="Arial"/>
              </a:rPr>
              <a:t>communication </a:t>
            </a:r>
            <a:r>
              <a:rPr dirty="0" sz="1150">
                <a:latin typeface="Arial"/>
                <a:cs typeface="Arial"/>
              </a:rPr>
              <a:t>with </a:t>
            </a:r>
            <a:r>
              <a:rPr dirty="0" sz="1150" spc="-45">
                <a:latin typeface="Arial"/>
                <a:cs typeface="Arial"/>
              </a:rPr>
              <a:t>Government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local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bodies.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1125">
              <a:lnSpc>
                <a:spcPts val="1355"/>
              </a:lnSpc>
            </a:pPr>
            <a:r>
              <a:rPr dirty="0" spc="-5"/>
              <a:t>92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901703"/>
            <a:ext cx="3274695" cy="765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7100" indent="-229235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50">
                <a:latin typeface="Arial"/>
                <a:cs typeface="Arial"/>
              </a:rPr>
              <a:t>Ethical </a:t>
            </a:r>
            <a:r>
              <a:rPr dirty="0" sz="1150" spc="-40">
                <a:latin typeface="Arial"/>
                <a:cs typeface="Arial"/>
              </a:rPr>
              <a:t>behavior </a:t>
            </a:r>
            <a:r>
              <a:rPr dirty="0" sz="1150" spc="-35">
                <a:latin typeface="Arial"/>
                <a:cs typeface="Arial"/>
              </a:rPr>
              <a:t>towards </a:t>
            </a:r>
            <a:r>
              <a:rPr dirty="0" sz="1150" spc="-55">
                <a:latin typeface="Arial"/>
                <a:cs typeface="Arial"/>
              </a:rPr>
              <a:t>stake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holders.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u="heavy" sz="1350" spc="-114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Study</a:t>
            </a:r>
            <a:r>
              <a:rPr dirty="0" u="heavy" sz="1350" spc="-7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350" spc="-1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Link: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u="sng" sz="1150" spc="-3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www.absoluteastronomy.com/topics/Free_trade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93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26743" y="1820675"/>
            <a:ext cx="3515360" cy="83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14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280" b="1">
                <a:latin typeface="Arial"/>
                <a:cs typeface="Arial"/>
              </a:rPr>
              <a:t>STAKE</a:t>
            </a:r>
            <a:r>
              <a:rPr dirty="0" sz="1750" spc="-100" b="1">
                <a:latin typeface="Arial"/>
                <a:cs typeface="Arial"/>
              </a:rPr>
              <a:t> </a:t>
            </a:r>
            <a:r>
              <a:rPr dirty="0" sz="1750" spc="-254" b="1">
                <a:latin typeface="Arial"/>
                <a:cs typeface="Arial"/>
              </a:rPr>
              <a:t>HOLDERS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0288" y="2616055"/>
            <a:ext cx="5512435" cy="78676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350" spc="-25">
                <a:latin typeface="Arial"/>
                <a:cs typeface="Arial"/>
              </a:rPr>
              <a:t>Definition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  <a:spcBef>
                <a:spcPts val="700"/>
              </a:spcBef>
            </a:pPr>
            <a:r>
              <a:rPr dirty="0" sz="1150" spc="-65">
                <a:latin typeface="Arial"/>
                <a:cs typeface="Arial"/>
              </a:rPr>
              <a:t>People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interested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35">
                <a:latin typeface="Arial"/>
                <a:cs typeface="Arial"/>
              </a:rPr>
              <a:t>affairs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one way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15">
                <a:latin typeface="Arial"/>
                <a:cs typeface="Arial"/>
              </a:rPr>
              <a:t>the other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called  stakeholders.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0288" y="3465070"/>
            <a:ext cx="201422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120">
                <a:latin typeface="Arial"/>
                <a:cs typeface="Arial"/>
              </a:rPr>
              <a:t>Stake </a:t>
            </a:r>
            <a:r>
              <a:rPr dirty="0" sz="1750" spc="-60">
                <a:latin typeface="Arial"/>
                <a:cs typeface="Arial"/>
              </a:rPr>
              <a:t>holders</a:t>
            </a:r>
            <a:r>
              <a:rPr dirty="0" sz="1750" spc="-125">
                <a:latin typeface="Arial"/>
                <a:cs typeface="Arial"/>
              </a:rPr>
              <a:t> </a:t>
            </a:r>
            <a:r>
              <a:rPr dirty="0" sz="1750" spc="-55">
                <a:latin typeface="Arial"/>
                <a:cs typeface="Arial"/>
              </a:rPr>
              <a:t>include:</a:t>
            </a:r>
            <a:endParaRPr sz="17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6097" y="3735123"/>
            <a:ext cx="1163320" cy="163957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840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50" spc="-65">
                <a:latin typeface="Arial"/>
                <a:cs typeface="Arial"/>
              </a:rPr>
              <a:t>Customers</a:t>
            </a:r>
            <a:endParaRPr sz="115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745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50" spc="-75">
                <a:latin typeface="Arial"/>
                <a:cs typeface="Arial"/>
              </a:rPr>
              <a:t>Employees</a:t>
            </a:r>
            <a:endParaRPr sz="115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735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50" spc="-60">
                <a:latin typeface="Arial"/>
                <a:cs typeface="Arial"/>
              </a:rPr>
              <a:t>Suppliers</a:t>
            </a:r>
            <a:endParaRPr sz="115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50" spc="-75">
                <a:latin typeface="Arial"/>
                <a:cs typeface="Arial"/>
              </a:rPr>
              <a:t>Bankers</a:t>
            </a:r>
            <a:endParaRPr sz="115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50" spc="-45">
                <a:latin typeface="Arial"/>
                <a:cs typeface="Arial"/>
              </a:rPr>
              <a:t>Government</a:t>
            </a:r>
            <a:endParaRPr sz="115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745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50" spc="-60">
                <a:latin typeface="Arial"/>
                <a:cs typeface="Arial"/>
              </a:rPr>
              <a:t>Society </a:t>
            </a:r>
            <a:r>
              <a:rPr dirty="0" sz="1150" spc="-15">
                <a:latin typeface="Arial"/>
                <a:cs typeface="Arial"/>
              </a:rPr>
              <a:t>at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large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0302" y="5528870"/>
            <a:ext cx="2181860" cy="74168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1750" spc="-235">
                <a:latin typeface="Arial"/>
                <a:cs typeface="Arial"/>
              </a:rPr>
              <a:t>RIGHTS OF</a:t>
            </a:r>
            <a:r>
              <a:rPr dirty="0" sz="1750" spc="-240">
                <a:latin typeface="Arial"/>
                <a:cs typeface="Arial"/>
              </a:rPr>
              <a:t> </a:t>
            </a:r>
            <a:r>
              <a:rPr dirty="0" sz="1750" spc="-250">
                <a:latin typeface="Arial"/>
                <a:cs typeface="Arial"/>
              </a:rPr>
              <a:t>CUSTOMERS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750" spc="-100">
                <a:latin typeface="Arial"/>
                <a:cs typeface="Arial"/>
              </a:rPr>
              <a:t>Consumerism</a:t>
            </a:r>
            <a:endParaRPr sz="17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8901" y="6245149"/>
            <a:ext cx="4040504" cy="84836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880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50" spc="-35">
                <a:latin typeface="Arial"/>
                <a:cs typeface="Arial"/>
              </a:rPr>
              <a:t>Protecting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rights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customers</a:t>
            </a:r>
            <a:endParaRPr sz="115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get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up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expectations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customers</a:t>
            </a:r>
            <a:endParaRPr sz="115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50" spc="-55">
                <a:latin typeface="Arial"/>
                <a:cs typeface="Arial"/>
              </a:rPr>
              <a:t>Customer</a:t>
            </a:r>
            <a:r>
              <a:rPr dirty="0" sz="1150" spc="-65">
                <a:latin typeface="Arial"/>
                <a:cs typeface="Arial"/>
              </a:rPr>
              <a:t> Safety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08023" y="7154673"/>
            <a:ext cx="284099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85">
                <a:latin typeface="Arial"/>
                <a:cs typeface="Arial"/>
              </a:rPr>
              <a:t>Right </a:t>
            </a:r>
            <a:r>
              <a:rPr dirty="0" sz="1750" spc="20">
                <a:latin typeface="Arial"/>
                <a:cs typeface="Arial"/>
              </a:rPr>
              <a:t>to </a:t>
            </a:r>
            <a:r>
              <a:rPr dirty="0" sz="1750" spc="-55">
                <a:latin typeface="Arial"/>
                <a:cs typeface="Arial"/>
              </a:rPr>
              <a:t>get </a:t>
            </a:r>
            <a:r>
              <a:rPr dirty="0" sz="1750" spc="-25">
                <a:latin typeface="Arial"/>
                <a:cs typeface="Arial"/>
              </a:rPr>
              <a:t>information</a:t>
            </a:r>
            <a:r>
              <a:rPr dirty="0" sz="1750" spc="-265">
                <a:latin typeface="Arial"/>
                <a:cs typeface="Arial"/>
              </a:rPr>
              <a:t> </a:t>
            </a:r>
            <a:r>
              <a:rPr dirty="0" sz="1750" spc="-40">
                <a:latin typeface="Arial"/>
                <a:cs typeface="Arial"/>
              </a:rPr>
              <a:t>about:</a:t>
            </a:r>
            <a:endParaRPr sz="17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16082" y="7427773"/>
            <a:ext cx="1813560" cy="163639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830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50" spc="-45">
                <a:latin typeface="Arial"/>
                <a:cs typeface="Arial"/>
              </a:rPr>
              <a:t>Product</a:t>
            </a:r>
            <a:endParaRPr sz="115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50" spc="-55">
                <a:latin typeface="Arial"/>
                <a:cs typeface="Arial"/>
              </a:rPr>
              <a:t>Supplier</a:t>
            </a:r>
            <a:endParaRPr sz="115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745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50" spc="-80">
                <a:latin typeface="Arial"/>
                <a:cs typeface="Arial"/>
              </a:rPr>
              <a:t>System</a:t>
            </a:r>
            <a:endParaRPr sz="115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735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50" spc="-60">
                <a:latin typeface="Arial"/>
                <a:cs typeface="Arial"/>
              </a:rPr>
              <a:t>Procedures</a:t>
            </a:r>
            <a:endParaRPr sz="115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50" spc="-70">
                <a:latin typeface="Arial"/>
                <a:cs typeface="Arial"/>
              </a:rPr>
              <a:t>Standards</a:t>
            </a:r>
            <a:endParaRPr sz="115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150" spc="-45">
                <a:latin typeface="Arial"/>
                <a:cs typeface="Arial"/>
              </a:rPr>
              <a:t>Ingredients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09044"/>
            <a:ext cx="5514340" cy="791210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927100" indent="-229235">
              <a:lnSpc>
                <a:spcPct val="100000"/>
              </a:lnSpc>
              <a:spcBef>
                <a:spcPts val="830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45">
                <a:latin typeface="Arial"/>
                <a:cs typeface="Arial"/>
              </a:rPr>
              <a:t>Origin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15">
                <a:latin typeface="Arial"/>
                <a:cs typeface="Arial"/>
              </a:rPr>
              <a:t>Method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manufacturing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35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35">
                <a:latin typeface="Arial"/>
                <a:cs typeface="Arial"/>
              </a:rPr>
              <a:t>Quality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standards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90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60">
                <a:latin typeface="Arial"/>
                <a:cs typeface="Arial"/>
              </a:rPr>
              <a:t>Right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heard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60">
                <a:latin typeface="Arial"/>
                <a:cs typeface="Arial"/>
              </a:rPr>
              <a:t>Right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choose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35">
                <a:latin typeface="Arial"/>
                <a:cs typeface="Arial"/>
              </a:rPr>
              <a:t>Quality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Service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05" b="1">
                <a:latin typeface="Arial"/>
                <a:cs typeface="Arial"/>
              </a:rPr>
              <a:t>Responsibilities </a:t>
            </a:r>
            <a:r>
              <a:rPr dirty="0" sz="1350" spc="-60" b="1">
                <a:latin typeface="Arial"/>
                <a:cs typeface="Arial"/>
              </a:rPr>
              <a:t>of the </a:t>
            </a:r>
            <a:r>
              <a:rPr dirty="0" sz="1350" spc="-90" b="1">
                <a:latin typeface="Arial"/>
                <a:cs typeface="Arial"/>
              </a:rPr>
              <a:t>Organization </a:t>
            </a:r>
            <a:r>
              <a:rPr dirty="0" sz="1350" spc="-85" b="1">
                <a:latin typeface="Arial"/>
                <a:cs typeface="Arial"/>
              </a:rPr>
              <a:t>towards</a:t>
            </a:r>
            <a:r>
              <a:rPr dirty="0" sz="1350" spc="-40" b="1">
                <a:latin typeface="Arial"/>
                <a:cs typeface="Arial"/>
              </a:rPr>
              <a:t> </a:t>
            </a:r>
            <a:r>
              <a:rPr dirty="0" sz="1350" spc="-95" b="1">
                <a:latin typeface="Arial"/>
                <a:cs typeface="Arial"/>
              </a:rPr>
              <a:t>Environment</a:t>
            </a:r>
            <a:endParaRPr sz="13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79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75">
                <a:latin typeface="Arial"/>
                <a:cs typeface="Arial"/>
              </a:rPr>
              <a:t>Reprocessing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waste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water.</a:t>
            </a:r>
            <a:endParaRPr sz="11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75">
                <a:latin typeface="Arial"/>
                <a:cs typeface="Arial"/>
              </a:rPr>
              <a:t>Recycling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waste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material.</a:t>
            </a:r>
            <a:endParaRPr sz="11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75">
                <a:latin typeface="Arial"/>
                <a:cs typeface="Arial"/>
              </a:rPr>
              <a:t>Processing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smoke.</a:t>
            </a:r>
            <a:endParaRPr sz="11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75">
                <a:latin typeface="Arial"/>
                <a:cs typeface="Arial"/>
              </a:rPr>
              <a:t>Reprocessing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heat.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8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30" b="1">
                <a:latin typeface="Arial"/>
                <a:cs typeface="Arial"/>
              </a:rPr>
              <a:t>Ethics </a:t>
            </a:r>
            <a:r>
              <a:rPr dirty="0" sz="1350" spc="-60" b="1">
                <a:latin typeface="Arial"/>
                <a:cs typeface="Arial"/>
              </a:rPr>
              <a:t>for</a:t>
            </a:r>
            <a:r>
              <a:rPr dirty="0" sz="1350" spc="-20" b="1">
                <a:latin typeface="Arial"/>
                <a:cs typeface="Arial"/>
              </a:rPr>
              <a:t> </a:t>
            </a:r>
            <a:r>
              <a:rPr dirty="0" sz="1350" spc="-100" b="1">
                <a:latin typeface="Arial"/>
                <a:cs typeface="Arial"/>
              </a:rPr>
              <a:t>Advertising</a:t>
            </a:r>
            <a:endParaRPr sz="13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7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20">
                <a:latin typeface="Arial"/>
                <a:cs typeface="Arial"/>
              </a:rPr>
              <a:t>Truthful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Truth </a:t>
            </a:r>
            <a:r>
              <a:rPr dirty="0" sz="1150" spc="-80">
                <a:latin typeface="Arial"/>
                <a:cs typeface="Arial"/>
              </a:rPr>
              <a:t>less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Communication</a:t>
            </a:r>
            <a:endParaRPr sz="11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40">
                <a:latin typeface="Arial"/>
                <a:cs typeface="Arial"/>
              </a:rPr>
              <a:t>Objectionable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Products</a:t>
            </a:r>
            <a:endParaRPr sz="11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40">
                <a:latin typeface="Arial"/>
                <a:cs typeface="Arial"/>
              </a:rPr>
              <a:t>Objectionable</a:t>
            </a:r>
            <a:r>
              <a:rPr dirty="0" sz="1150" spc="-70">
                <a:latin typeface="Arial"/>
                <a:cs typeface="Arial"/>
              </a:rPr>
              <a:t> Appeals</a:t>
            </a:r>
            <a:endParaRPr sz="11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80">
                <a:latin typeface="Arial"/>
                <a:cs typeface="Arial"/>
              </a:rPr>
              <a:t>Fear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Factor</a:t>
            </a:r>
            <a:endParaRPr sz="11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85">
                <a:latin typeface="Arial"/>
                <a:cs typeface="Arial"/>
              </a:rPr>
              <a:t>Sexual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Connotations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40">
                <a:latin typeface="Arial"/>
                <a:cs typeface="Arial"/>
              </a:rPr>
              <a:t>Objectionable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Timings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70">
                <a:latin typeface="Arial"/>
                <a:cs typeface="Arial"/>
              </a:rPr>
              <a:t>Smoking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65">
                <a:latin typeface="Arial"/>
                <a:cs typeface="Arial"/>
              </a:rPr>
              <a:t>Selling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underage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customers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85">
                <a:latin typeface="Arial"/>
                <a:cs typeface="Arial"/>
              </a:rPr>
              <a:t>Legal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Commitments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40">
                <a:latin typeface="Arial"/>
                <a:cs typeface="Arial"/>
              </a:rPr>
              <a:t>Discriminations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45">
                <a:latin typeface="Arial"/>
                <a:cs typeface="Arial"/>
              </a:rPr>
              <a:t>Health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Safety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Employees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75" b="1">
                <a:latin typeface="Arial"/>
                <a:cs typeface="Arial"/>
              </a:rPr>
              <a:t>Whistle</a:t>
            </a:r>
            <a:r>
              <a:rPr dirty="0" sz="1350" spc="-65" b="1">
                <a:latin typeface="Arial"/>
                <a:cs typeface="Arial"/>
              </a:rPr>
              <a:t> </a:t>
            </a:r>
            <a:r>
              <a:rPr dirty="0" sz="1350" spc="-110" b="1">
                <a:latin typeface="Arial"/>
                <a:cs typeface="Arial"/>
              </a:rPr>
              <a:t>Blowers</a:t>
            </a:r>
            <a:endParaRPr sz="1350">
              <a:latin typeface="Arial"/>
              <a:cs typeface="Arial"/>
            </a:endParaRPr>
          </a:p>
          <a:p>
            <a:pPr algn="just" marL="12700" marR="5080">
              <a:lnSpc>
                <a:spcPct val="101400"/>
              </a:lnSpc>
              <a:spcBef>
                <a:spcPts val="675"/>
              </a:spcBef>
            </a:pPr>
            <a:r>
              <a:rPr dirty="0" sz="1150" spc="-35">
                <a:latin typeface="Arial"/>
                <a:cs typeface="Arial"/>
              </a:rPr>
              <a:t>Whistle </a:t>
            </a:r>
            <a:r>
              <a:rPr dirty="0" sz="1150" spc="-55">
                <a:latin typeface="Arial"/>
                <a:cs typeface="Arial"/>
              </a:rPr>
              <a:t>Blowers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95">
                <a:latin typeface="Arial"/>
                <a:cs typeface="Arial"/>
              </a:rPr>
              <a:t>see </a:t>
            </a:r>
            <a:r>
              <a:rPr dirty="0" sz="1150" spc="-30">
                <a:latin typeface="Arial"/>
                <a:cs typeface="Arial"/>
              </a:rPr>
              <a:t>irregularities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bring </a:t>
            </a:r>
            <a:r>
              <a:rPr dirty="0" sz="1150" spc="-20">
                <a:latin typeface="Arial"/>
                <a:cs typeface="Arial"/>
              </a:rPr>
              <a:t>them in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knowledge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management. </a:t>
            </a:r>
            <a:r>
              <a:rPr dirty="0" sz="1150" spc="-40">
                <a:latin typeface="Arial"/>
                <a:cs typeface="Arial"/>
              </a:rPr>
              <a:t>Although </a:t>
            </a:r>
            <a:r>
              <a:rPr dirty="0" sz="1150" spc="-50">
                <a:latin typeface="Arial"/>
                <a:cs typeface="Arial"/>
              </a:rPr>
              <a:t>these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35">
                <a:latin typeface="Arial"/>
                <a:cs typeface="Arial"/>
              </a:rPr>
              <a:t>bring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account </a:t>
            </a:r>
            <a:r>
              <a:rPr dirty="0" sz="1150" spc="-35">
                <a:latin typeface="Arial"/>
                <a:cs typeface="Arial"/>
              </a:rPr>
              <a:t>positive </a:t>
            </a:r>
            <a:r>
              <a:rPr dirty="0" sz="1150" spc="-45">
                <a:latin typeface="Arial"/>
                <a:cs typeface="Arial"/>
              </a:rPr>
              <a:t>actions </a:t>
            </a:r>
            <a:r>
              <a:rPr dirty="0" sz="1150" spc="-30">
                <a:latin typeface="Arial"/>
                <a:cs typeface="Arial"/>
              </a:rPr>
              <a:t>required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 </a:t>
            </a:r>
            <a:r>
              <a:rPr dirty="0" sz="1150" spc="-40">
                <a:latin typeface="Arial"/>
                <a:cs typeface="Arial"/>
              </a:rPr>
              <a:t>taken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account by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management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65">
                <a:latin typeface="Arial"/>
                <a:cs typeface="Arial"/>
              </a:rPr>
              <a:t>even </a:t>
            </a:r>
            <a:r>
              <a:rPr dirty="0" sz="1150" spc="-25">
                <a:latin typeface="Arial"/>
                <a:cs typeface="Arial"/>
              </a:rPr>
              <a:t>then </a:t>
            </a:r>
            <a:r>
              <a:rPr dirty="0" sz="1150" spc="-30">
                <a:latin typeface="Arial"/>
                <a:cs typeface="Arial"/>
              </a:rPr>
              <a:t>most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times, </a:t>
            </a:r>
            <a:r>
              <a:rPr dirty="0" sz="1150" spc="-45">
                <a:latin typeface="Arial"/>
                <a:cs typeface="Arial"/>
              </a:rPr>
              <a:t>organizations  never </a:t>
            </a:r>
            <a:r>
              <a:rPr dirty="0" sz="1150" spc="-30">
                <a:latin typeface="Arial"/>
                <a:cs typeface="Arial"/>
              </a:rPr>
              <a:t>liked </a:t>
            </a:r>
            <a:r>
              <a:rPr dirty="0" sz="1150" spc="-50">
                <a:latin typeface="Arial"/>
                <a:cs typeface="Arial"/>
              </a:rPr>
              <a:t>these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persons.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94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786003"/>
            <a:ext cx="4883785" cy="7048500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1350" spc="-75" b="1">
                <a:latin typeface="Arial"/>
                <a:cs typeface="Arial"/>
              </a:rPr>
              <a:t>Management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1150" spc="-40">
                <a:latin typeface="Arial"/>
                <a:cs typeface="Arial"/>
              </a:rPr>
              <a:t>Getting </a:t>
            </a:r>
            <a:r>
              <a:rPr dirty="0" sz="1150" spc="-45">
                <a:latin typeface="Arial"/>
                <a:cs typeface="Arial"/>
              </a:rPr>
              <a:t>things done </a:t>
            </a:r>
            <a:r>
              <a:rPr dirty="0" sz="1150" spc="-25">
                <a:latin typeface="Arial"/>
                <a:cs typeface="Arial"/>
              </a:rPr>
              <a:t>through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others.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75" b="1">
                <a:latin typeface="Arial"/>
                <a:cs typeface="Arial"/>
              </a:rPr>
              <a:t>Manager</a:t>
            </a:r>
            <a:endParaRPr sz="135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9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50">
                <a:latin typeface="Arial"/>
                <a:cs typeface="Arial"/>
              </a:rPr>
              <a:t>practices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functions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achieve </a:t>
            </a:r>
            <a:r>
              <a:rPr dirty="0" sz="1150" spc="-55">
                <a:latin typeface="Arial"/>
                <a:cs typeface="Arial"/>
              </a:rPr>
              <a:t>management’s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objectives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350" spc="-114" b="1">
                <a:latin typeface="Arial"/>
                <a:cs typeface="Arial"/>
              </a:rPr>
              <a:t>Functions </a:t>
            </a:r>
            <a:r>
              <a:rPr dirty="0" sz="1350" spc="-65" b="1">
                <a:latin typeface="Arial"/>
                <a:cs typeface="Arial"/>
              </a:rPr>
              <a:t>of</a:t>
            </a:r>
            <a:r>
              <a:rPr dirty="0" sz="1350" spc="-40" b="1">
                <a:latin typeface="Arial"/>
                <a:cs typeface="Arial"/>
              </a:rPr>
              <a:t> </a:t>
            </a:r>
            <a:r>
              <a:rPr dirty="0" sz="1350" spc="-95" b="1">
                <a:latin typeface="Arial"/>
                <a:cs typeface="Arial"/>
              </a:rPr>
              <a:t>Managers</a:t>
            </a:r>
            <a:endParaRPr sz="13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9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60">
                <a:latin typeface="Arial"/>
                <a:cs typeface="Arial"/>
              </a:rPr>
              <a:t>Planning</a:t>
            </a:r>
            <a:endParaRPr sz="115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dirty="0" sz="1150" spc="-55">
                <a:latin typeface="Arial"/>
                <a:cs typeface="Arial"/>
              </a:rPr>
              <a:t>Thinking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future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9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65">
                <a:latin typeface="Arial"/>
                <a:cs typeface="Arial"/>
              </a:rPr>
              <a:t>Organizing</a:t>
            </a:r>
            <a:endParaRPr sz="1150">
              <a:latin typeface="Arial"/>
              <a:cs typeface="Arial"/>
            </a:endParaRPr>
          </a:p>
          <a:p>
            <a:pPr marL="469900" marR="1370965">
              <a:lnSpc>
                <a:spcPct val="148700"/>
              </a:lnSpc>
            </a:pPr>
            <a:r>
              <a:rPr dirty="0" sz="1150" spc="-60">
                <a:latin typeface="Arial"/>
                <a:cs typeface="Arial"/>
              </a:rPr>
              <a:t>Decision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35">
                <a:latin typeface="Arial"/>
                <a:cs typeface="Arial"/>
              </a:rPr>
              <a:t>activities </a:t>
            </a:r>
            <a:r>
              <a:rPr dirty="0" sz="1150" spc="-30">
                <a:latin typeface="Arial"/>
                <a:cs typeface="Arial"/>
              </a:rPr>
              <a:t>performed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workers  </a:t>
            </a:r>
            <a:r>
              <a:rPr dirty="0" sz="1150" spc="-50">
                <a:latin typeface="Arial"/>
                <a:cs typeface="Arial"/>
              </a:rPr>
              <a:t>1.Grouping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activities</a:t>
            </a:r>
            <a:endParaRPr sz="115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dirty="0" sz="1150" spc="-45">
                <a:latin typeface="Arial"/>
                <a:cs typeface="Arial"/>
              </a:rPr>
              <a:t>2.Delegation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authorities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45">
                <a:latin typeface="Arial"/>
                <a:cs typeface="Arial"/>
              </a:rPr>
              <a:t>Staffing</a:t>
            </a:r>
            <a:endParaRPr sz="115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dirty="0" sz="1150" spc="-45">
                <a:latin typeface="Arial"/>
                <a:cs typeface="Arial"/>
              </a:rPr>
              <a:t>Filling </a:t>
            </a:r>
            <a:r>
              <a:rPr dirty="0" sz="1150" spc="-5">
                <a:latin typeface="Arial"/>
                <a:cs typeface="Arial"/>
              </a:rPr>
              <a:t>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vacant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positions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40">
                <a:latin typeface="Arial"/>
                <a:cs typeface="Arial"/>
              </a:rPr>
              <a:t>Coordination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45">
                <a:latin typeface="Arial"/>
                <a:cs typeface="Arial"/>
              </a:rPr>
              <a:t>Communication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3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70">
                <a:latin typeface="Arial"/>
                <a:cs typeface="Arial"/>
              </a:rPr>
              <a:t>Receiving </a:t>
            </a:r>
            <a:r>
              <a:rPr dirty="0" sz="1150" spc="-15">
                <a:latin typeface="Arial"/>
                <a:cs typeface="Arial"/>
              </a:rPr>
              <a:t>information from </a:t>
            </a:r>
            <a:r>
              <a:rPr dirty="0" sz="1150" spc="-50">
                <a:latin typeface="Arial"/>
                <a:cs typeface="Arial"/>
              </a:rPr>
              <a:t>various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sources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75">
                <a:latin typeface="Arial"/>
                <a:cs typeface="Arial"/>
              </a:rPr>
              <a:t>Processing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information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4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50">
                <a:latin typeface="Arial"/>
                <a:cs typeface="Arial"/>
              </a:rPr>
              <a:t>Dissemination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information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25">
                <a:latin typeface="Arial"/>
                <a:cs typeface="Arial"/>
              </a:rPr>
              <a:t>Distribution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information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35">
                <a:latin typeface="Arial"/>
                <a:cs typeface="Arial"/>
              </a:rPr>
              <a:t>Conflict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handling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30">
                <a:latin typeface="Arial"/>
                <a:cs typeface="Arial"/>
              </a:rPr>
              <a:t>Negotiation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80">
                <a:latin typeface="Arial"/>
                <a:cs typeface="Arial"/>
              </a:rPr>
              <a:t>Resource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Allocation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35">
                <a:latin typeface="Arial"/>
                <a:cs typeface="Arial"/>
              </a:rPr>
              <a:t>Controlling</a:t>
            </a:r>
            <a:endParaRPr sz="1150">
              <a:latin typeface="Arial"/>
              <a:cs typeface="Arial"/>
            </a:endParaRPr>
          </a:p>
          <a:p>
            <a:pPr marL="469900" indent="-229870">
              <a:lnSpc>
                <a:spcPct val="100000"/>
              </a:lnSpc>
              <a:spcBef>
                <a:spcPts val="73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make </a:t>
            </a:r>
            <a:r>
              <a:rPr dirty="0" sz="1150" spc="-55">
                <a:latin typeface="Arial"/>
                <a:cs typeface="Arial"/>
              </a:rPr>
              <a:t>sure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moving </a:t>
            </a:r>
            <a:r>
              <a:rPr dirty="0" sz="1150" spc="-35">
                <a:latin typeface="Arial"/>
                <a:cs typeface="Arial"/>
              </a:rPr>
              <a:t>towards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right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direction.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95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681991" y="891035"/>
            <a:ext cx="4959985" cy="83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15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210" b="1">
                <a:latin typeface="Arial"/>
                <a:cs typeface="Arial"/>
              </a:rPr>
              <a:t>SETTING </a:t>
            </a:r>
            <a:r>
              <a:rPr dirty="0" sz="1750" spc="-260" b="1">
                <a:latin typeface="Arial"/>
                <a:cs typeface="Arial"/>
              </a:rPr>
              <a:t>GOALS </a:t>
            </a:r>
            <a:r>
              <a:rPr dirty="0" sz="1750" spc="-165" b="1">
                <a:latin typeface="Arial"/>
                <a:cs typeface="Arial"/>
              </a:rPr>
              <a:t>AND </a:t>
            </a:r>
            <a:r>
              <a:rPr dirty="0" sz="1750" spc="-175" b="1">
                <a:latin typeface="Arial"/>
                <a:cs typeface="Arial"/>
              </a:rPr>
              <a:t>FORMULATING</a:t>
            </a:r>
            <a:r>
              <a:rPr dirty="0" sz="1750" spc="-250" b="1">
                <a:latin typeface="Arial"/>
                <a:cs typeface="Arial"/>
              </a:rPr>
              <a:t> </a:t>
            </a:r>
            <a:r>
              <a:rPr dirty="0" sz="1750" spc="-260" b="1">
                <a:latin typeface="Arial"/>
                <a:cs typeface="Arial"/>
              </a:rPr>
              <a:t>STRATEGY</a:t>
            </a:r>
            <a:endParaRPr sz="175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96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58866" y="2125475"/>
            <a:ext cx="5285740" cy="201485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50">
                <a:latin typeface="Arial"/>
                <a:cs typeface="Arial"/>
              </a:rPr>
              <a:t>Setting </a:t>
            </a:r>
            <a:r>
              <a:rPr dirty="0" sz="1150" spc="-70">
                <a:latin typeface="Arial"/>
                <a:cs typeface="Arial"/>
              </a:rPr>
              <a:t>goals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starting </a:t>
            </a:r>
            <a:r>
              <a:rPr dirty="0" sz="1150" spc="-10">
                <a:latin typeface="Arial"/>
                <a:cs typeface="Arial"/>
              </a:rPr>
              <a:t>point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effective </a:t>
            </a:r>
            <a:r>
              <a:rPr dirty="0" sz="1150" spc="-50">
                <a:latin typeface="Arial"/>
                <a:cs typeface="Arial"/>
              </a:rPr>
              <a:t>management. </a:t>
            </a:r>
            <a:r>
              <a:rPr dirty="0" sz="1150" spc="-80">
                <a:latin typeface="Arial"/>
                <a:cs typeface="Arial"/>
              </a:rPr>
              <a:t>Every </a:t>
            </a:r>
            <a:r>
              <a:rPr dirty="0" sz="1150" spc="-70">
                <a:latin typeface="Arial"/>
                <a:cs typeface="Arial"/>
              </a:rPr>
              <a:t>business needs </a:t>
            </a:r>
            <a:r>
              <a:rPr dirty="0" sz="1150" spc="-65">
                <a:latin typeface="Arial"/>
                <a:cs typeface="Arial"/>
              </a:rPr>
              <a:t>goals,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program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5">
                <a:latin typeface="Arial"/>
                <a:cs typeface="Arial"/>
              </a:rPr>
              <a:t>guiding </a:t>
            </a:r>
            <a:r>
              <a:rPr dirty="0" sz="1150" spc="-60">
                <a:latin typeface="Arial"/>
                <a:cs typeface="Arial"/>
              </a:rPr>
              <a:t>decisions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achieve </a:t>
            </a:r>
            <a:r>
              <a:rPr dirty="0" sz="1150" spc="-45">
                <a:latin typeface="Arial"/>
                <a:cs typeface="Arial"/>
              </a:rPr>
              <a:t>those </a:t>
            </a:r>
            <a:r>
              <a:rPr dirty="0" sz="1150" spc="-75">
                <a:latin typeface="Arial"/>
                <a:cs typeface="Arial"/>
              </a:rPr>
              <a:t>goals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called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strategy. </a:t>
            </a:r>
            <a:r>
              <a:rPr dirty="0" sz="1150" spc="-110" b="1">
                <a:latin typeface="Arial"/>
                <a:cs typeface="Arial"/>
              </a:rPr>
              <a:t>Goals 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objectives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hopes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plans </a:t>
            </a:r>
            <a:r>
              <a:rPr dirty="0" sz="1150" spc="5">
                <a:latin typeface="Arial"/>
                <a:cs typeface="Arial"/>
              </a:rPr>
              <a:t>to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achieve.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210" b="1">
                <a:latin typeface="Arial"/>
                <a:cs typeface="Arial"/>
              </a:rPr>
              <a:t>TYPES </a:t>
            </a:r>
            <a:r>
              <a:rPr dirty="0" sz="1350" spc="-180" b="1">
                <a:latin typeface="Arial"/>
                <a:cs typeface="Arial"/>
              </a:rPr>
              <a:t>OF</a:t>
            </a:r>
            <a:r>
              <a:rPr dirty="0" sz="1350" spc="-90" b="1">
                <a:latin typeface="Arial"/>
                <a:cs typeface="Arial"/>
              </a:rPr>
              <a:t> </a:t>
            </a:r>
            <a:r>
              <a:rPr dirty="0" sz="1350" spc="-200" b="1">
                <a:latin typeface="Arial"/>
                <a:cs typeface="Arial"/>
              </a:rPr>
              <a:t>STRATEGY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240665" marR="5080" indent="-187960">
              <a:lnSpc>
                <a:spcPct val="101699"/>
              </a:lnSpc>
              <a:buFont typeface="Arial"/>
              <a:buAutoNum type="romanUcPeriod"/>
              <a:tabLst>
                <a:tab pos="241300" algn="l"/>
              </a:tabLst>
            </a:pPr>
            <a:r>
              <a:rPr dirty="0" sz="1150" spc="-80" b="1">
                <a:latin typeface="Arial"/>
                <a:cs typeface="Arial"/>
              </a:rPr>
              <a:t>Corporate </a:t>
            </a:r>
            <a:r>
              <a:rPr dirty="0" sz="1150" spc="-70" b="1">
                <a:latin typeface="Arial"/>
                <a:cs typeface="Arial"/>
              </a:rPr>
              <a:t>strategy</a:t>
            </a:r>
            <a:r>
              <a:rPr dirty="0" sz="1150" spc="-70">
                <a:latin typeface="Arial"/>
                <a:cs typeface="Arial"/>
              </a:rPr>
              <a:t>—Strategy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determining </a:t>
            </a:r>
            <a:r>
              <a:rPr dirty="0" sz="1150" spc="-1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firm’s </a:t>
            </a:r>
            <a:r>
              <a:rPr dirty="0" sz="1150" spc="-35">
                <a:latin typeface="Arial"/>
                <a:cs typeface="Arial"/>
              </a:rPr>
              <a:t>overall </a:t>
            </a:r>
            <a:r>
              <a:rPr dirty="0" sz="1150" spc="-10">
                <a:latin typeface="Arial"/>
                <a:cs typeface="Arial"/>
              </a:rPr>
              <a:t>attitude </a:t>
            </a:r>
            <a:r>
              <a:rPr dirty="0" sz="1150" spc="-15">
                <a:latin typeface="Arial"/>
                <a:cs typeface="Arial"/>
              </a:rPr>
              <a:t>toward  </a:t>
            </a:r>
            <a:r>
              <a:rPr dirty="0" sz="1150" spc="-20">
                <a:latin typeface="Arial"/>
                <a:cs typeface="Arial"/>
              </a:rPr>
              <a:t>growth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way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will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manage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businesses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lines.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romanUcPeriod"/>
            </a:pPr>
            <a:endParaRPr sz="1200">
              <a:latin typeface="Arial"/>
              <a:cs typeface="Arial"/>
            </a:endParaRPr>
          </a:p>
          <a:p>
            <a:pPr marL="240665" marR="8255" indent="-224154">
              <a:lnSpc>
                <a:spcPct val="101699"/>
              </a:lnSpc>
              <a:buFont typeface="Arial"/>
              <a:buAutoNum type="romanUcPeriod"/>
              <a:tabLst>
                <a:tab pos="241300" algn="l"/>
              </a:tabLst>
            </a:pPr>
            <a:r>
              <a:rPr dirty="0" sz="1150" spc="-130" b="1">
                <a:latin typeface="Arial"/>
                <a:cs typeface="Arial"/>
              </a:rPr>
              <a:t>Business </a:t>
            </a:r>
            <a:r>
              <a:rPr dirty="0" sz="1150" spc="-50" b="1">
                <a:latin typeface="Arial"/>
                <a:cs typeface="Arial"/>
              </a:rPr>
              <a:t>(or </a:t>
            </a:r>
            <a:r>
              <a:rPr dirty="0" sz="1150" spc="-65" b="1">
                <a:latin typeface="Arial"/>
                <a:cs typeface="Arial"/>
              </a:rPr>
              <a:t>competitive) </a:t>
            </a:r>
            <a:r>
              <a:rPr dirty="0" sz="1150" spc="-70" b="1">
                <a:latin typeface="Arial"/>
                <a:cs typeface="Arial"/>
              </a:rPr>
              <a:t>strategy</a:t>
            </a:r>
            <a:r>
              <a:rPr dirty="0" sz="1150" spc="-70">
                <a:latin typeface="Arial"/>
                <a:cs typeface="Arial"/>
              </a:rPr>
              <a:t>—Strategy, </a:t>
            </a:r>
            <a:r>
              <a:rPr dirty="0" sz="1150" spc="-15">
                <a:latin typeface="Arial"/>
                <a:cs typeface="Arial"/>
              </a:rPr>
              <a:t>at the </a:t>
            </a:r>
            <a:r>
              <a:rPr dirty="0" sz="1150" spc="-50">
                <a:latin typeface="Arial"/>
                <a:cs typeface="Arial"/>
              </a:rPr>
              <a:t>business-unit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5">
                <a:latin typeface="Arial"/>
                <a:cs typeface="Arial"/>
              </a:rPr>
              <a:t>product-line  </a:t>
            </a:r>
            <a:r>
              <a:rPr dirty="0" sz="1150" spc="-40">
                <a:latin typeface="Arial"/>
                <a:cs typeface="Arial"/>
              </a:rPr>
              <a:t>level, </a:t>
            </a:r>
            <a:r>
              <a:rPr dirty="0" sz="1150" spc="-50">
                <a:latin typeface="Arial"/>
                <a:cs typeface="Arial"/>
              </a:rPr>
              <a:t>focusing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firm’s </a:t>
            </a:r>
            <a:r>
              <a:rPr dirty="0" sz="1150" spc="-25">
                <a:latin typeface="Arial"/>
                <a:cs typeface="Arial"/>
              </a:rPr>
              <a:t>competitive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position.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5318" y="4295650"/>
            <a:ext cx="17208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35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87443" y="4295650"/>
            <a:ext cx="5056505" cy="3797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85" b="1">
                <a:latin typeface="Arial"/>
                <a:cs typeface="Arial"/>
              </a:rPr>
              <a:t>Functional </a:t>
            </a:r>
            <a:r>
              <a:rPr dirty="0" sz="1150" spc="-70" b="1">
                <a:latin typeface="Arial"/>
                <a:cs typeface="Arial"/>
              </a:rPr>
              <a:t>strategy</a:t>
            </a:r>
            <a:r>
              <a:rPr dirty="0" sz="1150" spc="-70">
                <a:latin typeface="Arial"/>
                <a:cs typeface="Arial"/>
              </a:rPr>
              <a:t>—Strategy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1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specific </a:t>
            </a:r>
            <a:r>
              <a:rPr dirty="0" sz="1150" spc="-75">
                <a:latin typeface="Arial"/>
                <a:cs typeface="Arial"/>
              </a:rPr>
              <a:t>areas </a:t>
            </a:r>
            <a:r>
              <a:rPr dirty="0" sz="1150" spc="-55">
                <a:latin typeface="Arial"/>
                <a:cs typeface="Arial"/>
              </a:rPr>
              <a:t>decide </a:t>
            </a:r>
            <a:r>
              <a:rPr dirty="0" sz="1150" spc="-35">
                <a:latin typeface="Arial"/>
                <a:cs typeface="Arial"/>
              </a:rPr>
              <a:t>how </a:t>
            </a:r>
            <a:r>
              <a:rPr dirty="0" sz="1150" spc="-45">
                <a:latin typeface="Arial"/>
                <a:cs typeface="Arial"/>
              </a:rPr>
              <a:t>best 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achieve </a:t>
            </a:r>
            <a:r>
              <a:rPr dirty="0" sz="1150" spc="-30">
                <a:latin typeface="Arial"/>
                <a:cs typeface="Arial"/>
              </a:rPr>
              <a:t>corporate </a:t>
            </a:r>
            <a:r>
              <a:rPr dirty="0" sz="1150" spc="-75">
                <a:latin typeface="Arial"/>
                <a:cs typeface="Arial"/>
              </a:rPr>
              <a:t>goals </a:t>
            </a:r>
            <a:r>
              <a:rPr dirty="0" sz="1150" spc="-25">
                <a:latin typeface="Arial"/>
                <a:cs typeface="Arial"/>
              </a:rPr>
              <a:t>through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productivity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0217" y="4830574"/>
            <a:ext cx="5514340" cy="42475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5"/>
              </a:spcBef>
            </a:pPr>
            <a:r>
              <a:rPr dirty="0" sz="1350" spc="-160" b="1">
                <a:latin typeface="Arial"/>
                <a:cs typeface="Arial"/>
              </a:rPr>
              <a:t>SETTING </a:t>
            </a:r>
            <a:r>
              <a:rPr dirty="0" sz="1350" spc="-185" b="1">
                <a:latin typeface="Arial"/>
                <a:cs typeface="Arial"/>
              </a:rPr>
              <a:t>BUSINESS</a:t>
            </a:r>
            <a:r>
              <a:rPr dirty="0" sz="1350" spc="-190" b="1">
                <a:latin typeface="Arial"/>
                <a:cs typeface="Arial"/>
              </a:rPr>
              <a:t> </a:t>
            </a:r>
            <a:r>
              <a:rPr dirty="0" sz="1350" spc="-204" b="1">
                <a:latin typeface="Arial"/>
                <a:cs typeface="Arial"/>
              </a:rPr>
              <a:t>GOALS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469900" marR="6350" indent="-22923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Goals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performance </a:t>
            </a:r>
            <a:r>
              <a:rPr dirty="0" sz="1150" spc="-35">
                <a:latin typeface="Arial"/>
                <a:cs typeface="Arial"/>
              </a:rPr>
              <a:t>targets–the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45">
                <a:latin typeface="Arial"/>
                <a:cs typeface="Arial"/>
              </a:rPr>
              <a:t>organizations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70">
                <a:latin typeface="Arial"/>
                <a:cs typeface="Arial"/>
              </a:rPr>
              <a:t>managers  </a:t>
            </a:r>
            <a:r>
              <a:rPr dirty="0" sz="1150" spc="-60">
                <a:latin typeface="Arial"/>
                <a:cs typeface="Arial"/>
              </a:rPr>
              <a:t>measure </a:t>
            </a:r>
            <a:r>
              <a:rPr dirty="0" sz="1150" spc="-100">
                <a:latin typeface="Arial"/>
                <a:cs typeface="Arial"/>
              </a:rPr>
              <a:t>success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5">
                <a:latin typeface="Arial"/>
                <a:cs typeface="Arial"/>
              </a:rPr>
              <a:t>failure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50">
                <a:latin typeface="Arial"/>
                <a:cs typeface="Arial"/>
              </a:rPr>
              <a:t>every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level.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</a:pPr>
            <a:r>
              <a:rPr dirty="0" sz="1350" spc="-130" b="1">
                <a:latin typeface="Arial"/>
                <a:cs typeface="Arial"/>
              </a:rPr>
              <a:t>Purposes </a:t>
            </a:r>
            <a:r>
              <a:rPr dirty="0" sz="1350" spc="-60" b="1">
                <a:latin typeface="Arial"/>
                <a:cs typeface="Arial"/>
              </a:rPr>
              <a:t>of </a:t>
            </a:r>
            <a:r>
              <a:rPr dirty="0" sz="1350" spc="-105" b="1">
                <a:latin typeface="Arial"/>
                <a:cs typeface="Arial"/>
              </a:rPr>
              <a:t>Goal</a:t>
            </a:r>
            <a:r>
              <a:rPr dirty="0" sz="1350" spc="-45" b="1">
                <a:latin typeface="Arial"/>
                <a:cs typeface="Arial"/>
              </a:rPr>
              <a:t> </a:t>
            </a:r>
            <a:r>
              <a:rPr dirty="0" sz="1350" spc="-95" b="1">
                <a:latin typeface="Arial"/>
                <a:cs typeface="Arial"/>
              </a:rPr>
              <a:t>Setting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AutoNum type="arabicPeriod"/>
              <a:tabLst>
                <a:tab pos="470534" algn="l"/>
              </a:tabLst>
            </a:pP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provide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direction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0">
                <a:latin typeface="Arial"/>
                <a:cs typeface="Arial"/>
              </a:rPr>
              <a:t> guidance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managers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at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all</a:t>
            </a:r>
            <a:r>
              <a:rPr dirty="0" sz="1150" spc="-55">
                <a:latin typeface="Arial"/>
                <a:cs typeface="Arial"/>
              </a:rPr>
              <a:t> levels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470534" algn="l"/>
              </a:tabLst>
            </a:pP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help </a:t>
            </a:r>
            <a:r>
              <a:rPr dirty="0" sz="1150" spc="-25">
                <a:latin typeface="Arial"/>
                <a:cs typeface="Arial"/>
              </a:rPr>
              <a:t>firms </a:t>
            </a:r>
            <a:r>
              <a:rPr dirty="0" sz="1150" spc="-40">
                <a:latin typeface="Arial"/>
                <a:cs typeface="Arial"/>
              </a:rPr>
              <a:t>allocate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resources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470534" algn="l"/>
              </a:tabLst>
            </a:pP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help define </a:t>
            </a:r>
            <a:r>
              <a:rPr dirty="0" sz="1150" spc="-30">
                <a:latin typeface="Arial"/>
                <a:cs typeface="Arial"/>
              </a:rPr>
              <a:t>corporate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culture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470534" algn="l"/>
              </a:tabLst>
            </a:pP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help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114">
                <a:latin typeface="Arial"/>
                <a:cs typeface="Arial"/>
              </a:rPr>
              <a:t>assess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performance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</a:pPr>
            <a:r>
              <a:rPr dirty="0" sz="1350" spc="-140" b="1">
                <a:latin typeface="Arial"/>
                <a:cs typeface="Arial"/>
              </a:rPr>
              <a:t>Kinds </a:t>
            </a:r>
            <a:r>
              <a:rPr dirty="0" sz="1350" spc="-65" b="1">
                <a:latin typeface="Arial"/>
                <a:cs typeface="Arial"/>
              </a:rPr>
              <a:t>of</a:t>
            </a:r>
            <a:r>
              <a:rPr dirty="0" sz="1350" spc="-15" b="1">
                <a:latin typeface="Arial"/>
                <a:cs typeface="Arial"/>
              </a:rPr>
              <a:t> </a:t>
            </a:r>
            <a:r>
              <a:rPr dirty="0" sz="1350" spc="-130" b="1">
                <a:latin typeface="Arial"/>
                <a:cs typeface="Arial"/>
              </a:rPr>
              <a:t>Goals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85">
                <a:latin typeface="Arial"/>
                <a:cs typeface="Arial"/>
              </a:rPr>
              <a:t>Goals </a:t>
            </a:r>
            <a:r>
              <a:rPr dirty="0" sz="1150" spc="-10">
                <a:latin typeface="Arial"/>
                <a:cs typeface="Arial"/>
              </a:rPr>
              <a:t>differ </a:t>
            </a:r>
            <a:r>
              <a:rPr dirty="0" sz="1150" spc="-5">
                <a:latin typeface="Arial"/>
                <a:cs typeface="Arial"/>
              </a:rPr>
              <a:t>from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50">
                <a:latin typeface="Arial"/>
                <a:cs typeface="Arial"/>
              </a:rPr>
              <a:t>depending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15">
                <a:latin typeface="Arial"/>
                <a:cs typeface="Arial"/>
              </a:rPr>
              <a:t>the firm’s </a:t>
            </a:r>
            <a:r>
              <a:rPr dirty="0" sz="1150" spc="-45">
                <a:latin typeface="Arial"/>
                <a:cs typeface="Arial"/>
              </a:rPr>
              <a:t>purpose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mission. </a:t>
            </a:r>
            <a:r>
              <a:rPr dirty="0" sz="1150" spc="-105">
                <a:latin typeface="Arial"/>
                <a:cs typeface="Arial"/>
              </a:rPr>
              <a:t>A  </a:t>
            </a:r>
            <a:r>
              <a:rPr dirty="0" sz="1150" spc="-15">
                <a:latin typeface="Arial"/>
                <a:cs typeface="Arial"/>
              </a:rPr>
              <a:t>firm’s </a:t>
            </a:r>
            <a:r>
              <a:rPr dirty="0" sz="1150" spc="-70">
                <a:latin typeface="Arial"/>
                <a:cs typeface="Arial"/>
              </a:rPr>
              <a:t>basic </a:t>
            </a:r>
            <a:r>
              <a:rPr dirty="0" sz="1150" spc="-55">
                <a:latin typeface="Arial"/>
                <a:cs typeface="Arial"/>
              </a:rPr>
              <a:t>mission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usually </a:t>
            </a:r>
            <a:r>
              <a:rPr dirty="0" sz="1150" spc="-85">
                <a:latin typeface="Arial"/>
                <a:cs typeface="Arial"/>
              </a:rPr>
              <a:t>easy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identify.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Businesses </a:t>
            </a:r>
            <a:r>
              <a:rPr dirty="0" sz="1150" spc="-10">
                <a:latin typeface="Arial"/>
                <a:cs typeface="Arial"/>
              </a:rPr>
              <a:t>often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rethink </a:t>
            </a:r>
            <a:r>
              <a:rPr dirty="0" sz="1150" spc="-10">
                <a:latin typeface="Arial"/>
                <a:cs typeface="Arial"/>
              </a:rPr>
              <a:t>their  </a:t>
            </a:r>
            <a:r>
              <a:rPr dirty="0" sz="1150" spc="-60">
                <a:latin typeface="Arial"/>
                <a:cs typeface="Arial"/>
              </a:rPr>
              <a:t>missions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competitive environment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changes.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65">
                <a:latin typeface="Arial"/>
                <a:cs typeface="Arial"/>
              </a:rPr>
              <a:t>Three </a:t>
            </a:r>
            <a:r>
              <a:rPr dirty="0" sz="1150" spc="-50">
                <a:latin typeface="Arial"/>
                <a:cs typeface="Arial"/>
              </a:rPr>
              <a:t>kinds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goals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>
                <a:latin typeface="Arial"/>
                <a:cs typeface="Arial"/>
              </a:rPr>
              <a:t>firm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are: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469900" marR="5715" indent="-187960">
              <a:lnSpc>
                <a:spcPct val="101699"/>
              </a:lnSpc>
              <a:buFont typeface="Arial"/>
              <a:buAutoNum type="romanUcPeriod"/>
              <a:tabLst>
                <a:tab pos="470534" algn="l"/>
              </a:tabLst>
            </a:pPr>
            <a:r>
              <a:rPr dirty="0" sz="1150" spc="-65" b="1">
                <a:latin typeface="Arial"/>
                <a:cs typeface="Arial"/>
              </a:rPr>
              <a:t>long-term </a:t>
            </a:r>
            <a:r>
              <a:rPr dirty="0" sz="1150" spc="-95" b="1">
                <a:latin typeface="Arial"/>
                <a:cs typeface="Arial"/>
              </a:rPr>
              <a:t>goals</a:t>
            </a:r>
            <a:r>
              <a:rPr dirty="0" sz="1150" spc="-95">
                <a:latin typeface="Arial"/>
                <a:cs typeface="Arial"/>
              </a:rPr>
              <a:t>—goals </a:t>
            </a:r>
            <a:r>
              <a:rPr dirty="0" sz="1150" spc="-50">
                <a:latin typeface="Arial"/>
                <a:cs typeface="Arial"/>
              </a:rPr>
              <a:t>set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5">
                <a:latin typeface="Arial"/>
                <a:cs typeface="Arial"/>
              </a:rPr>
              <a:t>extended </a:t>
            </a:r>
            <a:r>
              <a:rPr dirty="0" sz="1150" spc="-15">
                <a:latin typeface="Arial"/>
                <a:cs typeface="Arial"/>
              </a:rPr>
              <a:t>time, </a:t>
            </a:r>
            <a:r>
              <a:rPr dirty="0" sz="1150" spc="-30">
                <a:latin typeface="Arial"/>
                <a:cs typeface="Arial"/>
              </a:rPr>
              <a:t>typically </a:t>
            </a:r>
            <a:r>
              <a:rPr dirty="0" sz="1150" spc="-60">
                <a:latin typeface="Arial"/>
                <a:cs typeface="Arial"/>
              </a:rPr>
              <a:t>5 </a:t>
            </a:r>
            <a:r>
              <a:rPr dirty="0" sz="1150" spc="-70">
                <a:latin typeface="Arial"/>
                <a:cs typeface="Arial"/>
              </a:rPr>
              <a:t>years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10">
                <a:latin typeface="Arial"/>
                <a:cs typeface="Arial"/>
              </a:rPr>
              <a:t>future</a:t>
            </a:r>
            <a:endParaRPr sz="1150">
              <a:latin typeface="Arial"/>
              <a:cs typeface="Arial"/>
            </a:endParaRPr>
          </a:p>
          <a:p>
            <a:pPr marL="469900" indent="-224790">
              <a:lnSpc>
                <a:spcPct val="100000"/>
              </a:lnSpc>
              <a:spcBef>
                <a:spcPts val="25"/>
              </a:spcBef>
              <a:buFont typeface="Arial"/>
              <a:buAutoNum type="romanUcPeriod"/>
              <a:tabLst>
                <a:tab pos="470534" algn="l"/>
              </a:tabLst>
            </a:pPr>
            <a:r>
              <a:rPr dirty="0" sz="1150" spc="-55" b="1">
                <a:latin typeface="Arial"/>
                <a:cs typeface="Arial"/>
              </a:rPr>
              <a:t>intermediate </a:t>
            </a:r>
            <a:r>
              <a:rPr dirty="0" sz="1150" spc="-95" b="1">
                <a:latin typeface="Arial"/>
                <a:cs typeface="Arial"/>
              </a:rPr>
              <a:t>goals</a:t>
            </a:r>
            <a:r>
              <a:rPr dirty="0" sz="1150" spc="-95">
                <a:latin typeface="Arial"/>
                <a:cs typeface="Arial"/>
              </a:rPr>
              <a:t>—goals </a:t>
            </a:r>
            <a:r>
              <a:rPr dirty="0" sz="1150" spc="-50">
                <a:latin typeface="Arial"/>
                <a:cs typeface="Arial"/>
              </a:rPr>
              <a:t>set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period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1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5 </a:t>
            </a:r>
            <a:r>
              <a:rPr dirty="0" sz="1150" spc="-70">
                <a:latin typeface="Arial"/>
                <a:cs typeface="Arial"/>
              </a:rPr>
              <a:t>years </a:t>
            </a:r>
            <a:r>
              <a:rPr dirty="0" sz="1150" spc="-5">
                <a:latin typeface="Arial"/>
                <a:cs typeface="Arial"/>
              </a:rPr>
              <a:t>into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future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74" y="892559"/>
            <a:ext cx="5514340" cy="8170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262890">
              <a:lnSpc>
                <a:spcPct val="100000"/>
              </a:lnSpc>
              <a:spcBef>
                <a:spcPts val="100"/>
              </a:spcBef>
              <a:buFont typeface="Arial"/>
              <a:buAutoNum type="romanUcPeriod" startAt="3"/>
              <a:tabLst>
                <a:tab pos="470534" algn="l"/>
              </a:tabLst>
            </a:pPr>
            <a:r>
              <a:rPr dirty="0" sz="1150" spc="-65" b="1">
                <a:latin typeface="Arial"/>
                <a:cs typeface="Arial"/>
              </a:rPr>
              <a:t>short-term </a:t>
            </a:r>
            <a:r>
              <a:rPr dirty="0" sz="1150" spc="-90" b="1">
                <a:latin typeface="Arial"/>
                <a:cs typeface="Arial"/>
              </a:rPr>
              <a:t>goals</a:t>
            </a:r>
            <a:r>
              <a:rPr dirty="0" sz="1150" spc="-90">
                <a:latin typeface="Arial"/>
                <a:cs typeface="Arial"/>
              </a:rPr>
              <a:t>—goals </a:t>
            </a:r>
            <a:r>
              <a:rPr dirty="0" sz="1150" spc="-50">
                <a:latin typeface="Arial"/>
                <a:cs typeface="Arial"/>
              </a:rPr>
              <a:t>set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very near </a:t>
            </a:r>
            <a:r>
              <a:rPr dirty="0" sz="1150" spc="-10">
                <a:latin typeface="Arial"/>
                <a:cs typeface="Arial"/>
              </a:rPr>
              <a:t>future, </a:t>
            </a:r>
            <a:r>
              <a:rPr dirty="0" sz="1150" spc="-30">
                <a:latin typeface="Arial"/>
                <a:cs typeface="Arial"/>
              </a:rPr>
              <a:t>typically </a:t>
            </a:r>
            <a:r>
              <a:rPr dirty="0" sz="1150" spc="-80">
                <a:latin typeface="Arial"/>
                <a:cs typeface="Arial"/>
              </a:rPr>
              <a:t>less </a:t>
            </a:r>
            <a:r>
              <a:rPr dirty="0" sz="1150" spc="-30">
                <a:latin typeface="Arial"/>
                <a:cs typeface="Arial"/>
              </a:rPr>
              <a:t>than </a:t>
            </a:r>
            <a:r>
              <a:rPr dirty="0" sz="1150" spc="-60">
                <a:latin typeface="Arial"/>
                <a:cs typeface="Arial"/>
              </a:rPr>
              <a:t>1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year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romanUcPeriod" startAt="3"/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350" spc="-95" b="1">
                <a:latin typeface="Arial"/>
                <a:cs typeface="Arial"/>
              </a:rPr>
              <a:t>Mission</a:t>
            </a:r>
            <a:r>
              <a:rPr dirty="0" sz="1350" spc="-60" b="1">
                <a:latin typeface="Arial"/>
                <a:cs typeface="Arial"/>
              </a:rPr>
              <a:t> </a:t>
            </a:r>
            <a:r>
              <a:rPr dirty="0" sz="1350" spc="-75" b="1">
                <a:latin typeface="Arial"/>
                <a:cs typeface="Arial"/>
              </a:rPr>
              <a:t>Statement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9525">
              <a:lnSpc>
                <a:spcPct val="101699"/>
              </a:lnSpc>
              <a:spcBef>
                <a:spcPts val="5"/>
              </a:spcBef>
            </a:pPr>
            <a:r>
              <a:rPr dirty="0" sz="1150" spc="-50">
                <a:latin typeface="Arial"/>
                <a:cs typeface="Arial"/>
              </a:rPr>
              <a:t>Organization’s </a:t>
            </a:r>
            <a:r>
              <a:rPr dirty="0" sz="1150" spc="-30">
                <a:latin typeface="Arial"/>
                <a:cs typeface="Arial"/>
              </a:rPr>
              <a:t>statement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how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60">
                <a:latin typeface="Arial"/>
                <a:cs typeface="Arial"/>
              </a:rPr>
              <a:t>achieve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50">
                <a:latin typeface="Arial"/>
                <a:cs typeface="Arial"/>
              </a:rPr>
              <a:t>purpose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environment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40">
                <a:latin typeface="Arial"/>
                <a:cs typeface="Arial"/>
              </a:rPr>
              <a:t>it  </a:t>
            </a:r>
            <a:r>
              <a:rPr dirty="0" sz="1150" spc="-50">
                <a:latin typeface="Arial"/>
                <a:cs typeface="Arial"/>
              </a:rPr>
              <a:t>conducts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business.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75" b="1">
                <a:latin typeface="Arial"/>
                <a:cs typeface="Arial"/>
              </a:rPr>
              <a:t>THE </a:t>
            </a:r>
            <a:r>
              <a:rPr dirty="0" sz="1350" spc="-125" b="1">
                <a:latin typeface="Arial"/>
                <a:cs typeface="Arial"/>
              </a:rPr>
              <a:t>MANAGEMENT</a:t>
            </a:r>
            <a:r>
              <a:rPr dirty="0" sz="1350" spc="-170" b="1">
                <a:latin typeface="Arial"/>
                <a:cs typeface="Arial"/>
              </a:rPr>
              <a:t> </a:t>
            </a:r>
            <a:r>
              <a:rPr dirty="0" sz="1350" spc="-235" b="1">
                <a:latin typeface="Arial"/>
                <a:cs typeface="Arial"/>
              </a:rPr>
              <a:t>PROCESSES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4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management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planning, </a:t>
            </a:r>
            <a:r>
              <a:rPr dirty="0" sz="1150" spc="-50">
                <a:latin typeface="Arial"/>
                <a:cs typeface="Arial"/>
              </a:rPr>
              <a:t>organizing, </a:t>
            </a:r>
            <a:r>
              <a:rPr dirty="0" sz="1150" spc="-30">
                <a:latin typeface="Arial"/>
                <a:cs typeface="Arial"/>
              </a:rPr>
              <a:t>directing,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controlling 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organization’s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achieve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65">
                <a:latin typeface="Arial"/>
                <a:cs typeface="Arial"/>
              </a:rPr>
              <a:t>goals.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four </a:t>
            </a:r>
            <a:r>
              <a:rPr dirty="0" sz="1150" spc="-30">
                <a:latin typeface="Arial"/>
                <a:cs typeface="Arial"/>
              </a:rPr>
              <a:t>functions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management are </a:t>
            </a:r>
            <a:r>
              <a:rPr dirty="0" sz="1150" spc="-5">
                <a:latin typeface="Arial"/>
                <a:cs typeface="Arial"/>
              </a:rPr>
              <a:t>not  </a:t>
            </a:r>
            <a:r>
              <a:rPr dirty="0" sz="1150" spc="-40">
                <a:latin typeface="Arial"/>
                <a:cs typeface="Arial"/>
              </a:rPr>
              <a:t>discrete. </a:t>
            </a:r>
            <a:r>
              <a:rPr dirty="0" sz="1150" spc="-80">
                <a:latin typeface="Arial"/>
                <a:cs typeface="Arial"/>
              </a:rPr>
              <a:t>They </a:t>
            </a:r>
            <a:r>
              <a:rPr dirty="0" sz="1150" spc="-40">
                <a:latin typeface="Arial"/>
                <a:cs typeface="Arial"/>
              </a:rPr>
              <a:t>overlap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influence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30">
                <a:latin typeface="Arial"/>
                <a:cs typeface="Arial"/>
              </a:rPr>
              <a:t>another. </a:t>
            </a: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transform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vision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successful  </a:t>
            </a:r>
            <a:r>
              <a:rPr dirty="0" sz="1150" spc="-65">
                <a:latin typeface="Arial"/>
                <a:cs typeface="Arial"/>
              </a:rPr>
              <a:t>business,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40">
                <a:latin typeface="Arial"/>
                <a:cs typeface="Arial"/>
              </a:rPr>
              <a:t>must </a:t>
            </a:r>
            <a:r>
              <a:rPr dirty="0" sz="1150" spc="-20">
                <a:latin typeface="Arial"/>
                <a:cs typeface="Arial"/>
              </a:rPr>
              <a:t>perform the </a:t>
            </a:r>
            <a:r>
              <a:rPr dirty="0" sz="1150" spc="-30">
                <a:latin typeface="Arial"/>
                <a:cs typeface="Arial"/>
              </a:rPr>
              <a:t>functions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planning, </a:t>
            </a:r>
            <a:r>
              <a:rPr dirty="0" sz="1150" spc="-50">
                <a:latin typeface="Arial"/>
                <a:cs typeface="Arial"/>
              </a:rPr>
              <a:t>organizing, leading,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25">
                <a:latin typeface="Arial"/>
                <a:cs typeface="Arial"/>
              </a:rPr>
              <a:t>controlling.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lvl="1" marL="927100" marR="5080" indent="-228600">
              <a:lnSpc>
                <a:spcPct val="101699"/>
              </a:lnSpc>
              <a:buFont typeface="Arial"/>
              <a:buAutoNum type="alphaLcPeriod"/>
              <a:tabLst>
                <a:tab pos="927735" algn="l"/>
              </a:tabLst>
            </a:pPr>
            <a:r>
              <a:rPr dirty="0" sz="1150" spc="-75" b="1">
                <a:latin typeface="Arial"/>
                <a:cs typeface="Arial"/>
              </a:rPr>
              <a:t>Planning</a:t>
            </a:r>
            <a:r>
              <a:rPr dirty="0" sz="1150" spc="-75">
                <a:latin typeface="Arial"/>
                <a:cs typeface="Arial"/>
              </a:rPr>
              <a:t>—management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determining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70">
                <a:latin typeface="Arial"/>
                <a:cs typeface="Arial"/>
              </a:rPr>
              <a:t>needs 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how </a:t>
            </a:r>
            <a:r>
              <a:rPr dirty="0" sz="1150" spc="-45">
                <a:latin typeface="Arial"/>
                <a:cs typeface="Arial"/>
              </a:rPr>
              <a:t>best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get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45">
                <a:latin typeface="Arial"/>
                <a:cs typeface="Arial"/>
              </a:rPr>
              <a:t>done. </a:t>
            </a:r>
            <a:r>
              <a:rPr dirty="0" sz="1150" spc="-75">
                <a:latin typeface="Arial"/>
                <a:cs typeface="Arial"/>
              </a:rPr>
              <a:t>Yahoo’s </a:t>
            </a:r>
            <a:r>
              <a:rPr dirty="0" sz="1150" spc="-30">
                <a:latin typeface="Arial"/>
                <a:cs typeface="Arial"/>
              </a:rPr>
              <a:t>creation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partnership  </a:t>
            </a:r>
            <a:r>
              <a:rPr dirty="0" sz="1150" spc="-55">
                <a:latin typeface="Arial"/>
                <a:cs typeface="Arial"/>
              </a:rPr>
              <a:t>agreements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5">
                <a:latin typeface="Arial"/>
                <a:cs typeface="Arial"/>
              </a:rPr>
              <a:t>firms </a:t>
            </a:r>
            <a:r>
              <a:rPr dirty="0" sz="1150" spc="-35">
                <a:latin typeface="Arial"/>
                <a:cs typeface="Arial"/>
              </a:rPr>
              <a:t>like </a:t>
            </a:r>
            <a:r>
              <a:rPr dirty="0" sz="1150" spc="-60">
                <a:latin typeface="Arial"/>
                <a:cs typeface="Arial"/>
              </a:rPr>
              <a:t>Reuters, Standard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50">
                <a:latin typeface="Arial"/>
                <a:cs typeface="Arial"/>
              </a:rPr>
              <a:t>Poor’s,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Associated  </a:t>
            </a:r>
            <a:r>
              <a:rPr dirty="0" sz="1150" spc="-95">
                <a:latin typeface="Arial"/>
                <a:cs typeface="Arial"/>
              </a:rPr>
              <a:t>Press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65">
                <a:latin typeface="Arial"/>
                <a:cs typeface="Arial"/>
              </a:rPr>
              <a:t>coverage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45">
                <a:latin typeface="Arial"/>
                <a:cs typeface="Arial"/>
              </a:rPr>
              <a:t>provides 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users </a:t>
            </a:r>
            <a:r>
              <a:rPr dirty="0" sz="1150" spc="-40">
                <a:latin typeface="Arial"/>
                <a:cs typeface="Arial"/>
              </a:rPr>
              <a:t>represent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0">
                <a:latin typeface="Arial"/>
                <a:cs typeface="Arial"/>
              </a:rPr>
              <a:t>form of  </a:t>
            </a:r>
            <a:r>
              <a:rPr dirty="0" sz="1150" spc="-30">
                <a:latin typeface="Arial"/>
                <a:cs typeface="Arial"/>
              </a:rPr>
              <a:t>operational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planning.</a:t>
            </a:r>
            <a:endParaRPr sz="1150">
              <a:latin typeface="Arial"/>
              <a:cs typeface="Arial"/>
            </a:endParaRPr>
          </a:p>
          <a:p>
            <a:pPr algn="just" lvl="1" marL="927100" marR="5080" indent="-229235">
              <a:lnSpc>
                <a:spcPct val="101699"/>
              </a:lnSpc>
              <a:buFont typeface="Arial"/>
              <a:buAutoNum type="alphaLcPeriod"/>
              <a:tabLst>
                <a:tab pos="927735" algn="l"/>
              </a:tabLst>
            </a:pPr>
            <a:r>
              <a:rPr dirty="0" sz="1150" spc="-75" b="1">
                <a:latin typeface="Arial"/>
                <a:cs typeface="Arial"/>
              </a:rPr>
              <a:t>Organizing</a:t>
            </a:r>
            <a:r>
              <a:rPr dirty="0" sz="1150" spc="-75">
                <a:latin typeface="Arial"/>
                <a:cs typeface="Arial"/>
              </a:rPr>
              <a:t>—management </a:t>
            </a:r>
            <a:r>
              <a:rPr dirty="0" sz="1150" spc="-65">
                <a:latin typeface="Arial"/>
                <a:cs typeface="Arial"/>
              </a:rPr>
              <a:t>process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determining how </a:t>
            </a:r>
            <a:r>
              <a:rPr dirty="0" sz="1150" spc="-45">
                <a:latin typeface="Arial"/>
                <a:cs typeface="Arial"/>
              </a:rPr>
              <a:t>best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arrange </a:t>
            </a:r>
            <a:r>
              <a:rPr dirty="0" sz="1150" spc="-65">
                <a:latin typeface="Arial"/>
                <a:cs typeface="Arial"/>
              </a:rPr>
              <a:t>an  </a:t>
            </a:r>
            <a:r>
              <a:rPr dirty="0" sz="1150" spc="-40">
                <a:latin typeface="Arial"/>
                <a:cs typeface="Arial"/>
              </a:rPr>
              <a:t>organization’s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activities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coherent </a:t>
            </a:r>
            <a:r>
              <a:rPr dirty="0" sz="1150" spc="-25">
                <a:latin typeface="Arial"/>
                <a:cs typeface="Arial"/>
              </a:rPr>
              <a:t>structure. </a:t>
            </a:r>
            <a:r>
              <a:rPr dirty="0" sz="1150" spc="-20">
                <a:latin typeface="Arial"/>
                <a:cs typeface="Arial"/>
              </a:rPr>
              <a:t>Hewlett-  </a:t>
            </a:r>
            <a:r>
              <a:rPr dirty="0" sz="1150" spc="-70">
                <a:latin typeface="Arial"/>
                <a:cs typeface="Arial"/>
              </a:rPr>
              <a:t>Packard’s </a:t>
            </a:r>
            <a:r>
              <a:rPr dirty="0" sz="1150" spc="-35">
                <a:latin typeface="Arial"/>
                <a:cs typeface="Arial"/>
              </a:rPr>
              <a:t>recent realignment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30">
                <a:latin typeface="Arial"/>
                <a:cs typeface="Arial"/>
              </a:rPr>
              <a:t>integrated, </a:t>
            </a:r>
            <a:r>
              <a:rPr dirty="0" sz="1150" spc="-40">
                <a:latin typeface="Arial"/>
                <a:cs typeface="Arial"/>
              </a:rPr>
              <a:t>centralized </a:t>
            </a:r>
            <a:r>
              <a:rPr dirty="0" sz="1150" spc="-5">
                <a:latin typeface="Arial"/>
                <a:cs typeface="Arial"/>
              </a:rPr>
              <a:t>firm, </a:t>
            </a:r>
            <a:r>
              <a:rPr dirty="0" sz="1150" spc="-20">
                <a:latin typeface="Arial"/>
                <a:cs typeface="Arial"/>
              </a:rPr>
              <a:t>rather  </a:t>
            </a:r>
            <a:r>
              <a:rPr dirty="0" sz="1150" spc="-30">
                <a:latin typeface="Arial"/>
                <a:cs typeface="Arial"/>
              </a:rPr>
              <a:t>than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corporate confederation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individual </a:t>
            </a:r>
            <a:r>
              <a:rPr dirty="0" sz="1150" spc="-70">
                <a:latin typeface="Arial"/>
                <a:cs typeface="Arial"/>
              </a:rPr>
              <a:t>businesses,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60">
                <a:latin typeface="Arial"/>
                <a:cs typeface="Arial"/>
              </a:rPr>
              <a:t>served </a:t>
            </a:r>
            <a:r>
              <a:rPr dirty="0" sz="1150" spc="-25">
                <a:latin typeface="Arial"/>
                <a:cs typeface="Arial"/>
              </a:rPr>
              <a:t>its  </a:t>
            </a:r>
            <a:r>
              <a:rPr dirty="0" sz="1150" spc="-65">
                <a:latin typeface="Arial"/>
                <a:cs typeface="Arial"/>
              </a:rPr>
              <a:t>comeback </a:t>
            </a:r>
            <a:r>
              <a:rPr dirty="0" sz="1150" spc="-40">
                <a:latin typeface="Arial"/>
                <a:cs typeface="Arial"/>
              </a:rPr>
              <a:t>strategy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well.</a:t>
            </a:r>
            <a:endParaRPr sz="1150">
              <a:latin typeface="Arial"/>
              <a:cs typeface="Arial"/>
            </a:endParaRPr>
          </a:p>
          <a:p>
            <a:pPr algn="just" lvl="1" marL="927100" marR="5080" indent="-228600">
              <a:lnSpc>
                <a:spcPct val="101699"/>
              </a:lnSpc>
              <a:buFont typeface="Arial"/>
              <a:buAutoNum type="alphaLcPeriod"/>
              <a:tabLst>
                <a:tab pos="927735" algn="l"/>
              </a:tabLst>
            </a:pPr>
            <a:r>
              <a:rPr dirty="0" sz="1150" spc="-65" b="1">
                <a:latin typeface="Arial"/>
                <a:cs typeface="Arial"/>
              </a:rPr>
              <a:t>Directing</a:t>
            </a:r>
            <a:r>
              <a:rPr dirty="0" sz="1150" spc="-65">
                <a:latin typeface="Arial"/>
                <a:cs typeface="Arial"/>
              </a:rPr>
              <a:t>—management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guiding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motivating </a:t>
            </a:r>
            <a:r>
              <a:rPr dirty="0" sz="1150" spc="-55">
                <a:latin typeface="Arial"/>
                <a:cs typeface="Arial"/>
              </a:rPr>
              <a:t>employees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30">
                <a:latin typeface="Arial"/>
                <a:cs typeface="Arial"/>
              </a:rPr>
              <a:t>meet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organization’s objectives. </a:t>
            </a:r>
            <a:r>
              <a:rPr dirty="0" sz="1150" spc="-50">
                <a:latin typeface="Arial"/>
                <a:cs typeface="Arial"/>
              </a:rPr>
              <a:t>Gordon Bethune, </a:t>
            </a:r>
            <a:r>
              <a:rPr dirty="0" sz="1150" spc="-190">
                <a:latin typeface="Arial"/>
                <a:cs typeface="Arial"/>
              </a:rPr>
              <a:t>CEO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Continental  </a:t>
            </a:r>
            <a:r>
              <a:rPr dirty="0" sz="1150" spc="-40">
                <a:latin typeface="Arial"/>
                <a:cs typeface="Arial"/>
              </a:rPr>
              <a:t>Airlines,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20">
                <a:latin typeface="Arial"/>
                <a:cs typeface="Arial"/>
              </a:rPr>
              <a:t>turned </a:t>
            </a:r>
            <a:r>
              <a:rPr dirty="0" sz="1150" spc="-40">
                <a:latin typeface="Arial"/>
                <a:cs typeface="Arial"/>
              </a:rPr>
              <a:t>around </a:t>
            </a:r>
            <a:r>
              <a:rPr dirty="0" sz="1150" spc="-35">
                <a:latin typeface="Arial"/>
                <a:cs typeface="Arial"/>
              </a:rPr>
              <a:t>morale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performance </a:t>
            </a:r>
            <a:r>
              <a:rPr dirty="0" sz="1150" spc="-25">
                <a:latin typeface="Arial"/>
                <a:cs typeface="Arial"/>
              </a:rPr>
              <a:t>through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45">
                <a:latin typeface="Arial"/>
                <a:cs typeface="Arial"/>
              </a:rPr>
              <a:t>leadership  </a:t>
            </a:r>
            <a:r>
              <a:rPr dirty="0" sz="1150" spc="-35">
                <a:latin typeface="Arial"/>
                <a:cs typeface="Arial"/>
              </a:rPr>
              <a:t>skill, listening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rewarding </a:t>
            </a:r>
            <a:r>
              <a:rPr dirty="0" sz="1150" spc="-55">
                <a:latin typeface="Arial"/>
                <a:cs typeface="Arial"/>
              </a:rPr>
              <a:t>employees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guide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70">
                <a:latin typeface="Arial"/>
                <a:cs typeface="Arial"/>
              </a:rPr>
              <a:t>back </a:t>
            </a:r>
            <a:r>
              <a:rPr dirty="0" sz="1150" spc="-35">
                <a:latin typeface="Arial"/>
                <a:cs typeface="Arial"/>
              </a:rPr>
              <a:t>on  </a:t>
            </a:r>
            <a:r>
              <a:rPr dirty="0" sz="1150" spc="-30">
                <a:latin typeface="Arial"/>
                <a:cs typeface="Arial"/>
              </a:rPr>
              <a:t>track.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Arial"/>
              <a:buAutoNum type="alphaLcPeriod"/>
            </a:pPr>
            <a:endParaRPr sz="1200">
              <a:latin typeface="Arial"/>
              <a:cs typeface="Arial"/>
            </a:endParaRPr>
          </a:p>
          <a:p>
            <a:pPr algn="just" lvl="1" marL="927100" marR="6985" indent="-228600">
              <a:lnSpc>
                <a:spcPct val="101699"/>
              </a:lnSpc>
              <a:buFont typeface="Arial"/>
              <a:buAutoNum type="alphaLcPeriod"/>
              <a:tabLst>
                <a:tab pos="927735" algn="l"/>
              </a:tabLst>
            </a:pPr>
            <a:r>
              <a:rPr dirty="0" sz="1150" spc="-70" b="1">
                <a:latin typeface="Arial"/>
                <a:cs typeface="Arial"/>
              </a:rPr>
              <a:t>Controlling</a:t>
            </a:r>
            <a:r>
              <a:rPr dirty="0" sz="1150" spc="-70">
                <a:latin typeface="Arial"/>
                <a:cs typeface="Arial"/>
              </a:rPr>
              <a:t>—management </a:t>
            </a:r>
            <a:r>
              <a:rPr dirty="0" sz="1150" spc="-65">
                <a:latin typeface="Arial"/>
                <a:cs typeface="Arial"/>
              </a:rPr>
              <a:t>process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monitoring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organization’s  performance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ensure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meeting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70">
                <a:latin typeface="Arial"/>
                <a:cs typeface="Arial"/>
              </a:rPr>
              <a:t>goals. </a:t>
            </a:r>
            <a:r>
              <a:rPr dirty="0" sz="1150" spc="-50">
                <a:latin typeface="Arial"/>
                <a:cs typeface="Arial"/>
              </a:rPr>
              <a:t>Bethune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Continental  </a:t>
            </a:r>
            <a:r>
              <a:rPr dirty="0" sz="1150" spc="-15">
                <a:latin typeface="Arial"/>
                <a:cs typeface="Arial"/>
              </a:rPr>
              <a:t>instituted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variety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performance </a:t>
            </a:r>
            <a:r>
              <a:rPr dirty="0" sz="1150" spc="-35">
                <a:latin typeface="Arial"/>
                <a:cs typeface="Arial"/>
              </a:rPr>
              <a:t>indicators </a:t>
            </a:r>
            <a:r>
              <a:rPr dirty="0" sz="1150" spc="-40">
                <a:latin typeface="Arial"/>
                <a:cs typeface="Arial"/>
              </a:rPr>
              <a:t>including </a:t>
            </a:r>
            <a:r>
              <a:rPr dirty="0" sz="1150" spc="-25">
                <a:latin typeface="Arial"/>
                <a:cs typeface="Arial"/>
              </a:rPr>
              <a:t>on-time </a:t>
            </a:r>
            <a:r>
              <a:rPr dirty="0" sz="1150" spc="-40">
                <a:latin typeface="Arial"/>
                <a:cs typeface="Arial"/>
              </a:rPr>
              <a:t>arrivals,  </a:t>
            </a:r>
            <a:r>
              <a:rPr dirty="0" sz="1150" spc="-65">
                <a:latin typeface="Arial"/>
                <a:cs typeface="Arial"/>
              </a:rPr>
              <a:t>baggage-handling </a:t>
            </a:r>
            <a:r>
              <a:rPr dirty="0" sz="1150" spc="-30">
                <a:latin typeface="Arial"/>
                <a:cs typeface="Arial"/>
              </a:rPr>
              <a:t>errors,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empty </a:t>
            </a:r>
            <a:r>
              <a:rPr dirty="0" sz="1150" spc="-70">
                <a:latin typeface="Arial"/>
                <a:cs typeface="Arial"/>
              </a:rPr>
              <a:t>seats </a:t>
            </a:r>
            <a:r>
              <a:rPr dirty="0" sz="1150" spc="-35">
                <a:latin typeface="Arial"/>
                <a:cs typeface="Arial"/>
              </a:rPr>
              <a:t>per </a:t>
            </a:r>
            <a:r>
              <a:rPr dirty="0" sz="1150" spc="-45">
                <a:latin typeface="Arial"/>
                <a:cs typeface="Arial"/>
              </a:rPr>
              <a:t>plane,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surveys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40">
                <a:latin typeface="Arial"/>
                <a:cs typeface="Arial"/>
              </a:rPr>
              <a:t>customer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employee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satisfaction.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AutoNum type="alphaLcPeriod"/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350" spc="-210" b="1">
                <a:latin typeface="Arial"/>
                <a:cs typeface="Arial"/>
              </a:rPr>
              <a:t>TYPES </a:t>
            </a:r>
            <a:r>
              <a:rPr dirty="0" sz="1350" spc="-180" b="1">
                <a:latin typeface="Arial"/>
                <a:cs typeface="Arial"/>
              </a:rPr>
              <a:t>OF</a:t>
            </a:r>
            <a:r>
              <a:rPr dirty="0" sz="1350" spc="-100" b="1">
                <a:latin typeface="Arial"/>
                <a:cs typeface="Arial"/>
              </a:rPr>
              <a:t> </a:t>
            </a:r>
            <a:r>
              <a:rPr dirty="0" sz="1350" spc="-160" b="1">
                <a:latin typeface="Arial"/>
                <a:cs typeface="Arial"/>
              </a:rPr>
              <a:t>MANAGERS</a:t>
            </a:r>
            <a:endParaRPr sz="1350">
              <a:latin typeface="Arial"/>
              <a:cs typeface="Arial"/>
            </a:endParaRPr>
          </a:p>
          <a:p>
            <a:pPr algn="just" marL="12700" marR="9525">
              <a:lnSpc>
                <a:spcPts val="1400"/>
              </a:lnSpc>
              <a:spcBef>
                <a:spcPts val="50"/>
              </a:spcBef>
            </a:pPr>
            <a:r>
              <a:rPr dirty="0" sz="1150" spc="-20">
                <a:latin typeface="Arial"/>
                <a:cs typeface="Arial"/>
              </a:rPr>
              <a:t>Not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5">
                <a:latin typeface="Arial"/>
                <a:cs typeface="Arial"/>
              </a:rPr>
              <a:t>same </a:t>
            </a:r>
            <a:r>
              <a:rPr dirty="0" sz="1150" spc="-60">
                <a:latin typeface="Arial"/>
                <a:cs typeface="Arial"/>
              </a:rPr>
              <a:t>degree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responsibility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5">
                <a:latin typeface="Arial"/>
                <a:cs typeface="Arial"/>
              </a:rPr>
              <a:t>planning, </a:t>
            </a:r>
            <a:r>
              <a:rPr dirty="0" sz="1150" spc="-50">
                <a:latin typeface="Arial"/>
                <a:cs typeface="Arial"/>
              </a:rPr>
              <a:t>organizing, </a:t>
            </a:r>
            <a:r>
              <a:rPr dirty="0" sz="1150" spc="-30">
                <a:latin typeface="Arial"/>
                <a:cs typeface="Arial"/>
              </a:rPr>
              <a:t>directing, 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controlling.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30" b="1">
                <a:latin typeface="Arial"/>
                <a:cs typeface="Arial"/>
              </a:rPr>
              <a:t>Levels </a:t>
            </a:r>
            <a:r>
              <a:rPr dirty="0" sz="1350" spc="-65" b="1">
                <a:latin typeface="Arial"/>
                <a:cs typeface="Arial"/>
              </a:rPr>
              <a:t>of</a:t>
            </a:r>
            <a:r>
              <a:rPr dirty="0" sz="1350" spc="-25" b="1">
                <a:latin typeface="Arial"/>
                <a:cs typeface="Arial"/>
              </a:rPr>
              <a:t> </a:t>
            </a:r>
            <a:r>
              <a:rPr dirty="0" sz="1350" spc="-80" b="1">
                <a:latin typeface="Arial"/>
                <a:cs typeface="Arial"/>
              </a:rPr>
              <a:t>Management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lvl="2" marL="1384300" marR="5080" indent="-184785">
              <a:lnSpc>
                <a:spcPct val="101699"/>
              </a:lnSpc>
              <a:buFont typeface="Arial"/>
              <a:buAutoNum type="romanLcPeriod"/>
              <a:tabLst>
                <a:tab pos="1384300" algn="l"/>
              </a:tabLst>
            </a:pPr>
            <a:r>
              <a:rPr dirty="0" sz="1150" spc="-105" b="1">
                <a:latin typeface="Arial"/>
                <a:cs typeface="Arial"/>
              </a:rPr>
              <a:t>Top </a:t>
            </a:r>
            <a:r>
              <a:rPr dirty="0" sz="1150" spc="-80" b="1">
                <a:latin typeface="Arial"/>
                <a:cs typeface="Arial"/>
              </a:rPr>
              <a:t>Managers</a:t>
            </a:r>
            <a:r>
              <a:rPr dirty="0" sz="1150" spc="-80">
                <a:latin typeface="Arial"/>
                <a:cs typeface="Arial"/>
              </a:rPr>
              <a:t>—managers </a:t>
            </a:r>
            <a:r>
              <a:rPr dirty="0" sz="1150" spc="-50">
                <a:latin typeface="Arial"/>
                <a:cs typeface="Arial"/>
              </a:rPr>
              <a:t>responsible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board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directors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45">
                <a:latin typeface="Arial"/>
                <a:cs typeface="Arial"/>
              </a:rPr>
              <a:t>stockholders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firm’s </a:t>
            </a:r>
            <a:r>
              <a:rPr dirty="0" sz="1150" spc="-35">
                <a:latin typeface="Arial"/>
                <a:cs typeface="Arial"/>
              </a:rPr>
              <a:t>overall </a:t>
            </a:r>
            <a:r>
              <a:rPr dirty="0" sz="1150" spc="-40">
                <a:latin typeface="Arial"/>
                <a:cs typeface="Arial"/>
              </a:rPr>
              <a:t>performance </a:t>
            </a:r>
            <a:r>
              <a:rPr dirty="0" sz="1150" spc="-60">
                <a:latin typeface="Arial"/>
                <a:cs typeface="Arial"/>
              </a:rPr>
              <a:t>and</a:t>
            </a:r>
            <a:r>
              <a:rPr dirty="0" sz="11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effectiveness.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97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250439" y="2319023"/>
            <a:ext cx="1631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98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83966" y="892559"/>
            <a:ext cx="4360545" cy="1805939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230504" marR="5080">
              <a:lnSpc>
                <a:spcPct val="101699"/>
              </a:lnSpc>
              <a:spcBef>
                <a:spcPts val="75"/>
              </a:spcBef>
            </a:pPr>
            <a:r>
              <a:rPr dirty="0" sz="1150" spc="-80">
                <a:latin typeface="Arial"/>
                <a:cs typeface="Arial"/>
              </a:rPr>
              <a:t>They </a:t>
            </a:r>
            <a:r>
              <a:rPr dirty="0" sz="1150" spc="-45">
                <a:latin typeface="Arial"/>
                <a:cs typeface="Arial"/>
              </a:rPr>
              <a:t>set </a:t>
            </a:r>
            <a:r>
              <a:rPr dirty="0" sz="1150" spc="-40">
                <a:latin typeface="Arial"/>
                <a:cs typeface="Arial"/>
              </a:rPr>
              <a:t>strategic </a:t>
            </a:r>
            <a:r>
              <a:rPr dirty="0" sz="1150" spc="-65">
                <a:latin typeface="Arial"/>
                <a:cs typeface="Arial"/>
              </a:rPr>
              <a:t>goals, </a:t>
            </a:r>
            <a:r>
              <a:rPr dirty="0" sz="1150" spc="-60">
                <a:latin typeface="Arial"/>
                <a:cs typeface="Arial"/>
              </a:rPr>
              <a:t>make </a:t>
            </a:r>
            <a:r>
              <a:rPr dirty="0" sz="1150" spc="-50">
                <a:latin typeface="Arial"/>
                <a:cs typeface="Arial"/>
              </a:rPr>
              <a:t>long-range </a:t>
            </a:r>
            <a:r>
              <a:rPr dirty="0" sz="1150" spc="-55">
                <a:latin typeface="Arial"/>
                <a:cs typeface="Arial"/>
              </a:rPr>
              <a:t>plans, </a:t>
            </a:r>
            <a:r>
              <a:rPr dirty="0" sz="1150" spc="-50">
                <a:latin typeface="Arial"/>
                <a:cs typeface="Arial"/>
              </a:rPr>
              <a:t>establish </a:t>
            </a:r>
            <a:r>
              <a:rPr dirty="0" sz="1150" spc="-25">
                <a:latin typeface="Arial"/>
                <a:cs typeface="Arial"/>
              </a:rPr>
              <a:t>major  </a:t>
            </a:r>
            <a:r>
              <a:rPr dirty="0" sz="1150" spc="-45">
                <a:latin typeface="Arial"/>
                <a:cs typeface="Arial"/>
              </a:rPr>
              <a:t>policies,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represent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outside </a:t>
            </a:r>
            <a:r>
              <a:rPr dirty="0" sz="1150" spc="-15">
                <a:latin typeface="Arial"/>
                <a:cs typeface="Arial"/>
              </a:rPr>
              <a:t>world.</a:t>
            </a:r>
            <a:endParaRPr sz="1150">
              <a:latin typeface="Arial"/>
              <a:cs typeface="Arial"/>
            </a:endParaRPr>
          </a:p>
          <a:p>
            <a:pPr algn="just" marL="230504" marR="5080" indent="-218440">
              <a:lnSpc>
                <a:spcPct val="101699"/>
              </a:lnSpc>
              <a:spcBef>
                <a:spcPts val="5"/>
              </a:spcBef>
            </a:pPr>
            <a:r>
              <a:rPr dirty="0" sz="1150" spc="-10">
                <a:latin typeface="Arial"/>
                <a:cs typeface="Arial"/>
              </a:rPr>
              <a:t>ii. </a:t>
            </a:r>
            <a:r>
              <a:rPr dirty="0" sz="1150" spc="-45" b="1">
                <a:latin typeface="Arial"/>
                <a:cs typeface="Arial"/>
              </a:rPr>
              <a:t>Middle</a:t>
            </a:r>
            <a:r>
              <a:rPr dirty="0" sz="1150" spc="22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Managers</a:t>
            </a:r>
            <a:r>
              <a:rPr dirty="0" sz="1150" spc="-80">
                <a:latin typeface="Arial"/>
                <a:cs typeface="Arial"/>
              </a:rPr>
              <a:t>—managers </a:t>
            </a:r>
            <a:r>
              <a:rPr dirty="0" sz="1150" spc="-50">
                <a:latin typeface="Arial"/>
                <a:cs typeface="Arial"/>
              </a:rPr>
              <a:t>responsible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5">
                <a:latin typeface="Arial"/>
                <a:cs typeface="Arial"/>
              </a:rPr>
              <a:t>implementing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5">
                <a:latin typeface="Arial"/>
                <a:cs typeface="Arial"/>
              </a:rPr>
              <a:t>strategies, policies,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decisions made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5">
                <a:latin typeface="Arial"/>
                <a:cs typeface="Arial"/>
              </a:rPr>
              <a:t>top </a:t>
            </a:r>
            <a:r>
              <a:rPr dirty="0" sz="1150" spc="-65">
                <a:latin typeface="Arial"/>
                <a:cs typeface="Arial"/>
              </a:rPr>
              <a:t>managers.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more  innovative </a:t>
            </a:r>
            <a:r>
              <a:rPr dirty="0" sz="1150" spc="-50">
                <a:latin typeface="Arial"/>
                <a:cs typeface="Arial"/>
              </a:rPr>
              <a:t>management </a:t>
            </a:r>
            <a:r>
              <a:rPr dirty="0" sz="1150" spc="-35">
                <a:latin typeface="Arial"/>
                <a:cs typeface="Arial"/>
              </a:rPr>
              <a:t>structures,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20">
                <a:latin typeface="Arial"/>
                <a:cs typeface="Arial"/>
              </a:rPr>
              <a:t>function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35">
                <a:latin typeface="Arial"/>
                <a:cs typeface="Arial"/>
              </a:rPr>
              <a:t>team  </a:t>
            </a:r>
            <a:r>
              <a:rPr dirty="0" sz="1150" spc="-55">
                <a:latin typeface="Arial"/>
                <a:cs typeface="Arial"/>
              </a:rPr>
              <a:t>leaders, </a:t>
            </a:r>
            <a:r>
              <a:rPr dirty="0" sz="1150" spc="-45">
                <a:latin typeface="Arial"/>
                <a:cs typeface="Arial"/>
              </a:rPr>
              <a:t>acting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45">
                <a:latin typeface="Arial"/>
                <a:cs typeface="Arial"/>
              </a:rPr>
              <a:t>consultants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45">
                <a:latin typeface="Arial"/>
                <a:cs typeface="Arial"/>
              </a:rPr>
              <a:t>understand </a:t>
            </a:r>
            <a:r>
              <a:rPr dirty="0" sz="1150" spc="-50">
                <a:latin typeface="Arial"/>
                <a:cs typeface="Arial"/>
              </a:rPr>
              <a:t>every  </a:t>
            </a:r>
            <a:r>
              <a:rPr dirty="0" sz="1150" spc="-30">
                <a:latin typeface="Arial"/>
                <a:cs typeface="Arial"/>
              </a:rPr>
              <a:t>department’s </a:t>
            </a:r>
            <a:r>
              <a:rPr dirty="0" sz="1150" spc="-20">
                <a:latin typeface="Arial"/>
                <a:cs typeface="Arial"/>
              </a:rPr>
              <a:t>function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granted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50">
                <a:latin typeface="Arial"/>
                <a:cs typeface="Arial"/>
              </a:rPr>
              <a:t>decision-making  </a:t>
            </a:r>
            <a:r>
              <a:rPr dirty="0" sz="1150" spc="-20">
                <a:latin typeface="Arial"/>
                <a:cs typeface="Arial"/>
              </a:rPr>
              <a:t>authority, </a:t>
            </a:r>
            <a:r>
              <a:rPr dirty="0" sz="1150" spc="-40">
                <a:latin typeface="Arial"/>
                <a:cs typeface="Arial"/>
              </a:rPr>
              <a:t>previously </a:t>
            </a:r>
            <a:r>
              <a:rPr dirty="0" sz="1150" spc="-50">
                <a:latin typeface="Arial"/>
                <a:cs typeface="Arial"/>
              </a:rPr>
              <a:t>reserved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5">
                <a:latin typeface="Arial"/>
                <a:cs typeface="Arial"/>
              </a:rPr>
              <a:t>high-ranking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executives.</a:t>
            </a:r>
            <a:endParaRPr sz="1150">
              <a:latin typeface="Arial"/>
              <a:cs typeface="Arial"/>
            </a:endParaRPr>
          </a:p>
          <a:p>
            <a:pPr algn="just" marL="230504" marR="9525">
              <a:lnSpc>
                <a:spcPct val="101699"/>
              </a:lnSpc>
            </a:pPr>
            <a:r>
              <a:rPr dirty="0" sz="1150" spc="-70" b="1">
                <a:latin typeface="Arial"/>
                <a:cs typeface="Arial"/>
              </a:rPr>
              <a:t>First-line </a:t>
            </a:r>
            <a:r>
              <a:rPr dirty="0" sz="1150" spc="-80" b="1">
                <a:latin typeface="Arial"/>
                <a:cs typeface="Arial"/>
              </a:rPr>
              <a:t>Managers</a:t>
            </a:r>
            <a:r>
              <a:rPr dirty="0" sz="1150" spc="-80">
                <a:latin typeface="Arial"/>
                <a:cs typeface="Arial"/>
              </a:rPr>
              <a:t>—managers </a:t>
            </a:r>
            <a:r>
              <a:rPr dirty="0" sz="1150" spc="-50">
                <a:latin typeface="Arial"/>
                <a:cs typeface="Arial"/>
              </a:rPr>
              <a:t>responsible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supervising </a:t>
            </a:r>
            <a:r>
              <a:rPr dirty="0" sz="1150" spc="-20">
                <a:latin typeface="Arial"/>
                <a:cs typeface="Arial"/>
              </a:rPr>
              <a:t>the work 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employees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0316" y="2853946"/>
            <a:ext cx="160909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14" b="1">
                <a:latin typeface="Arial"/>
                <a:cs typeface="Arial"/>
              </a:rPr>
              <a:t>Areas </a:t>
            </a:r>
            <a:r>
              <a:rPr dirty="0" sz="1350" spc="-60" b="1">
                <a:latin typeface="Arial"/>
                <a:cs typeface="Arial"/>
              </a:rPr>
              <a:t>of</a:t>
            </a:r>
            <a:r>
              <a:rPr dirty="0" sz="1350" spc="-80" b="1">
                <a:latin typeface="Arial"/>
                <a:cs typeface="Arial"/>
              </a:rPr>
              <a:t> Management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18449" y="4489198"/>
            <a:ext cx="19494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65">
                <a:latin typeface="Arial"/>
                <a:cs typeface="Arial"/>
              </a:rPr>
              <a:t>v</a:t>
            </a:r>
            <a:r>
              <a:rPr dirty="0" sz="1150">
                <a:latin typeface="Arial"/>
                <a:cs typeface="Arial"/>
              </a:rPr>
              <a:t>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84923" y="5024122"/>
            <a:ext cx="22860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65">
                <a:latin typeface="Arial"/>
                <a:cs typeface="Arial"/>
              </a:rPr>
              <a:t>v</a:t>
            </a:r>
            <a:r>
              <a:rPr dirty="0" sz="1150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51979" y="3241042"/>
            <a:ext cx="4392295" cy="269748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262255" marR="6350" indent="-250190">
              <a:lnSpc>
                <a:spcPct val="101699"/>
              </a:lnSpc>
              <a:spcBef>
                <a:spcPts val="75"/>
              </a:spcBef>
              <a:buFont typeface="Arial"/>
              <a:buAutoNum type="romanLcPeriod" startAt="4"/>
              <a:tabLst>
                <a:tab pos="262890" algn="l"/>
              </a:tabLst>
            </a:pPr>
            <a:r>
              <a:rPr dirty="0" sz="1150" spc="-90" b="1">
                <a:latin typeface="Arial"/>
                <a:cs typeface="Arial"/>
              </a:rPr>
              <a:t>Human </a:t>
            </a:r>
            <a:r>
              <a:rPr dirty="0" sz="1150" spc="-120" b="1">
                <a:latin typeface="Arial"/>
                <a:cs typeface="Arial"/>
              </a:rPr>
              <a:t>Resources </a:t>
            </a:r>
            <a:r>
              <a:rPr dirty="0" sz="1150" spc="-80" b="1">
                <a:latin typeface="Arial"/>
                <a:cs typeface="Arial"/>
              </a:rPr>
              <a:t>Managers</a:t>
            </a:r>
            <a:r>
              <a:rPr dirty="0" sz="1150" spc="-80">
                <a:latin typeface="Arial"/>
                <a:cs typeface="Arial"/>
              </a:rPr>
              <a:t>—managers </a:t>
            </a:r>
            <a:r>
              <a:rPr dirty="0" sz="1150" spc="-50">
                <a:latin typeface="Arial"/>
                <a:cs typeface="Arial"/>
              </a:rPr>
              <a:t>responsible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5">
                <a:latin typeface="Arial"/>
                <a:cs typeface="Arial"/>
              </a:rPr>
              <a:t>hiring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25">
                <a:latin typeface="Arial"/>
                <a:cs typeface="Arial"/>
              </a:rPr>
              <a:t>training </a:t>
            </a:r>
            <a:r>
              <a:rPr dirty="0" sz="1150" spc="-55">
                <a:latin typeface="Arial"/>
                <a:cs typeface="Arial"/>
              </a:rPr>
              <a:t>employees, </a:t>
            </a:r>
            <a:r>
              <a:rPr dirty="0" sz="1150" spc="-45">
                <a:latin typeface="Arial"/>
                <a:cs typeface="Arial"/>
              </a:rPr>
              <a:t>evaluating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performance,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determining  </a:t>
            </a:r>
            <a:r>
              <a:rPr dirty="0" sz="1150" spc="-45">
                <a:latin typeface="Arial"/>
                <a:cs typeface="Arial"/>
              </a:rPr>
              <a:t>compensation.</a:t>
            </a:r>
            <a:endParaRPr sz="1150">
              <a:latin typeface="Arial"/>
              <a:cs typeface="Arial"/>
            </a:endParaRPr>
          </a:p>
          <a:p>
            <a:pPr algn="just" marL="262255" marR="6350" indent="-216535">
              <a:lnSpc>
                <a:spcPct val="101699"/>
              </a:lnSpc>
              <a:spcBef>
                <a:spcPts val="5"/>
              </a:spcBef>
              <a:buFont typeface="Arial"/>
              <a:buAutoNum type="romanLcPeriod" startAt="4"/>
              <a:tabLst>
                <a:tab pos="262890" algn="l"/>
              </a:tabLst>
            </a:pPr>
            <a:r>
              <a:rPr dirty="0" sz="1150" spc="-75" b="1">
                <a:latin typeface="Arial"/>
                <a:cs typeface="Arial"/>
              </a:rPr>
              <a:t>Operations </a:t>
            </a:r>
            <a:r>
              <a:rPr dirty="0" sz="1150" spc="-80" b="1">
                <a:latin typeface="Arial"/>
                <a:cs typeface="Arial"/>
              </a:rPr>
              <a:t>Managers</a:t>
            </a:r>
            <a:r>
              <a:rPr dirty="0" sz="1150" spc="-80">
                <a:latin typeface="Arial"/>
                <a:cs typeface="Arial"/>
              </a:rPr>
              <a:t>—managers </a:t>
            </a:r>
            <a:r>
              <a:rPr dirty="0" sz="1150" spc="-50">
                <a:latin typeface="Arial"/>
                <a:cs typeface="Arial"/>
              </a:rPr>
              <a:t>responsible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production  </a:t>
            </a:r>
            <a:r>
              <a:rPr dirty="0" sz="1150" spc="-55">
                <a:latin typeface="Arial"/>
                <a:cs typeface="Arial"/>
              </a:rPr>
              <a:t>system, </a:t>
            </a:r>
            <a:r>
              <a:rPr dirty="0" sz="1150" spc="-25">
                <a:latin typeface="Arial"/>
                <a:cs typeface="Arial"/>
              </a:rPr>
              <a:t>inventory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inventory </a:t>
            </a:r>
            <a:r>
              <a:rPr dirty="0" sz="1150" spc="-20">
                <a:latin typeface="Arial"/>
                <a:cs typeface="Arial"/>
              </a:rPr>
              <a:t>control,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quality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control.</a:t>
            </a:r>
            <a:endParaRPr sz="1150">
              <a:latin typeface="Arial"/>
              <a:cs typeface="Arial"/>
            </a:endParaRPr>
          </a:p>
          <a:p>
            <a:pPr marL="262255" marR="5080" indent="-250190">
              <a:lnSpc>
                <a:spcPct val="101699"/>
              </a:lnSpc>
              <a:buFont typeface="Arial"/>
              <a:buAutoNum type="romanLcPeriod" startAt="4"/>
              <a:tabLst>
                <a:tab pos="262890" algn="l"/>
                <a:tab pos="1242060" algn="l"/>
                <a:tab pos="1870075" algn="l"/>
                <a:tab pos="2148840" algn="l"/>
                <a:tab pos="2726690" algn="l"/>
                <a:tab pos="3423285" algn="l"/>
                <a:tab pos="3799204" algn="l"/>
              </a:tabLst>
            </a:pPr>
            <a:r>
              <a:rPr dirty="0" sz="1150" spc="-55" b="1">
                <a:latin typeface="Arial"/>
                <a:cs typeface="Arial"/>
              </a:rPr>
              <a:t>Marketing </a:t>
            </a:r>
            <a:r>
              <a:rPr dirty="0" sz="1150" spc="-80" b="1">
                <a:latin typeface="Arial"/>
                <a:cs typeface="Arial"/>
              </a:rPr>
              <a:t>Managers</a:t>
            </a:r>
            <a:r>
              <a:rPr dirty="0" sz="1150" spc="-80">
                <a:latin typeface="Arial"/>
                <a:cs typeface="Arial"/>
              </a:rPr>
              <a:t>—managers </a:t>
            </a:r>
            <a:r>
              <a:rPr dirty="0" sz="1150" spc="-50">
                <a:latin typeface="Arial"/>
                <a:cs typeface="Arial"/>
              </a:rPr>
              <a:t>responsible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development,  </a:t>
            </a:r>
            <a:r>
              <a:rPr dirty="0" sz="1150" spc="-40">
                <a:latin typeface="Arial"/>
                <a:cs typeface="Arial"/>
              </a:rPr>
              <a:t>pricing, </a:t>
            </a:r>
            <a:r>
              <a:rPr dirty="0" sz="1150" spc="-20">
                <a:latin typeface="Arial"/>
                <a:cs typeface="Arial"/>
              </a:rPr>
              <a:t>promotion,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services.  </a:t>
            </a:r>
            <a:r>
              <a:rPr dirty="0" sz="1150" spc="-55" b="1">
                <a:latin typeface="Arial"/>
                <a:cs typeface="Arial"/>
              </a:rPr>
              <a:t>Information </a:t>
            </a:r>
            <a:r>
              <a:rPr dirty="0" sz="1150" spc="-80" b="1">
                <a:latin typeface="Arial"/>
                <a:cs typeface="Arial"/>
              </a:rPr>
              <a:t>Managers</a:t>
            </a:r>
            <a:r>
              <a:rPr dirty="0" sz="1150" spc="-80">
                <a:latin typeface="Arial"/>
                <a:cs typeface="Arial"/>
              </a:rPr>
              <a:t>—managers </a:t>
            </a:r>
            <a:r>
              <a:rPr dirty="0" sz="1150" spc="-50">
                <a:latin typeface="Arial"/>
                <a:cs typeface="Arial"/>
              </a:rPr>
              <a:t>responsible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60">
                <a:latin typeface="Arial"/>
                <a:cs typeface="Arial"/>
              </a:rPr>
              <a:t>designing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35">
                <a:latin typeface="Arial"/>
                <a:cs typeface="Arial"/>
              </a:rPr>
              <a:t>m</a:t>
            </a:r>
            <a:r>
              <a:rPr dirty="0" sz="1150" spc="-45">
                <a:latin typeface="Arial"/>
                <a:cs typeface="Arial"/>
              </a:rPr>
              <a:t>p</a:t>
            </a:r>
            <a:r>
              <a:rPr dirty="0" sz="1150">
                <a:latin typeface="Arial"/>
                <a:cs typeface="Arial"/>
              </a:rPr>
              <a:t>l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 spc="-35">
                <a:latin typeface="Arial"/>
                <a:cs typeface="Arial"/>
              </a:rPr>
              <a:t>m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 spc="-45">
                <a:latin typeface="Arial"/>
                <a:cs typeface="Arial"/>
              </a:rPr>
              <a:t>n</a:t>
            </a:r>
            <a:r>
              <a:rPr dirty="0" sz="1150" spc="60">
                <a:latin typeface="Arial"/>
                <a:cs typeface="Arial"/>
              </a:rPr>
              <a:t>t</a:t>
            </a: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45">
                <a:latin typeface="Arial"/>
                <a:cs typeface="Arial"/>
              </a:rPr>
              <a:t>n</a:t>
            </a:r>
            <a:r>
              <a:rPr dirty="0" sz="1150" spc="-100">
                <a:latin typeface="Arial"/>
                <a:cs typeface="Arial"/>
              </a:rPr>
              <a:t>g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-125">
                <a:latin typeface="Arial"/>
                <a:cs typeface="Arial"/>
              </a:rPr>
              <a:t>s</a:t>
            </a:r>
            <a:r>
              <a:rPr dirty="0" sz="1150" spc="-60">
                <a:latin typeface="Arial"/>
                <a:cs typeface="Arial"/>
              </a:rPr>
              <a:t>y</a:t>
            </a:r>
            <a:r>
              <a:rPr dirty="0" sz="1150" spc="-125">
                <a:latin typeface="Arial"/>
                <a:cs typeface="Arial"/>
              </a:rPr>
              <a:t>s</a:t>
            </a:r>
            <a:r>
              <a:rPr dirty="0" sz="1150" spc="60">
                <a:latin typeface="Arial"/>
                <a:cs typeface="Arial"/>
              </a:rPr>
              <a:t>t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 spc="-50">
                <a:latin typeface="Arial"/>
                <a:cs typeface="Arial"/>
              </a:rPr>
              <a:t>m</a:t>
            </a:r>
            <a:r>
              <a:rPr dirty="0" sz="1150" spc="-130">
                <a:latin typeface="Arial"/>
                <a:cs typeface="Arial"/>
              </a:rPr>
              <a:t>s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60">
                <a:latin typeface="Arial"/>
                <a:cs typeface="Arial"/>
              </a:rPr>
              <a:t>t</a:t>
            </a:r>
            <a:r>
              <a:rPr dirty="0" sz="1150" spc="-35">
                <a:latin typeface="Arial"/>
                <a:cs typeface="Arial"/>
              </a:rPr>
              <a:t>o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-105">
                <a:latin typeface="Arial"/>
                <a:cs typeface="Arial"/>
              </a:rPr>
              <a:t>g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60">
                <a:latin typeface="Arial"/>
                <a:cs typeface="Arial"/>
              </a:rPr>
              <a:t>t</a:t>
            </a:r>
            <a:r>
              <a:rPr dirty="0" sz="1150" spc="-45">
                <a:latin typeface="Arial"/>
                <a:cs typeface="Arial"/>
              </a:rPr>
              <a:t>h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 spc="10">
                <a:latin typeface="Arial"/>
                <a:cs typeface="Arial"/>
              </a:rPr>
              <a:t>r</a:t>
            </a:r>
            <a:r>
              <a:rPr dirty="0" sz="1150" spc="-35">
                <a:latin typeface="Arial"/>
                <a:cs typeface="Arial"/>
              </a:rPr>
              <a:t>,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-30">
                <a:latin typeface="Arial"/>
                <a:cs typeface="Arial"/>
              </a:rPr>
              <a:t>o</a:t>
            </a:r>
            <a:r>
              <a:rPr dirty="0" sz="1150" spc="10">
                <a:latin typeface="Arial"/>
                <a:cs typeface="Arial"/>
              </a:rPr>
              <a:t>r</a:t>
            </a:r>
            <a:r>
              <a:rPr dirty="0" sz="1150" spc="-105">
                <a:latin typeface="Arial"/>
                <a:cs typeface="Arial"/>
              </a:rPr>
              <a:t>g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45">
                <a:latin typeface="Arial"/>
                <a:cs typeface="Arial"/>
              </a:rPr>
              <a:t>n</a:t>
            </a: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125">
                <a:latin typeface="Arial"/>
                <a:cs typeface="Arial"/>
              </a:rPr>
              <a:t>z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 spc="-35">
                <a:latin typeface="Arial"/>
                <a:cs typeface="Arial"/>
              </a:rPr>
              <a:t>,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45">
                <a:latin typeface="Arial"/>
                <a:cs typeface="Arial"/>
              </a:rPr>
              <a:t>n</a:t>
            </a:r>
            <a:r>
              <a:rPr dirty="0" sz="1150" spc="-40">
                <a:latin typeface="Arial"/>
                <a:cs typeface="Arial"/>
              </a:rPr>
              <a:t>d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-45">
                <a:latin typeface="Arial"/>
                <a:cs typeface="Arial"/>
              </a:rPr>
              <a:t>d</a:t>
            </a: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125">
                <a:latin typeface="Arial"/>
                <a:cs typeface="Arial"/>
              </a:rPr>
              <a:t>s</a:t>
            </a:r>
            <a:r>
              <a:rPr dirty="0" sz="1150" spc="60">
                <a:latin typeface="Arial"/>
                <a:cs typeface="Arial"/>
              </a:rPr>
              <a:t>t</a:t>
            </a:r>
            <a:r>
              <a:rPr dirty="0" sz="1150" spc="10">
                <a:latin typeface="Arial"/>
                <a:cs typeface="Arial"/>
              </a:rPr>
              <a:t>r</a:t>
            </a: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35">
                <a:latin typeface="Arial"/>
                <a:cs typeface="Arial"/>
              </a:rPr>
              <a:t>b</a:t>
            </a:r>
            <a:r>
              <a:rPr dirty="0" sz="1150" spc="-45">
                <a:latin typeface="Arial"/>
                <a:cs typeface="Arial"/>
              </a:rPr>
              <a:t>u</a:t>
            </a:r>
            <a:r>
              <a:rPr dirty="0" sz="1150" spc="60">
                <a:latin typeface="Arial"/>
                <a:cs typeface="Arial"/>
              </a:rPr>
              <a:t>t</a:t>
            </a:r>
            <a:r>
              <a:rPr dirty="0" sz="1150" spc="-55">
                <a:latin typeface="Arial"/>
                <a:cs typeface="Arial"/>
              </a:rPr>
              <a:t>e </a:t>
            </a:r>
            <a:r>
              <a:rPr dirty="0" sz="1150" spc="-35">
                <a:latin typeface="Times New Roman"/>
                <a:cs typeface="Times New Roman"/>
              </a:rPr>
              <a:t> </a:t>
            </a:r>
            <a:r>
              <a:rPr dirty="0" sz="1150" spc="-20">
                <a:latin typeface="Arial"/>
                <a:cs typeface="Arial"/>
              </a:rPr>
              <a:t>information.</a:t>
            </a:r>
            <a:endParaRPr sz="1150">
              <a:latin typeface="Arial"/>
              <a:cs typeface="Arial"/>
            </a:endParaRPr>
          </a:p>
          <a:p>
            <a:pPr marL="262255" marR="5080">
              <a:lnSpc>
                <a:spcPct val="101699"/>
              </a:lnSpc>
            </a:pPr>
            <a:r>
              <a:rPr dirty="0" sz="1150" spc="-85" b="1">
                <a:latin typeface="Arial"/>
                <a:cs typeface="Arial"/>
              </a:rPr>
              <a:t>Financial </a:t>
            </a:r>
            <a:r>
              <a:rPr dirty="0" sz="1150" spc="-80" b="1">
                <a:latin typeface="Arial"/>
                <a:cs typeface="Arial"/>
              </a:rPr>
              <a:t>Managers</a:t>
            </a:r>
            <a:r>
              <a:rPr dirty="0" sz="1150" spc="-80">
                <a:latin typeface="Arial"/>
                <a:cs typeface="Arial"/>
              </a:rPr>
              <a:t>—managers </a:t>
            </a:r>
            <a:r>
              <a:rPr dirty="0" sz="1150" spc="-50">
                <a:latin typeface="Arial"/>
                <a:cs typeface="Arial"/>
              </a:rPr>
              <a:t>responsible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firm’s </a:t>
            </a:r>
            <a:r>
              <a:rPr dirty="0" sz="1150" spc="-45">
                <a:latin typeface="Arial"/>
                <a:cs typeface="Arial"/>
              </a:rPr>
              <a:t>accounting  </a:t>
            </a:r>
            <a:r>
              <a:rPr dirty="0" sz="1150" spc="-30">
                <a:latin typeface="Arial"/>
                <a:cs typeface="Arial"/>
              </a:rPr>
              <a:t>functions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financial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resources.</a:t>
            </a:r>
            <a:endParaRPr sz="1150">
              <a:latin typeface="Arial"/>
              <a:cs typeface="Arial"/>
            </a:endParaRPr>
          </a:p>
          <a:p>
            <a:pPr algn="just" marL="262255" marR="5080" indent="-248920">
              <a:lnSpc>
                <a:spcPct val="101699"/>
              </a:lnSpc>
            </a:pPr>
            <a:r>
              <a:rPr dirty="0" sz="1150" spc="-35">
                <a:latin typeface="Arial"/>
                <a:cs typeface="Arial"/>
              </a:rPr>
              <a:t>ix. </a:t>
            </a:r>
            <a:r>
              <a:rPr dirty="0" sz="1150" spc="-60" b="1">
                <a:latin typeface="Arial"/>
                <a:cs typeface="Arial"/>
              </a:rPr>
              <a:t>Other </a:t>
            </a:r>
            <a:r>
              <a:rPr dirty="0" sz="1150" spc="-80" b="1">
                <a:latin typeface="Arial"/>
                <a:cs typeface="Arial"/>
              </a:rPr>
              <a:t>Managers</a:t>
            </a:r>
            <a:r>
              <a:rPr dirty="0" sz="1150" spc="-80">
                <a:latin typeface="Arial"/>
                <a:cs typeface="Arial"/>
              </a:rPr>
              <a:t>—some </a:t>
            </a:r>
            <a:r>
              <a:rPr dirty="0" sz="1150" spc="-25">
                <a:latin typeface="Arial"/>
                <a:cs typeface="Arial"/>
              </a:rPr>
              <a:t>firms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40">
                <a:latin typeface="Arial"/>
                <a:cs typeface="Arial"/>
              </a:rPr>
              <a:t>employ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60">
                <a:latin typeface="Arial"/>
                <a:cs typeface="Arial"/>
              </a:rPr>
              <a:t>specialized  </a:t>
            </a:r>
            <a:r>
              <a:rPr dirty="0" sz="1150" spc="-65">
                <a:latin typeface="Arial"/>
                <a:cs typeface="Arial"/>
              </a:rPr>
              <a:t>managers,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35">
                <a:latin typeface="Arial"/>
                <a:cs typeface="Arial"/>
              </a:rPr>
              <a:t>public </a:t>
            </a:r>
            <a:r>
              <a:rPr dirty="0" sz="1150" spc="-30">
                <a:latin typeface="Arial"/>
                <a:cs typeface="Arial"/>
              </a:rPr>
              <a:t>relations </a:t>
            </a:r>
            <a:r>
              <a:rPr dirty="0" sz="1150" spc="-65">
                <a:latin typeface="Arial"/>
                <a:cs typeface="Arial"/>
              </a:rPr>
              <a:t>managers, </a:t>
            </a:r>
            <a:r>
              <a:rPr dirty="0" sz="1150" spc="-55">
                <a:latin typeface="Arial"/>
                <a:cs typeface="Arial"/>
              </a:rPr>
              <a:t>research </a:t>
            </a:r>
            <a:r>
              <a:rPr dirty="0" sz="1150" spc="15">
                <a:latin typeface="Arial"/>
                <a:cs typeface="Arial"/>
              </a:rPr>
              <a:t>&amp;  </a:t>
            </a:r>
            <a:r>
              <a:rPr dirty="0" sz="1150" spc="-35">
                <a:latin typeface="Arial"/>
                <a:cs typeface="Arial"/>
              </a:rPr>
              <a:t>development </a:t>
            </a:r>
            <a:r>
              <a:rPr dirty="0" sz="1150" spc="-65">
                <a:latin typeface="Arial"/>
                <a:cs typeface="Arial"/>
              </a:rPr>
              <a:t>managers,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8912" y="6093969"/>
            <a:ext cx="5285740" cy="2541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60" b="1">
                <a:latin typeface="Arial"/>
                <a:cs typeface="Arial"/>
              </a:rPr>
              <a:t>BASIC </a:t>
            </a:r>
            <a:r>
              <a:rPr dirty="0" sz="1150" spc="-110" b="1">
                <a:latin typeface="Arial"/>
                <a:cs typeface="Arial"/>
              </a:rPr>
              <a:t>MANAGEMENT </a:t>
            </a:r>
            <a:r>
              <a:rPr dirty="0" sz="1150" spc="-185" b="1">
                <a:latin typeface="Arial"/>
                <a:cs typeface="Arial"/>
              </a:rPr>
              <a:t>SKILLS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Whatever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type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80">
                <a:latin typeface="Arial"/>
                <a:cs typeface="Arial"/>
              </a:rPr>
              <a:t>size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organization,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40">
                <a:latin typeface="Arial"/>
                <a:cs typeface="Arial"/>
              </a:rPr>
              <a:t>employ </a:t>
            </a:r>
            <a:r>
              <a:rPr dirty="0" sz="1150" spc="-70">
                <a:latin typeface="Arial"/>
                <a:cs typeface="Arial"/>
              </a:rPr>
              <a:t>basic </a:t>
            </a:r>
            <a:r>
              <a:rPr dirty="0" sz="1150" spc="-50">
                <a:latin typeface="Arial"/>
                <a:cs typeface="Arial"/>
              </a:rPr>
              <a:t>kinds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skills. </a:t>
            </a:r>
            <a:r>
              <a:rPr dirty="0" sz="1150" spc="-114">
                <a:latin typeface="Arial"/>
                <a:cs typeface="Arial"/>
              </a:rPr>
              <a:t>As 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45">
                <a:latin typeface="Arial"/>
                <a:cs typeface="Arial"/>
              </a:rPr>
              <a:t>rise </a:t>
            </a:r>
            <a:r>
              <a:rPr dirty="0" sz="1150" spc="-25">
                <a:latin typeface="Arial"/>
                <a:cs typeface="Arial"/>
              </a:rPr>
              <a:t>through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hierarchy,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need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strengthen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these  </a:t>
            </a:r>
            <a:r>
              <a:rPr dirty="0" sz="1150" spc="-45">
                <a:latin typeface="Arial"/>
                <a:cs typeface="Arial"/>
              </a:rPr>
              <a:t>skills.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Arial"/>
              <a:cs typeface="Arial"/>
            </a:endParaRPr>
          </a:p>
          <a:p>
            <a:pPr algn="just" marL="241300" marR="5080" indent="-228600">
              <a:lnSpc>
                <a:spcPct val="100899"/>
              </a:lnSpc>
              <a:buFont typeface="Symbol"/>
              <a:buChar char=""/>
              <a:tabLst>
                <a:tab pos="241300" algn="l"/>
              </a:tabLst>
            </a:pPr>
            <a:r>
              <a:rPr dirty="0" sz="1150" spc="-95" b="1">
                <a:latin typeface="Arial"/>
                <a:cs typeface="Arial"/>
              </a:rPr>
              <a:t>Technical </a:t>
            </a:r>
            <a:r>
              <a:rPr dirty="0" sz="1150" spc="-80" b="1">
                <a:latin typeface="Arial"/>
                <a:cs typeface="Arial"/>
              </a:rPr>
              <a:t>Skills</a:t>
            </a:r>
            <a:r>
              <a:rPr dirty="0" sz="1150" spc="-80">
                <a:latin typeface="Arial"/>
                <a:cs typeface="Arial"/>
              </a:rPr>
              <a:t>—skills </a:t>
            </a:r>
            <a:r>
              <a:rPr dirty="0" sz="1150" spc="-55">
                <a:latin typeface="Arial"/>
                <a:cs typeface="Arial"/>
              </a:rPr>
              <a:t>needed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perform </a:t>
            </a:r>
            <a:r>
              <a:rPr dirty="0" sz="1150" spc="-60">
                <a:latin typeface="Arial"/>
                <a:cs typeface="Arial"/>
              </a:rPr>
              <a:t>specialized </a:t>
            </a:r>
            <a:r>
              <a:rPr dirty="0" sz="1150" spc="-65">
                <a:latin typeface="Arial"/>
                <a:cs typeface="Arial"/>
              </a:rPr>
              <a:t>tasks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10">
                <a:latin typeface="Arial"/>
                <a:cs typeface="Arial"/>
              </a:rPr>
              <a:t>writing </a:t>
            </a:r>
            <a:r>
              <a:rPr dirty="0" sz="1150" spc="-30">
                <a:latin typeface="Arial"/>
                <a:cs typeface="Arial"/>
              </a:rPr>
              <a:t>computer  </a:t>
            </a:r>
            <a:r>
              <a:rPr dirty="0" sz="1150" spc="-55">
                <a:latin typeface="Arial"/>
                <a:cs typeface="Arial"/>
              </a:rPr>
              <a:t>code, </a:t>
            </a:r>
            <a:r>
              <a:rPr dirty="0" sz="1150" spc="-40">
                <a:latin typeface="Arial"/>
                <a:cs typeface="Arial"/>
              </a:rPr>
              <a:t>drawing animated </a:t>
            </a:r>
            <a:r>
              <a:rPr dirty="0" sz="1150" spc="-50">
                <a:latin typeface="Arial"/>
                <a:cs typeface="Arial"/>
              </a:rPr>
              <a:t>characters,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auditing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company’s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records.</a:t>
            </a:r>
            <a:endParaRPr sz="1150">
              <a:latin typeface="Arial"/>
              <a:cs typeface="Arial"/>
            </a:endParaRPr>
          </a:p>
          <a:p>
            <a:pPr algn="just" marL="241300" marR="5080" indent="-228600">
              <a:lnSpc>
                <a:spcPct val="100899"/>
              </a:lnSpc>
              <a:spcBef>
                <a:spcPts val="85"/>
              </a:spcBef>
              <a:buFont typeface="Symbol"/>
              <a:buChar char=""/>
              <a:tabLst>
                <a:tab pos="241300" algn="l"/>
              </a:tabLst>
            </a:pPr>
            <a:r>
              <a:rPr dirty="0" sz="1150" spc="-90" b="1">
                <a:latin typeface="Arial"/>
                <a:cs typeface="Arial"/>
              </a:rPr>
              <a:t>Human </a:t>
            </a:r>
            <a:r>
              <a:rPr dirty="0" sz="1150" spc="-85" b="1">
                <a:latin typeface="Arial"/>
                <a:cs typeface="Arial"/>
              </a:rPr>
              <a:t>Relations </a:t>
            </a:r>
            <a:r>
              <a:rPr dirty="0" sz="1150" spc="-80" b="1">
                <a:latin typeface="Arial"/>
                <a:cs typeface="Arial"/>
              </a:rPr>
              <a:t>Skills</a:t>
            </a:r>
            <a:r>
              <a:rPr dirty="0" sz="1150" spc="-80">
                <a:latin typeface="Arial"/>
                <a:cs typeface="Arial"/>
              </a:rPr>
              <a:t>—skills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understanding </a:t>
            </a:r>
            <a:r>
              <a:rPr dirty="0" sz="1150" spc="-50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getting </a:t>
            </a:r>
            <a:r>
              <a:rPr dirty="0" sz="1150" spc="-55">
                <a:latin typeface="Arial"/>
                <a:cs typeface="Arial"/>
              </a:rPr>
              <a:t>along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40">
                <a:latin typeface="Arial"/>
                <a:cs typeface="Arial"/>
              </a:rPr>
              <a:t>people, </a:t>
            </a:r>
            <a:r>
              <a:rPr dirty="0" sz="1150" spc="-70">
                <a:latin typeface="Arial"/>
                <a:cs typeface="Arial"/>
              </a:rPr>
              <a:t>such 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45">
                <a:latin typeface="Arial"/>
                <a:cs typeface="Arial"/>
              </a:rPr>
              <a:t>communicating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2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motivating.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Symbol"/>
              <a:buChar char=""/>
            </a:pPr>
            <a:endParaRPr sz="1250">
              <a:latin typeface="Arial"/>
              <a:cs typeface="Arial"/>
            </a:endParaRPr>
          </a:p>
          <a:p>
            <a:pPr algn="just" marL="240665" marR="5080" indent="-228600">
              <a:lnSpc>
                <a:spcPct val="101299"/>
              </a:lnSpc>
              <a:buFont typeface="Symbol"/>
              <a:buChar char=""/>
              <a:tabLst>
                <a:tab pos="241300" algn="l"/>
              </a:tabLst>
            </a:pPr>
            <a:r>
              <a:rPr dirty="0" sz="1150" spc="-90" b="1">
                <a:latin typeface="Arial"/>
                <a:cs typeface="Arial"/>
              </a:rPr>
              <a:t>Conceptual </a:t>
            </a:r>
            <a:r>
              <a:rPr dirty="0" sz="1150" spc="-65" b="1">
                <a:latin typeface="Arial"/>
                <a:cs typeface="Arial"/>
              </a:rPr>
              <a:t>Skills</a:t>
            </a:r>
            <a:r>
              <a:rPr dirty="0" sz="1150" spc="-65">
                <a:latin typeface="Arial"/>
                <a:cs typeface="Arial"/>
              </a:rPr>
              <a:t>—abilities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think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40">
                <a:latin typeface="Arial"/>
                <a:cs typeface="Arial"/>
              </a:rPr>
              <a:t>abstract, </a:t>
            </a:r>
            <a:r>
              <a:rPr dirty="0" sz="1150" spc="-65">
                <a:latin typeface="Arial"/>
                <a:cs typeface="Arial"/>
              </a:rPr>
              <a:t>diagnose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analyze </a:t>
            </a:r>
            <a:r>
              <a:rPr dirty="0" sz="1150" spc="-15">
                <a:latin typeface="Arial"/>
                <a:cs typeface="Arial"/>
              </a:rPr>
              <a:t>different  </a:t>
            </a:r>
            <a:r>
              <a:rPr dirty="0" sz="1150" spc="-35">
                <a:latin typeface="Arial"/>
                <a:cs typeface="Arial"/>
              </a:rPr>
              <a:t>situations,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90">
                <a:latin typeface="Arial"/>
                <a:cs typeface="Arial"/>
              </a:rPr>
              <a:t>see </a:t>
            </a:r>
            <a:r>
              <a:rPr dirty="0" sz="1150" spc="-50">
                <a:latin typeface="Arial"/>
                <a:cs typeface="Arial"/>
              </a:rPr>
              <a:t>beyond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present </a:t>
            </a:r>
            <a:r>
              <a:rPr dirty="0" sz="1150" spc="-20">
                <a:latin typeface="Arial"/>
                <a:cs typeface="Arial"/>
              </a:rPr>
              <a:t>situation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recognize </a:t>
            </a:r>
            <a:r>
              <a:rPr dirty="0" sz="1150" spc="-10">
                <a:latin typeface="Arial"/>
                <a:cs typeface="Arial"/>
              </a:rPr>
              <a:t>future </a:t>
            </a:r>
            <a:r>
              <a:rPr dirty="0" sz="1150" spc="-30">
                <a:latin typeface="Arial"/>
                <a:cs typeface="Arial"/>
              </a:rPr>
              <a:t>market  </a:t>
            </a:r>
            <a:r>
              <a:rPr dirty="0" sz="1150" spc="-25">
                <a:latin typeface="Arial"/>
                <a:cs typeface="Arial"/>
              </a:rPr>
              <a:t>opportunities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threats.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58899" y="892559"/>
            <a:ext cx="5284470" cy="16891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5" b="1">
                <a:latin typeface="Arial"/>
                <a:cs typeface="Arial"/>
              </a:rPr>
              <a:t>THE </a:t>
            </a:r>
            <a:r>
              <a:rPr dirty="0" sz="1350" spc="-140" b="1">
                <a:latin typeface="Arial"/>
                <a:cs typeface="Arial"/>
              </a:rPr>
              <a:t>FOUNDATIONS </a:t>
            </a:r>
            <a:r>
              <a:rPr dirty="0" sz="1350" spc="-180" b="1">
                <a:latin typeface="Arial"/>
                <a:cs typeface="Arial"/>
              </a:rPr>
              <a:t>OF </a:t>
            </a:r>
            <a:r>
              <a:rPr dirty="0" sz="1350" spc="-85" b="1">
                <a:latin typeface="Arial"/>
                <a:cs typeface="Arial"/>
              </a:rPr>
              <a:t>HUMAN </a:t>
            </a:r>
            <a:r>
              <a:rPr dirty="0" sz="1350" spc="-215" b="1">
                <a:latin typeface="Arial"/>
                <a:cs typeface="Arial"/>
              </a:rPr>
              <a:t>RESOURCE</a:t>
            </a:r>
            <a:r>
              <a:rPr dirty="0" sz="1350" spc="-165" b="1">
                <a:latin typeface="Arial"/>
                <a:cs typeface="Arial"/>
              </a:rPr>
              <a:t> </a:t>
            </a:r>
            <a:r>
              <a:rPr dirty="0" sz="1350" spc="-125" b="1">
                <a:latin typeface="Arial"/>
                <a:cs typeface="Arial"/>
              </a:rPr>
              <a:t>MANAGEMENT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20">
                <a:latin typeface="Arial"/>
                <a:cs typeface="Arial"/>
              </a:rPr>
              <a:t>ability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attract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retain </a:t>
            </a:r>
            <a:r>
              <a:rPr dirty="0" sz="1150" spc="-25">
                <a:latin typeface="Arial"/>
                <a:cs typeface="Arial"/>
              </a:rPr>
              <a:t>talented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motivated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 spc="-15">
                <a:latin typeface="Arial"/>
                <a:cs typeface="Arial"/>
              </a:rPr>
              <a:t>often </a:t>
            </a:r>
            <a:r>
              <a:rPr dirty="0" sz="1150" spc="-60">
                <a:latin typeface="Arial"/>
                <a:cs typeface="Arial"/>
              </a:rPr>
              <a:t>marks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30">
                <a:latin typeface="Arial"/>
                <a:cs typeface="Arial"/>
              </a:rPr>
              <a:t>difference </a:t>
            </a:r>
            <a:r>
              <a:rPr dirty="0" sz="1150" spc="-35">
                <a:latin typeface="Arial"/>
                <a:cs typeface="Arial"/>
              </a:rPr>
              <a:t>between </a:t>
            </a:r>
            <a:r>
              <a:rPr dirty="0" sz="1150" spc="-100">
                <a:latin typeface="Arial"/>
                <a:cs typeface="Arial"/>
              </a:rPr>
              <a:t>success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failure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0">
                <a:latin typeface="Arial"/>
                <a:cs typeface="Arial"/>
              </a:rPr>
              <a:t>today’s </a:t>
            </a:r>
            <a:r>
              <a:rPr dirty="0" sz="1150" spc="-25">
                <a:latin typeface="Arial"/>
                <a:cs typeface="Arial"/>
              </a:rPr>
              <a:t>competitive </a:t>
            </a:r>
            <a:r>
              <a:rPr dirty="0" sz="1150" spc="-75">
                <a:latin typeface="Arial"/>
                <a:cs typeface="Arial"/>
              </a:rPr>
              <a:t>business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environment.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7620" indent="-635">
              <a:lnSpc>
                <a:spcPct val="101699"/>
              </a:lnSpc>
            </a:pPr>
            <a:r>
              <a:rPr dirty="0" sz="1150" spc="-90" b="1">
                <a:latin typeface="Arial"/>
                <a:cs typeface="Arial"/>
              </a:rPr>
              <a:t>Human </a:t>
            </a:r>
            <a:r>
              <a:rPr dirty="0" sz="1150" spc="-110" b="1">
                <a:latin typeface="Arial"/>
                <a:cs typeface="Arial"/>
              </a:rPr>
              <a:t>Resource </a:t>
            </a:r>
            <a:r>
              <a:rPr dirty="0" sz="1150" spc="-65" b="1">
                <a:latin typeface="Arial"/>
                <a:cs typeface="Arial"/>
              </a:rPr>
              <a:t>Management</a:t>
            </a:r>
            <a:r>
              <a:rPr dirty="0" sz="1150" spc="-65">
                <a:latin typeface="Arial"/>
                <a:cs typeface="Arial"/>
              </a:rPr>
              <a:t>—set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organizational </a:t>
            </a:r>
            <a:r>
              <a:rPr dirty="0" sz="1150" spc="-30">
                <a:latin typeface="Arial"/>
                <a:cs typeface="Arial"/>
              </a:rPr>
              <a:t>activities directed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25">
                <a:latin typeface="Arial"/>
                <a:cs typeface="Arial"/>
              </a:rPr>
              <a:t>attracting,  </a:t>
            </a:r>
            <a:r>
              <a:rPr dirty="0" sz="1150" spc="-45">
                <a:latin typeface="Arial"/>
                <a:cs typeface="Arial"/>
              </a:rPr>
              <a:t>developing,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maintaining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30">
                <a:latin typeface="Arial"/>
                <a:cs typeface="Arial"/>
              </a:rPr>
              <a:t>effective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workforce.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10" b="1">
                <a:latin typeface="Arial"/>
                <a:cs typeface="Arial"/>
              </a:rPr>
              <a:t>The </a:t>
            </a:r>
            <a:r>
              <a:rPr dirty="0" sz="1350" spc="-100" b="1">
                <a:latin typeface="Arial"/>
                <a:cs typeface="Arial"/>
              </a:rPr>
              <a:t>Strategic </a:t>
            </a:r>
            <a:r>
              <a:rPr dirty="0" sz="1350" spc="-85" b="1">
                <a:latin typeface="Arial"/>
                <a:cs typeface="Arial"/>
              </a:rPr>
              <a:t>Importance </a:t>
            </a:r>
            <a:r>
              <a:rPr dirty="0" sz="1350" spc="-60" b="1">
                <a:latin typeface="Arial"/>
                <a:cs typeface="Arial"/>
              </a:rPr>
              <a:t>of</a:t>
            </a:r>
            <a:r>
              <a:rPr dirty="0" sz="1350" spc="-5" b="1">
                <a:latin typeface="Arial"/>
                <a:cs typeface="Arial"/>
              </a:rPr>
              <a:t> </a:t>
            </a:r>
            <a:r>
              <a:rPr dirty="0" sz="1350" spc="-100" b="1">
                <a:latin typeface="Arial"/>
                <a:cs typeface="Arial"/>
              </a:rPr>
              <a:t>HRM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99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50413" y="3271523"/>
            <a:ext cx="1631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83941" y="2738123"/>
            <a:ext cx="4359910" cy="1269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30504" indent="-185420">
              <a:lnSpc>
                <a:spcPct val="100000"/>
              </a:lnSpc>
              <a:spcBef>
                <a:spcPts val="100"/>
              </a:spcBef>
              <a:buAutoNum type="romanLcPeriod"/>
              <a:tabLst>
                <a:tab pos="231140" algn="l"/>
              </a:tabLst>
            </a:pPr>
            <a:r>
              <a:rPr dirty="0" sz="1150" spc="-65">
                <a:latin typeface="Arial"/>
                <a:cs typeface="Arial"/>
              </a:rPr>
              <a:t>Human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5">
                <a:latin typeface="Arial"/>
                <a:cs typeface="Arial"/>
              </a:rPr>
              <a:t>critical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effective </a:t>
            </a:r>
            <a:r>
              <a:rPr dirty="0" sz="1150" spc="-40">
                <a:latin typeface="Arial"/>
                <a:cs typeface="Arial"/>
              </a:rPr>
              <a:t>organizational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functioning.</a:t>
            </a:r>
            <a:endParaRPr sz="1150">
              <a:latin typeface="Arial"/>
              <a:cs typeface="Arial"/>
            </a:endParaRPr>
          </a:p>
          <a:p>
            <a:pPr algn="just" marL="230504" marR="6350" indent="-218440">
              <a:lnSpc>
                <a:spcPct val="100899"/>
              </a:lnSpc>
              <a:spcBef>
                <a:spcPts val="10"/>
              </a:spcBef>
              <a:buAutoNum type="romanLcPeriod"/>
              <a:tabLst>
                <a:tab pos="231140" algn="l"/>
              </a:tabLst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effectiveness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65">
                <a:latin typeface="Arial"/>
                <a:cs typeface="Arial"/>
              </a:rPr>
              <a:t>HR </a:t>
            </a:r>
            <a:r>
              <a:rPr dirty="0" sz="1150" spc="-20">
                <a:latin typeface="Arial"/>
                <a:cs typeface="Arial"/>
              </a:rPr>
              <a:t>function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substantial </a:t>
            </a:r>
            <a:r>
              <a:rPr dirty="0" sz="1150" spc="-30">
                <a:latin typeface="Arial"/>
                <a:cs typeface="Arial"/>
              </a:rPr>
              <a:t>impact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15">
                <a:latin typeface="Arial"/>
                <a:cs typeface="Arial"/>
              </a:rPr>
              <a:t>firm’s bottom-line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performance.</a:t>
            </a:r>
            <a:endParaRPr sz="1150">
              <a:latin typeface="Arial"/>
              <a:cs typeface="Arial"/>
            </a:endParaRPr>
          </a:p>
          <a:p>
            <a:pPr algn="just" marL="230504" marR="5080">
              <a:lnSpc>
                <a:spcPct val="101699"/>
              </a:lnSpc>
              <a:spcBef>
                <a:spcPts val="5"/>
              </a:spcBef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chief </a:t>
            </a:r>
            <a:r>
              <a:rPr dirty="0" sz="1150" spc="-50">
                <a:latin typeface="Arial"/>
                <a:cs typeface="Arial"/>
              </a:rPr>
              <a:t>human resource </a:t>
            </a:r>
            <a:r>
              <a:rPr dirty="0" sz="1150" spc="-45">
                <a:latin typeface="Arial"/>
                <a:cs typeface="Arial"/>
              </a:rPr>
              <a:t>executive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most </a:t>
            </a:r>
            <a:r>
              <a:rPr dirty="0" sz="1150" spc="-50">
                <a:latin typeface="Arial"/>
                <a:cs typeface="Arial"/>
              </a:rPr>
              <a:t>large </a:t>
            </a:r>
            <a:r>
              <a:rPr dirty="0" sz="1150" spc="-75">
                <a:latin typeface="Arial"/>
                <a:cs typeface="Arial"/>
              </a:rPr>
              <a:t>businesses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55">
                <a:latin typeface="Arial"/>
                <a:cs typeface="Arial"/>
              </a:rPr>
              <a:t>vice </a:t>
            </a:r>
            <a:r>
              <a:rPr dirty="0" sz="1150" spc="-35">
                <a:latin typeface="Arial"/>
                <a:cs typeface="Arial"/>
              </a:rPr>
              <a:t>president </a:t>
            </a:r>
            <a:r>
              <a:rPr dirty="0" sz="1150" spc="-25">
                <a:latin typeface="Arial"/>
                <a:cs typeface="Arial"/>
              </a:rPr>
              <a:t>directly </a:t>
            </a:r>
            <a:r>
              <a:rPr dirty="0" sz="1150" spc="-50">
                <a:latin typeface="Arial"/>
                <a:cs typeface="Arial"/>
              </a:rPr>
              <a:t>accountable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0">
                <a:latin typeface="Arial"/>
                <a:cs typeface="Arial"/>
              </a:rPr>
              <a:t>CEO, </a:t>
            </a:r>
            <a:r>
              <a:rPr dirty="0" sz="1150" spc="-55">
                <a:latin typeface="Arial"/>
                <a:cs typeface="Arial"/>
              </a:rPr>
              <a:t>and many </a:t>
            </a:r>
            <a:r>
              <a:rPr dirty="0" sz="1150" spc="-25">
                <a:latin typeface="Arial"/>
                <a:cs typeface="Arial"/>
              </a:rPr>
              <a:t>firms  </a:t>
            </a:r>
            <a:r>
              <a:rPr dirty="0" sz="1150" spc="-45">
                <a:latin typeface="Arial"/>
                <a:cs typeface="Arial"/>
              </a:rPr>
              <a:t>develop </a:t>
            </a:r>
            <a:r>
              <a:rPr dirty="0" sz="1150" spc="-40">
                <a:latin typeface="Arial"/>
                <a:cs typeface="Arial"/>
              </a:rPr>
              <a:t>strategic </a:t>
            </a:r>
            <a:r>
              <a:rPr dirty="0" sz="1150" spc="-165">
                <a:latin typeface="Arial"/>
                <a:cs typeface="Arial"/>
              </a:rPr>
              <a:t>HR </a:t>
            </a:r>
            <a:r>
              <a:rPr dirty="0" sz="1150" spc="-60">
                <a:latin typeface="Arial"/>
                <a:cs typeface="Arial"/>
              </a:rPr>
              <a:t>plans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integrated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40">
                <a:latin typeface="Arial"/>
                <a:cs typeface="Arial"/>
              </a:rPr>
              <a:t>strategic  </a:t>
            </a:r>
            <a:r>
              <a:rPr dirty="0" sz="1150" spc="-45">
                <a:latin typeface="Arial"/>
                <a:cs typeface="Arial"/>
              </a:rPr>
              <a:t>planning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activities.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0272" y="4163062"/>
            <a:ext cx="5513070" cy="42170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5"/>
              </a:spcBef>
            </a:pPr>
            <a:r>
              <a:rPr dirty="0" sz="1350" spc="-145" b="1">
                <a:latin typeface="Arial"/>
                <a:cs typeface="Arial"/>
              </a:rPr>
              <a:t>Scope </a:t>
            </a:r>
            <a:r>
              <a:rPr dirty="0" sz="1350" spc="-65" b="1">
                <a:latin typeface="Arial"/>
                <a:cs typeface="Arial"/>
              </a:rPr>
              <a:t>of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HRM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469900" indent="-188595">
              <a:lnSpc>
                <a:spcPct val="100000"/>
              </a:lnSpc>
              <a:buAutoNum type="romanUcPeriod"/>
              <a:tabLst>
                <a:tab pos="470534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locate, </a:t>
            </a:r>
            <a:r>
              <a:rPr dirty="0" sz="1150" spc="-30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people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required</a:t>
            </a:r>
            <a:endParaRPr sz="1150">
              <a:latin typeface="Arial"/>
              <a:cs typeface="Arial"/>
            </a:endParaRPr>
          </a:p>
          <a:p>
            <a:pPr marL="469900" indent="-224790">
              <a:lnSpc>
                <a:spcPct val="100000"/>
              </a:lnSpc>
              <a:spcBef>
                <a:spcPts val="25"/>
              </a:spcBef>
              <a:buAutoNum type="romanUcPeriod"/>
              <a:tabLst>
                <a:tab pos="470534" algn="l"/>
              </a:tabLst>
            </a:pPr>
            <a:r>
              <a:rPr dirty="0" sz="1150" spc="-55">
                <a:latin typeface="Arial"/>
                <a:cs typeface="Arial"/>
              </a:rPr>
              <a:t>When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required</a:t>
            </a:r>
            <a:endParaRPr sz="1150">
              <a:latin typeface="Arial"/>
              <a:cs typeface="Arial"/>
            </a:endParaRPr>
          </a:p>
          <a:p>
            <a:pPr marL="469900" indent="-262255">
              <a:lnSpc>
                <a:spcPct val="100000"/>
              </a:lnSpc>
              <a:spcBef>
                <a:spcPts val="25"/>
              </a:spcBef>
              <a:buAutoNum type="romanUcPeriod"/>
              <a:tabLst>
                <a:tab pos="469900" algn="l"/>
              </a:tabLst>
            </a:pPr>
            <a:r>
              <a:rPr dirty="0" sz="1150" spc="-55">
                <a:latin typeface="Arial"/>
                <a:cs typeface="Arial"/>
              </a:rPr>
              <a:t>How many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required</a:t>
            </a:r>
            <a:endParaRPr sz="1150">
              <a:latin typeface="Arial"/>
              <a:cs typeface="Arial"/>
            </a:endParaRPr>
          </a:p>
          <a:p>
            <a:pPr marL="469900" indent="-271780">
              <a:lnSpc>
                <a:spcPct val="100000"/>
              </a:lnSpc>
              <a:spcBef>
                <a:spcPts val="25"/>
              </a:spcBef>
              <a:buAutoNum type="romanUcPeriod"/>
              <a:tabLst>
                <a:tab pos="469900" algn="l"/>
              </a:tabLst>
            </a:pPr>
            <a:r>
              <a:rPr dirty="0" sz="1150" spc="-90">
                <a:latin typeface="Arial"/>
                <a:cs typeface="Arial"/>
              </a:rPr>
              <a:t>Job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Analysis</a:t>
            </a:r>
            <a:endParaRPr sz="1150">
              <a:latin typeface="Arial"/>
              <a:cs typeface="Arial"/>
            </a:endParaRPr>
          </a:p>
          <a:p>
            <a:pPr marL="469900" indent="-234950">
              <a:lnSpc>
                <a:spcPct val="100000"/>
              </a:lnSpc>
              <a:spcBef>
                <a:spcPts val="20"/>
              </a:spcBef>
              <a:buAutoNum type="romanUcPeriod"/>
              <a:tabLst>
                <a:tab pos="469900" algn="l"/>
              </a:tabLst>
            </a:pPr>
            <a:r>
              <a:rPr dirty="0" sz="1150" spc="-55">
                <a:latin typeface="Arial"/>
                <a:cs typeface="Arial"/>
              </a:rPr>
              <a:t>Selection</a:t>
            </a:r>
            <a:endParaRPr sz="1150">
              <a:latin typeface="Arial"/>
              <a:cs typeface="Arial"/>
            </a:endParaRPr>
          </a:p>
          <a:p>
            <a:pPr marL="469900" indent="-271780">
              <a:lnSpc>
                <a:spcPct val="100000"/>
              </a:lnSpc>
              <a:spcBef>
                <a:spcPts val="25"/>
              </a:spcBef>
              <a:buAutoNum type="romanUcPeriod"/>
              <a:tabLst>
                <a:tab pos="469900" algn="l"/>
              </a:tabLst>
            </a:pPr>
            <a:r>
              <a:rPr dirty="0" sz="1150" spc="-50">
                <a:latin typeface="Arial"/>
                <a:cs typeface="Arial"/>
              </a:rPr>
              <a:t>Training</a:t>
            </a:r>
            <a:endParaRPr sz="1150">
              <a:latin typeface="Arial"/>
              <a:cs typeface="Arial"/>
            </a:endParaRPr>
          </a:p>
          <a:p>
            <a:pPr marL="469900" indent="-307975">
              <a:lnSpc>
                <a:spcPct val="100000"/>
              </a:lnSpc>
              <a:spcBef>
                <a:spcPts val="25"/>
              </a:spcBef>
              <a:buAutoNum type="romanUcPeriod"/>
              <a:tabLst>
                <a:tab pos="469900" algn="l"/>
              </a:tabLst>
            </a:pPr>
            <a:r>
              <a:rPr dirty="0" sz="1150" spc="-55">
                <a:latin typeface="Arial"/>
                <a:cs typeface="Arial"/>
              </a:rPr>
              <a:t>Appraisal</a:t>
            </a:r>
            <a:endParaRPr sz="1150">
              <a:latin typeface="Arial"/>
              <a:cs typeface="Arial"/>
            </a:endParaRPr>
          </a:p>
          <a:p>
            <a:pPr marL="469900" indent="-344805">
              <a:lnSpc>
                <a:spcPct val="100000"/>
              </a:lnSpc>
              <a:spcBef>
                <a:spcPts val="25"/>
              </a:spcBef>
              <a:buAutoNum type="romanUcPeriod"/>
              <a:tabLst>
                <a:tab pos="469900" algn="l"/>
              </a:tabLst>
            </a:pPr>
            <a:r>
              <a:rPr dirty="0" sz="1150" spc="-55">
                <a:latin typeface="Arial"/>
                <a:cs typeface="Arial"/>
              </a:rPr>
              <a:t>Compensation</a:t>
            </a:r>
            <a:endParaRPr sz="1150">
              <a:latin typeface="Arial"/>
              <a:cs typeface="Arial"/>
            </a:endParaRPr>
          </a:p>
          <a:p>
            <a:pPr marL="469900" indent="-264160">
              <a:lnSpc>
                <a:spcPct val="100000"/>
              </a:lnSpc>
              <a:spcBef>
                <a:spcPts val="25"/>
              </a:spcBef>
              <a:buAutoNum type="romanUcPeriod"/>
              <a:tabLst>
                <a:tab pos="469900" algn="l"/>
              </a:tabLst>
            </a:pPr>
            <a:r>
              <a:rPr dirty="0" sz="1150" spc="-45">
                <a:latin typeface="Arial"/>
                <a:cs typeface="Arial"/>
              </a:rPr>
              <a:t>Health </a:t>
            </a:r>
            <a:r>
              <a:rPr dirty="0" sz="1150" spc="15">
                <a:latin typeface="Arial"/>
                <a:cs typeface="Arial"/>
              </a:rPr>
              <a:t>&amp;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Safety</a:t>
            </a:r>
            <a:endParaRPr sz="1150">
              <a:latin typeface="Arial"/>
              <a:cs typeface="Arial"/>
            </a:endParaRPr>
          </a:p>
          <a:p>
            <a:pPr marL="469900" indent="-227329">
              <a:lnSpc>
                <a:spcPct val="100000"/>
              </a:lnSpc>
              <a:spcBef>
                <a:spcPts val="20"/>
              </a:spcBef>
              <a:buAutoNum type="romanUcPeriod"/>
              <a:tabLst>
                <a:tab pos="469900" algn="l"/>
              </a:tabLst>
            </a:pPr>
            <a:r>
              <a:rPr dirty="0" sz="1150" spc="-65">
                <a:latin typeface="Arial"/>
                <a:cs typeface="Arial"/>
              </a:rPr>
              <a:t>Labor </a:t>
            </a:r>
            <a:r>
              <a:rPr dirty="0" sz="1150" spc="-40">
                <a:latin typeface="Arial"/>
                <a:cs typeface="Arial"/>
              </a:rPr>
              <a:t>Union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Area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90">
                <a:latin typeface="Arial"/>
                <a:cs typeface="Arial"/>
              </a:rPr>
              <a:t>Job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Analysis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12700" marR="715645">
              <a:lnSpc>
                <a:spcPct val="100899"/>
              </a:lnSpc>
            </a:pPr>
            <a:r>
              <a:rPr dirty="0" sz="1150" spc="-90">
                <a:latin typeface="Arial"/>
                <a:cs typeface="Arial"/>
              </a:rPr>
              <a:t>Job </a:t>
            </a:r>
            <a:r>
              <a:rPr dirty="0" sz="1150" spc="-65">
                <a:latin typeface="Arial"/>
                <a:cs typeface="Arial"/>
              </a:rPr>
              <a:t>analysis 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collect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30">
                <a:latin typeface="Arial"/>
                <a:cs typeface="Arial"/>
              </a:rPr>
              <a:t>related </a:t>
            </a:r>
            <a:r>
              <a:rPr dirty="0" sz="1150" spc="5">
                <a:latin typeface="Arial"/>
                <a:cs typeface="Arial"/>
              </a:rPr>
              <a:t>with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one specific </a:t>
            </a:r>
            <a:r>
              <a:rPr dirty="0" sz="1150" spc="-25">
                <a:latin typeface="Arial"/>
                <a:cs typeface="Arial"/>
              </a:rPr>
              <a:t>job. 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>
                <a:latin typeface="Arial"/>
                <a:cs typeface="Arial"/>
              </a:rPr>
              <a:t>two </a:t>
            </a:r>
            <a:r>
              <a:rPr dirty="0" sz="1150" spc="-5">
                <a:latin typeface="Arial"/>
                <a:cs typeface="Arial"/>
              </a:rPr>
              <a:t>further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portions: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469900" marR="5080" indent="-228600">
              <a:lnSpc>
                <a:spcPct val="102000"/>
              </a:lnSpc>
              <a:buSzPct val="85185"/>
              <a:buFont typeface="Arial"/>
              <a:buAutoNum type="alphaLcPeriod"/>
              <a:tabLst>
                <a:tab pos="469900" algn="l"/>
              </a:tabLst>
            </a:pPr>
            <a:r>
              <a:rPr dirty="0" sz="1350" spc="-170" b="1">
                <a:latin typeface="Arial"/>
                <a:cs typeface="Arial"/>
              </a:rPr>
              <a:t>Job </a:t>
            </a:r>
            <a:r>
              <a:rPr dirty="0" sz="1350" spc="-85" b="1">
                <a:latin typeface="Arial"/>
                <a:cs typeface="Arial"/>
              </a:rPr>
              <a:t>Description-</a:t>
            </a:r>
            <a:r>
              <a:rPr dirty="0" sz="1150" spc="-85">
                <a:latin typeface="Arial"/>
                <a:cs typeface="Arial"/>
              </a:rPr>
              <a:t>covers </a:t>
            </a:r>
            <a:r>
              <a:rPr dirty="0" sz="1150" spc="-15">
                <a:latin typeface="Arial"/>
                <a:cs typeface="Arial"/>
              </a:rPr>
              <a:t>job </a:t>
            </a:r>
            <a:r>
              <a:rPr dirty="0" sz="1150">
                <a:latin typeface="Arial"/>
                <a:cs typeface="Arial"/>
              </a:rPr>
              <a:t>title, </a:t>
            </a:r>
            <a:r>
              <a:rPr dirty="0" sz="1150" spc="-15">
                <a:latin typeface="Arial"/>
                <a:cs typeface="Arial"/>
              </a:rPr>
              <a:t>job </a:t>
            </a:r>
            <a:r>
              <a:rPr dirty="0" sz="1150" spc="-30">
                <a:latin typeface="Arial"/>
                <a:cs typeface="Arial"/>
              </a:rPr>
              <a:t>location, </a:t>
            </a:r>
            <a:r>
              <a:rPr dirty="0" sz="1150" spc="-20">
                <a:latin typeface="Arial"/>
                <a:cs typeface="Arial"/>
              </a:rPr>
              <a:t>job </a:t>
            </a:r>
            <a:r>
              <a:rPr dirty="0" sz="1150" spc="-35">
                <a:latin typeface="Arial"/>
                <a:cs typeface="Arial"/>
              </a:rPr>
              <a:t>duties, </a:t>
            </a:r>
            <a:r>
              <a:rPr dirty="0" sz="1150" spc="-30">
                <a:latin typeface="Arial"/>
                <a:cs typeface="Arial"/>
              </a:rPr>
              <a:t>working environment </a:t>
            </a:r>
            <a:r>
              <a:rPr dirty="0" sz="1150" spc="15">
                <a:latin typeface="Arial"/>
                <a:cs typeface="Arial"/>
              </a:rPr>
              <a:t>&amp;  </a:t>
            </a:r>
            <a:r>
              <a:rPr dirty="0" sz="1150" spc="-60">
                <a:latin typeface="Arial"/>
                <a:cs typeface="Arial"/>
              </a:rPr>
              <a:t>Supervision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AutoNum type="alphaLcPeriod"/>
            </a:pPr>
            <a:endParaRPr sz="1200">
              <a:latin typeface="Arial"/>
              <a:cs typeface="Arial"/>
            </a:endParaRPr>
          </a:p>
          <a:p>
            <a:pPr marL="469265" marR="5080" indent="-228600">
              <a:lnSpc>
                <a:spcPct val="101200"/>
              </a:lnSpc>
              <a:spcBef>
                <a:spcPts val="5"/>
              </a:spcBef>
              <a:buSzPct val="85185"/>
              <a:buFont typeface="Arial"/>
              <a:buAutoNum type="alphaLcPeriod"/>
              <a:tabLst>
                <a:tab pos="469900" algn="l"/>
              </a:tabLst>
            </a:pPr>
            <a:r>
              <a:rPr dirty="0" sz="1350" spc="-170" b="1">
                <a:latin typeface="Arial"/>
                <a:cs typeface="Arial"/>
              </a:rPr>
              <a:t>Job </a:t>
            </a:r>
            <a:r>
              <a:rPr dirty="0" sz="1350" spc="-95" b="1">
                <a:latin typeface="Arial"/>
                <a:cs typeface="Arial"/>
              </a:rPr>
              <a:t>Specification- </a:t>
            </a:r>
            <a:r>
              <a:rPr dirty="0" sz="1150" spc="-85">
                <a:latin typeface="Arial"/>
                <a:cs typeface="Arial"/>
              </a:rPr>
              <a:t>Covers </a:t>
            </a:r>
            <a:r>
              <a:rPr dirty="0" sz="1150" spc="-75">
                <a:latin typeface="Arial"/>
                <a:cs typeface="Arial"/>
              </a:rPr>
              <a:t>areas </a:t>
            </a:r>
            <a:r>
              <a:rPr dirty="0" sz="1150" spc="-35">
                <a:latin typeface="Arial"/>
                <a:cs typeface="Arial"/>
              </a:rPr>
              <a:t>like, </a:t>
            </a:r>
            <a:r>
              <a:rPr dirty="0" sz="1150" spc="-50">
                <a:latin typeface="Arial"/>
                <a:cs typeface="Arial"/>
              </a:rPr>
              <a:t>human skills </a:t>
            </a:r>
            <a:r>
              <a:rPr dirty="0" sz="1150" spc="-30">
                <a:latin typeface="Arial"/>
                <a:cs typeface="Arial"/>
              </a:rPr>
              <a:t>required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perform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specific  </a:t>
            </a:r>
            <a:r>
              <a:rPr dirty="0" sz="1150" spc="-25">
                <a:latin typeface="Arial"/>
                <a:cs typeface="Arial"/>
              </a:rPr>
              <a:t>job, </a:t>
            </a:r>
            <a:r>
              <a:rPr dirty="0" sz="1150" spc="-35">
                <a:latin typeface="Arial"/>
                <a:cs typeface="Arial"/>
              </a:rPr>
              <a:t>Qualification, </a:t>
            </a:r>
            <a:r>
              <a:rPr dirty="0" sz="1150" spc="-60">
                <a:latin typeface="Arial"/>
                <a:cs typeface="Arial"/>
              </a:rPr>
              <a:t>Gender, </a:t>
            </a:r>
            <a:r>
              <a:rPr dirty="0" sz="1150" spc="-80">
                <a:latin typeface="Arial"/>
                <a:cs typeface="Arial"/>
              </a:rPr>
              <a:t>Age, </a:t>
            </a:r>
            <a:r>
              <a:rPr dirty="0" sz="1150" spc="-65">
                <a:latin typeface="Arial"/>
                <a:cs typeface="Arial"/>
              </a:rPr>
              <a:t>Experience, </a:t>
            </a:r>
            <a:r>
              <a:rPr dirty="0" sz="1150" spc="-75">
                <a:latin typeface="Arial"/>
                <a:cs typeface="Arial"/>
              </a:rPr>
              <a:t>Special </a:t>
            </a:r>
            <a:r>
              <a:rPr dirty="0" sz="1150" spc="-70">
                <a:latin typeface="Arial"/>
                <a:cs typeface="Arial"/>
              </a:rPr>
              <a:t>Skills </a:t>
            </a:r>
            <a:r>
              <a:rPr dirty="0" sz="1150" spc="15">
                <a:latin typeface="Arial"/>
                <a:cs typeface="Arial"/>
              </a:rPr>
              <a:t>&amp;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attitude.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50" y="1005335"/>
            <a:ext cx="5514340" cy="7345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6350">
              <a:lnSpc>
                <a:spcPct val="100000"/>
              </a:lnSpc>
              <a:spcBef>
                <a:spcPts val="100"/>
              </a:spcBef>
            </a:pPr>
            <a:r>
              <a:rPr dirty="0" sz="1750" spc="-140" b="1">
                <a:latin typeface="Arial"/>
                <a:cs typeface="Arial"/>
              </a:rPr>
              <a:t>Lecture</a:t>
            </a:r>
            <a:r>
              <a:rPr dirty="0" sz="1750" spc="-160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16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Arial"/>
              <a:cs typeface="Arial"/>
            </a:endParaRPr>
          </a:p>
          <a:p>
            <a:pPr marL="1565275">
              <a:lnSpc>
                <a:spcPct val="100000"/>
              </a:lnSpc>
            </a:pPr>
            <a:r>
              <a:rPr dirty="0" sz="1750" spc="-110" b="1">
                <a:latin typeface="Arial"/>
                <a:cs typeface="Arial"/>
              </a:rPr>
              <a:t>HUMAN </a:t>
            </a:r>
            <a:r>
              <a:rPr dirty="0" sz="1750" spc="-280" b="1">
                <a:latin typeface="Arial"/>
                <a:cs typeface="Arial"/>
              </a:rPr>
              <a:t>RESOURCE</a:t>
            </a:r>
            <a:r>
              <a:rPr dirty="0" sz="1750" spc="-80" b="1">
                <a:latin typeface="Arial"/>
                <a:cs typeface="Arial"/>
              </a:rPr>
              <a:t> </a:t>
            </a:r>
            <a:r>
              <a:rPr dirty="0" sz="1750" spc="-170" b="1">
                <a:latin typeface="Arial"/>
                <a:cs typeface="Arial"/>
              </a:rPr>
              <a:t>PLANNING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dirty="0" sz="1350" spc="-225" b="1">
                <a:latin typeface="Arial"/>
                <a:cs typeface="Arial"/>
              </a:rPr>
              <a:t>JOB</a:t>
            </a:r>
            <a:r>
              <a:rPr dirty="0" sz="1350" spc="-220" b="1">
                <a:latin typeface="Arial"/>
                <a:cs typeface="Arial"/>
              </a:rPr>
              <a:t> </a:t>
            </a:r>
            <a:r>
              <a:rPr dirty="0" sz="1350" spc="-175" b="1">
                <a:latin typeface="Arial"/>
                <a:cs typeface="Arial"/>
              </a:rPr>
              <a:t>ANALYSIS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60">
                <a:latin typeface="Arial"/>
                <a:cs typeface="Arial"/>
              </a:rPr>
              <a:t>Systematic </a:t>
            </a:r>
            <a:r>
              <a:rPr dirty="0" sz="1150" spc="-65">
                <a:latin typeface="Arial"/>
                <a:cs typeface="Arial"/>
              </a:rPr>
              <a:t>analysis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jobs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5">
                <a:latin typeface="Arial"/>
                <a:cs typeface="Arial"/>
              </a:rPr>
              <a:t>an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469900" marR="5715" indent="-228600">
              <a:lnSpc>
                <a:spcPct val="101699"/>
              </a:lnSpc>
              <a:buFont typeface="Arial"/>
              <a:buAutoNum type="alphaLcPeriod"/>
              <a:tabLst>
                <a:tab pos="470534" algn="l"/>
              </a:tabLst>
            </a:pPr>
            <a:r>
              <a:rPr dirty="0" sz="1150" spc="-145" b="1">
                <a:latin typeface="Arial"/>
                <a:cs typeface="Arial"/>
              </a:rPr>
              <a:t>Job </a:t>
            </a:r>
            <a:r>
              <a:rPr dirty="0" sz="1150" spc="-70" b="1">
                <a:latin typeface="Arial"/>
                <a:cs typeface="Arial"/>
              </a:rPr>
              <a:t>Description—</a:t>
            </a:r>
            <a:r>
              <a:rPr dirty="0" sz="1150" spc="-70">
                <a:latin typeface="Arial"/>
                <a:cs typeface="Arial"/>
              </a:rPr>
              <a:t>systematic </a:t>
            </a:r>
            <a:r>
              <a:rPr dirty="0" sz="1150" spc="-35">
                <a:latin typeface="Arial"/>
                <a:cs typeface="Arial"/>
              </a:rPr>
              <a:t>evaluation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duties, </a:t>
            </a:r>
            <a:r>
              <a:rPr dirty="0" sz="1150" spc="-30">
                <a:latin typeface="Arial"/>
                <a:cs typeface="Arial"/>
              </a:rPr>
              <a:t>working </a:t>
            </a:r>
            <a:r>
              <a:rPr dirty="0" sz="1150" spc="-35">
                <a:latin typeface="Arial"/>
                <a:cs typeface="Arial"/>
              </a:rPr>
              <a:t>conditions, </a:t>
            </a:r>
            <a:r>
              <a:rPr dirty="0" sz="1150" spc="-30">
                <a:latin typeface="Arial"/>
                <a:cs typeface="Arial"/>
              </a:rPr>
              <a:t>tools,  </a:t>
            </a:r>
            <a:r>
              <a:rPr dirty="0" sz="1150" spc="-40">
                <a:latin typeface="Arial"/>
                <a:cs typeface="Arial"/>
              </a:rPr>
              <a:t>materials,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equipment related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performance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4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job.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lphaLcPeriod"/>
            </a:pPr>
            <a:endParaRPr sz="1200">
              <a:latin typeface="Arial"/>
              <a:cs typeface="Arial"/>
            </a:endParaRPr>
          </a:p>
          <a:p>
            <a:pPr algn="just" marL="469900" marR="6350" indent="-229235">
              <a:lnSpc>
                <a:spcPct val="101699"/>
              </a:lnSpc>
              <a:spcBef>
                <a:spcPts val="5"/>
              </a:spcBef>
              <a:buFont typeface="Arial"/>
              <a:buAutoNum type="alphaLcPeriod"/>
              <a:tabLst>
                <a:tab pos="470534" algn="l"/>
              </a:tabLst>
            </a:pPr>
            <a:r>
              <a:rPr dirty="0" sz="1150" spc="-145" b="1">
                <a:latin typeface="Arial"/>
                <a:cs typeface="Arial"/>
              </a:rPr>
              <a:t>Job </a:t>
            </a:r>
            <a:r>
              <a:rPr dirty="0" sz="1150" spc="-65" b="1">
                <a:latin typeface="Arial"/>
                <a:cs typeface="Arial"/>
              </a:rPr>
              <a:t>Specification—</a:t>
            </a:r>
            <a:r>
              <a:rPr dirty="0" sz="1150" spc="-65">
                <a:latin typeface="Arial"/>
                <a:cs typeface="Arial"/>
              </a:rPr>
              <a:t>description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skills, </a:t>
            </a:r>
            <a:r>
              <a:rPr dirty="0" sz="1150" spc="-30">
                <a:latin typeface="Arial"/>
                <a:cs typeface="Arial"/>
              </a:rPr>
              <a:t>abilities,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40">
                <a:latin typeface="Arial"/>
                <a:cs typeface="Arial"/>
              </a:rPr>
              <a:t>credentials </a:t>
            </a:r>
            <a:r>
              <a:rPr dirty="0" sz="1150" spc="-30">
                <a:latin typeface="Arial"/>
                <a:cs typeface="Arial"/>
              </a:rPr>
              <a:t>required 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job.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lphaLcPeriod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14" b="1">
                <a:latin typeface="Arial"/>
                <a:cs typeface="Arial"/>
              </a:rPr>
              <a:t>Forecasting </a:t>
            </a:r>
            <a:r>
              <a:rPr dirty="0" sz="1350" spc="-175" b="1">
                <a:latin typeface="Arial"/>
                <a:cs typeface="Arial"/>
              </a:rPr>
              <a:t>HR </a:t>
            </a:r>
            <a:r>
              <a:rPr dirty="0" sz="1350" spc="-100" b="1">
                <a:latin typeface="Arial"/>
                <a:cs typeface="Arial"/>
              </a:rPr>
              <a:t>Demand and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25" b="1">
                <a:latin typeface="Arial"/>
                <a:cs typeface="Arial"/>
              </a:rPr>
              <a:t>Supply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60">
                <a:latin typeface="Arial"/>
                <a:cs typeface="Arial"/>
              </a:rPr>
              <a:t>Forecasting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supply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labor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>
                <a:latin typeface="Arial"/>
                <a:cs typeface="Arial"/>
              </a:rPr>
              <a:t>two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tasks: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469900" marR="8890" indent="-228600">
              <a:lnSpc>
                <a:spcPct val="101699"/>
              </a:lnSpc>
              <a:buFont typeface="Arial"/>
              <a:buAutoNum type="alphaLcPeriod" startAt="3"/>
              <a:tabLst>
                <a:tab pos="470534" algn="l"/>
              </a:tabLst>
            </a:pPr>
            <a:r>
              <a:rPr dirty="0" sz="1150" spc="-100" b="1">
                <a:latin typeface="Arial"/>
                <a:cs typeface="Arial"/>
              </a:rPr>
              <a:t>Forecasting </a:t>
            </a:r>
            <a:r>
              <a:rPr dirty="0" sz="1150" spc="-55" b="1">
                <a:latin typeface="Arial"/>
                <a:cs typeface="Arial"/>
              </a:rPr>
              <a:t>internal </a:t>
            </a:r>
            <a:r>
              <a:rPr dirty="0" sz="1150" spc="-75" b="1">
                <a:latin typeface="Arial"/>
                <a:cs typeface="Arial"/>
              </a:rPr>
              <a:t>supply</a:t>
            </a:r>
            <a:r>
              <a:rPr dirty="0" sz="1150" spc="-75">
                <a:latin typeface="Arial"/>
                <a:cs typeface="Arial"/>
              </a:rPr>
              <a:t>—the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5">
                <a:latin typeface="Arial"/>
                <a:cs typeface="Arial"/>
              </a:rPr>
              <a:t>the  </a:t>
            </a:r>
            <a:r>
              <a:rPr dirty="0" sz="1150">
                <a:latin typeface="Arial"/>
                <a:cs typeface="Arial"/>
              </a:rPr>
              <a:t>firm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10">
                <a:latin typeface="Arial"/>
                <a:cs typeface="Arial"/>
              </a:rPr>
              <a:t>future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date.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AutoNum type="alphaLcPeriod" startAt="3"/>
            </a:pPr>
            <a:endParaRPr sz="1200">
              <a:latin typeface="Arial"/>
              <a:cs typeface="Arial"/>
            </a:endParaRPr>
          </a:p>
          <a:p>
            <a:pPr algn="just" marL="469900" marR="6350" indent="-229235">
              <a:lnSpc>
                <a:spcPct val="101699"/>
              </a:lnSpc>
              <a:buFont typeface="Arial"/>
              <a:buAutoNum type="alphaLcPeriod" startAt="3"/>
              <a:tabLst>
                <a:tab pos="470534" algn="l"/>
              </a:tabLst>
            </a:pPr>
            <a:r>
              <a:rPr dirty="0" sz="1150" spc="-100" b="1">
                <a:latin typeface="Arial"/>
                <a:cs typeface="Arial"/>
              </a:rPr>
              <a:t>Forecasting </a:t>
            </a:r>
            <a:r>
              <a:rPr dirty="0" sz="1150" spc="-60" b="1">
                <a:latin typeface="Arial"/>
                <a:cs typeface="Arial"/>
              </a:rPr>
              <a:t>external </a:t>
            </a:r>
            <a:r>
              <a:rPr dirty="0" sz="1150" spc="-75" b="1">
                <a:latin typeface="Arial"/>
                <a:cs typeface="Arial"/>
              </a:rPr>
              <a:t>supply</a:t>
            </a:r>
            <a:r>
              <a:rPr dirty="0" sz="1150" spc="-75">
                <a:latin typeface="Arial"/>
                <a:cs typeface="Arial"/>
              </a:rPr>
              <a:t>—the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50">
                <a:latin typeface="Arial"/>
                <a:cs typeface="Arial"/>
              </a:rPr>
              <a:t>available 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hiring </a:t>
            </a:r>
            <a:r>
              <a:rPr dirty="0" sz="1150" spc="-5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labor market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50">
                <a:latin typeface="Arial"/>
                <a:cs typeface="Arial"/>
              </a:rPr>
              <a:t>large. </a:t>
            </a:r>
            <a:r>
              <a:rPr dirty="0" sz="1150" spc="-85">
                <a:latin typeface="Arial"/>
                <a:cs typeface="Arial"/>
              </a:rPr>
              <a:t>Large </a:t>
            </a:r>
            <a:r>
              <a:rPr dirty="0" sz="1150" spc="-45">
                <a:latin typeface="Arial"/>
                <a:cs typeface="Arial"/>
              </a:rPr>
              <a:t>organizations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use </a:t>
            </a:r>
            <a:r>
              <a:rPr dirty="0" sz="1150" spc="-35">
                <a:latin typeface="Arial"/>
                <a:cs typeface="Arial"/>
              </a:rPr>
              <a:t>extremely  </a:t>
            </a:r>
            <a:r>
              <a:rPr dirty="0" sz="1150" spc="-40">
                <a:latin typeface="Arial"/>
                <a:cs typeface="Arial"/>
              </a:rPr>
              <a:t>sophisticated </a:t>
            </a:r>
            <a:r>
              <a:rPr dirty="0" sz="1150" spc="-55">
                <a:latin typeface="Arial"/>
                <a:cs typeface="Arial"/>
              </a:rPr>
              <a:t>models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forecast </a:t>
            </a:r>
            <a:r>
              <a:rPr dirty="0" sz="1150" spc="-30">
                <a:latin typeface="Arial"/>
                <a:cs typeface="Arial"/>
              </a:rPr>
              <a:t>staffing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levels.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95" b="1">
                <a:latin typeface="Arial"/>
                <a:cs typeface="Arial"/>
              </a:rPr>
              <a:t>Replacement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95" b="1">
                <a:latin typeface="Arial"/>
                <a:cs typeface="Arial"/>
              </a:rPr>
              <a:t>Chart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Listing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each </a:t>
            </a:r>
            <a:r>
              <a:rPr dirty="0" sz="1150" spc="-50">
                <a:latin typeface="Arial"/>
                <a:cs typeface="Arial"/>
              </a:rPr>
              <a:t>managerial </a:t>
            </a:r>
            <a:r>
              <a:rPr dirty="0" sz="1150" spc="-25">
                <a:latin typeface="Arial"/>
                <a:cs typeface="Arial"/>
              </a:rPr>
              <a:t>position,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65">
                <a:latin typeface="Arial"/>
                <a:cs typeface="Arial"/>
              </a:rPr>
              <a:t>occupies </a:t>
            </a:r>
            <a:r>
              <a:rPr dirty="0" sz="1150" spc="10">
                <a:latin typeface="Arial"/>
                <a:cs typeface="Arial"/>
              </a:rPr>
              <a:t>it, </a:t>
            </a:r>
            <a:r>
              <a:rPr dirty="0" sz="1150" spc="-30">
                <a:latin typeface="Arial"/>
                <a:cs typeface="Arial"/>
              </a:rPr>
              <a:t>how </a:t>
            </a:r>
            <a:r>
              <a:rPr dirty="0" sz="1150" spc="-45">
                <a:latin typeface="Arial"/>
                <a:cs typeface="Arial"/>
              </a:rPr>
              <a:t>long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30">
                <a:latin typeface="Arial"/>
                <a:cs typeface="Arial"/>
              </a:rPr>
              <a:t>likely </a:t>
            </a:r>
            <a:r>
              <a:rPr dirty="0" sz="1150" spc="-55">
                <a:latin typeface="Arial"/>
                <a:cs typeface="Arial"/>
              </a:rPr>
              <a:t>stay </a:t>
            </a:r>
            <a:r>
              <a:rPr dirty="0" sz="1150" spc="-20">
                <a:latin typeface="Arial"/>
                <a:cs typeface="Arial"/>
              </a:rPr>
              <a:t>in  the </a:t>
            </a:r>
            <a:r>
              <a:rPr dirty="0" sz="1150" spc="-25">
                <a:latin typeface="Arial"/>
                <a:cs typeface="Arial"/>
              </a:rPr>
              <a:t>job,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qualified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replacement. </a:t>
            </a:r>
            <a:r>
              <a:rPr dirty="0" sz="1150" spc="-60">
                <a:latin typeface="Arial"/>
                <a:cs typeface="Arial"/>
              </a:rPr>
              <a:t>Replacement </a:t>
            </a:r>
            <a:r>
              <a:rPr dirty="0" sz="1150" spc="-45">
                <a:latin typeface="Arial"/>
                <a:cs typeface="Arial"/>
              </a:rPr>
              <a:t>charts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40">
                <a:latin typeface="Arial"/>
                <a:cs typeface="Arial"/>
              </a:rPr>
              <a:t>higher  </a:t>
            </a:r>
            <a:r>
              <a:rPr dirty="0" sz="1150" spc="-55">
                <a:latin typeface="Arial"/>
                <a:cs typeface="Arial"/>
              </a:rPr>
              <a:t>levels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plan </a:t>
            </a:r>
            <a:r>
              <a:rPr dirty="0" sz="1150" spc="-40">
                <a:latin typeface="Arial"/>
                <a:cs typeface="Arial"/>
              </a:rPr>
              <a:t>developmental </a:t>
            </a:r>
            <a:r>
              <a:rPr dirty="0" sz="1150" spc="-60">
                <a:latin typeface="Arial"/>
                <a:cs typeface="Arial"/>
              </a:rPr>
              <a:t>experiences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20">
                <a:latin typeface="Arial"/>
                <a:cs typeface="Arial"/>
              </a:rPr>
              <a:t>identified </a:t>
            </a:r>
            <a:r>
              <a:rPr dirty="0" sz="1150" spc="-110">
                <a:latin typeface="Arial"/>
                <a:cs typeface="Arial"/>
              </a:rPr>
              <a:t>as  </a:t>
            </a:r>
            <a:r>
              <a:rPr dirty="0" sz="1150" spc="-15">
                <a:latin typeface="Arial"/>
                <a:cs typeface="Arial"/>
              </a:rPr>
              <a:t>potential </a:t>
            </a:r>
            <a:r>
              <a:rPr dirty="0" sz="1150" spc="-85">
                <a:latin typeface="Arial"/>
                <a:cs typeface="Arial"/>
              </a:rPr>
              <a:t>successors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critical </a:t>
            </a:r>
            <a:r>
              <a:rPr dirty="0" sz="1150" spc="-50">
                <a:latin typeface="Arial"/>
                <a:cs typeface="Arial"/>
              </a:rPr>
              <a:t>managerial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jobs.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20" b="1">
                <a:latin typeface="Arial"/>
                <a:cs typeface="Arial"/>
              </a:rPr>
              <a:t>Skills </a:t>
            </a:r>
            <a:r>
              <a:rPr dirty="0" sz="1350" spc="-80" b="1">
                <a:latin typeface="Arial"/>
                <a:cs typeface="Arial"/>
              </a:rPr>
              <a:t>Inventories </a:t>
            </a:r>
            <a:r>
              <a:rPr dirty="0" sz="1350" spc="-60" b="1">
                <a:latin typeface="Arial"/>
                <a:cs typeface="Arial"/>
              </a:rPr>
              <a:t>(or </a:t>
            </a:r>
            <a:r>
              <a:rPr dirty="0" sz="1350" spc="-110" b="1">
                <a:latin typeface="Arial"/>
                <a:cs typeface="Arial"/>
              </a:rPr>
              <a:t>Employee </a:t>
            </a:r>
            <a:r>
              <a:rPr dirty="0" sz="1350" spc="-70" b="1">
                <a:latin typeface="Arial"/>
                <a:cs typeface="Arial"/>
              </a:rPr>
              <a:t>Information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114" b="1">
                <a:latin typeface="Arial"/>
                <a:cs typeface="Arial"/>
              </a:rPr>
              <a:t>System)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50">
                <a:latin typeface="Arial"/>
                <a:cs typeface="Arial"/>
              </a:rPr>
              <a:t>Computerized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-40">
                <a:latin typeface="Arial"/>
                <a:cs typeface="Arial"/>
              </a:rPr>
              <a:t>containing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70">
                <a:latin typeface="Arial"/>
                <a:cs typeface="Arial"/>
              </a:rPr>
              <a:t>each </a:t>
            </a:r>
            <a:r>
              <a:rPr dirty="0" sz="1150" spc="-50">
                <a:latin typeface="Arial"/>
                <a:cs typeface="Arial"/>
              </a:rPr>
              <a:t>employee’s </a:t>
            </a:r>
            <a:r>
              <a:rPr dirty="0" sz="1150" spc="-40">
                <a:latin typeface="Arial"/>
                <a:cs typeface="Arial"/>
              </a:rPr>
              <a:t>education, </a:t>
            </a:r>
            <a:r>
              <a:rPr dirty="0" sz="1150" spc="-50">
                <a:latin typeface="Arial"/>
                <a:cs typeface="Arial"/>
              </a:rPr>
              <a:t>skills, </a:t>
            </a:r>
            <a:r>
              <a:rPr dirty="0" sz="1150" spc="-20">
                <a:latin typeface="Arial"/>
                <a:cs typeface="Arial"/>
              </a:rPr>
              <a:t>work  </a:t>
            </a:r>
            <a:r>
              <a:rPr dirty="0" sz="1150" spc="-55">
                <a:latin typeface="Arial"/>
                <a:cs typeface="Arial"/>
              </a:rPr>
              <a:t>experiences, and </a:t>
            </a:r>
            <a:r>
              <a:rPr dirty="0" sz="1150" spc="-50">
                <a:latin typeface="Arial"/>
                <a:cs typeface="Arial"/>
              </a:rPr>
              <a:t>career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aspirations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100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748728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80" b="1">
                <a:latin typeface="Arial"/>
                <a:cs typeface="Arial"/>
              </a:rPr>
              <a:t>Matching </a:t>
            </a:r>
            <a:r>
              <a:rPr dirty="0" sz="1350" spc="-175" b="1">
                <a:latin typeface="Arial"/>
                <a:cs typeface="Arial"/>
              </a:rPr>
              <a:t>HR </a:t>
            </a:r>
            <a:r>
              <a:rPr dirty="0" sz="1350" spc="-125" b="1">
                <a:latin typeface="Arial"/>
                <a:cs typeface="Arial"/>
              </a:rPr>
              <a:t>Supply </a:t>
            </a:r>
            <a:r>
              <a:rPr dirty="0" sz="1350" spc="-95" b="1">
                <a:latin typeface="Arial"/>
                <a:cs typeface="Arial"/>
              </a:rPr>
              <a:t>and</a:t>
            </a:r>
            <a:r>
              <a:rPr dirty="0" sz="1350" spc="-100" b="1">
                <a:latin typeface="Arial"/>
                <a:cs typeface="Arial"/>
              </a:rPr>
              <a:t> Demand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45">
                <a:latin typeface="Arial"/>
                <a:cs typeface="Arial"/>
              </a:rPr>
              <a:t>comparing </a:t>
            </a:r>
            <a:r>
              <a:rPr dirty="0" sz="1150" spc="-10">
                <a:latin typeface="Arial"/>
                <a:cs typeface="Arial"/>
              </a:rPr>
              <a:t>future </a:t>
            </a:r>
            <a:r>
              <a:rPr dirty="0" sz="1150" spc="-50">
                <a:latin typeface="Arial"/>
                <a:cs typeface="Arial"/>
              </a:rPr>
              <a:t>demand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internal </a:t>
            </a:r>
            <a:r>
              <a:rPr dirty="0" sz="1150" spc="-50">
                <a:latin typeface="Arial"/>
                <a:cs typeface="Arial"/>
              </a:rPr>
              <a:t>supply, </a:t>
            </a:r>
            <a:r>
              <a:rPr dirty="0" sz="1150" spc="-70">
                <a:latin typeface="Arial"/>
                <a:cs typeface="Arial"/>
              </a:rPr>
              <a:t>managers can </a:t>
            </a:r>
            <a:r>
              <a:rPr dirty="0" sz="1150" spc="-60">
                <a:latin typeface="Arial"/>
                <a:cs typeface="Arial"/>
              </a:rPr>
              <a:t>make </a:t>
            </a:r>
            <a:r>
              <a:rPr dirty="0" sz="1150" spc="-65">
                <a:latin typeface="Arial"/>
                <a:cs typeface="Arial"/>
              </a:rPr>
              <a:t>plans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5">
                <a:latin typeface="Arial"/>
                <a:cs typeface="Arial"/>
              </a:rPr>
              <a:t>manage  </a:t>
            </a:r>
            <a:r>
              <a:rPr dirty="0" sz="1150" spc="-30">
                <a:latin typeface="Arial"/>
                <a:cs typeface="Arial"/>
              </a:rPr>
              <a:t>predicted shortfalls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overstaffing. </a:t>
            </a:r>
            <a:r>
              <a:rPr dirty="0" sz="1150" spc="5">
                <a:latin typeface="Arial"/>
                <a:cs typeface="Arial"/>
              </a:rPr>
              <a:t>If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hire,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external </a:t>
            </a:r>
            <a:r>
              <a:rPr dirty="0" sz="1150" spc="-30">
                <a:latin typeface="Arial"/>
                <a:cs typeface="Arial"/>
              </a:rPr>
              <a:t>labor-  </a:t>
            </a:r>
            <a:r>
              <a:rPr dirty="0" sz="1150" spc="-50">
                <a:latin typeface="Arial"/>
                <a:cs typeface="Arial"/>
              </a:rPr>
              <a:t>supply </a:t>
            </a:r>
            <a:r>
              <a:rPr dirty="0" sz="1150" spc="-40">
                <a:latin typeface="Arial"/>
                <a:cs typeface="Arial"/>
              </a:rPr>
              <a:t>forecast </a:t>
            </a:r>
            <a:r>
              <a:rPr dirty="0" sz="1150" spc="-55">
                <a:latin typeface="Arial"/>
                <a:cs typeface="Arial"/>
              </a:rPr>
              <a:t>helps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45">
                <a:latin typeface="Arial"/>
                <a:cs typeface="Arial"/>
              </a:rPr>
              <a:t>plan </a:t>
            </a:r>
            <a:r>
              <a:rPr dirty="0" sz="1150" spc="-30">
                <a:latin typeface="Arial"/>
                <a:cs typeface="Arial"/>
              </a:rPr>
              <a:t>how </a:t>
            </a:r>
            <a:r>
              <a:rPr dirty="0" sz="1150" spc="5">
                <a:latin typeface="Arial"/>
                <a:cs typeface="Arial"/>
              </a:rPr>
              <a:t>to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recruit.</a:t>
            </a:r>
            <a:endParaRPr sz="11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30"/>
              </a:spcBef>
            </a:pPr>
            <a:r>
              <a:rPr dirty="0" sz="1350" spc="-100" b="1">
                <a:latin typeface="Arial"/>
                <a:cs typeface="Arial"/>
              </a:rPr>
              <a:t>Recruiting </a:t>
            </a:r>
            <a:r>
              <a:rPr dirty="0" sz="1350" spc="-105" b="1">
                <a:latin typeface="Arial"/>
                <a:cs typeface="Arial"/>
              </a:rPr>
              <a:t>Human</a:t>
            </a:r>
            <a:r>
              <a:rPr dirty="0" sz="1350" spc="-45" b="1">
                <a:latin typeface="Arial"/>
                <a:cs typeface="Arial"/>
              </a:rPr>
              <a:t> </a:t>
            </a:r>
            <a:r>
              <a:rPr dirty="0" sz="1350" spc="-140" b="1">
                <a:latin typeface="Arial"/>
                <a:cs typeface="Arial"/>
              </a:rPr>
              <a:t>Resources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Process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attracting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qualified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persons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apply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open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jobs.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60" b="1">
                <a:latin typeface="Arial"/>
                <a:cs typeface="Arial"/>
              </a:rPr>
              <a:t>Internal</a:t>
            </a:r>
            <a:r>
              <a:rPr dirty="0" sz="1350" spc="-90" b="1">
                <a:latin typeface="Arial"/>
                <a:cs typeface="Arial"/>
              </a:rPr>
              <a:t> </a:t>
            </a:r>
            <a:r>
              <a:rPr dirty="0" sz="1350" spc="-100" b="1">
                <a:latin typeface="Arial"/>
                <a:cs typeface="Arial"/>
              </a:rPr>
              <a:t>Recruiting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5">
                <a:latin typeface="Arial"/>
                <a:cs typeface="Arial"/>
              </a:rPr>
              <a:t>Practice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considering </a:t>
            </a:r>
            <a:r>
              <a:rPr dirty="0" sz="1150" spc="-40">
                <a:latin typeface="Arial"/>
                <a:cs typeface="Arial"/>
              </a:rPr>
              <a:t>present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55">
                <a:latin typeface="Arial"/>
                <a:cs typeface="Arial"/>
              </a:rPr>
              <a:t>candidates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15">
                <a:latin typeface="Arial"/>
                <a:cs typeface="Arial"/>
              </a:rPr>
              <a:t>job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openings.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90" b="1">
                <a:latin typeface="Arial"/>
                <a:cs typeface="Arial"/>
              </a:rPr>
              <a:t>External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00" b="1">
                <a:latin typeface="Arial"/>
                <a:cs typeface="Arial"/>
              </a:rPr>
              <a:t>Recruiting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55">
                <a:latin typeface="Arial"/>
                <a:cs typeface="Arial"/>
              </a:rPr>
              <a:t>Practice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attracting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35">
                <a:latin typeface="Arial"/>
                <a:cs typeface="Arial"/>
              </a:rPr>
              <a:t>outside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apply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0">
                <a:latin typeface="Arial"/>
                <a:cs typeface="Arial"/>
              </a:rPr>
              <a:t>jobs. </a:t>
            </a:r>
            <a:r>
              <a:rPr dirty="0" sz="1150" spc="-105">
                <a:latin typeface="Arial"/>
                <a:cs typeface="Arial"/>
              </a:rPr>
              <a:t>By </a:t>
            </a:r>
            <a:r>
              <a:rPr dirty="0" sz="1150" spc="-40">
                <a:latin typeface="Arial"/>
                <a:cs typeface="Arial"/>
              </a:rPr>
              <a:t>early </a:t>
            </a:r>
            <a:r>
              <a:rPr dirty="0" sz="1150" spc="-50">
                <a:latin typeface="Arial"/>
                <a:cs typeface="Arial"/>
              </a:rPr>
              <a:t>1998,  </a:t>
            </a:r>
            <a:r>
              <a:rPr dirty="0" sz="1150" spc="-35">
                <a:latin typeface="Arial"/>
                <a:cs typeface="Arial"/>
              </a:rPr>
              <a:t>unemployment </a:t>
            </a:r>
            <a:r>
              <a:rPr dirty="0" sz="1150" spc="-55">
                <a:latin typeface="Arial"/>
                <a:cs typeface="Arial"/>
              </a:rPr>
              <a:t>had </a:t>
            </a:r>
            <a:r>
              <a:rPr dirty="0" sz="1150" spc="-35">
                <a:latin typeface="Arial"/>
                <a:cs typeface="Arial"/>
              </a:rPr>
              <a:t>dropped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23-year </a:t>
            </a:r>
            <a:r>
              <a:rPr dirty="0" sz="1150" spc="-20">
                <a:latin typeface="Arial"/>
                <a:cs typeface="Arial"/>
              </a:rPr>
              <a:t>low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4.6 </a:t>
            </a:r>
            <a:r>
              <a:rPr dirty="0" sz="1150" spc="-35">
                <a:latin typeface="Arial"/>
                <a:cs typeface="Arial"/>
              </a:rPr>
              <a:t>percent, </a:t>
            </a:r>
            <a:r>
              <a:rPr dirty="0" sz="1150" spc="-55">
                <a:latin typeface="Arial"/>
                <a:cs typeface="Arial"/>
              </a:rPr>
              <a:t>making </a:t>
            </a:r>
            <a:r>
              <a:rPr dirty="0" sz="1150" spc="-30">
                <a:latin typeface="Arial"/>
                <a:cs typeface="Arial"/>
              </a:rPr>
              <a:t>recruiting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more  </a:t>
            </a:r>
            <a:r>
              <a:rPr dirty="0" sz="1150" spc="-5">
                <a:latin typeface="Arial"/>
                <a:cs typeface="Arial"/>
              </a:rPr>
              <a:t>difficult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task.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10" b="1">
                <a:latin typeface="Arial"/>
                <a:cs typeface="Arial"/>
              </a:rPr>
              <a:t>Advantages </a:t>
            </a:r>
            <a:r>
              <a:rPr dirty="0" sz="1350" spc="-60" b="1">
                <a:latin typeface="Arial"/>
                <a:cs typeface="Arial"/>
              </a:rPr>
              <a:t>of </a:t>
            </a:r>
            <a:r>
              <a:rPr dirty="0" sz="1350" spc="-70" b="1">
                <a:latin typeface="Arial"/>
                <a:cs typeface="Arial"/>
              </a:rPr>
              <a:t>external</a:t>
            </a:r>
            <a:r>
              <a:rPr dirty="0" sz="1350" spc="-60" b="1">
                <a:latin typeface="Arial"/>
                <a:cs typeface="Arial"/>
              </a:rPr>
              <a:t> </a:t>
            </a:r>
            <a:r>
              <a:rPr dirty="0" sz="1350" spc="-100" b="1">
                <a:latin typeface="Arial"/>
                <a:cs typeface="Arial"/>
              </a:rPr>
              <a:t>Recruiting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40">
                <a:latin typeface="Arial"/>
                <a:cs typeface="Arial"/>
              </a:rPr>
              <a:t>Variety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Talent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40">
                <a:latin typeface="Arial"/>
                <a:cs typeface="Arial"/>
              </a:rPr>
              <a:t>Variety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Abilities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40">
                <a:latin typeface="Arial"/>
                <a:cs typeface="Arial"/>
              </a:rPr>
              <a:t>Variety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Qualifications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14" b="1">
                <a:latin typeface="Arial"/>
                <a:cs typeface="Arial"/>
              </a:rPr>
              <a:t>Equal </a:t>
            </a:r>
            <a:r>
              <a:rPr dirty="0" sz="1350" spc="-100" b="1">
                <a:latin typeface="Arial"/>
                <a:cs typeface="Arial"/>
              </a:rPr>
              <a:t>Employment</a:t>
            </a:r>
            <a:r>
              <a:rPr dirty="0" sz="1350" spc="-40" b="1">
                <a:latin typeface="Arial"/>
                <a:cs typeface="Arial"/>
              </a:rPr>
              <a:t> </a:t>
            </a:r>
            <a:r>
              <a:rPr dirty="0" sz="1350" spc="-80" b="1">
                <a:latin typeface="Arial"/>
                <a:cs typeface="Arial"/>
              </a:rPr>
              <a:t>Opportunity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basic </a:t>
            </a:r>
            <a:r>
              <a:rPr dirty="0" sz="1150" spc="-55">
                <a:latin typeface="Arial"/>
                <a:cs typeface="Arial"/>
              </a:rPr>
              <a:t>goal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45">
                <a:latin typeface="Arial"/>
                <a:cs typeface="Arial"/>
              </a:rPr>
              <a:t>equal </a:t>
            </a:r>
            <a:r>
              <a:rPr dirty="0" sz="1150" spc="-35">
                <a:latin typeface="Arial"/>
                <a:cs typeface="Arial"/>
              </a:rPr>
              <a:t>employment </a:t>
            </a:r>
            <a:r>
              <a:rPr dirty="0" sz="1150" spc="-15">
                <a:latin typeface="Arial"/>
                <a:cs typeface="Arial"/>
              </a:rPr>
              <a:t>opportunity </a:t>
            </a:r>
            <a:r>
              <a:rPr dirty="0" sz="1150" spc="-30">
                <a:latin typeface="Arial"/>
                <a:cs typeface="Arial"/>
              </a:rPr>
              <a:t>regulation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protect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10">
                <a:latin typeface="Arial"/>
                <a:cs typeface="Arial"/>
              </a:rPr>
              <a:t>from  </a:t>
            </a:r>
            <a:r>
              <a:rPr dirty="0" sz="1150" spc="-25">
                <a:latin typeface="Arial"/>
                <a:cs typeface="Arial"/>
              </a:rPr>
              <a:t>unfair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5">
                <a:latin typeface="Arial"/>
                <a:cs typeface="Arial"/>
              </a:rPr>
              <a:t>inappropriate </a:t>
            </a:r>
            <a:r>
              <a:rPr dirty="0" sz="1150" spc="-30">
                <a:latin typeface="Arial"/>
                <a:cs typeface="Arial"/>
              </a:rPr>
              <a:t>discrimination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40">
                <a:latin typeface="Arial"/>
                <a:cs typeface="Arial"/>
              </a:rPr>
              <a:t>workplace. </a:t>
            </a:r>
            <a:r>
              <a:rPr dirty="0" sz="1150" spc="-70">
                <a:latin typeface="Arial"/>
                <a:cs typeface="Arial"/>
              </a:rPr>
              <a:t>Legally </a:t>
            </a:r>
            <a:r>
              <a:rPr dirty="0" sz="1150" spc="-45">
                <a:latin typeface="Arial"/>
                <a:cs typeface="Arial"/>
              </a:rPr>
              <a:t>mandated  </a:t>
            </a:r>
            <a:r>
              <a:rPr dirty="0" sz="1150" spc="-30">
                <a:latin typeface="Arial"/>
                <a:cs typeface="Arial"/>
              </a:rPr>
              <a:t>nondiscrimination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employment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basis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race,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creed,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sex,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national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origin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215" b="1">
                <a:latin typeface="Arial"/>
                <a:cs typeface="Arial"/>
              </a:rPr>
              <a:t>SOURCES </a:t>
            </a:r>
            <a:r>
              <a:rPr dirty="0" sz="1350" spc="-145" b="1">
                <a:latin typeface="Arial"/>
                <a:cs typeface="Arial"/>
              </a:rPr>
              <a:t>TO </a:t>
            </a:r>
            <a:r>
              <a:rPr dirty="0" sz="1350" spc="-110" b="1">
                <a:latin typeface="Arial"/>
                <a:cs typeface="Arial"/>
              </a:rPr>
              <a:t>FIND</a:t>
            </a:r>
            <a:r>
              <a:rPr dirty="0" sz="1350" spc="-30" b="1">
                <a:latin typeface="Arial"/>
                <a:cs typeface="Arial"/>
              </a:rPr>
              <a:t> </a:t>
            </a:r>
            <a:r>
              <a:rPr dirty="0" sz="1350" spc="-210" b="1">
                <a:latin typeface="Arial"/>
                <a:cs typeface="Arial"/>
              </a:rPr>
              <a:t>PEOPLE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Organizations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50">
                <a:latin typeface="Arial"/>
                <a:cs typeface="Arial"/>
              </a:rPr>
              <a:t>various </a:t>
            </a:r>
            <a:r>
              <a:rPr dirty="0" sz="1150" spc="-65">
                <a:latin typeface="Arial"/>
                <a:cs typeface="Arial"/>
              </a:rPr>
              <a:t>sources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find </a:t>
            </a:r>
            <a:r>
              <a:rPr dirty="0" sz="1150" spc="-40">
                <a:latin typeface="Arial"/>
                <a:cs typeface="Arial"/>
              </a:rPr>
              <a:t>suitable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">
                <a:latin typeface="Arial"/>
                <a:cs typeface="Arial"/>
              </a:rPr>
              <a:t>their </a:t>
            </a:r>
            <a:r>
              <a:rPr dirty="0" sz="1150" spc="-40">
                <a:latin typeface="Arial"/>
                <a:cs typeface="Arial"/>
              </a:rPr>
              <a:t>organization  </a:t>
            </a:r>
            <a:r>
              <a:rPr dirty="0" sz="1150" spc="-20">
                <a:latin typeface="Arial"/>
                <a:cs typeface="Arial"/>
              </a:rPr>
              <a:t>following </a:t>
            </a:r>
            <a:r>
              <a:rPr dirty="0" sz="1150" spc="-70">
                <a:latin typeface="Arial"/>
                <a:cs typeface="Arial"/>
              </a:rPr>
              <a:t>sources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mostly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regard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70" b="1">
                <a:latin typeface="Arial"/>
                <a:cs typeface="Arial"/>
              </a:rPr>
              <a:t>Informal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search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basis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references </a:t>
            </a:r>
            <a:r>
              <a:rPr dirty="0" sz="1150" spc="-45">
                <a:latin typeface="Arial"/>
                <a:cs typeface="Arial"/>
              </a:rPr>
              <a:t>organizations </a:t>
            </a:r>
            <a:r>
              <a:rPr dirty="0" sz="1150" spc="-40">
                <a:latin typeface="Arial"/>
                <a:cs typeface="Arial"/>
              </a:rPr>
              <a:t>finds </a:t>
            </a:r>
            <a:r>
              <a:rPr dirty="0" sz="1150" spc="-55">
                <a:latin typeface="Arial"/>
                <a:cs typeface="Arial"/>
              </a:rPr>
              <a:t>peoples </a:t>
            </a:r>
            <a:r>
              <a:rPr dirty="0" sz="1150" spc="-40">
                <a:latin typeface="Arial"/>
                <a:cs typeface="Arial"/>
              </a:rPr>
              <a:t>suitable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post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nature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work.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101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66" y="892559"/>
            <a:ext cx="5513705" cy="81705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 b="1">
                <a:latin typeface="Arial"/>
                <a:cs typeface="Arial"/>
              </a:rPr>
              <a:t>Job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posting</a:t>
            </a:r>
            <a:endParaRPr sz="1350">
              <a:latin typeface="Arial"/>
              <a:cs typeface="Arial"/>
            </a:endParaRPr>
          </a:p>
          <a:p>
            <a:pPr marL="12700" marR="460375">
              <a:lnSpc>
                <a:spcPts val="2810"/>
              </a:lnSpc>
              <a:spcBef>
                <a:spcPts val="325"/>
              </a:spcBef>
            </a:pPr>
            <a:r>
              <a:rPr dirty="0" sz="1150" spc="-105">
                <a:latin typeface="Arial"/>
                <a:cs typeface="Arial"/>
              </a:rPr>
              <a:t>By </a:t>
            </a:r>
            <a:r>
              <a:rPr dirty="0" sz="1150" spc="-15">
                <a:latin typeface="Arial"/>
                <a:cs typeface="Arial"/>
              </a:rPr>
              <a:t>putting </a:t>
            </a:r>
            <a:r>
              <a:rPr dirty="0" sz="1150" spc="-45">
                <a:latin typeface="Arial"/>
                <a:cs typeface="Arial"/>
              </a:rPr>
              <a:t>notices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15">
                <a:latin typeface="Arial"/>
                <a:cs typeface="Arial"/>
              </a:rPr>
              <a:t>job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50">
                <a:latin typeface="Arial"/>
                <a:cs typeface="Arial"/>
              </a:rPr>
              <a:t>various </a:t>
            </a:r>
            <a:r>
              <a:rPr dirty="0" sz="1150" spc="-70">
                <a:latin typeface="Arial"/>
                <a:cs typeface="Arial"/>
              </a:rPr>
              <a:t>places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50">
                <a:latin typeface="Arial"/>
                <a:cs typeface="Arial"/>
              </a:rPr>
              <a:t>Cafeteria, </a:t>
            </a:r>
            <a:r>
              <a:rPr dirty="0" sz="1150" spc="-65">
                <a:latin typeface="Arial"/>
                <a:cs typeface="Arial"/>
              </a:rPr>
              <a:t>Fair  Price </a:t>
            </a:r>
            <a:r>
              <a:rPr dirty="0" sz="1150" spc="-55">
                <a:latin typeface="Arial"/>
                <a:cs typeface="Arial"/>
              </a:rPr>
              <a:t>shop, </a:t>
            </a:r>
            <a:r>
              <a:rPr dirty="0" sz="1150" spc="-65">
                <a:latin typeface="Arial"/>
                <a:cs typeface="Arial"/>
              </a:rPr>
              <a:t>Sports </a:t>
            </a:r>
            <a:r>
              <a:rPr dirty="0" sz="1150" spc="-20">
                <a:latin typeface="Arial"/>
                <a:cs typeface="Arial"/>
              </a:rPr>
              <a:t>field, </a:t>
            </a:r>
            <a:r>
              <a:rPr dirty="0" sz="1150" spc="-55">
                <a:latin typeface="Arial"/>
                <a:cs typeface="Arial"/>
              </a:rPr>
              <a:t>Reception </a:t>
            </a:r>
            <a:r>
              <a:rPr dirty="0" sz="1150" spc="-65">
                <a:latin typeface="Arial"/>
                <a:cs typeface="Arial"/>
              </a:rPr>
              <a:t>desk, </a:t>
            </a:r>
            <a:r>
              <a:rPr dirty="0" sz="1150" spc="-40">
                <a:latin typeface="Arial"/>
                <a:cs typeface="Arial"/>
              </a:rPr>
              <a:t>Notice </a:t>
            </a:r>
            <a:r>
              <a:rPr dirty="0" sz="1150" spc="-60">
                <a:latin typeface="Arial"/>
                <a:cs typeface="Arial"/>
              </a:rPr>
              <a:t>Board, </a:t>
            </a:r>
            <a:r>
              <a:rPr dirty="0" sz="1150" spc="-40">
                <a:latin typeface="Arial"/>
                <a:cs typeface="Arial"/>
              </a:rPr>
              <a:t>Union </a:t>
            </a:r>
            <a:r>
              <a:rPr dirty="0" sz="1150" spc="-25">
                <a:latin typeface="Arial"/>
                <a:cs typeface="Arial"/>
              </a:rPr>
              <a:t>office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etc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00" b="1">
                <a:latin typeface="Arial"/>
                <a:cs typeface="Arial"/>
              </a:rPr>
              <a:t>Educational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80" b="1">
                <a:latin typeface="Arial"/>
                <a:cs typeface="Arial"/>
              </a:rPr>
              <a:t>institutions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consult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40">
                <a:latin typeface="Arial"/>
                <a:cs typeface="Arial"/>
              </a:rPr>
              <a:t>educational </a:t>
            </a:r>
            <a:r>
              <a:rPr dirty="0" sz="1150" spc="-20">
                <a:latin typeface="Arial"/>
                <a:cs typeface="Arial"/>
              </a:rPr>
              <a:t>institutions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5">
                <a:latin typeface="Arial"/>
                <a:cs typeface="Arial"/>
              </a:rPr>
              <a:t>suitable </a:t>
            </a:r>
            <a:r>
              <a:rPr dirty="0" sz="1150" spc="-55">
                <a:latin typeface="Arial"/>
                <a:cs typeface="Arial"/>
              </a:rPr>
              <a:t>candidates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job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25">
                <a:latin typeface="Arial"/>
                <a:cs typeface="Arial"/>
              </a:rPr>
              <a:t>helpful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find </a:t>
            </a:r>
            <a:r>
              <a:rPr dirty="0" sz="1150" spc="-40">
                <a:latin typeface="Arial"/>
                <a:cs typeface="Arial"/>
              </a:rPr>
              <a:t>suitable </a:t>
            </a:r>
            <a:r>
              <a:rPr dirty="0" sz="1150" spc="-55">
                <a:latin typeface="Arial"/>
                <a:cs typeface="Arial"/>
              </a:rPr>
              <a:t>persons. </a:t>
            </a:r>
            <a:r>
              <a:rPr dirty="0" sz="1150" spc="-60">
                <a:latin typeface="Arial"/>
                <a:cs typeface="Arial"/>
              </a:rPr>
              <a:t>Usually </a:t>
            </a:r>
            <a:r>
              <a:rPr dirty="0" sz="1150" spc="-45">
                <a:latin typeface="Arial"/>
                <a:cs typeface="Arial"/>
              </a:rPr>
              <a:t>organizations </a:t>
            </a:r>
            <a:r>
              <a:rPr dirty="0" sz="1150" spc="-40">
                <a:latin typeface="Arial"/>
                <a:cs typeface="Arial"/>
              </a:rPr>
              <a:t>consult </a:t>
            </a:r>
            <a:r>
              <a:rPr dirty="0" sz="1150">
                <a:latin typeface="Arial"/>
                <a:cs typeface="Arial"/>
              </a:rPr>
              <a:t>with </a:t>
            </a:r>
            <a:r>
              <a:rPr dirty="0" sz="1150" spc="-40">
                <a:latin typeface="Arial"/>
                <a:cs typeface="Arial"/>
              </a:rPr>
              <a:t>educational  </a:t>
            </a:r>
            <a:r>
              <a:rPr dirty="0" sz="1150" spc="-20">
                <a:latin typeface="Arial"/>
                <a:cs typeface="Arial"/>
              </a:rPr>
              <a:t>institutions </a:t>
            </a:r>
            <a:r>
              <a:rPr dirty="0" sz="1150" spc="-40">
                <a:latin typeface="Arial"/>
                <a:cs typeface="Arial"/>
              </a:rPr>
              <a:t>when fresh </a:t>
            </a:r>
            <a:r>
              <a:rPr dirty="0" sz="1150" spc="-60">
                <a:latin typeface="Arial"/>
                <a:cs typeface="Arial"/>
              </a:rPr>
              <a:t>graduates </a:t>
            </a:r>
            <a:r>
              <a:rPr dirty="0" sz="1150" spc="-50">
                <a:latin typeface="Arial"/>
                <a:cs typeface="Arial"/>
              </a:rPr>
              <a:t>are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required.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05" b="1">
                <a:latin typeface="Arial"/>
                <a:cs typeface="Arial"/>
              </a:rPr>
              <a:t>Professional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25" b="1">
                <a:latin typeface="Arial"/>
                <a:cs typeface="Arial"/>
              </a:rPr>
              <a:t>Associations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60">
                <a:latin typeface="Arial"/>
                <a:cs typeface="Arial"/>
              </a:rPr>
              <a:t>source </a:t>
            </a:r>
            <a:r>
              <a:rPr dirty="0" sz="1150" spc="-70">
                <a:latin typeface="Arial"/>
                <a:cs typeface="Arial"/>
              </a:rPr>
              <a:t>is used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 wants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appoint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45">
                <a:latin typeface="Arial"/>
                <a:cs typeface="Arial"/>
              </a:rPr>
              <a:t>senior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posts.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85" b="1">
                <a:latin typeface="Arial"/>
                <a:cs typeface="Arial"/>
              </a:rPr>
              <a:t>Recruitment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30" b="1">
                <a:latin typeface="Arial"/>
                <a:cs typeface="Arial"/>
              </a:rPr>
              <a:t>Agencies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2125980">
              <a:lnSpc>
                <a:spcPct val="101699"/>
              </a:lnSpc>
              <a:spcBef>
                <a:spcPts val="5"/>
              </a:spcBef>
            </a:pPr>
            <a:r>
              <a:rPr dirty="0" sz="1150" spc="-40">
                <a:latin typeface="Arial"/>
                <a:cs typeface="Arial"/>
              </a:rPr>
              <a:t>Recruitment </a:t>
            </a:r>
            <a:r>
              <a:rPr dirty="0" sz="1150" spc="-75">
                <a:latin typeface="Arial"/>
                <a:cs typeface="Arial"/>
              </a:rPr>
              <a:t>agencies </a:t>
            </a:r>
            <a:r>
              <a:rPr dirty="0" sz="1150" spc="-70">
                <a:latin typeface="Arial"/>
                <a:cs typeface="Arial"/>
              </a:rPr>
              <a:t>have </a:t>
            </a:r>
            <a:r>
              <a:rPr dirty="0" sz="1150" spc="-45">
                <a:latin typeface="Arial"/>
                <a:cs typeface="Arial"/>
              </a:rPr>
              <a:t>expertise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selecting </a:t>
            </a:r>
            <a:r>
              <a:rPr dirty="0" sz="1150" spc="-40">
                <a:latin typeface="Arial"/>
                <a:cs typeface="Arial"/>
              </a:rPr>
              <a:t>people.  </a:t>
            </a: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75">
                <a:latin typeface="Arial"/>
                <a:cs typeface="Arial"/>
              </a:rPr>
              <a:t>agencies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70">
                <a:latin typeface="Arial"/>
                <a:cs typeface="Arial"/>
              </a:rPr>
              <a:t>used</a:t>
            </a:r>
            <a:r>
              <a:rPr dirty="0" sz="1150" spc="-40">
                <a:latin typeface="Arial"/>
                <a:cs typeface="Arial"/>
              </a:rPr>
              <a:t> when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65">
                <a:latin typeface="Arial"/>
                <a:cs typeface="Arial"/>
              </a:rPr>
              <a:t>Time </a:t>
            </a:r>
            <a:r>
              <a:rPr dirty="0" sz="1150" spc="-75">
                <a:latin typeface="Arial"/>
                <a:cs typeface="Arial"/>
              </a:rPr>
              <a:t>span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0">
                <a:latin typeface="Arial"/>
                <a:cs typeface="Arial"/>
              </a:rPr>
              <a:t>selection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short.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100">
                <a:latin typeface="Arial"/>
                <a:cs typeface="Arial"/>
              </a:rPr>
              <a:t>Jobs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highly technical </a:t>
            </a:r>
            <a:r>
              <a:rPr dirty="0" sz="1150" spc="-25">
                <a:latin typeface="Arial"/>
                <a:cs typeface="Arial"/>
              </a:rPr>
              <a:t>in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nature.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55">
                <a:latin typeface="Arial"/>
                <a:cs typeface="Arial"/>
              </a:rPr>
              <a:t>Employer and </a:t>
            </a:r>
            <a:r>
              <a:rPr dirty="0" sz="1150" spc="-50">
                <a:latin typeface="Arial"/>
                <a:cs typeface="Arial"/>
              </a:rPr>
              <a:t>employee </a:t>
            </a:r>
            <a:r>
              <a:rPr dirty="0" sz="1150" spc="-55">
                <a:latin typeface="Arial"/>
                <a:cs typeface="Arial"/>
              </a:rPr>
              <a:t>are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distant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place.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85" b="1">
                <a:latin typeface="Arial"/>
                <a:cs typeface="Arial"/>
              </a:rPr>
              <a:t>Advertisement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Sources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15">
                <a:latin typeface="Arial"/>
                <a:cs typeface="Arial"/>
              </a:rPr>
              <a:t>find </a:t>
            </a:r>
            <a:r>
              <a:rPr dirty="0" sz="1150" spc="-50">
                <a:latin typeface="Arial"/>
                <a:cs typeface="Arial"/>
              </a:rPr>
              <a:t>by giving </a:t>
            </a:r>
            <a:r>
              <a:rPr dirty="0" sz="1150" spc="-35">
                <a:latin typeface="Arial"/>
                <a:cs typeface="Arial"/>
              </a:rPr>
              <a:t>advertisement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media,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70">
                <a:latin typeface="Arial"/>
                <a:cs typeface="Arial"/>
              </a:rPr>
              <a:t>sources is used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50">
                <a:latin typeface="Arial"/>
                <a:cs typeface="Arial"/>
              </a:rPr>
              <a:t>large </a:t>
            </a:r>
            <a:r>
              <a:rPr dirty="0" sz="1150" spc="-35">
                <a:latin typeface="Arial"/>
                <a:cs typeface="Arial"/>
              </a:rPr>
              <a:t>number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jobs </a:t>
            </a:r>
            <a:r>
              <a:rPr dirty="0" sz="1150" spc="-50">
                <a:latin typeface="Arial"/>
                <a:cs typeface="Arial"/>
              </a:rPr>
              <a:t>are available. </a:t>
            </a:r>
            <a:r>
              <a:rPr dirty="0" sz="1150" spc="-25">
                <a:latin typeface="Arial"/>
                <a:cs typeface="Arial"/>
              </a:rPr>
              <a:t>Most </a:t>
            </a:r>
            <a:r>
              <a:rPr dirty="0" sz="1150" spc="-50">
                <a:latin typeface="Arial"/>
                <a:cs typeface="Arial"/>
              </a:rPr>
              <a:t>common media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">
                <a:latin typeface="Arial"/>
                <a:cs typeface="Arial"/>
              </a:rPr>
              <a:t>print </a:t>
            </a:r>
            <a:r>
              <a:rPr dirty="0" sz="1150" spc="-50">
                <a:latin typeface="Arial"/>
                <a:cs typeface="Arial"/>
              </a:rPr>
              <a:t>media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worldwide.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90" b="1">
                <a:latin typeface="Arial"/>
                <a:cs typeface="Arial"/>
              </a:rPr>
              <a:t>SELECTING </a:t>
            </a:r>
            <a:r>
              <a:rPr dirty="0" sz="1350" spc="-85" b="1">
                <a:latin typeface="Arial"/>
                <a:cs typeface="Arial"/>
              </a:rPr>
              <a:t>HUMAN</a:t>
            </a:r>
            <a:r>
              <a:rPr dirty="0" sz="1350" spc="-160" b="1">
                <a:latin typeface="Arial"/>
                <a:cs typeface="Arial"/>
              </a:rPr>
              <a:t> </a:t>
            </a:r>
            <a:r>
              <a:rPr dirty="0" sz="1350" spc="-220" b="1">
                <a:latin typeface="Arial"/>
                <a:cs typeface="Arial"/>
              </a:rPr>
              <a:t>RESOURCES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90" b="1">
                <a:latin typeface="Arial"/>
                <a:cs typeface="Arial"/>
              </a:rPr>
              <a:t>Application</a:t>
            </a:r>
            <a:r>
              <a:rPr dirty="0" sz="1350" spc="-60" b="1">
                <a:latin typeface="Arial"/>
                <a:cs typeface="Arial"/>
              </a:rPr>
              <a:t> </a:t>
            </a:r>
            <a:r>
              <a:rPr dirty="0" sz="1350" spc="-114" b="1">
                <a:latin typeface="Arial"/>
                <a:cs typeface="Arial"/>
              </a:rPr>
              <a:t>Blank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12700" marR="5715">
              <a:lnSpc>
                <a:spcPct val="101699"/>
              </a:lnSpc>
            </a:pPr>
            <a:r>
              <a:rPr dirty="0" sz="1150" spc="-35">
                <a:latin typeface="Arial"/>
                <a:cs typeface="Arial"/>
              </a:rPr>
              <a:t>Application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 spc="-35">
                <a:latin typeface="Arial"/>
                <a:cs typeface="Arial"/>
              </a:rPr>
              <a:t>provided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10">
                <a:latin typeface="Arial"/>
                <a:cs typeface="Arial"/>
              </a:rPr>
              <a:t>fill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30">
                <a:latin typeface="Arial"/>
                <a:cs typeface="Arial"/>
              </a:rPr>
              <a:t>per </a:t>
            </a:r>
            <a:r>
              <a:rPr dirty="0" sz="1150" spc="-25">
                <a:latin typeface="Arial"/>
                <a:cs typeface="Arial"/>
              </a:rPr>
              <a:t>requirement order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5">
                <a:latin typeface="Arial"/>
                <a:cs typeface="Arial"/>
              </a:rPr>
              <a:t>firm.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It’s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form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70">
                <a:latin typeface="Arial"/>
                <a:cs typeface="Arial"/>
              </a:rPr>
              <a:t>CV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but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prepared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10">
                <a:latin typeface="Arial"/>
                <a:cs typeface="Arial"/>
              </a:rPr>
              <a:t>as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organizational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point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view.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30" b="1">
                <a:latin typeface="Arial"/>
                <a:cs typeface="Arial"/>
              </a:rPr>
              <a:t>Tests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Organizations </a:t>
            </a:r>
            <a:r>
              <a:rPr dirty="0" sz="1150" spc="-40">
                <a:latin typeface="Arial"/>
                <a:cs typeface="Arial"/>
              </a:rPr>
              <a:t>conduct </a:t>
            </a:r>
            <a:r>
              <a:rPr dirty="0" sz="1150" spc="-50">
                <a:latin typeface="Arial"/>
                <a:cs typeface="Arial"/>
              </a:rPr>
              <a:t>various </a:t>
            </a:r>
            <a:r>
              <a:rPr dirty="0" sz="1150" spc="-40">
                <a:latin typeface="Arial"/>
                <a:cs typeface="Arial"/>
              </a:rPr>
              <a:t>tests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judge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overall </a:t>
            </a:r>
            <a:r>
              <a:rPr dirty="0" sz="1150" spc="-40">
                <a:latin typeface="Arial"/>
                <a:cs typeface="Arial"/>
              </a:rPr>
              <a:t>capabilities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professionals  </a:t>
            </a:r>
            <a:r>
              <a:rPr dirty="0" sz="1150" spc="-40">
                <a:latin typeface="Arial"/>
                <a:cs typeface="Arial"/>
              </a:rPr>
              <a:t>including: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AutoNum type="alphaLcPeriod"/>
              <a:tabLst>
                <a:tab pos="469900" algn="l"/>
              </a:tabLst>
            </a:pPr>
            <a:r>
              <a:rPr dirty="0" sz="1150" spc="-50">
                <a:latin typeface="Arial"/>
                <a:cs typeface="Arial"/>
              </a:rPr>
              <a:t>Achievement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tests</a:t>
            </a:r>
            <a:endParaRPr sz="11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469900" algn="l"/>
              </a:tabLst>
            </a:pPr>
            <a:r>
              <a:rPr dirty="0" sz="1150" spc="-35">
                <a:latin typeface="Arial"/>
                <a:cs typeface="Arial"/>
              </a:rPr>
              <a:t>skill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Tests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102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306" y="892559"/>
            <a:ext cx="5513705" cy="4782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1150" spc="-60">
                <a:latin typeface="Arial"/>
                <a:cs typeface="Arial"/>
              </a:rPr>
              <a:t>c.</a:t>
            </a:r>
            <a:r>
              <a:rPr dirty="0" sz="1150" spc="-60">
                <a:latin typeface="Times New Roman"/>
                <a:cs typeface="Times New Roman"/>
              </a:rPr>
              <a:t>	</a:t>
            </a:r>
            <a:r>
              <a:rPr dirty="0" sz="1150" spc="-45">
                <a:latin typeface="Arial"/>
                <a:cs typeface="Arial"/>
              </a:rPr>
              <a:t>knowledge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tests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75" b="1">
                <a:latin typeface="Arial"/>
                <a:cs typeface="Arial"/>
              </a:rPr>
              <a:t>Interviews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  <a:spcBef>
                <a:spcPts val="5"/>
              </a:spcBef>
            </a:pPr>
            <a:r>
              <a:rPr dirty="0" sz="1150" spc="-35">
                <a:latin typeface="Arial"/>
                <a:cs typeface="Arial"/>
              </a:rPr>
              <a:t>Interviews </a:t>
            </a:r>
            <a:r>
              <a:rPr dirty="0" sz="1150" spc="-50">
                <a:latin typeface="Arial"/>
                <a:cs typeface="Arial"/>
              </a:rPr>
              <a:t>are sometimes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poor predictor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job </a:t>
            </a:r>
            <a:r>
              <a:rPr dirty="0" sz="1150" spc="-95">
                <a:latin typeface="Arial"/>
                <a:cs typeface="Arial"/>
              </a:rPr>
              <a:t>success </a:t>
            </a:r>
            <a:r>
              <a:rPr dirty="0" sz="1150" spc="-35">
                <a:latin typeface="Arial"/>
                <a:cs typeface="Arial"/>
              </a:rPr>
              <a:t>although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35">
                <a:latin typeface="Arial"/>
                <a:cs typeface="Arial"/>
              </a:rPr>
              <a:t>remain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popular 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screening </a:t>
            </a:r>
            <a:r>
              <a:rPr dirty="0" sz="1150" spc="-50">
                <a:latin typeface="Arial"/>
                <a:cs typeface="Arial"/>
              </a:rPr>
              <a:t>candidates. </a:t>
            </a:r>
            <a:r>
              <a:rPr dirty="0" sz="1150" spc="-30">
                <a:latin typeface="Arial"/>
                <a:cs typeface="Arial"/>
              </a:rPr>
              <a:t>Validity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0">
                <a:latin typeface="Arial"/>
                <a:cs typeface="Arial"/>
              </a:rPr>
              <a:t>improved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5">
                <a:latin typeface="Arial"/>
                <a:cs typeface="Arial"/>
              </a:rPr>
              <a:t>training </a:t>
            </a:r>
            <a:r>
              <a:rPr dirty="0" sz="1150" spc="-55">
                <a:latin typeface="Arial"/>
                <a:cs typeface="Arial"/>
              </a:rPr>
              <a:t>employees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aware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potential </a:t>
            </a:r>
            <a:r>
              <a:rPr dirty="0" sz="1150" spc="-75">
                <a:latin typeface="Arial"/>
                <a:cs typeface="Arial"/>
              </a:rPr>
              <a:t>biases </a:t>
            </a:r>
            <a:r>
              <a:rPr dirty="0" sz="1150" spc="-40">
                <a:latin typeface="Arial"/>
                <a:cs typeface="Arial"/>
              </a:rPr>
              <a:t>created </a:t>
            </a:r>
            <a:r>
              <a:rPr dirty="0" sz="1150" spc="-20">
                <a:latin typeface="Arial"/>
                <a:cs typeface="Arial"/>
              </a:rPr>
              <a:t>in the interview situation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60">
                <a:latin typeface="Arial"/>
                <a:cs typeface="Arial"/>
              </a:rPr>
              <a:t>using </a:t>
            </a:r>
            <a:r>
              <a:rPr dirty="0" sz="1150" spc="-25">
                <a:latin typeface="Arial"/>
                <a:cs typeface="Arial"/>
              </a:rPr>
              <a:t>structured </a:t>
            </a:r>
            <a:r>
              <a:rPr dirty="0" sz="1150" spc="-30">
                <a:latin typeface="Arial"/>
                <a:cs typeface="Arial"/>
              </a:rPr>
              <a:t>interviews, </a:t>
            </a:r>
            <a:r>
              <a:rPr dirty="0" sz="1150" spc="-20">
                <a:latin typeface="Arial"/>
                <a:cs typeface="Arial"/>
              </a:rPr>
              <a:t>in 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45">
                <a:latin typeface="Arial"/>
                <a:cs typeface="Arial"/>
              </a:rPr>
              <a:t>questions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>
                <a:latin typeface="Arial"/>
                <a:cs typeface="Arial"/>
              </a:rPr>
              <a:t>written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70">
                <a:latin typeface="Arial"/>
                <a:cs typeface="Arial"/>
              </a:rPr>
              <a:t>advance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all interviews </a:t>
            </a:r>
            <a:r>
              <a:rPr dirty="0" sz="1150" spc="-10">
                <a:latin typeface="Arial"/>
                <a:cs typeface="Arial"/>
              </a:rPr>
              <a:t>follow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5">
                <a:latin typeface="Arial"/>
                <a:cs typeface="Arial"/>
              </a:rPr>
              <a:t>same </a:t>
            </a:r>
            <a:r>
              <a:rPr dirty="0" sz="1150" spc="-15">
                <a:latin typeface="Arial"/>
                <a:cs typeface="Arial"/>
              </a:rPr>
              <a:t>list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questions 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70">
                <a:latin typeface="Arial"/>
                <a:cs typeface="Arial"/>
              </a:rPr>
              <a:t>each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candidate.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70" b="1">
                <a:latin typeface="Arial"/>
                <a:cs typeface="Arial"/>
              </a:rPr>
              <a:t>Other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14" b="1">
                <a:latin typeface="Arial"/>
                <a:cs typeface="Arial"/>
              </a:rPr>
              <a:t>Techniques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60">
                <a:latin typeface="Arial"/>
                <a:cs typeface="Arial"/>
              </a:rPr>
              <a:t>Polygraph </a:t>
            </a:r>
            <a:r>
              <a:rPr dirty="0" sz="1150" spc="-40">
                <a:latin typeface="Arial"/>
                <a:cs typeface="Arial"/>
              </a:rPr>
              <a:t>tests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declining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popularity, </a:t>
            </a:r>
            <a:r>
              <a:rPr dirty="0" sz="1150" spc="-35">
                <a:latin typeface="Arial"/>
                <a:cs typeface="Arial"/>
              </a:rPr>
              <a:t>although </a:t>
            </a:r>
            <a:r>
              <a:rPr dirty="0" sz="1150" spc="-65">
                <a:latin typeface="Arial"/>
                <a:cs typeface="Arial"/>
              </a:rPr>
              <a:t>some </a:t>
            </a:r>
            <a:r>
              <a:rPr dirty="0" sz="1150" spc="-45">
                <a:latin typeface="Arial"/>
                <a:cs typeface="Arial"/>
              </a:rPr>
              <a:t>organizations </a:t>
            </a:r>
            <a:r>
              <a:rPr dirty="0" sz="1150" spc="-30">
                <a:latin typeface="Arial"/>
                <a:cs typeface="Arial"/>
              </a:rPr>
              <a:t>require </a:t>
            </a:r>
            <a:r>
              <a:rPr dirty="0" sz="1150" spc="-55">
                <a:latin typeface="Arial"/>
                <a:cs typeface="Arial"/>
              </a:rPr>
              <a:t>physical  </a:t>
            </a:r>
            <a:r>
              <a:rPr dirty="0" sz="1150" spc="-75">
                <a:latin typeface="Arial"/>
                <a:cs typeface="Arial"/>
              </a:rPr>
              <a:t>exams. </a:t>
            </a:r>
            <a:r>
              <a:rPr dirty="0" sz="1150" spc="-15">
                <a:latin typeface="Arial"/>
                <a:cs typeface="Arial"/>
              </a:rPr>
              <a:t>More </a:t>
            </a:r>
            <a:r>
              <a:rPr dirty="0" sz="1150" spc="-45">
                <a:latin typeface="Arial"/>
                <a:cs typeface="Arial"/>
              </a:rPr>
              <a:t>organizations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60">
                <a:latin typeface="Arial"/>
                <a:cs typeface="Arial"/>
              </a:rPr>
              <a:t>using </a:t>
            </a:r>
            <a:r>
              <a:rPr dirty="0" sz="1150" spc="-40">
                <a:latin typeface="Arial"/>
                <a:cs typeface="Arial"/>
              </a:rPr>
              <a:t>drug tests, </a:t>
            </a:r>
            <a:r>
              <a:rPr dirty="0" sz="1150" spc="-25">
                <a:latin typeface="Arial"/>
                <a:cs typeface="Arial"/>
              </a:rPr>
              <a:t>particularly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which </a:t>
            </a:r>
            <a:r>
              <a:rPr dirty="0" sz="1150" spc="-35">
                <a:latin typeface="Arial"/>
                <a:cs typeface="Arial"/>
              </a:rPr>
              <a:t>drug-related  </a:t>
            </a:r>
            <a:r>
              <a:rPr dirty="0" sz="1150" spc="-40">
                <a:latin typeface="Arial"/>
                <a:cs typeface="Arial"/>
              </a:rPr>
              <a:t>performance problems </a:t>
            </a:r>
            <a:r>
              <a:rPr dirty="0" sz="1150" spc="-45">
                <a:latin typeface="Arial"/>
                <a:cs typeface="Arial"/>
              </a:rPr>
              <a:t>could </a:t>
            </a:r>
            <a:r>
              <a:rPr dirty="0" sz="1150" spc="-40">
                <a:latin typeface="Arial"/>
                <a:cs typeface="Arial"/>
              </a:rPr>
              <a:t>create </a:t>
            </a:r>
            <a:r>
              <a:rPr dirty="0" sz="1150" spc="-55">
                <a:latin typeface="Arial"/>
                <a:cs typeface="Arial"/>
              </a:rPr>
              <a:t>serious </a:t>
            </a:r>
            <a:r>
              <a:rPr dirty="0" sz="1150" spc="-45">
                <a:latin typeface="Arial"/>
                <a:cs typeface="Arial"/>
              </a:rPr>
              <a:t>safety </a:t>
            </a:r>
            <a:r>
              <a:rPr dirty="0" sz="1150" spc="-75">
                <a:latin typeface="Arial"/>
                <a:cs typeface="Arial"/>
              </a:rPr>
              <a:t>hazards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employees.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75" b="1">
                <a:latin typeface="Arial"/>
                <a:cs typeface="Arial"/>
              </a:rPr>
              <a:t>Validation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35">
                <a:latin typeface="Arial"/>
                <a:cs typeface="Arial"/>
              </a:rPr>
              <a:t>Validation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checking </a:t>
            </a:r>
            <a:r>
              <a:rPr dirty="0" sz="1150" spc="-45">
                <a:latin typeface="Arial"/>
                <a:cs typeface="Arial"/>
              </a:rPr>
              <a:t>appropriateness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25">
                <a:latin typeface="Arial"/>
                <a:cs typeface="Arial"/>
              </a:rPr>
              <a:t>method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>
                <a:latin typeface="Arial"/>
                <a:cs typeface="Arial"/>
              </a:rPr>
              <a:t>tool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extent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45">
                <a:latin typeface="Arial"/>
                <a:cs typeface="Arial"/>
              </a:rPr>
              <a:t>satisfy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actual </a:t>
            </a:r>
            <a:r>
              <a:rPr dirty="0" sz="1150" spc="-25">
                <a:latin typeface="Arial"/>
                <a:cs typeface="Arial"/>
              </a:rPr>
              <a:t>requirement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10">
                <a:latin typeface="Arial"/>
                <a:cs typeface="Arial"/>
              </a:rPr>
              <a:t>fits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practical </a:t>
            </a:r>
            <a:r>
              <a:rPr dirty="0" sz="1150" spc="-30">
                <a:latin typeface="Arial"/>
                <a:cs typeface="Arial"/>
              </a:rPr>
              <a:t>realities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0">
                <a:latin typeface="Arial"/>
                <a:cs typeface="Arial"/>
              </a:rPr>
              <a:t>than  </a:t>
            </a:r>
            <a:r>
              <a:rPr dirty="0" sz="1150" spc="-40">
                <a:latin typeface="Arial"/>
                <a:cs typeface="Arial"/>
              </a:rPr>
              <a:t>statements.</a:t>
            </a:r>
            <a:endParaRPr sz="11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20"/>
              </a:spcBef>
            </a:pP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5">
                <a:latin typeface="Arial"/>
                <a:cs typeface="Arial"/>
              </a:rPr>
              <a:t>three </a:t>
            </a:r>
            <a:r>
              <a:rPr dirty="0" sz="1150" spc="-35">
                <a:latin typeface="Arial"/>
                <a:cs typeface="Arial"/>
              </a:rPr>
              <a:t>forms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5">
                <a:latin typeface="Arial"/>
                <a:cs typeface="Arial"/>
              </a:rPr>
              <a:t>validity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general: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1150" spc="-40">
                <a:latin typeface="Arial"/>
                <a:cs typeface="Arial"/>
              </a:rPr>
              <a:t>Content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Validity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470534" algn="l"/>
              </a:tabLst>
            </a:pPr>
            <a:r>
              <a:rPr dirty="0" sz="1150" spc="-45">
                <a:latin typeface="Arial"/>
                <a:cs typeface="Arial"/>
              </a:rPr>
              <a:t>Context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Validity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469265" algn="l"/>
                <a:tab pos="470534" algn="l"/>
              </a:tabLst>
            </a:pPr>
            <a:r>
              <a:rPr dirty="0" sz="1150" spc="-105">
                <a:latin typeface="Arial"/>
                <a:cs typeface="Arial"/>
              </a:rPr>
              <a:t>Face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Validity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103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54" y="891035"/>
            <a:ext cx="5513705" cy="79159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635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17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750" spc="-225" b="1">
                <a:latin typeface="Arial"/>
                <a:cs typeface="Arial"/>
              </a:rPr>
              <a:t>INFRASTRUCTURE </a:t>
            </a:r>
            <a:r>
              <a:rPr dirty="0" sz="1750" spc="-240" b="1">
                <a:latin typeface="Arial"/>
                <a:cs typeface="Arial"/>
              </a:rPr>
              <a:t>FOR</a:t>
            </a:r>
            <a:r>
              <a:rPr dirty="0" sz="1750" spc="-229" b="1">
                <a:latin typeface="Arial"/>
                <a:cs typeface="Arial"/>
              </a:rPr>
              <a:t> </a:t>
            </a:r>
            <a:r>
              <a:rPr dirty="0" sz="1750" spc="-270" b="1">
                <a:latin typeface="Arial"/>
                <a:cs typeface="Arial"/>
              </a:rPr>
              <a:t>TEST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1145"/>
              </a:spcBef>
            </a:pPr>
            <a:r>
              <a:rPr dirty="0" sz="1350" spc="-175" b="1">
                <a:latin typeface="Arial"/>
                <a:cs typeface="Arial"/>
              </a:rPr>
              <a:t>INFRASTRUCTURE </a:t>
            </a:r>
            <a:r>
              <a:rPr dirty="0" sz="1350" spc="-195" b="1">
                <a:latin typeface="Arial"/>
                <a:cs typeface="Arial"/>
              </a:rPr>
              <a:t>FOR</a:t>
            </a:r>
            <a:r>
              <a:rPr dirty="0" sz="1350" spc="-180" b="1">
                <a:latin typeface="Arial"/>
                <a:cs typeface="Arial"/>
              </a:rPr>
              <a:t> </a:t>
            </a:r>
            <a:r>
              <a:rPr dirty="0" sz="1350" spc="-204" b="1">
                <a:latin typeface="Arial"/>
                <a:cs typeface="Arial"/>
              </a:rPr>
              <a:t>TEST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  <a:spcBef>
                <a:spcPts val="5"/>
              </a:spcBef>
            </a:pPr>
            <a:r>
              <a:rPr dirty="0" sz="1150" spc="-105" b="1">
                <a:latin typeface="Arial"/>
                <a:cs typeface="Arial"/>
              </a:rPr>
              <a:t>Space</a:t>
            </a:r>
            <a:r>
              <a:rPr dirty="0" sz="1150" spc="-105">
                <a:latin typeface="Arial"/>
                <a:cs typeface="Arial"/>
              </a:rPr>
              <a:t>: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place </a:t>
            </a:r>
            <a:r>
              <a:rPr dirty="0" sz="1150" spc="-35">
                <a:latin typeface="Arial"/>
                <a:cs typeface="Arial"/>
              </a:rPr>
              <a:t>where </a:t>
            </a:r>
            <a:r>
              <a:rPr dirty="0" sz="1150" spc="-20">
                <a:latin typeface="Arial"/>
                <a:cs typeface="Arial"/>
              </a:rPr>
              <a:t>the test in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5">
                <a:latin typeface="Arial"/>
                <a:cs typeface="Arial"/>
              </a:rPr>
              <a:t>conducted should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55">
                <a:latin typeface="Arial"/>
                <a:cs typeface="Arial"/>
              </a:rPr>
              <a:t>enough </a:t>
            </a:r>
            <a:r>
              <a:rPr dirty="0" sz="1150" spc="-85">
                <a:latin typeface="Arial"/>
                <a:cs typeface="Arial"/>
              </a:rPr>
              <a:t>space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proper  </a:t>
            </a:r>
            <a:r>
              <a:rPr dirty="0" sz="1150" spc="-20">
                <a:latin typeface="Arial"/>
                <a:cs typeface="Arial"/>
              </a:rPr>
              <a:t>sitting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arrangement.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80" b="1">
                <a:latin typeface="Arial"/>
                <a:cs typeface="Arial"/>
              </a:rPr>
              <a:t>Proper </a:t>
            </a:r>
            <a:r>
              <a:rPr dirty="0" sz="1150" spc="-65" b="1">
                <a:latin typeface="Arial"/>
                <a:cs typeface="Arial"/>
              </a:rPr>
              <a:t>Temperature</a:t>
            </a:r>
            <a:r>
              <a:rPr dirty="0" sz="1150" spc="-65">
                <a:latin typeface="Arial"/>
                <a:cs typeface="Arial"/>
              </a:rPr>
              <a:t>: </a:t>
            </a:r>
            <a:r>
              <a:rPr dirty="0" sz="1150" spc="-50">
                <a:latin typeface="Arial"/>
                <a:cs typeface="Arial"/>
              </a:rPr>
              <a:t>Proper </a:t>
            </a:r>
            <a:r>
              <a:rPr dirty="0" sz="1150" spc="-30">
                <a:latin typeface="Arial"/>
                <a:cs typeface="Arial"/>
              </a:rPr>
              <a:t>adjustment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temperature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required </a:t>
            </a:r>
            <a:r>
              <a:rPr dirty="0" sz="1150" spc="-55">
                <a:latin typeface="Arial"/>
                <a:cs typeface="Arial"/>
              </a:rPr>
              <a:t>along </a:t>
            </a:r>
            <a:r>
              <a:rPr dirty="0" sz="1150" spc="10">
                <a:latin typeface="Arial"/>
                <a:cs typeface="Arial"/>
              </a:rPr>
              <a:t>with </a:t>
            </a:r>
            <a:r>
              <a:rPr dirty="0" sz="1150" spc="-25">
                <a:latin typeface="Arial"/>
                <a:cs typeface="Arial"/>
              </a:rPr>
              <a:t>proper </a:t>
            </a:r>
            <a:r>
              <a:rPr dirty="0" sz="1150" spc="-15">
                <a:latin typeface="Arial"/>
                <a:cs typeface="Arial"/>
              </a:rPr>
              <a:t>light 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5">
                <a:latin typeface="Arial"/>
                <a:cs typeface="Arial"/>
              </a:rPr>
              <a:t>candidate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50">
                <a:latin typeface="Arial"/>
                <a:cs typeface="Arial"/>
              </a:rPr>
              <a:t>able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draw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clear </a:t>
            </a:r>
            <a:r>
              <a:rPr dirty="0" sz="1150" spc="-25">
                <a:latin typeface="Arial"/>
                <a:cs typeface="Arial"/>
              </a:rPr>
              <a:t>picture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30">
                <a:latin typeface="Arial"/>
                <a:cs typeface="Arial"/>
              </a:rPr>
              <a:t>mind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answer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25">
                <a:latin typeface="Arial"/>
                <a:cs typeface="Arial"/>
              </a:rPr>
              <a:t>interviewer’s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questions.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20" b="1">
                <a:latin typeface="Arial"/>
                <a:cs typeface="Arial"/>
              </a:rPr>
              <a:t>Enough </a:t>
            </a:r>
            <a:r>
              <a:rPr dirty="0" sz="1150" spc="-55" b="1">
                <a:latin typeface="Arial"/>
                <a:cs typeface="Arial"/>
              </a:rPr>
              <a:t>quantity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70" b="1">
                <a:latin typeface="Arial"/>
                <a:cs typeface="Arial"/>
              </a:rPr>
              <a:t>stationary: </a:t>
            </a:r>
            <a:r>
              <a:rPr dirty="0" sz="1150" spc="-40">
                <a:latin typeface="Arial"/>
                <a:cs typeface="Arial"/>
              </a:rPr>
              <a:t>Stationary </a:t>
            </a:r>
            <a:r>
              <a:rPr dirty="0" sz="1150" spc="-50">
                <a:latin typeface="Arial"/>
                <a:cs typeface="Arial"/>
              </a:rPr>
              <a:t>includes </a:t>
            </a:r>
            <a:r>
              <a:rPr dirty="0" sz="1150" spc="-55">
                <a:latin typeface="Arial"/>
                <a:cs typeface="Arial"/>
              </a:rPr>
              <a:t>papers, </a:t>
            </a:r>
            <a:r>
              <a:rPr dirty="0" sz="1150" spc="-50">
                <a:latin typeface="Arial"/>
                <a:cs typeface="Arial"/>
              </a:rPr>
              <a:t>pencils, </a:t>
            </a:r>
            <a:r>
              <a:rPr dirty="0" sz="1150" spc="-45">
                <a:latin typeface="Arial"/>
                <a:cs typeface="Arial"/>
              </a:rPr>
              <a:t>calculators, </a:t>
            </a:r>
            <a:r>
              <a:rPr dirty="0" sz="1150" spc="-60">
                <a:latin typeface="Arial"/>
                <a:cs typeface="Arial"/>
              </a:rPr>
              <a:t>graphs,  diagrams </a:t>
            </a:r>
            <a:r>
              <a:rPr dirty="0" sz="1150" spc="-55">
                <a:latin typeface="Arial"/>
                <a:cs typeface="Arial"/>
              </a:rPr>
              <a:t>and answer </a:t>
            </a:r>
            <a:r>
              <a:rPr dirty="0" sz="1150" spc="-60">
                <a:latin typeface="Arial"/>
                <a:cs typeface="Arial"/>
              </a:rPr>
              <a:t>sheets,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stationary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enough </a:t>
            </a:r>
            <a:r>
              <a:rPr dirty="0" sz="1150" spc="-20">
                <a:latin typeface="Arial"/>
                <a:cs typeface="Arial"/>
              </a:rPr>
              <a:t>quantity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90">
                <a:latin typeface="Arial"/>
                <a:cs typeface="Arial"/>
              </a:rPr>
              <a:t>ease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50">
                <a:latin typeface="Arial"/>
                <a:cs typeface="Arial"/>
              </a:rPr>
              <a:t>candidates.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0899"/>
              </a:lnSpc>
              <a:spcBef>
                <a:spcPts val="5"/>
              </a:spcBef>
            </a:pPr>
            <a:r>
              <a:rPr dirty="0" sz="1150" spc="-80" b="1">
                <a:latin typeface="Arial"/>
                <a:cs typeface="Arial"/>
              </a:rPr>
              <a:t>Evaluation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90" b="1">
                <a:latin typeface="Arial"/>
                <a:cs typeface="Arial"/>
              </a:rPr>
              <a:t>Test: </a:t>
            </a:r>
            <a:r>
              <a:rPr dirty="0" sz="1150" spc="-20">
                <a:latin typeface="Arial"/>
                <a:cs typeface="Arial"/>
              </a:rPr>
              <a:t>At the </a:t>
            </a:r>
            <a:r>
              <a:rPr dirty="0" sz="1150" spc="-50">
                <a:latin typeface="Arial"/>
                <a:cs typeface="Arial"/>
              </a:rPr>
              <a:t>end </a:t>
            </a:r>
            <a:r>
              <a:rPr dirty="0" sz="1150" spc="-45">
                <a:latin typeface="Arial"/>
                <a:cs typeface="Arial"/>
              </a:rPr>
              <a:t>candidate’s </a:t>
            </a:r>
            <a:r>
              <a:rPr dirty="0" sz="1150" spc="-65">
                <a:latin typeface="Arial"/>
                <a:cs typeface="Arial"/>
              </a:rPr>
              <a:t>answers </a:t>
            </a:r>
            <a:r>
              <a:rPr dirty="0" sz="1150" spc="-50">
                <a:latin typeface="Arial"/>
                <a:cs typeface="Arial"/>
              </a:rPr>
              <a:t>are compared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benchmark  </a:t>
            </a:r>
            <a:r>
              <a:rPr dirty="0" sz="1150" spc="-65">
                <a:latin typeface="Arial"/>
                <a:cs typeface="Arial"/>
              </a:rPr>
              <a:t>answers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evaluate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test.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  <a:spcBef>
                <a:spcPts val="5"/>
              </a:spcBef>
            </a:pP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45">
                <a:latin typeface="Arial"/>
                <a:cs typeface="Arial"/>
              </a:rPr>
              <a:t>evaluating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tests, </a:t>
            </a:r>
            <a:r>
              <a:rPr dirty="0" sz="1150" spc="-30">
                <a:latin typeface="Arial"/>
                <a:cs typeface="Arial"/>
              </a:rPr>
              <a:t>interviews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conducted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those </a:t>
            </a:r>
            <a:r>
              <a:rPr dirty="0" sz="1150" spc="-55">
                <a:latin typeface="Arial"/>
                <a:cs typeface="Arial"/>
              </a:rPr>
              <a:t>candidates </a:t>
            </a:r>
            <a:r>
              <a:rPr dirty="0" sz="1150" spc="-35">
                <a:latin typeface="Arial"/>
                <a:cs typeface="Arial"/>
              </a:rPr>
              <a:t>who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30">
                <a:latin typeface="Arial"/>
                <a:cs typeface="Arial"/>
              </a:rPr>
              <a:t>qualified 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test.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45" b="1">
                <a:latin typeface="Arial"/>
                <a:cs typeface="Arial"/>
              </a:rPr>
              <a:t>Interview</a:t>
            </a:r>
            <a:r>
              <a:rPr dirty="0" sz="1150" spc="-45">
                <a:latin typeface="Arial"/>
                <a:cs typeface="Arial"/>
              </a:rPr>
              <a:t>: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40">
                <a:latin typeface="Arial"/>
                <a:cs typeface="Arial"/>
              </a:rPr>
              <a:t>verbal </a:t>
            </a:r>
            <a:r>
              <a:rPr dirty="0" sz="1150" spc="-20">
                <a:latin typeface="Arial"/>
                <a:cs typeface="Arial"/>
              </a:rPr>
              <a:t>interaction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interview.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190" b="1">
                <a:latin typeface="Arial"/>
                <a:cs typeface="Arial"/>
              </a:rPr>
              <a:t>JOB</a:t>
            </a:r>
            <a:r>
              <a:rPr dirty="0" sz="1150" spc="-70" b="1">
                <a:latin typeface="Arial"/>
                <a:cs typeface="Arial"/>
              </a:rPr>
              <a:t> </a:t>
            </a:r>
            <a:r>
              <a:rPr dirty="0" sz="1150" spc="-110" b="1">
                <a:latin typeface="Arial"/>
                <a:cs typeface="Arial"/>
              </a:rPr>
              <a:t>INTERVIEW</a:t>
            </a:r>
            <a:endParaRPr sz="1150">
              <a:latin typeface="Arial"/>
              <a:cs typeface="Arial"/>
            </a:endParaRPr>
          </a:p>
          <a:p>
            <a:pPr marL="12700" marR="1297940">
              <a:lnSpc>
                <a:spcPct val="203500"/>
              </a:lnSpc>
            </a:pPr>
            <a:r>
              <a:rPr dirty="0" sz="1150" spc="-105">
                <a:latin typeface="Arial"/>
                <a:cs typeface="Arial"/>
              </a:rPr>
              <a:t>A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method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selection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which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we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interact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with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the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candidate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verbally  </a:t>
            </a:r>
            <a:r>
              <a:rPr dirty="0" sz="1150" spc="-90">
                <a:latin typeface="Arial"/>
                <a:cs typeface="Arial"/>
              </a:rPr>
              <a:t>Types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Job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Interview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470534" algn="l"/>
              </a:tabLst>
            </a:pPr>
            <a:r>
              <a:rPr dirty="0" sz="1150" spc="-55">
                <a:latin typeface="Arial"/>
                <a:cs typeface="Arial"/>
              </a:rPr>
              <a:t>Telephonic </a:t>
            </a:r>
            <a:r>
              <a:rPr dirty="0" sz="1150" spc="-35">
                <a:latin typeface="Arial"/>
                <a:cs typeface="Arial"/>
              </a:rPr>
              <a:t>Interviews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470534" algn="l"/>
              </a:tabLst>
            </a:pPr>
            <a:r>
              <a:rPr dirty="0" sz="1150" spc="-40">
                <a:latin typeface="Arial"/>
                <a:cs typeface="Arial"/>
              </a:rPr>
              <a:t>Preliminary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Interviews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470534" algn="l"/>
              </a:tabLst>
            </a:pPr>
            <a:r>
              <a:rPr dirty="0" sz="1150" spc="-55">
                <a:latin typeface="Arial"/>
                <a:cs typeface="Arial"/>
              </a:rPr>
              <a:t>Selection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Interviews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00" b="1">
                <a:latin typeface="Arial"/>
                <a:cs typeface="Arial"/>
              </a:rPr>
              <a:t>Telephonic</a:t>
            </a:r>
            <a:r>
              <a:rPr dirty="0" sz="1350" spc="-85" b="1">
                <a:latin typeface="Arial"/>
                <a:cs typeface="Arial"/>
              </a:rPr>
              <a:t> </a:t>
            </a:r>
            <a:r>
              <a:rPr dirty="0" sz="1350" spc="-60" b="1">
                <a:latin typeface="Arial"/>
                <a:cs typeface="Arial"/>
              </a:rPr>
              <a:t>interview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  <a:spcBef>
                <a:spcPts val="5"/>
              </a:spcBef>
            </a:pPr>
            <a:r>
              <a:rPr dirty="0" sz="1150" spc="-55">
                <a:latin typeface="Arial"/>
                <a:cs typeface="Arial"/>
              </a:rPr>
              <a:t>Telephonic </a:t>
            </a:r>
            <a:r>
              <a:rPr dirty="0" sz="1150" spc="-20">
                <a:latin typeface="Arial"/>
                <a:cs typeface="Arial"/>
              </a:rPr>
              <a:t>interview </a:t>
            </a:r>
            <a:r>
              <a:rPr dirty="0" sz="1150" spc="-80">
                <a:latin typeface="Arial"/>
                <a:cs typeface="Arial"/>
              </a:rPr>
              <a:t>means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make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call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candidate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telephone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know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65">
                <a:latin typeface="Arial"/>
                <a:cs typeface="Arial"/>
              </a:rPr>
              <a:t>answers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candidates; </a:t>
            </a:r>
            <a:r>
              <a:rPr dirty="0" sz="1150" spc="-30">
                <a:latin typeface="Arial"/>
                <a:cs typeface="Arial"/>
              </a:rPr>
              <a:t>normally </a:t>
            </a:r>
            <a:r>
              <a:rPr dirty="0" sz="1150" spc="-35">
                <a:latin typeface="Arial"/>
                <a:cs typeface="Arial"/>
              </a:rPr>
              <a:t>telephonic </a:t>
            </a:r>
            <a:r>
              <a:rPr dirty="0" sz="1150" spc="-20">
                <a:latin typeface="Arial"/>
                <a:cs typeface="Arial"/>
              </a:rPr>
              <a:t>interview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40">
                <a:latin typeface="Arial"/>
                <a:cs typeface="Arial"/>
              </a:rPr>
              <a:t>conducted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final  </a:t>
            </a:r>
            <a:r>
              <a:rPr dirty="0" sz="1150" spc="-40">
                <a:latin typeface="Arial"/>
                <a:cs typeface="Arial"/>
              </a:rPr>
              <a:t>selection.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55">
                <a:latin typeface="Arial"/>
                <a:cs typeface="Arial"/>
              </a:rPr>
              <a:t>helps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know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45">
                <a:latin typeface="Arial"/>
                <a:cs typeface="Arial"/>
              </a:rPr>
              <a:t>candidate’s </a:t>
            </a:r>
            <a:r>
              <a:rPr dirty="0" sz="1150" spc="-30">
                <a:latin typeface="Arial"/>
                <a:cs typeface="Arial"/>
              </a:rPr>
              <a:t>preliminary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35">
                <a:latin typeface="Arial"/>
                <a:cs typeface="Arial"/>
              </a:rPr>
              <a:t>like </a:t>
            </a:r>
            <a:r>
              <a:rPr dirty="0" sz="1150" spc="-25">
                <a:latin typeface="Arial"/>
                <a:cs typeface="Arial"/>
              </a:rPr>
              <a:t>qualification,  </a:t>
            </a:r>
            <a:r>
              <a:rPr dirty="0" sz="1150" spc="-35">
                <a:latin typeface="Arial"/>
                <a:cs typeface="Arial"/>
              </a:rPr>
              <a:t>communication skill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5">
                <a:latin typeface="Arial"/>
                <a:cs typeface="Arial"/>
              </a:rPr>
              <a:t>competency,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10">
                <a:latin typeface="Arial"/>
                <a:cs typeface="Arial"/>
              </a:rPr>
              <a:t>little </a:t>
            </a:r>
            <a:r>
              <a:rPr dirty="0" sz="1150" spc="-55">
                <a:latin typeface="Arial"/>
                <a:cs typeface="Arial"/>
              </a:rPr>
              <a:t>exposure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candidate </a:t>
            </a:r>
            <a:r>
              <a:rPr dirty="0" sz="1150" spc="-30">
                <a:latin typeface="Arial"/>
                <a:cs typeface="Arial"/>
              </a:rPr>
              <a:t>before </a:t>
            </a:r>
            <a:r>
              <a:rPr dirty="0" sz="1150" spc="-45">
                <a:latin typeface="Arial"/>
                <a:cs typeface="Arial"/>
              </a:rPr>
              <a:t>calling  </a:t>
            </a:r>
            <a:r>
              <a:rPr dirty="0" sz="1150" spc="-30">
                <a:latin typeface="Arial"/>
                <a:cs typeface="Arial"/>
              </a:rPr>
              <a:t>him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face-to-face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interview.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104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4" y="1249175"/>
            <a:ext cx="5513705" cy="78212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85" b="1">
                <a:latin typeface="Arial"/>
                <a:cs typeface="Arial"/>
              </a:rPr>
              <a:t>Preliminary</a:t>
            </a:r>
            <a:r>
              <a:rPr dirty="0" sz="1350" spc="-60" b="1">
                <a:latin typeface="Arial"/>
                <a:cs typeface="Arial"/>
              </a:rPr>
              <a:t> Interview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Organizations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">
                <a:latin typeface="Arial"/>
                <a:cs typeface="Arial"/>
              </a:rPr>
              <a:t>don’t </a:t>
            </a:r>
            <a:r>
              <a:rPr dirty="0" sz="1150" spc="-40">
                <a:latin typeface="Arial"/>
                <a:cs typeface="Arial"/>
              </a:rPr>
              <a:t>conduct </a:t>
            </a:r>
            <a:r>
              <a:rPr dirty="0" sz="1150" spc="-35">
                <a:latin typeface="Arial"/>
                <a:cs typeface="Arial"/>
              </a:rPr>
              <a:t>telephonic </a:t>
            </a:r>
            <a:r>
              <a:rPr dirty="0" sz="1150" spc="-20">
                <a:latin typeface="Arial"/>
                <a:cs typeface="Arial"/>
              </a:rPr>
              <a:t>interview </a:t>
            </a:r>
            <a:r>
              <a:rPr dirty="0" sz="1150" spc="-30">
                <a:latin typeface="Arial"/>
                <a:cs typeface="Arial"/>
              </a:rPr>
              <a:t>adopt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method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preliminary  </a:t>
            </a:r>
            <a:r>
              <a:rPr dirty="0" sz="1150" spc="-20">
                <a:latin typeface="Arial"/>
                <a:cs typeface="Arial"/>
              </a:rPr>
              <a:t>interview. </a:t>
            </a: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preliminary </a:t>
            </a:r>
            <a:r>
              <a:rPr dirty="0" sz="1150" spc="-20">
                <a:latin typeface="Arial"/>
                <a:cs typeface="Arial"/>
              </a:rPr>
              <a:t>interview </a:t>
            </a:r>
            <a:r>
              <a:rPr dirty="0" sz="1150" spc="-45">
                <a:latin typeface="Arial"/>
                <a:cs typeface="Arial"/>
              </a:rPr>
              <a:t>organizations call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candidate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short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basic  </a:t>
            </a:r>
            <a:r>
              <a:rPr dirty="0" sz="1150" spc="-20">
                <a:latin typeface="Arial"/>
                <a:cs typeface="Arial"/>
              </a:rPr>
              <a:t>interview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10">
                <a:latin typeface="Arial"/>
                <a:cs typeface="Arial"/>
              </a:rPr>
              <a:t>little </a:t>
            </a:r>
            <a:r>
              <a:rPr dirty="0" sz="1150" spc="-30">
                <a:latin typeface="Arial"/>
                <a:cs typeface="Arial"/>
              </a:rPr>
              <a:t>judgment about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appearance, </a:t>
            </a:r>
            <a:r>
              <a:rPr dirty="0" sz="1150" spc="-55">
                <a:latin typeface="Arial"/>
                <a:cs typeface="Arial"/>
              </a:rPr>
              <a:t>manners and </a:t>
            </a:r>
            <a:r>
              <a:rPr dirty="0" sz="1150" spc="-35">
                <a:latin typeface="Arial"/>
                <a:cs typeface="Arial"/>
              </a:rPr>
              <a:t>personality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the  </a:t>
            </a:r>
            <a:r>
              <a:rPr dirty="0" sz="1150" spc="-45">
                <a:latin typeface="Arial"/>
                <a:cs typeface="Arial"/>
              </a:rPr>
              <a:t>candidate.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00" b="1">
                <a:latin typeface="Arial"/>
                <a:cs typeface="Arial"/>
              </a:rPr>
              <a:t>Selection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60" b="1">
                <a:latin typeface="Arial"/>
                <a:cs typeface="Arial"/>
              </a:rPr>
              <a:t>Interview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299"/>
              </a:lnSpc>
            </a:pP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final </a:t>
            </a:r>
            <a:r>
              <a:rPr dirty="0" sz="1150" spc="-30">
                <a:latin typeface="Arial"/>
                <a:cs typeface="Arial"/>
              </a:rPr>
              <a:t>interviews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longer </a:t>
            </a:r>
            <a:r>
              <a:rPr dirty="0" sz="1150" spc="-20">
                <a:latin typeface="Arial"/>
                <a:cs typeface="Arial"/>
              </a:rPr>
              <a:t>in duration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know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candidate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detail.  </a:t>
            </a: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>
                <a:latin typeface="Arial"/>
                <a:cs typeface="Arial"/>
              </a:rPr>
              <a:t>two </a:t>
            </a:r>
            <a:r>
              <a:rPr dirty="0" sz="1150" spc="-30">
                <a:latin typeface="Arial"/>
                <a:cs typeface="Arial"/>
              </a:rPr>
              <a:t>more interviews before </a:t>
            </a:r>
            <a:r>
              <a:rPr dirty="0" sz="1150" spc="-50">
                <a:latin typeface="Arial"/>
                <a:cs typeface="Arial"/>
              </a:rPr>
              <a:t>these </a:t>
            </a:r>
            <a:r>
              <a:rPr dirty="0" sz="1150" spc="-20">
                <a:latin typeface="Arial"/>
                <a:cs typeface="Arial"/>
              </a:rPr>
              <a:t>final </a:t>
            </a:r>
            <a:r>
              <a:rPr dirty="0" sz="1150" spc="-30">
                <a:latin typeface="Arial"/>
                <a:cs typeface="Arial"/>
              </a:rPr>
              <a:t>interviews. </a:t>
            </a:r>
            <a:r>
              <a:rPr dirty="0" sz="1150" spc="-60">
                <a:latin typeface="Arial"/>
                <a:cs typeface="Arial"/>
              </a:rPr>
              <a:t>Final </a:t>
            </a:r>
            <a:r>
              <a:rPr dirty="0" sz="1150" spc="-20">
                <a:latin typeface="Arial"/>
                <a:cs typeface="Arial"/>
              </a:rPr>
              <a:t>interview </a:t>
            </a:r>
            <a:r>
              <a:rPr dirty="0" sz="1150" spc="-50">
                <a:latin typeface="Arial"/>
                <a:cs typeface="Arial"/>
              </a:rPr>
              <a:t>are  </a:t>
            </a:r>
            <a:r>
              <a:rPr dirty="0" sz="1150" spc="-40">
                <a:latin typeface="Arial"/>
                <a:cs typeface="Arial"/>
              </a:rPr>
              <a:t>conducted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most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professional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manner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so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there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may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not</a:t>
            </a:r>
            <a:r>
              <a:rPr dirty="0" sz="1150" spc="-55">
                <a:latin typeface="Arial"/>
                <a:cs typeface="Arial"/>
              </a:rPr>
              <a:t> be</a:t>
            </a:r>
            <a:r>
              <a:rPr dirty="0" sz="1150" spc="-65">
                <a:latin typeface="Arial"/>
                <a:cs typeface="Arial"/>
              </a:rPr>
              <a:t> any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wrong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selection.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350" spc="-165" b="1">
                <a:latin typeface="Arial"/>
                <a:cs typeface="Arial"/>
              </a:rPr>
              <a:t>TECHNIQUES </a:t>
            </a:r>
            <a:r>
              <a:rPr dirty="0" sz="1350" spc="-195" b="1">
                <a:latin typeface="Arial"/>
                <a:cs typeface="Arial"/>
              </a:rPr>
              <a:t>FOR </a:t>
            </a:r>
            <a:r>
              <a:rPr dirty="0" sz="1350" spc="-145" b="1">
                <a:latin typeface="Arial"/>
                <a:cs typeface="Arial"/>
              </a:rPr>
              <a:t>FINAL</a:t>
            </a:r>
            <a:r>
              <a:rPr dirty="0" sz="1350" spc="-250" b="1">
                <a:latin typeface="Arial"/>
                <a:cs typeface="Arial"/>
              </a:rPr>
              <a:t> </a:t>
            </a:r>
            <a:r>
              <a:rPr dirty="0" sz="1350" spc="-140" b="1">
                <a:latin typeface="Arial"/>
                <a:cs typeface="Arial"/>
              </a:rPr>
              <a:t>INTERVIEWS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AutoNum type="arabicPeriod"/>
              <a:tabLst>
                <a:tab pos="470534" algn="l"/>
              </a:tabLst>
            </a:pPr>
            <a:r>
              <a:rPr dirty="0" sz="1150" spc="-60" b="1">
                <a:latin typeface="Arial"/>
                <a:cs typeface="Arial"/>
              </a:rPr>
              <a:t>Pattern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50" b="1">
                <a:latin typeface="Arial"/>
                <a:cs typeface="Arial"/>
              </a:rPr>
              <a:t>Interview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15">
                <a:latin typeface="Arial"/>
                <a:cs typeface="Arial"/>
              </a:rPr>
              <a:t>pattern </a:t>
            </a:r>
            <a:r>
              <a:rPr dirty="0" sz="1150" spc="-20">
                <a:latin typeface="Arial"/>
                <a:cs typeface="Arial"/>
              </a:rPr>
              <a:t>interview </a:t>
            </a:r>
            <a:r>
              <a:rPr dirty="0" sz="1150" spc="-45">
                <a:latin typeface="Arial"/>
                <a:cs typeface="Arial"/>
              </a:rPr>
              <a:t>pre-decided questions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80">
                <a:latin typeface="Arial"/>
                <a:cs typeface="Arial"/>
              </a:rPr>
              <a:t>asked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pre-defined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sequence.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AutoNum type="arabicPeriod" startAt="2"/>
              <a:tabLst>
                <a:tab pos="470534" algn="l"/>
              </a:tabLst>
            </a:pPr>
            <a:r>
              <a:rPr dirty="0" sz="1150" spc="-85" b="1">
                <a:latin typeface="Arial"/>
                <a:cs typeface="Arial"/>
              </a:rPr>
              <a:t>Non </a:t>
            </a:r>
            <a:r>
              <a:rPr dirty="0" sz="1150" spc="-60" b="1">
                <a:latin typeface="Arial"/>
                <a:cs typeface="Arial"/>
              </a:rPr>
              <a:t>Pattern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spc="-50" b="1">
                <a:latin typeface="Arial"/>
                <a:cs typeface="Arial"/>
              </a:rPr>
              <a:t>Interview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non </a:t>
            </a:r>
            <a:r>
              <a:rPr dirty="0" sz="1150" spc="-15">
                <a:latin typeface="Arial"/>
                <a:cs typeface="Arial"/>
              </a:rPr>
              <a:t>pattern </a:t>
            </a:r>
            <a:r>
              <a:rPr dirty="0" sz="1150" spc="-20">
                <a:latin typeface="Arial"/>
                <a:cs typeface="Arial"/>
              </a:rPr>
              <a:t>interview </a:t>
            </a:r>
            <a:r>
              <a:rPr dirty="0" sz="1150" spc="-45">
                <a:latin typeface="Arial"/>
                <a:cs typeface="Arial"/>
              </a:rPr>
              <a:t>questions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75">
                <a:latin typeface="Arial"/>
                <a:cs typeface="Arial"/>
              </a:rPr>
              <a:t>asked </a:t>
            </a:r>
            <a:r>
              <a:rPr dirty="0" sz="1150" spc="-55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situation.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95" b="1">
                <a:latin typeface="Arial"/>
                <a:cs typeface="Arial"/>
              </a:rPr>
              <a:t>Shortcoming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60" b="1">
                <a:latin typeface="Arial"/>
                <a:cs typeface="Arial"/>
              </a:rPr>
              <a:t>Pattern</a:t>
            </a:r>
            <a:r>
              <a:rPr dirty="0" sz="1150" spc="-45" b="1">
                <a:latin typeface="Arial"/>
                <a:cs typeface="Arial"/>
              </a:rPr>
              <a:t> </a:t>
            </a:r>
            <a:r>
              <a:rPr dirty="0" sz="1150" spc="-50" b="1">
                <a:latin typeface="Arial"/>
                <a:cs typeface="Arial"/>
              </a:rPr>
              <a:t>Interview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150" spc="-25">
                <a:latin typeface="Arial"/>
                <a:cs typeface="Arial"/>
              </a:rPr>
              <a:t>Interviewer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95">
                <a:latin typeface="Arial"/>
                <a:cs typeface="Arial"/>
              </a:rPr>
              <a:t>ask </a:t>
            </a:r>
            <a:r>
              <a:rPr dirty="0" sz="1150" spc="-70">
                <a:latin typeface="Arial"/>
                <a:cs typeface="Arial"/>
              </a:rPr>
              <a:t>any </a:t>
            </a:r>
            <a:r>
              <a:rPr dirty="0" sz="1150" spc="-35">
                <a:latin typeface="Arial"/>
                <a:cs typeface="Arial"/>
              </a:rPr>
              <a:t>question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0">
                <a:latin typeface="Arial"/>
                <a:cs typeface="Arial"/>
              </a:rPr>
              <a:t>than </a:t>
            </a:r>
            <a:r>
              <a:rPr dirty="0" sz="1150" spc="-35">
                <a:latin typeface="Arial"/>
                <a:cs typeface="Arial"/>
              </a:rPr>
              <a:t>pre-defined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questions.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95" b="1">
                <a:latin typeface="Arial"/>
                <a:cs typeface="Arial"/>
              </a:rPr>
              <a:t>Shortcoming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85" b="1">
                <a:latin typeface="Arial"/>
                <a:cs typeface="Arial"/>
              </a:rPr>
              <a:t>Non </a:t>
            </a:r>
            <a:r>
              <a:rPr dirty="0" sz="1150" spc="-60" b="1">
                <a:latin typeface="Arial"/>
                <a:cs typeface="Arial"/>
              </a:rPr>
              <a:t>Pattern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spc="-50" b="1">
                <a:latin typeface="Arial"/>
                <a:cs typeface="Arial"/>
              </a:rPr>
              <a:t>Interview</a:t>
            </a:r>
            <a:endParaRPr sz="115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non </a:t>
            </a:r>
            <a:r>
              <a:rPr dirty="0" sz="1150" spc="-15">
                <a:latin typeface="Arial"/>
                <a:cs typeface="Arial"/>
              </a:rPr>
              <a:t>pattern interview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35">
                <a:latin typeface="Arial"/>
                <a:cs typeface="Arial"/>
              </a:rPr>
              <a:t>possibility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non-professional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irrelevant  </a:t>
            </a:r>
            <a:r>
              <a:rPr dirty="0" sz="1150" spc="-45">
                <a:latin typeface="Arial"/>
                <a:cs typeface="Arial"/>
              </a:rPr>
              <a:t>questions.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35" b="1">
                <a:latin typeface="Arial"/>
                <a:cs typeface="Arial"/>
              </a:rPr>
              <a:t>Mix </a:t>
            </a:r>
            <a:r>
              <a:rPr dirty="0" sz="1150" spc="-50" b="1">
                <a:latin typeface="Arial"/>
                <a:cs typeface="Arial"/>
              </a:rPr>
              <a:t>Interview: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20">
                <a:latin typeface="Arial"/>
                <a:cs typeface="Arial"/>
              </a:rPr>
              <a:t>interview 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5">
                <a:latin typeface="Arial"/>
                <a:cs typeface="Arial"/>
              </a:rPr>
              <a:t>some </a:t>
            </a:r>
            <a:r>
              <a:rPr dirty="0" sz="1150" spc="-45">
                <a:latin typeface="Arial"/>
                <a:cs typeface="Arial"/>
              </a:rPr>
              <a:t>questions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pre-defined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some </a:t>
            </a:r>
            <a:r>
              <a:rPr dirty="0" sz="1150" spc="-50">
                <a:latin typeface="Arial"/>
                <a:cs typeface="Arial"/>
              </a:rPr>
              <a:t>are  </a:t>
            </a:r>
            <a:r>
              <a:rPr dirty="0" sz="1150" spc="-30">
                <a:latin typeface="Arial"/>
                <a:cs typeface="Arial"/>
              </a:rPr>
              <a:t>situational.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70" b="1">
                <a:latin typeface="Arial"/>
                <a:cs typeface="Arial"/>
              </a:rPr>
              <a:t>WAYS </a:t>
            </a:r>
            <a:r>
              <a:rPr dirty="0" sz="1350" spc="-145" b="1">
                <a:latin typeface="Arial"/>
                <a:cs typeface="Arial"/>
              </a:rPr>
              <a:t>TO </a:t>
            </a:r>
            <a:r>
              <a:rPr dirty="0" sz="1350" spc="-165" b="1">
                <a:latin typeface="Arial"/>
                <a:cs typeface="Arial"/>
              </a:rPr>
              <a:t>CONDUCT</a:t>
            </a:r>
            <a:r>
              <a:rPr dirty="0" sz="1350" spc="-120" b="1">
                <a:latin typeface="Arial"/>
                <a:cs typeface="Arial"/>
              </a:rPr>
              <a:t> </a:t>
            </a:r>
            <a:r>
              <a:rPr dirty="0" sz="1350" spc="-130" b="1">
                <a:latin typeface="Arial"/>
                <a:cs typeface="Arial"/>
              </a:rPr>
              <a:t>INTERVIEW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</a:pPr>
            <a:r>
              <a:rPr dirty="0" sz="1150" spc="-35" b="1">
                <a:latin typeface="Arial"/>
                <a:cs typeface="Arial"/>
              </a:rPr>
              <a:t>1. </a:t>
            </a:r>
            <a:r>
              <a:rPr dirty="0" sz="1150" spc="-90" b="1">
                <a:latin typeface="Arial"/>
                <a:cs typeface="Arial"/>
              </a:rPr>
              <a:t>One </a:t>
            </a:r>
            <a:r>
              <a:rPr dirty="0" sz="1150" spc="-95" b="1">
                <a:latin typeface="Arial"/>
                <a:cs typeface="Arial"/>
              </a:rPr>
              <a:t>person</a:t>
            </a:r>
            <a:r>
              <a:rPr dirty="0" sz="1150" spc="10" b="1">
                <a:latin typeface="Arial"/>
                <a:cs typeface="Arial"/>
              </a:rPr>
              <a:t> </a:t>
            </a:r>
            <a:r>
              <a:rPr dirty="0" sz="1150" spc="-50" b="1">
                <a:latin typeface="Arial"/>
                <a:cs typeface="Arial"/>
              </a:rPr>
              <a:t>interview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50">
              <a:latin typeface="Arial"/>
              <a:cs typeface="Arial"/>
            </a:endParaRPr>
          </a:p>
          <a:p>
            <a:pPr algn="just" marL="469900" marR="5715" indent="-228600">
              <a:lnSpc>
                <a:spcPct val="101400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50" spc="-85" b="1">
                <a:latin typeface="Arial"/>
                <a:cs typeface="Arial"/>
              </a:rPr>
              <a:t>Panel </a:t>
            </a:r>
            <a:r>
              <a:rPr dirty="0" sz="1150" spc="-50" b="1">
                <a:latin typeface="Arial"/>
                <a:cs typeface="Arial"/>
              </a:rPr>
              <a:t>Interview: </a:t>
            </a:r>
            <a:r>
              <a:rPr dirty="0" sz="1150" spc="-75">
                <a:latin typeface="Arial"/>
                <a:cs typeface="Arial"/>
              </a:rPr>
              <a:t>Panel </a:t>
            </a:r>
            <a:r>
              <a:rPr dirty="0" sz="1150" spc="-20">
                <a:latin typeface="Arial"/>
                <a:cs typeface="Arial"/>
              </a:rPr>
              <a:t>interview </a:t>
            </a:r>
            <a:r>
              <a:rPr dirty="0" sz="1150" spc="-60">
                <a:latin typeface="Arial"/>
                <a:cs typeface="Arial"/>
              </a:rPr>
              <a:t>consists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group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30">
                <a:latin typeface="Arial"/>
                <a:cs typeface="Arial"/>
              </a:rPr>
              <a:t>related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job  </a:t>
            </a:r>
            <a:r>
              <a:rPr dirty="0" sz="1150" spc="-40">
                <a:latin typeface="Arial"/>
                <a:cs typeface="Arial"/>
              </a:rPr>
              <a:t>conduct </a:t>
            </a:r>
            <a:r>
              <a:rPr dirty="0" sz="1150" spc="-20">
                <a:latin typeface="Arial"/>
                <a:cs typeface="Arial"/>
              </a:rPr>
              <a:t>interview.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panel </a:t>
            </a:r>
            <a:r>
              <a:rPr dirty="0" sz="1150" spc="-20">
                <a:latin typeface="Arial"/>
                <a:cs typeface="Arial"/>
              </a:rPr>
              <a:t>interview </a:t>
            </a:r>
            <a:r>
              <a:rPr dirty="0" sz="1150" spc="-55">
                <a:latin typeface="Arial"/>
                <a:cs typeface="Arial"/>
              </a:rPr>
              <a:t>specialists </a:t>
            </a:r>
            <a:r>
              <a:rPr dirty="0" sz="1150" spc="-10">
                <a:latin typeface="Arial"/>
                <a:cs typeface="Arial"/>
              </a:rPr>
              <a:t>from different </a:t>
            </a:r>
            <a:r>
              <a:rPr dirty="0" sz="1150" spc="-35">
                <a:latin typeface="Arial"/>
                <a:cs typeface="Arial"/>
              </a:rPr>
              <a:t>fields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30">
                <a:latin typeface="Arial"/>
                <a:cs typeface="Arial"/>
              </a:rPr>
              <a:t>who  </a:t>
            </a:r>
            <a:r>
              <a:rPr dirty="0" sz="1150" spc="-65">
                <a:latin typeface="Arial"/>
                <a:cs typeface="Arial"/>
              </a:rPr>
              <a:t>have some </a:t>
            </a:r>
            <a:r>
              <a:rPr dirty="0" sz="1150" spc="-55">
                <a:latin typeface="Arial"/>
                <a:cs typeface="Arial"/>
              </a:rPr>
              <a:t>relevancy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job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judge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competency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candidate’s  competency.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 sz="1150" spc="-85" b="1">
                <a:latin typeface="Arial"/>
                <a:cs typeface="Arial"/>
              </a:rPr>
              <a:t>Arrangements </a:t>
            </a:r>
            <a:r>
              <a:rPr dirty="0" sz="1150" spc="-50" b="1">
                <a:latin typeface="Arial"/>
                <a:cs typeface="Arial"/>
              </a:rPr>
              <a:t>for </a:t>
            </a:r>
            <a:r>
              <a:rPr dirty="0" sz="1150" spc="-95" b="1">
                <a:latin typeface="Arial"/>
                <a:cs typeface="Arial"/>
              </a:rPr>
              <a:t>conducting</a:t>
            </a:r>
            <a:r>
              <a:rPr dirty="0" sz="1150" spc="-50" b="1">
                <a:latin typeface="Arial"/>
                <a:cs typeface="Arial"/>
              </a:rPr>
              <a:t> Interview</a:t>
            </a:r>
            <a:endParaRPr sz="1150">
              <a:latin typeface="Arial"/>
              <a:cs typeface="Arial"/>
            </a:endParaRPr>
          </a:p>
          <a:p>
            <a:pPr marL="241300" marR="5080">
              <a:lnSpc>
                <a:spcPct val="101699"/>
              </a:lnSpc>
            </a:pPr>
            <a:r>
              <a:rPr dirty="0" sz="1150" spc="-80" b="1">
                <a:latin typeface="Arial"/>
                <a:cs typeface="Arial"/>
              </a:rPr>
              <a:t>Proper </a:t>
            </a:r>
            <a:r>
              <a:rPr dirty="0" sz="1150" spc="-85" b="1">
                <a:latin typeface="Arial"/>
                <a:cs typeface="Arial"/>
              </a:rPr>
              <a:t>place: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place </a:t>
            </a:r>
            <a:r>
              <a:rPr dirty="0" sz="1150" spc="-35">
                <a:latin typeface="Arial"/>
                <a:cs typeface="Arial"/>
              </a:rPr>
              <a:t>where </a:t>
            </a:r>
            <a:r>
              <a:rPr dirty="0" sz="1150" spc="-20">
                <a:latin typeface="Arial"/>
                <a:cs typeface="Arial"/>
              </a:rPr>
              <a:t>the interview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0">
                <a:latin typeface="Arial"/>
                <a:cs typeface="Arial"/>
              </a:rPr>
              <a:t>conducted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5">
                <a:latin typeface="Arial"/>
                <a:cs typeface="Arial"/>
              </a:rPr>
              <a:t>peaceful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20">
                <a:latin typeface="Arial"/>
                <a:cs typeface="Arial"/>
              </a:rPr>
              <a:t>quiet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interviewer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interviewee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30">
                <a:latin typeface="Arial"/>
                <a:cs typeface="Arial"/>
              </a:rPr>
              <a:t>listen </a:t>
            </a:r>
            <a:r>
              <a:rPr dirty="0" sz="1150" spc="-70">
                <a:latin typeface="Arial"/>
                <a:cs typeface="Arial"/>
              </a:rPr>
              <a:t>each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easily.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105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58899" y="1070867"/>
            <a:ext cx="5285105" cy="76034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8890">
              <a:lnSpc>
                <a:spcPct val="101699"/>
              </a:lnSpc>
              <a:spcBef>
                <a:spcPts val="75"/>
              </a:spcBef>
            </a:pPr>
            <a:r>
              <a:rPr dirty="0" sz="1150" spc="-70" b="1">
                <a:latin typeface="Arial"/>
                <a:cs typeface="Arial"/>
              </a:rPr>
              <a:t>Preparation </a:t>
            </a:r>
            <a:r>
              <a:rPr dirty="0" sz="1150" spc="-50" b="1">
                <a:latin typeface="Arial"/>
                <a:cs typeface="Arial"/>
              </a:rPr>
              <a:t>for </a:t>
            </a:r>
            <a:r>
              <a:rPr dirty="0" sz="1150" spc="-90" b="1">
                <a:latin typeface="Arial"/>
                <a:cs typeface="Arial"/>
              </a:rPr>
              <a:t>questions: </a:t>
            </a:r>
            <a:r>
              <a:rPr dirty="0" sz="1150" spc="-90">
                <a:latin typeface="Arial"/>
                <a:cs typeface="Arial"/>
              </a:rPr>
              <a:t>To ask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required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relevant </a:t>
            </a:r>
            <a:r>
              <a:rPr dirty="0" sz="1150" spc="-45">
                <a:latin typeface="Arial"/>
                <a:cs typeface="Arial"/>
              </a:rPr>
              <a:t>questions 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5">
                <a:latin typeface="Arial"/>
                <a:cs typeface="Arial"/>
              </a:rPr>
              <a:t>candidate,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questions </a:t>
            </a:r>
            <a:r>
              <a:rPr dirty="0" sz="1150" spc="-50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0">
                <a:latin typeface="Arial"/>
                <a:cs typeface="Arial"/>
              </a:rPr>
              <a:t>properly </a:t>
            </a:r>
            <a:r>
              <a:rPr dirty="0" sz="1150" spc="-45">
                <a:latin typeface="Arial"/>
                <a:cs typeface="Arial"/>
              </a:rPr>
              <a:t>planned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prepared.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05" b="1">
                <a:latin typeface="Arial"/>
                <a:cs typeface="Arial"/>
              </a:rPr>
              <a:t>Read </a:t>
            </a:r>
            <a:r>
              <a:rPr dirty="0" sz="1150" spc="-50" b="1">
                <a:latin typeface="Arial"/>
                <a:cs typeface="Arial"/>
              </a:rPr>
              <a:t>out </a:t>
            </a:r>
            <a:r>
              <a:rPr dirty="0" sz="1150" spc="-45" b="1">
                <a:latin typeface="Arial"/>
                <a:cs typeface="Arial"/>
              </a:rPr>
              <a:t>the </a:t>
            </a:r>
            <a:r>
              <a:rPr dirty="0" sz="1150" spc="-105" b="1">
                <a:latin typeface="Arial"/>
                <a:cs typeface="Arial"/>
              </a:rPr>
              <a:t>resumes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80" b="1">
                <a:latin typeface="Arial"/>
                <a:cs typeface="Arial"/>
              </a:rPr>
              <a:t>candidates.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75">
                <a:latin typeface="Arial"/>
                <a:cs typeface="Arial"/>
              </a:rPr>
              <a:t>necessary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read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resumes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55">
                <a:latin typeface="Arial"/>
                <a:cs typeface="Arial"/>
              </a:rPr>
              <a:t>candidates </a:t>
            </a:r>
            <a:r>
              <a:rPr dirty="0" sz="1150" spc="-30">
                <a:latin typeface="Arial"/>
                <a:cs typeface="Arial"/>
              </a:rPr>
              <a:t>before </a:t>
            </a:r>
            <a:r>
              <a:rPr dirty="0" sz="1150" spc="-40">
                <a:latin typeface="Arial"/>
                <a:cs typeface="Arial"/>
              </a:rPr>
              <a:t>conducting </a:t>
            </a:r>
            <a:r>
              <a:rPr dirty="0" sz="1150" spc="-20">
                <a:latin typeface="Arial"/>
                <a:cs typeface="Arial"/>
              </a:rPr>
              <a:t>the interview in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know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education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50">
                <a:latin typeface="Arial"/>
                <a:cs typeface="Arial"/>
              </a:rPr>
              <a:t>experience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candidates.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20">
                <a:latin typeface="Arial"/>
                <a:cs typeface="Arial"/>
              </a:rPr>
              <a:t>At the </a:t>
            </a:r>
            <a:r>
              <a:rPr dirty="0" sz="1150" spc="-50">
                <a:latin typeface="Arial"/>
                <a:cs typeface="Arial"/>
              </a:rPr>
              <a:t>end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whole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required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candidate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noted down </a:t>
            </a:r>
            <a:r>
              <a:rPr dirty="0" sz="1150" spc="-40">
                <a:latin typeface="Arial"/>
                <a:cs typeface="Arial"/>
              </a:rPr>
              <a:t>on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paper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recall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memory </a:t>
            </a:r>
            <a:r>
              <a:rPr dirty="0" sz="1150" spc="-25">
                <a:latin typeface="Arial"/>
                <a:cs typeface="Arial"/>
              </a:rPr>
              <a:t>while </a:t>
            </a:r>
            <a:r>
              <a:rPr dirty="0" sz="1150" spc="-40">
                <a:latin typeface="Arial"/>
                <a:cs typeface="Arial"/>
              </a:rPr>
              <a:t>taking </a:t>
            </a:r>
            <a:r>
              <a:rPr dirty="0" sz="1150" spc="-20">
                <a:latin typeface="Arial"/>
                <a:cs typeface="Arial"/>
              </a:rPr>
              <a:t>the final </a:t>
            </a:r>
            <a:r>
              <a:rPr dirty="0" sz="1150" spc="-50">
                <a:latin typeface="Arial"/>
                <a:cs typeface="Arial"/>
              </a:rPr>
              <a:t>decision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0">
                <a:latin typeface="Arial"/>
                <a:cs typeface="Arial"/>
              </a:rPr>
              <a:t>selection.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80" b="1">
                <a:latin typeface="Arial"/>
                <a:cs typeface="Arial"/>
              </a:rPr>
              <a:t>HUMAN </a:t>
            </a:r>
            <a:r>
              <a:rPr dirty="0" sz="1350" spc="-215" b="1">
                <a:latin typeface="Arial"/>
                <a:cs typeface="Arial"/>
              </a:rPr>
              <a:t>RESOURCE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60" b="1">
                <a:latin typeface="Arial"/>
                <a:cs typeface="Arial"/>
              </a:rPr>
              <a:t>DEVELOPMENT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selection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next </a:t>
            </a:r>
            <a:r>
              <a:rPr dirty="0" sz="1150" spc="-45">
                <a:latin typeface="Arial"/>
                <a:cs typeface="Arial"/>
              </a:rPr>
              <a:t>step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develop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employees. </a:t>
            </a:r>
            <a:r>
              <a:rPr dirty="0" sz="1150" spc="-65">
                <a:latin typeface="Arial"/>
                <a:cs typeface="Arial"/>
              </a:rPr>
              <a:t>Human </a:t>
            </a:r>
            <a:r>
              <a:rPr dirty="0" sz="1150" spc="-80">
                <a:latin typeface="Arial"/>
                <a:cs typeface="Arial"/>
              </a:rPr>
              <a:t>Resource  </a:t>
            </a:r>
            <a:r>
              <a:rPr dirty="0" sz="1150" spc="-45">
                <a:latin typeface="Arial"/>
                <a:cs typeface="Arial"/>
              </a:rPr>
              <a:t>Development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done </a:t>
            </a:r>
            <a:r>
              <a:rPr dirty="0" sz="1150" spc="-30">
                <a:latin typeface="Arial"/>
                <a:cs typeface="Arial"/>
              </a:rPr>
              <a:t>through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training.</a:t>
            </a:r>
            <a:endParaRPr sz="115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50">
                <a:latin typeface="Arial"/>
                <a:cs typeface="Arial"/>
              </a:rPr>
              <a:t>Before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 spc="-20">
                <a:latin typeface="Arial"/>
                <a:cs typeface="Arial"/>
              </a:rPr>
              <a:t>start the work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provided </a:t>
            </a:r>
            <a:r>
              <a:rPr dirty="0" sz="1150" spc="-25">
                <a:latin typeface="Arial"/>
                <a:cs typeface="Arial"/>
              </a:rPr>
              <a:t>training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learn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know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30">
                <a:latin typeface="Arial"/>
                <a:cs typeface="Arial"/>
              </a:rPr>
              <a:t>nature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work.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Training</a:t>
            </a:r>
            <a:r>
              <a:rPr dirty="0" sz="1150" spc="-60">
                <a:latin typeface="Arial"/>
                <a:cs typeface="Arial"/>
              </a:rPr>
              <a:t> 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six </a:t>
            </a:r>
            <a:r>
              <a:rPr dirty="0" sz="1150" spc="-35">
                <a:latin typeface="Arial"/>
                <a:cs typeface="Arial"/>
              </a:rPr>
              <a:t>months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or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year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45" b="1">
                <a:latin typeface="Arial"/>
                <a:cs typeface="Arial"/>
              </a:rPr>
              <a:t>METHODS </a:t>
            </a:r>
            <a:r>
              <a:rPr dirty="0" sz="1350" spc="-190" b="1">
                <a:latin typeface="Arial"/>
                <a:cs typeface="Arial"/>
              </a:rPr>
              <a:t>FOR</a:t>
            </a:r>
            <a:r>
              <a:rPr dirty="0" sz="1350" spc="-15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TRAINING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105" b="1">
                <a:latin typeface="Arial"/>
                <a:cs typeface="Arial"/>
              </a:rPr>
              <a:t>On </a:t>
            </a:r>
            <a:r>
              <a:rPr dirty="0" sz="1150" spc="-70" b="1">
                <a:latin typeface="Arial"/>
                <a:cs typeface="Arial"/>
              </a:rPr>
              <a:t>job </a:t>
            </a:r>
            <a:r>
              <a:rPr dirty="0" sz="1150" spc="-75" b="1">
                <a:latin typeface="Arial"/>
                <a:cs typeface="Arial"/>
              </a:rPr>
              <a:t>Training</a:t>
            </a:r>
            <a:r>
              <a:rPr dirty="0" sz="1150" spc="-75">
                <a:latin typeface="Arial"/>
                <a:cs typeface="Arial"/>
              </a:rPr>
              <a:t>: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35">
                <a:latin typeface="Arial"/>
                <a:cs typeface="Arial"/>
              </a:rPr>
              <a:t>refers </a:t>
            </a:r>
            <a:r>
              <a:rPr dirty="0" sz="1150" spc="5">
                <a:latin typeface="Arial"/>
                <a:cs typeface="Arial"/>
              </a:rPr>
              <a:t>to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learn </a:t>
            </a:r>
            <a:r>
              <a:rPr dirty="0" sz="1150" spc="-25">
                <a:latin typeface="Arial"/>
                <a:cs typeface="Arial"/>
              </a:rPr>
              <a:t>while </a:t>
            </a:r>
            <a:r>
              <a:rPr dirty="0" sz="1150" spc="-35">
                <a:latin typeface="Arial"/>
                <a:cs typeface="Arial"/>
              </a:rPr>
              <a:t>working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40">
                <a:latin typeface="Arial"/>
                <a:cs typeface="Arial"/>
              </a:rPr>
              <a:t>organization.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55" b="1">
                <a:latin typeface="Arial"/>
                <a:cs typeface="Arial"/>
              </a:rPr>
              <a:t>Off </a:t>
            </a:r>
            <a:r>
              <a:rPr dirty="0" sz="1150" spc="-65" b="1">
                <a:latin typeface="Arial"/>
                <a:cs typeface="Arial"/>
              </a:rPr>
              <a:t>job </a:t>
            </a:r>
            <a:r>
              <a:rPr dirty="0" sz="1150" spc="-85" b="1">
                <a:latin typeface="Arial"/>
                <a:cs typeface="Arial"/>
              </a:rPr>
              <a:t>Training: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commonly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50">
                <a:latin typeface="Arial"/>
                <a:cs typeface="Arial"/>
              </a:rPr>
              <a:t>way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5">
                <a:latin typeface="Arial"/>
                <a:cs typeface="Arial"/>
              </a:rPr>
              <a:t>off </a:t>
            </a:r>
            <a:r>
              <a:rPr dirty="0" sz="1150" spc="-20">
                <a:latin typeface="Arial"/>
                <a:cs typeface="Arial"/>
              </a:rPr>
              <a:t>the job </a:t>
            </a:r>
            <a:r>
              <a:rPr dirty="0" sz="1150" spc="-25">
                <a:latin typeface="Arial"/>
                <a:cs typeface="Arial"/>
              </a:rPr>
              <a:t>training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lecture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method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469265" marR="5080" indent="-228600">
              <a:lnSpc>
                <a:spcPct val="101699"/>
              </a:lnSpc>
              <a:spcBef>
                <a:spcPts val="5"/>
              </a:spcBef>
              <a:buFont typeface="Arial"/>
              <a:buAutoNum type="arabicPeriod"/>
              <a:tabLst>
                <a:tab pos="469900" algn="l"/>
              </a:tabLst>
            </a:pPr>
            <a:r>
              <a:rPr dirty="0" sz="1150" spc="-90" b="1">
                <a:latin typeface="Arial"/>
                <a:cs typeface="Arial"/>
              </a:rPr>
              <a:t>Lecture </a:t>
            </a:r>
            <a:r>
              <a:rPr dirty="0" sz="1150" spc="-60" b="1">
                <a:latin typeface="Arial"/>
                <a:cs typeface="Arial"/>
              </a:rPr>
              <a:t>method</a:t>
            </a:r>
            <a:r>
              <a:rPr dirty="0" sz="1150" spc="-60">
                <a:latin typeface="Arial"/>
                <a:cs typeface="Arial"/>
              </a:rPr>
              <a:t>: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method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0">
                <a:latin typeface="Arial"/>
                <a:cs typeface="Arial"/>
              </a:rPr>
              <a:t>one person </a:t>
            </a:r>
            <a:r>
              <a:rPr dirty="0" sz="1150" spc="-85">
                <a:latin typeface="Arial"/>
                <a:cs typeface="Arial"/>
              </a:rPr>
              <a:t>speaks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others </a:t>
            </a:r>
            <a:r>
              <a:rPr dirty="0" sz="1150" spc="-30">
                <a:latin typeface="Arial"/>
                <a:cs typeface="Arial"/>
              </a:rPr>
              <a:t>listen this 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90">
                <a:latin typeface="Arial"/>
                <a:cs typeface="Arial"/>
              </a:rPr>
              <a:t>class </a:t>
            </a:r>
            <a:r>
              <a:rPr dirty="0" sz="1150" spc="-25">
                <a:latin typeface="Arial"/>
                <a:cs typeface="Arial"/>
              </a:rPr>
              <a:t>room training </a:t>
            </a:r>
            <a:r>
              <a:rPr dirty="0" sz="1150">
                <a:latin typeface="Arial"/>
                <a:cs typeface="Arial"/>
              </a:rPr>
              <a:t>.It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15">
                <a:latin typeface="Arial"/>
                <a:cs typeface="Arial"/>
              </a:rPr>
              <a:t>efficient </a:t>
            </a:r>
            <a:r>
              <a:rPr dirty="0" sz="1150" spc="-50">
                <a:latin typeface="Arial"/>
                <a:cs typeface="Arial"/>
              </a:rPr>
              <a:t>way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train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people. </a:t>
            </a:r>
            <a:r>
              <a:rPr dirty="0" sz="1150" spc="2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55">
                <a:latin typeface="Arial"/>
                <a:cs typeface="Arial"/>
              </a:rPr>
              <a:t>cheaper </a:t>
            </a:r>
            <a:r>
              <a:rPr dirty="0" sz="1150" spc="-25">
                <a:latin typeface="Arial"/>
                <a:cs typeface="Arial"/>
              </a:rPr>
              <a:t>method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training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65">
                <a:latin typeface="Arial"/>
                <a:cs typeface="Arial"/>
              </a:rPr>
              <a:t>some </a:t>
            </a:r>
            <a:r>
              <a:rPr dirty="0" sz="1150" spc="-50">
                <a:latin typeface="Arial"/>
                <a:cs typeface="Arial"/>
              </a:rPr>
              <a:t>jobs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30">
                <a:latin typeface="Arial"/>
                <a:cs typeface="Arial"/>
              </a:rPr>
              <a:t>appropriate </a:t>
            </a:r>
            <a:r>
              <a:rPr dirty="0" sz="1150" spc="-25">
                <a:latin typeface="Arial"/>
                <a:cs typeface="Arial"/>
              </a:rPr>
              <a:t>method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25">
                <a:latin typeface="Arial"/>
                <a:cs typeface="Arial"/>
              </a:rPr>
              <a:t>training.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marL="469900" marR="6350" indent="-229235">
              <a:lnSpc>
                <a:spcPct val="101699"/>
              </a:lnSpc>
              <a:spcBef>
                <a:spcPts val="5"/>
              </a:spcBef>
              <a:buFont typeface="Arial"/>
              <a:buAutoNum type="arabicPeriod"/>
              <a:tabLst>
                <a:tab pos="469900" algn="l"/>
              </a:tabLst>
            </a:pPr>
            <a:r>
              <a:rPr dirty="0" sz="1150" spc="-70" b="1">
                <a:latin typeface="Arial"/>
                <a:cs typeface="Arial"/>
              </a:rPr>
              <a:t>Vestibule </a:t>
            </a:r>
            <a:r>
              <a:rPr dirty="0" sz="1150" spc="-75" b="1">
                <a:latin typeface="Arial"/>
                <a:cs typeface="Arial"/>
              </a:rPr>
              <a:t>Training</a:t>
            </a:r>
            <a:r>
              <a:rPr dirty="0" sz="1150" spc="-75">
                <a:latin typeface="Arial"/>
                <a:cs typeface="Arial"/>
              </a:rPr>
              <a:t>: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25">
                <a:latin typeface="Arial"/>
                <a:cs typeface="Arial"/>
              </a:rPr>
              <a:t>method </a:t>
            </a:r>
            <a:r>
              <a:rPr dirty="0" sz="1150" spc="-15">
                <a:latin typeface="Arial"/>
                <a:cs typeface="Arial"/>
              </a:rPr>
              <a:t>artificial </a:t>
            </a:r>
            <a:r>
              <a:rPr dirty="0" sz="1150" spc="-25">
                <a:latin typeface="Arial"/>
                <a:cs typeface="Arial"/>
              </a:rPr>
              <a:t>situation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created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5">
                <a:latin typeface="Arial"/>
                <a:cs typeface="Arial"/>
              </a:rPr>
              <a:t>training  </a:t>
            </a:r>
            <a:r>
              <a:rPr dirty="0" sz="1150" spc="-40">
                <a:latin typeface="Arial"/>
                <a:cs typeface="Arial"/>
              </a:rPr>
              <a:t>people.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marL="469265" marR="5715" indent="-228600">
              <a:lnSpc>
                <a:spcPct val="101299"/>
              </a:lnSpc>
              <a:spcBef>
                <a:spcPts val="5"/>
              </a:spcBef>
              <a:buFont typeface="Arial"/>
              <a:buAutoNum type="arabicPeriod"/>
              <a:tabLst>
                <a:tab pos="469900" algn="l"/>
              </a:tabLst>
            </a:pPr>
            <a:r>
              <a:rPr dirty="0" sz="1150" spc="-90" b="1">
                <a:latin typeface="Arial"/>
                <a:cs typeface="Arial"/>
              </a:rPr>
              <a:t>Role </a:t>
            </a:r>
            <a:r>
              <a:rPr dirty="0" sz="1150" spc="-85" b="1">
                <a:latin typeface="Arial"/>
                <a:cs typeface="Arial"/>
              </a:rPr>
              <a:t>Playing</a:t>
            </a:r>
            <a:r>
              <a:rPr dirty="0" sz="1150" spc="-85">
                <a:latin typeface="Arial"/>
                <a:cs typeface="Arial"/>
              </a:rPr>
              <a:t>: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method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50">
                <a:latin typeface="Arial"/>
                <a:cs typeface="Arial"/>
              </a:rPr>
              <a:t>play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act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40">
                <a:latin typeface="Arial"/>
                <a:cs typeface="Arial"/>
              </a:rPr>
              <a:t>roles,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50">
                <a:latin typeface="Arial"/>
                <a:cs typeface="Arial"/>
              </a:rPr>
              <a:t>way 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65">
                <a:latin typeface="Arial"/>
                <a:cs typeface="Arial"/>
              </a:rPr>
              <a:t>make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fake </a:t>
            </a:r>
            <a:r>
              <a:rPr dirty="0" sz="1150" spc="-60">
                <a:latin typeface="Arial"/>
                <a:cs typeface="Arial"/>
              </a:rPr>
              <a:t>bank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25">
                <a:latin typeface="Arial"/>
                <a:cs typeface="Arial"/>
              </a:rPr>
              <a:t>department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performing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40">
                <a:latin typeface="Arial"/>
                <a:cs typeface="Arial"/>
              </a:rPr>
              <a:t>roles 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40">
                <a:latin typeface="Arial"/>
                <a:cs typeface="Arial"/>
              </a:rPr>
              <a:t>learn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lot.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Arial"/>
              <a:buAutoNum type="arabicPeriod"/>
              <a:tabLst>
                <a:tab pos="469900" algn="l"/>
              </a:tabLst>
            </a:pPr>
            <a:r>
              <a:rPr dirty="0" sz="1150" spc="-130" b="1">
                <a:latin typeface="Arial"/>
                <a:cs typeface="Arial"/>
              </a:rPr>
              <a:t>Business </a:t>
            </a:r>
            <a:r>
              <a:rPr dirty="0" sz="1150" spc="-100" b="1">
                <a:latin typeface="Arial"/>
                <a:cs typeface="Arial"/>
              </a:rPr>
              <a:t>Games</a:t>
            </a:r>
            <a:r>
              <a:rPr dirty="0" sz="1150" spc="-100">
                <a:latin typeface="Arial"/>
                <a:cs typeface="Arial"/>
              </a:rPr>
              <a:t>: </a:t>
            </a:r>
            <a:r>
              <a:rPr dirty="0" sz="1150" spc="-95">
                <a:latin typeface="Arial"/>
                <a:cs typeface="Arial"/>
              </a:rPr>
              <a:t>Some </a:t>
            </a:r>
            <a:r>
              <a:rPr dirty="0" sz="1150" spc="-40">
                <a:latin typeface="Arial"/>
                <a:cs typeface="Arial"/>
              </a:rPr>
              <a:t>computerized </a:t>
            </a:r>
            <a:r>
              <a:rPr dirty="0" sz="1150" spc="-85">
                <a:latin typeface="Arial"/>
                <a:cs typeface="Arial"/>
              </a:rPr>
              <a:t>games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40">
                <a:latin typeface="Arial"/>
                <a:cs typeface="Arial"/>
              </a:rPr>
              <a:t>help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learn.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eriod"/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eriod"/>
            </a:pPr>
            <a:endParaRPr sz="1300">
              <a:latin typeface="Arial"/>
              <a:cs typeface="Arial"/>
            </a:endParaRPr>
          </a:p>
          <a:p>
            <a:pPr algn="just" marL="469265" marR="5080" indent="-228600">
              <a:lnSpc>
                <a:spcPct val="101699"/>
              </a:lnSpc>
              <a:buFont typeface="Arial"/>
              <a:buAutoNum type="arabicPeriod"/>
              <a:tabLst>
                <a:tab pos="469900" algn="l"/>
              </a:tabLst>
            </a:pPr>
            <a:r>
              <a:rPr dirty="0" sz="1150" spc="-140" b="1">
                <a:latin typeface="Arial"/>
                <a:cs typeface="Arial"/>
              </a:rPr>
              <a:t>Case </a:t>
            </a:r>
            <a:r>
              <a:rPr dirty="0" sz="1150" spc="-85" b="1">
                <a:latin typeface="Arial"/>
                <a:cs typeface="Arial"/>
              </a:rPr>
              <a:t>Studies</a:t>
            </a:r>
            <a:r>
              <a:rPr dirty="0" sz="1150" spc="-85">
                <a:latin typeface="Arial"/>
                <a:cs typeface="Arial"/>
              </a:rPr>
              <a:t>: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hypothetical </a:t>
            </a:r>
            <a:r>
              <a:rPr dirty="0" sz="1150" spc="-25">
                <a:latin typeface="Arial"/>
                <a:cs typeface="Arial"/>
              </a:rPr>
              <a:t>situation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created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">
                <a:latin typeface="Arial"/>
                <a:cs typeface="Arial"/>
              </a:rPr>
              <a:t>put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specific person 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5">
                <a:latin typeface="Arial"/>
                <a:cs typeface="Arial"/>
              </a:rPr>
              <a:t>situation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person </a:t>
            </a:r>
            <a:r>
              <a:rPr dirty="0" sz="1150" spc="-55">
                <a:latin typeface="Arial"/>
                <a:cs typeface="Arial"/>
              </a:rPr>
              <a:t>learns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take </a:t>
            </a:r>
            <a:r>
              <a:rPr dirty="0" sz="1150" spc="-60">
                <a:latin typeface="Arial"/>
                <a:cs typeface="Arial"/>
              </a:rPr>
              <a:t>decisions </a:t>
            </a:r>
            <a:r>
              <a:rPr dirty="0" sz="1150" spc="-25">
                <a:latin typeface="Arial"/>
                <a:cs typeface="Arial"/>
              </a:rPr>
              <a:t>while </a:t>
            </a:r>
            <a:r>
              <a:rPr dirty="0" sz="1150" spc="-55">
                <a:latin typeface="Arial"/>
                <a:cs typeface="Arial"/>
              </a:rPr>
              <a:t>keeping </a:t>
            </a:r>
            <a:r>
              <a:rPr dirty="0" sz="1150" spc="-30">
                <a:latin typeface="Arial"/>
                <a:cs typeface="Arial"/>
              </a:rPr>
              <a:t>him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">
                <a:latin typeface="Arial"/>
                <a:cs typeface="Arial"/>
              </a:rPr>
              <a:t>that  </a:t>
            </a:r>
            <a:r>
              <a:rPr dirty="0" sz="1150" spc="-25">
                <a:latin typeface="Arial"/>
                <a:cs typeface="Arial"/>
              </a:rPr>
              <a:t>particular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scenario.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106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3697604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85" b="1">
                <a:latin typeface="Arial"/>
                <a:cs typeface="Arial"/>
              </a:rPr>
              <a:t>Performance Appraisal: </a:t>
            </a:r>
            <a:r>
              <a:rPr dirty="0" sz="1150" spc="-50">
                <a:latin typeface="Arial"/>
                <a:cs typeface="Arial"/>
              </a:rPr>
              <a:t>Performance appraisal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evaluation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performance </a:t>
            </a:r>
            <a:r>
              <a:rPr dirty="0" sz="1150" spc="-5">
                <a:latin typeface="Arial"/>
                <a:cs typeface="Arial"/>
              </a:rPr>
              <a:t>that 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working </a:t>
            </a:r>
            <a:r>
              <a:rPr dirty="0" sz="1150" spc="-55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expectations </a:t>
            </a:r>
            <a:r>
              <a:rPr dirty="0" sz="1150" spc="-15">
                <a:latin typeface="Arial"/>
                <a:cs typeface="Arial"/>
              </a:rPr>
              <a:t>or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not.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25" b="1">
                <a:latin typeface="Arial"/>
                <a:cs typeface="Arial"/>
              </a:rPr>
              <a:t>Reasons </a:t>
            </a:r>
            <a:r>
              <a:rPr dirty="0" sz="1150" spc="-50" b="1">
                <a:latin typeface="Arial"/>
                <a:cs typeface="Arial"/>
              </a:rPr>
              <a:t>for </a:t>
            </a:r>
            <a:r>
              <a:rPr dirty="0" sz="1150" spc="-75" b="1">
                <a:latin typeface="Arial"/>
                <a:cs typeface="Arial"/>
              </a:rPr>
              <a:t>performance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appraisals:</a:t>
            </a:r>
            <a:endParaRPr sz="1150">
              <a:latin typeface="Arial"/>
              <a:cs typeface="Arial"/>
            </a:endParaRPr>
          </a:p>
          <a:p>
            <a:pPr marL="698500" indent="-22923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50" spc="-35">
                <a:latin typeface="Arial"/>
                <a:cs typeface="Arial"/>
              </a:rPr>
              <a:t>Validation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Human </a:t>
            </a:r>
            <a:r>
              <a:rPr dirty="0" sz="1150" spc="-80">
                <a:latin typeface="Arial"/>
                <a:cs typeface="Arial"/>
              </a:rPr>
              <a:t>Resource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Program</a:t>
            </a:r>
            <a:endParaRPr sz="1150">
              <a:latin typeface="Arial"/>
              <a:cs typeface="Arial"/>
            </a:endParaRPr>
          </a:p>
          <a:p>
            <a:pPr marL="6985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697865" algn="l"/>
                <a:tab pos="698500" algn="l"/>
              </a:tabLst>
            </a:pPr>
            <a:r>
              <a:rPr dirty="0" sz="1150" spc="-105">
                <a:latin typeface="Arial"/>
                <a:cs typeface="Arial"/>
              </a:rPr>
              <a:t>Pay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2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performance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10" b="1">
                <a:latin typeface="Arial"/>
                <a:cs typeface="Arial"/>
              </a:rPr>
              <a:t>Compensation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150" spc="-55">
                <a:latin typeface="Arial"/>
                <a:cs typeface="Arial"/>
              </a:rPr>
              <a:t>Compensation </a:t>
            </a:r>
            <a:r>
              <a:rPr dirty="0" sz="1150" spc="-70">
                <a:latin typeface="Arial"/>
                <a:cs typeface="Arial"/>
              </a:rPr>
              <a:t>can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be:</a:t>
            </a:r>
            <a:endParaRPr sz="1150">
              <a:latin typeface="Arial"/>
              <a:cs typeface="Arial"/>
            </a:endParaRPr>
          </a:p>
          <a:p>
            <a:pPr marL="698500" indent="-228600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698500" algn="l"/>
              </a:tabLst>
            </a:pPr>
            <a:r>
              <a:rPr dirty="0" sz="1150" spc="-25">
                <a:latin typeface="Arial"/>
                <a:cs typeface="Arial"/>
              </a:rPr>
              <a:t>Monetary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reward</a:t>
            </a:r>
            <a:endParaRPr sz="1150">
              <a:latin typeface="Arial"/>
              <a:cs typeface="Arial"/>
            </a:endParaRPr>
          </a:p>
          <a:p>
            <a:pPr marL="698500" indent="-228600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698500" algn="l"/>
              </a:tabLst>
            </a:pPr>
            <a:r>
              <a:rPr dirty="0" sz="1150" spc="-55">
                <a:latin typeface="Arial"/>
                <a:cs typeface="Arial"/>
              </a:rPr>
              <a:t>Non </a:t>
            </a:r>
            <a:r>
              <a:rPr dirty="0" sz="1150" spc="-25">
                <a:latin typeface="Arial"/>
                <a:cs typeface="Arial"/>
              </a:rPr>
              <a:t>Monetary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reward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150" spc="-50">
                <a:latin typeface="Arial"/>
                <a:cs typeface="Arial"/>
              </a:rPr>
              <a:t>Incentives </a:t>
            </a:r>
            <a:r>
              <a:rPr dirty="0" sz="1150" spc="-40">
                <a:latin typeface="Arial"/>
                <a:cs typeface="Arial"/>
              </a:rPr>
              <a:t>include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plans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encouragement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employees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40">
                <a:latin typeface="Arial"/>
                <a:cs typeface="Arial"/>
              </a:rPr>
              <a:t>organization.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30" b="1">
                <a:latin typeface="Arial"/>
                <a:cs typeface="Arial"/>
              </a:rPr>
              <a:t>Types </a:t>
            </a:r>
            <a:r>
              <a:rPr dirty="0" sz="1350" spc="-65" b="1">
                <a:latin typeface="Arial"/>
                <a:cs typeface="Arial"/>
              </a:rPr>
              <a:t>of</a:t>
            </a:r>
            <a:r>
              <a:rPr dirty="0" sz="1350" spc="-15" b="1">
                <a:latin typeface="Arial"/>
                <a:cs typeface="Arial"/>
              </a:rPr>
              <a:t> </a:t>
            </a:r>
            <a:r>
              <a:rPr dirty="0" sz="1350" spc="-95" b="1">
                <a:latin typeface="Arial"/>
                <a:cs typeface="Arial"/>
              </a:rPr>
              <a:t>Incentives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marL="469900" marR="7620" indent="-228600">
              <a:lnSpc>
                <a:spcPct val="101699"/>
              </a:lnSpc>
              <a:buFont typeface="Arial"/>
              <a:buAutoNum type="arabicPeriod"/>
              <a:tabLst>
                <a:tab pos="469900" algn="l"/>
              </a:tabLst>
            </a:pPr>
            <a:r>
              <a:rPr dirty="0" sz="1150" spc="-75" b="1">
                <a:latin typeface="Arial"/>
                <a:cs typeface="Arial"/>
              </a:rPr>
              <a:t>Organizational </a:t>
            </a:r>
            <a:r>
              <a:rPr dirty="0" sz="1150" spc="-100" b="1">
                <a:latin typeface="Arial"/>
                <a:cs typeface="Arial"/>
              </a:rPr>
              <a:t>Level </a:t>
            </a:r>
            <a:r>
              <a:rPr dirty="0" sz="1150" spc="-75" b="1">
                <a:latin typeface="Arial"/>
                <a:cs typeface="Arial"/>
              </a:rPr>
              <a:t>Incentives</a:t>
            </a:r>
            <a:r>
              <a:rPr dirty="0" sz="1150" spc="-75">
                <a:latin typeface="Arial"/>
                <a:cs typeface="Arial"/>
              </a:rPr>
              <a:t>: </a:t>
            </a:r>
            <a:r>
              <a:rPr dirty="0" sz="1150" spc="-50">
                <a:latin typeface="Arial"/>
                <a:cs typeface="Arial"/>
              </a:rPr>
              <a:t>Organizational </a:t>
            </a:r>
            <a:r>
              <a:rPr dirty="0" sz="1150" spc="-70">
                <a:latin typeface="Arial"/>
                <a:cs typeface="Arial"/>
              </a:rPr>
              <a:t>Level </a:t>
            </a:r>
            <a:r>
              <a:rPr dirty="0" sz="1150" spc="-50">
                <a:latin typeface="Arial"/>
                <a:cs typeface="Arial"/>
              </a:rPr>
              <a:t>Incentives includes </a:t>
            </a:r>
            <a:r>
              <a:rPr dirty="0" sz="1150" spc="-45">
                <a:latin typeface="Arial"/>
                <a:cs typeface="Arial"/>
              </a:rPr>
              <a:t>paid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50">
                <a:latin typeface="Arial"/>
                <a:cs typeface="Arial"/>
              </a:rPr>
              <a:t>everyone </a:t>
            </a:r>
            <a:r>
              <a:rPr dirty="0" sz="1150" spc="-20">
                <a:latin typeface="Arial"/>
                <a:cs typeface="Arial"/>
              </a:rPr>
              <a:t>in the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marL="469900" marR="5715" indent="-228600">
              <a:lnSpc>
                <a:spcPct val="101699"/>
              </a:lnSpc>
              <a:buFont typeface="Arial"/>
              <a:buAutoNum type="arabicPeriod"/>
              <a:tabLst>
                <a:tab pos="469900" algn="l"/>
              </a:tabLst>
            </a:pPr>
            <a:r>
              <a:rPr dirty="0" sz="1150" spc="-65" b="1">
                <a:latin typeface="Arial"/>
                <a:cs typeface="Arial"/>
              </a:rPr>
              <a:t>Individual </a:t>
            </a:r>
            <a:r>
              <a:rPr dirty="0" sz="1150" spc="-80" b="1">
                <a:latin typeface="Arial"/>
                <a:cs typeface="Arial"/>
              </a:rPr>
              <a:t>Incentives: </a:t>
            </a:r>
            <a:r>
              <a:rPr dirty="0" sz="1150" spc="-35">
                <a:latin typeface="Arial"/>
                <a:cs typeface="Arial"/>
              </a:rPr>
              <a:t>Individual </a:t>
            </a:r>
            <a:r>
              <a:rPr dirty="0" sz="1150" spc="-50">
                <a:latin typeface="Arial"/>
                <a:cs typeface="Arial"/>
              </a:rPr>
              <a:t>Incentives includes </a:t>
            </a:r>
            <a:r>
              <a:rPr dirty="0" sz="1150" spc="-45">
                <a:latin typeface="Arial"/>
                <a:cs typeface="Arial"/>
              </a:rPr>
              <a:t>paid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individual </a:t>
            </a:r>
            <a:r>
              <a:rPr dirty="0" sz="1150" spc="-55">
                <a:latin typeface="Arial"/>
                <a:cs typeface="Arial"/>
              </a:rPr>
              <a:t>employees 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45">
                <a:latin typeface="Arial"/>
                <a:cs typeface="Arial"/>
              </a:rPr>
              <a:t>done </a:t>
            </a:r>
            <a:r>
              <a:rPr dirty="0" sz="1150" spc="-55">
                <a:latin typeface="Arial"/>
                <a:cs typeface="Arial"/>
              </a:rPr>
              <a:t>good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job.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107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10463" y="891035"/>
            <a:ext cx="4231640" cy="83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18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185" b="1">
                <a:latin typeface="Arial"/>
                <a:cs typeface="Arial"/>
              </a:rPr>
              <a:t>COMPENSATION </a:t>
            </a:r>
            <a:r>
              <a:rPr dirty="0" sz="1750" spc="-165" b="1">
                <a:latin typeface="Arial"/>
                <a:cs typeface="Arial"/>
              </a:rPr>
              <a:t>AND</a:t>
            </a:r>
            <a:r>
              <a:rPr dirty="0" sz="1750" spc="-15" b="1">
                <a:latin typeface="Arial"/>
                <a:cs typeface="Arial"/>
              </a:rPr>
              <a:t> </a:t>
            </a:r>
            <a:r>
              <a:rPr dirty="0" sz="1750" spc="-235" b="1">
                <a:latin typeface="Arial"/>
                <a:cs typeface="Arial"/>
              </a:rPr>
              <a:t>BENEFITS</a:t>
            </a:r>
            <a:endParaRPr sz="175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108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177" y="1977647"/>
            <a:ext cx="5513070" cy="225615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85">
                <a:latin typeface="Arial"/>
                <a:cs typeface="Arial"/>
              </a:rPr>
              <a:t>Set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rewards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5">
                <a:latin typeface="Arial"/>
                <a:cs typeface="Arial"/>
              </a:rPr>
              <a:t>organizations </a:t>
            </a:r>
            <a:r>
              <a:rPr dirty="0" sz="1150" spc="-35">
                <a:latin typeface="Arial"/>
                <a:cs typeface="Arial"/>
              </a:rPr>
              <a:t>provide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individuals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0">
                <a:latin typeface="Arial"/>
                <a:cs typeface="Arial"/>
              </a:rPr>
              <a:t>return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">
                <a:latin typeface="Arial"/>
                <a:cs typeface="Arial"/>
              </a:rPr>
              <a:t>their </a:t>
            </a:r>
            <a:r>
              <a:rPr dirty="0" sz="1150" spc="-45">
                <a:latin typeface="Arial"/>
                <a:cs typeface="Arial"/>
              </a:rPr>
              <a:t>willingness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20">
                <a:latin typeface="Arial"/>
                <a:cs typeface="Arial"/>
              </a:rPr>
              <a:t>perform </a:t>
            </a:r>
            <a:r>
              <a:rPr dirty="0" sz="1150" spc="-50">
                <a:latin typeface="Arial"/>
                <a:cs typeface="Arial"/>
              </a:rPr>
              <a:t>various </a:t>
            </a:r>
            <a:r>
              <a:rPr dirty="0" sz="1150" spc="-45">
                <a:latin typeface="Arial"/>
                <a:cs typeface="Arial"/>
              </a:rPr>
              <a:t>jobs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tasks </a:t>
            </a:r>
            <a:r>
              <a:rPr dirty="0" sz="1150" spc="-5">
                <a:latin typeface="Arial"/>
                <a:cs typeface="Arial"/>
              </a:rPr>
              <a:t>within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organization. </a:t>
            </a:r>
            <a:r>
              <a:rPr dirty="0" sz="1150" spc="-55">
                <a:latin typeface="Arial"/>
                <a:cs typeface="Arial"/>
              </a:rPr>
              <a:t>Compensation </a:t>
            </a:r>
            <a:r>
              <a:rPr dirty="0" sz="1150" spc="-50">
                <a:latin typeface="Arial"/>
                <a:cs typeface="Arial"/>
              </a:rPr>
              <a:t>includes </a:t>
            </a:r>
            <a:r>
              <a:rPr dirty="0" sz="1150" spc="-85">
                <a:latin typeface="Arial"/>
                <a:cs typeface="Arial"/>
              </a:rPr>
              <a:t>base </a:t>
            </a:r>
            <a:r>
              <a:rPr dirty="0" sz="1150" spc="-55">
                <a:latin typeface="Arial"/>
                <a:cs typeface="Arial"/>
              </a:rPr>
              <a:t>salary,  </a:t>
            </a:r>
            <a:r>
              <a:rPr dirty="0" sz="1150" spc="-45">
                <a:latin typeface="Arial"/>
                <a:cs typeface="Arial"/>
              </a:rPr>
              <a:t>incentives, </a:t>
            </a:r>
            <a:r>
              <a:rPr dirty="0" sz="1150" spc="-65">
                <a:latin typeface="Arial"/>
                <a:cs typeface="Arial"/>
              </a:rPr>
              <a:t>bonuses, </a:t>
            </a:r>
            <a:r>
              <a:rPr dirty="0" sz="1150" spc="-35">
                <a:latin typeface="Arial"/>
                <a:cs typeface="Arial"/>
              </a:rPr>
              <a:t>benefits,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rewards.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25" b="1">
                <a:latin typeface="Arial"/>
                <a:cs typeface="Arial"/>
              </a:rPr>
              <a:t>Wages </a:t>
            </a:r>
            <a:r>
              <a:rPr dirty="0" sz="1350" spc="-100" b="1">
                <a:latin typeface="Arial"/>
                <a:cs typeface="Arial"/>
              </a:rPr>
              <a:t>and</a:t>
            </a:r>
            <a:r>
              <a:rPr dirty="0" sz="1350" spc="-15" b="1">
                <a:latin typeface="Arial"/>
                <a:cs typeface="Arial"/>
              </a:rPr>
              <a:t> </a:t>
            </a:r>
            <a:r>
              <a:rPr dirty="0" sz="1350" spc="-110" b="1">
                <a:latin typeface="Arial"/>
                <a:cs typeface="Arial"/>
              </a:rPr>
              <a:t>Salaries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65" b="1">
                <a:latin typeface="Arial"/>
                <a:cs typeface="Arial"/>
              </a:rPr>
              <a:t>Wages</a:t>
            </a:r>
            <a:r>
              <a:rPr dirty="0" sz="1150" spc="-65">
                <a:latin typeface="Arial"/>
                <a:cs typeface="Arial"/>
              </a:rPr>
              <a:t>—compensation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form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money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paid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for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time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worked.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65" b="1">
                <a:latin typeface="Arial"/>
                <a:cs typeface="Arial"/>
              </a:rPr>
              <a:t>Salary</a:t>
            </a:r>
            <a:r>
              <a:rPr dirty="0" sz="1150" spc="-65">
                <a:latin typeface="Arial"/>
                <a:cs typeface="Arial"/>
              </a:rPr>
              <a:t>—compensation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money paid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discharging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responsibilities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20">
                <a:latin typeface="Arial"/>
                <a:cs typeface="Arial"/>
              </a:rPr>
              <a:t>job.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80" b="1">
                <a:latin typeface="Arial"/>
                <a:cs typeface="Arial"/>
              </a:rPr>
              <a:t>Incentive </a:t>
            </a:r>
            <a:r>
              <a:rPr dirty="0" sz="1350" spc="-125" b="1">
                <a:latin typeface="Arial"/>
                <a:cs typeface="Arial"/>
              </a:rPr>
              <a:t>Programs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95529" y="4745230"/>
            <a:ext cx="50800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10">
                <a:latin typeface="Arial"/>
                <a:cs typeface="Arial"/>
              </a:rPr>
              <a:t>r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 spc="-5">
                <a:latin typeface="Arial"/>
                <a:cs typeface="Arial"/>
              </a:rPr>
              <a:t>w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10">
                <a:latin typeface="Arial"/>
                <a:cs typeface="Arial"/>
              </a:rPr>
              <a:t>r</a:t>
            </a:r>
            <a:r>
              <a:rPr dirty="0" sz="1150" spc="-45">
                <a:latin typeface="Arial"/>
                <a:cs typeface="Arial"/>
              </a:rPr>
              <a:t>d</a:t>
            </a:r>
            <a:r>
              <a:rPr dirty="0" sz="1150" spc="-130">
                <a:latin typeface="Arial"/>
                <a:cs typeface="Arial"/>
              </a:rPr>
              <a:t>s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0227" y="4388614"/>
            <a:ext cx="428688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75">
                <a:latin typeface="Arial"/>
                <a:cs typeface="Arial"/>
              </a:rPr>
              <a:t>Special </a:t>
            </a:r>
            <a:r>
              <a:rPr dirty="0" sz="1150" spc="-45">
                <a:latin typeface="Arial"/>
                <a:cs typeface="Arial"/>
              </a:rPr>
              <a:t>compensation </a:t>
            </a:r>
            <a:r>
              <a:rPr dirty="0" sz="1150" spc="-40">
                <a:latin typeface="Arial"/>
                <a:cs typeface="Arial"/>
              </a:rPr>
              <a:t>program </a:t>
            </a:r>
            <a:r>
              <a:rPr dirty="0" sz="1150" spc="-60">
                <a:latin typeface="Arial"/>
                <a:cs typeface="Arial"/>
              </a:rPr>
              <a:t>designed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motivate </a:t>
            </a:r>
            <a:r>
              <a:rPr dirty="0" sz="1150" spc="-45">
                <a:latin typeface="Arial"/>
                <a:cs typeface="Arial"/>
              </a:rPr>
              <a:t>high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performance.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469900" marR="162560" indent="-228600">
              <a:lnSpc>
                <a:spcPct val="101699"/>
              </a:lnSpc>
              <a:tabLst>
                <a:tab pos="1231900" algn="l"/>
                <a:tab pos="3081655" algn="l"/>
                <a:tab pos="3455035" algn="l"/>
                <a:tab pos="3872229" algn="l"/>
              </a:tabLst>
            </a:pPr>
            <a:r>
              <a:rPr dirty="0" sz="1150" spc="-55">
                <a:latin typeface="Arial"/>
                <a:cs typeface="Arial"/>
              </a:rPr>
              <a:t>1</a:t>
            </a:r>
            <a:r>
              <a:rPr dirty="0" sz="1150" spc="-30">
                <a:latin typeface="Arial"/>
                <a:cs typeface="Arial"/>
              </a:rPr>
              <a:t>.</a:t>
            </a:r>
            <a:r>
              <a:rPr dirty="0" sz="1150">
                <a:latin typeface="Times New Roman"/>
                <a:cs typeface="Times New Roman"/>
              </a:rPr>
              <a:t>  </a:t>
            </a:r>
            <a:r>
              <a:rPr dirty="0" sz="1150" spc="55">
                <a:latin typeface="Times New Roman"/>
                <a:cs typeface="Times New Roman"/>
              </a:rPr>
              <a:t> </a:t>
            </a:r>
            <a:r>
              <a:rPr dirty="0" sz="1150" spc="-10" b="1">
                <a:latin typeface="Arial"/>
                <a:cs typeface="Arial"/>
              </a:rPr>
              <a:t>I</a:t>
            </a:r>
            <a:r>
              <a:rPr dirty="0" sz="1150" spc="-95" b="1">
                <a:latin typeface="Arial"/>
                <a:cs typeface="Arial"/>
              </a:rPr>
              <a:t>n</a:t>
            </a:r>
            <a:r>
              <a:rPr dirty="0" sz="1150" spc="-85" b="1">
                <a:latin typeface="Arial"/>
                <a:cs typeface="Arial"/>
              </a:rPr>
              <a:t>d</a:t>
            </a:r>
            <a:r>
              <a:rPr dirty="0" sz="1150" spc="-35" b="1">
                <a:latin typeface="Arial"/>
                <a:cs typeface="Arial"/>
              </a:rPr>
              <a:t>i</a:t>
            </a:r>
            <a:r>
              <a:rPr dirty="0" sz="1150" spc="-105" b="1">
                <a:latin typeface="Arial"/>
                <a:cs typeface="Arial"/>
              </a:rPr>
              <a:t>v</a:t>
            </a:r>
            <a:r>
              <a:rPr dirty="0" sz="1150" spc="-50" b="1">
                <a:latin typeface="Arial"/>
                <a:cs typeface="Arial"/>
              </a:rPr>
              <a:t>i</a:t>
            </a:r>
            <a:r>
              <a:rPr dirty="0" sz="1150" spc="-85" b="1">
                <a:latin typeface="Arial"/>
                <a:cs typeface="Arial"/>
              </a:rPr>
              <a:t>du</a:t>
            </a:r>
            <a:r>
              <a:rPr dirty="0" sz="1150" spc="-80" b="1">
                <a:latin typeface="Arial"/>
                <a:cs typeface="Arial"/>
              </a:rPr>
              <a:t>a</a:t>
            </a:r>
            <a:r>
              <a:rPr dirty="0" sz="1150" spc="-40" b="1">
                <a:latin typeface="Arial"/>
                <a:cs typeface="Arial"/>
              </a:rPr>
              <a:t>l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-10" b="1">
                <a:latin typeface="Arial"/>
                <a:cs typeface="Arial"/>
              </a:rPr>
              <a:t>I</a:t>
            </a:r>
            <a:r>
              <a:rPr dirty="0" sz="1150" spc="-85" b="1">
                <a:latin typeface="Arial"/>
                <a:cs typeface="Arial"/>
              </a:rPr>
              <a:t>n</a:t>
            </a:r>
            <a:r>
              <a:rPr dirty="0" sz="1150" spc="-165" b="1">
                <a:latin typeface="Arial"/>
                <a:cs typeface="Arial"/>
              </a:rPr>
              <a:t>c</a:t>
            </a:r>
            <a:r>
              <a:rPr dirty="0" sz="1150" spc="-70" b="1">
                <a:latin typeface="Arial"/>
                <a:cs typeface="Arial"/>
              </a:rPr>
              <a:t>e</a:t>
            </a:r>
            <a:r>
              <a:rPr dirty="0" sz="1150" spc="-85" b="1">
                <a:latin typeface="Arial"/>
                <a:cs typeface="Arial"/>
              </a:rPr>
              <a:t>n</a:t>
            </a:r>
            <a:r>
              <a:rPr dirty="0" sz="1150" b="1">
                <a:latin typeface="Arial"/>
                <a:cs typeface="Arial"/>
              </a:rPr>
              <a:t>t</a:t>
            </a:r>
            <a:r>
              <a:rPr dirty="0" sz="1150" spc="-35" b="1">
                <a:latin typeface="Arial"/>
                <a:cs typeface="Arial"/>
              </a:rPr>
              <a:t>i</a:t>
            </a:r>
            <a:r>
              <a:rPr dirty="0" sz="1150" spc="-105" b="1">
                <a:latin typeface="Arial"/>
                <a:cs typeface="Arial"/>
              </a:rPr>
              <a:t>v</a:t>
            </a:r>
            <a:r>
              <a:rPr dirty="0" sz="1150" spc="-70" b="1">
                <a:latin typeface="Arial"/>
                <a:cs typeface="Arial"/>
              </a:rPr>
              <a:t>e</a:t>
            </a:r>
            <a:r>
              <a:rPr dirty="0" sz="1150" spc="-195" b="1">
                <a:latin typeface="Arial"/>
                <a:cs typeface="Arial"/>
              </a:rPr>
              <a:t>s</a:t>
            </a:r>
            <a:r>
              <a:rPr dirty="0" sz="1150" spc="-110">
                <a:latin typeface="Arial"/>
                <a:cs typeface="Arial"/>
              </a:rPr>
              <a:t>—</a:t>
            </a: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45">
                <a:latin typeface="Arial"/>
                <a:cs typeface="Arial"/>
              </a:rPr>
              <a:t>n</a:t>
            </a:r>
            <a:r>
              <a:rPr dirty="0" sz="1150" spc="-85">
                <a:latin typeface="Arial"/>
                <a:cs typeface="Arial"/>
              </a:rPr>
              <a:t>c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 spc="-45">
                <a:latin typeface="Arial"/>
                <a:cs typeface="Arial"/>
              </a:rPr>
              <a:t>n</a:t>
            </a:r>
            <a:r>
              <a:rPr dirty="0" sz="1150" spc="60">
                <a:latin typeface="Arial"/>
                <a:cs typeface="Arial"/>
              </a:rPr>
              <a:t>t</a:t>
            </a: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65">
                <a:latin typeface="Arial"/>
                <a:cs typeface="Arial"/>
              </a:rPr>
              <a:t>v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 spc="-40">
                <a:latin typeface="Arial"/>
                <a:cs typeface="Arial"/>
              </a:rPr>
              <a:t>-</a:t>
            </a:r>
            <a:r>
              <a:rPr dirty="0" sz="1150" spc="-45">
                <a:latin typeface="Arial"/>
                <a:cs typeface="Arial"/>
              </a:rPr>
              <a:t>b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125">
                <a:latin typeface="Arial"/>
                <a:cs typeface="Arial"/>
              </a:rPr>
              <a:t>s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 spc="-40">
                <a:latin typeface="Arial"/>
                <a:cs typeface="Arial"/>
              </a:rPr>
              <a:t>d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-45">
                <a:latin typeface="Arial"/>
                <a:cs typeface="Arial"/>
              </a:rPr>
              <a:t>p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55">
                <a:latin typeface="Arial"/>
                <a:cs typeface="Arial"/>
              </a:rPr>
              <a:t>y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-45">
                <a:latin typeface="Arial"/>
                <a:cs typeface="Arial"/>
              </a:rPr>
              <a:t>p</a:t>
            </a:r>
            <a:r>
              <a:rPr dirty="0" sz="1150" spc="15">
                <a:latin typeface="Arial"/>
                <a:cs typeface="Arial"/>
              </a:rPr>
              <a:t>l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40">
                <a:latin typeface="Arial"/>
                <a:cs typeface="Arial"/>
              </a:rPr>
              <a:t>n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60">
                <a:latin typeface="Arial"/>
                <a:cs typeface="Arial"/>
              </a:rPr>
              <a:t>t</a:t>
            </a:r>
            <a:r>
              <a:rPr dirty="0" sz="1150" spc="-45">
                <a:latin typeface="Arial"/>
                <a:cs typeface="Arial"/>
              </a:rPr>
              <a:t>h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65">
                <a:latin typeface="Arial"/>
                <a:cs typeface="Arial"/>
              </a:rPr>
              <a:t>t </a:t>
            </a:r>
            <a:r>
              <a:rPr dirty="0" sz="1150" spc="55">
                <a:latin typeface="Times New Roman"/>
                <a:cs typeface="Times New Roman"/>
              </a:rPr>
              <a:t> </a:t>
            </a:r>
            <a:r>
              <a:rPr dirty="0" sz="1150" spc="-40">
                <a:latin typeface="Arial"/>
                <a:cs typeface="Arial"/>
              </a:rPr>
              <a:t>performance.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38779" y="4745230"/>
            <a:ext cx="60134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45">
                <a:latin typeface="Arial"/>
                <a:cs typeface="Arial"/>
              </a:rPr>
              <a:t>n</a:t>
            </a:r>
            <a:r>
              <a:rPr dirty="0" sz="1150" spc="-35">
                <a:latin typeface="Arial"/>
                <a:cs typeface="Arial"/>
              </a:rPr>
              <a:t>d</a:t>
            </a: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65">
                <a:latin typeface="Arial"/>
                <a:cs typeface="Arial"/>
              </a:rPr>
              <a:t>v</a:t>
            </a: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45">
                <a:latin typeface="Arial"/>
                <a:cs typeface="Arial"/>
              </a:rPr>
              <a:t>du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5">
                <a:latin typeface="Arial"/>
                <a:cs typeface="Arial"/>
              </a:rPr>
              <a:t>l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0226" y="5280154"/>
            <a:ext cx="5514340" cy="33254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469900" marR="8255" indent="-228600">
              <a:lnSpc>
                <a:spcPct val="101699"/>
              </a:lnSpc>
              <a:spcBef>
                <a:spcPts val="75"/>
              </a:spcBef>
            </a:pPr>
            <a:r>
              <a:rPr dirty="0" sz="1150" spc="-45">
                <a:latin typeface="Arial"/>
                <a:cs typeface="Arial"/>
              </a:rPr>
              <a:t>2.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Bonus</a:t>
            </a:r>
            <a:r>
              <a:rPr dirty="0" sz="1150" spc="-70">
                <a:latin typeface="Arial"/>
                <a:cs typeface="Arial"/>
              </a:rPr>
              <a:t>—Individual </a:t>
            </a:r>
            <a:r>
              <a:rPr dirty="0" sz="1150" spc="-40">
                <a:latin typeface="Arial"/>
                <a:cs typeface="Arial"/>
              </a:rPr>
              <a:t>performance </a:t>
            </a:r>
            <a:r>
              <a:rPr dirty="0" sz="1150" spc="-35">
                <a:latin typeface="Arial"/>
                <a:cs typeface="Arial"/>
              </a:rPr>
              <a:t>incentive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5">
                <a:latin typeface="Arial"/>
                <a:cs typeface="Arial"/>
              </a:rPr>
              <a:t>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special </a:t>
            </a:r>
            <a:r>
              <a:rPr dirty="0" sz="1150" spc="-40">
                <a:latin typeface="Arial"/>
                <a:cs typeface="Arial"/>
              </a:rPr>
              <a:t>payment </a:t>
            </a:r>
            <a:r>
              <a:rPr dirty="0" sz="1150" spc="-60">
                <a:latin typeface="Arial"/>
                <a:cs typeface="Arial"/>
              </a:rPr>
              <a:t>made  </a:t>
            </a:r>
            <a:r>
              <a:rPr dirty="0" sz="1150" spc="-35">
                <a:latin typeface="Arial"/>
                <a:cs typeface="Arial"/>
              </a:rPr>
              <a:t>over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above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employee’s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salary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</a:pPr>
            <a:r>
              <a:rPr dirty="0" sz="1150" spc="-20" b="1">
                <a:latin typeface="Arial"/>
                <a:cs typeface="Arial"/>
              </a:rPr>
              <a:t>Merit </a:t>
            </a:r>
            <a:r>
              <a:rPr dirty="0" sz="1150" spc="-95" b="1">
                <a:latin typeface="Arial"/>
                <a:cs typeface="Arial"/>
              </a:rPr>
              <a:t>Salary </a:t>
            </a:r>
            <a:r>
              <a:rPr dirty="0" sz="1150" spc="-70" b="1">
                <a:latin typeface="Arial"/>
                <a:cs typeface="Arial"/>
              </a:rPr>
              <a:t>Systems</a:t>
            </a:r>
            <a:r>
              <a:rPr dirty="0" sz="1150" spc="-70">
                <a:latin typeface="Arial"/>
                <a:cs typeface="Arial"/>
              </a:rPr>
              <a:t>—Individual </a:t>
            </a:r>
            <a:r>
              <a:rPr dirty="0" sz="1150" spc="-35">
                <a:latin typeface="Arial"/>
                <a:cs typeface="Arial"/>
              </a:rPr>
              <a:t>incentive </a:t>
            </a:r>
            <a:r>
              <a:rPr dirty="0" sz="1150" spc="-30">
                <a:latin typeface="Arial"/>
                <a:cs typeface="Arial"/>
              </a:rPr>
              <a:t>linking </a:t>
            </a:r>
            <a:r>
              <a:rPr dirty="0" sz="1150" spc="-45">
                <a:latin typeface="Arial"/>
                <a:cs typeface="Arial"/>
              </a:rPr>
              <a:t>compensation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performance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non-  </a:t>
            </a:r>
            <a:r>
              <a:rPr dirty="0" sz="1150" spc="-80">
                <a:latin typeface="Arial"/>
                <a:cs typeface="Arial"/>
              </a:rPr>
              <a:t>sales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jobs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6985">
              <a:lnSpc>
                <a:spcPct val="101699"/>
              </a:lnSpc>
            </a:pPr>
            <a:r>
              <a:rPr dirty="0" sz="1150" spc="-75" b="1">
                <a:latin typeface="Arial"/>
                <a:cs typeface="Arial"/>
              </a:rPr>
              <a:t>Pay-for-performance </a:t>
            </a:r>
            <a:r>
              <a:rPr dirty="0" sz="1150" spc="-20">
                <a:latin typeface="Arial"/>
                <a:cs typeface="Arial"/>
              </a:rPr>
              <a:t>(or </a:t>
            </a:r>
            <a:r>
              <a:rPr dirty="0" sz="1150" spc="-45">
                <a:latin typeface="Arial"/>
                <a:cs typeface="Arial"/>
              </a:rPr>
              <a:t>variable pay)—Individual </a:t>
            </a:r>
            <a:r>
              <a:rPr dirty="0" sz="1150" spc="-35">
                <a:latin typeface="Arial"/>
                <a:cs typeface="Arial"/>
              </a:rPr>
              <a:t>incentive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5">
                <a:latin typeface="Arial"/>
                <a:cs typeface="Arial"/>
              </a:rPr>
              <a:t>rewards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manager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55">
                <a:latin typeface="Arial"/>
                <a:cs typeface="Arial"/>
              </a:rPr>
              <a:t>especially </a:t>
            </a:r>
            <a:r>
              <a:rPr dirty="0" sz="1150" spc="-30">
                <a:latin typeface="Arial"/>
                <a:cs typeface="Arial"/>
              </a:rPr>
              <a:t>productive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output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00" b="1">
                <a:latin typeface="Arial"/>
                <a:cs typeface="Arial"/>
              </a:rPr>
              <a:t>Company-wide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95" b="1">
                <a:latin typeface="Arial"/>
                <a:cs typeface="Arial"/>
              </a:rPr>
              <a:t>Incentives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</a:pPr>
            <a:r>
              <a:rPr dirty="0" sz="1150" spc="-75" b="1">
                <a:latin typeface="Arial"/>
                <a:cs typeface="Arial"/>
              </a:rPr>
              <a:t>Profit-sharing </a:t>
            </a:r>
            <a:r>
              <a:rPr dirty="0" sz="1150" spc="-55" b="1">
                <a:latin typeface="Arial"/>
                <a:cs typeface="Arial"/>
              </a:rPr>
              <a:t>plan</a:t>
            </a:r>
            <a:r>
              <a:rPr dirty="0" sz="1150" spc="-55">
                <a:latin typeface="Arial"/>
                <a:cs typeface="Arial"/>
              </a:rPr>
              <a:t>—Incentive </a:t>
            </a:r>
            <a:r>
              <a:rPr dirty="0" sz="1150" spc="-45">
                <a:latin typeface="Arial"/>
                <a:cs typeface="Arial"/>
              </a:rPr>
              <a:t>plan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distributing </a:t>
            </a:r>
            <a:r>
              <a:rPr dirty="0" sz="1150" spc="-70">
                <a:latin typeface="Arial"/>
                <a:cs typeface="Arial"/>
              </a:rPr>
              <a:t>bonuses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60">
                <a:latin typeface="Arial"/>
                <a:cs typeface="Arial"/>
              </a:rPr>
              <a:t>company  </a:t>
            </a:r>
            <a:r>
              <a:rPr dirty="0" sz="1150" spc="-15">
                <a:latin typeface="Arial"/>
                <a:cs typeface="Arial"/>
              </a:rPr>
              <a:t>profits </a:t>
            </a:r>
            <a:r>
              <a:rPr dirty="0" sz="1150" spc="-45">
                <a:latin typeface="Arial"/>
                <a:cs typeface="Arial"/>
              </a:rPr>
              <a:t>rise </a:t>
            </a:r>
            <a:r>
              <a:rPr dirty="0" sz="1150" spc="-60">
                <a:latin typeface="Arial"/>
                <a:cs typeface="Arial"/>
              </a:rPr>
              <a:t>above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certain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level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90" b="1">
                <a:latin typeface="Arial"/>
                <a:cs typeface="Arial"/>
              </a:rPr>
              <a:t>Gain-sharing </a:t>
            </a:r>
            <a:r>
              <a:rPr dirty="0" sz="1150" spc="-55" b="1">
                <a:latin typeface="Arial"/>
                <a:cs typeface="Arial"/>
              </a:rPr>
              <a:t>plan</a:t>
            </a:r>
            <a:r>
              <a:rPr dirty="0" sz="1150" spc="-55">
                <a:latin typeface="Arial"/>
                <a:cs typeface="Arial"/>
              </a:rPr>
              <a:t>—Incentive </a:t>
            </a:r>
            <a:r>
              <a:rPr dirty="0" sz="1150" spc="-45">
                <a:latin typeface="Arial"/>
                <a:cs typeface="Arial"/>
              </a:rPr>
              <a:t>plan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5">
                <a:latin typeface="Arial"/>
                <a:cs typeface="Arial"/>
              </a:rPr>
              <a:t>rewards </a:t>
            </a:r>
            <a:r>
              <a:rPr dirty="0" sz="1150" spc="-55">
                <a:latin typeface="Arial"/>
                <a:cs typeface="Arial"/>
              </a:rPr>
              <a:t>groups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productivity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improvements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75" b="1">
                <a:latin typeface="Arial"/>
                <a:cs typeface="Arial"/>
              </a:rPr>
              <a:t>Pay-for-knowledge </a:t>
            </a:r>
            <a:r>
              <a:rPr dirty="0" sz="1150" spc="-55" b="1">
                <a:latin typeface="Arial"/>
                <a:cs typeface="Arial"/>
              </a:rPr>
              <a:t>plan</a:t>
            </a:r>
            <a:r>
              <a:rPr dirty="0" sz="1150" spc="-55">
                <a:latin typeface="Arial"/>
                <a:cs typeface="Arial"/>
              </a:rPr>
              <a:t>—Incentive </a:t>
            </a:r>
            <a:r>
              <a:rPr dirty="0" sz="1150" spc="-45">
                <a:latin typeface="Arial"/>
                <a:cs typeface="Arial"/>
              </a:rPr>
              <a:t>plan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encourage </a:t>
            </a:r>
            <a:r>
              <a:rPr dirty="0" sz="1150" spc="-55">
                <a:latin typeface="Arial"/>
                <a:cs typeface="Arial"/>
              </a:rPr>
              <a:t>employees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learn new </a:t>
            </a:r>
            <a:r>
              <a:rPr dirty="0" sz="1150" spc="-50">
                <a:latin typeface="Arial"/>
                <a:cs typeface="Arial"/>
              </a:rPr>
              <a:t>skills </a:t>
            </a:r>
            <a:r>
              <a:rPr dirty="0" sz="1150" spc="-10">
                <a:latin typeface="Arial"/>
                <a:cs typeface="Arial"/>
              </a:rPr>
              <a:t>or  </a:t>
            </a:r>
            <a:r>
              <a:rPr dirty="0" sz="1150" spc="-60">
                <a:latin typeface="Arial"/>
                <a:cs typeface="Arial"/>
              </a:rPr>
              <a:t>become </a:t>
            </a:r>
            <a:r>
              <a:rPr dirty="0" sz="1150" spc="-15">
                <a:latin typeface="Arial"/>
                <a:cs typeface="Arial"/>
              </a:rPr>
              <a:t>proficient at different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jobs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48" y="892559"/>
            <a:ext cx="5514340" cy="795972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6350">
              <a:lnSpc>
                <a:spcPct val="101699"/>
              </a:lnSpc>
              <a:spcBef>
                <a:spcPts val="75"/>
              </a:spcBef>
            </a:pPr>
            <a:r>
              <a:rPr dirty="0" sz="1150" spc="-65" b="1">
                <a:latin typeface="Arial"/>
                <a:cs typeface="Arial"/>
              </a:rPr>
              <a:t>Benefit </a:t>
            </a:r>
            <a:r>
              <a:rPr dirty="0" sz="1150" spc="-75" b="1">
                <a:latin typeface="Arial"/>
                <a:cs typeface="Arial"/>
              </a:rPr>
              <a:t>Programs</a:t>
            </a:r>
            <a:r>
              <a:rPr dirty="0" sz="1150" spc="-75">
                <a:latin typeface="Arial"/>
                <a:cs typeface="Arial"/>
              </a:rPr>
              <a:t>—compensation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0">
                <a:latin typeface="Arial"/>
                <a:cs typeface="Arial"/>
              </a:rPr>
              <a:t>than </a:t>
            </a:r>
            <a:r>
              <a:rPr dirty="0" sz="1150" spc="-80">
                <a:latin typeface="Arial"/>
                <a:cs typeface="Arial"/>
              </a:rPr>
              <a:t>wages </a:t>
            </a:r>
            <a:r>
              <a:rPr dirty="0" sz="1150" spc="-55">
                <a:latin typeface="Arial"/>
                <a:cs typeface="Arial"/>
              </a:rPr>
              <a:t>and salaries. </a:t>
            </a:r>
            <a:r>
              <a:rPr dirty="0" sz="1150" spc="-95">
                <a:latin typeface="Arial"/>
                <a:cs typeface="Arial"/>
              </a:rPr>
              <a:t>Some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0">
                <a:latin typeface="Arial"/>
                <a:cs typeface="Arial"/>
              </a:rPr>
              <a:t>required </a:t>
            </a:r>
            <a:r>
              <a:rPr dirty="0" sz="1150" spc="-45">
                <a:latin typeface="Arial"/>
                <a:cs typeface="Arial"/>
              </a:rPr>
              <a:t>by  </a:t>
            </a:r>
            <a:r>
              <a:rPr dirty="0" sz="1150" spc="-35">
                <a:latin typeface="Arial"/>
                <a:cs typeface="Arial"/>
              </a:rPr>
              <a:t>law,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90">
                <a:latin typeface="Arial"/>
                <a:cs typeface="Arial"/>
              </a:rPr>
              <a:t>as, </a:t>
            </a:r>
            <a:r>
              <a:rPr dirty="0" sz="1150" spc="-75" b="1">
                <a:latin typeface="Arial"/>
                <a:cs typeface="Arial"/>
              </a:rPr>
              <a:t>workers’ </a:t>
            </a:r>
            <a:r>
              <a:rPr dirty="0" sz="1150" spc="-90" b="1">
                <a:latin typeface="Arial"/>
                <a:cs typeface="Arial"/>
              </a:rPr>
              <a:t>compensation </a:t>
            </a:r>
            <a:r>
              <a:rPr dirty="0" sz="1150" spc="-95" b="1">
                <a:latin typeface="Arial"/>
                <a:cs typeface="Arial"/>
              </a:rPr>
              <a:t>insurance </a:t>
            </a:r>
            <a:r>
              <a:rPr dirty="0" sz="1150" spc="-55">
                <a:latin typeface="Arial"/>
                <a:cs typeface="Arial"/>
              </a:rPr>
              <a:t>(insurance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compensating </a:t>
            </a:r>
            <a:r>
              <a:rPr dirty="0" sz="1150" spc="-40">
                <a:latin typeface="Arial"/>
                <a:cs typeface="Arial"/>
              </a:rPr>
              <a:t>workers  </a:t>
            </a:r>
            <a:r>
              <a:rPr dirty="0" sz="1150" spc="-25">
                <a:latin typeface="Arial"/>
                <a:cs typeface="Arial"/>
              </a:rPr>
              <a:t>injured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job)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60" b="1">
                <a:latin typeface="Arial"/>
                <a:cs typeface="Arial"/>
              </a:rPr>
              <a:t>Retirement </a:t>
            </a:r>
            <a:r>
              <a:rPr dirty="0" sz="1150" spc="-70" b="1">
                <a:latin typeface="Arial"/>
                <a:cs typeface="Arial"/>
              </a:rPr>
              <a:t>Plans</a:t>
            </a:r>
            <a:r>
              <a:rPr dirty="0" sz="1150" spc="-70">
                <a:latin typeface="Arial"/>
                <a:cs typeface="Arial"/>
              </a:rPr>
              <a:t>—prearranged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60">
                <a:latin typeface="Arial"/>
                <a:cs typeface="Arial"/>
              </a:rPr>
              <a:t>pensions </a:t>
            </a:r>
            <a:r>
              <a:rPr dirty="0" sz="1150" spc="-35">
                <a:latin typeface="Arial"/>
                <a:cs typeface="Arial"/>
              </a:rPr>
              <a:t>provided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retired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employees.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05" b="1">
                <a:latin typeface="Arial"/>
                <a:cs typeface="Arial"/>
              </a:rPr>
              <a:t>Containing </a:t>
            </a:r>
            <a:r>
              <a:rPr dirty="0" sz="1350" spc="-55" b="1">
                <a:latin typeface="Arial"/>
                <a:cs typeface="Arial"/>
              </a:rPr>
              <a:t>the </a:t>
            </a:r>
            <a:r>
              <a:rPr dirty="0" sz="1350" spc="-155" b="1">
                <a:latin typeface="Arial"/>
                <a:cs typeface="Arial"/>
              </a:rPr>
              <a:t>Costs </a:t>
            </a:r>
            <a:r>
              <a:rPr dirty="0" sz="1350" spc="-60" b="1">
                <a:latin typeface="Arial"/>
                <a:cs typeface="Arial"/>
              </a:rPr>
              <a:t>of</a:t>
            </a:r>
            <a:r>
              <a:rPr dirty="0" sz="1350" spc="25" b="1">
                <a:latin typeface="Arial"/>
                <a:cs typeface="Arial"/>
              </a:rPr>
              <a:t> </a:t>
            </a:r>
            <a:r>
              <a:rPr dirty="0" sz="1350" spc="-95" b="1">
                <a:latin typeface="Arial"/>
                <a:cs typeface="Arial"/>
              </a:rPr>
              <a:t>Benefits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70" b="1">
                <a:latin typeface="Arial"/>
                <a:cs typeface="Arial"/>
              </a:rPr>
              <a:t>Cafeteria </a:t>
            </a:r>
            <a:r>
              <a:rPr dirty="0" sz="1150" spc="-65" b="1">
                <a:latin typeface="Arial"/>
                <a:cs typeface="Arial"/>
              </a:rPr>
              <a:t>Benefit </a:t>
            </a:r>
            <a:r>
              <a:rPr dirty="0" sz="1150" spc="-50" b="1">
                <a:latin typeface="Arial"/>
                <a:cs typeface="Arial"/>
              </a:rPr>
              <a:t>Plan</a:t>
            </a:r>
            <a:r>
              <a:rPr dirty="0" sz="1150" spc="-50">
                <a:latin typeface="Arial"/>
                <a:cs typeface="Arial"/>
              </a:rPr>
              <a:t>—benefit </a:t>
            </a:r>
            <a:r>
              <a:rPr dirty="0" sz="1150" spc="-45">
                <a:latin typeface="Arial"/>
                <a:cs typeface="Arial"/>
              </a:rPr>
              <a:t>plan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5">
                <a:latin typeface="Arial"/>
                <a:cs typeface="Arial"/>
              </a:rPr>
              <a:t>sets </a:t>
            </a:r>
            <a:r>
              <a:rPr dirty="0" sz="1150" spc="-15">
                <a:latin typeface="Arial"/>
                <a:cs typeface="Arial"/>
              </a:rPr>
              <a:t>limits </a:t>
            </a:r>
            <a:r>
              <a:rPr dirty="0" sz="1150" spc="-35">
                <a:latin typeface="Arial"/>
                <a:cs typeface="Arial"/>
              </a:rPr>
              <a:t>on benefits </a:t>
            </a:r>
            <a:r>
              <a:rPr dirty="0" sz="1150" spc="-30">
                <a:latin typeface="Arial"/>
                <a:cs typeface="Arial"/>
              </a:rPr>
              <a:t>per </a:t>
            </a:r>
            <a:r>
              <a:rPr dirty="0" sz="1150" spc="-45">
                <a:latin typeface="Arial"/>
                <a:cs typeface="Arial"/>
              </a:rPr>
              <a:t>employee, </a:t>
            </a:r>
            <a:r>
              <a:rPr dirty="0" sz="1150" spc="-75">
                <a:latin typeface="Arial"/>
                <a:cs typeface="Arial"/>
              </a:rPr>
              <a:t>each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30">
                <a:latin typeface="Arial"/>
                <a:cs typeface="Arial"/>
              </a:rPr>
              <a:t>whom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65">
                <a:latin typeface="Arial"/>
                <a:cs typeface="Arial"/>
              </a:rPr>
              <a:t>choose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variety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alternative </a:t>
            </a:r>
            <a:r>
              <a:rPr dirty="0" sz="1150" spc="-35">
                <a:latin typeface="Arial"/>
                <a:cs typeface="Arial"/>
              </a:rPr>
              <a:t>benefits.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45">
                <a:latin typeface="Arial"/>
                <a:cs typeface="Arial"/>
              </a:rPr>
              <a:t>allows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choose  </a:t>
            </a:r>
            <a:r>
              <a:rPr dirty="0" sz="1150" spc="-40">
                <a:latin typeface="Arial"/>
                <a:cs typeface="Arial"/>
              </a:rPr>
              <a:t>those </a:t>
            </a:r>
            <a:r>
              <a:rPr dirty="0" sz="1150" spc="-35">
                <a:latin typeface="Arial"/>
                <a:cs typeface="Arial"/>
              </a:rPr>
              <a:t>benefits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35">
                <a:latin typeface="Arial"/>
                <a:cs typeface="Arial"/>
              </a:rPr>
              <a:t>really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want.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14" b="1">
                <a:latin typeface="Arial"/>
                <a:cs typeface="Arial"/>
              </a:rPr>
              <a:t>Equal </a:t>
            </a:r>
            <a:r>
              <a:rPr dirty="0" sz="1350" spc="-100" b="1">
                <a:latin typeface="Arial"/>
                <a:cs typeface="Arial"/>
              </a:rPr>
              <a:t>Employment</a:t>
            </a:r>
            <a:r>
              <a:rPr dirty="0" sz="1350" spc="-40" b="1">
                <a:latin typeface="Arial"/>
                <a:cs typeface="Arial"/>
              </a:rPr>
              <a:t> </a:t>
            </a:r>
            <a:r>
              <a:rPr dirty="0" sz="1350" spc="-80" b="1">
                <a:latin typeface="Arial"/>
                <a:cs typeface="Arial"/>
              </a:rPr>
              <a:t>Opportunity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basic </a:t>
            </a:r>
            <a:r>
              <a:rPr dirty="0" sz="1150" spc="-55">
                <a:latin typeface="Arial"/>
                <a:cs typeface="Arial"/>
              </a:rPr>
              <a:t>goal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45">
                <a:latin typeface="Arial"/>
                <a:cs typeface="Arial"/>
              </a:rPr>
              <a:t>equal </a:t>
            </a:r>
            <a:r>
              <a:rPr dirty="0" sz="1150" spc="-35">
                <a:latin typeface="Arial"/>
                <a:cs typeface="Arial"/>
              </a:rPr>
              <a:t>employment </a:t>
            </a:r>
            <a:r>
              <a:rPr dirty="0" sz="1150" spc="-15">
                <a:latin typeface="Arial"/>
                <a:cs typeface="Arial"/>
              </a:rPr>
              <a:t>opportunity </a:t>
            </a:r>
            <a:r>
              <a:rPr dirty="0" sz="1150" spc="-30">
                <a:latin typeface="Arial"/>
                <a:cs typeface="Arial"/>
              </a:rPr>
              <a:t>regulation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protect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10">
                <a:latin typeface="Arial"/>
                <a:cs typeface="Arial"/>
              </a:rPr>
              <a:t>from  </a:t>
            </a:r>
            <a:r>
              <a:rPr dirty="0" sz="1150" spc="-25">
                <a:latin typeface="Arial"/>
                <a:cs typeface="Arial"/>
              </a:rPr>
              <a:t>unfair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5">
                <a:latin typeface="Arial"/>
                <a:cs typeface="Arial"/>
              </a:rPr>
              <a:t>inappropriate </a:t>
            </a:r>
            <a:r>
              <a:rPr dirty="0" sz="1150" spc="-30">
                <a:latin typeface="Arial"/>
                <a:cs typeface="Arial"/>
              </a:rPr>
              <a:t>discrimination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40">
                <a:latin typeface="Arial"/>
                <a:cs typeface="Arial"/>
              </a:rPr>
              <a:t>workplace. </a:t>
            </a:r>
            <a:r>
              <a:rPr dirty="0" sz="1150" spc="-70">
                <a:latin typeface="Arial"/>
                <a:cs typeface="Arial"/>
              </a:rPr>
              <a:t>Legally </a:t>
            </a:r>
            <a:r>
              <a:rPr dirty="0" sz="1150" spc="-45">
                <a:latin typeface="Arial"/>
                <a:cs typeface="Arial"/>
              </a:rPr>
              <a:t>mandated  </a:t>
            </a:r>
            <a:r>
              <a:rPr dirty="0" sz="1150" spc="-30">
                <a:latin typeface="Arial"/>
                <a:cs typeface="Arial"/>
              </a:rPr>
              <a:t>nondiscrimination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employment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basis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race,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creed,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sex,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national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origin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870585" indent="-259715">
              <a:lnSpc>
                <a:spcPct val="100000"/>
              </a:lnSpc>
              <a:buAutoNum type="romanLcPeriod" startAt="4"/>
              <a:tabLst>
                <a:tab pos="871219" algn="l"/>
              </a:tabLst>
            </a:pPr>
            <a:r>
              <a:rPr dirty="0" sz="1150" spc="-75" b="1">
                <a:latin typeface="Arial"/>
                <a:cs typeface="Arial"/>
              </a:rPr>
              <a:t>Protected </a:t>
            </a:r>
            <a:r>
              <a:rPr dirty="0" sz="1150" spc="-140" b="1">
                <a:latin typeface="Arial"/>
                <a:cs typeface="Arial"/>
              </a:rPr>
              <a:t>Classes </a:t>
            </a:r>
            <a:r>
              <a:rPr dirty="0" sz="1150" spc="-60" b="1">
                <a:latin typeface="Arial"/>
                <a:cs typeface="Arial"/>
              </a:rPr>
              <a:t>in </a:t>
            </a:r>
            <a:r>
              <a:rPr dirty="0" sz="1150" spc="-50" b="1">
                <a:latin typeface="Arial"/>
                <a:cs typeface="Arial"/>
              </a:rPr>
              <a:t>the</a:t>
            </a:r>
            <a:r>
              <a:rPr dirty="0" sz="1150" spc="-14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Workplace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romanLcPeriod" startAt="4"/>
            </a:pPr>
            <a:endParaRPr sz="1200">
              <a:latin typeface="Arial"/>
              <a:cs typeface="Arial"/>
            </a:endParaRPr>
          </a:p>
          <a:p>
            <a:pPr algn="just" lvl="1" marL="1841500" marR="5715" indent="-228600">
              <a:lnSpc>
                <a:spcPct val="101699"/>
              </a:lnSpc>
              <a:buFont typeface="Arial"/>
              <a:buAutoNum type="arabicPeriod"/>
              <a:tabLst>
                <a:tab pos="1842135" algn="l"/>
              </a:tabLst>
            </a:pPr>
            <a:r>
              <a:rPr dirty="0" sz="1150" spc="-75" b="1">
                <a:latin typeface="Arial"/>
                <a:cs typeface="Arial"/>
              </a:rPr>
              <a:t>Protected </a:t>
            </a:r>
            <a:r>
              <a:rPr dirty="0" sz="1150" spc="-105" b="1">
                <a:latin typeface="Arial"/>
                <a:cs typeface="Arial"/>
              </a:rPr>
              <a:t>Class</a:t>
            </a:r>
            <a:r>
              <a:rPr dirty="0" sz="1150" spc="-105">
                <a:latin typeface="Arial"/>
                <a:cs typeface="Arial"/>
              </a:rPr>
              <a:t>—set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individuals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0">
                <a:latin typeface="Arial"/>
                <a:cs typeface="Arial"/>
              </a:rPr>
              <a:t>nature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10">
                <a:latin typeface="Arial"/>
                <a:cs typeface="Arial"/>
              </a:rPr>
              <a:t>or 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50">
                <a:latin typeface="Arial"/>
                <a:cs typeface="Arial"/>
              </a:rPr>
              <a:t>common </a:t>
            </a:r>
            <a:r>
              <a:rPr dirty="0" sz="1150" spc="-45">
                <a:latin typeface="Arial"/>
                <a:cs typeface="Arial"/>
              </a:rPr>
              <a:t>characteristics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5">
                <a:latin typeface="Arial"/>
                <a:cs typeface="Arial"/>
              </a:rPr>
              <a:t>protected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5">
                <a:latin typeface="Arial"/>
                <a:cs typeface="Arial"/>
              </a:rPr>
              <a:t>law </a:t>
            </a:r>
            <a:r>
              <a:rPr dirty="0" sz="1150" spc="-10">
                <a:latin typeface="Arial"/>
                <a:cs typeface="Arial"/>
              </a:rPr>
              <a:t>from  </a:t>
            </a:r>
            <a:r>
              <a:rPr dirty="0" sz="1150" spc="-30">
                <a:latin typeface="Arial"/>
                <a:cs typeface="Arial"/>
              </a:rPr>
              <a:t>discrimination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0">
                <a:latin typeface="Arial"/>
                <a:cs typeface="Arial"/>
              </a:rPr>
              <a:t>basis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those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characteristics.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marL="864235" indent="-274955">
              <a:lnSpc>
                <a:spcPct val="100000"/>
              </a:lnSpc>
              <a:buAutoNum type="romanLcPeriod" startAt="4"/>
              <a:tabLst>
                <a:tab pos="864235" algn="l"/>
                <a:tab pos="864869" algn="l"/>
              </a:tabLst>
            </a:pPr>
            <a:r>
              <a:rPr dirty="0" sz="1150" spc="-100" b="1">
                <a:latin typeface="Arial"/>
                <a:cs typeface="Arial"/>
              </a:rPr>
              <a:t>Enforcing Equal </a:t>
            </a:r>
            <a:r>
              <a:rPr dirty="0" sz="1150" spc="-85" b="1">
                <a:latin typeface="Arial"/>
                <a:cs typeface="Arial"/>
              </a:rPr>
              <a:t>Employment</a:t>
            </a:r>
            <a:r>
              <a:rPr dirty="0" sz="1150" spc="10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Opportunity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romanLcPeriod" startAt="4"/>
            </a:pPr>
            <a:endParaRPr sz="1200">
              <a:latin typeface="Arial"/>
              <a:cs typeface="Arial"/>
            </a:endParaRPr>
          </a:p>
          <a:p>
            <a:pPr algn="just" lvl="1" marL="1841500" marR="5080" indent="-228600">
              <a:lnSpc>
                <a:spcPct val="101699"/>
              </a:lnSpc>
              <a:buFont typeface="Arial"/>
              <a:buAutoNum type="arabicPeriod"/>
              <a:tabLst>
                <a:tab pos="1842135" algn="l"/>
              </a:tabLst>
            </a:pPr>
            <a:r>
              <a:rPr dirty="0" sz="1150" spc="-100" b="1">
                <a:latin typeface="Arial"/>
                <a:cs typeface="Arial"/>
              </a:rPr>
              <a:t>Equal </a:t>
            </a:r>
            <a:r>
              <a:rPr dirty="0" sz="1150" spc="-85" b="1">
                <a:latin typeface="Arial"/>
                <a:cs typeface="Arial"/>
              </a:rPr>
              <a:t>Employment </a:t>
            </a:r>
            <a:r>
              <a:rPr dirty="0" sz="1150" spc="-65" b="1">
                <a:latin typeface="Arial"/>
                <a:cs typeface="Arial"/>
              </a:rPr>
              <a:t>Opportunity </a:t>
            </a:r>
            <a:r>
              <a:rPr dirty="0" sz="1150" spc="-114" b="1">
                <a:latin typeface="Arial"/>
                <a:cs typeface="Arial"/>
              </a:rPr>
              <a:t>Commission </a:t>
            </a:r>
            <a:r>
              <a:rPr dirty="0" sz="1150" spc="-95" b="1">
                <a:latin typeface="Arial"/>
                <a:cs typeface="Arial"/>
              </a:rPr>
              <a:t>(EEOC)</a:t>
            </a:r>
            <a:r>
              <a:rPr dirty="0" sz="1150" spc="-95">
                <a:latin typeface="Arial"/>
                <a:cs typeface="Arial"/>
              </a:rPr>
              <a:t>—Dept.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Justice </a:t>
            </a:r>
            <a:r>
              <a:rPr dirty="0" sz="1150" spc="-75">
                <a:latin typeface="Arial"/>
                <a:cs typeface="Arial"/>
              </a:rPr>
              <a:t>agency </a:t>
            </a:r>
            <a:r>
              <a:rPr dirty="0" sz="1150" spc="-40">
                <a:latin typeface="Arial"/>
                <a:cs typeface="Arial"/>
              </a:rPr>
              <a:t>created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0">
                <a:latin typeface="Arial"/>
                <a:cs typeface="Arial"/>
              </a:rPr>
              <a:t>Title </a:t>
            </a:r>
            <a:r>
              <a:rPr dirty="0" sz="1150" spc="-65">
                <a:latin typeface="Arial"/>
                <a:cs typeface="Arial"/>
              </a:rPr>
              <a:t>VII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enforce  </a:t>
            </a:r>
            <a:r>
              <a:rPr dirty="0" sz="1150" spc="-30">
                <a:latin typeface="Arial"/>
                <a:cs typeface="Arial"/>
              </a:rPr>
              <a:t>discrimination-related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laws.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lvl="1" marL="1841500" marR="6350" indent="-228600">
              <a:lnSpc>
                <a:spcPct val="101699"/>
              </a:lnSpc>
              <a:buFont typeface="Arial"/>
              <a:buAutoNum type="arabicPeriod"/>
              <a:tabLst>
                <a:tab pos="1842135" algn="l"/>
              </a:tabLst>
            </a:pPr>
            <a:r>
              <a:rPr dirty="0" sz="1150" spc="-60" b="1">
                <a:latin typeface="Arial"/>
                <a:cs typeface="Arial"/>
              </a:rPr>
              <a:t>Affirmative </a:t>
            </a:r>
            <a:r>
              <a:rPr dirty="0" sz="1150" spc="-85" b="1">
                <a:latin typeface="Arial"/>
                <a:cs typeface="Arial"/>
              </a:rPr>
              <a:t>Action </a:t>
            </a:r>
            <a:r>
              <a:rPr dirty="0" sz="1150" spc="-55" b="1">
                <a:latin typeface="Arial"/>
                <a:cs typeface="Arial"/>
              </a:rPr>
              <a:t>Plan</a:t>
            </a:r>
            <a:r>
              <a:rPr dirty="0" sz="1150" spc="-55">
                <a:latin typeface="Arial"/>
                <a:cs typeface="Arial"/>
              </a:rPr>
              <a:t>–practice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recruiting </a:t>
            </a:r>
            <a:r>
              <a:rPr dirty="0" sz="1150" spc="-30">
                <a:latin typeface="Arial"/>
                <a:cs typeface="Arial"/>
              </a:rPr>
              <a:t>qualified 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 spc="-50">
                <a:latin typeface="Arial"/>
                <a:cs typeface="Arial"/>
              </a:rPr>
              <a:t>belonging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racial, </a:t>
            </a:r>
            <a:r>
              <a:rPr dirty="0" sz="1150" spc="-50">
                <a:latin typeface="Arial"/>
                <a:cs typeface="Arial"/>
              </a:rPr>
              <a:t>gender,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ethnic </a:t>
            </a:r>
            <a:r>
              <a:rPr dirty="0" sz="1150" spc="-55">
                <a:latin typeface="Arial"/>
                <a:cs typeface="Arial"/>
              </a:rPr>
              <a:t>groups </a:t>
            </a:r>
            <a:r>
              <a:rPr dirty="0" sz="1150" spc="-35">
                <a:latin typeface="Arial"/>
                <a:cs typeface="Arial"/>
              </a:rPr>
              <a:t>who 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underrepresented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5">
                <a:latin typeface="Arial"/>
                <a:cs typeface="Arial"/>
              </a:rPr>
              <a:t>an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95" b="1">
                <a:latin typeface="Arial"/>
                <a:cs typeface="Arial"/>
              </a:rPr>
              <a:t>COLLECTIVE </a:t>
            </a:r>
            <a:r>
              <a:rPr dirty="0" sz="1350" spc="-175" b="1">
                <a:latin typeface="Arial"/>
                <a:cs typeface="Arial"/>
              </a:rPr>
              <a:t>AFFAIRS OF</a:t>
            </a:r>
            <a:r>
              <a:rPr dirty="0" sz="1350" spc="-235" b="1">
                <a:latin typeface="Arial"/>
                <a:cs typeface="Arial"/>
              </a:rPr>
              <a:t> </a:t>
            </a:r>
            <a:r>
              <a:rPr dirty="0" sz="1350" spc="-195" b="1">
                <a:latin typeface="Arial"/>
                <a:cs typeface="Arial"/>
              </a:rPr>
              <a:t>EMPLOYEES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100" b="1">
                <a:latin typeface="Arial"/>
                <a:cs typeface="Arial"/>
              </a:rPr>
              <a:t>Labor </a:t>
            </a:r>
            <a:r>
              <a:rPr dirty="0" sz="1150" spc="-70" b="1">
                <a:latin typeface="Arial"/>
                <a:cs typeface="Arial"/>
              </a:rPr>
              <a:t>Union</a:t>
            </a:r>
            <a:r>
              <a:rPr dirty="0" sz="1150" spc="-70">
                <a:latin typeface="Arial"/>
                <a:cs typeface="Arial"/>
              </a:rPr>
              <a:t>—Group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individuals </a:t>
            </a:r>
            <a:r>
              <a:rPr dirty="0" sz="1150" spc="-30">
                <a:latin typeface="Arial"/>
                <a:cs typeface="Arial"/>
              </a:rPr>
              <a:t>working </a:t>
            </a:r>
            <a:r>
              <a:rPr dirty="0" sz="1150" spc="-25">
                <a:latin typeface="Arial"/>
                <a:cs typeface="Arial"/>
              </a:rPr>
              <a:t>together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achieve shared </a:t>
            </a:r>
            <a:r>
              <a:rPr dirty="0" sz="1150" spc="-25">
                <a:latin typeface="Arial"/>
                <a:cs typeface="Arial"/>
              </a:rPr>
              <a:t>job-related </a:t>
            </a:r>
            <a:r>
              <a:rPr dirty="0" sz="1150" spc="-65">
                <a:latin typeface="Arial"/>
                <a:cs typeface="Arial"/>
              </a:rPr>
              <a:t>goals, 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40">
                <a:latin typeface="Arial"/>
                <a:cs typeface="Arial"/>
              </a:rPr>
              <a:t>higher </a:t>
            </a:r>
            <a:r>
              <a:rPr dirty="0" sz="1150" spc="-60">
                <a:latin typeface="Arial"/>
                <a:cs typeface="Arial"/>
              </a:rPr>
              <a:t>pay, </a:t>
            </a:r>
            <a:r>
              <a:rPr dirty="0" sz="1150" spc="-25">
                <a:latin typeface="Arial"/>
                <a:cs typeface="Arial"/>
              </a:rPr>
              <a:t>shorter </a:t>
            </a:r>
            <a:r>
              <a:rPr dirty="0" sz="1150" spc="-30">
                <a:latin typeface="Arial"/>
                <a:cs typeface="Arial"/>
              </a:rPr>
              <a:t>working </a:t>
            </a:r>
            <a:r>
              <a:rPr dirty="0" sz="1150" spc="-45">
                <a:latin typeface="Arial"/>
                <a:cs typeface="Arial"/>
              </a:rPr>
              <a:t>hours,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20">
                <a:latin typeface="Arial"/>
                <a:cs typeface="Arial"/>
              </a:rPr>
              <a:t>job </a:t>
            </a:r>
            <a:r>
              <a:rPr dirty="0" sz="1150" spc="-40">
                <a:latin typeface="Arial"/>
                <a:cs typeface="Arial"/>
              </a:rPr>
              <a:t>security, </a:t>
            </a:r>
            <a:r>
              <a:rPr dirty="0" sz="1150" spc="-35">
                <a:latin typeface="Arial"/>
                <a:cs typeface="Arial"/>
              </a:rPr>
              <a:t>greater benefits, </a:t>
            </a:r>
            <a:r>
              <a:rPr dirty="0" sz="1150" spc="-10">
                <a:latin typeface="Arial"/>
                <a:cs typeface="Arial"/>
              </a:rPr>
              <a:t>or better  </a:t>
            </a:r>
            <a:r>
              <a:rPr dirty="0" sz="1150" spc="-30">
                <a:latin typeface="Arial"/>
                <a:cs typeface="Arial"/>
              </a:rPr>
              <a:t>working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conditions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00" b="1">
                <a:latin typeface="Arial"/>
                <a:cs typeface="Arial"/>
              </a:rPr>
              <a:t>Labor </a:t>
            </a:r>
            <a:r>
              <a:rPr dirty="0" sz="1150" spc="-90" b="1">
                <a:latin typeface="Arial"/>
                <a:cs typeface="Arial"/>
              </a:rPr>
              <a:t>Relations</a:t>
            </a:r>
            <a:r>
              <a:rPr dirty="0" sz="1150" spc="-90">
                <a:latin typeface="Arial"/>
                <a:cs typeface="Arial"/>
              </a:rPr>
              <a:t>—Process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dealing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represented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union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80" b="1">
                <a:latin typeface="Arial"/>
                <a:cs typeface="Arial"/>
              </a:rPr>
              <a:t>Collective </a:t>
            </a:r>
            <a:r>
              <a:rPr dirty="0" sz="1150" spc="-95" b="1">
                <a:latin typeface="Arial"/>
                <a:cs typeface="Arial"/>
              </a:rPr>
              <a:t>Bargaining</a:t>
            </a:r>
            <a:r>
              <a:rPr dirty="0" sz="1150" spc="-95">
                <a:latin typeface="Arial"/>
                <a:cs typeface="Arial"/>
              </a:rPr>
              <a:t>—Process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30">
                <a:latin typeface="Arial"/>
                <a:cs typeface="Arial"/>
              </a:rPr>
              <a:t>labor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management </a:t>
            </a:r>
            <a:r>
              <a:rPr dirty="0" sz="1150" spc="-35">
                <a:latin typeface="Arial"/>
                <a:cs typeface="Arial"/>
              </a:rPr>
              <a:t>negotiate conditions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35">
                <a:latin typeface="Arial"/>
                <a:cs typeface="Arial"/>
              </a:rPr>
              <a:t>employment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0">
                <a:latin typeface="Arial"/>
                <a:cs typeface="Arial"/>
              </a:rPr>
              <a:t>union-represented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workers.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109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86" y="892559"/>
            <a:ext cx="5513705" cy="76415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715">
              <a:lnSpc>
                <a:spcPct val="101699"/>
              </a:lnSpc>
              <a:spcBef>
                <a:spcPts val="75"/>
              </a:spcBef>
            </a:pPr>
            <a:r>
              <a:rPr dirty="0" sz="1150" spc="-80" b="1">
                <a:latin typeface="Arial"/>
                <a:cs typeface="Arial"/>
              </a:rPr>
              <a:t>Collective </a:t>
            </a:r>
            <a:r>
              <a:rPr dirty="0" sz="1150" spc="-95" b="1">
                <a:latin typeface="Arial"/>
                <a:cs typeface="Arial"/>
              </a:rPr>
              <a:t>Bargaining </a:t>
            </a:r>
            <a:r>
              <a:rPr dirty="0" sz="1150" spc="-75" b="1">
                <a:latin typeface="Arial"/>
                <a:cs typeface="Arial"/>
              </a:rPr>
              <a:t>agent </a:t>
            </a:r>
            <a:r>
              <a:rPr dirty="0" sz="1150" spc="-120" b="1">
                <a:latin typeface="Arial"/>
                <a:cs typeface="Arial"/>
              </a:rPr>
              <a:t>(CBA)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5">
                <a:latin typeface="Arial"/>
                <a:cs typeface="Arial"/>
              </a:rPr>
              <a:t>been </a:t>
            </a:r>
            <a:r>
              <a:rPr dirty="0" sz="1150" spc="-40">
                <a:latin typeface="Arial"/>
                <a:cs typeface="Arial"/>
              </a:rPr>
              <a:t>elected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workers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the 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25">
                <a:latin typeface="Arial"/>
                <a:cs typeface="Arial"/>
              </a:rPr>
              <a:t>through </a:t>
            </a:r>
            <a:r>
              <a:rPr dirty="0" sz="1150" spc="-50">
                <a:latin typeface="Arial"/>
                <a:cs typeface="Arial"/>
              </a:rPr>
              <a:t>legal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procedures.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50">
                <a:latin typeface="Arial"/>
                <a:cs typeface="Arial"/>
              </a:rPr>
              <a:t>Collective bargaining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50">
                <a:latin typeface="Arial"/>
                <a:cs typeface="Arial"/>
              </a:rPr>
              <a:t>ongoing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 spc="-40">
                <a:latin typeface="Arial"/>
                <a:cs typeface="Arial"/>
              </a:rPr>
              <a:t>involving </a:t>
            </a:r>
            <a:r>
              <a:rPr dirty="0" sz="1150" spc="-15">
                <a:latin typeface="Arial"/>
                <a:cs typeface="Arial"/>
              </a:rPr>
              <a:t>both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drafting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administering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terms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labor </a:t>
            </a:r>
            <a:r>
              <a:rPr dirty="0" sz="1150" spc="-25">
                <a:latin typeface="Arial"/>
                <a:cs typeface="Arial"/>
              </a:rPr>
              <a:t>contract.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0">
                <a:latin typeface="Arial"/>
                <a:cs typeface="Arial"/>
              </a:rPr>
              <a:t>begins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60">
                <a:latin typeface="Arial"/>
                <a:cs typeface="Arial"/>
              </a:rPr>
              <a:t>soon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union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recognized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60">
                <a:latin typeface="Arial"/>
                <a:cs typeface="Arial"/>
              </a:rPr>
              <a:t>exclusive </a:t>
            </a:r>
            <a:r>
              <a:rPr dirty="0" sz="1150" spc="-25">
                <a:latin typeface="Arial"/>
                <a:cs typeface="Arial"/>
              </a:rPr>
              <a:t>negotiator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members.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110" b="1">
                <a:latin typeface="Arial"/>
                <a:cs typeface="Arial"/>
              </a:rPr>
              <a:t>Reaching </a:t>
            </a:r>
            <a:r>
              <a:rPr dirty="0" sz="1150" spc="-80" b="1">
                <a:latin typeface="Arial"/>
                <a:cs typeface="Arial"/>
              </a:rPr>
              <a:t>Agreement </a:t>
            </a:r>
            <a:r>
              <a:rPr dirty="0" sz="1150" spc="-85" b="1">
                <a:latin typeface="Arial"/>
                <a:cs typeface="Arial"/>
              </a:rPr>
              <a:t>on </a:t>
            </a:r>
            <a:r>
              <a:rPr dirty="0" sz="1150" spc="-80" b="1">
                <a:latin typeface="Arial"/>
                <a:cs typeface="Arial"/>
              </a:rPr>
              <a:t>Contract </a:t>
            </a:r>
            <a:r>
              <a:rPr dirty="0" sz="1150" spc="-100" b="1">
                <a:latin typeface="Arial"/>
                <a:cs typeface="Arial"/>
              </a:rPr>
              <a:t>Terms</a:t>
            </a:r>
            <a:r>
              <a:rPr dirty="0" sz="1150" spc="-100">
                <a:latin typeface="Arial"/>
                <a:cs typeface="Arial"/>
              </a:rPr>
              <a:t>—Law </a:t>
            </a:r>
            <a:r>
              <a:rPr dirty="0" sz="1150" spc="-40">
                <a:latin typeface="Arial"/>
                <a:cs typeface="Arial"/>
              </a:rPr>
              <a:t>requires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0">
                <a:latin typeface="Arial"/>
                <a:cs typeface="Arial"/>
              </a:rPr>
              <a:t>union </a:t>
            </a:r>
            <a:r>
              <a:rPr dirty="0" sz="1150" spc="-55">
                <a:latin typeface="Arial"/>
                <a:cs typeface="Arial"/>
              </a:rPr>
              <a:t>leaders and  </a:t>
            </a:r>
            <a:r>
              <a:rPr dirty="0" sz="1150" spc="-50">
                <a:latin typeface="Arial"/>
                <a:cs typeface="Arial"/>
              </a:rPr>
              <a:t>management </a:t>
            </a:r>
            <a:r>
              <a:rPr dirty="0" sz="1150" spc="-45">
                <a:latin typeface="Arial"/>
                <a:cs typeface="Arial"/>
              </a:rPr>
              <a:t>representatives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20">
                <a:latin typeface="Arial"/>
                <a:cs typeface="Arial"/>
              </a:rPr>
              <a:t>sit </a:t>
            </a:r>
            <a:r>
              <a:rPr dirty="0" sz="1150" spc="-30">
                <a:latin typeface="Arial"/>
                <a:cs typeface="Arial"/>
              </a:rPr>
              <a:t>down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bargaining </a:t>
            </a:r>
            <a:r>
              <a:rPr dirty="0" sz="1150" spc="-30">
                <a:latin typeface="Arial"/>
                <a:cs typeface="Arial"/>
              </a:rPr>
              <a:t>table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negotiate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good  </a:t>
            </a:r>
            <a:r>
              <a:rPr dirty="0" sz="1150" spc="-15">
                <a:latin typeface="Arial"/>
                <a:cs typeface="Arial"/>
              </a:rPr>
              <a:t>faith. </a:t>
            </a:r>
            <a:r>
              <a:rPr dirty="0" sz="1150" spc="-95">
                <a:latin typeface="Arial"/>
                <a:cs typeface="Arial"/>
              </a:rPr>
              <a:t>Sessions </a:t>
            </a:r>
            <a:r>
              <a:rPr dirty="0" sz="1150" spc="-55">
                <a:latin typeface="Arial"/>
                <a:cs typeface="Arial"/>
              </a:rPr>
              <a:t>focus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5">
                <a:latin typeface="Arial"/>
                <a:cs typeface="Arial"/>
              </a:rPr>
              <a:t>identifying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bargaining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zone.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80" b="1">
                <a:latin typeface="Arial"/>
                <a:cs typeface="Arial"/>
              </a:rPr>
              <a:t>CONTRACT</a:t>
            </a:r>
            <a:r>
              <a:rPr dirty="0" sz="1350" spc="-65" b="1">
                <a:latin typeface="Arial"/>
                <a:cs typeface="Arial"/>
              </a:rPr>
              <a:t> </a:t>
            </a:r>
            <a:r>
              <a:rPr dirty="0" sz="1350" spc="-195" b="1">
                <a:latin typeface="Arial"/>
                <a:cs typeface="Arial"/>
              </a:rPr>
              <a:t>ISSUES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50">
              <a:latin typeface="Arial"/>
              <a:cs typeface="Arial"/>
            </a:endParaRPr>
          </a:p>
          <a:p>
            <a:pPr marL="469900" marR="5080" indent="-228600">
              <a:lnSpc>
                <a:spcPct val="101699"/>
              </a:lnSpc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80" b="1">
                <a:latin typeface="Arial"/>
                <a:cs typeface="Arial"/>
              </a:rPr>
              <a:t>Compensation</a:t>
            </a:r>
            <a:r>
              <a:rPr dirty="0" sz="1150" spc="-80">
                <a:latin typeface="Arial"/>
                <a:cs typeface="Arial"/>
              </a:rPr>
              <a:t>—Unions </a:t>
            </a:r>
            <a:r>
              <a:rPr dirty="0" sz="1150" spc="-45">
                <a:latin typeface="Arial"/>
                <a:cs typeface="Arial"/>
              </a:rPr>
              <a:t>generally </a:t>
            </a:r>
            <a:r>
              <a:rPr dirty="0" sz="1150" spc="-20">
                <a:latin typeface="Arial"/>
                <a:cs typeface="Arial"/>
              </a:rPr>
              <a:t>want </a:t>
            </a:r>
            <a:r>
              <a:rPr dirty="0" sz="1150" spc="-5">
                <a:latin typeface="Arial"/>
                <a:cs typeface="Arial"/>
              </a:rPr>
              <a:t>their </a:t>
            </a:r>
            <a:r>
              <a:rPr dirty="0" sz="1150" spc="-50">
                <a:latin typeface="Arial"/>
                <a:cs typeface="Arial"/>
              </a:rPr>
              <a:t>members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earn </a:t>
            </a:r>
            <a:r>
              <a:rPr dirty="0" sz="1150" spc="-40">
                <a:latin typeface="Arial"/>
                <a:cs typeface="Arial"/>
              </a:rPr>
              <a:t>higher </a:t>
            </a:r>
            <a:r>
              <a:rPr dirty="0" sz="1150" spc="-70">
                <a:latin typeface="Arial"/>
                <a:cs typeface="Arial"/>
              </a:rPr>
              <a:t>wages;  </a:t>
            </a:r>
            <a:r>
              <a:rPr dirty="0" sz="1150" spc="-45">
                <a:latin typeface="Arial"/>
                <a:cs typeface="Arial"/>
              </a:rPr>
              <a:t>compensation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most </a:t>
            </a:r>
            <a:r>
              <a:rPr dirty="0" sz="1150" spc="-50">
                <a:latin typeface="Arial"/>
                <a:cs typeface="Arial"/>
              </a:rPr>
              <a:t>common </a:t>
            </a:r>
            <a:r>
              <a:rPr dirty="0" sz="1150" spc="-30">
                <a:latin typeface="Arial"/>
                <a:cs typeface="Arial"/>
              </a:rPr>
              <a:t>contract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issue.</a:t>
            </a:r>
            <a:endParaRPr sz="1150">
              <a:latin typeface="Arial"/>
              <a:cs typeface="Arial"/>
            </a:endParaRPr>
          </a:p>
          <a:p>
            <a:pPr marL="1612900" marR="6350">
              <a:lnSpc>
                <a:spcPct val="101699"/>
              </a:lnSpc>
            </a:pPr>
            <a:r>
              <a:rPr dirty="0" sz="1150" spc="-35">
                <a:latin typeface="Arial"/>
                <a:cs typeface="Arial"/>
              </a:rPr>
              <a:t>1: </a:t>
            </a:r>
            <a:r>
              <a:rPr dirty="0" sz="1150" spc="-45">
                <a:latin typeface="Arial"/>
                <a:cs typeface="Arial"/>
              </a:rPr>
              <a:t>Cost-of-living </a:t>
            </a:r>
            <a:r>
              <a:rPr dirty="0" sz="1150" spc="-30">
                <a:latin typeface="Arial"/>
                <a:cs typeface="Arial"/>
              </a:rPr>
              <a:t>adjustment </a:t>
            </a:r>
            <a:r>
              <a:rPr dirty="0" sz="1150" spc="-75">
                <a:latin typeface="Arial"/>
                <a:cs typeface="Arial"/>
              </a:rPr>
              <a:t>(COLA)–labor </a:t>
            </a:r>
            <a:r>
              <a:rPr dirty="0" sz="1150" spc="-30">
                <a:latin typeface="Arial"/>
                <a:cs typeface="Arial"/>
              </a:rPr>
              <a:t>contract </a:t>
            </a:r>
            <a:r>
              <a:rPr dirty="0" sz="1150" spc="-70">
                <a:latin typeface="Arial"/>
                <a:cs typeface="Arial"/>
              </a:rPr>
              <a:t>clause </a:t>
            </a:r>
            <a:r>
              <a:rPr dirty="0" sz="1150" spc="-30">
                <a:latin typeface="Arial"/>
                <a:cs typeface="Arial"/>
              </a:rPr>
              <a:t>tying  </a:t>
            </a:r>
            <a:r>
              <a:rPr dirty="0" sz="1150" spc="-10">
                <a:latin typeface="Arial"/>
                <a:cs typeface="Arial"/>
              </a:rPr>
              <a:t>future </a:t>
            </a:r>
            <a:r>
              <a:rPr dirty="0" sz="1150" spc="-65">
                <a:latin typeface="Arial"/>
                <a:cs typeface="Arial"/>
              </a:rPr>
              <a:t>raises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80">
                <a:latin typeface="Arial"/>
                <a:cs typeface="Arial"/>
              </a:rPr>
              <a:t>changes </a:t>
            </a:r>
            <a:r>
              <a:rPr dirty="0" sz="1150" spc="-25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consumer </a:t>
            </a:r>
            <a:r>
              <a:rPr dirty="0" sz="1150" spc="-55">
                <a:latin typeface="Arial"/>
                <a:cs typeface="Arial"/>
              </a:rPr>
              <a:t>purchasing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power.</a:t>
            </a:r>
            <a:endParaRPr sz="1150">
              <a:latin typeface="Arial"/>
              <a:cs typeface="Arial"/>
            </a:endParaRPr>
          </a:p>
          <a:p>
            <a:pPr marL="1612900" marR="5080">
              <a:lnSpc>
                <a:spcPct val="100899"/>
              </a:lnSpc>
              <a:spcBef>
                <a:spcPts val="10"/>
              </a:spcBef>
            </a:pPr>
            <a:r>
              <a:rPr dirty="0" sz="1150" spc="-35">
                <a:latin typeface="Arial"/>
                <a:cs typeface="Arial"/>
              </a:rPr>
              <a:t>2: </a:t>
            </a:r>
            <a:r>
              <a:rPr dirty="0" sz="1150" spc="-85">
                <a:latin typeface="Arial"/>
                <a:cs typeface="Arial"/>
              </a:rPr>
              <a:t>Wage </a:t>
            </a:r>
            <a:r>
              <a:rPr dirty="0" sz="1150" spc="-40">
                <a:latin typeface="Arial"/>
                <a:cs typeface="Arial"/>
              </a:rPr>
              <a:t>reopener </a:t>
            </a:r>
            <a:r>
              <a:rPr dirty="0" sz="1150" spc="-70">
                <a:latin typeface="Arial"/>
                <a:cs typeface="Arial"/>
              </a:rPr>
              <a:t>clause–clause </a:t>
            </a:r>
            <a:r>
              <a:rPr dirty="0" sz="1150" spc="-35">
                <a:latin typeface="Arial"/>
                <a:cs typeface="Arial"/>
              </a:rPr>
              <a:t>allowing </a:t>
            </a:r>
            <a:r>
              <a:rPr dirty="0" sz="1150" spc="-70">
                <a:latin typeface="Arial"/>
                <a:cs typeface="Arial"/>
              </a:rPr>
              <a:t>wage </a:t>
            </a:r>
            <a:r>
              <a:rPr dirty="0" sz="1150" spc="-45">
                <a:latin typeface="Arial"/>
                <a:cs typeface="Arial"/>
              </a:rPr>
              <a:t>rates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 </a:t>
            </a:r>
            <a:r>
              <a:rPr dirty="0" sz="1150" spc="-35">
                <a:latin typeface="Arial"/>
                <a:cs typeface="Arial"/>
              </a:rPr>
              <a:t>renegotiated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during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life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labor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contract.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Arial"/>
              <a:cs typeface="Arial"/>
            </a:endParaRPr>
          </a:p>
          <a:p>
            <a:pPr algn="just" marL="469900" marR="5080" indent="-228600">
              <a:lnSpc>
                <a:spcPct val="101699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50" spc="-80" b="1">
                <a:latin typeface="Arial"/>
                <a:cs typeface="Arial"/>
              </a:rPr>
              <a:t>Benefits </a:t>
            </a:r>
            <a:r>
              <a:rPr dirty="0" sz="1150" spc="-55">
                <a:latin typeface="Arial"/>
                <a:cs typeface="Arial"/>
              </a:rPr>
              <a:t>(e.g., </a:t>
            </a:r>
            <a:r>
              <a:rPr dirty="0" sz="1150" spc="-30">
                <a:latin typeface="Arial"/>
                <a:cs typeface="Arial"/>
              </a:rPr>
              <a:t>health </a:t>
            </a:r>
            <a:r>
              <a:rPr dirty="0" sz="1150" spc="-50">
                <a:latin typeface="Arial"/>
                <a:cs typeface="Arial"/>
              </a:rPr>
              <a:t>insurance, </a:t>
            </a:r>
            <a:r>
              <a:rPr dirty="0" sz="1150" spc="-15">
                <a:latin typeface="Arial"/>
                <a:cs typeface="Arial"/>
              </a:rPr>
              <a:t>retirement </a:t>
            </a:r>
            <a:r>
              <a:rPr dirty="0" sz="1150" spc="-30">
                <a:latin typeface="Arial"/>
                <a:cs typeface="Arial"/>
              </a:rPr>
              <a:t>benefits, </a:t>
            </a:r>
            <a:r>
              <a:rPr dirty="0" sz="1150" spc="-45">
                <a:latin typeface="Arial"/>
                <a:cs typeface="Arial"/>
              </a:rPr>
              <a:t>paid  holidays,  </a:t>
            </a:r>
            <a:r>
              <a:rPr dirty="0" sz="1150" spc="-30">
                <a:latin typeface="Arial"/>
                <a:cs typeface="Arial"/>
              </a:rPr>
              <a:t>working  </a:t>
            </a:r>
            <a:r>
              <a:rPr dirty="0" sz="1150" spc="-45">
                <a:latin typeface="Arial"/>
                <a:cs typeface="Arial"/>
              </a:rPr>
              <a:t>conditions)—Unions </a:t>
            </a:r>
            <a:r>
              <a:rPr dirty="0" sz="1150" spc="-30">
                <a:latin typeface="Arial"/>
                <a:cs typeface="Arial"/>
              </a:rPr>
              <a:t>typically </a:t>
            </a:r>
            <a:r>
              <a:rPr dirty="0" sz="1150" spc="-20">
                <a:latin typeface="Arial"/>
                <a:cs typeface="Arial"/>
              </a:rPr>
              <a:t>want </a:t>
            </a:r>
            <a:r>
              <a:rPr dirty="0" sz="1150" spc="-50">
                <a:latin typeface="Arial"/>
                <a:cs typeface="Arial"/>
              </a:rPr>
              <a:t>employers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pay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most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costs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35">
                <a:latin typeface="Arial"/>
                <a:cs typeface="Arial"/>
              </a:rPr>
              <a:t>benefits.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1250">
              <a:latin typeface="Arial"/>
              <a:cs typeface="Arial"/>
            </a:endParaRPr>
          </a:p>
          <a:p>
            <a:pPr algn="just" marL="469900" marR="5080" indent="-228600">
              <a:lnSpc>
                <a:spcPct val="101699"/>
              </a:lnSpc>
              <a:buFont typeface="Symbol"/>
              <a:buChar char=""/>
              <a:tabLst>
                <a:tab pos="470534" algn="l"/>
              </a:tabLst>
            </a:pPr>
            <a:r>
              <a:rPr dirty="0" sz="1150" spc="-145" b="1">
                <a:latin typeface="Arial"/>
                <a:cs typeface="Arial"/>
              </a:rPr>
              <a:t>Job </a:t>
            </a:r>
            <a:r>
              <a:rPr dirty="0" sz="1150" spc="-85" b="1">
                <a:latin typeface="Arial"/>
                <a:cs typeface="Arial"/>
              </a:rPr>
              <a:t>Security</a:t>
            </a:r>
            <a:r>
              <a:rPr dirty="0" sz="1150" spc="-85">
                <a:latin typeface="Arial"/>
                <a:cs typeface="Arial"/>
              </a:rPr>
              <a:t>—In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95">
                <a:latin typeface="Arial"/>
                <a:cs typeface="Arial"/>
              </a:rPr>
              <a:t>cases, </a:t>
            </a:r>
            <a:r>
              <a:rPr dirty="0" sz="1150" spc="-65">
                <a:latin typeface="Arial"/>
                <a:cs typeface="Arial"/>
              </a:rPr>
              <a:t>demands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job </a:t>
            </a:r>
            <a:r>
              <a:rPr dirty="0" sz="1150" spc="-40">
                <a:latin typeface="Arial"/>
                <a:cs typeface="Arial"/>
              </a:rPr>
              <a:t>security </a:t>
            </a:r>
            <a:r>
              <a:rPr dirty="0" sz="1150" spc="-25">
                <a:latin typeface="Arial"/>
                <a:cs typeface="Arial"/>
              </a:rPr>
              <a:t>entail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company’s </a:t>
            </a:r>
            <a:r>
              <a:rPr dirty="0" sz="1150" spc="-45">
                <a:latin typeface="Arial"/>
                <a:cs typeface="Arial"/>
              </a:rPr>
              <a:t>promise 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move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another </a:t>
            </a:r>
            <a:r>
              <a:rPr dirty="0" sz="1150" spc="-25">
                <a:latin typeface="Arial"/>
                <a:cs typeface="Arial"/>
              </a:rPr>
              <a:t>location,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stipulation </a:t>
            </a:r>
            <a:r>
              <a:rPr dirty="0" sz="1150">
                <a:latin typeface="Arial"/>
                <a:cs typeface="Arial"/>
              </a:rPr>
              <a:t>that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 spc="-25">
                <a:latin typeface="Arial"/>
                <a:cs typeface="Arial"/>
              </a:rPr>
              <a:t>workforce </a:t>
            </a:r>
            <a:r>
              <a:rPr dirty="0" sz="1150" spc="-40">
                <a:latin typeface="Arial"/>
                <a:cs typeface="Arial"/>
              </a:rPr>
              <a:t>reductions </a:t>
            </a:r>
            <a:r>
              <a:rPr dirty="0" sz="1150" spc="-35">
                <a:latin typeface="Arial"/>
                <a:cs typeface="Arial"/>
              </a:rPr>
              <a:t>must  </a:t>
            </a:r>
            <a:r>
              <a:rPr dirty="0" sz="1150" spc="-45">
                <a:latin typeface="Arial"/>
                <a:cs typeface="Arial"/>
              </a:rPr>
              <a:t>occur, </a:t>
            </a:r>
            <a:r>
              <a:rPr dirty="0" sz="1150" spc="-30">
                <a:latin typeface="Arial"/>
                <a:cs typeface="Arial"/>
              </a:rPr>
              <a:t>seniority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determine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0">
                <a:latin typeface="Arial"/>
                <a:cs typeface="Arial"/>
              </a:rPr>
              <a:t>employees lose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45">
                <a:latin typeface="Arial"/>
                <a:cs typeface="Arial"/>
              </a:rPr>
              <a:t>jobs.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Symbol"/>
              <a:buChar char=""/>
            </a:pPr>
            <a:endParaRPr sz="1250">
              <a:latin typeface="Arial"/>
              <a:cs typeface="Arial"/>
            </a:endParaRPr>
          </a:p>
          <a:p>
            <a:pPr algn="just" marL="469900" marR="5715" indent="-228600">
              <a:lnSpc>
                <a:spcPct val="101299"/>
              </a:lnSpc>
              <a:spcBef>
                <a:spcPts val="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50" spc="-60" b="1">
                <a:latin typeface="Arial"/>
                <a:cs typeface="Arial"/>
              </a:rPr>
              <a:t>Other </a:t>
            </a:r>
            <a:r>
              <a:rPr dirty="0" sz="1150" spc="-80" b="1">
                <a:latin typeface="Arial"/>
                <a:cs typeface="Arial"/>
              </a:rPr>
              <a:t>Union </a:t>
            </a:r>
            <a:r>
              <a:rPr dirty="0" sz="1150" spc="-120" b="1">
                <a:latin typeface="Arial"/>
                <a:cs typeface="Arial"/>
              </a:rPr>
              <a:t>Issues </a:t>
            </a:r>
            <a:r>
              <a:rPr dirty="0" sz="1150" spc="-55">
                <a:latin typeface="Arial"/>
                <a:cs typeface="Arial"/>
              </a:rPr>
              <a:t>(e.g., </a:t>
            </a:r>
            <a:r>
              <a:rPr dirty="0" sz="1150" spc="-30">
                <a:latin typeface="Arial"/>
                <a:cs typeface="Arial"/>
              </a:rPr>
              <a:t>working </a:t>
            </a:r>
            <a:r>
              <a:rPr dirty="0" sz="1150" spc="-45">
                <a:latin typeface="Arial"/>
                <a:cs typeface="Arial"/>
              </a:rPr>
              <a:t>hours,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overtime </a:t>
            </a:r>
            <a:r>
              <a:rPr dirty="0" sz="1150" spc="-45">
                <a:latin typeface="Arial"/>
                <a:cs typeface="Arial"/>
              </a:rPr>
              <a:t>policies,  </a:t>
            </a:r>
            <a:r>
              <a:rPr dirty="0" sz="1150" spc="-30">
                <a:latin typeface="Arial"/>
                <a:cs typeface="Arial"/>
              </a:rPr>
              <a:t>rest period  </a:t>
            </a:r>
            <a:r>
              <a:rPr dirty="0" sz="1150" spc="-50">
                <a:latin typeface="Arial"/>
                <a:cs typeface="Arial"/>
              </a:rPr>
              <a:t>arrangements, </a:t>
            </a:r>
            <a:r>
              <a:rPr dirty="0" sz="1150" spc="-15">
                <a:latin typeface="Arial"/>
                <a:cs typeface="Arial"/>
              </a:rPr>
              <a:t>differential </a:t>
            </a:r>
            <a:r>
              <a:rPr dirty="0" sz="1150" spc="-65">
                <a:latin typeface="Arial"/>
                <a:cs typeface="Arial"/>
              </a:rPr>
              <a:t>pay </a:t>
            </a:r>
            <a:r>
              <a:rPr dirty="0" sz="1150" spc="-60">
                <a:latin typeface="Arial"/>
                <a:cs typeface="Arial"/>
              </a:rPr>
              <a:t>plans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15">
                <a:latin typeface="Arial"/>
                <a:cs typeface="Arial"/>
              </a:rPr>
              <a:t>shift </a:t>
            </a:r>
            <a:r>
              <a:rPr dirty="0" sz="1150" spc="-50">
                <a:latin typeface="Arial"/>
                <a:cs typeface="Arial"/>
              </a:rPr>
              <a:t>employees,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temporary  </a:t>
            </a:r>
            <a:r>
              <a:rPr dirty="0" sz="1150" spc="-35">
                <a:latin typeface="Arial"/>
                <a:cs typeface="Arial"/>
              </a:rPr>
              <a:t>workers, </a:t>
            </a:r>
            <a:r>
              <a:rPr dirty="0" sz="1150" spc="-60">
                <a:latin typeface="Arial"/>
                <a:cs typeface="Arial"/>
              </a:rPr>
              <a:t>grievance </a:t>
            </a:r>
            <a:r>
              <a:rPr dirty="0" sz="1150" spc="-50">
                <a:latin typeface="Arial"/>
                <a:cs typeface="Arial"/>
              </a:rPr>
              <a:t>procedures,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allowable union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activities)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Symbol"/>
              <a:buChar char=""/>
            </a:pPr>
            <a:endParaRPr sz="1250">
              <a:latin typeface="Arial"/>
              <a:cs typeface="Arial"/>
            </a:endParaRPr>
          </a:p>
          <a:p>
            <a:pPr algn="just" marL="469900" marR="6350" indent="-229235">
              <a:lnSpc>
                <a:spcPct val="101299"/>
              </a:lnSpc>
              <a:spcBef>
                <a:spcPts val="5"/>
              </a:spcBef>
              <a:buFont typeface="Symbol"/>
              <a:buChar char=""/>
              <a:tabLst>
                <a:tab pos="470534" algn="l"/>
              </a:tabLst>
            </a:pPr>
            <a:r>
              <a:rPr dirty="0" sz="1150" spc="-65" b="1">
                <a:latin typeface="Arial"/>
                <a:cs typeface="Arial"/>
              </a:rPr>
              <a:t>Management </a:t>
            </a:r>
            <a:r>
              <a:rPr dirty="0" sz="1150" spc="-75" b="1">
                <a:latin typeface="Arial"/>
                <a:cs typeface="Arial"/>
              </a:rPr>
              <a:t>Rights</a:t>
            </a:r>
            <a:r>
              <a:rPr dirty="0" sz="1150" spc="-75">
                <a:latin typeface="Arial"/>
                <a:cs typeface="Arial"/>
              </a:rPr>
              <a:t>—Management </a:t>
            </a:r>
            <a:r>
              <a:rPr dirty="0" sz="1150" spc="-40">
                <a:latin typeface="Arial"/>
                <a:cs typeface="Arial"/>
              </a:rPr>
              <a:t>wants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50">
                <a:latin typeface="Arial"/>
                <a:cs typeface="Arial"/>
              </a:rPr>
              <a:t>much </a:t>
            </a:r>
            <a:r>
              <a:rPr dirty="0" sz="1150" spc="-15">
                <a:latin typeface="Arial"/>
                <a:cs typeface="Arial"/>
              </a:rPr>
              <a:t>control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55">
                <a:latin typeface="Arial"/>
                <a:cs typeface="Arial"/>
              </a:rPr>
              <a:t>possible </a:t>
            </a:r>
            <a:r>
              <a:rPr dirty="0" sz="1150" spc="-35">
                <a:latin typeface="Arial"/>
                <a:cs typeface="Arial"/>
              </a:rPr>
              <a:t>over </a:t>
            </a:r>
            <a:r>
              <a:rPr dirty="0" sz="1150" spc="-30">
                <a:latin typeface="Arial"/>
                <a:cs typeface="Arial"/>
              </a:rPr>
              <a:t>hiring  </a:t>
            </a:r>
            <a:r>
              <a:rPr dirty="0" sz="1150" spc="-45">
                <a:latin typeface="Arial"/>
                <a:cs typeface="Arial"/>
              </a:rPr>
              <a:t>policies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work </a:t>
            </a:r>
            <a:r>
              <a:rPr dirty="0" sz="1150" spc="-65">
                <a:latin typeface="Arial"/>
                <a:cs typeface="Arial"/>
              </a:rPr>
              <a:t>assignments. </a:t>
            </a:r>
            <a:r>
              <a:rPr dirty="0" sz="1150" spc="-55">
                <a:latin typeface="Arial"/>
                <a:cs typeface="Arial"/>
              </a:rPr>
              <a:t>Unions </a:t>
            </a:r>
            <a:r>
              <a:rPr dirty="0" sz="1150" spc="5">
                <a:latin typeface="Arial"/>
                <a:cs typeface="Arial"/>
              </a:rPr>
              <a:t>try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5">
                <a:latin typeface="Arial"/>
                <a:cs typeface="Arial"/>
              </a:rPr>
              <a:t>limit </a:t>
            </a:r>
            <a:r>
              <a:rPr dirty="0" sz="1150" spc="-50">
                <a:latin typeface="Arial"/>
                <a:cs typeface="Arial"/>
              </a:rPr>
              <a:t>management </a:t>
            </a:r>
            <a:r>
              <a:rPr dirty="0" sz="1150" spc="-35">
                <a:latin typeface="Arial"/>
                <a:cs typeface="Arial"/>
              </a:rPr>
              <a:t>rights </a:t>
            </a:r>
            <a:r>
              <a:rPr dirty="0" sz="1150" spc="-50">
                <a:latin typeface="Arial"/>
                <a:cs typeface="Arial"/>
              </a:rPr>
              <a:t>by specifying  </a:t>
            </a:r>
            <a:r>
              <a:rPr dirty="0" sz="1150" spc="-30">
                <a:latin typeface="Arial"/>
                <a:cs typeface="Arial"/>
              </a:rPr>
              <a:t>hiring, </a:t>
            </a:r>
            <a:r>
              <a:rPr dirty="0" sz="1150" spc="-55">
                <a:latin typeface="Arial"/>
                <a:cs typeface="Arial"/>
              </a:rPr>
              <a:t>assignment, and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policies.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860"/>
              </a:spcBef>
            </a:pPr>
            <a:r>
              <a:rPr dirty="0" sz="1350" spc="-95" b="1">
                <a:latin typeface="Arial"/>
                <a:cs typeface="Arial"/>
              </a:rPr>
              <a:t>MOTIVATION </a:t>
            </a:r>
            <a:r>
              <a:rPr dirty="0" sz="1350" spc="-55" b="1">
                <a:latin typeface="Arial"/>
                <a:cs typeface="Arial"/>
              </a:rPr>
              <a:t>IN </a:t>
            </a:r>
            <a:r>
              <a:rPr dirty="0" sz="1350" spc="-175" b="1">
                <a:latin typeface="Arial"/>
                <a:cs typeface="Arial"/>
              </a:rPr>
              <a:t>THE</a:t>
            </a:r>
            <a:r>
              <a:rPr dirty="0" sz="1350" spc="-95" b="1">
                <a:latin typeface="Arial"/>
                <a:cs typeface="Arial"/>
              </a:rPr>
              <a:t> </a:t>
            </a:r>
            <a:r>
              <a:rPr dirty="0" sz="1350" spc="-195" b="1">
                <a:latin typeface="Arial"/>
                <a:cs typeface="Arial"/>
              </a:rPr>
              <a:t>WORKPLACE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Arial"/>
              <a:cs typeface="Arial"/>
            </a:endParaRPr>
          </a:p>
          <a:p>
            <a:pPr marL="12700" marR="121285">
              <a:lnSpc>
                <a:spcPct val="101699"/>
              </a:lnSpc>
              <a:spcBef>
                <a:spcPts val="5"/>
              </a:spcBef>
            </a:pPr>
            <a:r>
              <a:rPr dirty="0" sz="1150" spc="-10">
                <a:latin typeface="Arial"/>
                <a:cs typeface="Arial"/>
              </a:rPr>
              <a:t>Motivation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force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5">
                <a:latin typeface="Arial"/>
                <a:cs typeface="Arial"/>
              </a:rPr>
              <a:t>forces people </a:t>
            </a:r>
            <a:r>
              <a:rPr dirty="0" sz="1150" spc="-35">
                <a:latin typeface="Arial"/>
                <a:cs typeface="Arial"/>
              </a:rPr>
              <a:t>towards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task. </a:t>
            </a:r>
            <a:r>
              <a:rPr dirty="0" sz="1150" spc="-65">
                <a:latin typeface="Arial"/>
                <a:cs typeface="Arial"/>
              </a:rPr>
              <a:t>Employee </a:t>
            </a:r>
            <a:r>
              <a:rPr dirty="0" sz="1150" spc="-15">
                <a:latin typeface="Arial"/>
                <a:cs typeface="Arial"/>
              </a:rPr>
              <a:t>motivation </a:t>
            </a:r>
            <a:r>
              <a:rPr dirty="0" sz="1150" spc="-65">
                <a:latin typeface="Arial"/>
                <a:cs typeface="Arial"/>
              </a:rPr>
              <a:t>is even </a:t>
            </a:r>
            <a:r>
              <a:rPr dirty="0" sz="1150" spc="-30">
                <a:latin typeface="Arial"/>
                <a:cs typeface="Arial"/>
              </a:rPr>
              <a:t>more  </a:t>
            </a:r>
            <a:r>
              <a:rPr dirty="0" sz="1150" spc="-25">
                <a:latin typeface="Arial"/>
                <a:cs typeface="Arial"/>
              </a:rPr>
              <a:t>critical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firm’s </a:t>
            </a:r>
            <a:r>
              <a:rPr dirty="0" sz="1150" spc="-100">
                <a:latin typeface="Arial"/>
                <a:cs typeface="Arial"/>
              </a:rPr>
              <a:t>success </a:t>
            </a:r>
            <a:r>
              <a:rPr dirty="0" sz="1150" spc="-30">
                <a:latin typeface="Arial"/>
                <a:cs typeface="Arial"/>
              </a:rPr>
              <a:t>than </a:t>
            </a:r>
            <a:r>
              <a:rPr dirty="0" sz="1150" spc="-15">
                <a:latin typeface="Arial"/>
                <a:cs typeface="Arial"/>
              </a:rPr>
              <a:t>job </a:t>
            </a:r>
            <a:r>
              <a:rPr dirty="0" sz="1150" spc="-40">
                <a:latin typeface="Arial"/>
                <a:cs typeface="Arial"/>
              </a:rPr>
              <a:t>satisfaction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morale.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110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32" y="892559"/>
            <a:ext cx="5514340" cy="6899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35" b="1">
                <a:latin typeface="Arial"/>
                <a:cs typeface="Arial"/>
              </a:rPr>
              <a:t>Classical</a:t>
            </a:r>
            <a:r>
              <a:rPr dirty="0" sz="1350" spc="-65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Theory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5">
                <a:latin typeface="Arial"/>
                <a:cs typeface="Arial"/>
              </a:rPr>
              <a:t>Theory </a:t>
            </a:r>
            <a:r>
              <a:rPr dirty="0" sz="1150" spc="-35">
                <a:latin typeface="Arial"/>
                <a:cs typeface="Arial"/>
              </a:rPr>
              <a:t>holding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0">
                <a:latin typeface="Arial"/>
                <a:cs typeface="Arial"/>
              </a:rPr>
              <a:t>workers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5">
                <a:latin typeface="Arial"/>
                <a:cs typeface="Arial"/>
              </a:rPr>
              <a:t>motivated </a:t>
            </a:r>
            <a:r>
              <a:rPr dirty="0" sz="1150" spc="-50">
                <a:latin typeface="Arial"/>
                <a:cs typeface="Arial"/>
              </a:rPr>
              <a:t>solely </a:t>
            </a:r>
            <a:r>
              <a:rPr dirty="0" sz="1150" spc="-55">
                <a:latin typeface="Arial"/>
                <a:cs typeface="Arial"/>
              </a:rPr>
              <a:t>by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money.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469900" marR="8890" indent="-228600">
              <a:lnSpc>
                <a:spcPct val="101699"/>
              </a:lnSpc>
              <a:spcBef>
                <a:spcPts val="5"/>
              </a:spcBef>
              <a:buFont typeface="Arial"/>
              <a:buAutoNum type="arabicPeriod"/>
              <a:tabLst>
                <a:tab pos="470534" algn="l"/>
              </a:tabLst>
            </a:pPr>
            <a:r>
              <a:rPr dirty="0" sz="1150" spc="-85" b="1">
                <a:latin typeface="Arial"/>
                <a:cs typeface="Arial"/>
              </a:rPr>
              <a:t>Scientific </a:t>
            </a:r>
            <a:r>
              <a:rPr dirty="0" sz="1150" spc="-65" b="1">
                <a:latin typeface="Arial"/>
                <a:cs typeface="Arial"/>
              </a:rPr>
              <a:t>Management</a:t>
            </a:r>
            <a:r>
              <a:rPr dirty="0" sz="1150" spc="-65">
                <a:latin typeface="Arial"/>
                <a:cs typeface="Arial"/>
              </a:rPr>
              <a:t>–an </a:t>
            </a:r>
            <a:r>
              <a:rPr dirty="0" sz="1150" spc="-50">
                <a:latin typeface="Arial"/>
                <a:cs typeface="Arial"/>
              </a:rPr>
              <a:t>approach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employee </a:t>
            </a:r>
            <a:r>
              <a:rPr dirty="0" sz="1150" spc="-15">
                <a:latin typeface="Arial"/>
                <a:cs typeface="Arial"/>
              </a:rPr>
              <a:t>motivation </a:t>
            </a:r>
            <a:r>
              <a:rPr dirty="0" sz="1150" spc="-30">
                <a:latin typeface="Arial"/>
                <a:cs typeface="Arial"/>
              </a:rPr>
              <a:t>incorporating </a:t>
            </a:r>
            <a:r>
              <a:rPr dirty="0" sz="1150" spc="-15">
                <a:latin typeface="Arial"/>
                <a:cs typeface="Arial"/>
              </a:rPr>
              <a:t>the  </a:t>
            </a:r>
            <a:r>
              <a:rPr dirty="0" sz="1150" spc="-70">
                <a:latin typeface="Arial"/>
                <a:cs typeface="Arial"/>
              </a:rPr>
              <a:t>classical </a:t>
            </a:r>
            <a:r>
              <a:rPr dirty="0" sz="1150" spc="-20">
                <a:latin typeface="Arial"/>
                <a:cs typeface="Arial"/>
              </a:rPr>
              <a:t>theory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motivation.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marL="469900" marR="5080" indent="-228600">
              <a:lnSpc>
                <a:spcPct val="101699"/>
              </a:lnSpc>
              <a:spcBef>
                <a:spcPts val="5"/>
              </a:spcBef>
              <a:buFont typeface="Arial"/>
              <a:buAutoNum type="arabicPeriod"/>
              <a:tabLst>
                <a:tab pos="470534" algn="l"/>
              </a:tabLst>
            </a:pPr>
            <a:r>
              <a:rPr dirty="0" sz="1150" spc="-85" b="1">
                <a:latin typeface="Arial"/>
                <a:cs typeface="Arial"/>
              </a:rPr>
              <a:t>Frederick </a:t>
            </a:r>
            <a:r>
              <a:rPr dirty="0" sz="1150" spc="-80" b="1">
                <a:latin typeface="Arial"/>
                <a:cs typeface="Arial"/>
              </a:rPr>
              <a:t>Taylor </a:t>
            </a:r>
            <a:r>
              <a:rPr dirty="0" sz="1150" spc="-85" b="1">
                <a:latin typeface="Arial"/>
                <a:cs typeface="Arial"/>
              </a:rPr>
              <a:t>(Principles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85" b="1">
                <a:latin typeface="Arial"/>
                <a:cs typeface="Arial"/>
              </a:rPr>
              <a:t>Scientific </a:t>
            </a:r>
            <a:r>
              <a:rPr dirty="0" sz="1150" spc="-65" b="1">
                <a:latin typeface="Arial"/>
                <a:cs typeface="Arial"/>
              </a:rPr>
              <a:t>Management, </a:t>
            </a:r>
            <a:r>
              <a:rPr dirty="0" sz="1150" spc="-55" b="1">
                <a:latin typeface="Arial"/>
                <a:cs typeface="Arial"/>
              </a:rPr>
              <a:t>1911) </a:t>
            </a:r>
            <a:r>
              <a:rPr dirty="0" sz="1150" spc="-60">
                <a:latin typeface="Arial"/>
                <a:cs typeface="Arial"/>
              </a:rPr>
              <a:t>reasoned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15">
                <a:latin typeface="Arial"/>
                <a:cs typeface="Arial"/>
              </a:rPr>
              <a:t>if  </a:t>
            </a:r>
            <a:r>
              <a:rPr dirty="0" sz="1150" spc="-40">
                <a:latin typeface="Arial"/>
                <a:cs typeface="Arial"/>
              </a:rPr>
              <a:t>workers </a:t>
            </a:r>
            <a:r>
              <a:rPr dirty="0" sz="1150" spc="-35">
                <a:latin typeface="Arial"/>
                <a:cs typeface="Arial"/>
              </a:rPr>
              <a:t>were </a:t>
            </a:r>
            <a:r>
              <a:rPr dirty="0" sz="1150" spc="-25">
                <a:latin typeface="Arial"/>
                <a:cs typeface="Arial"/>
              </a:rPr>
              <a:t>motivated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45">
                <a:latin typeface="Arial"/>
                <a:cs typeface="Arial"/>
              </a:rPr>
              <a:t>money, </a:t>
            </a:r>
            <a:r>
              <a:rPr dirty="0" sz="1150" spc="-55">
                <a:latin typeface="Arial"/>
                <a:cs typeface="Arial"/>
              </a:rPr>
              <a:t>paying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15">
                <a:latin typeface="Arial"/>
                <a:cs typeface="Arial"/>
              </a:rPr>
              <a:t>prompt </a:t>
            </a:r>
            <a:r>
              <a:rPr dirty="0" sz="1150" spc="-25">
                <a:latin typeface="Arial"/>
                <a:cs typeface="Arial"/>
              </a:rPr>
              <a:t>them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45">
                <a:latin typeface="Arial"/>
                <a:cs typeface="Arial"/>
              </a:rPr>
              <a:t>produce </a:t>
            </a:r>
            <a:r>
              <a:rPr dirty="0" sz="1150" spc="-30">
                <a:latin typeface="Arial"/>
                <a:cs typeface="Arial"/>
              </a:rPr>
              <a:t>more. </a:t>
            </a:r>
            <a:r>
              <a:rPr dirty="0" sz="1150" spc="-20">
                <a:latin typeface="Arial"/>
                <a:cs typeface="Arial"/>
              </a:rPr>
              <a:t>At the </a:t>
            </a:r>
            <a:r>
              <a:rPr dirty="0" sz="1150" spc="-80">
                <a:latin typeface="Arial"/>
                <a:cs typeface="Arial"/>
              </a:rPr>
              <a:t>same </a:t>
            </a:r>
            <a:r>
              <a:rPr dirty="0" sz="1150" spc="-15">
                <a:latin typeface="Arial"/>
                <a:cs typeface="Arial"/>
              </a:rPr>
              <a:t>time, </a:t>
            </a:r>
            <a:r>
              <a:rPr dirty="0" sz="1150" spc="-25">
                <a:latin typeface="Arial"/>
                <a:cs typeface="Arial"/>
              </a:rPr>
              <a:t>firms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5">
                <a:latin typeface="Arial"/>
                <a:cs typeface="Arial"/>
              </a:rPr>
              <a:t>analyzed </a:t>
            </a:r>
            <a:r>
              <a:rPr dirty="0" sz="1150" spc="-45">
                <a:latin typeface="Arial"/>
                <a:cs typeface="Arial"/>
              </a:rPr>
              <a:t>jobs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found </a:t>
            </a:r>
            <a:r>
              <a:rPr dirty="0" sz="1150" spc="-10">
                <a:latin typeface="Arial"/>
                <a:cs typeface="Arial"/>
              </a:rPr>
              <a:t>better </a:t>
            </a:r>
            <a:r>
              <a:rPr dirty="0" sz="1150" spc="-70">
                <a:latin typeface="Arial"/>
                <a:cs typeface="Arial"/>
              </a:rPr>
              <a:t>ways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20">
                <a:latin typeface="Arial"/>
                <a:cs typeface="Arial"/>
              </a:rPr>
              <a:t>perform </a:t>
            </a:r>
            <a:r>
              <a:rPr dirty="0" sz="1150" spc="-25">
                <a:latin typeface="Arial"/>
                <a:cs typeface="Arial"/>
              </a:rPr>
              <a:t>them would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50">
                <a:latin typeface="Arial"/>
                <a:cs typeface="Arial"/>
              </a:rPr>
              <a:t>able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produce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35">
                <a:latin typeface="Arial"/>
                <a:cs typeface="Arial"/>
              </a:rPr>
              <a:t>more </a:t>
            </a:r>
            <a:r>
              <a:rPr dirty="0" sz="1150" spc="-55">
                <a:latin typeface="Arial"/>
                <a:cs typeface="Arial"/>
              </a:rPr>
              <a:t>cheaply, </a:t>
            </a:r>
            <a:r>
              <a:rPr dirty="0" sz="1150" spc="-65">
                <a:latin typeface="Arial"/>
                <a:cs typeface="Arial"/>
              </a:rPr>
              <a:t>make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15">
                <a:latin typeface="Arial"/>
                <a:cs typeface="Arial"/>
              </a:rPr>
              <a:t>profits,  </a:t>
            </a:r>
            <a:r>
              <a:rPr dirty="0" sz="1150" spc="-55">
                <a:latin typeface="Arial"/>
                <a:cs typeface="Arial"/>
              </a:rPr>
              <a:t>and be </a:t>
            </a:r>
            <a:r>
              <a:rPr dirty="0" sz="1150" spc="-50">
                <a:latin typeface="Arial"/>
                <a:cs typeface="Arial"/>
              </a:rPr>
              <a:t>able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pay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motivate </a:t>
            </a:r>
            <a:r>
              <a:rPr dirty="0" sz="1150" spc="-40">
                <a:latin typeface="Arial"/>
                <a:cs typeface="Arial"/>
              </a:rPr>
              <a:t>workers </a:t>
            </a:r>
            <a:r>
              <a:rPr dirty="0" sz="1150" spc="-10">
                <a:latin typeface="Arial"/>
                <a:cs typeface="Arial"/>
              </a:rPr>
              <a:t>better </a:t>
            </a:r>
            <a:r>
              <a:rPr dirty="0" sz="1150" spc="-30">
                <a:latin typeface="Arial"/>
                <a:cs typeface="Arial"/>
              </a:rPr>
              <a:t>than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competitors.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marL="469900" marR="5080" indent="-228600">
              <a:lnSpc>
                <a:spcPct val="101699"/>
              </a:lnSpc>
              <a:spcBef>
                <a:spcPts val="5"/>
              </a:spcBef>
              <a:buFont typeface="Arial"/>
              <a:buAutoNum type="arabicPeriod"/>
              <a:tabLst>
                <a:tab pos="470534" algn="l"/>
              </a:tabLst>
            </a:pPr>
            <a:r>
              <a:rPr dirty="0" sz="1150" spc="-70" b="1">
                <a:latin typeface="Arial"/>
                <a:cs typeface="Arial"/>
              </a:rPr>
              <a:t>Time-and-motion </a:t>
            </a:r>
            <a:r>
              <a:rPr dirty="0" sz="1150" spc="-50" b="1">
                <a:latin typeface="Arial"/>
                <a:cs typeface="Arial"/>
              </a:rPr>
              <a:t>studies</a:t>
            </a:r>
            <a:r>
              <a:rPr dirty="0" sz="1150" spc="-50">
                <a:latin typeface="Arial"/>
                <a:cs typeface="Arial"/>
              </a:rPr>
              <a:t>–industrial-engineering </a:t>
            </a:r>
            <a:r>
              <a:rPr dirty="0" sz="1150" spc="-45">
                <a:latin typeface="Arial"/>
                <a:cs typeface="Arial"/>
              </a:rPr>
              <a:t>techniques </a:t>
            </a:r>
            <a:r>
              <a:rPr dirty="0" sz="1150" spc="-40">
                <a:latin typeface="Arial"/>
                <a:cs typeface="Arial"/>
              </a:rPr>
              <a:t>applied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0">
                <a:latin typeface="Arial"/>
                <a:cs typeface="Arial"/>
              </a:rPr>
              <a:t>each </a:t>
            </a:r>
            <a:r>
              <a:rPr dirty="0" sz="1150" spc="-30">
                <a:latin typeface="Arial"/>
                <a:cs typeface="Arial"/>
              </a:rPr>
              <a:t>facet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job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order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determine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how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perform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most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efficiently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00" b="1">
                <a:latin typeface="Arial"/>
                <a:cs typeface="Arial"/>
              </a:rPr>
              <a:t>Objections on </a:t>
            </a:r>
            <a:r>
              <a:rPr dirty="0" sz="1350" spc="-105" b="1">
                <a:latin typeface="Arial"/>
                <a:cs typeface="Arial"/>
              </a:rPr>
              <a:t>Fredrick </a:t>
            </a:r>
            <a:r>
              <a:rPr dirty="0" sz="1350" spc="-100" b="1">
                <a:latin typeface="Arial"/>
                <a:cs typeface="Arial"/>
              </a:rPr>
              <a:t>Taylor’s Theory </a:t>
            </a:r>
            <a:r>
              <a:rPr dirty="0" sz="1350" spc="-65" b="1">
                <a:latin typeface="Arial"/>
                <a:cs typeface="Arial"/>
              </a:rPr>
              <a:t>of </a:t>
            </a:r>
            <a:r>
              <a:rPr dirty="0" sz="1350" spc="-100" b="1">
                <a:latin typeface="Arial"/>
                <a:cs typeface="Arial"/>
              </a:rPr>
              <a:t>Scientific</a:t>
            </a:r>
            <a:r>
              <a:rPr dirty="0" sz="1350" spc="70" b="1">
                <a:latin typeface="Arial"/>
                <a:cs typeface="Arial"/>
              </a:rPr>
              <a:t> </a:t>
            </a:r>
            <a:r>
              <a:rPr dirty="0" sz="1350" spc="-75" b="1">
                <a:latin typeface="Arial"/>
                <a:cs typeface="Arial"/>
              </a:rPr>
              <a:t>Management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20">
                <a:latin typeface="Arial"/>
                <a:cs typeface="Arial"/>
              </a:rPr>
              <a:t>theory </a:t>
            </a:r>
            <a:r>
              <a:rPr dirty="0" sz="1150" spc="-60">
                <a:latin typeface="Arial"/>
                <a:cs typeface="Arial"/>
              </a:rPr>
              <a:t>considers </a:t>
            </a:r>
            <a:r>
              <a:rPr dirty="0" sz="1150" spc="-50">
                <a:latin typeface="Arial"/>
                <a:cs typeface="Arial"/>
              </a:rPr>
              <a:t>human </a:t>
            </a:r>
            <a:r>
              <a:rPr dirty="0" sz="1150" spc="-65">
                <a:latin typeface="Arial"/>
                <a:cs typeface="Arial"/>
              </a:rPr>
              <a:t>beings </a:t>
            </a:r>
            <a:r>
              <a:rPr dirty="0" sz="1150" spc="-110">
                <a:latin typeface="Arial"/>
                <a:cs typeface="Arial"/>
              </a:rPr>
              <a:t>as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machines.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00" b="1">
                <a:latin typeface="Arial"/>
                <a:cs typeface="Arial"/>
              </a:rPr>
              <a:t>Behavior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00" b="1">
                <a:latin typeface="Arial"/>
                <a:cs typeface="Arial"/>
              </a:rPr>
              <a:t>Theory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</a:pPr>
            <a:r>
              <a:rPr dirty="0" sz="1150" spc="-90" b="1">
                <a:latin typeface="Arial"/>
                <a:cs typeface="Arial"/>
              </a:rPr>
              <a:t>The </a:t>
            </a:r>
            <a:r>
              <a:rPr dirty="0" sz="1150" spc="-65" b="1">
                <a:latin typeface="Arial"/>
                <a:cs typeface="Arial"/>
              </a:rPr>
              <a:t>Hawthorne </a:t>
            </a:r>
            <a:r>
              <a:rPr dirty="0" sz="1150" spc="-100" b="1">
                <a:latin typeface="Arial"/>
                <a:cs typeface="Arial"/>
              </a:rPr>
              <a:t>Studies</a:t>
            </a:r>
            <a:r>
              <a:rPr dirty="0" sz="1150" spc="-100">
                <a:latin typeface="Arial"/>
                <a:cs typeface="Arial"/>
              </a:rPr>
              <a:t>—a </a:t>
            </a:r>
            <a:r>
              <a:rPr dirty="0" sz="1150" spc="-45">
                <a:latin typeface="Arial"/>
                <a:cs typeface="Arial"/>
              </a:rPr>
              <a:t>set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experiments aimed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50">
                <a:latin typeface="Arial"/>
                <a:cs typeface="Arial"/>
              </a:rPr>
              <a:t>examining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relationship  </a:t>
            </a:r>
            <a:r>
              <a:rPr dirty="0" sz="1150" spc="-35">
                <a:latin typeface="Arial"/>
                <a:cs typeface="Arial"/>
              </a:rPr>
              <a:t>between </a:t>
            </a:r>
            <a:r>
              <a:rPr dirty="0" sz="1150" spc="-80">
                <a:latin typeface="Arial"/>
                <a:cs typeface="Arial"/>
              </a:rPr>
              <a:t>changes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55">
                <a:latin typeface="Arial"/>
                <a:cs typeface="Arial"/>
              </a:rPr>
              <a:t>physical </a:t>
            </a:r>
            <a:r>
              <a:rPr dirty="0" sz="1150" spc="-30">
                <a:latin typeface="Arial"/>
                <a:cs typeface="Arial"/>
              </a:rPr>
              <a:t>environment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worker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output.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469900" marR="5715" indent="-228600">
              <a:lnSpc>
                <a:spcPct val="101699"/>
              </a:lnSpc>
              <a:spcBef>
                <a:spcPts val="5"/>
              </a:spcBef>
              <a:buAutoNum type="arabicPeriod"/>
              <a:tabLst>
                <a:tab pos="469900" algn="l"/>
              </a:tabLst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1925 Harvard </a:t>
            </a:r>
            <a:r>
              <a:rPr dirty="0" sz="1150" spc="-60">
                <a:latin typeface="Arial"/>
                <a:cs typeface="Arial"/>
              </a:rPr>
              <a:t>researchers </a:t>
            </a:r>
            <a:r>
              <a:rPr dirty="0" sz="1150" spc="-35">
                <a:latin typeface="Arial"/>
                <a:cs typeface="Arial"/>
              </a:rPr>
              <a:t>studied Hawthorne </a:t>
            </a:r>
            <a:r>
              <a:rPr dirty="0" sz="1150" spc="-55">
                <a:latin typeface="Arial"/>
                <a:cs typeface="Arial"/>
              </a:rPr>
              <a:t>Works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Western Electric, </a:t>
            </a:r>
            <a:r>
              <a:rPr dirty="0" sz="1150" spc="-35">
                <a:latin typeface="Arial"/>
                <a:cs typeface="Arial"/>
              </a:rPr>
              <a:t>outside  </a:t>
            </a:r>
            <a:r>
              <a:rPr dirty="0" sz="1150" spc="-75">
                <a:latin typeface="Arial"/>
                <a:cs typeface="Arial"/>
              </a:rPr>
              <a:t>Chicago. </a:t>
            </a:r>
            <a:r>
              <a:rPr dirty="0" sz="1150" spc="-50">
                <a:latin typeface="Arial"/>
                <a:cs typeface="Arial"/>
              </a:rPr>
              <a:t>Their </a:t>
            </a:r>
            <a:r>
              <a:rPr dirty="0" sz="1150" spc="-35">
                <a:latin typeface="Arial"/>
                <a:cs typeface="Arial"/>
              </a:rPr>
              <a:t>experiment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55">
                <a:latin typeface="Arial"/>
                <a:cs typeface="Arial"/>
              </a:rPr>
              <a:t>increasing </a:t>
            </a:r>
            <a:r>
              <a:rPr dirty="0" sz="1150" spc="-30">
                <a:latin typeface="Arial"/>
                <a:cs typeface="Arial"/>
              </a:rPr>
              <a:t>lighting </a:t>
            </a:r>
            <a:r>
              <a:rPr dirty="0" sz="1150" spc="-55">
                <a:latin typeface="Arial"/>
                <a:cs typeface="Arial"/>
              </a:rPr>
              <a:t>levels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examine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relationship  </a:t>
            </a:r>
            <a:r>
              <a:rPr dirty="0" sz="1150" spc="-35">
                <a:latin typeface="Arial"/>
                <a:cs typeface="Arial"/>
              </a:rPr>
              <a:t>between </a:t>
            </a:r>
            <a:r>
              <a:rPr dirty="0" sz="1150" spc="-80">
                <a:latin typeface="Arial"/>
                <a:cs typeface="Arial"/>
              </a:rPr>
              <a:t>changes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55">
                <a:latin typeface="Arial"/>
                <a:cs typeface="Arial"/>
              </a:rPr>
              <a:t>physical </a:t>
            </a:r>
            <a:r>
              <a:rPr dirty="0" sz="1150" spc="-30">
                <a:latin typeface="Arial"/>
                <a:cs typeface="Arial"/>
              </a:rPr>
              <a:t>environment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worker </a:t>
            </a:r>
            <a:r>
              <a:rPr dirty="0" sz="1150" spc="-5">
                <a:latin typeface="Arial"/>
                <a:cs typeface="Arial"/>
              </a:rPr>
              <a:t>output </a:t>
            </a:r>
            <a:r>
              <a:rPr dirty="0" sz="1150" spc="-50">
                <a:latin typeface="Arial"/>
                <a:cs typeface="Arial"/>
              </a:rPr>
              <a:t>showed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5">
                <a:latin typeface="Arial"/>
                <a:cs typeface="Arial"/>
              </a:rPr>
              <a:t>surprising </a:t>
            </a:r>
            <a:r>
              <a:rPr dirty="0" sz="1150" spc="-25">
                <a:latin typeface="Arial"/>
                <a:cs typeface="Arial"/>
              </a:rPr>
              <a:t>result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15">
                <a:latin typeface="Arial"/>
                <a:cs typeface="Arial"/>
              </a:rPr>
              <a:t>both </a:t>
            </a:r>
            <a:r>
              <a:rPr dirty="0" sz="1150" spc="-40">
                <a:latin typeface="Arial"/>
                <a:cs typeface="Arial"/>
              </a:rPr>
              <a:t>higher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lower </a:t>
            </a:r>
            <a:r>
              <a:rPr dirty="0" sz="1150" spc="-55">
                <a:latin typeface="Arial"/>
                <a:cs typeface="Arial"/>
              </a:rPr>
              <a:t>levels increased </a:t>
            </a:r>
            <a:r>
              <a:rPr dirty="0" sz="1150" spc="-20">
                <a:latin typeface="Arial"/>
                <a:cs typeface="Arial"/>
              </a:rPr>
              <a:t>productivity, </a:t>
            </a:r>
            <a:r>
              <a:rPr dirty="0" sz="1150" spc="-25">
                <a:latin typeface="Arial"/>
                <a:cs typeface="Arial"/>
              </a:rPr>
              <a:t>while  </a:t>
            </a:r>
            <a:r>
              <a:rPr dirty="0" sz="1150" spc="-55">
                <a:latin typeface="Arial"/>
                <a:cs typeface="Arial"/>
              </a:rPr>
              <a:t>increased </a:t>
            </a:r>
            <a:r>
              <a:rPr dirty="0" sz="1150" spc="-65">
                <a:latin typeface="Arial"/>
                <a:cs typeface="Arial"/>
              </a:rPr>
              <a:t>pay </a:t>
            </a:r>
            <a:r>
              <a:rPr dirty="0" sz="1150" spc="-30">
                <a:latin typeface="Arial"/>
                <a:cs typeface="Arial"/>
              </a:rPr>
              <a:t>failed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do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so.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marL="469900" marR="5080" indent="-228600">
              <a:lnSpc>
                <a:spcPct val="101699"/>
              </a:lnSpc>
              <a:spcBef>
                <a:spcPts val="5"/>
              </a:spcBef>
              <a:buAutoNum type="arabicPeriod"/>
              <a:tabLst>
                <a:tab pos="469900" algn="l"/>
              </a:tabLst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answer </a:t>
            </a:r>
            <a:r>
              <a:rPr dirty="0" sz="1150" spc="-40">
                <a:latin typeface="Arial"/>
                <a:cs typeface="Arial"/>
              </a:rPr>
              <a:t>proved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be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0">
                <a:latin typeface="Arial"/>
                <a:cs typeface="Arial"/>
              </a:rPr>
              <a:t>workers </a:t>
            </a:r>
            <a:r>
              <a:rPr dirty="0" sz="1150" spc="-35">
                <a:latin typeface="Arial"/>
                <a:cs typeface="Arial"/>
              </a:rPr>
              <a:t>were </a:t>
            </a:r>
            <a:r>
              <a:rPr dirty="0" sz="1150" spc="-40">
                <a:latin typeface="Arial"/>
                <a:cs typeface="Arial"/>
              </a:rPr>
              <a:t>reacting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attention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35">
                <a:latin typeface="Arial"/>
                <a:cs typeface="Arial"/>
              </a:rPr>
              <a:t>were  </a:t>
            </a:r>
            <a:r>
              <a:rPr dirty="0" sz="1150" spc="-45">
                <a:latin typeface="Arial"/>
                <a:cs typeface="Arial"/>
              </a:rPr>
              <a:t>receiving, </a:t>
            </a:r>
            <a:r>
              <a:rPr dirty="0" sz="1150" spc="-50">
                <a:latin typeface="Arial"/>
                <a:cs typeface="Arial"/>
              </a:rPr>
              <a:t>leading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conclusion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productivity </a:t>
            </a:r>
            <a:r>
              <a:rPr dirty="0" sz="1150" spc="-55">
                <a:latin typeface="Arial"/>
                <a:cs typeface="Arial"/>
              </a:rPr>
              <a:t>rose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0">
                <a:latin typeface="Arial"/>
                <a:cs typeface="Arial"/>
              </a:rPr>
              <a:t>response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almost </a:t>
            </a:r>
            <a:r>
              <a:rPr dirty="0" sz="1150" spc="-65">
                <a:latin typeface="Arial"/>
                <a:cs typeface="Arial"/>
              </a:rPr>
              <a:t>any  </a:t>
            </a:r>
            <a:r>
              <a:rPr dirty="0" sz="1150" spc="-50">
                <a:latin typeface="Arial"/>
                <a:cs typeface="Arial"/>
              </a:rPr>
              <a:t>management </a:t>
            </a:r>
            <a:r>
              <a:rPr dirty="0" sz="1150" spc="-35">
                <a:latin typeface="Arial"/>
                <a:cs typeface="Arial"/>
              </a:rPr>
              <a:t>action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0">
                <a:latin typeface="Arial"/>
                <a:cs typeface="Arial"/>
              </a:rPr>
              <a:t>workers </a:t>
            </a:r>
            <a:r>
              <a:rPr dirty="0" sz="1150" spc="-20">
                <a:latin typeface="Arial"/>
                <a:cs typeface="Arial"/>
              </a:rPr>
              <a:t>interpreted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60">
                <a:latin typeface="Arial"/>
                <a:cs typeface="Arial"/>
              </a:rPr>
              <a:t>special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attention.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eriod"/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AutoNum type="arabicPeriod"/>
            </a:pPr>
            <a:endParaRPr sz="1300">
              <a:latin typeface="Arial"/>
              <a:cs typeface="Arial"/>
            </a:endParaRPr>
          </a:p>
          <a:p>
            <a:pPr algn="just" marL="469900" marR="6350" indent="-228600">
              <a:lnSpc>
                <a:spcPct val="101699"/>
              </a:lnSpc>
              <a:buFont typeface="Arial"/>
              <a:buAutoNum type="arabicPeriod"/>
              <a:tabLst>
                <a:tab pos="469900" algn="l"/>
              </a:tabLst>
            </a:pPr>
            <a:r>
              <a:rPr dirty="0" sz="1150" spc="-65" b="1">
                <a:latin typeface="Arial"/>
                <a:cs typeface="Arial"/>
              </a:rPr>
              <a:t>Hawthorne Effect</a:t>
            </a:r>
            <a:r>
              <a:rPr dirty="0" sz="1150" spc="-65">
                <a:latin typeface="Arial"/>
                <a:cs typeface="Arial"/>
              </a:rPr>
              <a:t>—tendency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productivity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increase </a:t>
            </a:r>
            <a:r>
              <a:rPr dirty="0" sz="1150" spc="-40">
                <a:latin typeface="Arial"/>
                <a:cs typeface="Arial"/>
              </a:rPr>
              <a:t>when workers </a:t>
            </a:r>
            <a:r>
              <a:rPr dirty="0" sz="1150" spc="-45">
                <a:latin typeface="Arial"/>
                <a:cs typeface="Arial"/>
              </a:rPr>
              <a:t>believe </a:t>
            </a:r>
            <a:r>
              <a:rPr dirty="0" sz="1150" spc="-30">
                <a:latin typeface="Arial"/>
                <a:cs typeface="Arial"/>
              </a:rPr>
              <a:t>they 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receiving </a:t>
            </a:r>
            <a:r>
              <a:rPr dirty="0" sz="1150" spc="-60">
                <a:latin typeface="Arial"/>
                <a:cs typeface="Arial"/>
              </a:rPr>
              <a:t>special </a:t>
            </a:r>
            <a:r>
              <a:rPr dirty="0" sz="1150" spc="-10">
                <a:latin typeface="Arial"/>
                <a:cs typeface="Arial"/>
              </a:rPr>
              <a:t>attention from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management.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111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47161" y="891035"/>
            <a:ext cx="4694555" cy="83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19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215" b="1">
                <a:latin typeface="Arial"/>
                <a:cs typeface="Arial"/>
              </a:rPr>
              <a:t>CONTEMPORARY </a:t>
            </a:r>
            <a:r>
              <a:rPr dirty="0" sz="1750" spc="-145" b="1">
                <a:latin typeface="Arial"/>
                <a:cs typeface="Arial"/>
              </a:rPr>
              <a:t>MOTIVATIONAL</a:t>
            </a:r>
            <a:r>
              <a:rPr dirty="0" sz="1750" spc="-240" b="1">
                <a:latin typeface="Arial"/>
                <a:cs typeface="Arial"/>
              </a:rPr>
              <a:t> </a:t>
            </a:r>
            <a:r>
              <a:rPr dirty="0" sz="1750" spc="-229" b="1">
                <a:latin typeface="Arial"/>
                <a:cs typeface="Arial"/>
              </a:rPr>
              <a:t>THEORIES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112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250" y="2040130"/>
            <a:ext cx="5514340" cy="61067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45">
                <a:latin typeface="Arial"/>
                <a:cs typeface="Arial"/>
              </a:rPr>
              <a:t>Following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Hawthorne </a:t>
            </a:r>
            <a:r>
              <a:rPr dirty="0" sz="1150" spc="-45">
                <a:latin typeface="Arial"/>
                <a:cs typeface="Arial"/>
              </a:rPr>
              <a:t>studies,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researchers </a:t>
            </a:r>
            <a:r>
              <a:rPr dirty="0" sz="1150" spc="-55">
                <a:latin typeface="Arial"/>
                <a:cs typeface="Arial"/>
              </a:rPr>
              <a:t>focused </a:t>
            </a:r>
            <a:r>
              <a:rPr dirty="0" sz="1150" spc="-35">
                <a:latin typeface="Arial"/>
                <a:cs typeface="Arial"/>
              </a:rPr>
              <a:t>more </a:t>
            </a:r>
            <a:r>
              <a:rPr dirty="0" sz="1150" spc="-10">
                <a:latin typeface="Arial"/>
                <a:cs typeface="Arial"/>
              </a:rPr>
              <a:t>attention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35">
                <a:latin typeface="Arial"/>
                <a:cs typeface="Arial"/>
              </a:rPr>
              <a:t>importance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good human </a:t>
            </a:r>
            <a:r>
              <a:rPr dirty="0" sz="1150" spc="-30">
                <a:latin typeface="Arial"/>
                <a:cs typeface="Arial"/>
              </a:rPr>
              <a:t>relations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motivating </a:t>
            </a:r>
            <a:r>
              <a:rPr dirty="0" sz="1150" spc="-45">
                <a:latin typeface="Arial"/>
                <a:cs typeface="Arial"/>
              </a:rPr>
              <a:t>employee </a:t>
            </a:r>
            <a:r>
              <a:rPr dirty="0" sz="1150" spc="-40">
                <a:latin typeface="Arial"/>
                <a:cs typeface="Arial"/>
              </a:rPr>
              <a:t>performance. </a:t>
            </a:r>
            <a:r>
              <a:rPr dirty="0" sz="1150" spc="-15">
                <a:latin typeface="Arial"/>
                <a:cs typeface="Arial"/>
              </a:rPr>
              <a:t>Most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motivation  </a:t>
            </a:r>
            <a:r>
              <a:rPr dirty="0" sz="1150" spc="-30">
                <a:latin typeface="Arial"/>
                <a:cs typeface="Arial"/>
              </a:rPr>
              <a:t>theorists </a:t>
            </a:r>
            <a:r>
              <a:rPr dirty="0" sz="1150" spc="-50">
                <a:latin typeface="Arial"/>
                <a:cs typeface="Arial"/>
              </a:rPr>
              <a:t>are concerned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ways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0">
                <a:latin typeface="Arial"/>
                <a:cs typeface="Arial"/>
              </a:rPr>
              <a:t>management </a:t>
            </a:r>
            <a:r>
              <a:rPr dirty="0" sz="1150" spc="-35">
                <a:latin typeface="Arial"/>
                <a:cs typeface="Arial"/>
              </a:rPr>
              <a:t>thinks </a:t>
            </a:r>
            <a:r>
              <a:rPr dirty="0" sz="1150" spc="-25">
                <a:latin typeface="Arial"/>
                <a:cs typeface="Arial"/>
              </a:rPr>
              <a:t>about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treats  </a:t>
            </a:r>
            <a:r>
              <a:rPr dirty="0" sz="1150" spc="-55">
                <a:latin typeface="Arial"/>
                <a:cs typeface="Arial"/>
              </a:rPr>
              <a:t>employees.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90" b="1">
                <a:latin typeface="Arial"/>
                <a:cs typeface="Arial"/>
              </a:rPr>
              <a:t>Human </a:t>
            </a:r>
            <a:r>
              <a:rPr dirty="0" sz="1150" spc="-120" b="1">
                <a:latin typeface="Arial"/>
                <a:cs typeface="Arial"/>
              </a:rPr>
              <a:t>Resources </a:t>
            </a:r>
            <a:r>
              <a:rPr dirty="0" sz="1150" spc="-50" b="1">
                <a:latin typeface="Arial"/>
                <a:cs typeface="Arial"/>
              </a:rPr>
              <a:t>Model: </a:t>
            </a:r>
            <a:r>
              <a:rPr dirty="0" sz="1150" spc="-85" b="1">
                <a:latin typeface="Arial"/>
                <a:cs typeface="Arial"/>
              </a:rPr>
              <a:t>Theories </a:t>
            </a:r>
            <a:r>
              <a:rPr dirty="0" sz="1150" spc="-135" b="1">
                <a:latin typeface="Arial"/>
                <a:cs typeface="Arial"/>
              </a:rPr>
              <a:t>X</a:t>
            </a:r>
            <a:r>
              <a:rPr dirty="0" sz="1150" spc="4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and </a:t>
            </a:r>
            <a:r>
              <a:rPr dirty="0" sz="1150" spc="-95" b="1">
                <a:latin typeface="Arial"/>
                <a:cs typeface="Arial"/>
              </a:rPr>
              <a:t>Y</a:t>
            </a:r>
            <a:r>
              <a:rPr dirty="0" sz="1150" spc="-95">
                <a:latin typeface="Arial"/>
                <a:cs typeface="Arial"/>
              </a:rPr>
              <a:t>—Douglas </a:t>
            </a:r>
            <a:r>
              <a:rPr dirty="0" sz="1150" spc="-50">
                <a:latin typeface="Arial"/>
                <a:cs typeface="Arial"/>
              </a:rPr>
              <a:t>McGregor’s </a:t>
            </a:r>
            <a:r>
              <a:rPr dirty="0" sz="1150" spc="-20">
                <a:latin typeface="Arial"/>
                <a:cs typeface="Arial"/>
              </a:rPr>
              <a:t>theory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motivation  </a:t>
            </a:r>
            <a:r>
              <a:rPr dirty="0" sz="1150" spc="-65">
                <a:latin typeface="Arial"/>
                <a:cs typeface="Arial"/>
              </a:rPr>
              <a:t>suggesting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40">
                <a:latin typeface="Arial"/>
                <a:cs typeface="Arial"/>
              </a:rPr>
              <a:t>radically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40">
                <a:latin typeface="Arial"/>
                <a:cs typeface="Arial"/>
              </a:rPr>
              <a:t>beliefs </a:t>
            </a:r>
            <a:r>
              <a:rPr dirty="0" sz="1150" spc="-30">
                <a:latin typeface="Arial"/>
                <a:cs typeface="Arial"/>
              </a:rPr>
              <a:t>about how </a:t>
            </a:r>
            <a:r>
              <a:rPr dirty="0" sz="1150" spc="-45">
                <a:latin typeface="Arial"/>
                <a:cs typeface="Arial"/>
              </a:rPr>
              <a:t>best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human 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 spc="-45">
                <a:latin typeface="Arial"/>
                <a:cs typeface="Arial"/>
              </a:rPr>
              <a:t>employed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">
                <a:latin typeface="Arial"/>
                <a:cs typeface="Arial"/>
              </a:rPr>
              <a:t>firm.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 indent="-635">
              <a:lnSpc>
                <a:spcPct val="101699"/>
              </a:lnSpc>
            </a:pPr>
            <a:r>
              <a:rPr dirty="0" sz="1150" spc="-85" b="1">
                <a:latin typeface="Arial"/>
                <a:cs typeface="Arial"/>
              </a:rPr>
              <a:t>Theory </a:t>
            </a:r>
            <a:r>
              <a:rPr dirty="0" sz="1150" spc="-50" b="1">
                <a:latin typeface="Arial"/>
                <a:cs typeface="Arial"/>
              </a:rPr>
              <a:t>X</a:t>
            </a:r>
            <a:r>
              <a:rPr dirty="0" sz="1150" spc="-50">
                <a:latin typeface="Arial"/>
                <a:cs typeface="Arial"/>
              </a:rPr>
              <a:t>—theory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motivation </a:t>
            </a:r>
            <a:r>
              <a:rPr dirty="0" sz="1150" spc="-35">
                <a:latin typeface="Arial"/>
                <a:cs typeface="Arial"/>
              </a:rPr>
              <a:t>holding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5">
                <a:latin typeface="Arial"/>
                <a:cs typeface="Arial"/>
              </a:rPr>
              <a:t>people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naturally </a:t>
            </a:r>
            <a:r>
              <a:rPr dirty="0" sz="1150" spc="-40">
                <a:latin typeface="Arial"/>
                <a:cs typeface="Arial"/>
              </a:rPr>
              <a:t>irresponsible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40">
                <a:latin typeface="Arial"/>
                <a:cs typeface="Arial"/>
              </a:rPr>
              <a:t>uncooperative.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 indent="-635">
              <a:lnSpc>
                <a:spcPct val="101699"/>
              </a:lnSpc>
            </a:pPr>
            <a:r>
              <a:rPr dirty="0" sz="1150" spc="-85" b="1">
                <a:latin typeface="Arial"/>
                <a:cs typeface="Arial"/>
              </a:rPr>
              <a:t>Theory </a:t>
            </a:r>
            <a:r>
              <a:rPr dirty="0" sz="1150" spc="-55" b="1">
                <a:latin typeface="Arial"/>
                <a:cs typeface="Arial"/>
              </a:rPr>
              <a:t>Y</a:t>
            </a:r>
            <a:r>
              <a:rPr dirty="0" sz="1150" spc="-55">
                <a:latin typeface="Arial"/>
                <a:cs typeface="Arial"/>
              </a:rPr>
              <a:t>—theory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motivation </a:t>
            </a:r>
            <a:r>
              <a:rPr dirty="0" sz="1150" spc="-35">
                <a:latin typeface="Arial"/>
                <a:cs typeface="Arial"/>
              </a:rPr>
              <a:t>holding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0">
                <a:latin typeface="Arial"/>
                <a:cs typeface="Arial"/>
              </a:rPr>
              <a:t>people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naturally </a:t>
            </a:r>
            <a:r>
              <a:rPr dirty="0" sz="1150" spc="-45">
                <a:latin typeface="Arial"/>
                <a:cs typeface="Arial"/>
              </a:rPr>
              <a:t>responsible, </a:t>
            </a:r>
            <a:r>
              <a:rPr dirty="0" sz="1150" spc="-20">
                <a:latin typeface="Arial"/>
                <a:cs typeface="Arial"/>
              </a:rPr>
              <a:t>growth  </a:t>
            </a:r>
            <a:r>
              <a:rPr dirty="0" sz="1150" spc="-25">
                <a:latin typeface="Arial"/>
                <a:cs typeface="Arial"/>
              </a:rPr>
              <a:t>oriented, </a:t>
            </a:r>
            <a:r>
              <a:rPr dirty="0" sz="1150" spc="-30">
                <a:latin typeface="Arial"/>
                <a:cs typeface="Arial"/>
              </a:rPr>
              <a:t>self-motivated,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interested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being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productive.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350" spc="-100" b="1">
                <a:latin typeface="Arial"/>
                <a:cs typeface="Arial"/>
              </a:rPr>
              <a:t>McGregor </a:t>
            </a:r>
            <a:r>
              <a:rPr dirty="0" sz="1350" spc="-95" b="1">
                <a:latin typeface="Arial"/>
                <a:cs typeface="Arial"/>
              </a:rPr>
              <a:t>Theory- </a:t>
            </a:r>
            <a:r>
              <a:rPr dirty="0" sz="1350" spc="-155" b="1">
                <a:latin typeface="Arial"/>
                <a:cs typeface="Arial"/>
              </a:rPr>
              <a:t>X </a:t>
            </a:r>
            <a:r>
              <a:rPr dirty="0" sz="1350" spc="-25" b="1">
                <a:latin typeface="Arial"/>
                <a:cs typeface="Arial"/>
              </a:rPr>
              <a:t>&amp;</a:t>
            </a:r>
            <a:r>
              <a:rPr dirty="0" sz="1350" spc="-175" b="1">
                <a:latin typeface="Arial"/>
                <a:cs typeface="Arial"/>
              </a:rPr>
              <a:t> </a:t>
            </a:r>
            <a:r>
              <a:rPr dirty="0" sz="1350" spc="-200" b="1">
                <a:latin typeface="Arial"/>
                <a:cs typeface="Arial"/>
              </a:rPr>
              <a:t>Y</a:t>
            </a:r>
            <a:endParaRPr sz="13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715"/>
              </a:spcBef>
            </a:pPr>
            <a:r>
              <a:rPr dirty="0" sz="1150" spc="-90">
                <a:latin typeface="Arial"/>
                <a:cs typeface="Arial"/>
              </a:rPr>
              <a:t>X-Type </a:t>
            </a:r>
            <a:r>
              <a:rPr dirty="0" sz="1150" spc="-70">
                <a:latin typeface="Arial"/>
                <a:cs typeface="Arial"/>
              </a:rPr>
              <a:t>managers</a:t>
            </a:r>
            <a:r>
              <a:rPr dirty="0" sz="1150" spc="-1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might:</a:t>
            </a:r>
            <a:endParaRPr sz="1150">
              <a:latin typeface="Arial"/>
              <a:cs typeface="Arial"/>
            </a:endParaRPr>
          </a:p>
          <a:p>
            <a:pPr algn="just" marL="12700" marR="6350">
              <a:lnSpc>
                <a:spcPct val="100899"/>
              </a:lnSpc>
              <a:spcBef>
                <a:spcPts val="670"/>
              </a:spcBef>
            </a:pPr>
            <a:r>
              <a:rPr dirty="0" sz="1150" spc="-95">
                <a:latin typeface="Arial"/>
                <a:cs typeface="Arial"/>
              </a:rPr>
              <a:t>Use </a:t>
            </a:r>
            <a:r>
              <a:rPr dirty="0" sz="1150" spc="-40">
                <a:latin typeface="Arial"/>
                <a:cs typeface="Arial"/>
              </a:rPr>
              <a:t>punishment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0">
                <a:latin typeface="Arial"/>
                <a:cs typeface="Arial"/>
              </a:rPr>
              <a:t>threat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make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25">
                <a:latin typeface="Arial"/>
                <a:cs typeface="Arial"/>
              </a:rPr>
              <a:t>work.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15">
                <a:latin typeface="Arial"/>
                <a:cs typeface="Arial"/>
              </a:rPr>
              <a:t>control </a:t>
            </a:r>
            <a:r>
              <a:rPr dirty="0" sz="1150" spc="-35">
                <a:latin typeface="Arial"/>
                <a:cs typeface="Arial"/>
              </a:rPr>
              <a:t>activities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work  </a:t>
            </a:r>
            <a:r>
              <a:rPr dirty="0" sz="1150" spc="-45">
                <a:latin typeface="Arial"/>
                <a:cs typeface="Arial"/>
              </a:rPr>
              <a:t>very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closely.</a:t>
            </a:r>
            <a:endParaRPr sz="115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  <a:spcBef>
                <a:spcPts val="695"/>
              </a:spcBef>
            </a:pPr>
            <a:r>
              <a:rPr dirty="0" sz="1150" spc="-95">
                <a:latin typeface="Arial"/>
                <a:cs typeface="Arial"/>
              </a:rPr>
              <a:t>Y-Type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15">
                <a:latin typeface="Arial"/>
                <a:cs typeface="Arial"/>
              </a:rPr>
              <a:t>identify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barriers which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70">
                <a:latin typeface="Arial"/>
                <a:cs typeface="Arial"/>
              </a:rPr>
              <a:t>causing </a:t>
            </a:r>
            <a:r>
              <a:rPr dirty="0" sz="1150" spc="-45">
                <a:latin typeface="Arial"/>
                <a:cs typeface="Arial"/>
              </a:rPr>
              <a:t>problems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0">
                <a:latin typeface="Arial"/>
                <a:cs typeface="Arial"/>
              </a:rPr>
              <a:t>workers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5">
                <a:latin typeface="Arial"/>
                <a:cs typeface="Arial"/>
              </a:rPr>
              <a:t>try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30">
                <a:latin typeface="Arial"/>
                <a:cs typeface="Arial"/>
              </a:rPr>
              <a:t>eliminate </a:t>
            </a:r>
            <a:r>
              <a:rPr dirty="0" sz="1150" spc="-45">
                <a:latin typeface="Arial"/>
                <a:cs typeface="Arial"/>
              </a:rPr>
              <a:t>those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barriers.</a:t>
            </a:r>
            <a:endParaRPr sz="115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  <a:spcBef>
                <a:spcPts val="700"/>
              </a:spcBef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35">
                <a:latin typeface="Arial"/>
                <a:cs typeface="Arial"/>
              </a:rPr>
              <a:t>situations,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adopt </a:t>
            </a:r>
            <a:r>
              <a:rPr dirty="0" sz="1150" spc="-55">
                <a:latin typeface="Arial"/>
                <a:cs typeface="Arial"/>
              </a:rPr>
              <a:t>X-type </a:t>
            </a:r>
            <a:r>
              <a:rPr dirty="0" sz="1150" spc="-40">
                <a:latin typeface="Arial"/>
                <a:cs typeface="Arial"/>
              </a:rPr>
              <a:t>behavior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75">
                <a:latin typeface="Arial"/>
                <a:cs typeface="Arial"/>
              </a:rPr>
              <a:t>some </a:t>
            </a:r>
            <a:r>
              <a:rPr dirty="0" sz="1150" spc="-35">
                <a:latin typeface="Arial"/>
                <a:cs typeface="Arial"/>
              </a:rPr>
              <a:t>situations, </a:t>
            </a:r>
            <a:r>
              <a:rPr dirty="0" sz="1150" spc="-30">
                <a:latin typeface="Arial"/>
                <a:cs typeface="Arial"/>
              </a:rPr>
              <a:t>they 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adopt </a:t>
            </a:r>
            <a:r>
              <a:rPr dirty="0" sz="1150" spc="-60">
                <a:latin typeface="Arial"/>
                <a:cs typeface="Arial"/>
              </a:rPr>
              <a:t>Y-type </a:t>
            </a:r>
            <a:r>
              <a:rPr dirty="0" sz="1150" spc="-40">
                <a:latin typeface="Arial"/>
                <a:cs typeface="Arial"/>
              </a:rPr>
              <a:t>behavior. Culturally,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societies,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moving </a:t>
            </a:r>
            <a:r>
              <a:rPr dirty="0" sz="1150" spc="-35">
                <a:latin typeface="Arial"/>
                <a:cs typeface="Arial"/>
              </a:rPr>
              <a:t>towards </a:t>
            </a:r>
            <a:r>
              <a:rPr dirty="0" sz="1150" spc="-60">
                <a:latin typeface="Arial"/>
                <a:cs typeface="Arial"/>
              </a:rPr>
              <a:t>Y-type  </a:t>
            </a:r>
            <a:r>
              <a:rPr dirty="0" sz="1150" spc="-40">
                <a:latin typeface="Arial"/>
                <a:cs typeface="Arial"/>
              </a:rPr>
              <a:t>behavior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55">
                <a:latin typeface="Arial"/>
                <a:cs typeface="Arial"/>
              </a:rPr>
              <a:t>X-type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behavior.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70" b="1">
                <a:latin typeface="Arial"/>
                <a:cs typeface="Arial"/>
              </a:rPr>
              <a:t>Maslow's </a:t>
            </a:r>
            <a:r>
              <a:rPr dirty="0" sz="1150" spc="-80" b="1">
                <a:latin typeface="Arial"/>
                <a:cs typeface="Arial"/>
              </a:rPr>
              <a:t>Hierarchy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95" b="1">
                <a:latin typeface="Arial"/>
                <a:cs typeface="Arial"/>
              </a:rPr>
              <a:t>Needs </a:t>
            </a:r>
            <a:r>
              <a:rPr dirty="0" sz="1150" spc="-60" b="1">
                <a:latin typeface="Arial"/>
                <a:cs typeface="Arial"/>
              </a:rPr>
              <a:t>Model</a:t>
            </a:r>
            <a:r>
              <a:rPr dirty="0" sz="1150" spc="-60">
                <a:latin typeface="Arial"/>
                <a:cs typeface="Arial"/>
              </a:rPr>
              <a:t>—Psychologist </a:t>
            </a:r>
            <a:r>
              <a:rPr dirty="0" sz="1150" spc="-55">
                <a:latin typeface="Arial"/>
                <a:cs typeface="Arial"/>
              </a:rPr>
              <a:t>Abraham </a:t>
            </a:r>
            <a:r>
              <a:rPr dirty="0" sz="1150" spc="-45">
                <a:latin typeface="Arial"/>
                <a:cs typeface="Arial"/>
              </a:rPr>
              <a:t>Maslow’s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theory 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15">
                <a:latin typeface="Arial"/>
                <a:cs typeface="Arial"/>
              </a:rPr>
              <a:t>motivation </a:t>
            </a:r>
            <a:r>
              <a:rPr dirty="0" sz="1150" spc="-45">
                <a:latin typeface="Arial"/>
                <a:cs typeface="Arial"/>
              </a:rPr>
              <a:t>proposing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55">
                <a:latin typeface="Arial"/>
                <a:cs typeface="Arial"/>
              </a:rPr>
              <a:t>several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10">
                <a:latin typeface="Arial"/>
                <a:cs typeface="Arial"/>
              </a:rPr>
              <a:t>attempt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satisfy 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work.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hierarchical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importance; lower-level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15">
                <a:latin typeface="Arial"/>
                <a:cs typeface="Arial"/>
              </a:rPr>
              <a:t>met </a:t>
            </a:r>
            <a:r>
              <a:rPr dirty="0" sz="1150" spc="-30">
                <a:latin typeface="Arial"/>
                <a:cs typeface="Arial"/>
              </a:rPr>
              <a:t>before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person 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5">
                <a:latin typeface="Arial"/>
                <a:cs typeface="Arial"/>
              </a:rPr>
              <a:t>try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satisfy </a:t>
            </a:r>
            <a:r>
              <a:rPr dirty="0" sz="1150" spc="-40">
                <a:latin typeface="Arial"/>
                <a:cs typeface="Arial"/>
              </a:rPr>
              <a:t>higher-level </a:t>
            </a:r>
            <a:r>
              <a:rPr dirty="0" sz="1150" spc="-65">
                <a:latin typeface="Arial"/>
                <a:cs typeface="Arial"/>
              </a:rPr>
              <a:t>needs. </a:t>
            </a:r>
            <a:r>
              <a:rPr dirty="0" sz="1150" spc="-85">
                <a:latin typeface="Arial"/>
                <a:cs typeface="Arial"/>
              </a:rPr>
              <a:t>Once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set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5">
                <a:latin typeface="Arial"/>
                <a:cs typeface="Arial"/>
              </a:rPr>
              <a:t>been </a:t>
            </a:r>
            <a:r>
              <a:rPr dirty="0" sz="1150" spc="-40">
                <a:latin typeface="Arial"/>
                <a:cs typeface="Arial"/>
              </a:rPr>
              <a:t>satisfied,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95">
                <a:latin typeface="Arial"/>
                <a:cs typeface="Arial"/>
              </a:rPr>
              <a:t>ceases </a:t>
            </a:r>
            <a:r>
              <a:rPr dirty="0" sz="1150" spc="5">
                <a:latin typeface="Arial"/>
                <a:cs typeface="Arial"/>
              </a:rPr>
              <a:t>to  </a:t>
            </a:r>
            <a:r>
              <a:rPr dirty="0" sz="1150" spc="-20">
                <a:latin typeface="Arial"/>
                <a:cs typeface="Arial"/>
              </a:rPr>
              <a:t>motivate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behavior.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013960" cy="813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85" b="1">
                <a:latin typeface="Arial"/>
                <a:cs typeface="Arial"/>
              </a:rPr>
              <a:t>Maslow’s </a:t>
            </a:r>
            <a:r>
              <a:rPr dirty="0" sz="1350" spc="-95" b="1">
                <a:latin typeface="Arial"/>
                <a:cs typeface="Arial"/>
              </a:rPr>
              <a:t>Hierarchy </a:t>
            </a:r>
            <a:r>
              <a:rPr dirty="0" sz="1350" spc="-65" b="1">
                <a:latin typeface="Arial"/>
                <a:cs typeface="Arial"/>
              </a:rPr>
              <a:t>of</a:t>
            </a:r>
            <a:r>
              <a:rPr dirty="0" sz="1350" spc="-45" b="1">
                <a:latin typeface="Arial"/>
                <a:cs typeface="Arial"/>
              </a:rPr>
              <a:t> </a:t>
            </a:r>
            <a:r>
              <a:rPr dirty="0" sz="1350" spc="-110" b="1">
                <a:latin typeface="Arial"/>
                <a:cs typeface="Arial"/>
              </a:rPr>
              <a:t>Needs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150" spc="-95" b="1">
                <a:latin typeface="Arial"/>
                <a:cs typeface="Arial"/>
              </a:rPr>
              <a:t>Biological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Needs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150" spc="-50">
                <a:latin typeface="Arial"/>
                <a:cs typeface="Arial"/>
              </a:rPr>
              <a:t>Biological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related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human </a:t>
            </a:r>
            <a:r>
              <a:rPr dirty="0" sz="1150" spc="-45">
                <a:latin typeface="Arial"/>
                <a:cs typeface="Arial"/>
              </a:rPr>
              <a:t>body’s survival. </a:t>
            </a:r>
            <a:r>
              <a:rPr dirty="0" sz="1150" spc="-60">
                <a:latin typeface="Arial"/>
                <a:cs typeface="Arial"/>
              </a:rPr>
              <a:t>e.g. </a:t>
            </a:r>
            <a:r>
              <a:rPr dirty="0" sz="1150" spc="-25">
                <a:latin typeface="Arial"/>
                <a:cs typeface="Arial"/>
              </a:rPr>
              <a:t>food, drink, </a:t>
            </a:r>
            <a:r>
              <a:rPr dirty="0" sz="1150" spc="-30">
                <a:latin typeface="Arial"/>
                <a:cs typeface="Arial"/>
              </a:rPr>
              <a:t>air,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sleep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150" spc="-80" b="1">
                <a:latin typeface="Arial"/>
                <a:cs typeface="Arial"/>
              </a:rPr>
              <a:t>Safety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Needs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150" spc="-65">
                <a:latin typeface="Arial"/>
                <a:cs typeface="Arial"/>
              </a:rPr>
              <a:t>Safety </a:t>
            </a:r>
            <a:r>
              <a:rPr dirty="0" sz="1150" spc="-10">
                <a:latin typeface="Arial"/>
                <a:cs typeface="Arial"/>
              </a:rPr>
              <a:t>from: </a:t>
            </a:r>
            <a:r>
              <a:rPr dirty="0" sz="1150" spc="-65">
                <a:latin typeface="Arial"/>
                <a:cs typeface="Arial"/>
              </a:rPr>
              <a:t>Cold, </a:t>
            </a:r>
            <a:r>
              <a:rPr dirty="0" sz="1150" spc="-50">
                <a:latin typeface="Arial"/>
                <a:cs typeface="Arial"/>
              </a:rPr>
              <a:t>Heat, </a:t>
            </a:r>
            <a:r>
              <a:rPr dirty="0" sz="1150" spc="-95">
                <a:latin typeface="Arial"/>
                <a:cs typeface="Arial"/>
              </a:rPr>
              <a:t>Sand, </a:t>
            </a:r>
            <a:r>
              <a:rPr dirty="0" sz="1150" spc="-45">
                <a:latin typeface="Arial"/>
                <a:cs typeface="Arial"/>
              </a:rPr>
              <a:t>Storm, </a:t>
            </a:r>
            <a:r>
              <a:rPr dirty="0" sz="1150" spc="-55">
                <a:latin typeface="Arial"/>
                <a:cs typeface="Arial"/>
              </a:rPr>
              <a:t>Earthquake, Animals,</a:t>
            </a:r>
            <a:r>
              <a:rPr dirty="0" sz="1150" spc="-80">
                <a:latin typeface="Arial"/>
                <a:cs typeface="Arial"/>
              </a:rPr>
              <a:t> Enemies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10" b="1">
                <a:latin typeface="Arial"/>
                <a:cs typeface="Arial"/>
              </a:rPr>
              <a:t>Use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80" b="1">
                <a:latin typeface="Arial"/>
                <a:cs typeface="Arial"/>
              </a:rPr>
              <a:t>Hierarchy </a:t>
            </a:r>
            <a:r>
              <a:rPr dirty="0" sz="1150" spc="-70" b="1">
                <a:latin typeface="Arial"/>
                <a:cs typeface="Arial"/>
              </a:rPr>
              <a:t>in</a:t>
            </a:r>
            <a:r>
              <a:rPr dirty="0" sz="1150" spc="-5" b="1">
                <a:latin typeface="Arial"/>
                <a:cs typeface="Arial"/>
              </a:rPr>
              <a:t> </a:t>
            </a:r>
            <a:r>
              <a:rPr dirty="0" sz="1150" spc="-45" b="1">
                <a:latin typeface="Arial"/>
                <a:cs typeface="Arial"/>
              </a:rPr>
              <a:t>Motivation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150" spc="-50">
                <a:latin typeface="Arial"/>
                <a:cs typeface="Arial"/>
              </a:rPr>
              <a:t>Biological </a:t>
            </a:r>
            <a:r>
              <a:rPr dirty="0" sz="1150" spc="-70">
                <a:latin typeface="Arial"/>
                <a:cs typeface="Arial"/>
              </a:rPr>
              <a:t>needs 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15">
                <a:latin typeface="Arial"/>
                <a:cs typeface="Arial"/>
              </a:rPr>
              <a:t>fulfilled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by: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58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60">
                <a:latin typeface="Arial"/>
                <a:cs typeface="Arial"/>
              </a:rPr>
              <a:t>Giving </a:t>
            </a:r>
            <a:r>
              <a:rPr dirty="0" sz="1150" spc="-55">
                <a:latin typeface="Arial"/>
                <a:cs typeface="Arial"/>
              </a:rPr>
              <a:t>salaries.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590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50">
                <a:latin typeface="Arial"/>
                <a:cs typeface="Arial"/>
              </a:rPr>
              <a:t>Providing </a:t>
            </a:r>
            <a:r>
              <a:rPr dirty="0" sz="1150" spc="-25">
                <a:latin typeface="Arial"/>
                <a:cs typeface="Arial"/>
              </a:rPr>
              <a:t>free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5">
                <a:latin typeface="Arial"/>
                <a:cs typeface="Arial"/>
              </a:rPr>
              <a:t>cheaper </a:t>
            </a:r>
            <a:r>
              <a:rPr dirty="0" sz="1150" spc="-20">
                <a:latin typeface="Arial"/>
                <a:cs typeface="Arial"/>
              </a:rPr>
              <a:t>food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employees.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600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50">
                <a:latin typeface="Arial"/>
                <a:cs typeface="Arial"/>
              </a:rPr>
              <a:t>Providing </a:t>
            </a:r>
            <a:r>
              <a:rPr dirty="0" sz="1150" spc="-15">
                <a:latin typeface="Arial"/>
                <a:cs typeface="Arial"/>
              </a:rPr>
              <a:t>routine </a:t>
            </a:r>
            <a:r>
              <a:rPr dirty="0" sz="1150" spc="-35">
                <a:latin typeface="Arial"/>
                <a:cs typeface="Arial"/>
              </a:rPr>
              <a:t>items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60">
                <a:latin typeface="Arial"/>
                <a:cs typeface="Arial"/>
              </a:rPr>
              <a:t>concessional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prices.</a:t>
            </a:r>
            <a:endParaRPr sz="1150">
              <a:latin typeface="Arial"/>
              <a:cs typeface="Arial"/>
            </a:endParaRPr>
          </a:p>
          <a:p>
            <a:pPr marL="12065">
              <a:lnSpc>
                <a:spcPct val="100000"/>
              </a:lnSpc>
              <a:spcBef>
                <a:spcPts val="585"/>
              </a:spcBef>
            </a:pPr>
            <a:r>
              <a:rPr dirty="0" sz="1150" spc="-80" b="1">
                <a:latin typeface="Arial"/>
                <a:cs typeface="Arial"/>
              </a:rPr>
              <a:t>Safety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Needs</a:t>
            </a:r>
            <a:endParaRPr sz="1150">
              <a:latin typeface="Arial"/>
              <a:cs typeface="Arial"/>
            </a:endParaRPr>
          </a:p>
          <a:p>
            <a:pPr marL="45720">
              <a:lnSpc>
                <a:spcPct val="100000"/>
              </a:lnSpc>
              <a:spcBef>
                <a:spcPts val="580"/>
              </a:spcBef>
            </a:pPr>
            <a:r>
              <a:rPr dirty="0" sz="1150" spc="-50">
                <a:latin typeface="Arial"/>
                <a:cs typeface="Arial"/>
              </a:rPr>
              <a:t>Organization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35">
                <a:latin typeface="Arial"/>
                <a:cs typeface="Arial"/>
              </a:rPr>
              <a:t>provide </a:t>
            </a:r>
            <a:r>
              <a:rPr dirty="0" sz="1150" spc="-45">
                <a:latin typeface="Arial"/>
                <a:cs typeface="Arial"/>
              </a:rPr>
              <a:t>safety </a:t>
            </a:r>
            <a:r>
              <a:rPr dirty="0" sz="1150" spc="-65">
                <a:latin typeface="Arial"/>
                <a:cs typeface="Arial"/>
              </a:rPr>
              <a:t>devices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employees. </a:t>
            </a:r>
            <a:r>
              <a:rPr dirty="0" sz="1150" spc="-65">
                <a:latin typeface="Arial"/>
                <a:cs typeface="Arial"/>
              </a:rPr>
              <a:t>For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instance: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58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40">
                <a:latin typeface="Arial"/>
                <a:cs typeface="Arial"/>
              </a:rPr>
              <a:t>Helmet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590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100">
                <a:latin typeface="Arial"/>
                <a:cs typeface="Arial"/>
              </a:rPr>
              <a:t>Glasses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600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80">
                <a:latin typeface="Arial"/>
                <a:cs typeface="Arial"/>
              </a:rPr>
              <a:t>Gloves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600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75">
                <a:latin typeface="Arial"/>
                <a:cs typeface="Arial"/>
              </a:rPr>
              <a:t>Special </a:t>
            </a:r>
            <a:r>
              <a:rPr dirty="0" sz="1150" spc="-50">
                <a:latin typeface="Arial"/>
                <a:cs typeface="Arial"/>
              </a:rPr>
              <a:t>purpose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shoes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62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35">
                <a:latin typeface="Arial"/>
                <a:cs typeface="Arial"/>
              </a:rPr>
              <a:t>Medical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Facilities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63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85">
                <a:latin typeface="Arial"/>
                <a:cs typeface="Arial"/>
              </a:rPr>
              <a:t>Houses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63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75">
                <a:latin typeface="Arial"/>
                <a:cs typeface="Arial"/>
              </a:rPr>
              <a:t>House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rent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63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80">
                <a:latin typeface="Arial"/>
                <a:cs typeface="Arial"/>
              </a:rPr>
              <a:t>Pick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25">
                <a:latin typeface="Arial"/>
                <a:cs typeface="Arial"/>
              </a:rPr>
              <a:t>drop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service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63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60">
                <a:latin typeface="Arial"/>
                <a:cs typeface="Arial"/>
              </a:rPr>
              <a:t>Insurance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640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70">
                <a:latin typeface="Arial"/>
                <a:cs typeface="Arial"/>
              </a:rPr>
              <a:t>Pension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plans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63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50">
                <a:latin typeface="Arial"/>
                <a:cs typeface="Arial"/>
              </a:rPr>
              <a:t>Preventing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10">
                <a:latin typeface="Arial"/>
                <a:cs typeface="Arial"/>
              </a:rPr>
              <a:t>from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accidents</a:t>
            </a:r>
            <a:endParaRPr sz="1150">
              <a:latin typeface="Arial"/>
              <a:cs typeface="Arial"/>
            </a:endParaRPr>
          </a:p>
          <a:p>
            <a:pPr marL="12065">
              <a:lnSpc>
                <a:spcPct val="100000"/>
              </a:lnSpc>
              <a:spcBef>
                <a:spcPts val="720"/>
              </a:spcBef>
            </a:pPr>
            <a:r>
              <a:rPr dirty="0" sz="1150" spc="-105" b="1">
                <a:latin typeface="Arial"/>
                <a:cs typeface="Arial"/>
              </a:rPr>
              <a:t>Social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Needs</a:t>
            </a:r>
            <a:endParaRPr sz="1150">
              <a:latin typeface="Arial"/>
              <a:cs typeface="Arial"/>
            </a:endParaRPr>
          </a:p>
          <a:p>
            <a:pPr marL="469265" marR="1048385">
              <a:lnSpc>
                <a:spcPct val="148700"/>
              </a:lnSpc>
              <a:spcBef>
                <a:spcPts val="10"/>
              </a:spcBef>
            </a:pPr>
            <a:r>
              <a:rPr dirty="0" sz="1150" spc="-55">
                <a:latin typeface="Arial"/>
                <a:cs typeface="Arial"/>
              </a:rPr>
              <a:t>Organizations </a:t>
            </a:r>
            <a:r>
              <a:rPr dirty="0" sz="1150" spc="-60">
                <a:latin typeface="Arial"/>
                <a:cs typeface="Arial"/>
              </a:rPr>
              <a:t>encourage </a:t>
            </a:r>
            <a:r>
              <a:rPr dirty="0" sz="1150" spc="-20">
                <a:latin typeface="Arial"/>
                <a:cs typeface="Arial"/>
              </a:rPr>
              <a:t>informal </a:t>
            </a:r>
            <a:r>
              <a:rPr dirty="0" sz="1150" spc="-40">
                <a:latin typeface="Arial"/>
                <a:cs typeface="Arial"/>
              </a:rPr>
              <a:t>organizational </a:t>
            </a:r>
            <a:r>
              <a:rPr dirty="0" sz="1150" spc="-30">
                <a:latin typeface="Arial"/>
                <a:cs typeface="Arial"/>
              </a:rPr>
              <a:t>activities.  </a:t>
            </a:r>
            <a:r>
              <a:rPr dirty="0" sz="1150" spc="-90">
                <a:latin typeface="Arial"/>
                <a:cs typeface="Arial"/>
              </a:rPr>
              <a:t>These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include:</a:t>
            </a:r>
            <a:endParaRPr sz="1150">
              <a:latin typeface="Arial"/>
              <a:cs typeface="Arial"/>
            </a:endParaRPr>
          </a:p>
          <a:p>
            <a:pPr marL="927100" marR="2531745">
              <a:lnSpc>
                <a:spcPts val="1980"/>
              </a:lnSpc>
              <a:spcBef>
                <a:spcPts val="155"/>
              </a:spcBef>
            </a:pPr>
            <a:r>
              <a:rPr dirty="0" sz="1150" spc="-60">
                <a:latin typeface="Arial"/>
                <a:cs typeface="Arial"/>
              </a:rPr>
              <a:t>Combined </a:t>
            </a:r>
            <a:r>
              <a:rPr dirty="0" sz="1150" spc="-40">
                <a:latin typeface="Arial"/>
                <a:cs typeface="Arial"/>
              </a:rPr>
              <a:t>lunch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dinner  </a:t>
            </a:r>
            <a:r>
              <a:rPr dirty="0" sz="1150" spc="-65">
                <a:latin typeface="Arial"/>
                <a:cs typeface="Arial"/>
              </a:rPr>
              <a:t>Sports</a:t>
            </a:r>
            <a:endParaRPr sz="115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dirty="0" sz="1150" spc="-85">
                <a:latin typeface="Arial"/>
                <a:cs typeface="Arial"/>
              </a:rPr>
              <a:t>Fun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fair</a:t>
            </a:r>
            <a:endParaRPr sz="115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dirty="0" sz="1150" spc="-45">
                <a:latin typeface="Arial"/>
                <a:cs typeface="Arial"/>
              </a:rPr>
              <a:t>Musical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Programs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113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30299" y="435359"/>
            <a:ext cx="5512435" cy="661415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61585" algn="l"/>
              </a:tabLst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</a:t>
            </a:r>
            <a:r>
              <a:rPr dirty="0" sz="1050" spc="-110">
                <a:latin typeface="Arial"/>
                <a:cs typeface="Arial"/>
              </a:rPr>
              <a:t> </a:t>
            </a:r>
            <a:r>
              <a:rPr dirty="0" sz="1050" spc="-80">
                <a:latin typeface="Arial"/>
                <a:cs typeface="Arial"/>
              </a:rPr>
              <a:t>–MGT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r>
              <a:rPr dirty="0" sz="1050" spc="-55">
                <a:latin typeface="Times New Roman"/>
                <a:cs typeface="Times New Roman"/>
              </a:rPr>
              <a:t>	</a:t>
            </a:r>
            <a:r>
              <a:rPr dirty="0" sz="1050" spc="-75" b="1">
                <a:latin typeface="Arial"/>
                <a:cs typeface="Arial"/>
              </a:rPr>
              <a:t>VU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90" b="1">
                <a:latin typeface="Arial"/>
                <a:cs typeface="Arial"/>
              </a:rPr>
              <a:t>Self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100" b="1">
                <a:latin typeface="Arial"/>
                <a:cs typeface="Arial"/>
              </a:rPr>
              <a:t>Esteem</a:t>
            </a:r>
            <a:endParaRPr sz="1150">
              <a:latin typeface="Arial"/>
              <a:cs typeface="Arial"/>
            </a:endParaRPr>
          </a:p>
          <a:p>
            <a:pPr marL="12700" marR="3528695">
              <a:lnSpc>
                <a:spcPct val="152200"/>
              </a:lnSpc>
            </a:pPr>
            <a:r>
              <a:rPr dirty="0" sz="1150" spc="15">
                <a:latin typeface="Arial"/>
                <a:cs typeface="Arial"/>
              </a:rPr>
              <a:t>It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>
                <a:latin typeface="Arial"/>
                <a:cs typeface="Arial"/>
              </a:rPr>
              <a:t>worth of </a:t>
            </a:r>
            <a:r>
              <a:rPr dirty="0" sz="1150" spc="-50">
                <a:latin typeface="Arial"/>
                <a:cs typeface="Arial"/>
              </a:rPr>
              <a:t>human </a:t>
            </a:r>
            <a:r>
              <a:rPr dirty="0" sz="1150" spc="-60">
                <a:latin typeface="Arial"/>
                <a:cs typeface="Arial"/>
              </a:rPr>
              <a:t>beings.  </a:t>
            </a:r>
            <a:r>
              <a:rPr dirty="0" sz="1150" spc="-90">
                <a:latin typeface="Arial"/>
                <a:cs typeface="Arial"/>
              </a:rPr>
              <a:t>These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include:</a:t>
            </a:r>
            <a:endParaRPr sz="1150">
              <a:latin typeface="Arial"/>
              <a:cs typeface="Arial"/>
            </a:endParaRPr>
          </a:p>
          <a:p>
            <a:pPr marL="469265" marR="3505835">
              <a:lnSpc>
                <a:spcPct val="148700"/>
              </a:lnSpc>
              <a:spcBef>
                <a:spcPts val="10"/>
              </a:spcBef>
            </a:pPr>
            <a:r>
              <a:rPr dirty="0" sz="1150" spc="-50">
                <a:latin typeface="Arial"/>
                <a:cs typeface="Arial"/>
              </a:rPr>
              <a:t>Designation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Individuals  </a:t>
            </a:r>
            <a:r>
              <a:rPr dirty="0" sz="1150" spc="-65">
                <a:latin typeface="Arial"/>
                <a:cs typeface="Arial"/>
              </a:rPr>
              <a:t>Status </a:t>
            </a:r>
            <a:r>
              <a:rPr dirty="0" sz="1150" spc="-20">
                <a:latin typeface="Arial"/>
                <a:cs typeface="Arial"/>
              </a:rPr>
              <a:t>in the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</a:t>
            </a:r>
            <a:endParaRPr sz="115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675"/>
              </a:spcBef>
            </a:pPr>
            <a:r>
              <a:rPr dirty="0" sz="1150" spc="-50">
                <a:latin typeface="Arial"/>
                <a:cs typeface="Arial"/>
              </a:rPr>
              <a:t>Recognition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 spc="-20">
                <a:latin typeface="Arial"/>
                <a:cs typeface="Arial"/>
              </a:rPr>
              <a:t>in the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</a:t>
            </a:r>
            <a:endParaRPr sz="1150">
              <a:latin typeface="Arial"/>
              <a:cs typeface="Arial"/>
            </a:endParaRPr>
          </a:p>
          <a:p>
            <a:pPr marL="355600" marR="5080" indent="-342900">
              <a:lnSpc>
                <a:spcPct val="101699"/>
              </a:lnSpc>
              <a:spcBef>
                <a:spcPts val="685"/>
              </a:spcBef>
            </a:pPr>
            <a:r>
              <a:rPr dirty="0" sz="1150" spc="-70">
                <a:latin typeface="Arial"/>
                <a:cs typeface="Arial"/>
              </a:rPr>
              <a:t>Self </a:t>
            </a:r>
            <a:r>
              <a:rPr dirty="0" sz="1150" spc="-55">
                <a:latin typeface="Arial"/>
                <a:cs typeface="Arial"/>
              </a:rPr>
              <a:t>esteem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20">
                <a:latin typeface="Arial"/>
                <a:cs typeface="Arial"/>
              </a:rPr>
              <a:t>direct </a:t>
            </a:r>
            <a:r>
              <a:rPr dirty="0" sz="1150" spc="-30">
                <a:latin typeface="Arial"/>
                <a:cs typeface="Arial"/>
              </a:rPr>
              <a:t>relationship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productivity. </a:t>
            </a:r>
            <a:r>
              <a:rPr dirty="0" sz="1150" spc="-60">
                <a:latin typeface="Arial"/>
                <a:cs typeface="Arial"/>
              </a:rPr>
              <a:t>Various </a:t>
            </a:r>
            <a:r>
              <a:rPr dirty="0" sz="1150" spc="-45">
                <a:latin typeface="Arial"/>
                <a:cs typeface="Arial"/>
              </a:rPr>
              <a:t>techniques </a:t>
            </a:r>
            <a:r>
              <a:rPr dirty="0" sz="1150" spc="-75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5">
                <a:latin typeface="Arial"/>
                <a:cs typeface="Arial"/>
              </a:rPr>
              <a:t>to  </a:t>
            </a:r>
            <a:r>
              <a:rPr dirty="0" sz="1150" spc="-60">
                <a:latin typeface="Arial"/>
                <a:cs typeface="Arial"/>
              </a:rPr>
              <a:t>make </a:t>
            </a:r>
            <a:r>
              <a:rPr dirty="0" sz="1150" spc="-40">
                <a:latin typeface="Arial"/>
                <a:cs typeface="Arial"/>
              </a:rPr>
              <a:t>self </a:t>
            </a:r>
            <a:r>
              <a:rPr dirty="0" sz="1150" spc="-55">
                <a:latin typeface="Arial"/>
                <a:cs typeface="Arial"/>
              </a:rPr>
              <a:t>esteem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employees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high.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70">
                <a:latin typeface="Arial"/>
                <a:cs typeface="Arial"/>
              </a:rPr>
              <a:t>can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be:</a:t>
            </a:r>
            <a:endParaRPr sz="1150">
              <a:latin typeface="Arial"/>
              <a:cs typeface="Arial"/>
            </a:endParaRPr>
          </a:p>
          <a:p>
            <a:pPr marL="469900" marR="3389629">
              <a:lnSpc>
                <a:spcPct val="138300"/>
              </a:lnSpc>
              <a:spcBef>
                <a:spcPts val="45"/>
              </a:spcBef>
            </a:pPr>
            <a:r>
              <a:rPr dirty="0" sz="1150" spc="-60">
                <a:latin typeface="Arial"/>
                <a:cs typeface="Arial"/>
              </a:rPr>
              <a:t>Finding </a:t>
            </a:r>
            <a:r>
              <a:rPr dirty="0" sz="1150" spc="-15">
                <a:latin typeface="Arial"/>
                <a:cs typeface="Arial"/>
              </a:rPr>
              <a:t>titles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employees  </a:t>
            </a:r>
            <a:r>
              <a:rPr dirty="0" sz="1150" spc="-50">
                <a:latin typeface="Arial"/>
                <a:cs typeface="Arial"/>
              </a:rPr>
              <a:t>Recognition</a:t>
            </a:r>
            <a:endParaRPr sz="115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40"/>
              </a:spcBef>
            </a:pPr>
            <a:r>
              <a:rPr dirty="0" sz="1150" spc="-60">
                <a:latin typeface="Arial"/>
                <a:cs typeface="Arial"/>
              </a:rPr>
              <a:t>Awards</a:t>
            </a:r>
            <a:endParaRPr sz="115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30"/>
              </a:spcBef>
            </a:pPr>
            <a:r>
              <a:rPr dirty="0" sz="1150" spc="-120">
                <a:latin typeface="Arial"/>
                <a:cs typeface="Arial"/>
              </a:rPr>
              <a:t>Cash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rewards</a:t>
            </a:r>
            <a:endParaRPr sz="1150">
              <a:latin typeface="Arial"/>
              <a:cs typeface="Arial"/>
            </a:endParaRPr>
          </a:p>
          <a:p>
            <a:pPr marL="469900" marR="3663950">
              <a:lnSpc>
                <a:spcPct val="138300"/>
              </a:lnSpc>
              <a:spcBef>
                <a:spcPts val="10"/>
              </a:spcBef>
            </a:pPr>
            <a:r>
              <a:rPr dirty="0" sz="1150" spc="-35">
                <a:latin typeface="Arial"/>
                <a:cs typeface="Arial"/>
              </a:rPr>
              <a:t>Increment </a:t>
            </a:r>
            <a:r>
              <a:rPr dirty="0" sz="1150" spc="-20">
                <a:latin typeface="Arial"/>
                <a:cs typeface="Arial"/>
              </a:rPr>
              <a:t>in the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salary  </a:t>
            </a:r>
            <a:r>
              <a:rPr dirty="0" sz="1150" spc="-30">
                <a:latin typeface="Arial"/>
                <a:cs typeface="Arial"/>
              </a:rPr>
              <a:t>Promotion</a:t>
            </a:r>
            <a:endParaRPr sz="115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40"/>
              </a:spcBef>
            </a:pPr>
            <a:r>
              <a:rPr dirty="0" sz="1150" spc="-80">
                <a:latin typeface="Arial"/>
                <a:cs typeface="Arial"/>
              </a:rPr>
              <a:t>Raising </a:t>
            </a:r>
            <a:r>
              <a:rPr dirty="0" sz="1150" spc="-45">
                <a:latin typeface="Arial"/>
                <a:cs typeface="Arial"/>
              </a:rPr>
              <a:t>status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employees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150" spc="-90" b="1">
                <a:latin typeface="Arial"/>
                <a:cs typeface="Arial"/>
              </a:rPr>
              <a:t>Self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Actualization</a:t>
            </a:r>
            <a:endParaRPr sz="1150">
              <a:latin typeface="Arial"/>
              <a:cs typeface="Arial"/>
            </a:endParaRPr>
          </a:p>
          <a:p>
            <a:pPr marL="12700" marR="1988820">
              <a:lnSpc>
                <a:spcPct val="152200"/>
              </a:lnSpc>
            </a:pPr>
            <a:r>
              <a:rPr dirty="0" sz="1150" spc="-70">
                <a:latin typeface="Arial"/>
                <a:cs typeface="Arial"/>
              </a:rPr>
              <a:t>Self </a:t>
            </a:r>
            <a:r>
              <a:rPr dirty="0" sz="1150" spc="-35">
                <a:latin typeface="Arial"/>
                <a:cs typeface="Arial"/>
              </a:rPr>
              <a:t>actualization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fullest utilization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one’s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potential.  </a:t>
            </a:r>
            <a:r>
              <a:rPr dirty="0" sz="1150" spc="-90">
                <a:latin typeface="Arial"/>
                <a:cs typeface="Arial"/>
              </a:rPr>
              <a:t>These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include:</a:t>
            </a:r>
            <a:endParaRPr sz="115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80"/>
              </a:spcBef>
            </a:pPr>
            <a:r>
              <a:rPr dirty="0" sz="1150" spc="-65">
                <a:latin typeface="Arial"/>
                <a:cs typeface="Arial"/>
              </a:rPr>
              <a:t>High </a:t>
            </a:r>
            <a:r>
              <a:rPr dirty="0" sz="1150" spc="-75">
                <a:latin typeface="Arial"/>
                <a:cs typeface="Arial"/>
              </a:rPr>
              <a:t>Challenges</a:t>
            </a:r>
            <a:endParaRPr sz="115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75"/>
              </a:spcBef>
            </a:pPr>
            <a:r>
              <a:rPr dirty="0" sz="1150" spc="-65">
                <a:latin typeface="Arial"/>
                <a:cs typeface="Arial"/>
              </a:rPr>
              <a:t>High </a:t>
            </a:r>
            <a:r>
              <a:rPr dirty="0" sz="1150" spc="-25">
                <a:latin typeface="Arial"/>
                <a:cs typeface="Arial"/>
              </a:rPr>
              <a:t>position </a:t>
            </a:r>
            <a:r>
              <a:rPr dirty="0" sz="1150" spc="-20">
                <a:latin typeface="Arial"/>
                <a:cs typeface="Arial"/>
              </a:rPr>
              <a:t>in the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90" b="1">
                <a:latin typeface="Arial"/>
                <a:cs typeface="Arial"/>
              </a:rPr>
              <a:t>Criticism </a:t>
            </a:r>
            <a:r>
              <a:rPr dirty="0" sz="1150" spc="-85" b="1">
                <a:latin typeface="Arial"/>
                <a:cs typeface="Arial"/>
              </a:rPr>
              <a:t>on </a:t>
            </a:r>
            <a:r>
              <a:rPr dirty="0" sz="1150" spc="-75" b="1">
                <a:latin typeface="Arial"/>
                <a:cs typeface="Arial"/>
              </a:rPr>
              <a:t>Maslow’s </a:t>
            </a:r>
            <a:r>
              <a:rPr dirty="0" sz="1150" spc="-80" b="1">
                <a:latin typeface="Arial"/>
                <a:cs typeface="Arial"/>
              </a:rPr>
              <a:t>hierarchy</a:t>
            </a:r>
            <a:r>
              <a:rPr dirty="0" sz="1150" spc="-45" b="1">
                <a:latin typeface="Arial"/>
                <a:cs typeface="Arial"/>
              </a:rPr>
              <a:t> </a:t>
            </a:r>
            <a:r>
              <a:rPr dirty="0" sz="1150" spc="-60" b="1">
                <a:latin typeface="Arial"/>
                <a:cs typeface="Arial"/>
              </a:rPr>
              <a:t>theory</a:t>
            </a:r>
            <a:endParaRPr sz="11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79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15">
                <a:latin typeface="Arial"/>
                <a:cs typeface="Arial"/>
              </a:rPr>
              <a:t>It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possible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0">
                <a:latin typeface="Arial"/>
                <a:cs typeface="Arial"/>
              </a:rPr>
              <a:t>human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40">
                <a:latin typeface="Arial"/>
                <a:cs typeface="Arial"/>
              </a:rPr>
              <a:t>deviate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-55">
                <a:latin typeface="Arial"/>
                <a:cs typeface="Arial"/>
              </a:rPr>
              <a:t>given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40">
                <a:latin typeface="Arial"/>
                <a:cs typeface="Arial"/>
              </a:rPr>
              <a:t>Maslow.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65">
                <a:latin typeface="Arial"/>
                <a:cs typeface="Arial"/>
              </a:rPr>
              <a:t>There 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question </a:t>
            </a:r>
            <a:r>
              <a:rPr dirty="0" sz="1150" spc="-45">
                <a:latin typeface="Arial"/>
                <a:cs typeface="Arial"/>
              </a:rPr>
              <a:t>mark </a:t>
            </a:r>
            <a:r>
              <a:rPr dirty="0" sz="1150" spc="-25">
                <a:latin typeface="Arial"/>
                <a:cs typeface="Arial"/>
              </a:rPr>
              <a:t>whether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 spc="-30">
                <a:latin typeface="Arial"/>
                <a:cs typeface="Arial"/>
              </a:rPr>
              <a:t>finish </a:t>
            </a: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40">
                <a:latin typeface="Arial"/>
                <a:cs typeface="Arial"/>
              </a:rPr>
              <a:t>self </a:t>
            </a:r>
            <a:r>
              <a:rPr dirty="0" sz="1150" spc="-35">
                <a:latin typeface="Arial"/>
                <a:cs typeface="Arial"/>
              </a:rPr>
              <a:t>actualization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not.</a:t>
            </a:r>
            <a:endParaRPr sz="11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114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954779" y="891035"/>
            <a:ext cx="4686935" cy="83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20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200" b="1">
                <a:latin typeface="Arial"/>
                <a:cs typeface="Arial"/>
              </a:rPr>
              <a:t>TWO-FACTOR </a:t>
            </a:r>
            <a:r>
              <a:rPr dirty="0" sz="1750" spc="-235" b="1">
                <a:latin typeface="Arial"/>
                <a:cs typeface="Arial"/>
              </a:rPr>
              <a:t>THEORY </a:t>
            </a:r>
            <a:r>
              <a:rPr dirty="0" sz="1750" spc="-229" b="1">
                <a:latin typeface="Arial"/>
                <a:cs typeface="Arial"/>
              </a:rPr>
              <a:t>OR </a:t>
            </a:r>
            <a:r>
              <a:rPr dirty="0" sz="1750" spc="-210" b="1">
                <a:latin typeface="Arial"/>
                <a:cs typeface="Arial"/>
              </a:rPr>
              <a:t>HYGIENE</a:t>
            </a:r>
            <a:r>
              <a:rPr dirty="0" sz="1750" spc="-225" b="1">
                <a:latin typeface="Arial"/>
                <a:cs typeface="Arial"/>
              </a:rPr>
              <a:t> </a:t>
            </a:r>
            <a:r>
              <a:rPr dirty="0" sz="1750" spc="-235" b="1">
                <a:latin typeface="Arial"/>
                <a:cs typeface="Arial"/>
              </a:rPr>
              <a:t>THEORY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115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220" y="2040130"/>
            <a:ext cx="5514975" cy="70288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7620">
              <a:lnSpc>
                <a:spcPct val="101699"/>
              </a:lnSpc>
              <a:spcBef>
                <a:spcPts val="75"/>
              </a:spcBef>
            </a:pPr>
            <a:r>
              <a:rPr dirty="0" sz="1150" spc="-55">
                <a:latin typeface="Arial"/>
                <a:cs typeface="Arial"/>
              </a:rPr>
              <a:t>Frederick </a:t>
            </a:r>
            <a:r>
              <a:rPr dirty="0" sz="1150" spc="-60">
                <a:latin typeface="Arial"/>
                <a:cs typeface="Arial"/>
              </a:rPr>
              <a:t>Herzberg’s </a:t>
            </a:r>
            <a:r>
              <a:rPr dirty="0" sz="1150" spc="-20">
                <a:latin typeface="Arial"/>
                <a:cs typeface="Arial"/>
              </a:rPr>
              <a:t>theory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motivation </a:t>
            </a:r>
            <a:r>
              <a:rPr dirty="0" sz="1150" spc="-35">
                <a:latin typeface="Arial"/>
                <a:cs typeface="Arial"/>
              </a:rPr>
              <a:t>holding </a:t>
            </a:r>
            <a:r>
              <a:rPr dirty="0" sz="1150">
                <a:latin typeface="Arial"/>
                <a:cs typeface="Arial"/>
              </a:rPr>
              <a:t>that </a:t>
            </a:r>
            <a:r>
              <a:rPr dirty="0" sz="1150" spc="-15">
                <a:latin typeface="Arial"/>
                <a:cs typeface="Arial"/>
              </a:rPr>
              <a:t>job </a:t>
            </a:r>
            <a:r>
              <a:rPr dirty="0" sz="1150" spc="-35">
                <a:latin typeface="Arial"/>
                <a:cs typeface="Arial"/>
              </a:rPr>
              <a:t>satisfaction </a:t>
            </a:r>
            <a:r>
              <a:rPr dirty="0" sz="1150" spc="-65">
                <a:latin typeface="Arial"/>
                <a:cs typeface="Arial"/>
              </a:rPr>
              <a:t>depends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>
                <a:latin typeface="Arial"/>
                <a:cs typeface="Arial"/>
              </a:rPr>
              <a:t>two  </a:t>
            </a:r>
            <a:r>
              <a:rPr dirty="0" sz="1150" spc="-50">
                <a:latin typeface="Arial"/>
                <a:cs typeface="Arial"/>
              </a:rPr>
              <a:t>types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factors, </a:t>
            </a:r>
            <a:r>
              <a:rPr dirty="0" sz="1150" spc="-55">
                <a:latin typeface="Arial"/>
                <a:cs typeface="Arial"/>
              </a:rPr>
              <a:t>hygiene </a:t>
            </a:r>
            <a:r>
              <a:rPr dirty="0" sz="1150" spc="-60">
                <a:latin typeface="Arial"/>
                <a:cs typeface="Arial"/>
              </a:rPr>
              <a:t>and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motivation.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9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65">
                <a:latin typeface="Arial"/>
                <a:cs typeface="Arial"/>
              </a:rPr>
              <a:t>Factors </a:t>
            </a:r>
            <a:r>
              <a:rPr dirty="0" sz="1150" spc="-30">
                <a:latin typeface="Arial"/>
                <a:cs typeface="Arial"/>
              </a:rPr>
              <a:t>required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keep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50">
                <a:latin typeface="Arial"/>
                <a:cs typeface="Arial"/>
              </a:rPr>
              <a:t>are called </a:t>
            </a:r>
            <a:r>
              <a:rPr dirty="0" sz="1150" spc="-55">
                <a:latin typeface="Arial"/>
                <a:cs typeface="Arial"/>
              </a:rPr>
              <a:t>hygiene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factors.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65">
                <a:latin typeface="Arial"/>
                <a:cs typeface="Arial"/>
              </a:rPr>
              <a:t>Factors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get </a:t>
            </a:r>
            <a:r>
              <a:rPr dirty="0" sz="1150" spc="-45">
                <a:latin typeface="Arial"/>
                <a:cs typeface="Arial"/>
              </a:rPr>
              <a:t>high </a:t>
            </a:r>
            <a:r>
              <a:rPr dirty="0" sz="1150" spc="-20">
                <a:latin typeface="Arial"/>
                <a:cs typeface="Arial"/>
              </a:rPr>
              <a:t>productivity </a:t>
            </a:r>
            <a:r>
              <a:rPr dirty="0" sz="1150" spc="-10">
                <a:latin typeface="Arial"/>
                <a:cs typeface="Arial"/>
              </a:rPr>
              <a:t>from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workers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25">
                <a:latin typeface="Arial"/>
                <a:cs typeface="Arial"/>
              </a:rPr>
              <a:t>motivators.</a:t>
            </a:r>
            <a:endParaRPr sz="1150">
              <a:latin typeface="Arial"/>
              <a:cs typeface="Arial"/>
            </a:endParaRPr>
          </a:p>
          <a:p>
            <a:pPr algn="just" marL="12700" marR="5080" indent="-635">
              <a:lnSpc>
                <a:spcPct val="101699"/>
              </a:lnSpc>
              <a:spcBef>
                <a:spcPts val="685"/>
              </a:spcBef>
            </a:pPr>
            <a:r>
              <a:rPr dirty="0" sz="1150" spc="-65">
                <a:latin typeface="Arial"/>
                <a:cs typeface="Arial"/>
              </a:rPr>
              <a:t>Hygiene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 spc="-15">
                <a:latin typeface="Arial"/>
                <a:cs typeface="Arial"/>
              </a:rPr>
              <a:t>fall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biological </a:t>
            </a:r>
            <a:r>
              <a:rPr dirty="0" sz="1150" spc="-65">
                <a:latin typeface="Arial"/>
                <a:cs typeface="Arial"/>
              </a:rPr>
              <a:t>needs, </a:t>
            </a:r>
            <a:r>
              <a:rPr dirty="0" sz="1150" spc="-45">
                <a:latin typeface="Arial"/>
                <a:cs typeface="Arial"/>
              </a:rPr>
              <a:t>safety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partially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55">
                <a:latin typeface="Arial"/>
                <a:cs typeface="Arial"/>
              </a:rPr>
              <a:t>social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45">
                <a:latin typeface="Arial"/>
                <a:cs typeface="Arial"/>
              </a:rPr>
              <a:t>Maslow’s </a:t>
            </a:r>
            <a:r>
              <a:rPr dirty="0" sz="1150" spc="-40">
                <a:latin typeface="Arial"/>
                <a:cs typeface="Arial"/>
              </a:rPr>
              <a:t>hierarchy </a:t>
            </a:r>
            <a:r>
              <a:rPr dirty="0" sz="1150" spc="-25">
                <a:latin typeface="Arial"/>
                <a:cs typeface="Arial"/>
              </a:rPr>
              <a:t>theory. </a:t>
            </a:r>
            <a:r>
              <a:rPr dirty="0" sz="1150" spc="-20">
                <a:latin typeface="Arial"/>
                <a:cs typeface="Arial"/>
              </a:rPr>
              <a:t>Motivators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almost similar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social </a:t>
            </a:r>
            <a:r>
              <a:rPr dirty="0" sz="1150" spc="-65">
                <a:latin typeface="Arial"/>
                <a:cs typeface="Arial"/>
              </a:rPr>
              <a:t>needs, </a:t>
            </a:r>
            <a:r>
              <a:rPr dirty="0" sz="1150" spc="-70">
                <a:latin typeface="Arial"/>
                <a:cs typeface="Arial"/>
              </a:rPr>
              <a:t>Self </a:t>
            </a:r>
            <a:r>
              <a:rPr dirty="0" sz="1150" spc="-55">
                <a:latin typeface="Arial"/>
                <a:cs typeface="Arial"/>
              </a:rPr>
              <a:t>esteem </a:t>
            </a:r>
            <a:r>
              <a:rPr dirty="0" sz="1150" spc="-70">
                <a:latin typeface="Arial"/>
                <a:cs typeface="Arial"/>
              </a:rPr>
              <a:t>needs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self </a:t>
            </a:r>
            <a:r>
              <a:rPr dirty="0" sz="1150" spc="-35">
                <a:latin typeface="Arial"/>
                <a:cs typeface="Arial"/>
              </a:rPr>
              <a:t>actualization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Maslow’s </a:t>
            </a:r>
            <a:r>
              <a:rPr dirty="0" sz="1150" spc="-40">
                <a:latin typeface="Arial"/>
                <a:cs typeface="Arial"/>
              </a:rPr>
              <a:t>hierarchy </a:t>
            </a:r>
            <a:r>
              <a:rPr dirty="0" sz="1150" spc="-25">
                <a:latin typeface="Arial"/>
                <a:cs typeface="Arial"/>
              </a:rPr>
              <a:t>theory. </a:t>
            </a:r>
            <a:r>
              <a:rPr dirty="0" sz="1150" spc="-40">
                <a:latin typeface="Arial"/>
                <a:cs typeface="Arial"/>
              </a:rPr>
              <a:t>Both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0">
                <a:latin typeface="Arial"/>
                <a:cs typeface="Arial"/>
              </a:rPr>
              <a:t>present </a:t>
            </a:r>
            <a:r>
              <a:rPr dirty="0" sz="1150" spc="-20">
                <a:latin typeface="Arial"/>
                <a:cs typeface="Arial"/>
              </a:rPr>
              <a:t>in  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at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same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time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get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productivity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from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workers.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  <a:spcBef>
                <a:spcPts val="5"/>
              </a:spcBef>
            </a:pP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20">
                <a:latin typeface="Arial"/>
                <a:cs typeface="Arial"/>
              </a:rPr>
              <a:t>theory </a:t>
            </a:r>
            <a:r>
              <a:rPr dirty="0" sz="1150" spc="-80">
                <a:latin typeface="Arial"/>
                <a:cs typeface="Arial"/>
              </a:rPr>
              <a:t>suggests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10">
                <a:latin typeface="Arial"/>
                <a:cs typeface="Arial"/>
              </a:rPr>
              <a:t>follow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two-step </a:t>
            </a:r>
            <a:r>
              <a:rPr dirty="0" sz="1150" spc="-55">
                <a:latin typeface="Arial"/>
                <a:cs typeface="Arial"/>
              </a:rPr>
              <a:t>approach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enhancing  </a:t>
            </a:r>
            <a:r>
              <a:rPr dirty="0" sz="1150" spc="-20">
                <a:latin typeface="Arial"/>
                <a:cs typeface="Arial"/>
              </a:rPr>
              <a:t>motivation—first, </a:t>
            </a:r>
            <a:r>
              <a:rPr dirty="0" sz="1150" spc="-55">
                <a:latin typeface="Arial"/>
                <a:cs typeface="Arial"/>
              </a:rPr>
              <a:t>ensure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5">
                <a:latin typeface="Arial"/>
                <a:cs typeface="Arial"/>
              </a:rPr>
              <a:t>hygiene </a:t>
            </a:r>
            <a:r>
              <a:rPr dirty="0" sz="1150" spc="-35">
                <a:latin typeface="Arial"/>
                <a:cs typeface="Arial"/>
              </a:rPr>
              <a:t>factors (working conditions, </a:t>
            </a:r>
            <a:r>
              <a:rPr dirty="0" sz="1150" spc="-45">
                <a:latin typeface="Arial"/>
                <a:cs typeface="Arial"/>
              </a:rPr>
              <a:t>policies) </a:t>
            </a:r>
            <a:r>
              <a:rPr dirty="0" sz="1150" spc="-50">
                <a:latin typeface="Arial"/>
                <a:cs typeface="Arial"/>
              </a:rPr>
              <a:t>are acceptable,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then </a:t>
            </a:r>
            <a:r>
              <a:rPr dirty="0" sz="1150" spc="-5">
                <a:latin typeface="Arial"/>
                <a:cs typeface="Arial"/>
              </a:rPr>
              <a:t>offer </a:t>
            </a:r>
            <a:r>
              <a:rPr dirty="0" sz="1150" spc="-15">
                <a:latin typeface="Arial"/>
                <a:cs typeface="Arial"/>
              </a:rPr>
              <a:t>motivation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30">
                <a:latin typeface="Arial"/>
                <a:cs typeface="Arial"/>
              </a:rPr>
              <a:t>recognition </a:t>
            </a:r>
            <a:r>
              <a:rPr dirty="0" sz="1150" spc="-55">
                <a:latin typeface="Arial"/>
                <a:cs typeface="Arial"/>
              </a:rPr>
              <a:t>and added </a:t>
            </a:r>
            <a:r>
              <a:rPr dirty="0" sz="1150" spc="-35">
                <a:latin typeface="Arial"/>
                <a:cs typeface="Arial"/>
              </a:rPr>
              <a:t>responsibility. </a:t>
            </a:r>
            <a:r>
              <a:rPr dirty="0" sz="1150" spc="-50">
                <a:latin typeface="Arial"/>
                <a:cs typeface="Arial"/>
              </a:rPr>
              <a:t>Biological 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related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human </a:t>
            </a:r>
            <a:r>
              <a:rPr dirty="0" sz="1150" spc="-45">
                <a:latin typeface="Arial"/>
                <a:cs typeface="Arial"/>
              </a:rPr>
              <a:t>body’s survival. </a:t>
            </a:r>
            <a:r>
              <a:rPr dirty="0" sz="1150" spc="-95">
                <a:latin typeface="Arial"/>
                <a:cs typeface="Arial"/>
              </a:rPr>
              <a:t>E.g. </a:t>
            </a:r>
            <a:r>
              <a:rPr dirty="0" sz="1150" spc="-25">
                <a:latin typeface="Arial"/>
                <a:cs typeface="Arial"/>
              </a:rPr>
              <a:t>food, drink, </a:t>
            </a:r>
            <a:r>
              <a:rPr dirty="0" sz="1150" spc="-30">
                <a:latin typeface="Arial"/>
                <a:cs typeface="Arial"/>
              </a:rPr>
              <a:t>air, </a:t>
            </a:r>
            <a:r>
              <a:rPr dirty="0" sz="1150" spc="-75">
                <a:latin typeface="Arial"/>
                <a:cs typeface="Arial"/>
              </a:rPr>
              <a:t>sleeps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105" b="1">
                <a:latin typeface="Arial"/>
                <a:cs typeface="Arial"/>
              </a:rPr>
              <a:t>Expectancy </a:t>
            </a:r>
            <a:r>
              <a:rPr dirty="0" sz="1150" spc="-60" b="1">
                <a:latin typeface="Arial"/>
                <a:cs typeface="Arial"/>
              </a:rPr>
              <a:t>Theory</a:t>
            </a:r>
            <a:r>
              <a:rPr dirty="0" sz="1150" spc="-60">
                <a:latin typeface="Arial"/>
                <a:cs typeface="Arial"/>
              </a:rPr>
              <a:t>—theory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motivation </a:t>
            </a:r>
            <a:r>
              <a:rPr dirty="0" sz="1150" spc="-40">
                <a:latin typeface="Arial"/>
                <a:cs typeface="Arial"/>
              </a:rPr>
              <a:t>holding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5">
                <a:latin typeface="Arial"/>
                <a:cs typeface="Arial"/>
              </a:rPr>
              <a:t>motivated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work  </a:t>
            </a:r>
            <a:r>
              <a:rPr dirty="0" sz="1150" spc="-15">
                <a:latin typeface="Arial"/>
                <a:cs typeface="Arial"/>
              </a:rPr>
              <a:t>toward </a:t>
            </a:r>
            <a:r>
              <a:rPr dirty="0" sz="1150" spc="-45">
                <a:latin typeface="Arial"/>
                <a:cs typeface="Arial"/>
              </a:rPr>
              <a:t>rewards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20">
                <a:latin typeface="Arial"/>
                <a:cs typeface="Arial"/>
              </a:rPr>
              <a:t>want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5">
                <a:latin typeface="Arial"/>
                <a:cs typeface="Arial"/>
              </a:rPr>
              <a:t>they </a:t>
            </a:r>
            <a:r>
              <a:rPr dirty="0" sz="1150" spc="-45">
                <a:latin typeface="Arial"/>
                <a:cs typeface="Arial"/>
              </a:rPr>
              <a:t>believe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reasonable </a:t>
            </a:r>
            <a:r>
              <a:rPr dirty="0" sz="1150" spc="-70">
                <a:latin typeface="Arial"/>
                <a:cs typeface="Arial"/>
              </a:rPr>
              <a:t>chance </a:t>
            </a:r>
            <a:r>
              <a:rPr dirty="0" sz="1150" spc="-10">
                <a:latin typeface="Arial"/>
                <a:cs typeface="Arial"/>
              </a:rPr>
              <a:t>of  </a:t>
            </a:r>
            <a:r>
              <a:rPr dirty="0" sz="1150" spc="-35">
                <a:latin typeface="Arial"/>
                <a:cs typeface="Arial"/>
              </a:rPr>
              <a:t>obtaining.</a:t>
            </a:r>
            <a:endParaRPr sz="115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25">
                <a:latin typeface="Arial"/>
                <a:cs typeface="Arial"/>
              </a:rPr>
              <a:t>theory,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reward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out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reach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likely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5">
                <a:latin typeface="Arial"/>
                <a:cs typeface="Arial"/>
              </a:rPr>
              <a:t>undesirable </a:t>
            </a:r>
            <a:r>
              <a:rPr dirty="0" sz="1150" spc="-60">
                <a:latin typeface="Arial"/>
                <a:cs typeface="Arial"/>
              </a:rPr>
              <a:t>even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intrinsically  </a:t>
            </a:r>
            <a:r>
              <a:rPr dirty="0" sz="1150" spc="-35">
                <a:latin typeface="Arial"/>
                <a:cs typeface="Arial"/>
              </a:rPr>
              <a:t>positive.</a:t>
            </a:r>
            <a:endParaRPr sz="11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720"/>
              </a:spcBef>
            </a:pPr>
            <a:r>
              <a:rPr dirty="0" sz="1150" spc="-65">
                <a:latin typeface="Arial"/>
                <a:cs typeface="Arial"/>
              </a:rPr>
              <a:t>People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5">
                <a:latin typeface="Arial"/>
                <a:cs typeface="Arial"/>
              </a:rPr>
              <a:t>motivated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with: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9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55">
                <a:latin typeface="Arial"/>
                <a:cs typeface="Arial"/>
              </a:rPr>
              <a:t>Expectations </a:t>
            </a:r>
            <a:r>
              <a:rPr dirty="0" sz="1150" spc="-30">
                <a:latin typeface="Arial"/>
                <a:cs typeface="Arial"/>
              </a:rPr>
              <a:t>about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reward.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75">
                <a:latin typeface="Arial"/>
                <a:cs typeface="Arial"/>
              </a:rPr>
              <a:t>Assurance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getting </a:t>
            </a:r>
            <a:r>
              <a:rPr dirty="0" sz="1150" spc="-35">
                <a:latin typeface="Arial"/>
                <a:cs typeface="Arial"/>
              </a:rPr>
              <a:t>reward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45">
                <a:latin typeface="Arial"/>
                <a:cs typeface="Arial"/>
              </a:rPr>
              <a:t>doing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particular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task.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75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85" b="1">
                <a:latin typeface="Arial"/>
                <a:cs typeface="Arial"/>
              </a:rPr>
              <a:t>Equity </a:t>
            </a:r>
            <a:r>
              <a:rPr dirty="0" sz="1150" spc="-60" b="1">
                <a:latin typeface="Arial"/>
                <a:cs typeface="Arial"/>
              </a:rPr>
              <a:t>Theory</a:t>
            </a:r>
            <a:r>
              <a:rPr dirty="0" sz="1150" spc="-60">
                <a:latin typeface="Arial"/>
                <a:cs typeface="Arial"/>
              </a:rPr>
              <a:t>—theory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motivation </a:t>
            </a:r>
            <a:r>
              <a:rPr dirty="0" sz="1150" spc="-35">
                <a:latin typeface="Arial"/>
                <a:cs typeface="Arial"/>
              </a:rPr>
              <a:t>holding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5">
                <a:latin typeface="Arial"/>
                <a:cs typeface="Arial"/>
              </a:rPr>
              <a:t>people evaluate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15">
                <a:latin typeface="Arial"/>
                <a:cs typeface="Arial"/>
              </a:rPr>
              <a:t>treatment </a:t>
            </a:r>
            <a:r>
              <a:rPr dirty="0" sz="1150" spc="-50">
                <a:latin typeface="Arial"/>
                <a:cs typeface="Arial"/>
              </a:rPr>
              <a:t>by  employers </a:t>
            </a:r>
            <a:r>
              <a:rPr dirty="0" sz="1150" spc="-30">
                <a:latin typeface="Arial"/>
                <a:cs typeface="Arial"/>
              </a:rPr>
              <a:t>relative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treatment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others.</a:t>
            </a:r>
            <a:endParaRPr sz="115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65">
                <a:latin typeface="Arial"/>
                <a:cs typeface="Arial"/>
              </a:rPr>
              <a:t>People </a:t>
            </a:r>
            <a:r>
              <a:rPr dirty="0" sz="1150" spc="-40">
                <a:latin typeface="Arial"/>
                <a:cs typeface="Arial"/>
              </a:rPr>
              <a:t>derive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0">
                <a:latin typeface="Arial"/>
                <a:cs typeface="Arial"/>
              </a:rPr>
              <a:t>ratio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contribution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return </a:t>
            </a:r>
            <a:r>
              <a:rPr dirty="0" sz="1150" spc="-5">
                <a:latin typeface="Arial"/>
                <a:cs typeface="Arial"/>
              </a:rPr>
              <a:t>from </a:t>
            </a:r>
            <a:r>
              <a:rPr dirty="0" sz="1150" spc="-60">
                <a:latin typeface="Arial"/>
                <a:cs typeface="Arial"/>
              </a:rPr>
              <a:t>analyzing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20">
                <a:latin typeface="Arial"/>
                <a:cs typeface="Arial"/>
              </a:rPr>
              <a:t>contribute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their  </a:t>
            </a:r>
            <a:r>
              <a:rPr dirty="0" sz="1150" spc="-45">
                <a:latin typeface="Arial"/>
                <a:cs typeface="Arial"/>
              </a:rPr>
              <a:t>jobs </a:t>
            </a:r>
            <a:r>
              <a:rPr dirty="0" sz="1150" spc="-35">
                <a:latin typeface="Arial"/>
                <a:cs typeface="Arial"/>
              </a:rPr>
              <a:t>(inputs)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25">
                <a:latin typeface="Arial"/>
                <a:cs typeface="Arial"/>
              </a:rPr>
              <a:t>they </a:t>
            </a:r>
            <a:r>
              <a:rPr dirty="0" sz="1150" spc="-50">
                <a:latin typeface="Arial"/>
                <a:cs typeface="Arial"/>
              </a:rPr>
              <a:t>receive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0">
                <a:latin typeface="Arial"/>
                <a:cs typeface="Arial"/>
              </a:rPr>
              <a:t>return </a:t>
            </a:r>
            <a:r>
              <a:rPr dirty="0" sz="1150" spc="-25">
                <a:latin typeface="Arial"/>
                <a:cs typeface="Arial"/>
              </a:rPr>
              <a:t>(outputs);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20">
                <a:latin typeface="Arial"/>
                <a:cs typeface="Arial"/>
              </a:rPr>
              <a:t>then </a:t>
            </a:r>
            <a:r>
              <a:rPr dirty="0" sz="1150" spc="-50">
                <a:latin typeface="Arial"/>
                <a:cs typeface="Arial"/>
              </a:rPr>
              <a:t>compare </a:t>
            </a:r>
            <a:r>
              <a:rPr dirty="0" sz="1150" spc="-5">
                <a:latin typeface="Arial"/>
                <a:cs typeface="Arial"/>
              </a:rPr>
              <a:t>their </a:t>
            </a:r>
            <a:r>
              <a:rPr dirty="0" sz="1150" spc="-25">
                <a:latin typeface="Arial"/>
                <a:cs typeface="Arial"/>
              </a:rPr>
              <a:t>own </a:t>
            </a:r>
            <a:r>
              <a:rPr dirty="0" sz="1150" spc="-30">
                <a:latin typeface="Arial"/>
                <a:cs typeface="Arial"/>
              </a:rPr>
              <a:t>ratios  </a:t>
            </a:r>
            <a:r>
              <a:rPr dirty="0" sz="1150" spc="5">
                <a:latin typeface="Arial"/>
                <a:cs typeface="Arial"/>
              </a:rPr>
              <a:t>with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those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employees.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ratios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do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not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have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same,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only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fair.</a:t>
            </a:r>
            <a:endParaRPr sz="11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725"/>
              </a:spcBef>
            </a:pPr>
            <a:r>
              <a:rPr dirty="0" sz="1350" spc="-110" b="1">
                <a:latin typeface="Arial"/>
                <a:cs typeface="Arial"/>
              </a:rPr>
              <a:t>Equivalence </a:t>
            </a:r>
            <a:r>
              <a:rPr dirty="0" sz="1350" spc="-75" b="1">
                <a:latin typeface="Arial"/>
                <a:cs typeface="Arial"/>
              </a:rPr>
              <a:t>in </a:t>
            </a:r>
            <a:r>
              <a:rPr dirty="0" sz="1350" spc="-95" b="1">
                <a:latin typeface="Arial"/>
                <a:cs typeface="Arial"/>
              </a:rPr>
              <a:t>inputs </a:t>
            </a:r>
            <a:r>
              <a:rPr dirty="0" sz="1350" spc="-100" b="1">
                <a:latin typeface="Arial"/>
                <a:cs typeface="Arial"/>
              </a:rPr>
              <a:t>and</a:t>
            </a:r>
            <a:r>
              <a:rPr dirty="0" sz="1350" spc="-25" b="1">
                <a:latin typeface="Arial"/>
                <a:cs typeface="Arial"/>
              </a:rPr>
              <a:t> </a:t>
            </a:r>
            <a:r>
              <a:rPr dirty="0" sz="1350" spc="-110" b="1">
                <a:latin typeface="Arial"/>
                <a:cs typeface="Arial"/>
              </a:rPr>
              <a:t>outcomes</a:t>
            </a:r>
            <a:endParaRPr sz="13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730"/>
              </a:spcBef>
            </a:pPr>
            <a:r>
              <a:rPr dirty="0" sz="1150" spc="-40">
                <a:latin typeface="Arial"/>
                <a:cs typeface="Arial"/>
              </a:rPr>
              <a:t>Inputs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are: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745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70">
                <a:latin typeface="Arial"/>
                <a:cs typeface="Arial"/>
              </a:rPr>
              <a:t>Level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education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70">
                <a:latin typeface="Arial"/>
                <a:cs typeface="Arial"/>
              </a:rPr>
              <a:t>Skills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27100" algn="l"/>
                <a:tab pos="927735" algn="l"/>
              </a:tabLst>
            </a:pPr>
            <a:r>
              <a:rPr dirty="0" sz="1150" spc="-65">
                <a:latin typeface="Arial"/>
                <a:cs typeface="Arial"/>
              </a:rPr>
              <a:t>Experience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2" y="809044"/>
            <a:ext cx="5512435" cy="404431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927100" indent="-229235">
              <a:lnSpc>
                <a:spcPct val="100000"/>
              </a:lnSpc>
              <a:spcBef>
                <a:spcPts val="830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40">
                <a:latin typeface="Arial"/>
                <a:cs typeface="Arial"/>
              </a:rPr>
              <a:t>Reputation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60">
                <a:latin typeface="Arial"/>
                <a:cs typeface="Arial"/>
              </a:rPr>
              <a:t>Hard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work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3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60">
                <a:latin typeface="Arial"/>
                <a:cs typeface="Arial"/>
              </a:rPr>
              <a:t>Connections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150" spc="-60">
                <a:latin typeface="Arial"/>
                <a:cs typeface="Arial"/>
              </a:rPr>
              <a:t>Outcomes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 spc="-25">
                <a:latin typeface="Arial"/>
                <a:cs typeface="Arial"/>
              </a:rPr>
              <a:t>in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are: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75">
                <a:latin typeface="Arial"/>
                <a:cs typeface="Arial"/>
              </a:rPr>
              <a:t>Salaries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4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60">
                <a:latin typeface="Arial"/>
                <a:cs typeface="Arial"/>
              </a:rPr>
              <a:t>Designations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40">
                <a:latin typeface="Arial"/>
                <a:cs typeface="Arial"/>
              </a:rPr>
              <a:t>Promotions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3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45">
                <a:latin typeface="Arial"/>
                <a:cs typeface="Arial"/>
              </a:rPr>
              <a:t>Benefits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75">
                <a:latin typeface="Arial"/>
                <a:cs typeface="Arial"/>
              </a:rPr>
              <a:t>Social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Status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4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75">
                <a:latin typeface="Arial"/>
                <a:cs typeface="Arial"/>
              </a:rPr>
              <a:t>Respect </a:t>
            </a:r>
            <a:r>
              <a:rPr dirty="0" sz="1150" spc="-20">
                <a:latin typeface="Arial"/>
                <a:cs typeface="Arial"/>
              </a:rPr>
              <a:t>in the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30">
                <a:latin typeface="Arial"/>
                <a:cs typeface="Arial"/>
              </a:rPr>
              <a:t>Opportunities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150" spc="-35">
                <a:latin typeface="Arial"/>
                <a:cs typeface="Arial"/>
              </a:rPr>
              <a:t>Individual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55">
                <a:latin typeface="Arial"/>
                <a:cs typeface="Arial"/>
              </a:rPr>
              <a:t>compare his </a:t>
            </a:r>
            <a:r>
              <a:rPr dirty="0" sz="1150" spc="-15">
                <a:latin typeface="Arial"/>
                <a:cs typeface="Arial"/>
              </a:rPr>
              <a:t>input/outcome </a:t>
            </a:r>
            <a:r>
              <a:rPr dirty="0" sz="1150" spc="5">
                <a:latin typeface="Arial"/>
                <a:cs typeface="Arial"/>
              </a:rPr>
              <a:t>with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5">
                <a:latin typeface="Arial"/>
                <a:cs typeface="Arial"/>
              </a:rPr>
              <a:t>individual’s </a:t>
            </a:r>
            <a:r>
              <a:rPr dirty="0" sz="1150" spc="-15">
                <a:latin typeface="Arial"/>
                <a:cs typeface="Arial"/>
              </a:rPr>
              <a:t>input/outcome.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80" b="1">
                <a:latin typeface="Arial"/>
                <a:cs typeface="Arial"/>
              </a:rPr>
              <a:t>How </a:t>
            </a:r>
            <a:r>
              <a:rPr dirty="0" sz="1150" spc="-110" b="1">
                <a:latin typeface="Arial"/>
                <a:cs typeface="Arial"/>
              </a:rPr>
              <a:t>can </a:t>
            </a:r>
            <a:r>
              <a:rPr dirty="0" sz="1150" spc="-85" b="1">
                <a:latin typeface="Arial"/>
                <a:cs typeface="Arial"/>
              </a:rPr>
              <a:t>Equity Theory </a:t>
            </a:r>
            <a:r>
              <a:rPr dirty="0" sz="1150" spc="-80" b="1">
                <a:latin typeface="Arial"/>
                <a:cs typeface="Arial"/>
              </a:rPr>
              <a:t>be</a:t>
            </a:r>
            <a:r>
              <a:rPr dirty="0" sz="1150" spc="40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implemented?</a:t>
            </a:r>
            <a:endParaRPr sz="1150">
              <a:latin typeface="Arial"/>
              <a:cs typeface="Arial"/>
            </a:endParaRPr>
          </a:p>
          <a:p>
            <a:pPr marL="354965" marR="5080" indent="-342900">
              <a:lnSpc>
                <a:spcPct val="101699"/>
              </a:lnSpc>
              <a:spcBef>
                <a:spcPts val="695"/>
              </a:spcBef>
            </a:pPr>
            <a:r>
              <a:rPr dirty="0" sz="1150" spc="-60">
                <a:latin typeface="Arial"/>
                <a:cs typeface="Arial"/>
              </a:rPr>
              <a:t>Managers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explain </a:t>
            </a:r>
            <a:r>
              <a:rPr dirty="0" sz="1150" spc="-70">
                <a:latin typeface="Arial"/>
                <a:cs typeface="Arial"/>
              </a:rPr>
              <a:t>reasons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difference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outcomes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55">
                <a:latin typeface="Arial"/>
                <a:cs typeface="Arial"/>
              </a:rPr>
              <a:t>keep </a:t>
            </a:r>
            <a:r>
              <a:rPr dirty="0" sz="1150" spc="-25">
                <a:latin typeface="Arial"/>
                <a:cs typeface="Arial"/>
              </a:rPr>
              <a:t>them motivated. </a:t>
            </a:r>
            <a:r>
              <a:rPr dirty="0" sz="1150" spc="-65">
                <a:latin typeface="Arial"/>
                <a:cs typeface="Arial"/>
              </a:rPr>
              <a:t>People </a:t>
            </a:r>
            <a:r>
              <a:rPr dirty="0" sz="1150" spc="-50">
                <a:latin typeface="Arial"/>
                <a:cs typeface="Arial"/>
              </a:rPr>
              <a:t>compare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45">
                <a:latin typeface="Arial"/>
                <a:cs typeface="Arial"/>
              </a:rPr>
              <a:t>rewards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market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25">
                <a:latin typeface="Arial"/>
                <a:cs typeface="Arial"/>
              </a:rPr>
              <a:t>well.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116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96064" y="891035"/>
            <a:ext cx="5146040" cy="1106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21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>
              <a:latin typeface="Arial"/>
              <a:cs typeface="Arial"/>
            </a:endParaRPr>
          </a:p>
          <a:p>
            <a:pPr marL="2099945" marR="142240" indent="-2087880">
              <a:lnSpc>
                <a:spcPct val="101699"/>
              </a:lnSpc>
            </a:pPr>
            <a:r>
              <a:rPr dirty="0" sz="1750" spc="-250" b="1">
                <a:latin typeface="Arial"/>
                <a:cs typeface="Arial"/>
              </a:rPr>
              <a:t>STRATEGIES </a:t>
            </a:r>
            <a:r>
              <a:rPr dirty="0" sz="1750" spc="-240" b="1">
                <a:latin typeface="Arial"/>
                <a:cs typeface="Arial"/>
              </a:rPr>
              <a:t>FOR </a:t>
            </a:r>
            <a:r>
              <a:rPr dirty="0" sz="1750" spc="-185" b="1">
                <a:latin typeface="Arial"/>
                <a:cs typeface="Arial"/>
              </a:rPr>
              <a:t>ENHANCING </a:t>
            </a:r>
            <a:r>
              <a:rPr dirty="0" sz="1750" spc="-285" b="1">
                <a:latin typeface="Arial"/>
                <a:cs typeface="Arial"/>
              </a:rPr>
              <a:t>JOB </a:t>
            </a:r>
            <a:r>
              <a:rPr dirty="0" sz="1750" spc="-204" b="1">
                <a:latin typeface="Arial"/>
                <a:cs typeface="Arial"/>
              </a:rPr>
              <a:t>SATISFACTION </a:t>
            </a:r>
            <a:r>
              <a:rPr dirty="0" sz="1750" spc="-165" b="1">
                <a:latin typeface="Arial"/>
                <a:cs typeface="Arial"/>
              </a:rPr>
              <a:t>AND  </a:t>
            </a:r>
            <a:r>
              <a:rPr dirty="0" sz="1750" spc="-210" b="1">
                <a:latin typeface="Arial"/>
                <a:cs typeface="Arial"/>
              </a:rPr>
              <a:t>MORALE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117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227" y="2311403"/>
            <a:ext cx="5513705" cy="6699884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413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45">
                <a:latin typeface="Arial"/>
                <a:cs typeface="Arial"/>
              </a:rPr>
              <a:t>strategies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75">
                <a:latin typeface="Arial"/>
                <a:cs typeface="Arial"/>
              </a:rPr>
              <a:t>ways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apply </a:t>
            </a:r>
            <a:r>
              <a:rPr dirty="0" sz="1150" spc="-60">
                <a:latin typeface="Arial"/>
                <a:cs typeface="Arial"/>
              </a:rPr>
              <a:t>manager’s </a:t>
            </a:r>
            <a:r>
              <a:rPr dirty="0" sz="1150" spc="-50">
                <a:latin typeface="Arial"/>
                <a:cs typeface="Arial"/>
              </a:rPr>
              <a:t>knowledge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50">
                <a:latin typeface="Arial"/>
                <a:cs typeface="Arial"/>
              </a:rPr>
              <a:t>provides </a:t>
            </a:r>
            <a:r>
              <a:rPr dirty="0" sz="1150" spc="-15">
                <a:latin typeface="Arial"/>
                <a:cs typeface="Arial"/>
              </a:rPr>
              <a:t>job  </a:t>
            </a:r>
            <a:r>
              <a:rPr dirty="0" sz="1150" spc="-40">
                <a:latin typeface="Arial"/>
                <a:cs typeface="Arial"/>
              </a:rPr>
              <a:t>satisfaction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motivates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workers.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469900" marR="5715">
              <a:lnSpc>
                <a:spcPct val="101699"/>
              </a:lnSpc>
            </a:pPr>
            <a:r>
              <a:rPr dirty="0" sz="1150" spc="-70" b="1">
                <a:latin typeface="Arial"/>
                <a:cs typeface="Arial"/>
              </a:rPr>
              <a:t>Reinforcement/Behavior </a:t>
            </a:r>
            <a:r>
              <a:rPr dirty="0" sz="1150" spc="-55" b="1">
                <a:latin typeface="Arial"/>
                <a:cs typeface="Arial"/>
              </a:rPr>
              <a:t>Modification </a:t>
            </a:r>
            <a:r>
              <a:rPr dirty="0" sz="1150" spc="-60" b="1">
                <a:latin typeface="Arial"/>
                <a:cs typeface="Arial"/>
              </a:rPr>
              <a:t>Theory</a:t>
            </a:r>
            <a:r>
              <a:rPr dirty="0" sz="1150" spc="-60">
                <a:latin typeface="Arial"/>
                <a:cs typeface="Arial"/>
              </a:rPr>
              <a:t>—theory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0">
                <a:latin typeface="Arial"/>
                <a:cs typeface="Arial"/>
              </a:rPr>
              <a:t>behavior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 encouraged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0">
                <a:latin typeface="Arial"/>
                <a:cs typeface="Arial"/>
              </a:rPr>
              <a:t>discouraged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rewards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punishments.</a:t>
            </a:r>
            <a:endParaRPr sz="1150">
              <a:latin typeface="Arial"/>
              <a:cs typeface="Arial"/>
            </a:endParaRPr>
          </a:p>
          <a:p>
            <a:pPr marL="469900" marR="5715">
              <a:lnSpc>
                <a:spcPct val="101699"/>
              </a:lnSpc>
            </a:pPr>
            <a:r>
              <a:rPr dirty="0" sz="1150" spc="-15">
                <a:latin typeface="Arial"/>
                <a:cs typeface="Arial"/>
              </a:rPr>
              <a:t>Most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20">
                <a:latin typeface="Arial"/>
                <a:cs typeface="Arial"/>
              </a:rPr>
              <a:t>prefer </a:t>
            </a:r>
            <a:r>
              <a:rPr dirty="0" sz="1150" spc="-55">
                <a:latin typeface="Arial"/>
                <a:cs typeface="Arial"/>
              </a:rPr>
              <a:t>giving </a:t>
            </a:r>
            <a:r>
              <a:rPr dirty="0" sz="1150" spc="-45">
                <a:latin typeface="Arial"/>
                <a:cs typeface="Arial"/>
              </a:rPr>
              <a:t>rewards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placing </a:t>
            </a:r>
            <a:r>
              <a:rPr dirty="0" sz="1150" spc="-35">
                <a:latin typeface="Arial"/>
                <a:cs typeface="Arial"/>
              </a:rPr>
              <a:t>positive </a:t>
            </a:r>
            <a:r>
              <a:rPr dirty="0" sz="1150" spc="-55">
                <a:latin typeface="Arial"/>
                <a:cs typeface="Arial"/>
              </a:rPr>
              <a:t>value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40">
                <a:latin typeface="Arial"/>
                <a:cs typeface="Arial"/>
              </a:rPr>
              <a:t>performance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35">
                <a:latin typeface="Arial"/>
                <a:cs typeface="Arial"/>
              </a:rPr>
              <a:t>doling </a:t>
            </a:r>
            <a:r>
              <a:rPr dirty="0" sz="1150" spc="-5">
                <a:latin typeface="Arial"/>
                <a:cs typeface="Arial"/>
              </a:rPr>
              <a:t>out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punishment.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9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strengthen </a:t>
            </a:r>
            <a:r>
              <a:rPr dirty="0" sz="1150" spc="-45">
                <a:latin typeface="Arial"/>
                <a:cs typeface="Arial"/>
              </a:rPr>
              <a:t>desired </a:t>
            </a:r>
            <a:r>
              <a:rPr dirty="0" sz="1150" spc="-40">
                <a:latin typeface="Arial"/>
                <a:cs typeface="Arial"/>
              </a:rPr>
              <a:t>behavior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20">
                <a:latin typeface="Arial"/>
                <a:cs typeface="Arial"/>
              </a:rPr>
              <a:t>work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place.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force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workers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adopt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behavior.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>
                <a:latin typeface="Arial"/>
                <a:cs typeface="Arial"/>
              </a:rPr>
              <a:t>two </a:t>
            </a:r>
            <a:r>
              <a:rPr dirty="0" sz="1150" spc="-75">
                <a:latin typeface="Arial"/>
                <a:cs typeface="Arial"/>
              </a:rPr>
              <a:t>ways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reinforcement: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50">
                <a:latin typeface="Arial"/>
                <a:cs typeface="Arial"/>
              </a:rPr>
              <a:t>Positive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reinforcement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3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55">
                <a:latin typeface="Arial"/>
                <a:cs typeface="Arial"/>
              </a:rPr>
              <a:t>Negative </a:t>
            </a:r>
            <a:r>
              <a:rPr dirty="0" sz="1150" spc="-25">
                <a:latin typeface="Arial"/>
                <a:cs typeface="Arial"/>
              </a:rPr>
              <a:t>reinforcement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50">
                <a:latin typeface="Arial"/>
                <a:cs typeface="Arial"/>
              </a:rPr>
              <a:t>Positive </a:t>
            </a:r>
            <a:r>
              <a:rPr dirty="0" sz="1150" spc="-25">
                <a:latin typeface="Arial"/>
                <a:cs typeface="Arial"/>
              </a:rPr>
              <a:t>reinforcement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encourage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particular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behavior.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55">
                <a:latin typeface="Arial"/>
                <a:cs typeface="Arial"/>
              </a:rPr>
              <a:t>Negative </a:t>
            </a:r>
            <a:r>
              <a:rPr dirty="0" sz="1150" spc="-25">
                <a:latin typeface="Arial"/>
                <a:cs typeface="Arial"/>
              </a:rPr>
              <a:t>reinforcement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discourage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particular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behavior.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Symbol"/>
              <a:buChar char=""/>
            </a:pPr>
            <a:endParaRPr sz="1200">
              <a:latin typeface="Arial"/>
              <a:cs typeface="Arial"/>
            </a:endParaRPr>
          </a:p>
          <a:p>
            <a:pPr marL="469900" marR="7620">
              <a:lnSpc>
                <a:spcPct val="101899"/>
              </a:lnSpc>
            </a:pPr>
            <a:r>
              <a:rPr dirty="0" sz="1050" spc="-80" b="1">
                <a:latin typeface="Arial"/>
                <a:cs typeface="Arial"/>
              </a:rPr>
              <a:t>Human </a:t>
            </a:r>
            <a:r>
              <a:rPr dirty="0" sz="1050" spc="-55" b="1">
                <a:latin typeface="Arial"/>
                <a:cs typeface="Arial"/>
              </a:rPr>
              <a:t>Relations</a:t>
            </a:r>
            <a:r>
              <a:rPr dirty="0" sz="1050" spc="-55">
                <a:latin typeface="Arial"/>
                <a:cs typeface="Arial"/>
              </a:rPr>
              <a:t>—Interactions </a:t>
            </a:r>
            <a:r>
              <a:rPr dirty="0" sz="1050" spc="-30">
                <a:latin typeface="Arial"/>
                <a:cs typeface="Arial"/>
              </a:rPr>
              <a:t>between </a:t>
            </a:r>
            <a:r>
              <a:rPr dirty="0" sz="1050" spc="-45">
                <a:latin typeface="Arial"/>
                <a:cs typeface="Arial"/>
              </a:rPr>
              <a:t>employers </a:t>
            </a:r>
            <a:r>
              <a:rPr dirty="0" sz="1050" spc="-55">
                <a:latin typeface="Arial"/>
                <a:cs typeface="Arial"/>
              </a:rPr>
              <a:t>and employees </a:t>
            </a:r>
            <a:r>
              <a:rPr dirty="0" sz="1050" spc="-50">
                <a:latin typeface="Arial"/>
                <a:cs typeface="Arial"/>
              </a:rPr>
              <a:t>and </a:t>
            </a:r>
            <a:r>
              <a:rPr dirty="0" sz="1050" spc="-5">
                <a:latin typeface="Arial"/>
                <a:cs typeface="Arial"/>
              </a:rPr>
              <a:t>their </a:t>
            </a:r>
            <a:r>
              <a:rPr dirty="0" sz="1050" spc="-20">
                <a:latin typeface="Arial"/>
                <a:cs typeface="Arial"/>
              </a:rPr>
              <a:t>attitudes  </a:t>
            </a:r>
            <a:r>
              <a:rPr dirty="0" sz="1050" spc="-15">
                <a:latin typeface="Arial"/>
                <a:cs typeface="Arial"/>
              </a:rPr>
              <a:t>toward </a:t>
            </a:r>
            <a:r>
              <a:rPr dirty="0" sz="1050" spc="-45">
                <a:latin typeface="Arial"/>
                <a:cs typeface="Arial"/>
              </a:rPr>
              <a:t>one</a:t>
            </a:r>
            <a:r>
              <a:rPr dirty="0" sz="1050" spc="-90">
                <a:latin typeface="Arial"/>
                <a:cs typeface="Arial"/>
              </a:rPr>
              <a:t> </a:t>
            </a:r>
            <a:r>
              <a:rPr dirty="0" sz="1050" spc="-30">
                <a:latin typeface="Arial"/>
                <a:cs typeface="Arial"/>
              </a:rPr>
              <a:t>another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1150" spc="-65">
                <a:latin typeface="Arial"/>
                <a:cs typeface="Arial"/>
              </a:rPr>
              <a:t>Human </a:t>
            </a:r>
            <a:r>
              <a:rPr dirty="0" sz="1150" spc="-55">
                <a:latin typeface="Arial"/>
                <a:cs typeface="Arial"/>
              </a:rPr>
              <a:t>Relations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45">
                <a:latin typeface="Arial"/>
                <a:cs typeface="Arial"/>
              </a:rPr>
              <a:t>be: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74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65">
                <a:latin typeface="Arial"/>
                <a:cs typeface="Arial"/>
              </a:rPr>
              <a:t>Employee </a:t>
            </a:r>
            <a:r>
              <a:rPr dirty="0" sz="1150" spc="5">
                <a:latin typeface="Arial"/>
                <a:cs typeface="Arial"/>
              </a:rPr>
              <a:t>to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employee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65">
                <a:latin typeface="Arial"/>
                <a:cs typeface="Arial"/>
              </a:rPr>
              <a:t>Employee </a:t>
            </a:r>
            <a:r>
              <a:rPr dirty="0" sz="1150" spc="5">
                <a:latin typeface="Arial"/>
                <a:cs typeface="Arial"/>
              </a:rPr>
              <a:t>to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employer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150" spc="-65">
                <a:latin typeface="Arial"/>
                <a:cs typeface="Arial"/>
              </a:rPr>
              <a:t>Purpose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human </a:t>
            </a:r>
            <a:r>
              <a:rPr dirty="0" sz="1150" spc="-35">
                <a:latin typeface="Arial"/>
                <a:cs typeface="Arial"/>
              </a:rPr>
              <a:t>relations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give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feeling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family.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65" b="1">
                <a:latin typeface="Arial"/>
                <a:cs typeface="Arial"/>
              </a:rPr>
              <a:t>Management </a:t>
            </a:r>
            <a:r>
              <a:rPr dirty="0" sz="1150" spc="-90" b="1">
                <a:latin typeface="Arial"/>
                <a:cs typeface="Arial"/>
              </a:rPr>
              <a:t>by </a:t>
            </a:r>
            <a:r>
              <a:rPr dirty="0" sz="1150" spc="-80" b="1">
                <a:latin typeface="Arial"/>
                <a:cs typeface="Arial"/>
              </a:rPr>
              <a:t>Objectives</a:t>
            </a:r>
            <a:r>
              <a:rPr dirty="0" sz="1150" spc="-80">
                <a:latin typeface="Arial"/>
                <a:cs typeface="Arial"/>
              </a:rPr>
              <a:t>—set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procedures </a:t>
            </a:r>
            <a:r>
              <a:rPr dirty="0" sz="1150" spc="-35">
                <a:latin typeface="Arial"/>
                <a:cs typeface="Arial"/>
              </a:rPr>
              <a:t>involving </a:t>
            </a:r>
            <a:r>
              <a:rPr dirty="0" sz="1150" spc="-15">
                <a:latin typeface="Arial"/>
                <a:cs typeface="Arial"/>
              </a:rPr>
              <a:t>both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subordinates 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setting </a:t>
            </a:r>
            <a:r>
              <a:rPr dirty="0" sz="1150" spc="-70">
                <a:latin typeface="Arial"/>
                <a:cs typeface="Arial"/>
              </a:rPr>
              <a:t>goals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evaluating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progress.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65">
                <a:latin typeface="Arial"/>
                <a:cs typeface="Arial"/>
              </a:rPr>
              <a:t>Experts agree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motivation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biggest </a:t>
            </a:r>
            <a:r>
              <a:rPr dirty="0" sz="1150" spc="-60">
                <a:latin typeface="Arial"/>
                <a:cs typeface="Arial"/>
              </a:rPr>
              <a:t>advantage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MBO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is used </a:t>
            </a:r>
            <a:r>
              <a:rPr dirty="0" sz="1150" spc="-30">
                <a:latin typeface="Arial"/>
                <a:cs typeface="Arial"/>
              </a:rPr>
              <a:t>properly.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  <a:spcBef>
                <a:spcPts val="5"/>
              </a:spcBef>
            </a:pPr>
            <a:r>
              <a:rPr dirty="0" sz="1150" spc="-65" b="1">
                <a:latin typeface="Arial"/>
                <a:cs typeface="Arial"/>
              </a:rPr>
              <a:t>Participative Management </a:t>
            </a:r>
            <a:r>
              <a:rPr dirty="0" sz="1150" spc="-85" b="1">
                <a:latin typeface="Arial"/>
                <a:cs typeface="Arial"/>
              </a:rPr>
              <a:t>and </a:t>
            </a:r>
            <a:r>
              <a:rPr dirty="0" sz="1150" spc="-65" b="1">
                <a:latin typeface="Arial"/>
                <a:cs typeface="Arial"/>
              </a:rPr>
              <a:t>Empowerment</a:t>
            </a:r>
            <a:r>
              <a:rPr dirty="0" sz="1150" spc="-65">
                <a:latin typeface="Arial"/>
                <a:cs typeface="Arial"/>
              </a:rPr>
              <a:t>—method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increasing </a:t>
            </a:r>
            <a:r>
              <a:rPr dirty="0" sz="1150" spc="-15">
                <a:latin typeface="Arial"/>
                <a:cs typeface="Arial"/>
              </a:rPr>
              <a:t>job </a:t>
            </a:r>
            <a:r>
              <a:rPr dirty="0" sz="1150" spc="-40">
                <a:latin typeface="Arial"/>
                <a:cs typeface="Arial"/>
              </a:rPr>
              <a:t>satisfaction </a:t>
            </a:r>
            <a:r>
              <a:rPr dirty="0" sz="1150" spc="-50">
                <a:latin typeface="Arial"/>
                <a:cs typeface="Arial"/>
              </a:rPr>
              <a:t>by  giving </a:t>
            </a:r>
            <a:r>
              <a:rPr dirty="0" sz="1150" spc="-55">
                <a:latin typeface="Arial"/>
                <a:cs typeface="Arial"/>
              </a:rPr>
              <a:t>employees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voice </a:t>
            </a:r>
            <a:r>
              <a:rPr dirty="0" sz="1150" spc="-25">
                <a:latin typeface="Arial"/>
                <a:cs typeface="Arial"/>
              </a:rPr>
              <a:t>in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management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45">
                <a:latin typeface="Arial"/>
                <a:cs typeface="Arial"/>
              </a:rPr>
              <a:t>jobs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company.</a:t>
            </a:r>
            <a:endParaRPr sz="115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55">
                <a:latin typeface="Arial"/>
                <a:cs typeface="Arial"/>
              </a:rPr>
              <a:t>example, </a:t>
            </a:r>
            <a:r>
              <a:rPr dirty="0" sz="1150" spc="-40">
                <a:latin typeface="Arial"/>
                <a:cs typeface="Arial"/>
              </a:rPr>
              <a:t>workers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40">
                <a:latin typeface="Arial"/>
                <a:cs typeface="Arial"/>
              </a:rPr>
              <a:t>no longer </a:t>
            </a:r>
            <a:r>
              <a:rPr dirty="0" sz="1150" spc="-10">
                <a:latin typeface="Arial"/>
                <a:cs typeface="Arial"/>
              </a:rPr>
              <a:t>report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45">
                <a:latin typeface="Arial"/>
                <a:cs typeface="Arial"/>
              </a:rPr>
              <a:t>defects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supervisor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30">
                <a:latin typeface="Arial"/>
                <a:cs typeface="Arial"/>
              </a:rPr>
              <a:t>freedom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correct </a:t>
            </a:r>
            <a:r>
              <a:rPr dirty="0" sz="1150" spc="-40">
                <a:latin typeface="Arial"/>
                <a:cs typeface="Arial"/>
              </a:rPr>
              <a:t>problems </a:t>
            </a:r>
            <a:r>
              <a:rPr dirty="0" sz="1150" spc="-55">
                <a:latin typeface="Arial"/>
                <a:cs typeface="Arial"/>
              </a:rPr>
              <a:t>themselves,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0">
                <a:latin typeface="Arial"/>
                <a:cs typeface="Arial"/>
              </a:rPr>
              <a:t>even </a:t>
            </a:r>
            <a:r>
              <a:rPr dirty="0" sz="1150" spc="-10">
                <a:latin typeface="Arial"/>
                <a:cs typeface="Arial"/>
              </a:rPr>
              <a:t>return </a:t>
            </a:r>
            <a:r>
              <a:rPr dirty="0" sz="1150" spc="-35">
                <a:latin typeface="Arial"/>
                <a:cs typeface="Arial"/>
              </a:rPr>
              <a:t>defective products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workers 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50">
                <a:latin typeface="Arial"/>
                <a:cs typeface="Arial"/>
              </a:rPr>
              <a:t>are responsible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5">
                <a:latin typeface="Arial"/>
                <a:cs typeface="Arial"/>
              </a:rPr>
              <a:t>them,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55">
                <a:latin typeface="Arial"/>
                <a:cs typeface="Arial"/>
              </a:rPr>
              <a:t>been </a:t>
            </a:r>
            <a:r>
              <a:rPr dirty="0" sz="1150" spc="-40">
                <a:latin typeface="Arial"/>
                <a:cs typeface="Arial"/>
              </a:rPr>
              <a:t>empowered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take </a:t>
            </a:r>
            <a:r>
              <a:rPr dirty="0" sz="1150" spc="-35">
                <a:latin typeface="Arial"/>
                <a:cs typeface="Arial"/>
              </a:rPr>
              <a:t>greater responsibility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10">
                <a:latin typeface="Arial"/>
                <a:cs typeface="Arial"/>
              </a:rPr>
              <a:t>their  </a:t>
            </a:r>
            <a:r>
              <a:rPr dirty="0" sz="1150" spc="-25">
                <a:latin typeface="Arial"/>
                <a:cs typeface="Arial"/>
              </a:rPr>
              <a:t>own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performance.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85" y="1070867"/>
            <a:ext cx="5513705" cy="777430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80" b="1">
                <a:latin typeface="Arial"/>
                <a:cs typeface="Arial"/>
              </a:rPr>
              <a:t>Teamwork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25">
                <a:latin typeface="Arial"/>
                <a:cs typeface="Arial"/>
              </a:rPr>
              <a:t>situation. </a:t>
            </a:r>
            <a:r>
              <a:rPr dirty="0" sz="1150" spc="-75">
                <a:latin typeface="Arial"/>
                <a:cs typeface="Arial"/>
              </a:rPr>
              <a:t>Levi </a:t>
            </a:r>
            <a:r>
              <a:rPr dirty="0" sz="1150" spc="-80">
                <a:latin typeface="Arial"/>
                <a:cs typeface="Arial"/>
              </a:rPr>
              <a:t>Strauss </a:t>
            </a:r>
            <a:r>
              <a:rPr dirty="0" sz="1150" spc="-40">
                <a:latin typeface="Arial"/>
                <a:cs typeface="Arial"/>
              </a:rPr>
              <a:t>dismantled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-50">
                <a:latin typeface="Arial"/>
                <a:cs typeface="Arial"/>
              </a:rPr>
              <a:t>teams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 </a:t>
            </a:r>
            <a:r>
              <a:rPr dirty="0" sz="1150" spc="-30">
                <a:latin typeface="Arial"/>
                <a:cs typeface="Arial"/>
              </a:rPr>
              <a:t>faster </a:t>
            </a:r>
            <a:r>
              <a:rPr dirty="0" sz="1150" spc="-40">
                <a:latin typeface="Arial"/>
                <a:cs typeface="Arial"/>
              </a:rPr>
              <a:t>workers </a:t>
            </a:r>
            <a:r>
              <a:rPr dirty="0" sz="1150" spc="-70">
                <a:latin typeface="Arial"/>
                <a:cs typeface="Arial"/>
              </a:rPr>
              <a:t>became </a:t>
            </a:r>
            <a:r>
              <a:rPr dirty="0" sz="1150" spc="-30">
                <a:latin typeface="Arial"/>
                <a:cs typeface="Arial"/>
              </a:rPr>
              <a:t>resentful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slower </a:t>
            </a:r>
            <a:r>
              <a:rPr dirty="0" sz="1150" spc="-40">
                <a:latin typeface="Arial"/>
                <a:cs typeface="Arial"/>
              </a:rPr>
              <a:t>workers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50">
                <a:latin typeface="Arial"/>
                <a:cs typeface="Arial"/>
              </a:rPr>
              <a:t>reduced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group’s </a:t>
            </a:r>
            <a:r>
              <a:rPr dirty="0" sz="1150">
                <a:latin typeface="Arial"/>
                <a:cs typeface="Arial"/>
              </a:rPr>
              <a:t>total </a:t>
            </a:r>
            <a:r>
              <a:rPr dirty="0" sz="1150" spc="-10">
                <a:latin typeface="Arial"/>
                <a:cs typeface="Arial"/>
              </a:rPr>
              <a:t>output, 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45">
                <a:latin typeface="Arial"/>
                <a:cs typeface="Arial"/>
              </a:rPr>
              <a:t>teach member’s </a:t>
            </a:r>
            <a:r>
              <a:rPr dirty="0" sz="1150" spc="-70">
                <a:latin typeface="Arial"/>
                <a:cs typeface="Arial"/>
              </a:rPr>
              <a:t>pay </a:t>
            </a:r>
            <a:r>
              <a:rPr dirty="0" sz="1150" spc="-75">
                <a:latin typeface="Arial"/>
                <a:cs typeface="Arial"/>
              </a:rPr>
              <a:t>was </a:t>
            </a:r>
            <a:r>
              <a:rPr dirty="0" sz="1150" spc="-30">
                <a:latin typeface="Arial"/>
                <a:cs typeface="Arial"/>
              </a:rPr>
              <a:t>determined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team’s level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productivity.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90" b="1">
                <a:latin typeface="Arial"/>
                <a:cs typeface="Arial"/>
              </a:rPr>
              <a:t>Team </a:t>
            </a:r>
            <a:r>
              <a:rPr dirty="0" sz="1150" spc="-65" b="1">
                <a:latin typeface="Arial"/>
                <a:cs typeface="Arial"/>
              </a:rPr>
              <a:t>Management</a:t>
            </a:r>
            <a:r>
              <a:rPr dirty="0" sz="1150" spc="-65">
                <a:latin typeface="Arial"/>
                <a:cs typeface="Arial"/>
              </a:rPr>
              <a:t>—employees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55">
                <a:latin typeface="Arial"/>
                <a:cs typeface="Arial"/>
              </a:rPr>
              <a:t>given </a:t>
            </a:r>
            <a:r>
              <a:rPr dirty="0" sz="1150" spc="-50">
                <a:latin typeface="Arial"/>
                <a:cs typeface="Arial"/>
              </a:rPr>
              <a:t>decision-making </a:t>
            </a:r>
            <a:r>
              <a:rPr dirty="0" sz="1150" spc="-35">
                <a:latin typeface="Arial"/>
                <a:cs typeface="Arial"/>
              </a:rPr>
              <a:t>responsibility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certain </a:t>
            </a:r>
            <a:r>
              <a:rPr dirty="0" sz="1150" spc="-25">
                <a:latin typeface="Arial"/>
                <a:cs typeface="Arial"/>
              </a:rPr>
              <a:t>narrow 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0">
                <a:latin typeface="Arial"/>
                <a:cs typeface="Arial"/>
              </a:rPr>
              <a:t>broad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activities.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225" b="1">
                <a:latin typeface="Arial"/>
                <a:cs typeface="Arial"/>
              </a:rPr>
              <a:t>JOB </a:t>
            </a:r>
            <a:r>
              <a:rPr dirty="0" sz="1350" spc="-140" b="1">
                <a:latin typeface="Arial"/>
                <a:cs typeface="Arial"/>
              </a:rPr>
              <a:t>ENRICHMENT </a:t>
            </a:r>
            <a:r>
              <a:rPr dirty="0" sz="1350" spc="-130" b="1">
                <a:latin typeface="Arial"/>
                <a:cs typeface="Arial"/>
              </a:rPr>
              <a:t>AND </a:t>
            </a:r>
            <a:r>
              <a:rPr dirty="0" sz="1350" spc="-225" b="1">
                <a:latin typeface="Arial"/>
                <a:cs typeface="Arial"/>
              </a:rPr>
              <a:t>JOB</a:t>
            </a:r>
            <a:r>
              <a:rPr dirty="0" sz="1350" spc="-90" b="1">
                <a:latin typeface="Arial"/>
                <a:cs typeface="Arial"/>
              </a:rPr>
              <a:t> </a:t>
            </a:r>
            <a:r>
              <a:rPr dirty="0" sz="1350" spc="-175" b="1">
                <a:latin typeface="Arial"/>
                <a:cs typeface="Arial"/>
              </a:rPr>
              <a:t>REDESIGN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238125">
              <a:lnSpc>
                <a:spcPct val="101699"/>
              </a:lnSpc>
            </a:pPr>
            <a:r>
              <a:rPr dirty="0" sz="1150" spc="-145" b="1">
                <a:latin typeface="Arial"/>
                <a:cs typeface="Arial"/>
              </a:rPr>
              <a:t>Job </a:t>
            </a:r>
            <a:r>
              <a:rPr dirty="0" sz="1150" spc="-85" b="1">
                <a:latin typeface="Arial"/>
                <a:cs typeface="Arial"/>
              </a:rPr>
              <a:t>Enrichment </a:t>
            </a:r>
            <a:r>
              <a:rPr dirty="0" sz="1150" spc="-75" b="1">
                <a:latin typeface="Arial"/>
                <a:cs typeface="Arial"/>
              </a:rPr>
              <a:t>Programs</a:t>
            </a:r>
            <a:r>
              <a:rPr dirty="0" sz="1150" spc="-75">
                <a:latin typeface="Arial"/>
                <a:cs typeface="Arial"/>
              </a:rPr>
              <a:t>—method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increasing </a:t>
            </a:r>
            <a:r>
              <a:rPr dirty="0" sz="1150" spc="-25">
                <a:latin typeface="Arial"/>
                <a:cs typeface="Arial"/>
              </a:rPr>
              <a:t>job </a:t>
            </a:r>
            <a:r>
              <a:rPr dirty="0" sz="1150" spc="-40">
                <a:latin typeface="Arial"/>
                <a:cs typeface="Arial"/>
              </a:rPr>
              <a:t>satisfaction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55">
                <a:latin typeface="Arial"/>
                <a:cs typeface="Arial"/>
              </a:rPr>
              <a:t>adding </a:t>
            </a:r>
            <a:r>
              <a:rPr dirty="0" sz="1150" spc="-45">
                <a:latin typeface="Arial"/>
                <a:cs typeface="Arial"/>
              </a:rPr>
              <a:t>one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more  </a:t>
            </a:r>
            <a:r>
              <a:rPr dirty="0" sz="1150" spc="-25">
                <a:latin typeface="Arial"/>
                <a:cs typeface="Arial"/>
              </a:rPr>
              <a:t>motivating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job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activities.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120014">
              <a:lnSpc>
                <a:spcPct val="101699"/>
              </a:lnSpc>
            </a:pPr>
            <a:r>
              <a:rPr dirty="0" sz="1150" spc="-90">
                <a:latin typeface="Arial"/>
                <a:cs typeface="Arial"/>
              </a:rPr>
              <a:t>Job </a:t>
            </a:r>
            <a:r>
              <a:rPr dirty="0" sz="1150" spc="-10">
                <a:latin typeface="Arial"/>
                <a:cs typeface="Arial"/>
              </a:rPr>
              <a:t>rotation </a:t>
            </a:r>
            <a:r>
              <a:rPr dirty="0" sz="1150" spc="-55">
                <a:latin typeface="Arial"/>
                <a:cs typeface="Arial"/>
              </a:rPr>
              <a:t>plans,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example, </a:t>
            </a:r>
            <a:r>
              <a:rPr dirty="0" sz="1150" spc="-60">
                <a:latin typeface="Arial"/>
                <a:cs typeface="Arial"/>
              </a:rPr>
              <a:t>expand </a:t>
            </a:r>
            <a:r>
              <a:rPr dirty="0" sz="1150" spc="-20">
                <a:latin typeface="Arial"/>
                <a:cs typeface="Arial"/>
              </a:rPr>
              <a:t>growth </a:t>
            </a:r>
            <a:r>
              <a:rPr dirty="0" sz="1150" spc="-25">
                <a:latin typeface="Arial"/>
                <a:cs typeface="Arial"/>
              </a:rPr>
              <a:t>opportunities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chance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learn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new  </a:t>
            </a:r>
            <a:r>
              <a:rPr dirty="0" sz="1150" spc="-45">
                <a:latin typeface="Arial"/>
                <a:cs typeface="Arial"/>
              </a:rPr>
              <a:t>skills.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540385">
              <a:lnSpc>
                <a:spcPct val="101699"/>
              </a:lnSpc>
            </a:pPr>
            <a:r>
              <a:rPr dirty="0" sz="1150" spc="-145" b="1">
                <a:latin typeface="Arial"/>
                <a:cs typeface="Arial"/>
              </a:rPr>
              <a:t>Job </a:t>
            </a:r>
            <a:r>
              <a:rPr dirty="0" sz="1150" spc="-110" b="1">
                <a:latin typeface="Arial"/>
                <a:cs typeface="Arial"/>
              </a:rPr>
              <a:t>Redesign </a:t>
            </a:r>
            <a:r>
              <a:rPr dirty="0" sz="1150" spc="-75" b="1">
                <a:latin typeface="Arial"/>
                <a:cs typeface="Arial"/>
              </a:rPr>
              <a:t>Programs</a:t>
            </a:r>
            <a:r>
              <a:rPr dirty="0" sz="1150" spc="-75">
                <a:latin typeface="Arial"/>
                <a:cs typeface="Arial"/>
              </a:rPr>
              <a:t>—method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increasing </a:t>
            </a:r>
            <a:r>
              <a:rPr dirty="0" sz="1150" spc="-15">
                <a:latin typeface="Arial"/>
                <a:cs typeface="Arial"/>
              </a:rPr>
              <a:t>job </a:t>
            </a:r>
            <a:r>
              <a:rPr dirty="0" sz="1150" spc="-40">
                <a:latin typeface="Arial"/>
                <a:cs typeface="Arial"/>
              </a:rPr>
              <a:t>satisfaction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60">
                <a:latin typeface="Arial"/>
                <a:cs typeface="Arial"/>
              </a:rPr>
              <a:t>designing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more  </a:t>
            </a:r>
            <a:r>
              <a:rPr dirty="0" sz="1150" spc="-40">
                <a:latin typeface="Arial"/>
                <a:cs typeface="Arial"/>
              </a:rPr>
              <a:t>satisfactory </a:t>
            </a:r>
            <a:r>
              <a:rPr dirty="0" sz="1150" spc="30">
                <a:latin typeface="Arial"/>
                <a:cs typeface="Arial"/>
              </a:rPr>
              <a:t>fit </a:t>
            </a:r>
            <a:r>
              <a:rPr dirty="0" sz="1150" spc="-35">
                <a:latin typeface="Arial"/>
                <a:cs typeface="Arial"/>
              </a:rPr>
              <a:t>between </a:t>
            </a:r>
            <a:r>
              <a:rPr dirty="0" sz="1150" spc="-40">
                <a:latin typeface="Arial"/>
                <a:cs typeface="Arial"/>
              </a:rPr>
              <a:t>workers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jobs.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90170">
              <a:lnSpc>
                <a:spcPct val="101699"/>
              </a:lnSpc>
              <a:spcBef>
                <a:spcPts val="5"/>
              </a:spcBef>
            </a:pPr>
            <a:r>
              <a:rPr dirty="0" sz="1150" spc="-90">
                <a:latin typeface="Arial"/>
                <a:cs typeface="Arial"/>
              </a:rPr>
              <a:t>Job </a:t>
            </a:r>
            <a:r>
              <a:rPr dirty="0" sz="1150" spc="-55">
                <a:latin typeface="Arial"/>
                <a:cs typeface="Arial"/>
              </a:rPr>
              <a:t>redesign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usually </a:t>
            </a:r>
            <a:r>
              <a:rPr dirty="0" sz="1150" spc="-35">
                <a:latin typeface="Arial"/>
                <a:cs typeface="Arial"/>
              </a:rPr>
              <a:t>implemented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three </a:t>
            </a:r>
            <a:r>
              <a:rPr dirty="0" sz="1150" spc="-60">
                <a:latin typeface="Arial"/>
                <a:cs typeface="Arial"/>
              </a:rPr>
              <a:t>ways: </a:t>
            </a:r>
            <a:r>
              <a:rPr dirty="0" sz="1150" spc="-25">
                <a:latin typeface="Arial"/>
                <a:cs typeface="Arial"/>
              </a:rPr>
              <a:t>through </a:t>
            </a:r>
            <a:r>
              <a:rPr dirty="0" sz="1150" spc="-40">
                <a:latin typeface="Arial"/>
                <a:cs typeface="Arial"/>
              </a:rPr>
              <a:t>combining </a:t>
            </a:r>
            <a:r>
              <a:rPr dirty="0" sz="1150" spc="-50">
                <a:latin typeface="Arial"/>
                <a:cs typeface="Arial"/>
              </a:rPr>
              <a:t>task, </a:t>
            </a:r>
            <a:r>
              <a:rPr dirty="0" sz="1150" spc="-25">
                <a:latin typeface="Arial"/>
                <a:cs typeface="Arial"/>
              </a:rPr>
              <a:t>forming  </a:t>
            </a:r>
            <a:r>
              <a:rPr dirty="0" sz="1150" spc="-30">
                <a:latin typeface="Arial"/>
                <a:cs typeface="Arial"/>
              </a:rPr>
              <a:t>natural </a:t>
            </a:r>
            <a:r>
              <a:rPr dirty="0" sz="1150" spc="-20">
                <a:latin typeface="Arial"/>
                <a:cs typeface="Arial"/>
              </a:rPr>
              <a:t>work </a:t>
            </a:r>
            <a:r>
              <a:rPr dirty="0" sz="1150" spc="-55">
                <a:latin typeface="Arial"/>
                <a:cs typeface="Arial"/>
              </a:rPr>
              <a:t>groups,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0">
                <a:latin typeface="Arial"/>
                <a:cs typeface="Arial"/>
              </a:rPr>
              <a:t>establishing </a:t>
            </a:r>
            <a:r>
              <a:rPr dirty="0" sz="1150" spc="-20">
                <a:latin typeface="Arial"/>
                <a:cs typeface="Arial"/>
              </a:rPr>
              <a:t>client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relationships.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90" b="1">
                <a:latin typeface="Arial"/>
                <a:cs typeface="Arial"/>
              </a:rPr>
              <a:t>PSYCHOLOGICAL CONTRACTS </a:t>
            </a:r>
            <a:r>
              <a:rPr dirty="0" sz="1350" spc="-55" b="1">
                <a:latin typeface="Arial"/>
                <a:cs typeface="Arial"/>
              </a:rPr>
              <a:t>IN</a:t>
            </a:r>
            <a:r>
              <a:rPr dirty="0" sz="1350" spc="-200" b="1">
                <a:latin typeface="Arial"/>
                <a:cs typeface="Arial"/>
              </a:rPr>
              <a:t> </a:t>
            </a:r>
            <a:r>
              <a:rPr dirty="0" sz="1350" spc="-145" b="1">
                <a:latin typeface="Arial"/>
                <a:cs typeface="Arial"/>
              </a:rPr>
              <a:t>ORGANIZATIONS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Arial"/>
              <a:cs typeface="Arial"/>
            </a:endParaRPr>
          </a:p>
          <a:p>
            <a:pPr algn="just" marL="12700" marR="5715">
              <a:lnSpc>
                <a:spcPct val="101899"/>
              </a:lnSpc>
            </a:pPr>
            <a:r>
              <a:rPr dirty="0" sz="1050" spc="-75">
                <a:latin typeface="Arial"/>
                <a:cs typeface="Arial"/>
              </a:rPr>
              <a:t>Set </a:t>
            </a:r>
            <a:r>
              <a:rPr dirty="0" sz="1050" spc="-5">
                <a:latin typeface="Arial"/>
                <a:cs typeface="Arial"/>
              </a:rPr>
              <a:t>of </a:t>
            </a:r>
            <a:r>
              <a:rPr dirty="0" sz="1050" spc="-40">
                <a:latin typeface="Arial"/>
                <a:cs typeface="Arial"/>
              </a:rPr>
              <a:t>expectations </a:t>
            </a:r>
            <a:r>
              <a:rPr dirty="0" sz="1050" spc="-35">
                <a:latin typeface="Arial"/>
                <a:cs typeface="Arial"/>
              </a:rPr>
              <a:t>held </a:t>
            </a:r>
            <a:r>
              <a:rPr dirty="0" sz="1050" spc="-45">
                <a:latin typeface="Arial"/>
                <a:cs typeface="Arial"/>
              </a:rPr>
              <a:t>by </a:t>
            </a:r>
            <a:r>
              <a:rPr dirty="0" sz="1050" spc="-60">
                <a:latin typeface="Arial"/>
                <a:cs typeface="Arial"/>
              </a:rPr>
              <a:t>an </a:t>
            </a:r>
            <a:r>
              <a:rPr dirty="0" sz="1050" spc="-45">
                <a:latin typeface="Arial"/>
                <a:cs typeface="Arial"/>
              </a:rPr>
              <a:t>employee concerning </a:t>
            </a:r>
            <a:r>
              <a:rPr dirty="0" sz="1050" spc="-20">
                <a:latin typeface="Arial"/>
                <a:cs typeface="Arial"/>
              </a:rPr>
              <a:t>what </a:t>
            </a:r>
            <a:r>
              <a:rPr dirty="0" sz="1050" spc="-50">
                <a:latin typeface="Arial"/>
                <a:cs typeface="Arial"/>
              </a:rPr>
              <a:t>he </a:t>
            </a:r>
            <a:r>
              <a:rPr dirty="0" sz="1050" spc="-10">
                <a:latin typeface="Arial"/>
                <a:cs typeface="Arial"/>
              </a:rPr>
              <a:t>or </a:t>
            </a:r>
            <a:r>
              <a:rPr dirty="0" sz="1050" spc="-75">
                <a:latin typeface="Arial"/>
                <a:cs typeface="Arial"/>
              </a:rPr>
              <a:t>she </a:t>
            </a:r>
            <a:r>
              <a:rPr dirty="0" sz="1050">
                <a:latin typeface="Arial"/>
                <a:cs typeface="Arial"/>
              </a:rPr>
              <a:t>will </a:t>
            </a:r>
            <a:r>
              <a:rPr dirty="0" sz="1050" spc="-15">
                <a:latin typeface="Arial"/>
                <a:cs typeface="Arial"/>
              </a:rPr>
              <a:t>contribute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60">
                <a:latin typeface="Arial"/>
                <a:cs typeface="Arial"/>
              </a:rPr>
              <a:t>an  </a:t>
            </a:r>
            <a:r>
              <a:rPr dirty="0" sz="1050" spc="-35">
                <a:latin typeface="Arial"/>
                <a:cs typeface="Arial"/>
              </a:rPr>
              <a:t>organization </a:t>
            </a:r>
            <a:r>
              <a:rPr dirty="0" sz="1050" spc="-20">
                <a:latin typeface="Arial"/>
                <a:cs typeface="Arial"/>
              </a:rPr>
              <a:t>(referred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100">
                <a:latin typeface="Arial"/>
                <a:cs typeface="Arial"/>
              </a:rPr>
              <a:t>as </a:t>
            </a:r>
            <a:r>
              <a:rPr dirty="0" sz="1050" spc="-25">
                <a:latin typeface="Arial"/>
                <a:cs typeface="Arial"/>
              </a:rPr>
              <a:t>contributions) </a:t>
            </a:r>
            <a:r>
              <a:rPr dirty="0" sz="1050" spc="-50">
                <a:latin typeface="Arial"/>
                <a:cs typeface="Arial"/>
              </a:rPr>
              <a:t>and </a:t>
            </a:r>
            <a:r>
              <a:rPr dirty="0" sz="1050" spc="-15">
                <a:latin typeface="Arial"/>
                <a:cs typeface="Arial"/>
              </a:rPr>
              <a:t>what the </a:t>
            </a:r>
            <a:r>
              <a:rPr dirty="0" sz="1050" spc="-35">
                <a:latin typeface="Arial"/>
                <a:cs typeface="Arial"/>
              </a:rPr>
              <a:t>organization </a:t>
            </a:r>
            <a:r>
              <a:rPr dirty="0" sz="1050">
                <a:latin typeface="Arial"/>
                <a:cs typeface="Arial"/>
              </a:rPr>
              <a:t>will </a:t>
            </a:r>
            <a:r>
              <a:rPr dirty="0" sz="1050" spc="-15">
                <a:latin typeface="Arial"/>
                <a:cs typeface="Arial"/>
              </a:rPr>
              <a:t>in </a:t>
            </a:r>
            <a:r>
              <a:rPr dirty="0" sz="1050" spc="-10">
                <a:latin typeface="Arial"/>
                <a:cs typeface="Arial"/>
              </a:rPr>
              <a:t>return </a:t>
            </a:r>
            <a:r>
              <a:rPr dirty="0" sz="1050" spc="-30">
                <a:latin typeface="Arial"/>
                <a:cs typeface="Arial"/>
              </a:rPr>
              <a:t>provide </a:t>
            </a:r>
            <a:r>
              <a:rPr dirty="0" sz="1050" spc="-20">
                <a:latin typeface="Arial"/>
                <a:cs typeface="Arial"/>
              </a:rPr>
              <a:t>the  </a:t>
            </a:r>
            <a:r>
              <a:rPr dirty="0" sz="1050" spc="-45">
                <a:latin typeface="Arial"/>
                <a:cs typeface="Arial"/>
              </a:rPr>
              <a:t>employee </a:t>
            </a:r>
            <a:r>
              <a:rPr dirty="0" sz="1050" spc="-25">
                <a:latin typeface="Arial"/>
                <a:cs typeface="Arial"/>
              </a:rPr>
              <a:t>(referred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100">
                <a:latin typeface="Arial"/>
                <a:cs typeface="Arial"/>
              </a:rPr>
              <a:t>as</a:t>
            </a:r>
            <a:r>
              <a:rPr dirty="0" sz="1050" spc="-165">
                <a:latin typeface="Arial"/>
                <a:cs typeface="Arial"/>
              </a:rPr>
              <a:t> </a:t>
            </a:r>
            <a:r>
              <a:rPr dirty="0" sz="1050" spc="-40">
                <a:latin typeface="Arial"/>
                <a:cs typeface="Arial"/>
              </a:rPr>
              <a:t>inducements).</a:t>
            </a:r>
            <a:endParaRPr sz="1050">
              <a:latin typeface="Arial"/>
              <a:cs typeface="Arial"/>
            </a:endParaRPr>
          </a:p>
          <a:p>
            <a:pPr algn="just" marL="12700" marR="5715">
              <a:lnSpc>
                <a:spcPts val="1280"/>
              </a:lnSpc>
              <a:spcBef>
                <a:spcPts val="40"/>
              </a:spcBef>
            </a:pPr>
            <a:r>
              <a:rPr dirty="0" sz="1050" spc="-30">
                <a:latin typeface="Arial"/>
                <a:cs typeface="Arial"/>
              </a:rPr>
              <a:t>All </a:t>
            </a:r>
            <a:r>
              <a:rPr dirty="0" sz="1050" spc="-45">
                <a:latin typeface="Arial"/>
                <a:cs typeface="Arial"/>
              </a:rPr>
              <a:t>organizations </a:t>
            </a:r>
            <a:r>
              <a:rPr dirty="0" sz="1050" spc="-55">
                <a:latin typeface="Arial"/>
                <a:cs typeface="Arial"/>
              </a:rPr>
              <a:t>face </a:t>
            </a:r>
            <a:r>
              <a:rPr dirty="0" sz="1050" spc="-20">
                <a:latin typeface="Arial"/>
                <a:cs typeface="Arial"/>
              </a:rPr>
              <a:t>the </a:t>
            </a:r>
            <a:r>
              <a:rPr dirty="0" sz="1050" spc="-65">
                <a:latin typeface="Arial"/>
                <a:cs typeface="Arial"/>
              </a:rPr>
              <a:t>basic </a:t>
            </a:r>
            <a:r>
              <a:rPr dirty="0" sz="1050" spc="-50">
                <a:latin typeface="Arial"/>
                <a:cs typeface="Arial"/>
              </a:rPr>
              <a:t>challenge </a:t>
            </a:r>
            <a:r>
              <a:rPr dirty="0" sz="1050" spc="-5">
                <a:latin typeface="Arial"/>
                <a:cs typeface="Arial"/>
              </a:rPr>
              <a:t>of </a:t>
            </a:r>
            <a:r>
              <a:rPr dirty="0" sz="1050" spc="-60">
                <a:latin typeface="Arial"/>
                <a:cs typeface="Arial"/>
              </a:rPr>
              <a:t>managing </a:t>
            </a:r>
            <a:r>
              <a:rPr dirty="0" sz="1050" spc="-50">
                <a:latin typeface="Arial"/>
                <a:cs typeface="Arial"/>
              </a:rPr>
              <a:t>psychological </a:t>
            </a:r>
            <a:r>
              <a:rPr dirty="0" sz="1050" spc="-35">
                <a:latin typeface="Arial"/>
                <a:cs typeface="Arial"/>
              </a:rPr>
              <a:t>contracts. </a:t>
            </a:r>
            <a:r>
              <a:rPr dirty="0" sz="1050" spc="-75">
                <a:latin typeface="Arial"/>
                <a:cs typeface="Arial"/>
              </a:rPr>
              <a:t>The </a:t>
            </a:r>
            <a:r>
              <a:rPr dirty="0" sz="1050" spc="-70">
                <a:latin typeface="Arial"/>
                <a:cs typeface="Arial"/>
              </a:rPr>
              <a:t>massive </a:t>
            </a:r>
            <a:r>
              <a:rPr dirty="0" sz="1050" spc="-55">
                <a:latin typeface="Arial"/>
                <a:cs typeface="Arial"/>
              </a:rPr>
              <a:t>wave </a:t>
            </a:r>
            <a:r>
              <a:rPr dirty="0" sz="1050" spc="-10">
                <a:latin typeface="Arial"/>
                <a:cs typeface="Arial"/>
              </a:rPr>
              <a:t>of  </a:t>
            </a:r>
            <a:r>
              <a:rPr dirty="0" sz="1050" spc="-50">
                <a:latin typeface="Arial"/>
                <a:cs typeface="Arial"/>
              </a:rPr>
              <a:t>downsizing and </a:t>
            </a:r>
            <a:r>
              <a:rPr dirty="0" sz="1050" spc="-55">
                <a:latin typeface="Arial"/>
                <a:cs typeface="Arial"/>
              </a:rPr>
              <a:t>cutbacks </a:t>
            </a:r>
            <a:r>
              <a:rPr dirty="0" sz="1050" spc="-5">
                <a:latin typeface="Arial"/>
                <a:cs typeface="Arial"/>
              </a:rPr>
              <a:t>that </a:t>
            </a:r>
            <a:r>
              <a:rPr dirty="0" sz="1050" spc="-35">
                <a:latin typeface="Arial"/>
                <a:cs typeface="Arial"/>
              </a:rPr>
              <a:t>swept </a:t>
            </a:r>
            <a:r>
              <a:rPr dirty="0" sz="1050" spc="-15">
                <a:latin typeface="Arial"/>
                <a:cs typeface="Arial"/>
              </a:rPr>
              <a:t>the </a:t>
            </a:r>
            <a:r>
              <a:rPr dirty="0" sz="1050" spc="-95">
                <a:latin typeface="Arial"/>
                <a:cs typeface="Arial"/>
              </a:rPr>
              <a:t>U.S. </a:t>
            </a:r>
            <a:r>
              <a:rPr dirty="0" sz="1050" spc="-50">
                <a:latin typeface="Arial"/>
                <a:cs typeface="Arial"/>
              </a:rPr>
              <a:t>economy </a:t>
            </a:r>
            <a:r>
              <a:rPr dirty="0" sz="1050" spc="-15">
                <a:latin typeface="Arial"/>
                <a:cs typeface="Arial"/>
              </a:rPr>
              <a:t>in the </a:t>
            </a:r>
            <a:r>
              <a:rPr dirty="0" sz="1050" spc="-65">
                <a:latin typeface="Arial"/>
                <a:cs typeface="Arial"/>
              </a:rPr>
              <a:t>1980s </a:t>
            </a:r>
            <a:r>
              <a:rPr dirty="0" sz="1050" spc="-50">
                <a:latin typeface="Arial"/>
                <a:cs typeface="Arial"/>
              </a:rPr>
              <a:t>and </a:t>
            </a:r>
            <a:r>
              <a:rPr dirty="0" sz="1050" spc="-40">
                <a:latin typeface="Arial"/>
                <a:cs typeface="Arial"/>
              </a:rPr>
              <a:t>early </a:t>
            </a:r>
            <a:r>
              <a:rPr dirty="0" sz="1050" spc="-65">
                <a:latin typeface="Arial"/>
                <a:cs typeface="Arial"/>
              </a:rPr>
              <a:t>1990s </a:t>
            </a:r>
            <a:r>
              <a:rPr dirty="0" sz="1050" spc="-80">
                <a:latin typeface="Arial"/>
                <a:cs typeface="Arial"/>
              </a:rPr>
              <a:t>has </a:t>
            </a:r>
            <a:r>
              <a:rPr dirty="0" sz="1050" spc="-35">
                <a:latin typeface="Arial"/>
                <a:cs typeface="Arial"/>
              </a:rPr>
              <a:t>complicated  </a:t>
            </a:r>
            <a:r>
              <a:rPr dirty="0" sz="1050" spc="-5">
                <a:latin typeface="Arial"/>
                <a:cs typeface="Arial"/>
              </a:rPr>
              <a:t>that </a:t>
            </a:r>
            <a:r>
              <a:rPr dirty="0" sz="1050" spc="-50">
                <a:latin typeface="Arial"/>
                <a:cs typeface="Arial"/>
              </a:rPr>
              <a:t>challenge. </a:t>
            </a:r>
            <a:r>
              <a:rPr dirty="0" sz="1050" spc="-85">
                <a:latin typeface="Arial"/>
                <a:cs typeface="Arial"/>
              </a:rPr>
              <a:t>Because </a:t>
            </a:r>
            <a:r>
              <a:rPr dirty="0" sz="1050" spc="-15">
                <a:latin typeface="Arial"/>
                <a:cs typeface="Arial"/>
              </a:rPr>
              <a:t>job </a:t>
            </a:r>
            <a:r>
              <a:rPr dirty="0" sz="1050" spc="-50">
                <a:latin typeface="Arial"/>
                <a:cs typeface="Arial"/>
              </a:rPr>
              <a:t>permanence </a:t>
            </a:r>
            <a:r>
              <a:rPr dirty="0" sz="1050" spc="-55">
                <a:latin typeface="Arial"/>
                <a:cs typeface="Arial"/>
              </a:rPr>
              <a:t>is </a:t>
            </a:r>
            <a:r>
              <a:rPr dirty="0" sz="1050" spc="-75">
                <a:latin typeface="Arial"/>
                <a:cs typeface="Arial"/>
              </a:rPr>
              <a:t>less </a:t>
            </a:r>
            <a:r>
              <a:rPr dirty="0" sz="1050" spc="-25">
                <a:latin typeface="Arial"/>
                <a:cs typeface="Arial"/>
              </a:rPr>
              <a:t>likely </a:t>
            </a:r>
            <a:r>
              <a:rPr dirty="0" sz="1050" spc="-30">
                <a:latin typeface="Arial"/>
                <a:cs typeface="Arial"/>
              </a:rPr>
              <a:t>now, </a:t>
            </a:r>
            <a:r>
              <a:rPr dirty="0" sz="1050" spc="-25">
                <a:latin typeface="Arial"/>
                <a:cs typeface="Arial"/>
              </a:rPr>
              <a:t>alternative </a:t>
            </a:r>
            <a:r>
              <a:rPr dirty="0" sz="1050" spc="-45">
                <a:latin typeface="Arial"/>
                <a:cs typeface="Arial"/>
              </a:rPr>
              <a:t>inducements </a:t>
            </a:r>
            <a:r>
              <a:rPr dirty="0" sz="1050" spc="-70">
                <a:latin typeface="Arial"/>
                <a:cs typeface="Arial"/>
              </a:rPr>
              <a:t>such </a:t>
            </a:r>
            <a:r>
              <a:rPr dirty="0" sz="1050" spc="-100">
                <a:latin typeface="Arial"/>
                <a:cs typeface="Arial"/>
              </a:rPr>
              <a:t>as </a:t>
            </a:r>
            <a:r>
              <a:rPr dirty="0" sz="1050" spc="-50">
                <a:latin typeface="Arial"/>
                <a:cs typeface="Arial"/>
              </a:rPr>
              <a:t>lavish  </a:t>
            </a:r>
            <a:r>
              <a:rPr dirty="0" sz="1050" spc="-30">
                <a:latin typeface="Arial"/>
                <a:cs typeface="Arial"/>
              </a:rPr>
              <a:t>benefits </a:t>
            </a:r>
            <a:r>
              <a:rPr dirty="0" sz="1050" spc="-80">
                <a:latin typeface="Arial"/>
                <a:cs typeface="Arial"/>
              </a:rPr>
              <a:t>packages </a:t>
            </a:r>
            <a:r>
              <a:rPr dirty="0" sz="1050" spc="-60">
                <a:latin typeface="Arial"/>
                <a:cs typeface="Arial"/>
              </a:rPr>
              <a:t>may </a:t>
            </a:r>
            <a:r>
              <a:rPr dirty="0" sz="1050" spc="-55">
                <a:latin typeface="Arial"/>
                <a:cs typeface="Arial"/>
              </a:rPr>
              <a:t>be </a:t>
            </a:r>
            <a:r>
              <a:rPr dirty="0" sz="1050" spc="-50">
                <a:latin typeface="Arial"/>
                <a:cs typeface="Arial"/>
              </a:rPr>
              <a:t>needed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40">
                <a:latin typeface="Arial"/>
                <a:cs typeface="Arial"/>
              </a:rPr>
              <a:t>instead.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60" b="1">
                <a:latin typeface="Arial"/>
                <a:cs typeface="Arial"/>
              </a:rPr>
              <a:t>Managerial </a:t>
            </a:r>
            <a:r>
              <a:rPr dirty="0" sz="1150" spc="-100" b="1">
                <a:latin typeface="Arial"/>
                <a:cs typeface="Arial"/>
              </a:rPr>
              <a:t>Styles </a:t>
            </a:r>
            <a:r>
              <a:rPr dirty="0" sz="1150" spc="-85" b="1">
                <a:latin typeface="Arial"/>
                <a:cs typeface="Arial"/>
              </a:rPr>
              <a:t>and</a:t>
            </a:r>
            <a:r>
              <a:rPr dirty="0" sz="1150" spc="-10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Leadership: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40">
                <a:latin typeface="Arial"/>
                <a:cs typeface="Arial"/>
              </a:rPr>
              <a:t>valid </a:t>
            </a:r>
            <a:r>
              <a:rPr dirty="0" sz="1150" spc="-55">
                <a:latin typeface="Arial"/>
                <a:cs typeface="Arial"/>
              </a:rPr>
              <a:t>styles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leadership. </a:t>
            </a:r>
            <a:r>
              <a:rPr dirty="0" sz="1150" spc="-15">
                <a:latin typeface="Arial"/>
                <a:cs typeface="Arial"/>
              </a:rPr>
              <a:t>Most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30">
                <a:latin typeface="Arial"/>
                <a:cs typeface="Arial"/>
              </a:rPr>
              <a:t>conform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anyone </a:t>
            </a:r>
            <a:r>
              <a:rPr dirty="0" sz="1150" spc="-40">
                <a:latin typeface="Arial"/>
                <a:cs typeface="Arial"/>
              </a:rPr>
              <a:t>style, 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35">
                <a:latin typeface="Arial"/>
                <a:cs typeface="Arial"/>
              </a:rPr>
              <a:t>under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55">
                <a:latin typeface="Arial"/>
                <a:cs typeface="Arial"/>
              </a:rPr>
              <a:t>circumstances,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55">
                <a:latin typeface="Arial"/>
                <a:cs typeface="Arial"/>
              </a:rPr>
              <a:t>given </a:t>
            </a:r>
            <a:r>
              <a:rPr dirty="0" sz="1150" spc="-40">
                <a:latin typeface="Arial"/>
                <a:cs typeface="Arial"/>
              </a:rPr>
              <a:t>style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combination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styles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40">
                <a:latin typeface="Arial"/>
                <a:cs typeface="Arial"/>
              </a:rPr>
              <a:t>prove  </a:t>
            </a:r>
            <a:r>
              <a:rPr dirty="0" sz="1150" spc="-30">
                <a:latin typeface="Arial"/>
                <a:cs typeface="Arial"/>
              </a:rPr>
              <a:t>appropriate.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95" b="1">
                <a:latin typeface="Arial"/>
                <a:cs typeface="Arial"/>
              </a:rPr>
              <a:t>Leadership: </a:t>
            </a:r>
            <a:r>
              <a:rPr dirty="0" sz="1150" spc="-135" b="1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motivating </a:t>
            </a:r>
            <a:r>
              <a:rPr dirty="0" sz="1150" spc="-35">
                <a:latin typeface="Arial"/>
                <a:cs typeface="Arial"/>
              </a:rPr>
              <a:t>others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work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meet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specific </a:t>
            </a:r>
            <a:r>
              <a:rPr dirty="0" sz="1150" spc="-40">
                <a:latin typeface="Arial"/>
                <a:cs typeface="Arial"/>
              </a:rPr>
              <a:t>objectives.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355600" marR="7620" indent="-342900">
              <a:lnSpc>
                <a:spcPct val="101699"/>
              </a:lnSpc>
              <a:buAutoNum type="alphaLcPeriod"/>
              <a:tabLst>
                <a:tab pos="354965" algn="l"/>
                <a:tab pos="356235" algn="l"/>
              </a:tabLst>
            </a:pPr>
            <a:r>
              <a:rPr dirty="0" sz="1150" spc="-60" b="1">
                <a:latin typeface="Arial"/>
                <a:cs typeface="Arial"/>
              </a:rPr>
              <a:t>Managerial </a:t>
            </a:r>
            <a:r>
              <a:rPr dirty="0" sz="1150" spc="-100" b="1">
                <a:latin typeface="Arial"/>
                <a:cs typeface="Arial"/>
              </a:rPr>
              <a:t>Styles: </a:t>
            </a:r>
            <a:r>
              <a:rPr dirty="0" sz="1150" spc="-35">
                <a:latin typeface="Arial"/>
                <a:cs typeface="Arial"/>
              </a:rPr>
              <a:t>Pattern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behavior </a:t>
            </a:r>
            <a:r>
              <a:rPr dirty="0" sz="1150">
                <a:latin typeface="Arial"/>
                <a:cs typeface="Arial"/>
              </a:rPr>
              <a:t>that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manager </a:t>
            </a:r>
            <a:r>
              <a:rPr dirty="0" sz="1150" spc="-35">
                <a:latin typeface="Arial"/>
                <a:cs typeface="Arial"/>
              </a:rPr>
              <a:t>exhibits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dealing </a:t>
            </a:r>
            <a:r>
              <a:rPr dirty="0" sz="1150" spc="5">
                <a:latin typeface="Arial"/>
                <a:cs typeface="Arial"/>
              </a:rPr>
              <a:t>with  </a:t>
            </a:r>
            <a:r>
              <a:rPr dirty="0" sz="1150" spc="-45">
                <a:latin typeface="Arial"/>
                <a:cs typeface="Arial"/>
              </a:rPr>
              <a:t>subordinates.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lphaLcPeriod"/>
            </a:pPr>
            <a:endParaRPr sz="1200">
              <a:latin typeface="Arial"/>
              <a:cs typeface="Arial"/>
            </a:endParaRPr>
          </a:p>
          <a:p>
            <a:pPr lvl="1" marL="469900" marR="6985" indent="43815">
              <a:lnSpc>
                <a:spcPct val="101699"/>
              </a:lnSpc>
              <a:buFont typeface="Arial"/>
              <a:buAutoNum type="romanLcPeriod"/>
              <a:tabLst>
                <a:tab pos="926465" algn="l"/>
                <a:tab pos="927735" algn="l"/>
              </a:tabLst>
            </a:pPr>
            <a:r>
              <a:rPr dirty="0" sz="1150" spc="-80" b="1">
                <a:latin typeface="Arial"/>
                <a:cs typeface="Arial"/>
              </a:rPr>
              <a:t>Autocratic </a:t>
            </a:r>
            <a:r>
              <a:rPr dirty="0" sz="1150" spc="-85" b="1">
                <a:latin typeface="Arial"/>
                <a:cs typeface="Arial"/>
              </a:rPr>
              <a:t>Style: </a:t>
            </a:r>
            <a:r>
              <a:rPr dirty="0" sz="1150" spc="-45">
                <a:latin typeface="Arial"/>
                <a:cs typeface="Arial"/>
              </a:rPr>
              <a:t>Managerial </a:t>
            </a:r>
            <a:r>
              <a:rPr dirty="0" sz="1150" spc="-40">
                <a:latin typeface="Arial"/>
                <a:cs typeface="Arial"/>
              </a:rPr>
              <a:t>style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45">
                <a:latin typeface="Arial"/>
                <a:cs typeface="Arial"/>
              </a:rPr>
              <a:t>generally </a:t>
            </a:r>
            <a:r>
              <a:rPr dirty="0" sz="1150" spc="-70">
                <a:latin typeface="Arial"/>
                <a:cs typeface="Arial"/>
              </a:rPr>
              <a:t>issue </a:t>
            </a:r>
            <a:r>
              <a:rPr dirty="0" sz="1150" spc="-40">
                <a:latin typeface="Arial"/>
                <a:cs typeface="Arial"/>
              </a:rPr>
              <a:t>orders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expect </a:t>
            </a:r>
            <a:r>
              <a:rPr dirty="0" sz="1150" spc="-25">
                <a:latin typeface="Arial"/>
                <a:cs typeface="Arial"/>
              </a:rPr>
              <a:t>them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obeyed </a:t>
            </a:r>
            <a:r>
              <a:rPr dirty="0" sz="1150">
                <a:latin typeface="Arial"/>
                <a:cs typeface="Arial"/>
              </a:rPr>
              <a:t>without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question.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118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57" y="892559"/>
            <a:ext cx="5514340" cy="817499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469900" marR="5080" indent="10160">
              <a:lnSpc>
                <a:spcPct val="101699"/>
              </a:lnSpc>
              <a:spcBef>
                <a:spcPts val="75"/>
              </a:spcBef>
              <a:buFont typeface="Arial"/>
              <a:buAutoNum type="romanLcPeriod" startAt="2"/>
              <a:tabLst>
                <a:tab pos="927735" algn="l"/>
              </a:tabLst>
            </a:pPr>
            <a:r>
              <a:rPr dirty="0" sz="1150" spc="-80" b="1">
                <a:latin typeface="Arial"/>
                <a:cs typeface="Arial"/>
              </a:rPr>
              <a:t>Democratic </a:t>
            </a:r>
            <a:r>
              <a:rPr dirty="0" sz="1150" spc="-85" b="1">
                <a:latin typeface="Arial"/>
                <a:cs typeface="Arial"/>
              </a:rPr>
              <a:t>Style: </a:t>
            </a:r>
            <a:r>
              <a:rPr dirty="0" sz="1150" spc="-45">
                <a:latin typeface="Arial"/>
                <a:cs typeface="Arial"/>
              </a:rPr>
              <a:t>Managerial </a:t>
            </a:r>
            <a:r>
              <a:rPr dirty="0" sz="1150" spc="-40">
                <a:latin typeface="Arial"/>
                <a:cs typeface="Arial"/>
              </a:rPr>
              <a:t>style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45">
                <a:latin typeface="Arial"/>
                <a:cs typeface="Arial"/>
              </a:rPr>
              <a:t>generally </a:t>
            </a:r>
            <a:r>
              <a:rPr dirty="0" sz="1150" spc="-90">
                <a:latin typeface="Arial"/>
                <a:cs typeface="Arial"/>
              </a:rPr>
              <a:t>ask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15">
                <a:latin typeface="Arial"/>
                <a:cs typeface="Arial"/>
              </a:rPr>
              <a:t>input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45">
                <a:latin typeface="Arial"/>
                <a:cs typeface="Arial"/>
              </a:rPr>
              <a:t>subordinates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20">
                <a:latin typeface="Arial"/>
                <a:cs typeface="Arial"/>
              </a:rPr>
              <a:t>retain final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decision-making </a:t>
            </a:r>
            <a:r>
              <a:rPr dirty="0" sz="1150" spc="-30">
                <a:latin typeface="Arial"/>
                <a:cs typeface="Arial"/>
              </a:rPr>
              <a:t>power.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romanLcPeriod" startAt="2"/>
            </a:pPr>
            <a:endParaRPr sz="1200">
              <a:latin typeface="Arial"/>
              <a:cs typeface="Arial"/>
            </a:endParaRPr>
          </a:p>
          <a:p>
            <a:pPr algn="just" marL="469900" marR="6350" indent="-22860">
              <a:lnSpc>
                <a:spcPct val="101699"/>
              </a:lnSpc>
              <a:buFont typeface="Arial"/>
              <a:buAutoNum type="romanLcPeriod" startAt="2"/>
              <a:tabLst>
                <a:tab pos="927735" algn="l"/>
              </a:tabLst>
            </a:pPr>
            <a:r>
              <a:rPr dirty="0" sz="1150" spc="-85" b="1">
                <a:latin typeface="Arial"/>
                <a:cs typeface="Arial"/>
              </a:rPr>
              <a:t>Free-Rein </a:t>
            </a:r>
            <a:r>
              <a:rPr dirty="0" sz="1150" spc="-75" b="1">
                <a:latin typeface="Arial"/>
                <a:cs typeface="Arial"/>
              </a:rPr>
              <a:t>Style</a:t>
            </a:r>
            <a:r>
              <a:rPr dirty="0" sz="1150" spc="-75">
                <a:latin typeface="Arial"/>
                <a:cs typeface="Arial"/>
              </a:rPr>
              <a:t>: </a:t>
            </a:r>
            <a:r>
              <a:rPr dirty="0" sz="1150" spc="-45">
                <a:latin typeface="Arial"/>
                <a:cs typeface="Arial"/>
              </a:rPr>
              <a:t>Managerial </a:t>
            </a:r>
            <a:r>
              <a:rPr dirty="0" sz="1150" spc="-40">
                <a:latin typeface="Arial"/>
                <a:cs typeface="Arial"/>
              </a:rPr>
              <a:t>style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30">
                <a:latin typeface="Arial"/>
                <a:cs typeface="Arial"/>
              </a:rPr>
              <a:t>typically </a:t>
            </a:r>
            <a:r>
              <a:rPr dirty="0" sz="1150" spc="-65">
                <a:latin typeface="Arial"/>
                <a:cs typeface="Arial"/>
              </a:rPr>
              <a:t>serve </a:t>
            </a:r>
            <a:r>
              <a:rPr dirty="0" sz="1150" spc="-114">
                <a:latin typeface="Arial"/>
                <a:cs typeface="Arial"/>
              </a:rPr>
              <a:t>as  </a:t>
            </a:r>
            <a:r>
              <a:rPr dirty="0" sz="1150" spc="-65">
                <a:latin typeface="Arial"/>
                <a:cs typeface="Arial"/>
              </a:rPr>
              <a:t>advisers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subordinates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allowed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make </a:t>
            </a:r>
            <a:r>
              <a:rPr dirty="0" sz="1150" spc="-55">
                <a:latin typeface="Arial"/>
                <a:cs typeface="Arial"/>
              </a:rPr>
              <a:t>decisions.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romanLcPeriod" startAt="2"/>
            </a:pPr>
            <a:endParaRPr sz="1200">
              <a:latin typeface="Arial"/>
              <a:cs typeface="Arial"/>
            </a:endParaRPr>
          </a:p>
          <a:p>
            <a:pPr algn="just" marL="469900" marR="7620" indent="-21590">
              <a:lnSpc>
                <a:spcPct val="101699"/>
              </a:lnSpc>
              <a:buFont typeface="Arial"/>
              <a:buAutoNum type="romanLcPeriod" startAt="2"/>
              <a:tabLst>
                <a:tab pos="927735" algn="l"/>
              </a:tabLst>
            </a:pPr>
            <a:r>
              <a:rPr dirty="0" sz="1150" spc="-90" b="1">
                <a:latin typeface="Arial"/>
                <a:cs typeface="Arial"/>
              </a:rPr>
              <a:t>The </a:t>
            </a:r>
            <a:r>
              <a:rPr dirty="0" sz="1150" spc="-100" b="1">
                <a:latin typeface="Arial"/>
                <a:cs typeface="Arial"/>
              </a:rPr>
              <a:t>Contingency Approach </a:t>
            </a:r>
            <a:r>
              <a:rPr dirty="0" sz="1150" spc="-40" b="1">
                <a:latin typeface="Arial"/>
                <a:cs typeface="Arial"/>
              </a:rPr>
              <a:t>to </a:t>
            </a:r>
            <a:r>
              <a:rPr dirty="0" sz="1150" spc="-90" b="1">
                <a:latin typeface="Arial"/>
                <a:cs typeface="Arial"/>
              </a:rPr>
              <a:t>Leadership</a:t>
            </a:r>
            <a:r>
              <a:rPr dirty="0" sz="1150" spc="-90">
                <a:latin typeface="Arial"/>
                <a:cs typeface="Arial"/>
              </a:rPr>
              <a:t>: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contingency  </a:t>
            </a:r>
            <a:r>
              <a:rPr dirty="0" sz="1150" spc="-50">
                <a:latin typeface="Arial"/>
                <a:cs typeface="Arial"/>
              </a:rPr>
              <a:t>approach  </a:t>
            </a:r>
            <a:r>
              <a:rPr dirty="0" sz="1150" spc="-60">
                <a:latin typeface="Arial"/>
                <a:cs typeface="Arial"/>
              </a:rPr>
              <a:t>acknowledges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40">
                <a:latin typeface="Arial"/>
                <a:cs typeface="Arial"/>
              </a:rPr>
              <a:t>cultures </a:t>
            </a:r>
            <a:r>
              <a:rPr dirty="0" sz="1150" spc="-60">
                <a:latin typeface="Arial"/>
                <a:cs typeface="Arial"/>
              </a:rPr>
              <a:t>behave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expect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different  </a:t>
            </a:r>
            <a:r>
              <a:rPr dirty="0" sz="1150" spc="-45">
                <a:latin typeface="Arial"/>
                <a:cs typeface="Arial"/>
              </a:rPr>
              <a:t>things </a:t>
            </a:r>
            <a:r>
              <a:rPr dirty="0" sz="1150" spc="-10">
                <a:latin typeface="Arial"/>
                <a:cs typeface="Arial"/>
              </a:rPr>
              <a:t>from their </a:t>
            </a:r>
            <a:r>
              <a:rPr dirty="0" sz="1150" spc="-65">
                <a:latin typeface="Arial"/>
                <a:cs typeface="Arial"/>
              </a:rPr>
              <a:t>managers. </a:t>
            </a:r>
            <a:r>
              <a:rPr dirty="0" sz="1150" spc="-60">
                <a:latin typeface="Arial"/>
                <a:cs typeface="Arial"/>
              </a:rPr>
              <a:t>Managers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5">
                <a:latin typeface="Arial"/>
                <a:cs typeface="Arial"/>
              </a:rPr>
              <a:t>more </a:t>
            </a:r>
            <a:r>
              <a:rPr dirty="0" sz="1150" spc="-25">
                <a:latin typeface="Arial"/>
                <a:cs typeface="Arial"/>
              </a:rPr>
              <a:t>effective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40">
                <a:latin typeface="Arial"/>
                <a:cs typeface="Arial"/>
              </a:rPr>
              <a:t>adapt </a:t>
            </a:r>
            <a:r>
              <a:rPr dirty="0" sz="1150" spc="-10">
                <a:latin typeface="Arial"/>
                <a:cs typeface="Arial"/>
              </a:rPr>
              <a:t>their  </a:t>
            </a:r>
            <a:r>
              <a:rPr dirty="0" sz="1150" spc="-55">
                <a:latin typeface="Arial"/>
                <a:cs typeface="Arial"/>
              </a:rPr>
              <a:t>styles </a:t>
            </a:r>
            <a:r>
              <a:rPr dirty="0" sz="1150" spc="5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contingencies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situations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they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face.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romanLcPeriod" startAt="2"/>
            </a:pPr>
            <a:endParaRPr sz="1200">
              <a:latin typeface="Arial"/>
              <a:cs typeface="Arial"/>
            </a:endParaRPr>
          </a:p>
          <a:p>
            <a:pPr algn="just" marL="469900" marR="8255" indent="12065">
              <a:lnSpc>
                <a:spcPct val="101699"/>
              </a:lnSpc>
              <a:buFont typeface="Arial"/>
              <a:buAutoNum type="romanLcPeriod" startAt="2"/>
              <a:tabLst>
                <a:tab pos="927735" algn="l"/>
              </a:tabLst>
            </a:pPr>
            <a:r>
              <a:rPr dirty="0" sz="1150" spc="-100" b="1">
                <a:latin typeface="Arial"/>
                <a:cs typeface="Arial"/>
              </a:rPr>
              <a:t>Contingency </a:t>
            </a:r>
            <a:r>
              <a:rPr dirty="0" sz="1150" spc="-90" b="1">
                <a:latin typeface="Arial"/>
                <a:cs typeface="Arial"/>
              </a:rPr>
              <a:t>Approach</a:t>
            </a:r>
            <a:r>
              <a:rPr dirty="0" sz="1150" spc="-90">
                <a:latin typeface="Arial"/>
                <a:cs typeface="Arial"/>
              </a:rPr>
              <a:t>: </a:t>
            </a:r>
            <a:r>
              <a:rPr dirty="0" sz="1150" spc="-55">
                <a:latin typeface="Arial"/>
                <a:cs typeface="Arial"/>
              </a:rPr>
              <a:t>Approach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managerial </a:t>
            </a:r>
            <a:r>
              <a:rPr dirty="0" sz="1150" spc="-40">
                <a:latin typeface="Arial"/>
                <a:cs typeface="Arial"/>
              </a:rPr>
              <a:t>style </a:t>
            </a:r>
            <a:r>
              <a:rPr dirty="0" sz="1150" spc="-35">
                <a:latin typeface="Arial"/>
                <a:cs typeface="Arial"/>
              </a:rPr>
              <a:t>holding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30">
                <a:latin typeface="Arial"/>
                <a:cs typeface="Arial"/>
              </a:rPr>
              <a:t>appropriate </a:t>
            </a:r>
            <a:r>
              <a:rPr dirty="0" sz="1150" spc="-40">
                <a:latin typeface="Arial"/>
                <a:cs typeface="Arial"/>
              </a:rPr>
              <a:t>behavior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25">
                <a:latin typeface="Arial"/>
                <a:cs typeface="Arial"/>
              </a:rPr>
              <a:t>situation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dependent </a:t>
            </a:r>
            <a:r>
              <a:rPr dirty="0" sz="1150" spc="-30">
                <a:latin typeface="Arial"/>
                <a:cs typeface="Arial"/>
              </a:rPr>
              <a:t>(contingent)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unique  </a:t>
            </a:r>
            <a:r>
              <a:rPr dirty="0" sz="1150" spc="-45">
                <a:latin typeface="Arial"/>
                <a:cs typeface="Arial"/>
              </a:rPr>
              <a:t>elements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situation.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AutoNum type="romanLcPeriod" startAt="2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50" spc="-100" b="1">
                <a:latin typeface="Arial"/>
                <a:cs typeface="Arial"/>
              </a:rPr>
              <a:t>MOTIVATION </a:t>
            </a:r>
            <a:r>
              <a:rPr dirty="0" sz="1450" spc="-135" b="1">
                <a:latin typeface="Arial"/>
                <a:cs typeface="Arial"/>
              </a:rPr>
              <a:t>AND </a:t>
            </a:r>
            <a:r>
              <a:rPr dirty="0" sz="1450" spc="-200" b="1">
                <a:latin typeface="Arial"/>
                <a:cs typeface="Arial"/>
              </a:rPr>
              <a:t>LEADERSHIP </a:t>
            </a:r>
            <a:r>
              <a:rPr dirty="0" sz="1450" spc="-60" b="1">
                <a:latin typeface="Arial"/>
                <a:cs typeface="Arial"/>
              </a:rPr>
              <a:t>IN </a:t>
            </a:r>
            <a:r>
              <a:rPr dirty="0" sz="1450" spc="-190" b="1">
                <a:latin typeface="Arial"/>
                <a:cs typeface="Arial"/>
              </a:rPr>
              <a:t>THE </a:t>
            </a:r>
            <a:r>
              <a:rPr dirty="0" sz="1450" spc="-160" b="1">
                <a:latin typeface="Arial"/>
                <a:cs typeface="Arial"/>
              </a:rPr>
              <a:t>TWENTY-FIRST</a:t>
            </a:r>
            <a:r>
              <a:rPr dirty="0" sz="1450" spc="-220" b="1">
                <a:latin typeface="Arial"/>
                <a:cs typeface="Arial"/>
              </a:rPr>
              <a:t> </a:t>
            </a:r>
            <a:r>
              <a:rPr dirty="0" sz="1450" spc="-195" b="1">
                <a:latin typeface="Arial"/>
                <a:cs typeface="Arial"/>
              </a:rPr>
              <a:t>CENTURY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35" b="1">
                <a:latin typeface="Arial"/>
                <a:cs typeface="Arial"/>
              </a:rPr>
              <a:t>Changing </a:t>
            </a:r>
            <a:r>
              <a:rPr dirty="0" sz="1350" spc="-90" b="1">
                <a:latin typeface="Arial"/>
                <a:cs typeface="Arial"/>
              </a:rPr>
              <a:t>Patterns </a:t>
            </a:r>
            <a:r>
              <a:rPr dirty="0" sz="1350" spc="-60" b="1">
                <a:latin typeface="Arial"/>
                <a:cs typeface="Arial"/>
              </a:rPr>
              <a:t>of</a:t>
            </a:r>
            <a:r>
              <a:rPr dirty="0" sz="1350" spc="-15" b="1">
                <a:latin typeface="Arial"/>
                <a:cs typeface="Arial"/>
              </a:rPr>
              <a:t> </a:t>
            </a:r>
            <a:r>
              <a:rPr dirty="0" sz="1350" spc="-55" b="1">
                <a:latin typeface="Arial"/>
                <a:cs typeface="Arial"/>
              </a:rPr>
              <a:t>Motivation: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12700" marR="8255">
              <a:lnSpc>
                <a:spcPct val="101699"/>
              </a:lnSpc>
            </a:pPr>
            <a:r>
              <a:rPr dirty="0" sz="1150" spc="-65">
                <a:latin typeface="Arial"/>
                <a:cs typeface="Arial"/>
              </a:rPr>
              <a:t>Today’s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 spc="-20">
                <a:latin typeface="Arial"/>
                <a:cs typeface="Arial"/>
              </a:rPr>
              <a:t>want </a:t>
            </a:r>
            <a:r>
              <a:rPr dirty="0" sz="1150" spc="-45">
                <a:latin typeface="Arial"/>
                <a:cs typeface="Arial"/>
              </a:rPr>
              <a:t>rewards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10">
                <a:latin typeface="Arial"/>
                <a:cs typeface="Arial"/>
              </a:rPr>
              <a:t>often </a:t>
            </a:r>
            <a:r>
              <a:rPr dirty="0" sz="1150" spc="-20">
                <a:latin typeface="Arial"/>
                <a:cs typeface="Arial"/>
              </a:rPr>
              <a:t>quite </a:t>
            </a:r>
            <a:r>
              <a:rPr dirty="0" sz="1150" spc="-10">
                <a:latin typeface="Arial"/>
                <a:cs typeface="Arial"/>
              </a:rPr>
              <a:t>different from </a:t>
            </a:r>
            <a:r>
              <a:rPr dirty="0" sz="1150" spc="-40">
                <a:latin typeface="Arial"/>
                <a:cs typeface="Arial"/>
              </a:rPr>
              <a:t>those </a:t>
            </a:r>
            <a:r>
              <a:rPr dirty="0" sz="1150" spc="-55">
                <a:latin typeface="Arial"/>
                <a:cs typeface="Arial"/>
              </a:rPr>
              <a:t>valued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0">
                <a:latin typeface="Arial"/>
                <a:cs typeface="Arial"/>
              </a:rPr>
              <a:t>earlier  </a:t>
            </a:r>
            <a:r>
              <a:rPr dirty="0" sz="1150" spc="-45">
                <a:latin typeface="Arial"/>
                <a:cs typeface="Arial"/>
              </a:rPr>
              <a:t>generations.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Arial"/>
              <a:cs typeface="Arial"/>
            </a:endParaRPr>
          </a:p>
          <a:p>
            <a:pPr algn="just" lvl="1" marL="469900" marR="5080" indent="342900">
              <a:lnSpc>
                <a:spcPct val="101299"/>
              </a:lnSpc>
              <a:buFont typeface="Symbol"/>
              <a:buChar char=""/>
              <a:tabLst>
                <a:tab pos="1383665" algn="l"/>
                <a:tab pos="1384300" algn="l"/>
              </a:tabLst>
            </a:pPr>
            <a:r>
              <a:rPr dirty="0" sz="1150" spc="-35">
                <a:latin typeface="Arial"/>
                <a:cs typeface="Arial"/>
              </a:rPr>
              <a:t>Money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no longer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prime </a:t>
            </a:r>
            <a:r>
              <a:rPr dirty="0" sz="1150" spc="-15">
                <a:latin typeface="Arial"/>
                <a:cs typeface="Arial"/>
              </a:rPr>
              <a:t>motivator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most </a:t>
            </a:r>
            <a:r>
              <a:rPr dirty="0" sz="1150" spc="-40">
                <a:latin typeface="Arial"/>
                <a:cs typeface="Arial"/>
              </a:rPr>
              <a:t>people,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 spc="-80">
                <a:latin typeface="Arial"/>
                <a:cs typeface="Arial"/>
              </a:rPr>
              <a:t>businesses </a:t>
            </a:r>
            <a:r>
              <a:rPr dirty="0" sz="1150" spc="-40">
                <a:latin typeface="Arial"/>
                <a:cs typeface="Arial"/>
              </a:rPr>
              <a:t>cannot </a:t>
            </a:r>
            <a:r>
              <a:rPr dirty="0" sz="1150" spc="-5">
                <a:latin typeface="Arial"/>
                <a:cs typeface="Arial"/>
              </a:rPr>
              <a:t>offer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0">
                <a:latin typeface="Arial"/>
                <a:cs typeface="Arial"/>
              </a:rPr>
              <a:t>same </a:t>
            </a:r>
            <a:r>
              <a:rPr dirty="0" sz="1150" spc="-60">
                <a:latin typeface="Arial"/>
                <a:cs typeface="Arial"/>
              </a:rPr>
              <a:t>degree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job </a:t>
            </a:r>
            <a:r>
              <a:rPr dirty="0" sz="1150" spc="-40">
                <a:latin typeface="Arial"/>
                <a:cs typeface="Arial"/>
              </a:rPr>
              <a:t>security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40">
                <a:latin typeface="Arial"/>
                <a:cs typeface="Arial"/>
              </a:rPr>
              <a:t>workers  </a:t>
            </a:r>
            <a:r>
              <a:rPr dirty="0" sz="1150" spc="-25">
                <a:latin typeface="Arial"/>
                <a:cs typeface="Arial"/>
              </a:rPr>
              <a:t>want, </a:t>
            </a:r>
            <a:r>
              <a:rPr dirty="0" sz="1150" spc="-20">
                <a:latin typeface="Arial"/>
                <a:cs typeface="Arial"/>
              </a:rPr>
              <a:t>motivation </a:t>
            </a:r>
            <a:r>
              <a:rPr dirty="0" sz="1150" spc="-40">
                <a:latin typeface="Arial"/>
                <a:cs typeface="Arial"/>
              </a:rPr>
              <a:t>requires </a:t>
            </a:r>
            <a:r>
              <a:rPr dirty="0" sz="1150" spc="-25">
                <a:latin typeface="Arial"/>
                <a:cs typeface="Arial"/>
              </a:rPr>
              <a:t>skillful </a:t>
            </a:r>
            <a:r>
              <a:rPr dirty="0" sz="1150" spc="-10">
                <a:latin typeface="Arial"/>
                <a:cs typeface="Arial"/>
              </a:rPr>
              <a:t>attention from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managers.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Symbol"/>
              <a:buChar char=""/>
            </a:pPr>
            <a:endParaRPr sz="1250">
              <a:latin typeface="Arial"/>
              <a:cs typeface="Arial"/>
            </a:endParaRPr>
          </a:p>
          <a:p>
            <a:pPr algn="just" lvl="1" marL="469900" marR="6350" indent="342900">
              <a:lnSpc>
                <a:spcPct val="101600"/>
              </a:lnSpc>
              <a:buFont typeface="Symbol"/>
              <a:buChar char=""/>
              <a:tabLst>
                <a:tab pos="1383665" algn="l"/>
                <a:tab pos="1384300" algn="l"/>
              </a:tabLst>
            </a:pPr>
            <a:r>
              <a:rPr dirty="0" sz="1150" spc="-80">
                <a:latin typeface="Arial"/>
                <a:cs typeface="Arial"/>
              </a:rPr>
              <a:t>One </a:t>
            </a:r>
            <a:r>
              <a:rPr dirty="0" sz="1150" spc="-35">
                <a:latin typeface="Arial"/>
                <a:cs typeface="Arial"/>
              </a:rPr>
              <a:t>recent </a:t>
            </a:r>
            <a:r>
              <a:rPr dirty="0" sz="1150" spc="-60">
                <a:latin typeface="Arial"/>
                <a:cs typeface="Arial"/>
              </a:rPr>
              <a:t>survey </a:t>
            </a:r>
            <a:r>
              <a:rPr dirty="0" sz="1150" spc="-25">
                <a:latin typeface="Arial"/>
                <a:cs typeface="Arial"/>
              </a:rPr>
              <a:t>found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0">
                <a:latin typeface="Arial"/>
                <a:cs typeface="Arial"/>
              </a:rPr>
              <a:t>workers </a:t>
            </a:r>
            <a:r>
              <a:rPr dirty="0" sz="1150" spc="-30">
                <a:latin typeface="Arial"/>
                <a:cs typeface="Arial"/>
              </a:rPr>
              <a:t>wanted flexible working </a:t>
            </a:r>
            <a:r>
              <a:rPr dirty="0" sz="1150" spc="-45">
                <a:latin typeface="Arial"/>
                <a:cs typeface="Arial"/>
              </a:rPr>
              <a:t>hours  </a:t>
            </a:r>
            <a:r>
              <a:rPr dirty="0" sz="1150" spc="-50">
                <a:latin typeface="Arial"/>
                <a:cs typeface="Arial"/>
              </a:rPr>
              <a:t>(67 </a:t>
            </a:r>
            <a:r>
              <a:rPr dirty="0" sz="1150" spc="-35">
                <a:latin typeface="Arial"/>
                <a:cs typeface="Arial"/>
              </a:rPr>
              <a:t>percent), </a:t>
            </a:r>
            <a:r>
              <a:rPr dirty="0" sz="1150" spc="-70">
                <a:latin typeface="Arial"/>
                <a:cs typeface="Arial"/>
              </a:rPr>
              <a:t>casual </a:t>
            </a:r>
            <a:r>
              <a:rPr dirty="0" sz="1150" spc="-75">
                <a:latin typeface="Arial"/>
                <a:cs typeface="Arial"/>
              </a:rPr>
              <a:t>dress </a:t>
            </a:r>
            <a:r>
              <a:rPr dirty="0" sz="1150" spc="-55">
                <a:latin typeface="Arial"/>
                <a:cs typeface="Arial"/>
              </a:rPr>
              <a:t>(56 </a:t>
            </a:r>
            <a:r>
              <a:rPr dirty="0" sz="1150" spc="-35">
                <a:latin typeface="Arial"/>
                <a:cs typeface="Arial"/>
              </a:rPr>
              <a:t>percent), </a:t>
            </a:r>
            <a:r>
              <a:rPr dirty="0" sz="1150" spc="-20">
                <a:latin typeface="Arial"/>
                <a:cs typeface="Arial"/>
              </a:rPr>
              <a:t>unlimited </a:t>
            </a:r>
            <a:r>
              <a:rPr dirty="0" sz="1150" spc="-15">
                <a:latin typeface="Arial"/>
                <a:cs typeface="Arial"/>
              </a:rPr>
              <a:t>Internet </a:t>
            </a:r>
            <a:r>
              <a:rPr dirty="0" sz="1150" spc="-100">
                <a:latin typeface="Arial"/>
                <a:cs typeface="Arial"/>
              </a:rPr>
              <a:t>access </a:t>
            </a:r>
            <a:r>
              <a:rPr dirty="0" sz="1150" spc="-55">
                <a:latin typeface="Arial"/>
                <a:cs typeface="Arial"/>
              </a:rPr>
              <a:t>(51 </a:t>
            </a:r>
            <a:r>
              <a:rPr dirty="0" sz="1150" spc="-35">
                <a:latin typeface="Arial"/>
                <a:cs typeface="Arial"/>
              </a:rPr>
              <a:t>percent),  </a:t>
            </a:r>
            <a:r>
              <a:rPr dirty="0" sz="1150" spc="-25">
                <a:latin typeface="Arial"/>
                <a:cs typeface="Arial"/>
              </a:rPr>
              <a:t>opportunities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telecommute </a:t>
            </a:r>
            <a:r>
              <a:rPr dirty="0" sz="1150" spc="-50">
                <a:latin typeface="Arial"/>
                <a:cs typeface="Arial"/>
              </a:rPr>
              <a:t>(43 </a:t>
            </a:r>
            <a:r>
              <a:rPr dirty="0" sz="1150" spc="-35">
                <a:latin typeface="Arial"/>
                <a:cs typeface="Arial"/>
              </a:rPr>
              <a:t>percent), </a:t>
            </a:r>
            <a:r>
              <a:rPr dirty="0" sz="1150" spc="-55">
                <a:latin typeface="Arial"/>
                <a:cs typeface="Arial"/>
              </a:rPr>
              <a:t>nap </a:t>
            </a:r>
            <a:r>
              <a:rPr dirty="0" sz="1150" spc="-15">
                <a:latin typeface="Arial"/>
                <a:cs typeface="Arial"/>
              </a:rPr>
              <a:t>time </a:t>
            </a:r>
            <a:r>
              <a:rPr dirty="0" sz="1150" spc="-55">
                <a:latin typeface="Arial"/>
                <a:cs typeface="Arial"/>
              </a:rPr>
              <a:t>(28 </a:t>
            </a:r>
            <a:r>
              <a:rPr dirty="0" sz="1150" spc="-35">
                <a:latin typeface="Arial"/>
                <a:cs typeface="Arial"/>
              </a:rPr>
              <a:t>percent), </a:t>
            </a:r>
            <a:r>
              <a:rPr dirty="0" sz="1150" spc="-100">
                <a:latin typeface="Arial"/>
                <a:cs typeface="Arial"/>
              </a:rPr>
              <a:t>massages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50">
                <a:latin typeface="Arial"/>
                <a:cs typeface="Arial"/>
              </a:rPr>
              <a:t>perks.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another </a:t>
            </a:r>
            <a:r>
              <a:rPr dirty="0" sz="1150" spc="-40">
                <a:latin typeface="Arial"/>
                <a:cs typeface="Arial"/>
              </a:rPr>
              <a:t>study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fathers,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50">
                <a:latin typeface="Arial"/>
                <a:cs typeface="Arial"/>
              </a:rPr>
              <a:t>men </a:t>
            </a:r>
            <a:r>
              <a:rPr dirty="0" sz="1150" spc="-65">
                <a:latin typeface="Arial"/>
                <a:cs typeface="Arial"/>
              </a:rPr>
              <a:t>said </a:t>
            </a:r>
            <a:r>
              <a:rPr dirty="0" sz="1150" spc="-30">
                <a:latin typeface="Arial"/>
                <a:cs typeface="Arial"/>
              </a:rPr>
              <a:t>they wanted more flexible  working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hours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order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spend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more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time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with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their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families.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Today’s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workers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have 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complex </a:t>
            </a:r>
            <a:r>
              <a:rPr dirty="0" sz="1150" spc="-45">
                <a:latin typeface="Arial"/>
                <a:cs typeface="Arial"/>
              </a:rPr>
              <a:t>set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needs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30">
                <a:latin typeface="Arial"/>
                <a:cs typeface="Arial"/>
              </a:rPr>
              <a:t>motivations </a:t>
            </a:r>
            <a:r>
              <a:rPr dirty="0" sz="1150" spc="-50">
                <a:latin typeface="Arial"/>
                <a:cs typeface="Arial"/>
              </a:rPr>
              <a:t>are increasingly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complex.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Symbol"/>
              <a:buChar char=""/>
            </a:pPr>
            <a:endParaRPr sz="1250">
              <a:latin typeface="Arial"/>
              <a:cs typeface="Arial"/>
            </a:endParaRPr>
          </a:p>
          <a:p>
            <a:pPr algn="just" lvl="1" marL="469265" marR="5715" indent="342900">
              <a:lnSpc>
                <a:spcPct val="100899"/>
              </a:lnSpc>
              <a:buFont typeface="Symbol"/>
              <a:buChar char=""/>
              <a:tabLst>
                <a:tab pos="1383665" algn="l"/>
                <a:tab pos="1384300" algn="l"/>
              </a:tabLst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diversity </a:t>
            </a:r>
            <a:r>
              <a:rPr dirty="0" sz="1150" spc="-20">
                <a:latin typeface="Arial"/>
                <a:cs typeface="Arial"/>
              </a:rPr>
              <a:t>inherent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0">
                <a:latin typeface="Arial"/>
                <a:cs typeface="Arial"/>
              </a:rPr>
              <a:t>today’s </a:t>
            </a:r>
            <a:r>
              <a:rPr dirty="0" sz="1150" spc="-25">
                <a:latin typeface="Arial"/>
                <a:cs typeface="Arial"/>
              </a:rPr>
              <a:t>workforce </a:t>
            </a:r>
            <a:r>
              <a:rPr dirty="0" sz="1150" spc="-75">
                <a:latin typeface="Arial"/>
                <a:cs typeface="Arial"/>
              </a:rPr>
              <a:t>makes </a:t>
            </a:r>
            <a:r>
              <a:rPr dirty="0" sz="1150" spc="-25">
                <a:latin typeface="Arial"/>
                <a:cs typeface="Arial"/>
              </a:rPr>
              <a:t>motivating  </a:t>
            </a:r>
            <a:r>
              <a:rPr dirty="0" sz="1150" spc="-40">
                <a:latin typeface="Arial"/>
                <a:cs typeface="Arial"/>
              </a:rPr>
              <a:t>behavior </a:t>
            </a:r>
            <a:r>
              <a:rPr dirty="0" sz="1150" spc="-30">
                <a:latin typeface="Arial"/>
                <a:cs typeface="Arial"/>
              </a:rPr>
              <a:t>more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complex.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35" b="1">
                <a:latin typeface="Arial"/>
                <a:cs typeface="Arial"/>
              </a:rPr>
              <a:t>Changing </a:t>
            </a:r>
            <a:r>
              <a:rPr dirty="0" sz="1350" spc="-90" b="1">
                <a:latin typeface="Arial"/>
                <a:cs typeface="Arial"/>
              </a:rPr>
              <a:t>Patterns </a:t>
            </a:r>
            <a:r>
              <a:rPr dirty="0" sz="1350" spc="-60" b="1">
                <a:latin typeface="Arial"/>
                <a:cs typeface="Arial"/>
              </a:rPr>
              <a:t>of</a:t>
            </a:r>
            <a:r>
              <a:rPr dirty="0" sz="1350" spc="-15" b="1">
                <a:latin typeface="Arial"/>
                <a:cs typeface="Arial"/>
              </a:rPr>
              <a:t> </a:t>
            </a:r>
            <a:r>
              <a:rPr dirty="0" sz="1350" spc="-110" b="1">
                <a:latin typeface="Arial"/>
                <a:cs typeface="Arial"/>
              </a:rPr>
              <a:t>Leadership: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469265" marR="768350" indent="-228600">
              <a:lnSpc>
                <a:spcPct val="101699"/>
              </a:lnSpc>
              <a:spcBef>
                <a:spcPts val="5"/>
              </a:spcBef>
              <a:buAutoNum type="arabicPeriod"/>
              <a:tabLst>
                <a:tab pos="469900" algn="l"/>
              </a:tabLst>
            </a:pPr>
            <a:r>
              <a:rPr dirty="0" sz="1150" spc="-65">
                <a:latin typeface="Arial"/>
                <a:cs typeface="Arial"/>
              </a:rPr>
              <a:t>Today’s </a:t>
            </a:r>
            <a:r>
              <a:rPr dirty="0" sz="1150" spc="-60">
                <a:latin typeface="Arial"/>
                <a:cs typeface="Arial"/>
              </a:rPr>
              <a:t>leaders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finding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5">
                <a:latin typeface="Arial"/>
                <a:cs typeface="Arial"/>
              </a:rPr>
              <a:t>necessary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5">
                <a:latin typeface="Arial"/>
                <a:cs typeface="Arial"/>
              </a:rPr>
              <a:t>change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25">
                <a:latin typeface="Arial"/>
                <a:cs typeface="Arial"/>
              </a:rPr>
              <a:t>own </a:t>
            </a:r>
            <a:r>
              <a:rPr dirty="0" sz="1150" spc="-40">
                <a:latin typeface="Arial"/>
                <a:cs typeface="Arial"/>
              </a:rPr>
              <a:t>behavior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110">
                <a:latin typeface="Arial"/>
                <a:cs typeface="Arial"/>
              </a:rPr>
              <a:t>as  </a:t>
            </a:r>
            <a:r>
              <a:rPr dirty="0" sz="1150" spc="-45">
                <a:latin typeface="Arial"/>
                <a:cs typeface="Arial"/>
              </a:rPr>
              <a:t>organizations </a:t>
            </a:r>
            <a:r>
              <a:rPr dirty="0" sz="1150" spc="-60">
                <a:latin typeface="Arial"/>
                <a:cs typeface="Arial"/>
              </a:rPr>
              <a:t>become </a:t>
            </a:r>
            <a:r>
              <a:rPr dirty="0" sz="1150">
                <a:latin typeface="Arial"/>
                <a:cs typeface="Arial"/>
              </a:rPr>
              <a:t>flatter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workers </a:t>
            </a:r>
            <a:r>
              <a:rPr dirty="0" sz="1150" spc="-30">
                <a:latin typeface="Arial"/>
                <a:cs typeface="Arial"/>
              </a:rPr>
              <a:t>more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empowered.</a:t>
            </a:r>
            <a:endParaRPr sz="1150">
              <a:latin typeface="Arial"/>
              <a:cs typeface="Arial"/>
            </a:endParaRPr>
          </a:p>
          <a:p>
            <a:pPr marL="469265" marR="25781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autocratic </a:t>
            </a:r>
            <a:r>
              <a:rPr dirty="0" sz="1150" spc="-40">
                <a:latin typeface="Arial"/>
                <a:cs typeface="Arial"/>
              </a:rPr>
              <a:t>style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80">
                <a:latin typeface="Arial"/>
                <a:cs typeface="Arial"/>
              </a:rPr>
              <a:t>less </a:t>
            </a:r>
            <a:r>
              <a:rPr dirty="0" sz="1150" spc="-55">
                <a:latin typeface="Arial"/>
                <a:cs typeface="Arial"/>
              </a:rPr>
              <a:t>acceptable and many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functions more </a:t>
            </a:r>
            <a:r>
              <a:rPr dirty="0" sz="1150" spc="-110">
                <a:latin typeface="Arial"/>
                <a:cs typeface="Arial"/>
              </a:rPr>
              <a:t>as  </a:t>
            </a:r>
            <a:r>
              <a:rPr dirty="0" sz="1150" spc="-80">
                <a:latin typeface="Arial"/>
                <a:cs typeface="Arial"/>
              </a:rPr>
              <a:t>coaches </a:t>
            </a:r>
            <a:r>
              <a:rPr dirty="0" sz="1150" spc="-30">
                <a:latin typeface="Arial"/>
                <a:cs typeface="Arial"/>
              </a:rPr>
              <a:t>than</a:t>
            </a:r>
            <a:r>
              <a:rPr dirty="0" sz="1150" spc="-35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bosses.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buAutoNum type="arabicPeriod" startAt="2"/>
              <a:tabLst>
                <a:tab pos="469900" algn="l"/>
              </a:tabLst>
            </a:pPr>
            <a:r>
              <a:rPr dirty="0" sz="1150" spc="-40">
                <a:latin typeface="Arial"/>
                <a:cs typeface="Arial"/>
              </a:rPr>
              <a:t>Diversity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affecting </a:t>
            </a:r>
            <a:r>
              <a:rPr dirty="0" sz="1150" spc="-50">
                <a:latin typeface="Arial"/>
                <a:cs typeface="Arial"/>
              </a:rPr>
              <a:t>leadership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processes.</a:t>
            </a:r>
            <a:endParaRPr sz="115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25"/>
              </a:spcBef>
            </a:pPr>
            <a:r>
              <a:rPr dirty="0" sz="1150" spc="-50">
                <a:latin typeface="Arial"/>
                <a:cs typeface="Arial"/>
              </a:rPr>
              <a:t>Women, </a:t>
            </a:r>
            <a:r>
              <a:rPr dirty="0" sz="1150" spc="-40">
                <a:latin typeface="Arial"/>
                <a:cs typeface="Arial"/>
              </a:rPr>
              <a:t>African </a:t>
            </a:r>
            <a:r>
              <a:rPr dirty="0" sz="1150" spc="-60">
                <a:latin typeface="Arial"/>
                <a:cs typeface="Arial"/>
              </a:rPr>
              <a:t>Americans,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Hispanics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entering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managerial </a:t>
            </a:r>
            <a:r>
              <a:rPr dirty="0" sz="1150" spc="-60">
                <a:latin typeface="Arial"/>
                <a:cs typeface="Arial"/>
              </a:rPr>
              <a:t>ranks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119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306" y="892559"/>
            <a:ext cx="5514975" cy="795972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469265" marR="79375">
              <a:lnSpc>
                <a:spcPct val="101699"/>
              </a:lnSpc>
              <a:spcBef>
                <a:spcPts val="75"/>
              </a:spcBef>
            </a:pPr>
            <a:r>
              <a:rPr dirty="0" sz="1150" spc="-55">
                <a:latin typeface="Arial"/>
                <a:cs typeface="Arial"/>
              </a:rPr>
              <a:t>increasing </a:t>
            </a:r>
            <a:r>
              <a:rPr dirty="0" sz="1150" spc="-50">
                <a:latin typeface="Arial"/>
                <a:cs typeface="Arial"/>
              </a:rPr>
              <a:t>numbers,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more likely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50">
                <a:latin typeface="Arial"/>
                <a:cs typeface="Arial"/>
              </a:rPr>
              <a:t>younger </a:t>
            </a:r>
            <a:r>
              <a:rPr dirty="0" sz="1150" spc="-30">
                <a:latin typeface="Arial"/>
                <a:cs typeface="Arial"/>
              </a:rPr>
              <a:t>than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some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50">
                <a:latin typeface="Arial"/>
                <a:cs typeface="Arial"/>
              </a:rPr>
              <a:t>are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leading.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</a:pPr>
            <a:r>
              <a:rPr dirty="0" sz="1150" spc="-45">
                <a:latin typeface="Arial"/>
                <a:cs typeface="Arial"/>
              </a:rPr>
              <a:t>3.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Leaders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30">
                <a:latin typeface="Arial"/>
                <a:cs typeface="Arial"/>
              </a:rPr>
              <a:t>adopt more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5">
                <a:latin typeface="Arial"/>
                <a:cs typeface="Arial"/>
              </a:rPr>
              <a:t>“network” </a:t>
            </a:r>
            <a:r>
              <a:rPr dirty="0" sz="1150" spc="-20">
                <a:latin typeface="Arial"/>
                <a:cs typeface="Arial"/>
              </a:rPr>
              <a:t>mentality rather </a:t>
            </a:r>
            <a:r>
              <a:rPr dirty="0" sz="1150" spc="-30">
                <a:latin typeface="Arial"/>
                <a:cs typeface="Arial"/>
              </a:rPr>
              <a:t>than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“hierarchical”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one.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469265" marR="80010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New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forms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organizational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design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45">
                <a:latin typeface="Arial"/>
                <a:cs typeface="Arial"/>
              </a:rPr>
              <a:t>call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55">
                <a:latin typeface="Arial"/>
                <a:cs typeface="Arial"/>
              </a:rPr>
              <a:t> one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person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leader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on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one  </a:t>
            </a:r>
            <a:r>
              <a:rPr dirty="0" sz="1150" spc="-20">
                <a:latin typeface="Arial"/>
                <a:cs typeface="Arial"/>
              </a:rPr>
              <a:t>project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team </a:t>
            </a:r>
            <a:r>
              <a:rPr dirty="0" sz="1150" spc="-45">
                <a:latin typeface="Arial"/>
                <a:cs typeface="Arial"/>
              </a:rPr>
              <a:t>member </a:t>
            </a:r>
            <a:r>
              <a:rPr dirty="0" sz="1150" spc="-35">
                <a:latin typeface="Arial"/>
                <a:cs typeface="Arial"/>
              </a:rPr>
              <a:t>on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another.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55" b="1">
                <a:latin typeface="Arial"/>
                <a:cs typeface="Arial"/>
              </a:rPr>
              <a:t>Modified </a:t>
            </a:r>
            <a:r>
              <a:rPr dirty="0" sz="1350" spc="-80" b="1">
                <a:latin typeface="Arial"/>
                <a:cs typeface="Arial"/>
              </a:rPr>
              <a:t>Work</a:t>
            </a:r>
            <a:r>
              <a:rPr dirty="0" sz="1350" spc="-100" b="1">
                <a:latin typeface="Arial"/>
                <a:cs typeface="Arial"/>
              </a:rPr>
              <a:t> </a:t>
            </a:r>
            <a:r>
              <a:rPr dirty="0" sz="1350" spc="-130" b="1">
                <a:latin typeface="Arial"/>
                <a:cs typeface="Arial"/>
              </a:rPr>
              <a:t>Schedules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354330">
              <a:lnSpc>
                <a:spcPct val="101699"/>
              </a:lnSpc>
              <a:spcBef>
                <a:spcPts val="5"/>
              </a:spcBef>
            </a:pPr>
            <a:r>
              <a:rPr dirty="0" sz="1150" spc="-80" b="1">
                <a:latin typeface="Arial"/>
                <a:cs typeface="Arial"/>
              </a:rPr>
              <a:t>Work-Share </a:t>
            </a:r>
            <a:r>
              <a:rPr dirty="0" sz="1150" spc="-75" b="1">
                <a:latin typeface="Arial"/>
                <a:cs typeface="Arial"/>
              </a:rPr>
              <a:t>Programs</a:t>
            </a:r>
            <a:r>
              <a:rPr dirty="0" sz="1150" spc="-75">
                <a:latin typeface="Arial"/>
                <a:cs typeface="Arial"/>
              </a:rPr>
              <a:t>—method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increasing </a:t>
            </a:r>
            <a:r>
              <a:rPr dirty="0" sz="1150" spc="-15">
                <a:latin typeface="Arial"/>
                <a:cs typeface="Arial"/>
              </a:rPr>
              <a:t>job </a:t>
            </a:r>
            <a:r>
              <a:rPr dirty="0" sz="1150" spc="-40">
                <a:latin typeface="Arial"/>
                <a:cs typeface="Arial"/>
              </a:rPr>
              <a:t>satisfaction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5">
                <a:latin typeface="Arial"/>
                <a:cs typeface="Arial"/>
              </a:rPr>
              <a:t>allowing </a:t>
            </a:r>
            <a:r>
              <a:rPr dirty="0" sz="1150">
                <a:latin typeface="Arial"/>
                <a:cs typeface="Arial"/>
              </a:rPr>
              <a:t>two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more 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share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single </a:t>
            </a:r>
            <a:r>
              <a:rPr dirty="0" sz="1150" spc="-15">
                <a:latin typeface="Arial"/>
                <a:cs typeface="Arial"/>
              </a:rPr>
              <a:t>full-time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job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649605">
              <a:lnSpc>
                <a:spcPct val="101699"/>
              </a:lnSpc>
            </a:pPr>
            <a:r>
              <a:rPr dirty="0" sz="1150" spc="-145" b="1">
                <a:latin typeface="Arial"/>
                <a:cs typeface="Arial"/>
              </a:rPr>
              <a:t>Job </a:t>
            </a:r>
            <a:r>
              <a:rPr dirty="0" sz="1150" spc="-100" b="1">
                <a:latin typeface="Arial"/>
                <a:cs typeface="Arial"/>
              </a:rPr>
              <a:t>sharing </a:t>
            </a:r>
            <a:r>
              <a:rPr dirty="0" sz="1150" spc="-50">
                <a:latin typeface="Arial"/>
                <a:cs typeface="Arial"/>
              </a:rPr>
              <a:t>usually </a:t>
            </a:r>
            <a:r>
              <a:rPr dirty="0" sz="1150" spc="-35">
                <a:latin typeface="Arial"/>
                <a:cs typeface="Arial"/>
              </a:rPr>
              <a:t>benefits </a:t>
            </a:r>
            <a:r>
              <a:rPr dirty="0" sz="1150" spc="-15">
                <a:latin typeface="Arial"/>
                <a:cs typeface="Arial"/>
              </a:rPr>
              <a:t>both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employers, </a:t>
            </a:r>
            <a:r>
              <a:rPr dirty="0" sz="1150" spc="-35">
                <a:latin typeface="Arial"/>
                <a:cs typeface="Arial"/>
              </a:rPr>
              <a:t>although </a:t>
            </a:r>
            <a:r>
              <a:rPr dirty="0" sz="1150" spc="-45">
                <a:latin typeface="Arial"/>
                <a:cs typeface="Arial"/>
              </a:rPr>
              <a:t>job-sharing 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 spc="-45">
                <a:latin typeface="Arial"/>
                <a:cs typeface="Arial"/>
              </a:rPr>
              <a:t>generally </a:t>
            </a:r>
            <a:r>
              <a:rPr dirty="0" sz="1150" spc="-50">
                <a:latin typeface="Arial"/>
                <a:cs typeface="Arial"/>
              </a:rPr>
              <a:t>receive </a:t>
            </a:r>
            <a:r>
              <a:rPr dirty="0" sz="1150" spc="-20">
                <a:latin typeface="Arial"/>
                <a:cs typeface="Arial"/>
              </a:rPr>
              <a:t>fewer </a:t>
            </a:r>
            <a:r>
              <a:rPr dirty="0" sz="1150" spc="-35">
                <a:latin typeface="Arial"/>
                <a:cs typeface="Arial"/>
              </a:rPr>
              <a:t>benefits </a:t>
            </a:r>
            <a:r>
              <a:rPr dirty="0" sz="1150" spc="-30">
                <a:latin typeface="Arial"/>
                <a:cs typeface="Arial"/>
              </a:rPr>
              <a:t>than </a:t>
            </a:r>
            <a:r>
              <a:rPr dirty="0" sz="1150" spc="-10">
                <a:latin typeface="Arial"/>
                <a:cs typeface="Arial"/>
              </a:rPr>
              <a:t>full-time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counterparts.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</a:pPr>
            <a:r>
              <a:rPr dirty="0" sz="1150" spc="-70" b="1">
                <a:latin typeface="Arial"/>
                <a:cs typeface="Arial"/>
              </a:rPr>
              <a:t>Flextime </a:t>
            </a:r>
            <a:r>
              <a:rPr dirty="0" sz="1150" spc="-105" b="1">
                <a:latin typeface="Arial"/>
                <a:cs typeface="Arial"/>
              </a:rPr>
              <a:t>Programs </a:t>
            </a:r>
            <a:r>
              <a:rPr dirty="0" sz="1150" spc="-85" b="1">
                <a:latin typeface="Arial"/>
                <a:cs typeface="Arial"/>
              </a:rPr>
              <a:t>and </a:t>
            </a:r>
            <a:r>
              <a:rPr dirty="0" sz="1150" spc="-60" b="1">
                <a:latin typeface="Arial"/>
                <a:cs typeface="Arial"/>
              </a:rPr>
              <a:t>Alternative </a:t>
            </a:r>
            <a:r>
              <a:rPr dirty="0" sz="1150" spc="-80" b="1">
                <a:latin typeface="Arial"/>
                <a:cs typeface="Arial"/>
              </a:rPr>
              <a:t>Workplace </a:t>
            </a:r>
            <a:r>
              <a:rPr dirty="0" sz="1150" spc="-65" b="1">
                <a:latin typeface="Arial"/>
                <a:cs typeface="Arial"/>
              </a:rPr>
              <a:t>Strategies</a:t>
            </a:r>
            <a:r>
              <a:rPr dirty="0" sz="1150" spc="-65">
                <a:latin typeface="Arial"/>
                <a:cs typeface="Arial"/>
              </a:rPr>
              <a:t>—method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increasing </a:t>
            </a:r>
            <a:r>
              <a:rPr dirty="0" sz="1150" spc="-15">
                <a:latin typeface="Arial"/>
                <a:cs typeface="Arial"/>
              </a:rPr>
              <a:t>job  </a:t>
            </a:r>
            <a:r>
              <a:rPr dirty="0" sz="1150" spc="-40">
                <a:latin typeface="Arial"/>
                <a:cs typeface="Arial"/>
              </a:rPr>
              <a:t>satisfaction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5">
                <a:latin typeface="Arial"/>
                <a:cs typeface="Arial"/>
              </a:rPr>
              <a:t>allowing </a:t>
            </a:r>
            <a:r>
              <a:rPr dirty="0" sz="1150" spc="-40">
                <a:latin typeface="Arial"/>
                <a:cs typeface="Arial"/>
              </a:rPr>
              <a:t>workers </a:t>
            </a:r>
            <a:r>
              <a:rPr dirty="0" sz="1150" spc="5">
                <a:latin typeface="Arial"/>
                <a:cs typeface="Arial"/>
              </a:rPr>
              <a:t>to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adjust </a:t>
            </a:r>
            <a:r>
              <a:rPr dirty="0" sz="1150" spc="-20">
                <a:latin typeface="Arial"/>
                <a:cs typeface="Arial"/>
              </a:rPr>
              <a:t>work </a:t>
            </a:r>
            <a:r>
              <a:rPr dirty="0" sz="1150" spc="-70">
                <a:latin typeface="Arial"/>
                <a:cs typeface="Arial"/>
              </a:rPr>
              <a:t>schedules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daily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5">
                <a:latin typeface="Arial"/>
                <a:cs typeface="Arial"/>
              </a:rPr>
              <a:t>weekly </a:t>
            </a:r>
            <a:r>
              <a:rPr dirty="0" sz="1150" spc="-70">
                <a:latin typeface="Arial"/>
                <a:cs typeface="Arial"/>
              </a:rPr>
              <a:t>basis.</a:t>
            </a:r>
            <a:endParaRPr sz="1150">
              <a:latin typeface="Arial"/>
              <a:cs typeface="Arial"/>
            </a:endParaRPr>
          </a:p>
          <a:p>
            <a:pPr marL="12700" marR="8255">
              <a:lnSpc>
                <a:spcPct val="101699"/>
              </a:lnSpc>
            </a:pPr>
            <a:r>
              <a:rPr dirty="0" sz="1150" spc="-70" b="1">
                <a:latin typeface="Arial"/>
                <a:cs typeface="Arial"/>
              </a:rPr>
              <a:t>Flextime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40">
                <a:latin typeface="Arial"/>
                <a:cs typeface="Arial"/>
              </a:rPr>
              <a:t>include </a:t>
            </a:r>
            <a:r>
              <a:rPr dirty="0" sz="1150" spc="-30">
                <a:latin typeface="Arial"/>
                <a:cs typeface="Arial"/>
              </a:rPr>
              <a:t>starting </a:t>
            </a:r>
            <a:r>
              <a:rPr dirty="0" sz="1150" spc="-15">
                <a:latin typeface="Arial"/>
                <a:cs typeface="Arial"/>
              </a:rPr>
              <a:t>later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leaving </a:t>
            </a:r>
            <a:r>
              <a:rPr dirty="0" sz="1150" spc="-15">
                <a:latin typeface="Arial"/>
                <a:cs typeface="Arial"/>
              </a:rPr>
              <a:t>later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day, </a:t>
            </a:r>
            <a:r>
              <a:rPr dirty="0" sz="1150" spc="-30">
                <a:latin typeface="Arial"/>
                <a:cs typeface="Arial"/>
              </a:rPr>
              <a:t>starting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leaving </a:t>
            </a:r>
            <a:r>
              <a:rPr dirty="0" sz="1150" spc="-30">
                <a:latin typeface="Arial"/>
                <a:cs typeface="Arial"/>
              </a:rPr>
              <a:t>earlier, 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0">
                <a:latin typeface="Arial"/>
                <a:cs typeface="Arial"/>
              </a:rPr>
              <a:t> choosing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which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4,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5,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6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days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work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during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week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while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still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completing</a:t>
            </a:r>
            <a:r>
              <a:rPr dirty="0" sz="1150" spc="-55">
                <a:latin typeface="Arial"/>
                <a:cs typeface="Arial"/>
              </a:rPr>
              <a:t> 40</a:t>
            </a:r>
            <a:r>
              <a:rPr dirty="0" sz="1150" spc="-45">
                <a:latin typeface="Arial"/>
                <a:cs typeface="Arial"/>
              </a:rPr>
              <a:t> hours.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5" b="1">
                <a:latin typeface="Arial"/>
                <a:cs typeface="Arial"/>
              </a:rPr>
              <a:t>Telecommuting and </a:t>
            </a:r>
            <a:r>
              <a:rPr dirty="0" sz="1150" spc="-55" b="1">
                <a:latin typeface="Arial"/>
                <a:cs typeface="Arial"/>
              </a:rPr>
              <a:t>Virtual</a:t>
            </a:r>
            <a:r>
              <a:rPr dirty="0" sz="1150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Offices</a:t>
            </a:r>
            <a:endParaRPr sz="1150">
              <a:latin typeface="Arial"/>
              <a:cs typeface="Arial"/>
            </a:endParaRPr>
          </a:p>
          <a:p>
            <a:pPr marL="12700" marR="132715">
              <a:lnSpc>
                <a:spcPct val="101699"/>
              </a:lnSpc>
            </a:pPr>
            <a:r>
              <a:rPr dirty="0" sz="1150" spc="-70" b="1">
                <a:latin typeface="Arial"/>
                <a:cs typeface="Arial"/>
              </a:rPr>
              <a:t>Telecommuting</a:t>
            </a:r>
            <a:r>
              <a:rPr dirty="0" sz="1150" spc="-70">
                <a:latin typeface="Arial"/>
                <a:cs typeface="Arial"/>
              </a:rPr>
              <a:t>—form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flextime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allows people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perform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some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all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of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job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away 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45">
                <a:latin typeface="Arial"/>
                <a:cs typeface="Arial"/>
              </a:rPr>
              <a:t>standard </a:t>
            </a:r>
            <a:r>
              <a:rPr dirty="0" sz="1150" spc="-25">
                <a:latin typeface="Arial"/>
                <a:cs typeface="Arial"/>
              </a:rPr>
              <a:t>office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settings.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60">
                <a:latin typeface="Arial"/>
                <a:cs typeface="Arial"/>
              </a:rPr>
              <a:t>Among </a:t>
            </a:r>
            <a:r>
              <a:rPr dirty="0" sz="1150" spc="-50">
                <a:latin typeface="Arial"/>
                <a:cs typeface="Arial"/>
              </a:rPr>
              <a:t>salaried </a:t>
            </a:r>
            <a:r>
              <a:rPr dirty="0" sz="1150" spc="-55">
                <a:latin typeface="Arial"/>
                <a:cs typeface="Arial"/>
              </a:rPr>
              <a:t>employees,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telecommuter workforce </a:t>
            </a:r>
            <a:r>
              <a:rPr dirty="0" sz="1150" spc="-45">
                <a:latin typeface="Arial"/>
                <a:cs typeface="Arial"/>
              </a:rPr>
              <a:t>grew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15">
                <a:latin typeface="Arial"/>
                <a:cs typeface="Arial"/>
              </a:rPr>
              <a:t>21/5 </a:t>
            </a:r>
            <a:r>
              <a:rPr dirty="0" sz="1150" spc="-35">
                <a:latin typeface="Arial"/>
                <a:cs typeface="Arial"/>
              </a:rPr>
              <a:t>percent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1994,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endParaRPr sz="1150">
              <a:latin typeface="Arial"/>
              <a:cs typeface="Arial"/>
            </a:endParaRPr>
          </a:p>
          <a:p>
            <a:pPr lvl="1" marL="231775" indent="-219710">
              <a:lnSpc>
                <a:spcPct val="100000"/>
              </a:lnSpc>
              <a:spcBef>
                <a:spcPts val="25"/>
              </a:spcBef>
              <a:buAutoNum type="arabicPeriod" startAt="6"/>
              <a:tabLst>
                <a:tab pos="232410" algn="l"/>
              </a:tabLst>
            </a:pPr>
            <a:r>
              <a:rPr dirty="0" sz="1150" spc="-15">
                <a:latin typeface="Arial"/>
                <a:cs typeface="Arial"/>
              </a:rPr>
              <a:t>million;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telecommuters now </a:t>
            </a:r>
            <a:r>
              <a:rPr dirty="0" sz="1150" spc="-80">
                <a:latin typeface="Arial"/>
                <a:cs typeface="Arial"/>
              </a:rPr>
              <a:t>exceeds </a:t>
            </a:r>
            <a:r>
              <a:rPr dirty="0" sz="1150" spc="-65">
                <a:latin typeface="Arial"/>
                <a:cs typeface="Arial"/>
              </a:rPr>
              <a:t>25 </a:t>
            </a:r>
            <a:r>
              <a:rPr dirty="0" sz="1150" spc="-15">
                <a:latin typeface="Arial"/>
                <a:cs typeface="Arial"/>
              </a:rPr>
              <a:t>million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employees.</a:t>
            </a:r>
            <a:endParaRPr sz="1150">
              <a:latin typeface="Arial"/>
              <a:cs typeface="Arial"/>
            </a:endParaRPr>
          </a:p>
          <a:p>
            <a:pPr marL="12700" marR="32448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key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telecommuting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technology—networked computers, </a:t>
            </a:r>
            <a:r>
              <a:rPr dirty="0" sz="1150" spc="-55">
                <a:latin typeface="Arial"/>
                <a:cs typeface="Arial"/>
              </a:rPr>
              <a:t>fax </a:t>
            </a:r>
            <a:r>
              <a:rPr dirty="0" sz="1150" spc="-60">
                <a:latin typeface="Arial"/>
                <a:cs typeface="Arial"/>
              </a:rPr>
              <a:t>machines, </a:t>
            </a:r>
            <a:r>
              <a:rPr dirty="0" sz="1150" spc="-35">
                <a:latin typeface="Arial"/>
                <a:cs typeface="Arial"/>
              </a:rPr>
              <a:t>cellular  </a:t>
            </a:r>
            <a:r>
              <a:rPr dirty="0" sz="1150" spc="-55">
                <a:latin typeface="Arial"/>
                <a:cs typeface="Arial"/>
              </a:rPr>
              <a:t>phones, and </a:t>
            </a:r>
            <a:r>
              <a:rPr dirty="0" sz="1150" spc="-30">
                <a:latin typeface="Arial"/>
                <a:cs typeface="Arial"/>
              </a:rPr>
              <a:t>overnight </a:t>
            </a:r>
            <a:r>
              <a:rPr dirty="0" sz="1150" spc="-35">
                <a:latin typeface="Arial"/>
                <a:cs typeface="Arial"/>
              </a:rPr>
              <a:t>delivery </a:t>
            </a:r>
            <a:r>
              <a:rPr dirty="0" sz="1150" spc="-65">
                <a:latin typeface="Arial"/>
                <a:cs typeface="Arial"/>
              </a:rPr>
              <a:t>services make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55">
                <a:latin typeface="Arial"/>
                <a:cs typeface="Arial"/>
              </a:rPr>
              <a:t>possible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work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50">
                <a:latin typeface="Arial"/>
                <a:cs typeface="Arial"/>
              </a:rPr>
              <a:t>home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5">
                <a:latin typeface="Arial"/>
                <a:cs typeface="Arial"/>
              </a:rPr>
              <a:t>while  </a:t>
            </a:r>
            <a:r>
              <a:rPr dirty="0" sz="1150" spc="-35">
                <a:latin typeface="Arial"/>
                <a:cs typeface="Arial"/>
              </a:rPr>
              <a:t>traveling.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180975">
              <a:lnSpc>
                <a:spcPct val="101699"/>
              </a:lnSpc>
              <a:spcBef>
                <a:spcPts val="5"/>
              </a:spcBef>
            </a:pPr>
            <a:r>
              <a:rPr dirty="0" sz="1150" spc="-50" b="1">
                <a:latin typeface="Arial"/>
                <a:cs typeface="Arial"/>
              </a:rPr>
              <a:t>Virtual </a:t>
            </a:r>
            <a:r>
              <a:rPr dirty="0" sz="1150" spc="-65" b="1">
                <a:latin typeface="Arial"/>
                <a:cs typeface="Arial"/>
              </a:rPr>
              <a:t>office</a:t>
            </a:r>
            <a:r>
              <a:rPr dirty="0" sz="1150" spc="-65">
                <a:latin typeface="Arial"/>
                <a:cs typeface="Arial"/>
              </a:rPr>
              <a:t>—redesigned </a:t>
            </a:r>
            <a:r>
              <a:rPr dirty="0" sz="1150" spc="-35">
                <a:latin typeface="Arial"/>
                <a:cs typeface="Arial"/>
              </a:rPr>
              <a:t>conventional </a:t>
            </a:r>
            <a:r>
              <a:rPr dirty="0" sz="1150" spc="-25">
                <a:latin typeface="Arial"/>
                <a:cs typeface="Arial"/>
              </a:rPr>
              <a:t>office </a:t>
            </a:r>
            <a:r>
              <a:rPr dirty="0" sz="1150" spc="-85">
                <a:latin typeface="Arial"/>
                <a:cs typeface="Arial"/>
              </a:rPr>
              <a:t>space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accommodate </a:t>
            </a:r>
            <a:r>
              <a:rPr dirty="0" sz="1150" spc="-45">
                <a:latin typeface="Arial"/>
                <a:cs typeface="Arial"/>
              </a:rPr>
              <a:t>jobs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schedules 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15">
                <a:latin typeface="Arial"/>
                <a:cs typeface="Arial"/>
              </a:rPr>
              <a:t>far </a:t>
            </a:r>
            <a:r>
              <a:rPr dirty="0" sz="1150" spc="-80">
                <a:latin typeface="Arial"/>
                <a:cs typeface="Arial"/>
              </a:rPr>
              <a:t>less </a:t>
            </a:r>
            <a:r>
              <a:rPr dirty="0" sz="1150" spc="-40">
                <a:latin typeface="Arial"/>
                <a:cs typeface="Arial"/>
              </a:rPr>
              <a:t>dependent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75">
                <a:latin typeface="Arial"/>
                <a:cs typeface="Arial"/>
              </a:rPr>
              <a:t>assigned </a:t>
            </a:r>
            <a:r>
              <a:rPr dirty="0" sz="1150" spc="-95">
                <a:latin typeface="Arial"/>
                <a:cs typeface="Arial"/>
              </a:rPr>
              <a:t>spaces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personal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apparatus.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150" spc="-25">
                <a:latin typeface="Arial"/>
                <a:cs typeface="Arial"/>
              </a:rPr>
              <a:t>Informal </a:t>
            </a:r>
            <a:r>
              <a:rPr dirty="0" sz="1150" spc="-20">
                <a:latin typeface="Arial"/>
                <a:cs typeface="Arial"/>
              </a:rPr>
              <a:t>work </a:t>
            </a:r>
            <a:r>
              <a:rPr dirty="0" sz="1150" spc="-50">
                <a:latin typeface="Arial"/>
                <a:cs typeface="Arial"/>
              </a:rPr>
              <a:t>carrels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0">
                <a:latin typeface="Arial"/>
                <a:cs typeface="Arial"/>
              </a:rPr>
              <a:t>nooks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open </a:t>
            </a:r>
            <a:r>
              <a:rPr dirty="0" sz="1150" spc="-75">
                <a:latin typeface="Arial"/>
                <a:cs typeface="Arial"/>
              </a:rPr>
              <a:t>areas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60">
                <a:latin typeface="Arial"/>
                <a:cs typeface="Arial"/>
              </a:rPr>
              <a:t>made </a:t>
            </a:r>
            <a:r>
              <a:rPr dirty="0" sz="1150" spc="-50">
                <a:latin typeface="Arial"/>
                <a:cs typeface="Arial"/>
              </a:rPr>
              <a:t>available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every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employee.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2200"/>
              </a:lnSpc>
            </a:pPr>
            <a:r>
              <a:rPr dirty="0" sz="1350" spc="-110" b="1">
                <a:latin typeface="Arial"/>
                <a:cs typeface="Arial"/>
              </a:rPr>
              <a:t>Advantages </a:t>
            </a:r>
            <a:r>
              <a:rPr dirty="0" sz="1350" spc="-100" b="1">
                <a:latin typeface="Arial"/>
                <a:cs typeface="Arial"/>
              </a:rPr>
              <a:t>and </a:t>
            </a:r>
            <a:r>
              <a:rPr dirty="0" sz="1350" spc="-110" b="1">
                <a:latin typeface="Arial"/>
                <a:cs typeface="Arial"/>
              </a:rPr>
              <a:t>Disadvantages </a:t>
            </a:r>
            <a:r>
              <a:rPr dirty="0" sz="1350" spc="-65" b="1">
                <a:latin typeface="Arial"/>
                <a:cs typeface="Arial"/>
              </a:rPr>
              <a:t>of </a:t>
            </a:r>
            <a:r>
              <a:rPr dirty="0" sz="1350" spc="-55" b="1">
                <a:latin typeface="Arial"/>
                <a:cs typeface="Arial"/>
              </a:rPr>
              <a:t>Modified </a:t>
            </a:r>
            <a:r>
              <a:rPr dirty="0" sz="1350" spc="-130" b="1">
                <a:latin typeface="Arial"/>
                <a:cs typeface="Arial"/>
              </a:rPr>
              <a:t>Schedules </a:t>
            </a:r>
            <a:r>
              <a:rPr dirty="0" sz="1350" spc="-100" b="1">
                <a:latin typeface="Arial"/>
                <a:cs typeface="Arial"/>
              </a:rPr>
              <a:t>and </a:t>
            </a:r>
            <a:r>
              <a:rPr dirty="0" sz="1350" spc="-65" b="1">
                <a:latin typeface="Arial"/>
                <a:cs typeface="Arial"/>
              </a:rPr>
              <a:t>Alternative  </a:t>
            </a:r>
            <a:r>
              <a:rPr dirty="0" sz="1350" spc="-105" b="1">
                <a:latin typeface="Arial"/>
                <a:cs typeface="Arial"/>
              </a:rPr>
              <a:t>Workplaces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lvl="2" marL="469900" indent="-229235">
              <a:lnSpc>
                <a:spcPct val="100000"/>
              </a:lnSpc>
              <a:buAutoNum type="arabicPeriod"/>
              <a:tabLst>
                <a:tab pos="470534" algn="l"/>
              </a:tabLst>
            </a:pPr>
            <a:r>
              <a:rPr dirty="0" sz="1150" spc="-75">
                <a:latin typeface="Arial"/>
                <a:cs typeface="Arial"/>
              </a:rPr>
              <a:t>Employees </a:t>
            </a:r>
            <a:r>
              <a:rPr dirty="0" sz="1150" spc="-20">
                <a:latin typeface="Arial"/>
                <a:cs typeface="Arial"/>
              </a:rPr>
              <a:t>benefit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35">
                <a:latin typeface="Arial"/>
                <a:cs typeface="Arial"/>
              </a:rPr>
              <a:t>freedom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45">
                <a:latin typeface="Arial"/>
                <a:cs typeface="Arial"/>
              </a:rPr>
              <a:t>professional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personal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lives.</a:t>
            </a:r>
            <a:endParaRPr sz="11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50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lvl="2" marL="469900" indent="-229235">
              <a:lnSpc>
                <a:spcPct val="100000"/>
              </a:lnSpc>
              <a:buAutoNum type="arabicPeriod"/>
              <a:tabLst>
                <a:tab pos="470534" algn="l"/>
              </a:tabLst>
            </a:pPr>
            <a:r>
              <a:rPr dirty="0" sz="1150" spc="-65">
                <a:latin typeface="Arial"/>
                <a:cs typeface="Arial"/>
              </a:rPr>
              <a:t>Employers </a:t>
            </a:r>
            <a:r>
              <a:rPr dirty="0" sz="1150" spc="-20">
                <a:latin typeface="Arial"/>
                <a:cs typeface="Arial"/>
              </a:rPr>
              <a:t>benefit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40">
                <a:latin typeface="Arial"/>
                <a:cs typeface="Arial"/>
              </a:rPr>
              <a:t>higher </a:t>
            </a:r>
            <a:r>
              <a:rPr dirty="0" sz="1150" spc="-55">
                <a:latin typeface="Arial"/>
                <a:cs typeface="Arial"/>
              </a:rPr>
              <a:t>levels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commitment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job </a:t>
            </a:r>
            <a:r>
              <a:rPr dirty="0" sz="1150" spc="-40">
                <a:latin typeface="Arial"/>
                <a:cs typeface="Arial"/>
              </a:rPr>
              <a:t>satisfaction.</a:t>
            </a:r>
            <a:endParaRPr sz="11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2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lvl="2" marL="469900" marR="6985" indent="-228600">
              <a:lnSpc>
                <a:spcPct val="101699"/>
              </a:lnSpc>
              <a:buAutoNum type="arabicPeriod"/>
              <a:tabLst>
                <a:tab pos="470534" algn="l"/>
              </a:tabLst>
            </a:pPr>
            <a:r>
              <a:rPr dirty="0" sz="1150" spc="-45">
                <a:latin typeface="Arial"/>
                <a:cs typeface="Arial"/>
              </a:rPr>
              <a:t>Flextime </a:t>
            </a:r>
            <a:r>
              <a:rPr dirty="0" sz="1150" spc="-50">
                <a:latin typeface="Arial"/>
                <a:cs typeface="Arial"/>
              </a:rPr>
              <a:t>sometimes complicates </a:t>
            </a:r>
            <a:r>
              <a:rPr dirty="0" sz="1150" spc="-30">
                <a:latin typeface="Arial"/>
                <a:cs typeface="Arial"/>
              </a:rPr>
              <a:t>coordination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55">
                <a:latin typeface="Arial"/>
                <a:cs typeface="Arial"/>
              </a:rPr>
              <a:t>need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work  </a:t>
            </a:r>
            <a:r>
              <a:rPr dirty="0" sz="1150" spc="-25">
                <a:latin typeface="Arial"/>
                <a:cs typeface="Arial"/>
              </a:rPr>
              <a:t>together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working </a:t>
            </a:r>
            <a:r>
              <a:rPr dirty="0" sz="1150" spc="-10">
                <a:latin typeface="Arial"/>
                <a:cs typeface="Arial"/>
              </a:rPr>
              <a:t>different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schedules.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120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300" y="892559"/>
            <a:ext cx="5513070" cy="144970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469265" marR="5080" indent="-228600">
              <a:lnSpc>
                <a:spcPct val="101699"/>
              </a:lnSpc>
              <a:spcBef>
                <a:spcPts val="75"/>
              </a:spcBef>
            </a:pPr>
            <a:r>
              <a:rPr dirty="0" sz="1150" spc="-45">
                <a:latin typeface="Arial"/>
                <a:cs typeface="Arial"/>
              </a:rPr>
              <a:t>4.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Telecommuting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virtual </a:t>
            </a:r>
            <a:r>
              <a:rPr dirty="0" sz="1150" spc="-40">
                <a:latin typeface="Arial"/>
                <a:cs typeface="Arial"/>
              </a:rPr>
              <a:t>offices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5">
                <a:latin typeface="Arial"/>
                <a:cs typeface="Arial"/>
              </a:rPr>
              <a:t>everyone. </a:t>
            </a:r>
            <a:r>
              <a:rPr dirty="0" sz="1150" spc="-80">
                <a:latin typeface="Arial"/>
                <a:cs typeface="Arial"/>
              </a:rPr>
              <a:t>Those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75">
                <a:latin typeface="Arial"/>
                <a:cs typeface="Arial"/>
              </a:rPr>
              <a:t>can </a:t>
            </a:r>
            <a:r>
              <a:rPr dirty="0" sz="1150" spc="-20">
                <a:latin typeface="Arial"/>
                <a:cs typeface="Arial"/>
              </a:rPr>
              <a:t>work  </a:t>
            </a:r>
            <a:r>
              <a:rPr dirty="0" sz="1150" spc="-45">
                <a:latin typeface="Arial"/>
                <a:cs typeface="Arial"/>
              </a:rPr>
              <a:t>best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these </a:t>
            </a:r>
            <a:r>
              <a:rPr dirty="0" sz="1150" spc="-40">
                <a:latin typeface="Arial"/>
                <a:cs typeface="Arial"/>
              </a:rPr>
              <a:t>new environments </a:t>
            </a:r>
            <a:r>
              <a:rPr dirty="0" sz="1150" spc="-25">
                <a:latin typeface="Arial"/>
                <a:cs typeface="Arial"/>
              </a:rPr>
              <a:t>tend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0">
                <a:latin typeface="Arial"/>
                <a:cs typeface="Arial"/>
              </a:rPr>
              <a:t>disciplined </a:t>
            </a:r>
            <a:r>
              <a:rPr dirty="0" sz="1150" spc="-35">
                <a:latin typeface="Arial"/>
                <a:cs typeface="Arial"/>
              </a:rPr>
              <a:t>self-starters </a:t>
            </a:r>
            <a:r>
              <a:rPr dirty="0" sz="1150" spc="-30">
                <a:latin typeface="Arial"/>
                <a:cs typeface="Arial"/>
              </a:rPr>
              <a:t>who require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little  </a:t>
            </a:r>
            <a:r>
              <a:rPr dirty="0" sz="1150" spc="-20">
                <a:latin typeface="Arial"/>
                <a:cs typeface="Arial"/>
              </a:rPr>
              <a:t>direct </a:t>
            </a:r>
            <a:r>
              <a:rPr dirty="0" sz="1150" spc="-45">
                <a:latin typeface="Arial"/>
                <a:cs typeface="Arial"/>
              </a:rPr>
              <a:t>supervision </a:t>
            </a:r>
            <a:r>
              <a:rPr dirty="0" sz="1150" spc="-35">
                <a:latin typeface="Arial"/>
                <a:cs typeface="Arial"/>
              </a:rPr>
              <a:t>during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day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30">
                <a:latin typeface="Arial"/>
                <a:cs typeface="Arial"/>
              </a:rPr>
              <a:t>uncomfortable working </a:t>
            </a:r>
            <a:r>
              <a:rPr dirty="0" sz="1150" spc="-70">
                <a:latin typeface="Arial"/>
                <a:cs typeface="Arial"/>
              </a:rPr>
              <a:t>away </a:t>
            </a:r>
            <a:r>
              <a:rPr dirty="0" sz="1150" spc="-10">
                <a:latin typeface="Arial"/>
                <a:cs typeface="Arial"/>
              </a:rPr>
              <a:t>from  their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colleagues.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One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60">
                <a:latin typeface="Arial"/>
                <a:cs typeface="Arial"/>
              </a:rPr>
              <a:t>disadvantage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5">
                <a:latin typeface="Arial"/>
                <a:cs typeface="Arial"/>
              </a:rPr>
              <a:t>difficult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5">
                <a:latin typeface="Arial"/>
                <a:cs typeface="Arial"/>
              </a:rPr>
              <a:t>telecommuters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convince  </a:t>
            </a:r>
            <a:r>
              <a:rPr dirty="0" sz="1150" spc="-50">
                <a:latin typeface="Arial"/>
                <a:cs typeface="Arial"/>
              </a:rPr>
              <a:t>management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50">
                <a:latin typeface="Arial"/>
                <a:cs typeface="Arial"/>
              </a:rPr>
              <a:t>being </a:t>
            </a:r>
            <a:r>
              <a:rPr dirty="0" sz="1150" spc="-55">
                <a:latin typeface="Arial"/>
                <a:cs typeface="Arial"/>
              </a:rPr>
              <a:t>supervised,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10">
                <a:latin typeface="Arial"/>
                <a:cs typeface="Arial"/>
              </a:rPr>
              <a:t>still </a:t>
            </a:r>
            <a:r>
              <a:rPr dirty="0" sz="1150" spc="-35">
                <a:latin typeface="Arial"/>
                <a:cs typeface="Arial"/>
              </a:rPr>
              <a:t>working,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perception  </a:t>
            </a:r>
            <a:r>
              <a:rPr dirty="0" sz="1150" spc="-75">
                <a:latin typeface="Arial"/>
                <a:cs typeface="Arial"/>
              </a:rPr>
              <a:t>based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often </a:t>
            </a:r>
            <a:r>
              <a:rPr dirty="0" sz="1150" spc="-45">
                <a:latin typeface="Arial"/>
                <a:cs typeface="Arial"/>
              </a:rPr>
              <a:t>erroneous </a:t>
            </a:r>
            <a:r>
              <a:rPr dirty="0" sz="1150" spc="-50">
                <a:latin typeface="Arial"/>
                <a:cs typeface="Arial"/>
              </a:rPr>
              <a:t>assumption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40">
                <a:latin typeface="Arial"/>
                <a:cs typeface="Arial"/>
              </a:rPr>
              <a:t>“if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you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95">
                <a:latin typeface="Arial"/>
                <a:cs typeface="Arial"/>
              </a:rPr>
              <a:t>see </a:t>
            </a:r>
            <a:r>
              <a:rPr dirty="0" sz="1150" spc="-25">
                <a:latin typeface="Arial"/>
                <a:cs typeface="Arial"/>
              </a:rPr>
              <a:t>them,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working.”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121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24981" y="889511"/>
            <a:ext cx="3816985" cy="1190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22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750" spc="-165" b="1">
                <a:latin typeface="Arial"/>
                <a:cs typeface="Arial"/>
              </a:rPr>
              <a:t>WHAT </a:t>
            </a:r>
            <a:r>
              <a:rPr dirty="0" sz="1750" spc="-185" b="1">
                <a:latin typeface="Arial"/>
                <a:cs typeface="Arial"/>
              </a:rPr>
              <a:t>IS</a:t>
            </a:r>
            <a:r>
              <a:rPr dirty="0" sz="1750" spc="-25" b="1">
                <a:latin typeface="Arial"/>
                <a:cs typeface="Arial"/>
              </a:rPr>
              <a:t> </a:t>
            </a:r>
            <a:r>
              <a:rPr dirty="0" sz="1750" spc="-190" b="1">
                <a:latin typeface="Arial"/>
                <a:cs typeface="Arial"/>
              </a:rPr>
              <a:t>MARKETING?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122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264" y="2239775"/>
            <a:ext cx="5514340" cy="67938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715">
              <a:lnSpc>
                <a:spcPct val="101699"/>
              </a:lnSpc>
              <a:spcBef>
                <a:spcPts val="75"/>
              </a:spcBef>
            </a:pPr>
            <a:r>
              <a:rPr dirty="0" sz="1150" spc="-40">
                <a:latin typeface="Arial"/>
                <a:cs typeface="Arial"/>
              </a:rPr>
              <a:t>Although </a:t>
            </a:r>
            <a:r>
              <a:rPr dirty="0" sz="1150" spc="-45">
                <a:latin typeface="Arial"/>
                <a:cs typeface="Arial"/>
              </a:rPr>
              <a:t>you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0">
                <a:latin typeface="Arial"/>
                <a:cs typeface="Arial"/>
              </a:rPr>
              <a:t>just </a:t>
            </a:r>
            <a:r>
              <a:rPr dirty="0" sz="1150" spc="-50">
                <a:latin typeface="Arial"/>
                <a:cs typeface="Arial"/>
              </a:rPr>
              <a:t>beginning </a:t>
            </a:r>
            <a:r>
              <a:rPr dirty="0" sz="1150" spc="-30">
                <a:latin typeface="Arial"/>
                <a:cs typeface="Arial"/>
              </a:rPr>
              <a:t>your </a:t>
            </a:r>
            <a:r>
              <a:rPr dirty="0" sz="1150" spc="-60">
                <a:latin typeface="Arial"/>
                <a:cs typeface="Arial"/>
              </a:rPr>
              <a:t>classroom </a:t>
            </a:r>
            <a:r>
              <a:rPr dirty="0" sz="1150" spc="-40">
                <a:latin typeface="Arial"/>
                <a:cs typeface="Arial"/>
              </a:rPr>
              <a:t>study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marketing, </a:t>
            </a:r>
            <a:r>
              <a:rPr dirty="0" sz="1150" spc="-45">
                <a:latin typeface="Arial"/>
                <a:cs typeface="Arial"/>
              </a:rPr>
              <a:t>organizations </a:t>
            </a:r>
            <a:r>
              <a:rPr dirty="0" sz="1150" spc="-30">
                <a:latin typeface="Arial"/>
                <a:cs typeface="Arial"/>
              </a:rPr>
              <a:t>like  </a:t>
            </a:r>
            <a:r>
              <a:rPr dirty="0" sz="1150" spc="-20">
                <a:latin typeface="Arial"/>
                <a:cs typeface="Arial"/>
              </a:rPr>
              <a:t>Microsoft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90">
                <a:latin typeface="Arial"/>
                <a:cs typeface="Arial"/>
              </a:rPr>
              <a:t>Coca-Cola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55">
                <a:latin typeface="Arial"/>
                <a:cs typeface="Arial"/>
              </a:rPr>
              <a:t>been </a:t>
            </a:r>
            <a:r>
              <a:rPr dirty="0" sz="1150" spc="-20">
                <a:latin typeface="Arial"/>
                <a:cs typeface="Arial"/>
              </a:rPr>
              <a:t>trying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sell </a:t>
            </a:r>
            <a:r>
              <a:rPr dirty="0" sz="1150" spc="-40">
                <a:latin typeface="Arial"/>
                <a:cs typeface="Arial"/>
              </a:rPr>
              <a:t>you </a:t>
            </a:r>
            <a:r>
              <a:rPr dirty="0" sz="1150" spc="-45">
                <a:latin typeface="Arial"/>
                <a:cs typeface="Arial"/>
              </a:rPr>
              <a:t>things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60">
                <a:latin typeface="Arial"/>
                <a:cs typeface="Arial"/>
              </a:rPr>
              <a:t>years. </a:t>
            </a:r>
            <a:r>
              <a:rPr dirty="0" sz="1150" spc="-95">
                <a:latin typeface="Arial"/>
                <a:cs typeface="Arial"/>
              </a:rPr>
              <a:t>You </a:t>
            </a:r>
            <a:r>
              <a:rPr dirty="0" sz="1150" spc="-65">
                <a:latin typeface="Arial"/>
                <a:cs typeface="Arial"/>
              </a:rPr>
              <a:t>have  </a:t>
            </a:r>
            <a:r>
              <a:rPr dirty="0" sz="1150" spc="-35">
                <a:latin typeface="Arial"/>
                <a:cs typeface="Arial"/>
              </a:rPr>
              <a:t>probably </a:t>
            </a:r>
            <a:r>
              <a:rPr dirty="0" sz="1150" spc="-55">
                <a:latin typeface="Arial"/>
                <a:cs typeface="Arial"/>
              </a:rPr>
              <a:t>become accustomed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many </a:t>
            </a:r>
            <a:r>
              <a:rPr dirty="0" sz="1150" spc="-35">
                <a:latin typeface="Arial"/>
                <a:cs typeface="Arial"/>
              </a:rPr>
              <a:t>marketing </a:t>
            </a:r>
            <a:r>
              <a:rPr dirty="0" sz="1150" spc="-50">
                <a:latin typeface="Arial"/>
                <a:cs typeface="Arial"/>
              </a:rPr>
              <a:t>techniques—contests, </a:t>
            </a:r>
            <a:r>
              <a:rPr dirty="0" sz="1150" spc="-45">
                <a:latin typeface="Arial"/>
                <a:cs typeface="Arial"/>
              </a:rPr>
              <a:t>advertisements, 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fascinating </a:t>
            </a:r>
            <a:r>
              <a:rPr dirty="0" sz="1150" spc="-60">
                <a:latin typeface="Arial"/>
                <a:cs typeface="Arial"/>
              </a:rPr>
              <a:t>displays </a:t>
            </a:r>
            <a:r>
              <a:rPr dirty="0" sz="1150" spc="-55">
                <a:latin typeface="Arial"/>
                <a:cs typeface="Arial"/>
              </a:rPr>
              <a:t>placed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0">
                <a:latin typeface="Arial"/>
                <a:cs typeface="Arial"/>
              </a:rPr>
              <a:t>strategic locations, price </a:t>
            </a:r>
            <a:r>
              <a:rPr dirty="0" sz="1150" spc="-50">
                <a:latin typeface="Arial"/>
                <a:cs typeface="Arial"/>
              </a:rPr>
              <a:t>markdowns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giveaways. </a:t>
            </a:r>
            <a:r>
              <a:rPr dirty="0" sz="1150" spc="-35">
                <a:latin typeface="Arial"/>
                <a:cs typeface="Arial"/>
              </a:rPr>
              <a:t>What </a:t>
            </a:r>
            <a:r>
              <a:rPr dirty="0" sz="1150" spc="-45">
                <a:latin typeface="Arial"/>
                <a:cs typeface="Arial"/>
              </a:rPr>
              <a:t>you 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learn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5">
                <a:latin typeface="Arial"/>
                <a:cs typeface="Arial"/>
              </a:rPr>
              <a:t>marketing </a:t>
            </a:r>
            <a:r>
              <a:rPr dirty="0" sz="1150" spc="-40">
                <a:latin typeface="Arial"/>
                <a:cs typeface="Arial"/>
              </a:rPr>
              <a:t>requires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10">
                <a:latin typeface="Arial"/>
                <a:cs typeface="Arial"/>
              </a:rPr>
              <a:t>lot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planning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implementation </a:t>
            </a:r>
            <a:r>
              <a:rPr dirty="0" sz="1150" spc="5">
                <a:latin typeface="Arial"/>
                <a:cs typeface="Arial"/>
              </a:rPr>
              <a:t>to  </a:t>
            </a:r>
            <a:r>
              <a:rPr dirty="0" sz="1150" spc="-45">
                <a:latin typeface="Arial"/>
                <a:cs typeface="Arial"/>
              </a:rPr>
              <a:t>develop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new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product,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set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price,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get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to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consumers,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convince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them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buy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it.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5" b="1">
                <a:latin typeface="Arial"/>
                <a:cs typeface="Arial"/>
              </a:rPr>
              <a:t>Marketing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dirty="0" sz="1150" spc="-160" b="1">
                <a:latin typeface="Arial"/>
                <a:cs typeface="Arial"/>
              </a:rPr>
              <a:t>As </a:t>
            </a:r>
            <a:r>
              <a:rPr dirty="0" sz="1150" spc="-65" b="1">
                <a:latin typeface="Arial"/>
                <a:cs typeface="Arial"/>
              </a:rPr>
              <a:t>defined </a:t>
            </a:r>
            <a:r>
              <a:rPr dirty="0" sz="1150" spc="-90" b="1">
                <a:latin typeface="Arial"/>
                <a:cs typeface="Arial"/>
              </a:rPr>
              <a:t>by </a:t>
            </a:r>
            <a:r>
              <a:rPr dirty="0" sz="1150" spc="-50" b="1">
                <a:latin typeface="Arial"/>
                <a:cs typeface="Arial"/>
              </a:rPr>
              <a:t>the </a:t>
            </a:r>
            <a:r>
              <a:rPr dirty="0" sz="1150" spc="-90" b="1">
                <a:latin typeface="Arial"/>
                <a:cs typeface="Arial"/>
              </a:rPr>
              <a:t>American </a:t>
            </a:r>
            <a:r>
              <a:rPr dirty="0" sz="1150" spc="-60" b="1">
                <a:latin typeface="Arial"/>
                <a:cs typeface="Arial"/>
              </a:rPr>
              <a:t>Marketing </a:t>
            </a:r>
            <a:r>
              <a:rPr dirty="0" sz="1150" spc="-95" b="1">
                <a:latin typeface="Arial"/>
                <a:cs typeface="Arial"/>
              </a:rPr>
              <a:t>Association: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ctr" marL="524510" marR="63500">
              <a:lnSpc>
                <a:spcPct val="101699"/>
              </a:lnSpc>
            </a:pPr>
            <a:r>
              <a:rPr dirty="0" sz="1150" spc="40" i="1">
                <a:latin typeface="Arial"/>
                <a:cs typeface="Arial"/>
              </a:rPr>
              <a:t>“It </a:t>
            </a:r>
            <a:r>
              <a:rPr dirty="0" sz="1150" spc="-65" i="1">
                <a:latin typeface="Arial"/>
                <a:cs typeface="Arial"/>
              </a:rPr>
              <a:t>is </a:t>
            </a:r>
            <a:r>
              <a:rPr dirty="0" sz="1150" spc="-40" i="1">
                <a:latin typeface="Arial"/>
                <a:cs typeface="Arial"/>
              </a:rPr>
              <a:t>planning </a:t>
            </a:r>
            <a:r>
              <a:rPr dirty="0" sz="1150" spc="-55" i="1">
                <a:latin typeface="Arial"/>
                <a:cs typeface="Arial"/>
              </a:rPr>
              <a:t>and </a:t>
            </a:r>
            <a:r>
              <a:rPr dirty="0" sz="1150" spc="-50" i="1">
                <a:latin typeface="Arial"/>
                <a:cs typeface="Arial"/>
              </a:rPr>
              <a:t>executing </a:t>
            </a:r>
            <a:r>
              <a:rPr dirty="0" sz="1150" spc="-30" i="1">
                <a:latin typeface="Arial"/>
                <a:cs typeface="Arial"/>
              </a:rPr>
              <a:t>the </a:t>
            </a:r>
            <a:r>
              <a:rPr dirty="0" sz="1150" spc="-50" i="1">
                <a:latin typeface="Arial"/>
                <a:cs typeface="Arial"/>
              </a:rPr>
              <a:t>conception, </a:t>
            </a:r>
            <a:r>
              <a:rPr dirty="0" sz="1150" spc="-35" i="1">
                <a:latin typeface="Arial"/>
                <a:cs typeface="Arial"/>
              </a:rPr>
              <a:t>pricing, </a:t>
            </a:r>
            <a:r>
              <a:rPr dirty="0" sz="1150" spc="-30" i="1">
                <a:latin typeface="Arial"/>
                <a:cs typeface="Arial"/>
              </a:rPr>
              <a:t>promotion, </a:t>
            </a:r>
            <a:r>
              <a:rPr dirty="0" sz="1150" spc="-55" i="1">
                <a:latin typeface="Arial"/>
                <a:cs typeface="Arial"/>
              </a:rPr>
              <a:t>and </a:t>
            </a:r>
            <a:r>
              <a:rPr dirty="0" sz="1150" spc="-20" i="1">
                <a:latin typeface="Arial"/>
                <a:cs typeface="Arial"/>
              </a:rPr>
              <a:t>distribution</a:t>
            </a:r>
            <a:r>
              <a:rPr dirty="0" sz="1150" spc="-225" i="1">
                <a:latin typeface="Arial"/>
                <a:cs typeface="Arial"/>
              </a:rPr>
              <a:t> </a:t>
            </a:r>
            <a:r>
              <a:rPr dirty="0" sz="1150" spc="-15" i="1">
                <a:latin typeface="Arial"/>
                <a:cs typeface="Arial"/>
              </a:rPr>
              <a:t>of  </a:t>
            </a:r>
            <a:r>
              <a:rPr dirty="0" sz="1150" spc="-60" i="1">
                <a:latin typeface="Arial"/>
                <a:cs typeface="Arial"/>
              </a:rPr>
              <a:t>ideas, </a:t>
            </a:r>
            <a:r>
              <a:rPr dirty="0" sz="1150" spc="-65" i="1">
                <a:latin typeface="Arial"/>
                <a:cs typeface="Arial"/>
              </a:rPr>
              <a:t>goods, </a:t>
            </a:r>
            <a:r>
              <a:rPr dirty="0" sz="1150" spc="-50" i="1">
                <a:latin typeface="Arial"/>
                <a:cs typeface="Arial"/>
              </a:rPr>
              <a:t>and </a:t>
            </a:r>
            <a:r>
              <a:rPr dirty="0" sz="1150" spc="-75" i="1">
                <a:latin typeface="Arial"/>
                <a:cs typeface="Arial"/>
              </a:rPr>
              <a:t>services </a:t>
            </a:r>
            <a:r>
              <a:rPr dirty="0" sz="1150" spc="5" i="1">
                <a:latin typeface="Arial"/>
                <a:cs typeface="Arial"/>
              </a:rPr>
              <a:t>to </a:t>
            </a:r>
            <a:r>
              <a:rPr dirty="0" sz="1150" spc="-45" i="1">
                <a:latin typeface="Arial"/>
                <a:cs typeface="Arial"/>
              </a:rPr>
              <a:t>create </a:t>
            </a:r>
            <a:r>
              <a:rPr dirty="0" sz="1150" spc="-80" i="1">
                <a:latin typeface="Arial"/>
                <a:cs typeface="Arial"/>
              </a:rPr>
              <a:t>exchanges </a:t>
            </a:r>
            <a:r>
              <a:rPr dirty="0" sz="1150" i="1">
                <a:latin typeface="Arial"/>
                <a:cs typeface="Arial"/>
              </a:rPr>
              <a:t>that </a:t>
            </a:r>
            <a:r>
              <a:rPr dirty="0" sz="1150" spc="-45" i="1">
                <a:latin typeface="Arial"/>
                <a:cs typeface="Arial"/>
              </a:rPr>
              <a:t>satisfy </a:t>
            </a:r>
            <a:r>
              <a:rPr dirty="0" sz="1150" spc="-35" i="1">
                <a:latin typeface="Arial"/>
                <a:cs typeface="Arial"/>
              </a:rPr>
              <a:t>individual </a:t>
            </a:r>
            <a:r>
              <a:rPr dirty="0" sz="1150" spc="-55" i="1">
                <a:latin typeface="Arial"/>
                <a:cs typeface="Arial"/>
              </a:rPr>
              <a:t>and  </a:t>
            </a:r>
            <a:r>
              <a:rPr dirty="0" sz="1150" spc="-35" i="1">
                <a:latin typeface="Arial"/>
                <a:cs typeface="Arial"/>
              </a:rPr>
              <a:t>organizational</a:t>
            </a:r>
            <a:r>
              <a:rPr dirty="0" sz="1150" spc="-60" i="1">
                <a:latin typeface="Arial"/>
                <a:cs typeface="Arial"/>
              </a:rPr>
              <a:t> </a:t>
            </a:r>
            <a:r>
              <a:rPr dirty="0" sz="1150" spc="-40" i="1">
                <a:latin typeface="Arial"/>
                <a:cs typeface="Arial"/>
              </a:rPr>
              <a:t>objectives.”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dirty="0" sz="1150" spc="-70" b="1">
                <a:latin typeface="Arial"/>
                <a:cs typeface="Arial"/>
              </a:rPr>
              <a:t>However, </a:t>
            </a:r>
            <a:r>
              <a:rPr dirty="0" sz="1150" spc="-60" b="1">
                <a:latin typeface="Arial"/>
                <a:cs typeface="Arial"/>
              </a:rPr>
              <a:t>in </a:t>
            </a:r>
            <a:r>
              <a:rPr dirty="0" sz="1150" spc="-85" b="1">
                <a:latin typeface="Arial"/>
                <a:cs typeface="Arial"/>
              </a:rPr>
              <a:t>laymen’s</a:t>
            </a:r>
            <a:r>
              <a:rPr dirty="0" sz="1150" spc="-50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terms: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algn="ctr" marL="452755">
              <a:lnSpc>
                <a:spcPct val="100000"/>
              </a:lnSpc>
            </a:pPr>
            <a:r>
              <a:rPr dirty="0" sz="1150" spc="-10" i="1">
                <a:latin typeface="Arial"/>
                <a:cs typeface="Arial"/>
              </a:rPr>
              <a:t>“Marketing </a:t>
            </a:r>
            <a:r>
              <a:rPr dirty="0" sz="1150" spc="-65" i="1">
                <a:latin typeface="Arial"/>
                <a:cs typeface="Arial"/>
              </a:rPr>
              <a:t>is </a:t>
            </a:r>
            <a:r>
              <a:rPr dirty="0" sz="1150" spc="-30" i="1">
                <a:latin typeface="Arial"/>
                <a:cs typeface="Arial"/>
              </a:rPr>
              <a:t>quite </a:t>
            </a:r>
            <a:r>
              <a:rPr dirty="0" sz="1150" spc="-50" i="1">
                <a:latin typeface="Arial"/>
                <a:cs typeface="Arial"/>
              </a:rPr>
              <a:t>simply </a:t>
            </a:r>
            <a:r>
              <a:rPr dirty="0" sz="1150" spc="-30" i="1">
                <a:latin typeface="Arial"/>
                <a:cs typeface="Arial"/>
              </a:rPr>
              <a:t>finding </a:t>
            </a:r>
            <a:r>
              <a:rPr dirty="0" sz="1150" spc="-50" i="1">
                <a:latin typeface="Arial"/>
                <a:cs typeface="Arial"/>
              </a:rPr>
              <a:t>a </a:t>
            </a:r>
            <a:r>
              <a:rPr dirty="0" sz="1150" spc="-75" i="1">
                <a:latin typeface="Arial"/>
                <a:cs typeface="Arial"/>
              </a:rPr>
              <a:t>need </a:t>
            </a:r>
            <a:r>
              <a:rPr dirty="0" sz="1150" spc="-55" i="1">
                <a:latin typeface="Arial"/>
                <a:cs typeface="Arial"/>
              </a:rPr>
              <a:t>and </a:t>
            </a:r>
            <a:r>
              <a:rPr dirty="0" sz="1150" spc="-10" i="1">
                <a:latin typeface="Arial"/>
                <a:cs typeface="Arial"/>
              </a:rPr>
              <a:t>filling</a:t>
            </a:r>
            <a:r>
              <a:rPr dirty="0" sz="1150" spc="-175" i="1">
                <a:latin typeface="Arial"/>
                <a:cs typeface="Arial"/>
              </a:rPr>
              <a:t> </a:t>
            </a:r>
            <a:r>
              <a:rPr dirty="0" sz="1150" spc="30" i="1">
                <a:latin typeface="Arial"/>
                <a:cs typeface="Arial"/>
              </a:rPr>
              <a:t>it.”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927100" indent="-229235">
              <a:lnSpc>
                <a:spcPct val="100000"/>
              </a:lnSpc>
              <a:spcBef>
                <a:spcPts val="5"/>
              </a:spcBef>
              <a:buFont typeface="Arial"/>
              <a:buAutoNum type="alphaLcPeriod"/>
              <a:tabLst>
                <a:tab pos="927735" algn="l"/>
              </a:tabLst>
            </a:pPr>
            <a:r>
              <a:rPr dirty="0" sz="1150" spc="-55" b="1">
                <a:latin typeface="Arial"/>
                <a:cs typeface="Arial"/>
              </a:rPr>
              <a:t>Marketing: </a:t>
            </a:r>
            <a:r>
              <a:rPr dirty="0" sz="1150" spc="-90" b="1">
                <a:latin typeface="Arial"/>
                <a:cs typeface="Arial"/>
              </a:rPr>
              <a:t>Providing </a:t>
            </a:r>
            <a:r>
              <a:rPr dirty="0" sz="1150" spc="-75" b="1">
                <a:latin typeface="Arial"/>
                <a:cs typeface="Arial"/>
              </a:rPr>
              <a:t>Value </a:t>
            </a:r>
            <a:r>
              <a:rPr dirty="0" sz="1150" spc="-85" b="1">
                <a:latin typeface="Arial"/>
                <a:cs typeface="Arial"/>
              </a:rPr>
              <a:t>and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Satisfaction:</a:t>
            </a:r>
            <a:endParaRPr sz="1150">
              <a:latin typeface="Arial"/>
              <a:cs typeface="Arial"/>
            </a:endParaRPr>
          </a:p>
          <a:p>
            <a:pPr algn="just" marL="927100" marR="140970">
              <a:lnSpc>
                <a:spcPct val="101699"/>
              </a:lnSpc>
            </a:pPr>
            <a:r>
              <a:rPr dirty="0" sz="1150" spc="-30">
                <a:latin typeface="Arial"/>
                <a:cs typeface="Arial"/>
              </a:rPr>
              <a:t>Marketing </a:t>
            </a:r>
            <a:r>
              <a:rPr dirty="0" sz="1150" spc="-65">
                <a:latin typeface="Arial"/>
                <a:cs typeface="Arial"/>
              </a:rPr>
              <a:t>plays an </a:t>
            </a:r>
            <a:r>
              <a:rPr dirty="0" sz="1150" spc="-15">
                <a:latin typeface="Arial"/>
                <a:cs typeface="Arial"/>
              </a:rPr>
              <a:t>important </a:t>
            </a:r>
            <a:r>
              <a:rPr dirty="0" sz="1150" spc="-20">
                <a:latin typeface="Arial"/>
                <a:cs typeface="Arial"/>
              </a:rPr>
              <a:t>role in </a:t>
            </a:r>
            <a:r>
              <a:rPr dirty="0" sz="1150" spc="-45">
                <a:latin typeface="Arial"/>
                <a:cs typeface="Arial"/>
              </a:rPr>
              <a:t>society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45">
                <a:latin typeface="Arial"/>
                <a:cs typeface="Arial"/>
              </a:rPr>
              <a:t>helping people satisfy </a:t>
            </a:r>
            <a:r>
              <a:rPr dirty="0" sz="1150" spc="-10">
                <a:latin typeface="Arial"/>
                <a:cs typeface="Arial"/>
              </a:rPr>
              <a:t>their 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wants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40">
                <a:latin typeface="Arial"/>
                <a:cs typeface="Arial"/>
              </a:rPr>
              <a:t>helping </a:t>
            </a:r>
            <a:r>
              <a:rPr dirty="0" sz="1150" spc="-45">
                <a:latin typeface="Arial"/>
                <a:cs typeface="Arial"/>
              </a:rPr>
              <a:t>organizations </a:t>
            </a:r>
            <a:r>
              <a:rPr dirty="0" sz="1150" spc="-55">
                <a:latin typeface="Arial"/>
                <a:cs typeface="Arial"/>
              </a:rPr>
              <a:t>decide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produce.</a:t>
            </a:r>
            <a:endParaRPr sz="1150">
              <a:latin typeface="Arial"/>
              <a:cs typeface="Arial"/>
            </a:endParaRPr>
          </a:p>
          <a:p>
            <a:pPr algn="just" lvl="1" marL="1384300" indent="-299720">
              <a:lnSpc>
                <a:spcPct val="100000"/>
              </a:lnSpc>
              <a:spcBef>
                <a:spcPts val="25"/>
              </a:spcBef>
              <a:buFont typeface="Arial"/>
              <a:buAutoNum type="romanLcPeriod"/>
              <a:tabLst>
                <a:tab pos="1384935" algn="l"/>
              </a:tabLst>
            </a:pPr>
            <a:r>
              <a:rPr dirty="0" sz="1150" spc="-70" b="1">
                <a:latin typeface="Arial"/>
                <a:cs typeface="Arial"/>
              </a:rPr>
              <a:t>Value </a:t>
            </a:r>
            <a:r>
              <a:rPr dirty="0" sz="1150" spc="-60">
                <a:latin typeface="Arial"/>
                <a:cs typeface="Arial"/>
              </a:rPr>
              <a:t>compares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product’s </a:t>
            </a:r>
            <a:r>
              <a:rPr dirty="0" sz="1150" spc="-70" b="1">
                <a:latin typeface="Arial"/>
                <a:cs typeface="Arial"/>
              </a:rPr>
              <a:t>benefits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costs.</a:t>
            </a:r>
            <a:endParaRPr sz="1150">
              <a:latin typeface="Arial"/>
              <a:cs typeface="Arial"/>
            </a:endParaRPr>
          </a:p>
          <a:p>
            <a:pPr algn="just" lvl="1" marL="1384300" marR="5080" indent="-332740">
              <a:lnSpc>
                <a:spcPct val="101699"/>
              </a:lnSpc>
              <a:buFont typeface="Arial"/>
              <a:buAutoNum type="romanLcPeriod"/>
              <a:tabLst>
                <a:tab pos="1384935" algn="l"/>
              </a:tabLst>
            </a:pPr>
            <a:r>
              <a:rPr dirty="0" sz="1150" spc="-40" b="1">
                <a:latin typeface="Arial"/>
                <a:cs typeface="Arial"/>
              </a:rPr>
              <a:t>Utility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value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customer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added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marketer. </a:t>
            </a:r>
            <a:r>
              <a:rPr dirty="0" sz="1150" spc="-40">
                <a:latin typeface="Arial"/>
                <a:cs typeface="Arial"/>
              </a:rPr>
              <a:t>In 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40">
                <a:latin typeface="Arial"/>
                <a:cs typeface="Arial"/>
              </a:rPr>
              <a:t>words, </a:t>
            </a:r>
            <a:r>
              <a:rPr dirty="0" sz="1150" spc="5">
                <a:latin typeface="Arial"/>
                <a:cs typeface="Arial"/>
              </a:rPr>
              <a:t>utility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20">
                <a:latin typeface="Arial"/>
                <a:cs typeface="Arial"/>
              </a:rPr>
              <a:t>ability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satisfy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human </a:t>
            </a:r>
            <a:r>
              <a:rPr dirty="0" sz="1150" spc="-20">
                <a:latin typeface="Arial"/>
                <a:cs typeface="Arial"/>
              </a:rPr>
              <a:t>want 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0">
                <a:latin typeface="Arial"/>
                <a:cs typeface="Arial"/>
              </a:rPr>
              <a:t>need. </a:t>
            </a: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10">
                <a:latin typeface="Arial"/>
                <a:cs typeface="Arial"/>
              </a:rPr>
              <a:t>four </a:t>
            </a:r>
            <a:r>
              <a:rPr dirty="0" sz="1150" spc="-50">
                <a:latin typeface="Arial"/>
                <a:cs typeface="Arial"/>
              </a:rPr>
              <a:t>types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utility: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Arial"/>
              <a:buAutoNum type="romanLcPeriod"/>
            </a:pPr>
            <a:endParaRPr sz="1200">
              <a:latin typeface="Arial"/>
              <a:cs typeface="Arial"/>
            </a:endParaRPr>
          </a:p>
          <a:p>
            <a:pPr algn="just" lvl="2" marL="2298700" marR="8255" indent="-228600">
              <a:lnSpc>
                <a:spcPct val="101699"/>
              </a:lnSpc>
              <a:buFont typeface="Arial"/>
              <a:buAutoNum type="arabicParenR"/>
              <a:tabLst>
                <a:tab pos="2299335" algn="l"/>
              </a:tabLst>
            </a:pPr>
            <a:r>
              <a:rPr dirty="0" sz="1150" spc="-80" b="1">
                <a:latin typeface="Arial"/>
                <a:cs typeface="Arial"/>
              </a:rPr>
              <a:t>Time </a:t>
            </a:r>
            <a:r>
              <a:rPr dirty="0" sz="1150" spc="-40" b="1">
                <a:latin typeface="Arial"/>
                <a:cs typeface="Arial"/>
              </a:rPr>
              <a:t>utility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making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50">
                <a:latin typeface="Arial"/>
                <a:cs typeface="Arial"/>
              </a:rPr>
              <a:t>available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0">
                <a:latin typeface="Arial"/>
                <a:cs typeface="Arial"/>
              </a:rPr>
              <a:t>customer wants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it.</a:t>
            </a:r>
            <a:endParaRPr sz="1150">
              <a:latin typeface="Arial"/>
              <a:cs typeface="Arial"/>
            </a:endParaRPr>
          </a:p>
          <a:p>
            <a:pPr algn="just" lvl="2" marL="2298700" marR="6350" indent="-228600">
              <a:lnSpc>
                <a:spcPct val="101699"/>
              </a:lnSpc>
              <a:buFont typeface="Arial"/>
              <a:buAutoNum type="arabicParenR"/>
              <a:tabLst>
                <a:tab pos="2299335" algn="l"/>
              </a:tabLst>
            </a:pPr>
            <a:r>
              <a:rPr dirty="0" sz="1150" spc="-100" b="1">
                <a:latin typeface="Arial"/>
                <a:cs typeface="Arial"/>
              </a:rPr>
              <a:t>Place </a:t>
            </a:r>
            <a:r>
              <a:rPr dirty="0" sz="1150" spc="-40" b="1">
                <a:latin typeface="Arial"/>
                <a:cs typeface="Arial"/>
              </a:rPr>
              <a:t>utility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making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50">
                <a:latin typeface="Arial"/>
                <a:cs typeface="Arial"/>
              </a:rPr>
              <a:t>available </a:t>
            </a:r>
            <a:r>
              <a:rPr dirty="0" sz="1150" spc="-35">
                <a:latin typeface="Arial"/>
                <a:cs typeface="Arial"/>
              </a:rPr>
              <a:t>where  </a:t>
            </a:r>
            <a:r>
              <a:rPr dirty="0" sz="1150" spc="-65">
                <a:latin typeface="Arial"/>
                <a:cs typeface="Arial"/>
              </a:rPr>
              <a:t>consumers </a:t>
            </a:r>
            <a:r>
              <a:rPr dirty="0" sz="1150" spc="-25">
                <a:latin typeface="Arial"/>
                <a:cs typeface="Arial"/>
              </a:rPr>
              <a:t>want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it.</a:t>
            </a:r>
            <a:endParaRPr sz="1150">
              <a:latin typeface="Arial"/>
              <a:cs typeface="Arial"/>
            </a:endParaRPr>
          </a:p>
          <a:p>
            <a:pPr algn="just" lvl="2" marL="2298700" marR="6350" indent="-228600">
              <a:lnSpc>
                <a:spcPct val="101699"/>
              </a:lnSpc>
              <a:buFont typeface="Arial"/>
              <a:buAutoNum type="arabicParenR"/>
              <a:tabLst>
                <a:tab pos="2299335" algn="l"/>
              </a:tabLst>
            </a:pPr>
            <a:r>
              <a:rPr dirty="0" sz="1150" spc="-85" b="1">
                <a:latin typeface="Arial"/>
                <a:cs typeface="Arial"/>
              </a:rPr>
              <a:t>Ownership </a:t>
            </a:r>
            <a:r>
              <a:rPr dirty="0" sz="1150" spc="-40" b="1">
                <a:latin typeface="Arial"/>
                <a:cs typeface="Arial"/>
              </a:rPr>
              <a:t>utility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customer </a:t>
            </a:r>
            <a:r>
              <a:rPr dirty="0" sz="1150" spc="-55">
                <a:latin typeface="Arial"/>
                <a:cs typeface="Arial"/>
              </a:rPr>
              <a:t>value </a:t>
            </a:r>
            <a:r>
              <a:rPr dirty="0" sz="1150" spc="-40">
                <a:latin typeface="Arial"/>
                <a:cs typeface="Arial"/>
              </a:rPr>
              <a:t>created  when </a:t>
            </a:r>
            <a:r>
              <a:rPr dirty="0" sz="1150" spc="-60">
                <a:latin typeface="Arial"/>
                <a:cs typeface="Arial"/>
              </a:rPr>
              <a:t>someone takes </a:t>
            </a:r>
            <a:r>
              <a:rPr dirty="0" sz="1150" spc="-40">
                <a:latin typeface="Arial"/>
                <a:cs typeface="Arial"/>
              </a:rPr>
              <a:t>ownership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product.  </a:t>
            </a:r>
            <a:r>
              <a:rPr dirty="0" sz="1150" spc="-35">
                <a:latin typeface="Arial"/>
                <a:cs typeface="Arial"/>
              </a:rPr>
              <a:t>Marketers </a:t>
            </a:r>
            <a:r>
              <a:rPr dirty="0" sz="1150" spc="-40">
                <a:latin typeface="Arial"/>
                <a:cs typeface="Arial"/>
              </a:rPr>
              <a:t>create </a:t>
            </a:r>
            <a:r>
              <a:rPr dirty="0" sz="1150" spc="-75">
                <a:latin typeface="Arial"/>
                <a:cs typeface="Arial"/>
              </a:rPr>
              <a:t>possession </a:t>
            </a:r>
            <a:r>
              <a:rPr dirty="0" sz="1150" spc="5">
                <a:latin typeface="Arial"/>
                <a:cs typeface="Arial"/>
              </a:rPr>
              <a:t>utility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facilitating the  </a:t>
            </a:r>
            <a:r>
              <a:rPr dirty="0" sz="1150" spc="-35">
                <a:latin typeface="Arial"/>
                <a:cs typeface="Arial"/>
              </a:rPr>
              <a:t>transaction.</a:t>
            </a:r>
            <a:endParaRPr sz="1150">
              <a:latin typeface="Arial"/>
              <a:cs typeface="Arial"/>
            </a:endParaRPr>
          </a:p>
          <a:p>
            <a:pPr algn="just" lvl="2" marL="2298700" marR="7620" indent="-228600">
              <a:lnSpc>
                <a:spcPct val="101699"/>
              </a:lnSpc>
              <a:spcBef>
                <a:spcPts val="5"/>
              </a:spcBef>
              <a:buFont typeface="Arial"/>
              <a:buAutoNum type="arabicParenR"/>
              <a:tabLst>
                <a:tab pos="2299335" algn="l"/>
              </a:tabLst>
            </a:pPr>
            <a:r>
              <a:rPr dirty="0" sz="1150" spc="-100" b="1">
                <a:latin typeface="Arial"/>
                <a:cs typeface="Arial"/>
              </a:rPr>
              <a:t>Form </a:t>
            </a:r>
            <a:r>
              <a:rPr dirty="0" sz="1150" spc="-40" b="1">
                <a:latin typeface="Arial"/>
                <a:cs typeface="Arial"/>
              </a:rPr>
              <a:t>utility </a:t>
            </a:r>
            <a:r>
              <a:rPr dirty="0" sz="1150" spc="-35">
                <a:latin typeface="Arial"/>
                <a:cs typeface="Arial"/>
              </a:rPr>
              <a:t>refers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characteristics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65">
                <a:latin typeface="Arial"/>
                <a:cs typeface="Arial"/>
              </a:rPr>
              <a:t>shape, </a:t>
            </a:r>
            <a:r>
              <a:rPr dirty="0" sz="1150" spc="-70">
                <a:latin typeface="Arial"/>
                <a:cs typeface="Arial"/>
              </a:rPr>
              <a:t>size, </a:t>
            </a:r>
            <a:r>
              <a:rPr dirty="0" sz="1150" spc="-30">
                <a:latin typeface="Arial"/>
                <a:cs typeface="Arial"/>
              </a:rPr>
              <a:t>color, </a:t>
            </a:r>
            <a:r>
              <a:rPr dirty="0" sz="1150" spc="-20">
                <a:latin typeface="Arial"/>
                <a:cs typeface="Arial"/>
              </a:rPr>
              <a:t>function,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40">
                <a:latin typeface="Arial"/>
                <a:cs typeface="Arial"/>
              </a:rPr>
              <a:t>style.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816099" y="892559"/>
            <a:ext cx="4828540" cy="3052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AutoNum type="alphaLcPeriod" startAt="2"/>
              <a:tabLst>
                <a:tab pos="241300" algn="l"/>
              </a:tabLst>
            </a:pPr>
            <a:r>
              <a:rPr dirty="0" sz="1150" spc="-55" b="1">
                <a:latin typeface="Arial"/>
                <a:cs typeface="Arial"/>
              </a:rPr>
              <a:t>Marketing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05" b="1">
                <a:latin typeface="Arial"/>
                <a:cs typeface="Arial"/>
              </a:rPr>
              <a:t>Goods, Services, </a:t>
            </a:r>
            <a:r>
              <a:rPr dirty="0" sz="1150" spc="-85" b="1">
                <a:latin typeface="Arial"/>
                <a:cs typeface="Arial"/>
              </a:rPr>
              <a:t>and</a:t>
            </a:r>
            <a:r>
              <a:rPr dirty="0" sz="1150" spc="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Ideas:</a:t>
            </a:r>
            <a:endParaRPr sz="1150">
              <a:latin typeface="Arial"/>
              <a:cs typeface="Arial"/>
            </a:endParaRPr>
          </a:p>
          <a:p>
            <a:pPr marL="241300" marR="8255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influence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marketing </a:t>
            </a:r>
            <a:r>
              <a:rPr dirty="0" sz="1150" spc="-50">
                <a:latin typeface="Arial"/>
                <a:cs typeface="Arial"/>
              </a:rPr>
              <a:t>permeates </a:t>
            </a:r>
            <a:r>
              <a:rPr dirty="0" sz="1150" spc="-55">
                <a:latin typeface="Arial"/>
                <a:cs typeface="Arial"/>
              </a:rPr>
              <a:t>everyday </a:t>
            </a:r>
            <a:r>
              <a:rPr dirty="0" sz="1150" spc="-15">
                <a:latin typeface="Arial"/>
                <a:cs typeface="Arial"/>
              </a:rPr>
              <a:t>life, </a:t>
            </a:r>
            <a:r>
              <a:rPr dirty="0" sz="1150" spc="-50">
                <a:latin typeface="Arial"/>
                <a:cs typeface="Arial"/>
              </a:rPr>
              <a:t>applying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5" b="1">
                <a:latin typeface="Arial"/>
                <a:cs typeface="Arial"/>
              </a:rPr>
              <a:t>goods</a:t>
            </a:r>
            <a:r>
              <a:rPr dirty="0" sz="1150" spc="-105">
                <a:latin typeface="Arial"/>
                <a:cs typeface="Arial"/>
              </a:rPr>
              <a:t>,  </a:t>
            </a:r>
            <a:r>
              <a:rPr dirty="0" sz="1150" spc="-100" b="1">
                <a:latin typeface="Arial"/>
                <a:cs typeface="Arial"/>
              </a:rPr>
              <a:t>services</a:t>
            </a:r>
            <a:r>
              <a:rPr dirty="0" sz="1150" spc="-100">
                <a:latin typeface="Arial"/>
                <a:cs typeface="Arial"/>
              </a:rPr>
              <a:t>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80" b="1">
                <a:latin typeface="Arial"/>
                <a:cs typeface="Arial"/>
              </a:rPr>
              <a:t>ideas</a:t>
            </a:r>
            <a:r>
              <a:rPr dirty="0" sz="1150" spc="-80">
                <a:latin typeface="Arial"/>
                <a:cs typeface="Arial"/>
              </a:rPr>
              <a:t>. </a:t>
            </a:r>
            <a:r>
              <a:rPr dirty="0" sz="1150" spc="-30">
                <a:latin typeface="Arial"/>
                <a:cs typeface="Arial"/>
              </a:rPr>
              <a:t>Marketing </a:t>
            </a:r>
            <a:r>
              <a:rPr dirty="0" sz="1150" spc="-55">
                <a:latin typeface="Arial"/>
                <a:cs typeface="Arial"/>
              </a:rPr>
              <a:t>applies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tangible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intangible </a:t>
            </a:r>
            <a:r>
              <a:rPr dirty="0" sz="1150" spc="-65">
                <a:latin typeface="Arial"/>
                <a:cs typeface="Arial"/>
              </a:rPr>
              <a:t>goods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35">
                <a:latin typeface="Arial"/>
                <a:cs typeface="Arial"/>
              </a:rPr>
              <a:t>include:</a:t>
            </a:r>
            <a:endParaRPr sz="1150">
              <a:latin typeface="Arial"/>
              <a:cs typeface="Arial"/>
            </a:endParaRPr>
          </a:p>
          <a:p>
            <a:pPr lvl="1" marL="1612265" marR="684530" indent="-228600">
              <a:lnSpc>
                <a:spcPct val="101699"/>
              </a:lnSpc>
              <a:buFont typeface="Arial"/>
              <a:buAutoNum type="arabicParenR"/>
              <a:tabLst>
                <a:tab pos="1612900" algn="l"/>
              </a:tabLst>
            </a:pPr>
            <a:r>
              <a:rPr dirty="0" sz="1150" spc="-110" b="1">
                <a:latin typeface="Arial"/>
                <a:cs typeface="Arial"/>
              </a:rPr>
              <a:t>Consumer </a:t>
            </a:r>
            <a:r>
              <a:rPr dirty="0" sz="1150" spc="-75" b="1">
                <a:latin typeface="Arial"/>
                <a:cs typeface="Arial"/>
              </a:rPr>
              <a:t>Goods</a:t>
            </a:r>
            <a:r>
              <a:rPr dirty="0" sz="1150" spc="-75">
                <a:latin typeface="Arial"/>
                <a:cs typeface="Arial"/>
              </a:rPr>
              <a:t>—products </a:t>
            </a:r>
            <a:r>
              <a:rPr dirty="0" sz="1150" spc="-60">
                <a:latin typeface="Arial"/>
                <a:cs typeface="Arial"/>
              </a:rPr>
              <a:t>purchased </a:t>
            </a:r>
            <a:r>
              <a:rPr dirty="0" sz="1150" spc="-50">
                <a:latin typeface="Arial"/>
                <a:cs typeface="Arial"/>
              </a:rPr>
              <a:t>by  </a:t>
            </a:r>
            <a:r>
              <a:rPr dirty="0" sz="1150" spc="-65">
                <a:latin typeface="Arial"/>
                <a:cs typeface="Arial"/>
              </a:rPr>
              <a:t>consumers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personal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use.</a:t>
            </a:r>
            <a:endParaRPr sz="1150">
              <a:latin typeface="Arial"/>
              <a:cs typeface="Arial"/>
            </a:endParaRPr>
          </a:p>
          <a:p>
            <a:pPr lvl="1" marL="1612265" marR="46355" indent="-228600">
              <a:lnSpc>
                <a:spcPct val="101699"/>
              </a:lnSpc>
              <a:buFont typeface="Arial"/>
              <a:buAutoNum type="arabicParenR"/>
              <a:tabLst>
                <a:tab pos="1612900" algn="l"/>
              </a:tabLst>
            </a:pPr>
            <a:r>
              <a:rPr dirty="0" sz="1150" spc="-65" b="1">
                <a:latin typeface="Arial"/>
                <a:cs typeface="Arial"/>
              </a:rPr>
              <a:t>Industrial </a:t>
            </a:r>
            <a:r>
              <a:rPr dirty="0" sz="1150" spc="-75" b="1">
                <a:latin typeface="Arial"/>
                <a:cs typeface="Arial"/>
              </a:rPr>
              <a:t>Goods</a:t>
            </a:r>
            <a:r>
              <a:rPr dirty="0" sz="1150" spc="-75">
                <a:latin typeface="Arial"/>
                <a:cs typeface="Arial"/>
              </a:rPr>
              <a:t>—products </a:t>
            </a:r>
            <a:r>
              <a:rPr dirty="0" sz="1150" spc="-60">
                <a:latin typeface="Arial"/>
                <a:cs typeface="Arial"/>
              </a:rPr>
              <a:t>purchased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60">
                <a:latin typeface="Arial"/>
                <a:cs typeface="Arial"/>
              </a:rPr>
              <a:t>companies 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produce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products.</a:t>
            </a:r>
            <a:endParaRPr sz="1150">
              <a:latin typeface="Arial"/>
              <a:cs typeface="Arial"/>
            </a:endParaRPr>
          </a:p>
          <a:p>
            <a:pPr lvl="1" marL="1612265" marR="391795" indent="-228600">
              <a:lnSpc>
                <a:spcPct val="101699"/>
              </a:lnSpc>
              <a:spcBef>
                <a:spcPts val="5"/>
              </a:spcBef>
              <a:buFont typeface="Arial"/>
              <a:buAutoNum type="arabicParenR"/>
              <a:tabLst>
                <a:tab pos="1612900" algn="l"/>
              </a:tabLst>
            </a:pPr>
            <a:r>
              <a:rPr dirty="0" sz="1150" spc="-70" b="1">
                <a:latin typeface="Arial"/>
                <a:cs typeface="Arial"/>
              </a:rPr>
              <a:t>Services</a:t>
            </a:r>
            <a:r>
              <a:rPr dirty="0" sz="1150" spc="-70">
                <a:latin typeface="Arial"/>
                <a:cs typeface="Arial"/>
              </a:rPr>
              <a:t>—intangible </a:t>
            </a:r>
            <a:r>
              <a:rPr dirty="0" sz="1150" spc="-35">
                <a:latin typeface="Arial"/>
                <a:cs typeface="Arial"/>
              </a:rPr>
              <a:t>products, </a:t>
            </a:r>
            <a:r>
              <a:rPr dirty="0" sz="1150" spc="-75">
                <a:latin typeface="Arial"/>
                <a:cs typeface="Arial"/>
              </a:rPr>
              <a:t>such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15">
                <a:latin typeface="Arial"/>
                <a:cs typeface="Arial"/>
              </a:rPr>
              <a:t>time,  </a:t>
            </a:r>
            <a:r>
              <a:rPr dirty="0" sz="1150" spc="-40">
                <a:latin typeface="Arial"/>
                <a:cs typeface="Arial"/>
              </a:rPr>
              <a:t>expertise,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25">
                <a:latin typeface="Arial"/>
                <a:cs typeface="Arial"/>
              </a:rPr>
              <a:t>activity,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purchased.</a:t>
            </a:r>
            <a:endParaRPr sz="1150">
              <a:latin typeface="Arial"/>
              <a:cs typeface="Arial"/>
            </a:endParaRPr>
          </a:p>
          <a:p>
            <a:pPr lvl="1" marL="1612265" marR="144145" indent="-228600">
              <a:lnSpc>
                <a:spcPct val="101699"/>
              </a:lnSpc>
              <a:buFont typeface="Arial"/>
              <a:buAutoNum type="arabicParenR"/>
              <a:tabLst>
                <a:tab pos="1612900" algn="l"/>
              </a:tabLst>
            </a:pPr>
            <a:r>
              <a:rPr dirty="0" sz="1150" spc="-60" b="1">
                <a:latin typeface="Arial"/>
                <a:cs typeface="Arial"/>
              </a:rPr>
              <a:t>Ideas</a:t>
            </a:r>
            <a:r>
              <a:rPr dirty="0" sz="1150" spc="-60">
                <a:latin typeface="Arial"/>
                <a:cs typeface="Arial"/>
              </a:rPr>
              <a:t>—intangibles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90">
                <a:latin typeface="Arial"/>
                <a:cs typeface="Arial"/>
              </a:rPr>
              <a:t>as, </a:t>
            </a:r>
            <a:r>
              <a:rPr dirty="0" sz="1150" spc="-75">
                <a:latin typeface="Arial"/>
                <a:cs typeface="Arial"/>
              </a:rPr>
              <a:t>MADD, </a:t>
            </a:r>
            <a:r>
              <a:rPr dirty="0" sz="1150" spc="-30">
                <a:latin typeface="Arial"/>
                <a:cs typeface="Arial"/>
              </a:rPr>
              <a:t>Mothers </a:t>
            </a:r>
            <a:r>
              <a:rPr dirty="0" sz="1150" spc="-55">
                <a:latin typeface="Arial"/>
                <a:cs typeface="Arial"/>
              </a:rPr>
              <a:t>against  </a:t>
            </a:r>
            <a:r>
              <a:rPr dirty="0" sz="1150" spc="-50">
                <a:latin typeface="Arial"/>
                <a:cs typeface="Arial"/>
              </a:rPr>
              <a:t>Drunk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Driving.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Arial"/>
              <a:cs typeface="Arial"/>
            </a:endParaRPr>
          </a:p>
          <a:p>
            <a:pPr algn="just" marL="698500" marR="5080" indent="-299085">
              <a:lnSpc>
                <a:spcPct val="101699"/>
              </a:lnSpc>
            </a:pPr>
            <a:r>
              <a:rPr dirty="0" sz="1150" spc="-15">
                <a:latin typeface="Arial"/>
                <a:cs typeface="Arial"/>
              </a:rPr>
              <a:t>i. </a:t>
            </a:r>
            <a:r>
              <a:rPr dirty="0" sz="1150" spc="-80" b="1">
                <a:latin typeface="Arial"/>
                <a:cs typeface="Arial"/>
              </a:rPr>
              <a:t>Relationship </a:t>
            </a:r>
            <a:r>
              <a:rPr dirty="0" sz="1150" spc="-55" b="1">
                <a:latin typeface="Arial"/>
                <a:cs typeface="Arial"/>
              </a:rPr>
              <a:t>Marketing </a:t>
            </a:r>
            <a:r>
              <a:rPr dirty="0" sz="1150" spc="-75">
                <a:latin typeface="Arial"/>
                <a:cs typeface="Arial"/>
              </a:rPr>
              <a:t>emphasizes </a:t>
            </a:r>
            <a:r>
              <a:rPr dirty="0" sz="1150" spc="-45">
                <a:latin typeface="Arial"/>
                <a:cs typeface="Arial"/>
              </a:rPr>
              <a:t>lasting </a:t>
            </a:r>
            <a:r>
              <a:rPr dirty="0" sz="1150" spc="-40">
                <a:latin typeface="Arial"/>
                <a:cs typeface="Arial"/>
              </a:rPr>
              <a:t>relationships </a:t>
            </a:r>
            <a:r>
              <a:rPr dirty="0" sz="1150" spc="5">
                <a:latin typeface="Arial"/>
                <a:cs typeface="Arial"/>
              </a:rPr>
              <a:t>with 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suppliers. </a:t>
            </a:r>
            <a:r>
              <a:rPr dirty="0" sz="1150" spc="-75">
                <a:latin typeface="Arial"/>
                <a:cs typeface="Arial"/>
              </a:rPr>
              <a:t>Purchase </a:t>
            </a:r>
            <a:r>
              <a:rPr dirty="0" sz="1150" spc="-45">
                <a:latin typeface="Arial"/>
                <a:cs typeface="Arial"/>
              </a:rPr>
              <a:t>incentives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customer </a:t>
            </a:r>
            <a:r>
              <a:rPr dirty="0" sz="1150" spc="-25">
                <a:latin typeface="Arial"/>
                <a:cs typeface="Arial"/>
              </a:rPr>
              <a:t>loyalty  </a:t>
            </a:r>
            <a:r>
              <a:rPr dirty="0" sz="1150" spc="-50">
                <a:latin typeface="Arial"/>
                <a:cs typeface="Arial"/>
              </a:rPr>
              <a:t>programs are </a:t>
            </a:r>
            <a:r>
              <a:rPr dirty="0" sz="1150" spc="-20">
                <a:latin typeface="Arial"/>
                <a:cs typeface="Arial"/>
              </a:rPr>
              <a:t>just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ways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25">
                <a:latin typeface="Arial"/>
                <a:cs typeface="Arial"/>
              </a:rPr>
              <a:t>firms </a:t>
            </a:r>
            <a:r>
              <a:rPr dirty="0" sz="1150" spc="5">
                <a:latin typeface="Arial"/>
                <a:cs typeface="Arial"/>
              </a:rPr>
              <a:t>try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promote  </a:t>
            </a:r>
            <a:r>
              <a:rPr dirty="0" sz="1150" spc="-50">
                <a:latin typeface="Arial"/>
                <a:cs typeface="Arial"/>
              </a:rPr>
              <a:t>these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relationships.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123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3" y="889511"/>
            <a:ext cx="5511800" cy="142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23</a:t>
            </a:r>
            <a:endParaRPr sz="1750">
              <a:latin typeface="Arial"/>
              <a:cs typeface="Arial"/>
            </a:endParaRPr>
          </a:p>
          <a:p>
            <a:pPr algn="ctr" marR="284480">
              <a:lnSpc>
                <a:spcPct val="100000"/>
              </a:lnSpc>
              <a:spcBef>
                <a:spcPts val="1440"/>
              </a:spcBef>
            </a:pPr>
            <a:r>
              <a:rPr dirty="0" sz="1750" spc="-229" b="1">
                <a:latin typeface="Arial"/>
                <a:cs typeface="Arial"/>
              </a:rPr>
              <a:t>THE </a:t>
            </a:r>
            <a:r>
              <a:rPr dirty="0" sz="1750" spc="-185" b="1">
                <a:latin typeface="Arial"/>
                <a:cs typeface="Arial"/>
              </a:rPr>
              <a:t>MARKETING</a:t>
            </a:r>
            <a:r>
              <a:rPr dirty="0" sz="1750" spc="-220" b="1">
                <a:latin typeface="Arial"/>
                <a:cs typeface="Arial"/>
              </a:rPr>
              <a:t> </a:t>
            </a:r>
            <a:r>
              <a:rPr dirty="0" sz="1750" spc="-160" b="1">
                <a:latin typeface="Arial"/>
                <a:cs typeface="Arial"/>
              </a:rPr>
              <a:t>ENVIRONMENT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80" b="1">
                <a:latin typeface="Arial"/>
                <a:cs typeface="Arial"/>
              </a:rPr>
              <a:t>Difference </a:t>
            </a:r>
            <a:r>
              <a:rPr dirty="0" sz="1350" spc="-65" b="1">
                <a:latin typeface="Arial"/>
                <a:cs typeface="Arial"/>
              </a:rPr>
              <a:t>between Marketing </a:t>
            </a:r>
            <a:r>
              <a:rPr dirty="0" sz="1350" spc="-95" b="1">
                <a:latin typeface="Arial"/>
                <a:cs typeface="Arial"/>
              </a:rPr>
              <a:t>and</a:t>
            </a:r>
            <a:r>
              <a:rPr dirty="0" sz="1350" spc="-100" b="1">
                <a:latin typeface="Arial"/>
                <a:cs typeface="Arial"/>
              </a:rPr>
              <a:t> </a:t>
            </a:r>
            <a:r>
              <a:rPr dirty="0" sz="1350" spc="-114" b="1">
                <a:latin typeface="Arial"/>
                <a:cs typeface="Arial"/>
              </a:rPr>
              <a:t>Selling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124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71371" y="2493264"/>
          <a:ext cx="5633085" cy="1102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3115"/>
                <a:gridCol w="492759"/>
                <a:gridCol w="574039"/>
                <a:gridCol w="669925"/>
                <a:gridCol w="278764"/>
                <a:gridCol w="2811145"/>
              </a:tblGrid>
              <a:tr h="184403">
                <a:tc gridSpan="5">
                  <a:txBody>
                    <a:bodyPr/>
                    <a:lstStyle/>
                    <a:p>
                      <a:pPr marL="67945">
                        <a:lnSpc>
                          <a:spcPts val="1335"/>
                        </a:lnSpc>
                      </a:pPr>
                      <a:r>
                        <a:rPr dirty="0" sz="1150" spc="-55" b="1">
                          <a:latin typeface="Arial"/>
                          <a:cs typeface="Arial"/>
                        </a:rPr>
                        <a:t>Marketing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ts val="1335"/>
                        </a:lnSpc>
                      </a:pPr>
                      <a:r>
                        <a:rPr dirty="0" sz="1150" spc="-95" b="1">
                          <a:latin typeface="Arial"/>
                          <a:cs typeface="Arial"/>
                        </a:rPr>
                        <a:t>Selling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4235">
                <a:tc>
                  <a:txBody>
                    <a:bodyPr/>
                    <a:lstStyle/>
                    <a:p>
                      <a:pPr marL="67945">
                        <a:lnSpc>
                          <a:spcPts val="1335"/>
                        </a:lnSpc>
                      </a:pPr>
                      <a:r>
                        <a:rPr dirty="0" sz="1150" spc="-30">
                          <a:latin typeface="Arial"/>
                          <a:cs typeface="Arial"/>
                        </a:rPr>
                        <a:t>Marketing</a:t>
                      </a:r>
                      <a:endParaRPr sz="1150">
                        <a:latin typeface="Arial"/>
                        <a:cs typeface="Arial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150" spc="-25">
                          <a:latin typeface="Arial"/>
                          <a:cs typeface="Arial"/>
                        </a:rPr>
                        <a:t>production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335"/>
                        </a:lnSpc>
                      </a:pPr>
                      <a:r>
                        <a:rPr dirty="0" sz="1150" spc="-35">
                          <a:latin typeface="Arial"/>
                          <a:cs typeface="Arial"/>
                        </a:rPr>
                        <a:t>starts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335"/>
                        </a:lnSpc>
                      </a:pPr>
                      <a:r>
                        <a:rPr dirty="0" sz="1150" spc="-30">
                          <a:latin typeface="Arial"/>
                          <a:cs typeface="Arial"/>
                        </a:rPr>
                        <a:t>before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335"/>
                        </a:lnSpc>
                      </a:pPr>
                      <a:r>
                        <a:rPr dirty="0" sz="1150" spc="-50">
                          <a:latin typeface="Arial"/>
                          <a:cs typeface="Arial"/>
                        </a:rPr>
                        <a:t>decision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335"/>
                        </a:lnSpc>
                      </a:pPr>
                      <a:r>
                        <a:rPr dirty="0" sz="1150">
                          <a:latin typeface="Arial"/>
                          <a:cs typeface="Arial"/>
                        </a:rPr>
                        <a:t>of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35"/>
                        </a:lnSpc>
                      </a:pPr>
                      <a:r>
                        <a:rPr dirty="0" sz="1150" spc="-65">
                          <a:latin typeface="Arial"/>
                          <a:cs typeface="Arial"/>
                        </a:rPr>
                        <a:t>Selling </a:t>
                      </a:r>
                      <a:r>
                        <a:rPr dirty="0" sz="1150" spc="-35">
                          <a:latin typeface="Arial"/>
                          <a:cs typeface="Arial"/>
                        </a:rPr>
                        <a:t>starts </a:t>
                      </a:r>
                      <a:r>
                        <a:rPr dirty="0" sz="1150" spc="-15">
                          <a:latin typeface="Arial"/>
                          <a:cs typeface="Arial"/>
                        </a:rPr>
                        <a:t>after </a:t>
                      </a:r>
                      <a:r>
                        <a:rPr dirty="0" sz="1150" spc="-50">
                          <a:latin typeface="Arial"/>
                          <a:cs typeface="Arial"/>
                        </a:rPr>
                        <a:t>decision </a:t>
                      </a:r>
                      <a:r>
                        <a:rPr dirty="0" sz="1150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150" spc="-1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25">
                          <a:latin typeface="Arial"/>
                          <a:cs typeface="Arial"/>
                        </a:rPr>
                        <a:t>production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2711">
                <a:tc gridSpan="5">
                  <a:txBody>
                    <a:bodyPr/>
                    <a:lstStyle/>
                    <a:p>
                      <a:pPr marL="67945">
                        <a:lnSpc>
                          <a:spcPts val="1335"/>
                        </a:lnSpc>
                      </a:pPr>
                      <a:r>
                        <a:rPr dirty="0" sz="1150" spc="-30">
                          <a:latin typeface="Arial"/>
                          <a:cs typeface="Arial"/>
                        </a:rPr>
                        <a:t>Marketing </a:t>
                      </a:r>
                      <a:r>
                        <a:rPr dirty="0" sz="1150" spc="-65">
                          <a:latin typeface="Arial"/>
                          <a:cs typeface="Arial"/>
                        </a:rPr>
                        <a:t>is </a:t>
                      </a:r>
                      <a:r>
                        <a:rPr dirty="0" sz="1150" spc="-90">
                          <a:latin typeface="Arial"/>
                          <a:cs typeface="Arial"/>
                        </a:rPr>
                        <a:t>a </a:t>
                      </a:r>
                      <a:r>
                        <a:rPr dirty="0" sz="1150">
                          <a:latin typeface="Arial"/>
                          <a:cs typeface="Arial"/>
                        </a:rPr>
                        <a:t>total </a:t>
                      </a:r>
                      <a:r>
                        <a:rPr dirty="0" sz="1150" spc="-60">
                          <a:latin typeface="Arial"/>
                          <a:cs typeface="Arial"/>
                        </a:rPr>
                        <a:t>system </a:t>
                      </a:r>
                      <a:r>
                        <a:rPr dirty="0" sz="1150" spc="-55">
                          <a:latin typeface="Arial"/>
                          <a:cs typeface="Arial"/>
                        </a:rPr>
                        <a:t>and </a:t>
                      </a:r>
                      <a:r>
                        <a:rPr dirty="0" sz="1150" spc="-50">
                          <a:latin typeface="Arial"/>
                          <a:cs typeface="Arial"/>
                        </a:rPr>
                        <a:t>selling </a:t>
                      </a:r>
                      <a:r>
                        <a:rPr dirty="0" sz="1150" spc="-70">
                          <a:latin typeface="Arial"/>
                          <a:cs typeface="Arial"/>
                        </a:rPr>
                        <a:t>is</a:t>
                      </a:r>
                      <a:r>
                        <a:rPr dirty="0" sz="115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50">
                          <a:latin typeface="Arial"/>
                          <a:cs typeface="Arial"/>
                        </a:rPr>
                        <a:t>one</a:t>
                      </a:r>
                      <a:endParaRPr sz="1150">
                        <a:latin typeface="Arial"/>
                        <a:cs typeface="Arial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150">
                          <a:latin typeface="Arial"/>
                          <a:cs typeface="Arial"/>
                        </a:rPr>
                        <a:t>of </a:t>
                      </a:r>
                      <a:r>
                        <a:rPr dirty="0" sz="1150" spc="-25">
                          <a:latin typeface="Arial"/>
                          <a:cs typeface="Arial"/>
                        </a:rPr>
                        <a:t>its</a:t>
                      </a:r>
                      <a:r>
                        <a:rPr dirty="0" sz="1150" spc="-1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15">
                          <a:latin typeface="Arial"/>
                          <a:cs typeface="Arial"/>
                        </a:rPr>
                        <a:t>part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35"/>
                        </a:lnSpc>
                      </a:pPr>
                      <a:r>
                        <a:rPr dirty="0" sz="1150" spc="-65">
                          <a:latin typeface="Arial"/>
                          <a:cs typeface="Arial"/>
                        </a:rPr>
                        <a:t>Selling is </a:t>
                      </a:r>
                      <a:r>
                        <a:rPr dirty="0" sz="1150" spc="-20">
                          <a:latin typeface="Arial"/>
                          <a:cs typeface="Arial"/>
                        </a:rPr>
                        <a:t>the </a:t>
                      </a:r>
                      <a:r>
                        <a:rPr dirty="0" sz="1150" spc="-25">
                          <a:latin typeface="Arial"/>
                          <a:cs typeface="Arial"/>
                        </a:rPr>
                        <a:t>transfer </a:t>
                      </a:r>
                      <a:r>
                        <a:rPr dirty="0" sz="1150">
                          <a:latin typeface="Arial"/>
                          <a:cs typeface="Arial"/>
                        </a:rPr>
                        <a:t>of </a:t>
                      </a:r>
                      <a:r>
                        <a:rPr dirty="0" sz="1150" spc="-30">
                          <a:latin typeface="Arial"/>
                          <a:cs typeface="Arial"/>
                        </a:rPr>
                        <a:t>owner</a:t>
                      </a:r>
                      <a:r>
                        <a:rPr dirty="0" sz="1150" spc="-19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50">
                          <a:latin typeface="Arial"/>
                          <a:cs typeface="Arial"/>
                        </a:rPr>
                        <a:t>ship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4403">
                <a:tc gridSpan="5">
                  <a:txBody>
                    <a:bodyPr/>
                    <a:lstStyle/>
                    <a:p>
                      <a:pPr marL="67945">
                        <a:lnSpc>
                          <a:spcPts val="1335"/>
                        </a:lnSpc>
                      </a:pPr>
                      <a:r>
                        <a:rPr dirty="0" sz="1150" spc="-30">
                          <a:latin typeface="Arial"/>
                          <a:cs typeface="Arial"/>
                        </a:rPr>
                        <a:t>Marketing </a:t>
                      </a:r>
                      <a:r>
                        <a:rPr dirty="0" sz="1150" spc="-65">
                          <a:latin typeface="Arial"/>
                          <a:cs typeface="Arial"/>
                        </a:rPr>
                        <a:t>is </a:t>
                      </a:r>
                      <a:r>
                        <a:rPr dirty="0" sz="1150" spc="-90">
                          <a:latin typeface="Arial"/>
                          <a:cs typeface="Arial"/>
                        </a:rPr>
                        <a:t>a </a:t>
                      </a:r>
                      <a:r>
                        <a:rPr dirty="0" sz="1150" spc="-45">
                          <a:latin typeface="Arial"/>
                          <a:cs typeface="Arial"/>
                        </a:rPr>
                        <a:t>long </a:t>
                      </a:r>
                      <a:r>
                        <a:rPr dirty="0" sz="1150" spc="-10">
                          <a:latin typeface="Arial"/>
                          <a:cs typeface="Arial"/>
                        </a:rPr>
                        <a:t>term</a:t>
                      </a:r>
                      <a:r>
                        <a:rPr dirty="0" sz="1150" spc="-70">
                          <a:latin typeface="Arial"/>
                          <a:cs typeface="Arial"/>
                        </a:rPr>
                        <a:t> process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35"/>
                        </a:lnSpc>
                      </a:pPr>
                      <a:r>
                        <a:rPr dirty="0" sz="1150" spc="-65">
                          <a:latin typeface="Arial"/>
                          <a:cs typeface="Arial"/>
                        </a:rPr>
                        <a:t>Selling is </a:t>
                      </a:r>
                      <a:r>
                        <a:rPr dirty="0" sz="1150" spc="-90">
                          <a:latin typeface="Arial"/>
                          <a:cs typeface="Arial"/>
                        </a:rPr>
                        <a:t>a </a:t>
                      </a:r>
                      <a:r>
                        <a:rPr dirty="0" sz="1150" spc="-25">
                          <a:latin typeface="Arial"/>
                          <a:cs typeface="Arial"/>
                        </a:rPr>
                        <a:t>short </a:t>
                      </a:r>
                      <a:r>
                        <a:rPr dirty="0" sz="1150" spc="-10">
                          <a:latin typeface="Arial"/>
                          <a:cs typeface="Arial"/>
                        </a:rPr>
                        <a:t>term</a:t>
                      </a:r>
                      <a:r>
                        <a:rPr dirty="0" sz="115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50" spc="-70">
                          <a:latin typeface="Arial"/>
                          <a:cs typeface="Arial"/>
                        </a:rPr>
                        <a:t>process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358899" y="3750058"/>
            <a:ext cx="5285105" cy="5134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65" b="1">
                <a:latin typeface="Arial"/>
                <a:cs typeface="Arial"/>
              </a:rPr>
              <a:t>CLASSIFICATION </a:t>
            </a:r>
            <a:r>
              <a:rPr dirty="0" sz="1350" spc="-175" b="1">
                <a:latin typeface="Arial"/>
                <a:cs typeface="Arial"/>
              </a:rPr>
              <a:t>OF</a:t>
            </a:r>
            <a:r>
              <a:rPr dirty="0" sz="1350" spc="-204" b="1">
                <a:latin typeface="Arial"/>
                <a:cs typeface="Arial"/>
              </a:rPr>
              <a:t> </a:t>
            </a:r>
            <a:r>
              <a:rPr dirty="0" sz="1350" spc="-185" b="1">
                <a:latin typeface="Arial"/>
                <a:cs typeface="Arial"/>
              </a:rPr>
              <a:t>PRODUCTS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90" b="1">
                <a:latin typeface="Arial"/>
                <a:cs typeface="Arial"/>
              </a:rPr>
              <a:t>There </a:t>
            </a:r>
            <a:r>
              <a:rPr dirty="0" sz="1350" spc="-70" b="1">
                <a:latin typeface="Arial"/>
                <a:cs typeface="Arial"/>
              </a:rPr>
              <a:t>are </a:t>
            </a:r>
            <a:r>
              <a:rPr dirty="0" sz="1350" spc="-45" b="1">
                <a:latin typeface="Arial"/>
                <a:cs typeface="Arial"/>
              </a:rPr>
              <a:t>two </a:t>
            </a:r>
            <a:r>
              <a:rPr dirty="0" sz="1350" spc="-100" b="1">
                <a:latin typeface="Arial"/>
                <a:cs typeface="Arial"/>
              </a:rPr>
              <a:t>types </a:t>
            </a:r>
            <a:r>
              <a:rPr dirty="0" sz="1350" spc="-65" b="1">
                <a:latin typeface="Arial"/>
                <a:cs typeface="Arial"/>
              </a:rPr>
              <a:t>of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products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35">
                <a:latin typeface="Arial"/>
                <a:cs typeface="Arial"/>
              </a:rPr>
              <a:t>1: </a:t>
            </a:r>
            <a:r>
              <a:rPr dirty="0" sz="1150" spc="-70">
                <a:latin typeface="Arial"/>
                <a:cs typeface="Arial"/>
              </a:rPr>
              <a:t>Consumer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products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35">
                <a:latin typeface="Arial"/>
                <a:cs typeface="Arial"/>
              </a:rPr>
              <a:t>2: </a:t>
            </a:r>
            <a:r>
              <a:rPr dirty="0" sz="1150" spc="-30">
                <a:latin typeface="Arial"/>
                <a:cs typeface="Arial"/>
              </a:rPr>
              <a:t>Industrial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products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Arial"/>
              <a:cs typeface="Arial"/>
            </a:endParaRPr>
          </a:p>
          <a:p>
            <a:pPr marL="469900" marR="5080" indent="-228600">
              <a:lnSpc>
                <a:spcPct val="100899"/>
              </a:lnSpc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70">
                <a:latin typeface="Arial"/>
                <a:cs typeface="Arial"/>
              </a:rPr>
              <a:t>Consumer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60">
                <a:latin typeface="Arial"/>
                <a:cs typeface="Arial"/>
              </a:rPr>
              <a:t>consumed </a:t>
            </a: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30">
                <a:latin typeface="Arial"/>
                <a:cs typeface="Arial"/>
              </a:rPr>
              <a:t>certain </a:t>
            </a:r>
            <a:r>
              <a:rPr dirty="0" sz="1150" spc="-80">
                <a:latin typeface="Arial"/>
                <a:cs typeface="Arial"/>
              </a:rPr>
              <a:t>uses. </a:t>
            </a:r>
            <a:r>
              <a:rPr dirty="0" sz="1150" spc="-60">
                <a:latin typeface="Arial"/>
                <a:cs typeface="Arial"/>
              </a:rPr>
              <a:t>e.g. </a:t>
            </a:r>
            <a:r>
              <a:rPr dirty="0" sz="1150" spc="-85">
                <a:latin typeface="Arial"/>
                <a:cs typeface="Arial"/>
              </a:rPr>
              <a:t>Tea, </a:t>
            </a:r>
            <a:r>
              <a:rPr dirty="0" sz="1150" spc="-65">
                <a:latin typeface="Arial"/>
                <a:cs typeface="Arial"/>
              </a:rPr>
              <a:t>soap, </a:t>
            </a:r>
            <a:r>
              <a:rPr dirty="0" sz="1150">
                <a:latin typeface="Arial"/>
                <a:cs typeface="Arial"/>
              </a:rPr>
              <a:t>tooth </a:t>
            </a:r>
            <a:r>
              <a:rPr dirty="0" sz="1150" spc="-50">
                <a:latin typeface="Arial"/>
                <a:cs typeface="Arial"/>
              </a:rPr>
              <a:t>paste,  </a:t>
            </a:r>
            <a:r>
              <a:rPr dirty="0" sz="1150" spc="-65">
                <a:latin typeface="Arial"/>
                <a:cs typeface="Arial"/>
              </a:rPr>
              <a:t>shaving </a:t>
            </a:r>
            <a:r>
              <a:rPr dirty="0" sz="1150" spc="-50">
                <a:latin typeface="Arial"/>
                <a:cs typeface="Arial"/>
              </a:rPr>
              <a:t>cream, cooking </a:t>
            </a:r>
            <a:r>
              <a:rPr dirty="0" sz="1150" spc="-10">
                <a:latin typeface="Arial"/>
                <a:cs typeface="Arial"/>
              </a:rPr>
              <a:t>oil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 marL="469900" marR="8255" indent="-228600">
              <a:lnSpc>
                <a:spcPct val="100899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30">
                <a:latin typeface="Arial"/>
                <a:cs typeface="Arial"/>
              </a:rPr>
              <a:t>Industrial </a:t>
            </a:r>
            <a:r>
              <a:rPr dirty="0" sz="1150" spc="-35">
                <a:latin typeface="Arial"/>
                <a:cs typeface="Arial"/>
              </a:rPr>
              <a:t>products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industry. </a:t>
            </a:r>
            <a:r>
              <a:rPr dirty="0" sz="1150" spc="-60">
                <a:latin typeface="Arial"/>
                <a:cs typeface="Arial"/>
              </a:rPr>
              <a:t>e.g. </a:t>
            </a:r>
            <a:r>
              <a:rPr dirty="0" sz="1150" spc="-105">
                <a:latin typeface="Arial"/>
                <a:cs typeface="Arial"/>
              </a:rPr>
              <a:t>Raw </a:t>
            </a:r>
            <a:r>
              <a:rPr dirty="0" sz="1150" spc="-30">
                <a:latin typeface="Arial"/>
                <a:cs typeface="Arial"/>
              </a:rPr>
              <a:t>material, </a:t>
            </a:r>
            <a:r>
              <a:rPr dirty="0" sz="1150" spc="-45">
                <a:latin typeface="Arial"/>
                <a:cs typeface="Arial"/>
              </a:rPr>
              <a:t>machinery,  </a:t>
            </a:r>
            <a:r>
              <a:rPr dirty="0" sz="1150" spc="-60">
                <a:latin typeface="Arial"/>
                <a:cs typeface="Arial"/>
              </a:rPr>
              <a:t>chemicals, </a:t>
            </a:r>
            <a:r>
              <a:rPr dirty="0" sz="1150" spc="-30">
                <a:latin typeface="Arial"/>
                <a:cs typeface="Arial"/>
              </a:rPr>
              <a:t>computer </a:t>
            </a:r>
            <a:r>
              <a:rPr dirty="0" sz="1150" spc="-40">
                <a:latin typeface="Arial"/>
                <a:cs typeface="Arial"/>
              </a:rPr>
              <a:t>hardware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software.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Symbol"/>
              <a:buChar char="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0" b="1">
                <a:latin typeface="Arial"/>
                <a:cs typeface="Arial"/>
              </a:rPr>
              <a:t>Relationship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60" b="1">
                <a:latin typeface="Arial"/>
                <a:cs typeface="Arial"/>
              </a:rPr>
              <a:t>Marketing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Developing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long </a:t>
            </a:r>
            <a:r>
              <a:rPr dirty="0" sz="1150" spc="-10">
                <a:latin typeface="Arial"/>
                <a:cs typeface="Arial"/>
              </a:rPr>
              <a:t>term </a:t>
            </a:r>
            <a:r>
              <a:rPr dirty="0" sz="1150" spc="-30">
                <a:latin typeface="Arial"/>
                <a:cs typeface="Arial"/>
              </a:rPr>
              <a:t>relationship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customers,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55">
                <a:latin typeface="Arial"/>
                <a:cs typeface="Arial"/>
              </a:rPr>
              <a:t>making </a:t>
            </a:r>
            <a:r>
              <a:rPr dirty="0" sz="1150" spc="-45">
                <a:latin typeface="Arial"/>
                <a:cs typeface="Arial"/>
              </a:rPr>
              <a:t>phone </a:t>
            </a:r>
            <a:r>
              <a:rPr dirty="0" sz="1150" spc="-60">
                <a:latin typeface="Arial"/>
                <a:cs typeface="Arial"/>
              </a:rPr>
              <a:t>calls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customers, </a:t>
            </a:r>
            <a:r>
              <a:rPr dirty="0" sz="1150" spc="-60">
                <a:latin typeface="Arial"/>
                <a:cs typeface="Arial"/>
              </a:rPr>
              <a:t>sending </a:t>
            </a:r>
            <a:r>
              <a:rPr dirty="0" sz="1150" spc="-30">
                <a:latin typeface="Arial"/>
                <a:cs typeface="Arial"/>
              </a:rPr>
              <a:t>gifts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customers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etc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85" b="1">
                <a:latin typeface="Arial"/>
                <a:cs typeface="Arial"/>
              </a:rPr>
              <a:t>Transactional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60" b="1">
                <a:latin typeface="Arial"/>
                <a:cs typeface="Arial"/>
              </a:rPr>
              <a:t>Marketing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Transaction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customer,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strategy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5">
                <a:latin typeface="Arial"/>
                <a:cs typeface="Arial"/>
              </a:rPr>
              <a:t>focuses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55">
                <a:latin typeface="Arial"/>
                <a:cs typeface="Arial"/>
              </a:rPr>
              <a:t>single, </a:t>
            </a:r>
            <a:r>
              <a:rPr dirty="0" sz="1150">
                <a:latin typeface="Arial"/>
                <a:cs typeface="Arial"/>
              </a:rPr>
              <a:t>"point of  </a:t>
            </a:r>
            <a:r>
              <a:rPr dirty="0" sz="1150" spc="-45">
                <a:latin typeface="Arial"/>
                <a:cs typeface="Arial"/>
              </a:rPr>
              <a:t>sale" </a:t>
            </a:r>
            <a:r>
              <a:rPr dirty="0" sz="1150" spc="-40">
                <a:latin typeface="Arial"/>
                <a:cs typeface="Arial"/>
              </a:rPr>
              <a:t>transactions.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emphasis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55">
                <a:latin typeface="Arial"/>
                <a:cs typeface="Arial"/>
              </a:rPr>
              <a:t>maximizing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efficiency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volume </a:t>
            </a:r>
            <a:r>
              <a:rPr dirty="0" sz="1150" spc="-10">
                <a:latin typeface="Arial"/>
                <a:cs typeface="Arial"/>
              </a:rPr>
              <a:t>of  </a:t>
            </a:r>
            <a:r>
              <a:rPr dirty="0" sz="1150" spc="-30">
                <a:latin typeface="Arial"/>
                <a:cs typeface="Arial"/>
              </a:rPr>
              <a:t>individual </a:t>
            </a:r>
            <a:r>
              <a:rPr dirty="0" sz="1150" spc="-80">
                <a:latin typeface="Arial"/>
                <a:cs typeface="Arial"/>
              </a:rPr>
              <a:t>sales </a:t>
            </a:r>
            <a:r>
              <a:rPr dirty="0" sz="1150" spc="-20">
                <a:latin typeface="Arial"/>
                <a:cs typeface="Arial"/>
              </a:rPr>
              <a:t>rather </a:t>
            </a:r>
            <a:r>
              <a:rPr dirty="0" sz="1150" spc="-30">
                <a:latin typeface="Arial"/>
                <a:cs typeface="Arial"/>
              </a:rPr>
              <a:t>than </a:t>
            </a:r>
            <a:r>
              <a:rPr dirty="0" sz="1150" spc="-45">
                <a:latin typeface="Arial"/>
                <a:cs typeface="Arial"/>
              </a:rPr>
              <a:t>developing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relationship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buyer.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200" b="1">
                <a:latin typeface="Arial"/>
                <a:cs typeface="Arial"/>
              </a:rPr>
              <a:t>FACTORS </a:t>
            </a:r>
            <a:r>
              <a:rPr dirty="0" sz="1350" spc="-145" b="1">
                <a:latin typeface="Arial"/>
                <a:cs typeface="Arial"/>
              </a:rPr>
              <a:t>INFLUENCING </a:t>
            </a:r>
            <a:r>
              <a:rPr dirty="0" sz="1350" spc="-175" b="1">
                <a:latin typeface="Arial"/>
                <a:cs typeface="Arial"/>
              </a:rPr>
              <a:t>THE </a:t>
            </a:r>
            <a:r>
              <a:rPr dirty="0" sz="1350" spc="-140" b="1">
                <a:latin typeface="Arial"/>
                <a:cs typeface="Arial"/>
              </a:rPr>
              <a:t>MARKETING</a:t>
            </a:r>
            <a:r>
              <a:rPr dirty="0" sz="1350" spc="-155" b="1">
                <a:latin typeface="Arial"/>
                <a:cs typeface="Arial"/>
              </a:rPr>
              <a:t> </a:t>
            </a:r>
            <a:r>
              <a:rPr dirty="0" sz="1350" spc="-180" b="1">
                <a:latin typeface="Arial"/>
                <a:cs typeface="Arial"/>
              </a:rPr>
              <a:t>SYSTEM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50">
                <a:latin typeface="Arial"/>
                <a:cs typeface="Arial"/>
              </a:rPr>
              <a:t>External </a:t>
            </a:r>
            <a:r>
              <a:rPr dirty="0" sz="1150" spc="-30">
                <a:latin typeface="Arial"/>
                <a:cs typeface="Arial"/>
              </a:rPr>
              <a:t>Marketing </a:t>
            </a:r>
            <a:r>
              <a:rPr dirty="0" sz="1150" spc="-45">
                <a:latin typeface="Arial"/>
                <a:cs typeface="Arial"/>
              </a:rPr>
              <a:t>Environmental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Factors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25">
                <a:latin typeface="Arial"/>
                <a:cs typeface="Arial"/>
              </a:rPr>
              <a:t>Internal </a:t>
            </a:r>
            <a:r>
              <a:rPr dirty="0" sz="1150" spc="-30">
                <a:latin typeface="Arial"/>
                <a:cs typeface="Arial"/>
              </a:rPr>
              <a:t>Marketing </a:t>
            </a:r>
            <a:r>
              <a:rPr dirty="0" sz="1150" spc="-40">
                <a:latin typeface="Arial"/>
                <a:cs typeface="Arial"/>
              </a:rPr>
              <a:t>Environmental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Factors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58899" y="1278131"/>
            <a:ext cx="5285740" cy="718565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5" b="1">
                <a:latin typeface="Arial"/>
                <a:cs typeface="Arial"/>
              </a:rPr>
              <a:t>THE </a:t>
            </a:r>
            <a:r>
              <a:rPr dirty="0" sz="1350" spc="-140" b="1">
                <a:latin typeface="Arial"/>
                <a:cs typeface="Arial"/>
              </a:rPr>
              <a:t>MARKETING</a:t>
            </a:r>
            <a:r>
              <a:rPr dirty="0" sz="1350" spc="-185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ENVIRONMENT</a:t>
            </a:r>
            <a:endParaRPr sz="1350">
              <a:latin typeface="Arial"/>
              <a:cs typeface="Arial"/>
            </a:endParaRPr>
          </a:p>
          <a:p>
            <a:pPr marL="45720" marR="697865" indent="-33655">
              <a:lnSpc>
                <a:spcPct val="203500"/>
              </a:lnSpc>
              <a:spcBef>
                <a:spcPts val="5"/>
              </a:spcBef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20">
                <a:latin typeface="Arial"/>
                <a:cs typeface="Arial"/>
              </a:rPr>
              <a:t>powerful </a:t>
            </a:r>
            <a:r>
              <a:rPr dirty="0" sz="1150" spc="-50">
                <a:latin typeface="Arial"/>
                <a:cs typeface="Arial"/>
              </a:rPr>
              <a:t>forces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external marketing </a:t>
            </a:r>
            <a:r>
              <a:rPr dirty="0" sz="1150" spc="-30">
                <a:latin typeface="Arial"/>
                <a:cs typeface="Arial"/>
              </a:rPr>
              <a:t>environment </a:t>
            </a:r>
            <a:r>
              <a:rPr dirty="0" sz="1150" spc="-45">
                <a:latin typeface="Arial"/>
                <a:cs typeface="Arial"/>
              </a:rPr>
              <a:t>heavily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influence  </a:t>
            </a:r>
            <a:r>
              <a:rPr dirty="0" sz="1150" spc="-30">
                <a:latin typeface="Arial"/>
                <a:cs typeface="Arial"/>
              </a:rPr>
              <a:t>Marketing </a:t>
            </a:r>
            <a:r>
              <a:rPr dirty="0" sz="1150" spc="-50">
                <a:latin typeface="Arial"/>
                <a:cs typeface="Arial"/>
              </a:rPr>
              <a:t>programs by </a:t>
            </a:r>
            <a:r>
              <a:rPr dirty="0" sz="1150" spc="-55">
                <a:latin typeface="Arial"/>
                <a:cs typeface="Arial"/>
              </a:rPr>
              <a:t>posing </a:t>
            </a:r>
            <a:r>
              <a:rPr dirty="0" sz="1150" spc="-25">
                <a:latin typeface="Arial"/>
                <a:cs typeface="Arial"/>
              </a:rPr>
              <a:t>opportunities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threats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algn="just" marL="698500" marR="5080" indent="-228600">
              <a:lnSpc>
                <a:spcPct val="101699"/>
              </a:lnSpc>
              <a:buFont typeface="Arial"/>
              <a:buAutoNum type="alphaLcPeriod"/>
              <a:tabLst>
                <a:tab pos="698500" algn="l"/>
              </a:tabLst>
            </a:pPr>
            <a:r>
              <a:rPr dirty="0" sz="1150" spc="-70" b="1">
                <a:latin typeface="Arial"/>
                <a:cs typeface="Arial"/>
              </a:rPr>
              <a:t>Political </a:t>
            </a:r>
            <a:r>
              <a:rPr dirty="0" sz="1150" spc="-85" b="1">
                <a:latin typeface="Arial"/>
                <a:cs typeface="Arial"/>
              </a:rPr>
              <a:t>and </a:t>
            </a:r>
            <a:r>
              <a:rPr dirty="0" sz="1150" spc="-75" b="1">
                <a:latin typeface="Arial"/>
                <a:cs typeface="Arial"/>
              </a:rPr>
              <a:t>legal </a:t>
            </a:r>
            <a:r>
              <a:rPr dirty="0" sz="1150" spc="-65" b="1">
                <a:latin typeface="Arial"/>
                <a:cs typeface="Arial"/>
              </a:rPr>
              <a:t>environment</a:t>
            </a:r>
            <a:r>
              <a:rPr dirty="0" sz="1150" spc="-65">
                <a:latin typeface="Arial"/>
                <a:cs typeface="Arial"/>
              </a:rPr>
              <a:t>: </a:t>
            </a:r>
            <a:r>
              <a:rPr dirty="0" sz="1150" spc="-60">
                <a:latin typeface="Arial"/>
                <a:cs typeface="Arial"/>
              </a:rPr>
              <a:t>From </a:t>
            </a:r>
            <a:r>
              <a:rPr dirty="0" sz="1150" spc="-65">
                <a:latin typeface="Arial"/>
                <a:cs typeface="Arial"/>
              </a:rPr>
              <a:t>taxes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regulations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laws, </a:t>
            </a:r>
            <a:r>
              <a:rPr dirty="0" sz="1150" spc="-25">
                <a:latin typeface="Arial"/>
                <a:cs typeface="Arial"/>
              </a:rPr>
              <a:t>the  </a:t>
            </a:r>
            <a:r>
              <a:rPr dirty="0" sz="1150" spc="-20">
                <a:latin typeface="Arial"/>
                <a:cs typeface="Arial"/>
              </a:rPr>
              <a:t>political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legal </a:t>
            </a:r>
            <a:r>
              <a:rPr dirty="0" sz="1150" spc="-30">
                <a:latin typeface="Arial"/>
                <a:cs typeface="Arial"/>
              </a:rPr>
              <a:t>environment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profound </a:t>
            </a:r>
            <a:r>
              <a:rPr dirty="0" sz="1150" spc="-30">
                <a:latin typeface="Arial"/>
                <a:cs typeface="Arial"/>
              </a:rPr>
              <a:t>impact </a:t>
            </a:r>
            <a:r>
              <a:rPr dirty="0" sz="1150" spc="-35">
                <a:latin typeface="Arial"/>
                <a:cs typeface="Arial"/>
              </a:rPr>
              <a:t>on marketing.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55">
                <a:latin typeface="Arial"/>
                <a:cs typeface="Arial"/>
              </a:rPr>
              <a:t>especially </a:t>
            </a:r>
            <a:r>
              <a:rPr dirty="0" sz="1150" spc="-10">
                <a:latin typeface="Arial"/>
                <a:cs typeface="Arial"/>
              </a:rPr>
              <a:t>true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32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certain </a:t>
            </a:r>
            <a:r>
              <a:rPr dirty="0" sz="1150" spc="-35">
                <a:latin typeface="Arial"/>
                <a:cs typeface="Arial"/>
              </a:rPr>
              <a:t>industries,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40">
                <a:latin typeface="Arial"/>
                <a:cs typeface="Arial"/>
              </a:rPr>
              <a:t>telecommunications,  automobiles,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tobacco.</a:t>
            </a:r>
            <a:endParaRPr sz="1150">
              <a:latin typeface="Arial"/>
              <a:cs typeface="Arial"/>
            </a:endParaRPr>
          </a:p>
          <a:p>
            <a:pPr algn="just" marL="698500" marR="5715" indent="-228600">
              <a:lnSpc>
                <a:spcPct val="101699"/>
              </a:lnSpc>
              <a:buFont typeface="Arial"/>
              <a:buAutoNum type="alphaLcPeriod"/>
              <a:tabLst>
                <a:tab pos="698500" algn="l"/>
              </a:tabLst>
            </a:pPr>
            <a:r>
              <a:rPr dirty="0" sz="1150" spc="-105" b="1">
                <a:latin typeface="Arial"/>
                <a:cs typeface="Arial"/>
              </a:rPr>
              <a:t>Social </a:t>
            </a:r>
            <a:r>
              <a:rPr dirty="0" sz="1150" spc="-85" b="1">
                <a:latin typeface="Arial"/>
                <a:cs typeface="Arial"/>
              </a:rPr>
              <a:t>and </a:t>
            </a:r>
            <a:r>
              <a:rPr dirty="0" sz="1150" spc="-65" b="1">
                <a:latin typeface="Arial"/>
                <a:cs typeface="Arial"/>
              </a:rPr>
              <a:t>cultural environment</a:t>
            </a:r>
            <a:r>
              <a:rPr dirty="0" sz="1150" spc="-65">
                <a:latin typeface="Arial"/>
                <a:cs typeface="Arial"/>
              </a:rPr>
              <a:t>: </a:t>
            </a:r>
            <a:r>
              <a:rPr dirty="0" sz="1150" spc="-70">
                <a:latin typeface="Arial"/>
                <a:cs typeface="Arial"/>
              </a:rPr>
              <a:t>Trends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55">
                <a:latin typeface="Arial"/>
                <a:cs typeface="Arial"/>
              </a:rPr>
              <a:t>arena, </a:t>
            </a:r>
            <a:r>
              <a:rPr dirty="0" sz="1150" spc="-40">
                <a:latin typeface="Arial"/>
                <a:cs typeface="Arial"/>
              </a:rPr>
              <a:t>present </a:t>
            </a:r>
            <a:r>
              <a:rPr dirty="0" sz="1150" spc="-45">
                <a:latin typeface="Arial"/>
                <a:cs typeface="Arial"/>
              </a:rPr>
              <a:t>enormous  </a:t>
            </a:r>
            <a:r>
              <a:rPr dirty="0" sz="1150" spc="-25">
                <a:latin typeface="Arial"/>
                <a:cs typeface="Arial"/>
              </a:rPr>
              <a:t>opportunities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60">
                <a:latin typeface="Arial"/>
                <a:cs typeface="Arial"/>
              </a:rPr>
              <a:t>companies </a:t>
            </a:r>
            <a:r>
              <a:rPr dirty="0" sz="1150" spc="-40">
                <a:latin typeface="Arial"/>
                <a:cs typeface="Arial"/>
              </a:rPr>
              <a:t>those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15">
                <a:latin typeface="Arial"/>
                <a:cs typeface="Arial"/>
              </a:rPr>
              <a:t>both </a:t>
            </a:r>
            <a:r>
              <a:rPr dirty="0" sz="1150" spc="-40">
                <a:latin typeface="Arial"/>
                <a:cs typeface="Arial"/>
              </a:rPr>
              <a:t>farsighted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flexible. </a:t>
            </a:r>
            <a:r>
              <a:rPr dirty="0" sz="1150" spc="-90">
                <a:latin typeface="Arial"/>
                <a:cs typeface="Arial"/>
              </a:rPr>
              <a:t>Issues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80">
                <a:latin typeface="Arial"/>
                <a:cs typeface="Arial"/>
              </a:rPr>
              <a:t>changes </a:t>
            </a:r>
            <a:r>
              <a:rPr dirty="0" sz="1150" spc="-40">
                <a:latin typeface="Arial"/>
                <a:cs typeface="Arial"/>
              </a:rPr>
              <a:t>include </a:t>
            </a:r>
            <a:r>
              <a:rPr dirty="0" sz="1150" spc="-55">
                <a:latin typeface="Arial"/>
                <a:cs typeface="Arial"/>
              </a:rPr>
              <a:t>increasing </a:t>
            </a:r>
            <a:r>
              <a:rPr dirty="0" sz="1150" spc="-35">
                <a:latin typeface="Arial"/>
                <a:cs typeface="Arial"/>
              </a:rPr>
              <a:t>diversity,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40">
                <a:latin typeface="Arial"/>
                <a:cs typeface="Arial"/>
              </a:rPr>
              <a:t>single-parent </a:t>
            </a:r>
            <a:r>
              <a:rPr dirty="0" sz="1150" spc="-35">
                <a:latin typeface="Arial"/>
                <a:cs typeface="Arial"/>
              </a:rPr>
              <a:t>families,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30">
                <a:latin typeface="Arial"/>
                <a:cs typeface="Arial"/>
              </a:rPr>
              <a:t>rapidly </a:t>
            </a:r>
            <a:r>
              <a:rPr dirty="0" sz="1150" spc="-35">
                <a:latin typeface="Arial"/>
                <a:cs typeface="Arial"/>
              </a:rPr>
              <a:t>growing </a:t>
            </a:r>
            <a:r>
              <a:rPr dirty="0" sz="1150" spc="-40">
                <a:latin typeface="Arial"/>
                <a:cs typeface="Arial"/>
              </a:rPr>
              <a:t>senior </a:t>
            </a:r>
            <a:r>
              <a:rPr dirty="0" sz="1150" spc="-30">
                <a:latin typeface="Arial"/>
                <a:cs typeface="Arial"/>
              </a:rPr>
              <a:t>population,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 algn="just" marL="698500" marR="5715" indent="-228600">
              <a:lnSpc>
                <a:spcPct val="101699"/>
              </a:lnSpc>
              <a:buFont typeface="Arial"/>
              <a:buAutoNum type="alphaLcPeriod"/>
              <a:tabLst>
                <a:tab pos="698500" algn="l"/>
              </a:tabLst>
            </a:pPr>
            <a:r>
              <a:rPr dirty="0" sz="1150" spc="-95" b="1">
                <a:latin typeface="Arial"/>
                <a:cs typeface="Arial"/>
              </a:rPr>
              <a:t>Technological </a:t>
            </a:r>
            <a:r>
              <a:rPr dirty="0" sz="1150" spc="-65" b="1">
                <a:latin typeface="Arial"/>
                <a:cs typeface="Arial"/>
              </a:rPr>
              <a:t>environment</a:t>
            </a:r>
            <a:r>
              <a:rPr dirty="0" sz="1150" spc="-65">
                <a:latin typeface="Arial"/>
                <a:cs typeface="Arial"/>
              </a:rPr>
              <a:t>: </a:t>
            </a:r>
            <a:r>
              <a:rPr dirty="0" sz="1150" spc="-55">
                <a:latin typeface="Arial"/>
                <a:cs typeface="Arial"/>
              </a:rPr>
              <a:t>New </a:t>
            </a:r>
            <a:r>
              <a:rPr dirty="0" sz="1150" spc="-45">
                <a:latin typeface="Arial"/>
                <a:cs typeface="Arial"/>
              </a:rPr>
              <a:t>technologies </a:t>
            </a:r>
            <a:r>
              <a:rPr dirty="0" sz="1150" spc="-40">
                <a:latin typeface="Arial"/>
                <a:cs typeface="Arial"/>
              </a:rPr>
              <a:t>create new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60">
                <a:latin typeface="Arial"/>
                <a:cs typeface="Arial"/>
              </a:rPr>
              <a:t>and  </a:t>
            </a:r>
            <a:r>
              <a:rPr dirty="0" sz="1150" spc="-65">
                <a:latin typeface="Arial"/>
                <a:cs typeface="Arial"/>
              </a:rPr>
              <a:t>services,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60">
                <a:latin typeface="Arial"/>
                <a:cs typeface="Arial"/>
              </a:rPr>
              <a:t>also make </a:t>
            </a:r>
            <a:r>
              <a:rPr dirty="0" sz="1150" spc="-65">
                <a:latin typeface="Arial"/>
                <a:cs typeface="Arial"/>
              </a:rPr>
              <a:t>some </a:t>
            </a:r>
            <a:r>
              <a:rPr dirty="0" sz="1150" spc="-45">
                <a:latin typeface="Arial"/>
                <a:cs typeface="Arial"/>
              </a:rPr>
              <a:t>existing </a:t>
            </a:r>
            <a:r>
              <a:rPr dirty="0" sz="1150" spc="-35">
                <a:latin typeface="Arial"/>
                <a:cs typeface="Arial"/>
              </a:rPr>
              <a:t>products </a:t>
            </a:r>
            <a:r>
              <a:rPr dirty="0" sz="1150" spc="-40">
                <a:latin typeface="Arial"/>
                <a:cs typeface="Arial"/>
              </a:rPr>
              <a:t>obsolete </a:t>
            </a:r>
            <a:r>
              <a:rPr dirty="0" sz="1150" spc="-45">
                <a:latin typeface="Arial"/>
                <a:cs typeface="Arial"/>
              </a:rPr>
              <a:t>(witness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0">
                <a:latin typeface="Arial"/>
                <a:cs typeface="Arial"/>
              </a:rPr>
              <a:t>growing </a:t>
            </a:r>
            <a:r>
              <a:rPr dirty="0" sz="1150" spc="-50">
                <a:latin typeface="Arial"/>
                <a:cs typeface="Arial"/>
              </a:rPr>
              <a:t>dominance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25">
                <a:latin typeface="Arial"/>
                <a:cs typeface="Arial"/>
              </a:rPr>
              <a:t>DVDs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45">
                <a:latin typeface="Arial"/>
                <a:cs typeface="Arial"/>
              </a:rPr>
              <a:t>Blockbuster).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recent </a:t>
            </a:r>
            <a:r>
              <a:rPr dirty="0" sz="1150" spc="-60">
                <a:latin typeface="Arial"/>
                <a:cs typeface="Arial"/>
              </a:rPr>
              <a:t>years,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emergence 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Internet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5">
                <a:latin typeface="Arial"/>
                <a:cs typeface="Arial"/>
              </a:rPr>
              <a:t>had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greatest </a:t>
            </a:r>
            <a:r>
              <a:rPr dirty="0" sz="1150" spc="-35">
                <a:latin typeface="Arial"/>
                <a:cs typeface="Arial"/>
              </a:rPr>
              <a:t>impact on marketing.</a:t>
            </a:r>
            <a:endParaRPr sz="1150">
              <a:latin typeface="Arial"/>
              <a:cs typeface="Arial"/>
            </a:endParaRPr>
          </a:p>
          <a:p>
            <a:pPr algn="just" marL="698500" marR="6350" indent="-229235">
              <a:lnSpc>
                <a:spcPct val="101699"/>
              </a:lnSpc>
              <a:buFont typeface="Arial"/>
              <a:buAutoNum type="alphaLcPeriod"/>
              <a:tabLst>
                <a:tab pos="698500" algn="l"/>
              </a:tabLst>
            </a:pPr>
            <a:r>
              <a:rPr dirty="0" sz="1150" spc="-114" b="1">
                <a:latin typeface="Arial"/>
                <a:cs typeface="Arial"/>
              </a:rPr>
              <a:t>Economic </a:t>
            </a:r>
            <a:r>
              <a:rPr dirty="0" sz="1150" spc="-65" b="1">
                <a:latin typeface="Arial"/>
                <a:cs typeface="Arial"/>
              </a:rPr>
              <a:t>environment</a:t>
            </a:r>
            <a:r>
              <a:rPr dirty="0" sz="1150" spc="-65">
                <a:latin typeface="Arial"/>
                <a:cs typeface="Arial"/>
              </a:rPr>
              <a:t>: </a:t>
            </a:r>
            <a:r>
              <a:rPr dirty="0" sz="1150" spc="-20">
                <a:latin typeface="Arial"/>
                <a:cs typeface="Arial"/>
              </a:rPr>
              <a:t>Inflation, interest </a:t>
            </a:r>
            <a:r>
              <a:rPr dirty="0" sz="1150" spc="-40">
                <a:latin typeface="Arial"/>
                <a:cs typeface="Arial"/>
              </a:rPr>
              <a:t>rates, </a:t>
            </a:r>
            <a:r>
              <a:rPr dirty="0" sz="1150" spc="-60">
                <a:latin typeface="Arial"/>
                <a:cs typeface="Arial"/>
              </a:rPr>
              <a:t>recession,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recovery-  </a:t>
            </a:r>
            <a:r>
              <a:rPr dirty="0" sz="1150" spc="-15">
                <a:latin typeface="Arial"/>
                <a:cs typeface="Arial"/>
              </a:rPr>
              <a:t>both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home </a:t>
            </a:r>
            <a:r>
              <a:rPr dirty="0" sz="1150" spc="-25">
                <a:latin typeface="Arial"/>
                <a:cs typeface="Arial"/>
              </a:rPr>
              <a:t>country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">
                <a:latin typeface="Arial"/>
                <a:cs typeface="Arial"/>
              </a:rPr>
              <a:t>(to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55">
                <a:latin typeface="Arial"/>
                <a:cs typeface="Arial"/>
              </a:rPr>
              <a:t>increasing </a:t>
            </a:r>
            <a:r>
              <a:rPr dirty="0" sz="1150" spc="-25">
                <a:latin typeface="Arial"/>
                <a:cs typeface="Arial"/>
              </a:rPr>
              <a:t>extent) </a:t>
            </a:r>
            <a:r>
              <a:rPr dirty="0" sz="1150" spc="-55">
                <a:latin typeface="Arial"/>
                <a:cs typeface="Arial"/>
              </a:rPr>
              <a:t>abroad-have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dramatic  influence on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35">
                <a:latin typeface="Arial"/>
                <a:cs typeface="Arial"/>
              </a:rPr>
              <a:t>element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marketing mix.</a:t>
            </a:r>
            <a:endParaRPr sz="1150">
              <a:latin typeface="Arial"/>
              <a:cs typeface="Arial"/>
            </a:endParaRPr>
          </a:p>
          <a:p>
            <a:pPr marL="698500" marR="5080" indent="-228600">
              <a:lnSpc>
                <a:spcPct val="101699"/>
              </a:lnSpc>
              <a:buFont typeface="Arial"/>
              <a:buAutoNum type="alphaLcPeriod"/>
              <a:tabLst>
                <a:tab pos="698500" algn="l"/>
                <a:tab pos="1571625" algn="l"/>
                <a:tab pos="2562225" algn="l"/>
                <a:tab pos="3191510" algn="l"/>
                <a:tab pos="3390900" algn="l"/>
                <a:tab pos="4229100" algn="l"/>
                <a:tab pos="4979035" algn="l"/>
                <a:tab pos="5201285" algn="l"/>
              </a:tabLst>
            </a:pPr>
            <a:r>
              <a:rPr dirty="0" sz="1150" spc="-225" b="1">
                <a:latin typeface="Arial"/>
                <a:cs typeface="Arial"/>
              </a:rPr>
              <a:t>C</a:t>
            </a:r>
            <a:r>
              <a:rPr dirty="0" sz="1150" spc="-80" b="1">
                <a:latin typeface="Arial"/>
                <a:cs typeface="Arial"/>
              </a:rPr>
              <a:t>o</a:t>
            </a:r>
            <a:r>
              <a:rPr dirty="0" sz="1150" spc="-90" b="1">
                <a:latin typeface="Arial"/>
                <a:cs typeface="Arial"/>
              </a:rPr>
              <a:t>m</a:t>
            </a:r>
            <a:r>
              <a:rPr dirty="0" sz="1150" spc="-85" b="1">
                <a:latin typeface="Arial"/>
                <a:cs typeface="Arial"/>
              </a:rPr>
              <a:t>p</a:t>
            </a:r>
            <a:r>
              <a:rPr dirty="0" sz="1150" spc="-70" b="1">
                <a:latin typeface="Arial"/>
                <a:cs typeface="Arial"/>
              </a:rPr>
              <a:t>e</a:t>
            </a:r>
            <a:r>
              <a:rPr dirty="0" sz="1150" spc="10" b="1">
                <a:latin typeface="Arial"/>
                <a:cs typeface="Arial"/>
              </a:rPr>
              <a:t>t</a:t>
            </a:r>
            <a:r>
              <a:rPr dirty="0" sz="1150" spc="-35" b="1">
                <a:latin typeface="Arial"/>
                <a:cs typeface="Arial"/>
              </a:rPr>
              <a:t>i</a:t>
            </a:r>
            <a:r>
              <a:rPr dirty="0" sz="1150" b="1">
                <a:latin typeface="Arial"/>
                <a:cs typeface="Arial"/>
              </a:rPr>
              <a:t>t</a:t>
            </a:r>
            <a:r>
              <a:rPr dirty="0" sz="1150" spc="-35" b="1">
                <a:latin typeface="Arial"/>
                <a:cs typeface="Arial"/>
              </a:rPr>
              <a:t>i</a:t>
            </a:r>
            <a:r>
              <a:rPr dirty="0" sz="1150" spc="-105" b="1">
                <a:latin typeface="Arial"/>
                <a:cs typeface="Arial"/>
              </a:rPr>
              <a:t>v</a:t>
            </a:r>
            <a:r>
              <a:rPr dirty="0" sz="1150" spc="-65" b="1">
                <a:latin typeface="Arial"/>
                <a:cs typeface="Arial"/>
              </a:rPr>
              <a:t>e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-70" b="1">
                <a:latin typeface="Arial"/>
                <a:cs typeface="Arial"/>
              </a:rPr>
              <a:t>e</a:t>
            </a:r>
            <a:r>
              <a:rPr dirty="0" sz="1150" spc="-85" b="1">
                <a:latin typeface="Arial"/>
                <a:cs typeface="Arial"/>
              </a:rPr>
              <a:t>n</a:t>
            </a:r>
            <a:r>
              <a:rPr dirty="0" sz="1150" spc="-105" b="1">
                <a:latin typeface="Arial"/>
                <a:cs typeface="Arial"/>
              </a:rPr>
              <a:t>v</a:t>
            </a:r>
            <a:r>
              <a:rPr dirty="0" sz="1150" spc="-35" b="1">
                <a:latin typeface="Arial"/>
                <a:cs typeface="Arial"/>
              </a:rPr>
              <a:t>i</a:t>
            </a:r>
            <a:r>
              <a:rPr dirty="0" sz="1150" spc="-45" b="1">
                <a:latin typeface="Arial"/>
                <a:cs typeface="Arial"/>
              </a:rPr>
              <a:t>r</a:t>
            </a:r>
            <a:r>
              <a:rPr dirty="0" sz="1150" spc="-95" b="1">
                <a:latin typeface="Arial"/>
                <a:cs typeface="Arial"/>
              </a:rPr>
              <a:t>o</a:t>
            </a:r>
            <a:r>
              <a:rPr dirty="0" sz="1150" spc="-85" b="1">
                <a:latin typeface="Arial"/>
                <a:cs typeface="Arial"/>
              </a:rPr>
              <a:t>n</a:t>
            </a:r>
            <a:r>
              <a:rPr dirty="0" sz="1150" spc="-90" b="1">
                <a:latin typeface="Arial"/>
                <a:cs typeface="Arial"/>
              </a:rPr>
              <a:t>m</a:t>
            </a:r>
            <a:r>
              <a:rPr dirty="0" sz="1150" spc="-85" b="1">
                <a:latin typeface="Arial"/>
                <a:cs typeface="Arial"/>
              </a:rPr>
              <a:t>e</a:t>
            </a:r>
            <a:r>
              <a:rPr dirty="0" sz="1150" spc="-85" b="1">
                <a:latin typeface="Arial"/>
                <a:cs typeface="Arial"/>
              </a:rPr>
              <a:t>n</a:t>
            </a:r>
            <a:r>
              <a:rPr dirty="0" sz="1150" spc="10" b="1">
                <a:latin typeface="Arial"/>
                <a:cs typeface="Arial"/>
              </a:rPr>
              <a:t>t</a:t>
            </a:r>
            <a:r>
              <a:rPr dirty="0" sz="1150" spc="-15">
                <a:latin typeface="Arial"/>
                <a:cs typeface="Arial"/>
              </a:rPr>
              <a:t>: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-225">
                <a:latin typeface="Arial"/>
                <a:cs typeface="Arial"/>
              </a:rPr>
              <a:t>C</a:t>
            </a:r>
            <a:r>
              <a:rPr dirty="0" sz="1150" spc="10">
                <a:latin typeface="Arial"/>
                <a:cs typeface="Arial"/>
              </a:rPr>
              <a:t>r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60">
                <a:latin typeface="Arial"/>
                <a:cs typeface="Arial"/>
              </a:rPr>
              <a:t>t</a:t>
            </a: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45">
                <a:latin typeface="Arial"/>
                <a:cs typeface="Arial"/>
              </a:rPr>
              <a:t>n</a:t>
            </a:r>
            <a:r>
              <a:rPr dirty="0" sz="1150" spc="-100">
                <a:latin typeface="Arial"/>
                <a:cs typeface="Arial"/>
              </a:rPr>
              <a:t>g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-100">
                <a:latin typeface="Arial"/>
                <a:cs typeface="Arial"/>
              </a:rPr>
              <a:t>c</a:t>
            </a:r>
            <a:r>
              <a:rPr dirty="0" sz="1150" spc="-30">
                <a:latin typeface="Arial"/>
                <a:cs typeface="Arial"/>
              </a:rPr>
              <a:t>o</a:t>
            </a:r>
            <a:r>
              <a:rPr dirty="0" sz="1150" spc="-35">
                <a:latin typeface="Arial"/>
                <a:cs typeface="Arial"/>
              </a:rPr>
              <a:t>m</a:t>
            </a:r>
            <a:r>
              <a:rPr dirty="0" sz="1150" spc="-60">
                <a:latin typeface="Arial"/>
                <a:cs typeface="Arial"/>
              </a:rPr>
              <a:t>p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 spc="60">
                <a:latin typeface="Arial"/>
                <a:cs typeface="Arial"/>
              </a:rPr>
              <a:t>t</a:t>
            </a: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60">
                <a:latin typeface="Arial"/>
                <a:cs typeface="Arial"/>
              </a:rPr>
              <a:t>t</a:t>
            </a: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65">
                <a:latin typeface="Arial"/>
                <a:cs typeface="Arial"/>
              </a:rPr>
              <a:t>v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45">
                <a:latin typeface="Arial"/>
                <a:cs typeface="Arial"/>
              </a:rPr>
              <a:t>d</a:t>
            </a:r>
            <a:r>
              <a:rPr dirty="0" sz="1150" spc="-65">
                <a:latin typeface="Arial"/>
                <a:cs typeface="Arial"/>
              </a:rPr>
              <a:t>v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45">
                <a:latin typeface="Arial"/>
                <a:cs typeface="Arial"/>
              </a:rPr>
              <a:t>n</a:t>
            </a:r>
            <a:r>
              <a:rPr dirty="0" sz="1150" spc="60">
                <a:latin typeface="Arial"/>
                <a:cs typeface="Arial"/>
              </a:rPr>
              <a:t>t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105">
                <a:latin typeface="Arial"/>
                <a:cs typeface="Arial"/>
              </a:rPr>
              <a:t>g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130">
                <a:latin typeface="Arial"/>
                <a:cs typeface="Arial"/>
              </a:rPr>
              <a:t>s</a:t>
            </a:r>
            <a:r>
              <a:rPr dirty="0" sz="1150">
                <a:latin typeface="Times New Roman"/>
                <a:cs typeface="Times New Roman"/>
              </a:rPr>
              <a:t>	</a:t>
            </a:r>
            <a:r>
              <a:rPr dirty="0" sz="1150" spc="-70">
                <a:latin typeface="Arial"/>
                <a:cs typeface="Arial"/>
              </a:rPr>
              <a:t>a </a:t>
            </a:r>
            <a:r>
              <a:rPr dirty="0" sz="1150" spc="-40">
                <a:latin typeface="Times New Roman"/>
                <a:cs typeface="Times New Roman"/>
              </a:rPr>
              <a:t> </a:t>
            </a:r>
            <a:r>
              <a:rPr dirty="0" sz="1150" spc="-35">
                <a:latin typeface="Arial"/>
                <a:cs typeface="Arial"/>
              </a:rPr>
              <a:t>fundamental </a:t>
            </a:r>
            <a:r>
              <a:rPr dirty="0" sz="1150" spc="-55">
                <a:latin typeface="Arial"/>
                <a:cs typeface="Arial"/>
              </a:rPr>
              <a:t>goal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marketing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30">
                <a:latin typeface="Arial"/>
                <a:cs typeface="Arial"/>
              </a:rPr>
              <a:t>only </a:t>
            </a:r>
            <a:r>
              <a:rPr dirty="0" sz="1150" spc="-55">
                <a:latin typeface="Arial"/>
                <a:cs typeface="Arial"/>
              </a:rPr>
              <a:t>be accomplished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5">
                <a:latin typeface="Arial"/>
                <a:cs typeface="Arial"/>
              </a:rPr>
              <a:t>carefully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continually </a:t>
            </a:r>
            <a:r>
              <a:rPr dirty="0" sz="1150" spc="-20">
                <a:latin typeface="Arial"/>
                <a:cs typeface="Arial"/>
              </a:rPr>
              <a:t>monitoring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30">
                <a:latin typeface="Arial"/>
                <a:cs typeface="Arial"/>
              </a:rPr>
              <a:t>element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competitive </a:t>
            </a:r>
            <a:r>
              <a:rPr dirty="0" sz="1150" spc="-30">
                <a:latin typeface="Arial"/>
                <a:cs typeface="Arial"/>
              </a:rPr>
              <a:t>environment.  </a:t>
            </a:r>
            <a:r>
              <a:rPr dirty="0" sz="1150" spc="-90" b="1">
                <a:latin typeface="Arial"/>
                <a:cs typeface="Arial"/>
              </a:rPr>
              <a:t>The </a:t>
            </a:r>
            <a:r>
              <a:rPr dirty="0" sz="1150" spc="-65" b="1">
                <a:latin typeface="Arial"/>
                <a:cs typeface="Arial"/>
              </a:rPr>
              <a:t>competitive </a:t>
            </a:r>
            <a:r>
              <a:rPr dirty="0" sz="1150" spc="-70" b="1">
                <a:latin typeface="Arial"/>
                <a:cs typeface="Arial"/>
              </a:rPr>
              <a:t>environment </a:t>
            </a:r>
            <a:r>
              <a:rPr dirty="0" sz="1150" spc="-50">
                <a:latin typeface="Arial"/>
                <a:cs typeface="Arial"/>
              </a:rPr>
              <a:t>drives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35">
                <a:latin typeface="Arial"/>
                <a:cs typeface="Arial"/>
              </a:rPr>
              <a:t>marketing </a:t>
            </a:r>
            <a:r>
              <a:rPr dirty="0" sz="1150" spc="-55">
                <a:latin typeface="Arial"/>
                <a:cs typeface="Arial"/>
              </a:rPr>
              <a:t>decisions. </a:t>
            </a:r>
            <a:r>
              <a:rPr dirty="0" sz="1150" spc="-105">
                <a:latin typeface="Arial"/>
                <a:cs typeface="Arial"/>
              </a:rPr>
              <a:t>By </a:t>
            </a:r>
            <a:r>
              <a:rPr dirty="0" sz="1150" spc="-45">
                <a:latin typeface="Arial"/>
                <a:cs typeface="Arial"/>
              </a:rPr>
              <a:t>studying  </a:t>
            </a:r>
            <a:r>
              <a:rPr dirty="0" sz="1150" spc="-20">
                <a:latin typeface="Arial"/>
                <a:cs typeface="Arial"/>
              </a:rPr>
              <a:t>the competition, </a:t>
            </a:r>
            <a:r>
              <a:rPr dirty="0" sz="1150" spc="-40">
                <a:latin typeface="Arial"/>
                <a:cs typeface="Arial"/>
              </a:rPr>
              <a:t>marketers </a:t>
            </a:r>
            <a:r>
              <a:rPr dirty="0" sz="1150" spc="-30">
                <a:latin typeface="Arial"/>
                <a:cs typeface="Arial"/>
              </a:rPr>
              <a:t>determine how </a:t>
            </a:r>
            <a:r>
              <a:rPr dirty="0" sz="1150" spc="-45">
                <a:latin typeface="Arial"/>
                <a:cs typeface="Arial"/>
              </a:rPr>
              <a:t>best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position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25">
                <a:latin typeface="Arial"/>
                <a:cs typeface="Arial"/>
              </a:rPr>
              <a:t>own  </a:t>
            </a:r>
            <a:r>
              <a:rPr dirty="0" sz="1150" spc="-35">
                <a:latin typeface="Arial"/>
                <a:cs typeface="Arial"/>
              </a:rPr>
              <a:t>products. </a:t>
            </a:r>
            <a:r>
              <a:rPr dirty="0" sz="1150" spc="-55">
                <a:latin typeface="Arial"/>
                <a:cs typeface="Arial"/>
              </a:rPr>
              <a:t>Knowing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alternatives </a:t>
            </a:r>
            <a:r>
              <a:rPr dirty="0" sz="1150" spc="-50">
                <a:latin typeface="Arial"/>
                <a:cs typeface="Arial"/>
              </a:rPr>
              <a:t>available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your </a:t>
            </a:r>
            <a:r>
              <a:rPr dirty="0" sz="1150" spc="-50">
                <a:latin typeface="Arial"/>
                <a:cs typeface="Arial"/>
              </a:rPr>
              <a:t>customers, </a:t>
            </a:r>
            <a:r>
              <a:rPr dirty="0" sz="1150" spc="-35">
                <a:latin typeface="Arial"/>
                <a:cs typeface="Arial"/>
              </a:rPr>
              <a:t>who </a:t>
            </a:r>
            <a:r>
              <a:rPr dirty="0" sz="1150" spc="-30">
                <a:latin typeface="Arial"/>
                <a:cs typeface="Arial"/>
              </a:rPr>
              <a:t>your  competitors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5">
                <a:latin typeface="Arial"/>
                <a:cs typeface="Arial"/>
              </a:rPr>
              <a:t>offer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vital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95">
                <a:latin typeface="Arial"/>
                <a:cs typeface="Arial"/>
              </a:rPr>
              <a:t>success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40">
                <a:latin typeface="Arial"/>
                <a:cs typeface="Arial"/>
              </a:rPr>
              <a:t>watching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15">
                <a:latin typeface="Arial"/>
                <a:cs typeface="Arial"/>
              </a:rPr>
              <a:t>the  </a:t>
            </a:r>
            <a:r>
              <a:rPr dirty="0" sz="1150" spc="-30">
                <a:latin typeface="Arial"/>
                <a:cs typeface="Arial"/>
              </a:rPr>
              <a:t>next </a:t>
            </a:r>
            <a:r>
              <a:rPr dirty="0" sz="1150" spc="-50">
                <a:latin typeface="Arial"/>
                <a:cs typeface="Arial"/>
              </a:rPr>
              <a:t>big </a:t>
            </a:r>
            <a:r>
              <a:rPr dirty="0" sz="1150" spc="-20">
                <a:latin typeface="Arial"/>
                <a:cs typeface="Arial"/>
              </a:rPr>
              <a:t>food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5">
                <a:latin typeface="Arial"/>
                <a:cs typeface="Arial"/>
              </a:rPr>
              <a:t>fashion </a:t>
            </a:r>
            <a:r>
              <a:rPr dirty="0" sz="1150" spc="-70">
                <a:latin typeface="Arial"/>
                <a:cs typeface="Arial"/>
              </a:rPr>
              <a:t>craze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0">
                <a:latin typeface="Arial"/>
                <a:cs typeface="Arial"/>
              </a:rPr>
              <a:t>technological </a:t>
            </a:r>
            <a:r>
              <a:rPr dirty="0" sz="1150" spc="-30">
                <a:latin typeface="Arial"/>
                <a:cs typeface="Arial"/>
              </a:rPr>
              <a:t>innovation. </a:t>
            </a: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three  </a:t>
            </a:r>
            <a:r>
              <a:rPr dirty="0" sz="1150" spc="-50">
                <a:latin typeface="Arial"/>
                <a:cs typeface="Arial"/>
              </a:rPr>
              <a:t>specific types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competition:</a:t>
            </a:r>
            <a:endParaRPr sz="1150">
              <a:latin typeface="Arial"/>
              <a:cs typeface="Arial"/>
            </a:endParaRPr>
          </a:p>
          <a:p>
            <a:pPr algn="just" lvl="1" marL="1155700" marR="5080" indent="-228600">
              <a:lnSpc>
                <a:spcPct val="101699"/>
              </a:lnSpc>
              <a:spcBef>
                <a:spcPts val="5"/>
              </a:spcBef>
              <a:buFont typeface="Arial"/>
              <a:buAutoNum type="arabicPeriod"/>
              <a:tabLst>
                <a:tab pos="1156335" algn="l"/>
              </a:tabLst>
            </a:pPr>
            <a:r>
              <a:rPr dirty="0" sz="1150" spc="-75" b="1">
                <a:latin typeface="Arial"/>
                <a:cs typeface="Arial"/>
              </a:rPr>
              <a:t>Substitute </a:t>
            </a:r>
            <a:r>
              <a:rPr dirty="0" sz="1150" spc="-80" b="1">
                <a:latin typeface="Arial"/>
                <a:cs typeface="Arial"/>
              </a:rPr>
              <a:t>product </a:t>
            </a:r>
            <a:r>
              <a:rPr dirty="0" sz="1150" spc="-65" b="1">
                <a:latin typeface="Arial"/>
                <a:cs typeface="Arial"/>
              </a:rPr>
              <a:t>competition</a:t>
            </a:r>
            <a:r>
              <a:rPr dirty="0" sz="1150" spc="-65">
                <a:latin typeface="Arial"/>
                <a:cs typeface="Arial"/>
              </a:rPr>
              <a:t>: </a:t>
            </a:r>
            <a:r>
              <a:rPr dirty="0" sz="1150" spc="-55">
                <a:latin typeface="Arial"/>
                <a:cs typeface="Arial"/>
              </a:rPr>
              <a:t>Products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dissimilar </a:t>
            </a:r>
            <a:r>
              <a:rPr dirty="0" sz="1150" spc="-10">
                <a:latin typeface="Arial"/>
                <a:cs typeface="Arial"/>
              </a:rPr>
              <a:t>from  </a:t>
            </a:r>
            <a:r>
              <a:rPr dirty="0" sz="1150" spc="-40">
                <a:latin typeface="Arial"/>
                <a:cs typeface="Arial"/>
              </a:rPr>
              <a:t>those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competitors,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>
                <a:latin typeface="Arial"/>
                <a:cs typeface="Arial"/>
              </a:rPr>
              <a:t>fulfill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0">
                <a:latin typeface="Arial"/>
                <a:cs typeface="Arial"/>
              </a:rPr>
              <a:t>same </a:t>
            </a:r>
            <a:r>
              <a:rPr dirty="0" sz="1150" spc="-60">
                <a:latin typeface="Arial"/>
                <a:cs typeface="Arial"/>
              </a:rPr>
              <a:t>need </a:t>
            </a:r>
            <a:r>
              <a:rPr dirty="0" sz="1150" spc="-55">
                <a:latin typeface="Arial"/>
                <a:cs typeface="Arial"/>
              </a:rPr>
              <a:t>(e.g. </a:t>
            </a:r>
            <a:r>
              <a:rPr dirty="0" sz="1150" spc="-35">
                <a:latin typeface="Arial"/>
                <a:cs typeface="Arial"/>
              </a:rPr>
              <a:t>television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computer </a:t>
            </a:r>
            <a:r>
              <a:rPr dirty="0" sz="1150" spc="-85">
                <a:latin typeface="Arial"/>
                <a:cs typeface="Arial"/>
              </a:rPr>
              <a:t>games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5">
                <a:latin typeface="Arial"/>
                <a:cs typeface="Arial"/>
              </a:rPr>
              <a:t>from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30">
                <a:latin typeface="Arial"/>
                <a:cs typeface="Arial"/>
              </a:rPr>
              <a:t>another,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15">
                <a:latin typeface="Arial"/>
                <a:cs typeface="Arial"/>
              </a:rPr>
              <a:t>both  </a:t>
            </a:r>
            <a:r>
              <a:rPr dirty="0" sz="1150">
                <a:latin typeface="Arial"/>
                <a:cs typeface="Arial"/>
              </a:rPr>
              <a:t>fulfill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need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entertainment).</a:t>
            </a:r>
            <a:endParaRPr sz="1150">
              <a:latin typeface="Arial"/>
              <a:cs typeface="Arial"/>
            </a:endParaRPr>
          </a:p>
          <a:p>
            <a:pPr algn="just" lvl="1" marL="1155700" marR="5080" indent="-228600">
              <a:lnSpc>
                <a:spcPct val="101699"/>
              </a:lnSpc>
              <a:buFont typeface="Arial"/>
              <a:buAutoNum type="arabicPeriod"/>
              <a:tabLst>
                <a:tab pos="1156335" algn="l"/>
              </a:tabLst>
            </a:pPr>
            <a:r>
              <a:rPr dirty="0" sz="1150" spc="-95" b="1">
                <a:latin typeface="Arial"/>
                <a:cs typeface="Arial"/>
              </a:rPr>
              <a:t>Brand </a:t>
            </a:r>
            <a:r>
              <a:rPr dirty="0" sz="1150" spc="-65" b="1">
                <a:latin typeface="Arial"/>
                <a:cs typeface="Arial"/>
              </a:rPr>
              <a:t>competition</a:t>
            </a:r>
            <a:r>
              <a:rPr dirty="0" sz="1150" spc="-65">
                <a:latin typeface="Arial"/>
                <a:cs typeface="Arial"/>
              </a:rPr>
              <a:t>: </a:t>
            </a:r>
            <a:r>
              <a:rPr dirty="0" sz="1150" spc="-80">
                <a:latin typeface="Arial"/>
                <a:cs typeface="Arial"/>
              </a:rPr>
              <a:t>Occurs </a:t>
            </a:r>
            <a:r>
              <a:rPr dirty="0" sz="1150" spc="-35">
                <a:latin typeface="Arial"/>
                <a:cs typeface="Arial"/>
              </a:rPr>
              <a:t>between similar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55">
                <a:latin typeface="Arial"/>
                <a:cs typeface="Arial"/>
              </a:rPr>
              <a:t>(e.g. </a:t>
            </a:r>
            <a:r>
              <a:rPr dirty="0" sz="1150" spc="-80">
                <a:latin typeface="Arial"/>
                <a:cs typeface="Arial"/>
              </a:rPr>
              <a:t>Zest </a:t>
            </a:r>
            <a:r>
              <a:rPr dirty="0" sz="1150" spc="-40">
                <a:latin typeface="Arial"/>
                <a:cs typeface="Arial"/>
              </a:rPr>
              <a:t>bar  </a:t>
            </a:r>
            <a:r>
              <a:rPr dirty="0" sz="1150" spc="-70">
                <a:latin typeface="Arial"/>
                <a:cs typeface="Arial"/>
              </a:rPr>
              <a:t>soap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Irish </a:t>
            </a:r>
            <a:r>
              <a:rPr dirty="0" sz="1150" spc="-70">
                <a:latin typeface="Arial"/>
                <a:cs typeface="Arial"/>
              </a:rPr>
              <a:t>Spring </a:t>
            </a:r>
            <a:r>
              <a:rPr dirty="0" sz="1150" spc="-40">
                <a:latin typeface="Arial"/>
                <a:cs typeface="Arial"/>
              </a:rPr>
              <a:t>bar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soap).</a:t>
            </a:r>
            <a:endParaRPr sz="1150">
              <a:latin typeface="Arial"/>
              <a:cs typeface="Arial"/>
            </a:endParaRPr>
          </a:p>
          <a:p>
            <a:pPr algn="just" lvl="1" marL="1155700" marR="5080" indent="-228600">
              <a:lnSpc>
                <a:spcPct val="101699"/>
              </a:lnSpc>
              <a:buFont typeface="Arial"/>
              <a:buAutoNum type="arabicPeriod"/>
              <a:tabLst>
                <a:tab pos="1156335" algn="l"/>
              </a:tabLst>
            </a:pPr>
            <a:r>
              <a:rPr dirty="0" sz="1150" spc="-55" b="1">
                <a:latin typeface="Arial"/>
                <a:cs typeface="Arial"/>
              </a:rPr>
              <a:t>International </a:t>
            </a:r>
            <a:r>
              <a:rPr dirty="0" sz="1150" spc="-65" b="1">
                <a:latin typeface="Arial"/>
                <a:cs typeface="Arial"/>
              </a:rPr>
              <a:t>competition</a:t>
            </a:r>
            <a:r>
              <a:rPr dirty="0" sz="1150" spc="-65">
                <a:latin typeface="Arial"/>
                <a:cs typeface="Arial"/>
              </a:rPr>
              <a:t>: </a:t>
            </a:r>
            <a:r>
              <a:rPr dirty="0" sz="1150" spc="-60">
                <a:latin typeface="Arial"/>
                <a:cs typeface="Arial"/>
              </a:rPr>
              <a:t>matches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products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domestic  </a:t>
            </a:r>
            <a:r>
              <a:rPr dirty="0" sz="1150" spc="-40">
                <a:latin typeface="Arial"/>
                <a:cs typeface="Arial"/>
              </a:rPr>
              <a:t>marketers </a:t>
            </a:r>
            <a:r>
              <a:rPr dirty="0" sz="1150" spc="-55">
                <a:latin typeface="Arial"/>
                <a:cs typeface="Arial"/>
              </a:rPr>
              <a:t>against </a:t>
            </a:r>
            <a:r>
              <a:rPr dirty="0" sz="1150" spc="-45">
                <a:latin typeface="Arial"/>
                <a:cs typeface="Arial"/>
              </a:rPr>
              <a:t>those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foreign </a:t>
            </a:r>
            <a:r>
              <a:rPr dirty="0" sz="1150" spc="-25">
                <a:latin typeface="Arial"/>
                <a:cs typeface="Arial"/>
              </a:rPr>
              <a:t>competitors </a:t>
            </a:r>
            <a:r>
              <a:rPr dirty="0" sz="1150" spc="-55">
                <a:latin typeface="Arial"/>
                <a:cs typeface="Arial"/>
              </a:rPr>
              <a:t>(e.g. </a:t>
            </a:r>
            <a:r>
              <a:rPr dirty="0" sz="1150" spc="-50">
                <a:latin typeface="Arial"/>
                <a:cs typeface="Arial"/>
              </a:rPr>
              <a:t>Neutrogena skin  </a:t>
            </a:r>
            <a:r>
              <a:rPr dirty="0" sz="1150" spc="-60">
                <a:latin typeface="Arial"/>
                <a:cs typeface="Arial"/>
              </a:rPr>
              <a:t>care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75">
                <a:latin typeface="Arial"/>
                <a:cs typeface="Arial"/>
              </a:rPr>
              <a:t>vs. </a:t>
            </a:r>
            <a:r>
              <a:rPr dirty="0" sz="1150" spc="-55">
                <a:latin typeface="Arial"/>
                <a:cs typeface="Arial"/>
              </a:rPr>
              <a:t>L'Oreal </a:t>
            </a:r>
            <a:r>
              <a:rPr dirty="0" sz="1150" spc="-50">
                <a:latin typeface="Arial"/>
                <a:cs typeface="Arial"/>
              </a:rPr>
              <a:t>skin </a:t>
            </a:r>
            <a:r>
              <a:rPr dirty="0" sz="1150" spc="-60">
                <a:latin typeface="Arial"/>
                <a:cs typeface="Arial"/>
              </a:rPr>
              <a:t>care </a:t>
            </a:r>
            <a:r>
              <a:rPr dirty="0" sz="1150" spc="-35">
                <a:latin typeface="Arial"/>
                <a:cs typeface="Arial"/>
              </a:rPr>
              <a:t>products,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5">
                <a:latin typeface="Arial"/>
                <a:cs typeface="Arial"/>
              </a:rPr>
              <a:t>Heineken </a:t>
            </a:r>
            <a:r>
              <a:rPr dirty="0" sz="1150" spc="-75">
                <a:latin typeface="Arial"/>
                <a:cs typeface="Arial"/>
              </a:rPr>
              <a:t>vs.  </a:t>
            </a:r>
            <a:r>
              <a:rPr dirty="0" sz="1150" spc="-50">
                <a:latin typeface="Arial"/>
                <a:cs typeface="Arial"/>
              </a:rPr>
              <a:t>Budweiser).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125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89" y="1311659"/>
            <a:ext cx="3492500" cy="4837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40" b="1">
                <a:latin typeface="Arial"/>
                <a:cs typeface="Arial"/>
              </a:rPr>
              <a:t>MARKETING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45" b="1">
                <a:latin typeface="Arial"/>
                <a:cs typeface="Arial"/>
              </a:rPr>
              <a:t>MANAGER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60">
                <a:latin typeface="Arial"/>
                <a:cs typeface="Arial"/>
              </a:rPr>
              <a:t>plans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executes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35">
                <a:latin typeface="Arial"/>
                <a:cs typeface="Arial"/>
              </a:rPr>
              <a:t>marketing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activities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90" b="1">
                <a:latin typeface="Arial"/>
                <a:cs typeface="Arial"/>
              </a:rPr>
              <a:t>Role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60" b="1">
                <a:latin typeface="Arial"/>
                <a:cs typeface="Arial"/>
              </a:rPr>
              <a:t>Marketing</a:t>
            </a:r>
            <a:r>
              <a:rPr dirty="0" sz="1150" spc="-50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Manager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identify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unsatisfied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customers.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design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45">
                <a:latin typeface="Arial"/>
                <a:cs typeface="Arial"/>
              </a:rPr>
              <a:t>Product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Development.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55">
                <a:latin typeface="Arial"/>
                <a:cs typeface="Arial"/>
              </a:rPr>
              <a:t>Pricing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Decisions.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45">
                <a:latin typeface="Arial"/>
                <a:cs typeface="Arial"/>
              </a:rPr>
              <a:t>Product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Distribution.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45">
                <a:latin typeface="Arial"/>
                <a:cs typeface="Arial"/>
              </a:rPr>
              <a:t>Communication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customers.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30">
                <a:latin typeface="Arial"/>
                <a:cs typeface="Arial"/>
              </a:rPr>
              <a:t>Marketing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Research.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25">
                <a:latin typeface="Arial"/>
                <a:cs typeface="Arial"/>
              </a:rPr>
              <a:t>Appointment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staff in </a:t>
            </a:r>
            <a:r>
              <a:rPr dirty="0" sz="1150" spc="-35">
                <a:latin typeface="Arial"/>
                <a:cs typeface="Arial"/>
              </a:rPr>
              <a:t>marketing </a:t>
            </a:r>
            <a:r>
              <a:rPr dirty="0" sz="1150" spc="-25">
                <a:latin typeface="Arial"/>
                <a:cs typeface="Arial"/>
              </a:rPr>
              <a:t>department.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Symbol"/>
              <a:buChar char="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40" b="1">
                <a:latin typeface="Arial"/>
                <a:cs typeface="Arial"/>
              </a:rPr>
              <a:t>MARKETING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75" b="1">
                <a:latin typeface="Arial"/>
                <a:cs typeface="Arial"/>
              </a:rPr>
              <a:t>PLAN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plan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5">
                <a:latin typeface="Arial"/>
                <a:cs typeface="Arial"/>
              </a:rPr>
              <a:t>marketing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programs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100" b="1">
                <a:latin typeface="Arial"/>
                <a:cs typeface="Arial"/>
              </a:rPr>
              <a:t>Components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75" b="1">
                <a:latin typeface="Arial"/>
                <a:cs typeface="Arial"/>
              </a:rPr>
              <a:t>marketing plan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are: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60">
                <a:latin typeface="Arial"/>
                <a:cs typeface="Arial"/>
              </a:rPr>
              <a:t>Executive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Summary.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40">
                <a:latin typeface="Arial"/>
                <a:cs typeface="Arial"/>
              </a:rPr>
              <a:t>Current </a:t>
            </a:r>
            <a:r>
              <a:rPr dirty="0" sz="1150" spc="-30">
                <a:latin typeface="Arial"/>
                <a:cs typeface="Arial"/>
              </a:rPr>
              <a:t>market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situation.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25">
                <a:latin typeface="Arial"/>
                <a:cs typeface="Arial"/>
              </a:rPr>
              <a:t>Opportunity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Analysis.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30">
                <a:latin typeface="Arial"/>
                <a:cs typeface="Arial"/>
              </a:rPr>
              <a:t>Marketing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objectives.</a:t>
            </a:r>
            <a:endParaRPr sz="11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30">
                <a:latin typeface="Arial"/>
                <a:cs typeface="Arial"/>
              </a:rPr>
              <a:t>Marketing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Strategies.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45">
                <a:latin typeface="Arial"/>
                <a:cs typeface="Arial"/>
              </a:rPr>
              <a:t>Projected income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statement.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35">
                <a:latin typeface="Arial"/>
                <a:cs typeface="Arial"/>
              </a:rPr>
              <a:t>Control.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126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884418" y="1400051"/>
            <a:ext cx="3757295" cy="742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24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750" spc="-229" b="1">
                <a:latin typeface="Arial"/>
                <a:cs typeface="Arial"/>
              </a:rPr>
              <a:t>THE </a:t>
            </a:r>
            <a:r>
              <a:rPr dirty="0" sz="1750" spc="-185" b="1">
                <a:latin typeface="Arial"/>
                <a:cs typeface="Arial"/>
              </a:rPr>
              <a:t>MARKETING</a:t>
            </a:r>
            <a:r>
              <a:rPr dirty="0" sz="1750" spc="-220" b="1">
                <a:latin typeface="Arial"/>
                <a:cs typeface="Arial"/>
              </a:rPr>
              <a:t> </a:t>
            </a:r>
            <a:r>
              <a:rPr dirty="0" sz="1750" spc="-50" b="1">
                <a:latin typeface="Arial"/>
                <a:cs typeface="Arial"/>
              </a:rPr>
              <a:t>MIX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127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170" y="2302259"/>
            <a:ext cx="5515610" cy="6678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firm’s </a:t>
            </a:r>
            <a:r>
              <a:rPr dirty="0" sz="1150" spc="-70" b="1">
                <a:latin typeface="Arial"/>
                <a:cs typeface="Arial"/>
              </a:rPr>
              <a:t>marketing </a:t>
            </a:r>
            <a:r>
              <a:rPr dirty="0" sz="1150" spc="-85" b="1">
                <a:latin typeface="Arial"/>
                <a:cs typeface="Arial"/>
              </a:rPr>
              <a:t>mix </a:t>
            </a:r>
            <a:r>
              <a:rPr dirty="0" sz="1150" spc="-20">
                <a:latin typeface="Arial"/>
                <a:cs typeface="Arial"/>
              </a:rPr>
              <a:t>(often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four </a:t>
            </a:r>
            <a:r>
              <a:rPr dirty="0" sz="1150" spc="-110">
                <a:latin typeface="Arial"/>
                <a:cs typeface="Arial"/>
              </a:rPr>
              <a:t>Ps) </a:t>
            </a:r>
            <a:r>
              <a:rPr dirty="0" sz="1150" spc="-60">
                <a:latin typeface="Arial"/>
                <a:cs typeface="Arial"/>
              </a:rPr>
              <a:t>consists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 b="1">
                <a:latin typeface="Arial"/>
                <a:cs typeface="Arial"/>
              </a:rPr>
              <a:t>product</a:t>
            </a:r>
            <a:r>
              <a:rPr dirty="0" sz="1150" spc="-75">
                <a:latin typeface="Arial"/>
                <a:cs typeface="Arial"/>
              </a:rPr>
              <a:t>, </a:t>
            </a:r>
            <a:r>
              <a:rPr dirty="0" sz="1150" spc="-85" b="1">
                <a:latin typeface="Arial"/>
                <a:cs typeface="Arial"/>
              </a:rPr>
              <a:t>place </a:t>
            </a:r>
            <a:r>
              <a:rPr dirty="0" sz="1150" spc="-20">
                <a:latin typeface="Arial"/>
                <a:cs typeface="Arial"/>
              </a:rPr>
              <a:t>(or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distribution),</a:t>
            </a:r>
            <a:endParaRPr sz="11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25"/>
              </a:spcBef>
            </a:pPr>
            <a:r>
              <a:rPr dirty="0" sz="1150" spc="-70" b="1">
                <a:latin typeface="Arial"/>
                <a:cs typeface="Arial"/>
              </a:rPr>
              <a:t>price</a:t>
            </a:r>
            <a:r>
              <a:rPr dirty="0" sz="1150" spc="-70">
                <a:latin typeface="Arial"/>
                <a:cs typeface="Arial"/>
              </a:rPr>
              <a:t>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 b="1">
                <a:latin typeface="Arial"/>
                <a:cs typeface="Arial"/>
              </a:rPr>
              <a:t>promotion</a:t>
            </a:r>
            <a:r>
              <a:rPr dirty="0" sz="1150" spc="-65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Arial"/>
              <a:cs typeface="Arial"/>
            </a:endParaRPr>
          </a:p>
          <a:p>
            <a:pPr algn="just" marL="698500" marR="7620" indent="-228600">
              <a:lnSpc>
                <a:spcPct val="101699"/>
              </a:lnSpc>
              <a:buAutoNum type="alphaLcPeriod"/>
              <a:tabLst>
                <a:tab pos="699135" algn="l"/>
              </a:tabLst>
            </a:pPr>
            <a:r>
              <a:rPr dirty="0" sz="1150" spc="-85" b="1">
                <a:latin typeface="Arial"/>
                <a:cs typeface="Arial"/>
              </a:rPr>
              <a:t>Product: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good, </a:t>
            </a:r>
            <a:r>
              <a:rPr dirty="0" sz="1150" spc="-55">
                <a:latin typeface="Arial"/>
                <a:cs typeface="Arial"/>
              </a:rPr>
              <a:t>service,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0">
                <a:latin typeface="Arial"/>
                <a:cs typeface="Arial"/>
              </a:rPr>
              <a:t>idea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marketed </a:t>
            </a:r>
            <a:r>
              <a:rPr dirty="0" sz="1150" spc="10">
                <a:latin typeface="Arial"/>
                <a:cs typeface="Arial"/>
              </a:rPr>
              <a:t>to fill </a:t>
            </a:r>
            <a:r>
              <a:rPr dirty="0" sz="1150" spc="-50">
                <a:latin typeface="Arial"/>
                <a:cs typeface="Arial"/>
              </a:rPr>
              <a:t>consumer </a:t>
            </a:r>
            <a:r>
              <a:rPr dirty="0" sz="1150" spc="-40">
                <a:latin typeface="Arial"/>
                <a:cs typeface="Arial"/>
              </a:rPr>
              <a:t>wants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65">
                <a:latin typeface="Arial"/>
                <a:cs typeface="Arial"/>
              </a:rPr>
              <a:t>needs. </a:t>
            </a:r>
            <a:r>
              <a:rPr dirty="0" sz="1150" spc="-40">
                <a:latin typeface="Arial"/>
                <a:cs typeface="Arial"/>
              </a:rPr>
              <a:t>Improving </a:t>
            </a:r>
            <a:r>
              <a:rPr dirty="0" sz="1150" spc="-45">
                <a:latin typeface="Arial"/>
                <a:cs typeface="Arial"/>
              </a:rPr>
              <a:t>existing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developing </a:t>
            </a:r>
            <a:r>
              <a:rPr dirty="0" sz="1150" spc="-40">
                <a:latin typeface="Arial"/>
                <a:cs typeface="Arial"/>
              </a:rPr>
              <a:t>new products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65">
                <a:latin typeface="Arial"/>
                <a:cs typeface="Arial"/>
              </a:rPr>
              <a:t>among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35">
                <a:latin typeface="Arial"/>
                <a:cs typeface="Arial"/>
              </a:rPr>
              <a:t>marketer's most </a:t>
            </a:r>
            <a:r>
              <a:rPr dirty="0" sz="1150" spc="-15">
                <a:latin typeface="Arial"/>
                <a:cs typeface="Arial"/>
              </a:rPr>
              <a:t>important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tasks.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lphaLcPeriod"/>
            </a:pPr>
            <a:endParaRPr sz="1200">
              <a:latin typeface="Arial"/>
              <a:cs typeface="Arial"/>
            </a:endParaRPr>
          </a:p>
          <a:p>
            <a:pPr algn="just" lvl="1" marL="1384300" marR="6985" indent="-299085">
              <a:lnSpc>
                <a:spcPct val="101699"/>
              </a:lnSpc>
              <a:buFont typeface="Arial"/>
              <a:buAutoNum type="romanLcPeriod"/>
              <a:tabLst>
                <a:tab pos="1384935" algn="l"/>
              </a:tabLst>
            </a:pPr>
            <a:r>
              <a:rPr dirty="0" sz="1150" spc="-90" b="1">
                <a:latin typeface="Arial"/>
                <a:cs typeface="Arial"/>
              </a:rPr>
              <a:t>Product </a:t>
            </a:r>
            <a:r>
              <a:rPr dirty="0" sz="1150" spc="-50" b="1">
                <a:latin typeface="Arial"/>
                <a:cs typeface="Arial"/>
              </a:rPr>
              <a:t>differentiation</a:t>
            </a:r>
            <a:r>
              <a:rPr dirty="0" sz="1150" spc="-50">
                <a:latin typeface="Arial"/>
                <a:cs typeface="Arial"/>
              </a:rPr>
              <a:t>: Creation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60">
                <a:latin typeface="Arial"/>
                <a:cs typeface="Arial"/>
              </a:rPr>
              <a:t>image </a:t>
            </a:r>
            <a:r>
              <a:rPr dirty="0" sz="1150" spc="-5">
                <a:latin typeface="Arial"/>
                <a:cs typeface="Arial"/>
              </a:rPr>
              <a:t>that  </a:t>
            </a:r>
            <a:r>
              <a:rPr dirty="0" sz="1150" spc="-25">
                <a:latin typeface="Arial"/>
                <a:cs typeface="Arial"/>
              </a:rPr>
              <a:t>differs </a:t>
            </a:r>
            <a:r>
              <a:rPr dirty="0" sz="1150" spc="-55">
                <a:latin typeface="Arial"/>
                <a:cs typeface="Arial"/>
              </a:rPr>
              <a:t>enough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45">
                <a:latin typeface="Arial"/>
                <a:cs typeface="Arial"/>
              </a:rPr>
              <a:t>existing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attract </a:t>
            </a:r>
            <a:r>
              <a:rPr dirty="0" sz="1150" spc="-60">
                <a:latin typeface="Arial"/>
                <a:cs typeface="Arial"/>
              </a:rPr>
              <a:t>consumers.  </a:t>
            </a:r>
            <a:r>
              <a:rPr dirty="0" sz="1150" spc="-20">
                <a:latin typeface="Arial"/>
                <a:cs typeface="Arial"/>
              </a:rPr>
              <a:t>Differentiation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source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competitive </a:t>
            </a:r>
            <a:r>
              <a:rPr dirty="0" sz="1150" spc="-55">
                <a:latin typeface="Arial"/>
                <a:cs typeface="Arial"/>
              </a:rPr>
              <a:t>advantage. </a:t>
            </a:r>
            <a:r>
              <a:rPr dirty="0" sz="1150" spc="-50">
                <a:latin typeface="Arial"/>
                <a:cs typeface="Arial"/>
              </a:rPr>
              <a:t>Combinations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physical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services can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70">
                <a:latin typeface="Arial"/>
                <a:cs typeface="Arial"/>
              </a:rPr>
              <a:t>sources </a:t>
            </a:r>
            <a:r>
              <a:rPr dirty="0" sz="1150" spc="-10">
                <a:latin typeface="Arial"/>
                <a:cs typeface="Arial"/>
              </a:rPr>
              <a:t>of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differentiation.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Arial"/>
              <a:buAutoNum type="romanLcPeriod"/>
            </a:pPr>
            <a:endParaRPr sz="1200">
              <a:latin typeface="Arial"/>
              <a:cs typeface="Arial"/>
            </a:endParaRPr>
          </a:p>
          <a:p>
            <a:pPr algn="just" marL="698500" marR="5080" indent="-228600">
              <a:lnSpc>
                <a:spcPct val="101699"/>
              </a:lnSpc>
              <a:buAutoNum type="alphaLcPeriod"/>
              <a:tabLst>
                <a:tab pos="699135" algn="l"/>
              </a:tabLst>
            </a:pPr>
            <a:r>
              <a:rPr dirty="0" sz="1150" spc="-90" b="1">
                <a:latin typeface="Arial"/>
                <a:cs typeface="Arial"/>
              </a:rPr>
              <a:t>Pricing</a:t>
            </a:r>
            <a:r>
              <a:rPr dirty="0" sz="1150" spc="-90">
                <a:latin typeface="Arial"/>
                <a:cs typeface="Arial"/>
              </a:rPr>
              <a:t>: </a:t>
            </a:r>
            <a:r>
              <a:rPr dirty="0" sz="1150" spc="-60">
                <a:latin typeface="Arial"/>
                <a:cs typeface="Arial"/>
              </a:rPr>
              <a:t>Selecting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most </a:t>
            </a:r>
            <a:r>
              <a:rPr dirty="0" sz="1150" spc="-30">
                <a:latin typeface="Arial"/>
                <a:cs typeface="Arial"/>
              </a:rPr>
              <a:t>appropriate </a:t>
            </a:r>
            <a:r>
              <a:rPr dirty="0" sz="1150" spc="-35">
                <a:latin typeface="Arial"/>
                <a:cs typeface="Arial"/>
              </a:rPr>
              <a:t>price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sell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product. </a:t>
            </a:r>
            <a:r>
              <a:rPr dirty="0" sz="1150" spc="-50">
                <a:latin typeface="Arial"/>
                <a:cs typeface="Arial"/>
              </a:rPr>
              <a:t>Lower  </a:t>
            </a:r>
            <a:r>
              <a:rPr dirty="0" sz="1150" spc="-55">
                <a:latin typeface="Arial"/>
                <a:cs typeface="Arial"/>
              </a:rPr>
              <a:t>prices </a:t>
            </a:r>
            <a:r>
              <a:rPr dirty="0" sz="1150" spc="-45">
                <a:latin typeface="Arial"/>
                <a:cs typeface="Arial"/>
              </a:rPr>
              <a:t>generally </a:t>
            </a:r>
            <a:r>
              <a:rPr dirty="0" sz="1150" spc="-50">
                <a:latin typeface="Arial"/>
                <a:cs typeface="Arial"/>
              </a:rPr>
              <a:t>lead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higher </a:t>
            </a:r>
            <a:r>
              <a:rPr dirty="0" sz="1150" spc="-80">
                <a:latin typeface="Arial"/>
                <a:cs typeface="Arial"/>
              </a:rPr>
              <a:t>sales </a:t>
            </a:r>
            <a:r>
              <a:rPr dirty="0" sz="1150" spc="-40">
                <a:latin typeface="Arial"/>
                <a:cs typeface="Arial"/>
              </a:rPr>
              <a:t>volume, </a:t>
            </a:r>
            <a:r>
              <a:rPr dirty="0" sz="1150" spc="-25">
                <a:latin typeface="Arial"/>
                <a:cs typeface="Arial"/>
              </a:rPr>
              <a:t>while </a:t>
            </a:r>
            <a:r>
              <a:rPr dirty="0" sz="1150" spc="-40">
                <a:latin typeface="Arial"/>
                <a:cs typeface="Arial"/>
              </a:rPr>
              <a:t>higher </a:t>
            </a:r>
            <a:r>
              <a:rPr dirty="0" sz="1150" spc="-55">
                <a:latin typeface="Arial"/>
                <a:cs typeface="Arial"/>
              </a:rPr>
              <a:t>prices </a:t>
            </a:r>
            <a:r>
              <a:rPr dirty="0" sz="1150" spc="-45">
                <a:latin typeface="Arial"/>
                <a:cs typeface="Arial"/>
              </a:rPr>
              <a:t>generally </a:t>
            </a:r>
            <a:r>
              <a:rPr dirty="0" sz="1150" spc="-50">
                <a:latin typeface="Arial"/>
                <a:cs typeface="Arial"/>
              </a:rPr>
              <a:t>lead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40">
                <a:latin typeface="Arial"/>
                <a:cs typeface="Arial"/>
              </a:rPr>
              <a:t>higher </a:t>
            </a:r>
            <a:r>
              <a:rPr dirty="0" sz="1150" spc="-15">
                <a:latin typeface="Arial"/>
                <a:cs typeface="Arial"/>
              </a:rPr>
              <a:t>profits </a:t>
            </a:r>
            <a:r>
              <a:rPr dirty="0" sz="1150" spc="-30">
                <a:latin typeface="Arial"/>
                <a:cs typeface="Arial"/>
              </a:rPr>
              <a:t>per </a:t>
            </a:r>
            <a:r>
              <a:rPr dirty="0" sz="1150" spc="-10">
                <a:latin typeface="Arial"/>
                <a:cs typeface="Arial"/>
              </a:rPr>
              <a:t>unit. </a:t>
            </a:r>
            <a:r>
              <a:rPr dirty="0" sz="1150" spc="-75">
                <a:latin typeface="Arial"/>
                <a:cs typeface="Arial"/>
              </a:rPr>
              <a:t>Prices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30">
                <a:latin typeface="Arial"/>
                <a:cs typeface="Arial"/>
              </a:rPr>
              <a:t>support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variety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costs,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0">
                <a:latin typeface="Arial"/>
                <a:cs typeface="Arial"/>
              </a:rPr>
              <a:t>organization’s </a:t>
            </a:r>
            <a:r>
              <a:rPr dirty="0" sz="1150" spc="-35">
                <a:latin typeface="Arial"/>
                <a:cs typeface="Arial"/>
              </a:rPr>
              <a:t>operating, </a:t>
            </a:r>
            <a:r>
              <a:rPr dirty="0" sz="1150" spc="-30">
                <a:latin typeface="Arial"/>
                <a:cs typeface="Arial"/>
              </a:rPr>
              <a:t>administrative, </a:t>
            </a:r>
            <a:r>
              <a:rPr dirty="0" sz="1150" spc="-55">
                <a:latin typeface="Arial"/>
                <a:cs typeface="Arial"/>
              </a:rPr>
              <a:t>and research </a:t>
            </a:r>
            <a:r>
              <a:rPr dirty="0" sz="1150" spc="-60">
                <a:latin typeface="Arial"/>
                <a:cs typeface="Arial"/>
              </a:rPr>
              <a:t>costs,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marketing </a:t>
            </a:r>
            <a:r>
              <a:rPr dirty="0" sz="1150" spc="-45">
                <a:latin typeface="Arial"/>
                <a:cs typeface="Arial"/>
              </a:rPr>
              <a:t>cost  </a:t>
            </a:r>
            <a:r>
              <a:rPr dirty="0" sz="1150" spc="-30">
                <a:latin typeface="Arial"/>
                <a:cs typeface="Arial"/>
              </a:rPr>
              <a:t>like </a:t>
            </a:r>
            <a:r>
              <a:rPr dirty="0" sz="1150" spc="-40">
                <a:latin typeface="Arial"/>
                <a:cs typeface="Arial"/>
              </a:rPr>
              <a:t>advertising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85">
                <a:latin typeface="Arial"/>
                <a:cs typeface="Arial"/>
              </a:rPr>
              <a:t>sales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salaries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AutoNum type="alphaLcPeriod"/>
            </a:pPr>
            <a:endParaRPr sz="1200">
              <a:latin typeface="Arial"/>
              <a:cs typeface="Arial"/>
            </a:endParaRPr>
          </a:p>
          <a:p>
            <a:pPr algn="just" marL="698500" marR="6350" indent="-228600">
              <a:lnSpc>
                <a:spcPct val="101299"/>
              </a:lnSpc>
              <a:buAutoNum type="alphaLcPeriod"/>
              <a:tabLst>
                <a:tab pos="699135" algn="l"/>
              </a:tabLst>
            </a:pPr>
            <a:r>
              <a:rPr dirty="0" sz="1150" spc="-100" b="1">
                <a:latin typeface="Arial"/>
                <a:cs typeface="Arial"/>
              </a:rPr>
              <a:t>Place </a:t>
            </a:r>
            <a:r>
              <a:rPr dirty="0" sz="1150" spc="-20">
                <a:latin typeface="Arial"/>
                <a:cs typeface="Arial"/>
              </a:rPr>
              <a:t>(distribution): </a:t>
            </a:r>
            <a:r>
              <a:rPr dirty="0" sz="1150" spc="-40">
                <a:latin typeface="Arial"/>
                <a:cs typeface="Arial"/>
              </a:rPr>
              <a:t>Determining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most </a:t>
            </a:r>
            <a:r>
              <a:rPr dirty="0" sz="1150" spc="-30">
                <a:latin typeface="Arial"/>
                <a:cs typeface="Arial"/>
              </a:rPr>
              <a:t>effective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efficient </a:t>
            </a:r>
            <a:r>
              <a:rPr dirty="0" sz="1150" spc="-50">
                <a:latin typeface="Arial"/>
                <a:cs typeface="Arial"/>
              </a:rPr>
              <a:t>way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get  products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45">
                <a:latin typeface="Arial"/>
                <a:cs typeface="Arial"/>
              </a:rPr>
              <a:t>producers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consumers. </a:t>
            </a:r>
            <a:r>
              <a:rPr dirty="0" sz="1150" spc="-25">
                <a:latin typeface="Arial"/>
                <a:cs typeface="Arial"/>
              </a:rPr>
              <a:t>Distribution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50">
                <a:latin typeface="Arial"/>
                <a:cs typeface="Arial"/>
              </a:rPr>
              <a:t>involves </a:t>
            </a:r>
            <a:r>
              <a:rPr dirty="0" sz="1150" spc="-60">
                <a:latin typeface="Arial"/>
                <a:cs typeface="Arial"/>
              </a:rPr>
              <a:t>choosing 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5">
                <a:latin typeface="Arial"/>
                <a:cs typeface="Arial"/>
              </a:rPr>
              <a:t>channels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most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appropriate.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lphaLcPeriod"/>
            </a:pPr>
            <a:endParaRPr sz="1200">
              <a:latin typeface="Arial"/>
              <a:cs typeface="Arial"/>
            </a:endParaRPr>
          </a:p>
          <a:p>
            <a:pPr algn="just" marL="698500" marR="6985" indent="-228600">
              <a:lnSpc>
                <a:spcPct val="101699"/>
              </a:lnSpc>
              <a:buAutoNum type="alphaLcPeriod"/>
              <a:tabLst>
                <a:tab pos="699135" algn="l"/>
              </a:tabLst>
            </a:pPr>
            <a:r>
              <a:rPr dirty="0" sz="1150" spc="-70" b="1">
                <a:latin typeface="Arial"/>
                <a:cs typeface="Arial"/>
              </a:rPr>
              <a:t>Promotion</a:t>
            </a:r>
            <a:r>
              <a:rPr dirty="0" sz="1150" spc="-70">
                <a:latin typeface="Arial"/>
                <a:cs typeface="Arial"/>
              </a:rPr>
              <a:t>: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activities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firm </a:t>
            </a:r>
            <a:r>
              <a:rPr dirty="0" sz="1150" spc="-45">
                <a:latin typeface="Arial"/>
                <a:cs typeface="Arial"/>
              </a:rPr>
              <a:t>undertakes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communicate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promote 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target </a:t>
            </a:r>
            <a:r>
              <a:rPr dirty="0" sz="1150" spc="-30">
                <a:latin typeface="Arial"/>
                <a:cs typeface="Arial"/>
              </a:rPr>
              <a:t>market.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clearly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most </a:t>
            </a:r>
            <a:r>
              <a:rPr dirty="0" sz="1150" spc="-40">
                <a:latin typeface="Arial"/>
                <a:cs typeface="Arial"/>
              </a:rPr>
              <a:t>visible </a:t>
            </a:r>
            <a:r>
              <a:rPr dirty="0" sz="1150" spc="-35">
                <a:latin typeface="Arial"/>
                <a:cs typeface="Arial"/>
              </a:rPr>
              <a:t>element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the  </a:t>
            </a:r>
            <a:r>
              <a:rPr dirty="0" sz="1150" spc="-35">
                <a:latin typeface="Arial"/>
                <a:cs typeface="Arial"/>
              </a:rPr>
              <a:t>marketing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mix.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550" spc="-220" b="1">
                <a:latin typeface="Arial"/>
                <a:cs typeface="Arial"/>
              </a:rPr>
              <a:t>TARGET </a:t>
            </a:r>
            <a:r>
              <a:rPr dirty="0" sz="1550" spc="-165" b="1">
                <a:latin typeface="Arial"/>
                <a:cs typeface="Arial"/>
              </a:rPr>
              <a:t>MARKETING </a:t>
            </a:r>
            <a:r>
              <a:rPr dirty="0" sz="1550" spc="-145" b="1">
                <a:latin typeface="Arial"/>
                <a:cs typeface="Arial"/>
              </a:rPr>
              <a:t>AND </a:t>
            </a:r>
            <a:r>
              <a:rPr dirty="0" sz="1550" spc="-185" b="1">
                <a:latin typeface="Arial"/>
                <a:cs typeface="Arial"/>
              </a:rPr>
              <a:t>MARKET</a:t>
            </a:r>
            <a:r>
              <a:rPr dirty="0" sz="1550" spc="-20" b="1">
                <a:latin typeface="Arial"/>
                <a:cs typeface="Arial"/>
              </a:rPr>
              <a:t> </a:t>
            </a:r>
            <a:r>
              <a:rPr dirty="0" sz="1550" spc="-165" b="1">
                <a:latin typeface="Arial"/>
                <a:cs typeface="Arial"/>
              </a:rPr>
              <a:t>SEGMENTATION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45">
                <a:latin typeface="Arial"/>
                <a:cs typeface="Arial"/>
              </a:rPr>
              <a:t>contains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75">
                <a:latin typeface="Arial"/>
                <a:cs typeface="Arial"/>
              </a:rPr>
              <a:t>businesses </a:t>
            </a:r>
            <a:r>
              <a:rPr dirty="0" sz="1150">
                <a:latin typeface="Arial"/>
                <a:cs typeface="Arial"/>
              </a:rPr>
              <a:t>that </a:t>
            </a:r>
            <a:r>
              <a:rPr dirty="0" sz="1150" spc="-25">
                <a:latin typeface="Arial"/>
                <a:cs typeface="Arial"/>
              </a:rPr>
              <a:t>might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5">
                <a:latin typeface="Arial"/>
                <a:cs typeface="Arial"/>
              </a:rPr>
              <a:t>interested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65">
                <a:latin typeface="Arial"/>
                <a:cs typeface="Arial"/>
              </a:rPr>
              <a:t>pay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it.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60" b="1">
                <a:latin typeface="Arial"/>
                <a:cs typeface="Arial"/>
              </a:rPr>
              <a:t>Identifying </a:t>
            </a:r>
            <a:r>
              <a:rPr dirty="0" sz="1150" spc="-40" b="1">
                <a:latin typeface="Arial"/>
                <a:cs typeface="Arial"/>
              </a:rPr>
              <a:t>Market </a:t>
            </a:r>
            <a:r>
              <a:rPr dirty="0" sz="1150" spc="-100" b="1">
                <a:latin typeface="Arial"/>
                <a:cs typeface="Arial"/>
              </a:rPr>
              <a:t>Segments</a:t>
            </a:r>
            <a:r>
              <a:rPr dirty="0" sz="1150" spc="-100">
                <a:latin typeface="Arial"/>
                <a:cs typeface="Arial"/>
              </a:rPr>
              <a:t>: </a:t>
            </a:r>
            <a:r>
              <a:rPr dirty="0" sz="1150" spc="-75">
                <a:latin typeface="Arial"/>
                <a:cs typeface="Arial"/>
              </a:rPr>
              <a:t>Companies </a:t>
            </a:r>
            <a:r>
              <a:rPr dirty="0" sz="1150" spc="-45">
                <a:latin typeface="Arial"/>
                <a:cs typeface="Arial"/>
              </a:rPr>
              <a:t>subdivide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60" b="1">
                <a:latin typeface="Arial"/>
                <a:cs typeface="Arial"/>
              </a:rPr>
              <a:t>market </a:t>
            </a:r>
            <a:r>
              <a:rPr dirty="0" sz="1150" spc="-95" b="1">
                <a:latin typeface="Arial"/>
                <a:cs typeface="Arial"/>
              </a:rPr>
              <a:t>segments</a:t>
            </a:r>
            <a:r>
              <a:rPr dirty="0" sz="1150" spc="-95">
                <a:latin typeface="Arial"/>
                <a:cs typeface="Arial"/>
              </a:rPr>
              <a:t>,  </a:t>
            </a:r>
            <a:r>
              <a:rPr dirty="0" sz="1150" spc="-60">
                <a:latin typeface="Arial"/>
                <a:cs typeface="Arial"/>
              </a:rPr>
              <a:t>homogeneous </a:t>
            </a:r>
            <a:r>
              <a:rPr dirty="0" sz="1150" spc="-55">
                <a:latin typeface="Arial"/>
                <a:cs typeface="Arial"/>
              </a:rPr>
              <a:t>groups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-5">
                <a:latin typeface="Arial"/>
                <a:cs typeface="Arial"/>
              </a:rPr>
              <a:t>within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significantly </a:t>
            </a:r>
            <a:r>
              <a:rPr dirty="0" sz="1150" spc="-10">
                <a:latin typeface="Arial"/>
                <a:cs typeface="Arial"/>
              </a:rPr>
              <a:t>different from </a:t>
            </a:r>
            <a:r>
              <a:rPr dirty="0" sz="1150" spc="-50">
                <a:latin typeface="Arial"/>
                <a:cs typeface="Arial"/>
              </a:rPr>
              <a:t>one  </a:t>
            </a:r>
            <a:r>
              <a:rPr dirty="0" sz="1150" spc="-30">
                <a:latin typeface="Arial"/>
                <a:cs typeface="Arial"/>
              </a:rPr>
              <a:t>another.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goal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 b="1">
                <a:latin typeface="Arial"/>
                <a:cs typeface="Arial"/>
              </a:rPr>
              <a:t>market </a:t>
            </a:r>
            <a:r>
              <a:rPr dirty="0" sz="1150" spc="-75" b="1">
                <a:latin typeface="Arial"/>
                <a:cs typeface="Arial"/>
              </a:rPr>
              <a:t>segmentation </a:t>
            </a:r>
            <a:r>
              <a:rPr dirty="0" sz="1150" spc="-70">
                <a:latin typeface="Arial"/>
                <a:cs typeface="Arial"/>
              </a:rPr>
              <a:t>process 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group </a:t>
            </a:r>
            <a:r>
              <a:rPr dirty="0" sz="1150" spc="-55">
                <a:latin typeface="Arial"/>
                <a:cs typeface="Arial"/>
              </a:rPr>
              <a:t>customers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35">
                <a:latin typeface="Arial"/>
                <a:cs typeface="Arial"/>
              </a:rPr>
              <a:t>similar  </a:t>
            </a:r>
            <a:r>
              <a:rPr dirty="0" sz="1150" spc="-45">
                <a:latin typeface="Arial"/>
                <a:cs typeface="Arial"/>
              </a:rPr>
              <a:t>characteristics, </a:t>
            </a:r>
            <a:r>
              <a:rPr dirty="0" sz="1150" spc="-40">
                <a:latin typeface="Arial"/>
                <a:cs typeface="Arial"/>
              </a:rPr>
              <a:t>behavior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needs. </a:t>
            </a: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55" b="1">
                <a:latin typeface="Arial"/>
                <a:cs typeface="Arial"/>
              </a:rPr>
              <a:t>target </a:t>
            </a:r>
            <a:r>
              <a:rPr dirty="0" sz="1150" spc="-80" b="1">
                <a:latin typeface="Arial"/>
                <a:cs typeface="Arial"/>
              </a:rPr>
              <a:t>markets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25">
                <a:latin typeface="Arial"/>
                <a:cs typeface="Arial"/>
              </a:rPr>
              <a:t>then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0">
                <a:latin typeface="Arial"/>
                <a:cs typeface="Arial"/>
              </a:rPr>
              <a:t>offered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5">
                <a:latin typeface="Arial"/>
                <a:cs typeface="Arial"/>
              </a:rPr>
              <a:t>that 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priced, </a:t>
            </a:r>
            <a:r>
              <a:rPr dirty="0" sz="1150" spc="-25">
                <a:latin typeface="Arial"/>
                <a:cs typeface="Arial"/>
              </a:rPr>
              <a:t>distributed,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promoted </a:t>
            </a:r>
            <a:r>
              <a:rPr dirty="0" sz="1150" spc="-15">
                <a:latin typeface="Arial"/>
                <a:cs typeface="Arial"/>
              </a:rPr>
              <a:t>differently. </a:t>
            </a:r>
            <a:r>
              <a:rPr dirty="0" sz="1150" spc="-60">
                <a:latin typeface="Arial"/>
                <a:cs typeface="Arial"/>
              </a:rPr>
              <a:t>Four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 spc="-40">
                <a:latin typeface="Arial"/>
                <a:cs typeface="Arial"/>
              </a:rPr>
              <a:t>marketers </a:t>
            </a:r>
            <a:r>
              <a:rPr dirty="0" sz="1150" spc="-25">
                <a:latin typeface="Arial"/>
                <a:cs typeface="Arial"/>
              </a:rPr>
              <a:t>frequently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15">
                <a:latin typeface="Arial"/>
                <a:cs typeface="Arial"/>
              </a:rPr>
              <a:t>identify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65">
                <a:latin typeface="Arial"/>
                <a:cs typeface="Arial"/>
              </a:rPr>
              <a:t>segments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are: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8" y="892559"/>
            <a:ext cx="5514975" cy="198310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95" b="1">
                <a:latin typeface="Arial"/>
                <a:cs typeface="Arial"/>
              </a:rPr>
              <a:t>Geographic </a:t>
            </a:r>
            <a:r>
              <a:rPr dirty="0" sz="1150" spc="-45">
                <a:latin typeface="Arial"/>
                <a:cs typeface="Arial"/>
              </a:rPr>
              <a:t>segmentation divides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markets 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30">
                <a:latin typeface="Arial"/>
                <a:cs typeface="Arial"/>
              </a:rPr>
              <a:t>certain </a:t>
            </a:r>
            <a:r>
              <a:rPr dirty="0" sz="1150" spc="-75">
                <a:latin typeface="Arial"/>
                <a:cs typeface="Arial"/>
              </a:rPr>
              <a:t>areas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50">
                <a:latin typeface="Arial"/>
                <a:cs typeface="Arial"/>
              </a:rPr>
              <a:t>regions, </a:t>
            </a:r>
            <a:r>
              <a:rPr dirty="0" sz="1150" spc="-35">
                <a:latin typeface="Arial"/>
                <a:cs typeface="Arial"/>
              </a:rPr>
              <a:t>cities,  </a:t>
            </a:r>
            <a:r>
              <a:rPr dirty="0" sz="1150" spc="-40">
                <a:latin typeface="Arial"/>
                <a:cs typeface="Arial"/>
              </a:rPr>
              <a:t>counties,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5">
                <a:latin typeface="Arial"/>
                <a:cs typeface="Arial"/>
              </a:rPr>
              <a:t>neighborhoods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customize and </a:t>
            </a:r>
            <a:r>
              <a:rPr dirty="0" sz="1150" spc="-45">
                <a:latin typeface="Arial"/>
                <a:cs typeface="Arial"/>
              </a:rPr>
              <a:t>sell </a:t>
            </a:r>
            <a:r>
              <a:rPr dirty="0" sz="1150" spc="-35">
                <a:latin typeface="Arial"/>
                <a:cs typeface="Arial"/>
              </a:rPr>
              <a:t>products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0">
                <a:latin typeface="Arial"/>
                <a:cs typeface="Arial"/>
              </a:rPr>
              <a:t>meet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specific  </a:t>
            </a:r>
            <a:r>
              <a:rPr dirty="0" sz="1150" spc="-40">
                <a:latin typeface="Arial"/>
                <a:cs typeface="Arial"/>
              </a:rPr>
              <a:t>markets</a:t>
            </a:r>
            <a:r>
              <a:rPr dirty="0" sz="1150" spc="-40" b="1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384300" marR="5715" indent="-299085">
              <a:lnSpc>
                <a:spcPct val="101699"/>
              </a:lnSpc>
              <a:buFont typeface="Arial"/>
              <a:buAutoNum type="romanLcPeriod"/>
              <a:tabLst>
                <a:tab pos="1384300" algn="l"/>
              </a:tabLst>
            </a:pPr>
            <a:r>
              <a:rPr dirty="0" sz="1150" spc="-100" b="1">
                <a:latin typeface="Arial"/>
                <a:cs typeface="Arial"/>
              </a:rPr>
              <a:t>Demographics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-30">
                <a:latin typeface="Arial"/>
                <a:cs typeface="Arial"/>
              </a:rPr>
              <a:t>statistical </a:t>
            </a:r>
            <a:r>
              <a:rPr dirty="0" sz="1150" spc="-65">
                <a:latin typeface="Arial"/>
                <a:cs typeface="Arial"/>
              </a:rPr>
              <a:t>analysis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subdivide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population  </a:t>
            </a:r>
            <a:r>
              <a:rPr dirty="0" sz="1150" spc="-50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characteristics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75">
                <a:latin typeface="Arial"/>
                <a:cs typeface="Arial"/>
              </a:rPr>
              <a:t>age, </a:t>
            </a:r>
            <a:r>
              <a:rPr dirty="0" sz="1150" spc="-50">
                <a:latin typeface="Arial"/>
                <a:cs typeface="Arial"/>
              </a:rPr>
              <a:t>gender, </a:t>
            </a:r>
            <a:r>
              <a:rPr dirty="0" sz="1150" spc="-45">
                <a:latin typeface="Arial"/>
                <a:cs typeface="Arial"/>
              </a:rPr>
              <a:t>income, </a:t>
            </a:r>
            <a:r>
              <a:rPr dirty="0" sz="1150" spc="-55">
                <a:latin typeface="Arial"/>
                <a:cs typeface="Arial"/>
              </a:rPr>
              <a:t>race,  </a:t>
            </a:r>
            <a:r>
              <a:rPr dirty="0" sz="1150" spc="-40">
                <a:latin typeface="Arial"/>
                <a:cs typeface="Arial"/>
              </a:rPr>
              <a:t>occupation,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ethnic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group.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AutoNum type="romanLcPeriod"/>
            </a:pPr>
            <a:endParaRPr sz="1200">
              <a:latin typeface="Arial"/>
              <a:cs typeface="Arial"/>
            </a:endParaRPr>
          </a:p>
          <a:p>
            <a:pPr algn="just" marL="1384300" marR="7620" indent="-332740">
              <a:lnSpc>
                <a:spcPct val="101699"/>
              </a:lnSpc>
              <a:buFont typeface="Arial"/>
              <a:buAutoNum type="romanLcPeriod"/>
              <a:tabLst>
                <a:tab pos="1384300" algn="l"/>
              </a:tabLst>
            </a:pPr>
            <a:r>
              <a:rPr dirty="0" sz="1150" spc="-114" b="1">
                <a:latin typeface="Arial"/>
                <a:cs typeface="Arial"/>
              </a:rPr>
              <a:t>Psychographics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analysis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55">
                <a:latin typeface="Arial"/>
                <a:cs typeface="Arial"/>
              </a:rPr>
              <a:t>psychological makeup,  </a:t>
            </a:r>
            <a:r>
              <a:rPr dirty="0" sz="1150" spc="-40">
                <a:latin typeface="Arial"/>
                <a:cs typeface="Arial"/>
              </a:rPr>
              <a:t>including </a:t>
            </a:r>
            <a:r>
              <a:rPr dirty="0" sz="1150" spc="-30">
                <a:latin typeface="Arial"/>
                <a:cs typeface="Arial"/>
              </a:rPr>
              <a:t>activities, </a:t>
            </a:r>
            <a:r>
              <a:rPr dirty="0" sz="1150" spc="-35">
                <a:latin typeface="Arial"/>
                <a:cs typeface="Arial"/>
              </a:rPr>
              <a:t>interests, </a:t>
            </a:r>
            <a:r>
              <a:rPr dirty="0" sz="1150" spc="-40">
                <a:latin typeface="Arial"/>
                <a:cs typeface="Arial"/>
              </a:rPr>
              <a:t>opinions,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lifestyles </a:t>
            </a:r>
            <a:r>
              <a:rPr dirty="0" sz="1150" spc="-55">
                <a:latin typeface="Arial"/>
                <a:cs typeface="Arial"/>
              </a:rPr>
              <a:t>(e.g. </a:t>
            </a:r>
            <a:r>
              <a:rPr dirty="0" sz="1150" spc="-40">
                <a:latin typeface="Arial"/>
                <a:cs typeface="Arial"/>
              </a:rPr>
              <a:t>fashion-  </a:t>
            </a:r>
            <a:r>
              <a:rPr dirty="0" sz="1150" spc="-70">
                <a:latin typeface="Arial"/>
                <a:cs typeface="Arial"/>
              </a:rPr>
              <a:t>consciousness, </a:t>
            </a:r>
            <a:r>
              <a:rPr dirty="0" sz="1150" spc="-35">
                <a:latin typeface="Arial"/>
                <a:cs typeface="Arial"/>
              </a:rPr>
              <a:t>thrill-seeking).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128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36147" y="3030730"/>
            <a:ext cx="1631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01899" y="3030730"/>
            <a:ext cx="4142104" cy="558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80" b="1">
                <a:latin typeface="Arial"/>
                <a:cs typeface="Arial"/>
              </a:rPr>
              <a:t>Behavioral </a:t>
            </a:r>
            <a:r>
              <a:rPr dirty="0" sz="1150" spc="-40">
                <a:latin typeface="Arial"/>
                <a:cs typeface="Arial"/>
              </a:rPr>
              <a:t>segmentation </a:t>
            </a:r>
            <a:r>
              <a:rPr dirty="0" sz="1150" spc="-50">
                <a:latin typeface="Arial"/>
                <a:cs typeface="Arial"/>
              </a:rPr>
              <a:t>divides </a:t>
            </a:r>
            <a:r>
              <a:rPr dirty="0" sz="1150" spc="-45">
                <a:latin typeface="Arial"/>
                <a:cs typeface="Arial"/>
              </a:rPr>
              <a:t>markets </a:t>
            </a:r>
            <a:r>
              <a:rPr dirty="0" sz="1150" spc="-50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customers’  </a:t>
            </a:r>
            <a:r>
              <a:rPr dirty="0" sz="1150" spc="-45">
                <a:latin typeface="Arial"/>
                <a:cs typeface="Arial"/>
              </a:rPr>
              <a:t>knowledge </a:t>
            </a:r>
            <a:r>
              <a:rPr dirty="0" sz="1150" spc="-15">
                <a:latin typeface="Arial"/>
                <a:cs typeface="Arial"/>
              </a:rPr>
              <a:t>of, </a:t>
            </a:r>
            <a:r>
              <a:rPr dirty="0" sz="1150" spc="-10">
                <a:latin typeface="Arial"/>
                <a:cs typeface="Arial"/>
              </a:rPr>
              <a:t>attitude </a:t>
            </a:r>
            <a:r>
              <a:rPr dirty="0" sz="1150" spc="-20">
                <a:latin typeface="Arial"/>
                <a:cs typeface="Arial"/>
              </a:rPr>
              <a:t>toward,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-15">
                <a:latin typeface="Arial"/>
                <a:cs typeface="Arial"/>
              </a:rPr>
              <a:t>of,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0">
                <a:latin typeface="Arial"/>
                <a:cs typeface="Arial"/>
              </a:rPr>
              <a:t>response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10">
                <a:latin typeface="Arial"/>
                <a:cs typeface="Arial"/>
              </a:rPr>
              <a:t>or  their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characteristics.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796035" y="891035"/>
            <a:ext cx="3846195" cy="83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25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185" b="1">
                <a:latin typeface="Arial"/>
                <a:cs typeface="Arial"/>
              </a:rPr>
              <a:t>MARKETING</a:t>
            </a:r>
            <a:r>
              <a:rPr dirty="0" sz="1750" spc="-100" b="1">
                <a:latin typeface="Arial"/>
                <a:cs typeface="Arial"/>
              </a:rPr>
              <a:t> </a:t>
            </a:r>
            <a:r>
              <a:rPr dirty="0" sz="1750" spc="-285" b="1">
                <a:latin typeface="Arial"/>
                <a:cs typeface="Arial"/>
              </a:rPr>
              <a:t>RESEARCH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129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249" y="1977647"/>
            <a:ext cx="5514975" cy="6852284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6985">
              <a:lnSpc>
                <a:spcPct val="101699"/>
              </a:lnSpc>
              <a:spcBef>
                <a:spcPts val="75"/>
              </a:spcBef>
            </a:pPr>
            <a:r>
              <a:rPr dirty="0" sz="1150" spc="-40" b="1">
                <a:latin typeface="Arial"/>
                <a:cs typeface="Arial"/>
              </a:rPr>
              <a:t>Market </a:t>
            </a:r>
            <a:r>
              <a:rPr dirty="0" sz="1150" spc="-95" b="1">
                <a:latin typeface="Arial"/>
                <a:cs typeface="Arial"/>
              </a:rPr>
              <a:t>research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systematic </a:t>
            </a:r>
            <a:r>
              <a:rPr dirty="0" sz="1150" spc="-45">
                <a:latin typeface="Arial"/>
                <a:cs typeface="Arial"/>
              </a:rPr>
              <a:t>gathering, </a:t>
            </a:r>
            <a:r>
              <a:rPr dirty="0" sz="1150" spc="-40">
                <a:latin typeface="Arial"/>
                <a:cs typeface="Arial"/>
              </a:rPr>
              <a:t>recording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analyzing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data 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50">
                <a:latin typeface="Arial"/>
                <a:cs typeface="Arial"/>
              </a:rPr>
              <a:t>customers, </a:t>
            </a:r>
            <a:r>
              <a:rPr dirty="0" sz="1150" spc="-30">
                <a:latin typeface="Arial"/>
                <a:cs typeface="Arial"/>
              </a:rPr>
              <a:t>competitors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market. </a:t>
            </a:r>
            <a:r>
              <a:rPr dirty="0" sz="1150" spc="-20">
                <a:latin typeface="Arial"/>
                <a:cs typeface="Arial"/>
              </a:rPr>
              <a:t>Market </a:t>
            </a:r>
            <a:r>
              <a:rPr dirty="0" sz="1150" spc="-55">
                <a:latin typeface="Arial"/>
                <a:cs typeface="Arial"/>
              </a:rPr>
              <a:t>research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35">
                <a:latin typeface="Arial"/>
                <a:cs typeface="Arial"/>
              </a:rPr>
              <a:t>help </a:t>
            </a:r>
            <a:r>
              <a:rPr dirty="0" sz="1150" spc="-45">
                <a:latin typeface="Arial"/>
                <a:cs typeface="Arial"/>
              </a:rPr>
              <a:t>create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5">
                <a:latin typeface="Arial"/>
                <a:cs typeface="Arial"/>
              </a:rPr>
              <a:t>business  </a:t>
            </a:r>
            <a:r>
              <a:rPr dirty="0" sz="1150" spc="-40">
                <a:latin typeface="Arial"/>
                <a:cs typeface="Arial"/>
              </a:rPr>
              <a:t>plan, </a:t>
            </a:r>
            <a:r>
              <a:rPr dirty="0" sz="1150" spc="-50">
                <a:latin typeface="Arial"/>
                <a:cs typeface="Arial"/>
              </a:rPr>
              <a:t>launch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20">
                <a:latin typeface="Arial"/>
                <a:cs typeface="Arial"/>
              </a:rPr>
              <a:t>product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5">
                <a:latin typeface="Arial"/>
                <a:cs typeface="Arial"/>
              </a:rPr>
              <a:t>service, </a:t>
            </a:r>
            <a:r>
              <a:rPr dirty="0" sz="1150" spc="-20">
                <a:latin typeface="Arial"/>
                <a:cs typeface="Arial"/>
              </a:rPr>
              <a:t>fine </a:t>
            </a:r>
            <a:r>
              <a:rPr dirty="0" sz="1150" spc="-25">
                <a:latin typeface="Arial"/>
                <a:cs typeface="Arial"/>
              </a:rPr>
              <a:t>tune </a:t>
            </a:r>
            <a:r>
              <a:rPr dirty="0" sz="1150" spc="-45">
                <a:latin typeface="Arial"/>
                <a:cs typeface="Arial"/>
              </a:rPr>
              <a:t>existing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services, expand </a:t>
            </a:r>
            <a:r>
              <a:rPr dirty="0" sz="1150" spc="-5">
                <a:latin typeface="Arial"/>
                <a:cs typeface="Arial"/>
              </a:rPr>
              <a:t>into 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45">
                <a:latin typeface="Arial"/>
                <a:cs typeface="Arial"/>
              </a:rPr>
              <a:t>markets </a:t>
            </a:r>
            <a:r>
              <a:rPr dirty="0" sz="1150" spc="-35">
                <a:latin typeface="Arial"/>
                <a:cs typeface="Arial"/>
              </a:rPr>
              <a:t>etc.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determine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10">
                <a:latin typeface="Arial"/>
                <a:cs typeface="Arial"/>
              </a:rPr>
              <a:t>portion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population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60">
                <a:latin typeface="Arial"/>
                <a:cs typeface="Arial"/>
              </a:rPr>
              <a:t>purchase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product/service, </a:t>
            </a:r>
            <a:r>
              <a:rPr dirty="0" sz="1150" spc="-75">
                <a:latin typeface="Arial"/>
                <a:cs typeface="Arial"/>
              </a:rPr>
              <a:t>based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55">
                <a:latin typeface="Arial"/>
                <a:cs typeface="Arial"/>
              </a:rPr>
              <a:t>variables </a:t>
            </a:r>
            <a:r>
              <a:rPr dirty="0" sz="1150" spc="-30">
                <a:latin typeface="Arial"/>
                <a:cs typeface="Arial"/>
              </a:rPr>
              <a:t>like </a:t>
            </a:r>
            <a:r>
              <a:rPr dirty="0" sz="1150" spc="-75">
                <a:latin typeface="Arial"/>
                <a:cs typeface="Arial"/>
              </a:rPr>
              <a:t>age, </a:t>
            </a:r>
            <a:r>
              <a:rPr dirty="0" sz="1150" spc="-55">
                <a:latin typeface="Arial"/>
                <a:cs typeface="Arial"/>
              </a:rPr>
              <a:t>gender, </a:t>
            </a:r>
            <a:r>
              <a:rPr dirty="0" sz="1150" spc="-25">
                <a:latin typeface="Arial"/>
                <a:cs typeface="Arial"/>
              </a:rPr>
              <a:t>location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income </a:t>
            </a:r>
            <a:r>
              <a:rPr dirty="0" sz="1150" spc="-40">
                <a:latin typeface="Arial"/>
                <a:cs typeface="Arial"/>
              </a:rPr>
              <a:t>level.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 </a:t>
            </a:r>
            <a:r>
              <a:rPr dirty="0" sz="1150" spc="-25">
                <a:latin typeface="Arial"/>
                <a:cs typeface="Arial"/>
              </a:rPr>
              <a:t>found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out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what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market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characteristics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your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target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market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has.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purpose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55">
                <a:latin typeface="Arial"/>
                <a:cs typeface="Arial"/>
              </a:rPr>
              <a:t>research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help </a:t>
            </a:r>
            <a:r>
              <a:rPr dirty="0" sz="1150" spc="-60">
                <a:latin typeface="Arial"/>
                <a:cs typeface="Arial"/>
              </a:rPr>
              <a:t>companies </a:t>
            </a:r>
            <a:r>
              <a:rPr dirty="0" sz="1150" spc="-65">
                <a:latin typeface="Arial"/>
                <a:cs typeface="Arial"/>
              </a:rPr>
              <a:t>make </a:t>
            </a:r>
            <a:r>
              <a:rPr dirty="0" sz="1150" spc="-10">
                <a:latin typeface="Arial"/>
                <a:cs typeface="Arial"/>
              </a:rPr>
              <a:t>better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0">
                <a:latin typeface="Arial"/>
                <a:cs typeface="Arial"/>
              </a:rPr>
              <a:t>decisions </a:t>
            </a:r>
            <a:r>
              <a:rPr dirty="0" sz="1150" spc="-30">
                <a:latin typeface="Arial"/>
                <a:cs typeface="Arial"/>
              </a:rPr>
              <a:t>about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development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marketing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35">
                <a:latin typeface="Arial"/>
                <a:cs typeface="Arial"/>
              </a:rPr>
              <a:t>products. </a:t>
            </a:r>
            <a:r>
              <a:rPr dirty="0" sz="1150" spc="-20">
                <a:latin typeface="Arial"/>
                <a:cs typeface="Arial"/>
              </a:rPr>
              <a:t>Market </a:t>
            </a:r>
            <a:r>
              <a:rPr dirty="0" sz="1150" spc="-55">
                <a:latin typeface="Arial"/>
                <a:cs typeface="Arial"/>
              </a:rPr>
              <a:t>research </a:t>
            </a:r>
            <a:r>
              <a:rPr dirty="0" sz="1150" spc="-50">
                <a:latin typeface="Arial"/>
                <a:cs typeface="Arial"/>
              </a:rPr>
              <a:t>represents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voice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consumers </a:t>
            </a:r>
            <a:r>
              <a:rPr dirty="0" sz="1150" spc="-20">
                <a:latin typeface="Arial"/>
                <a:cs typeface="Arial"/>
              </a:rPr>
              <a:t>in the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list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questions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8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answered </a:t>
            </a:r>
            <a:r>
              <a:rPr dirty="0" sz="1150" spc="-25">
                <a:latin typeface="Arial"/>
                <a:cs typeface="Arial"/>
              </a:rPr>
              <a:t>through </a:t>
            </a:r>
            <a:r>
              <a:rPr dirty="0" sz="1150" spc="-30">
                <a:latin typeface="Arial"/>
                <a:cs typeface="Arial"/>
              </a:rPr>
              <a:t>market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research: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35">
                <a:latin typeface="Arial"/>
                <a:cs typeface="Arial"/>
              </a:rPr>
              <a:t>What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happening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40">
                <a:latin typeface="Arial"/>
                <a:cs typeface="Arial"/>
              </a:rPr>
              <a:t>market? </a:t>
            </a:r>
            <a:r>
              <a:rPr dirty="0" sz="1150" spc="-35">
                <a:latin typeface="Arial"/>
                <a:cs typeface="Arial"/>
              </a:rPr>
              <a:t>What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trends? </a:t>
            </a:r>
            <a:r>
              <a:rPr dirty="0" sz="1150" spc="-50">
                <a:latin typeface="Arial"/>
                <a:cs typeface="Arial"/>
              </a:rPr>
              <a:t>Who are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competitors?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55">
                <a:latin typeface="Arial"/>
                <a:cs typeface="Arial"/>
              </a:rPr>
              <a:t>How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 spc="-65">
                <a:latin typeface="Arial"/>
                <a:cs typeface="Arial"/>
              </a:rPr>
              <a:t>consumers </a:t>
            </a:r>
            <a:r>
              <a:rPr dirty="0" sz="1150" spc="-20">
                <a:latin typeface="Arial"/>
                <a:cs typeface="Arial"/>
              </a:rPr>
              <a:t>talk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20">
                <a:latin typeface="Arial"/>
                <a:cs typeface="Arial"/>
              </a:rPr>
              <a:t>in the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market?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45">
                <a:latin typeface="Arial"/>
                <a:cs typeface="Arial"/>
              </a:rPr>
              <a:t>Which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5">
                <a:latin typeface="Arial"/>
                <a:cs typeface="Arial"/>
              </a:rPr>
              <a:t>important? </a:t>
            </a:r>
            <a:r>
              <a:rPr dirty="0" sz="1150" spc="-55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 spc="-50">
                <a:latin typeface="Arial"/>
                <a:cs typeface="Arial"/>
              </a:rPr>
              <a:t>being </a:t>
            </a:r>
            <a:r>
              <a:rPr dirty="0" sz="1150" spc="-15">
                <a:latin typeface="Arial"/>
                <a:cs typeface="Arial"/>
              </a:rPr>
              <a:t>met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5">
                <a:latin typeface="Arial"/>
                <a:cs typeface="Arial"/>
              </a:rPr>
              <a:t>current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products?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simple </a:t>
            </a:r>
            <a:r>
              <a:rPr dirty="0" sz="1150" spc="-55">
                <a:latin typeface="Arial"/>
                <a:cs typeface="Arial"/>
              </a:rPr>
              <a:t>example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60">
                <a:latin typeface="Arial"/>
                <a:cs typeface="Arial"/>
              </a:rPr>
              <a:t>research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following.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20">
                <a:latin typeface="Arial"/>
                <a:cs typeface="Arial"/>
              </a:rPr>
              <a:t>At the </a:t>
            </a:r>
            <a:r>
              <a:rPr dirty="0" sz="1150" spc="-75">
                <a:latin typeface="Arial"/>
                <a:cs typeface="Arial"/>
              </a:rPr>
              <a:t>Company </a:t>
            </a:r>
            <a:r>
              <a:rPr dirty="0" sz="1150" spc="-45">
                <a:latin typeface="Arial"/>
                <a:cs typeface="Arial"/>
              </a:rPr>
              <a:t>Chevrolet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25">
                <a:latin typeface="Arial"/>
                <a:cs typeface="Arial"/>
              </a:rPr>
              <a:t>brought </a:t>
            </a:r>
            <a:r>
              <a:rPr dirty="0" sz="1150" spc="-55">
                <a:latin typeface="Arial"/>
                <a:cs typeface="Arial"/>
              </a:rPr>
              <a:t>several </a:t>
            </a:r>
            <a:r>
              <a:rPr dirty="0" sz="1150" spc="-50">
                <a:latin typeface="Arial"/>
                <a:cs typeface="Arial"/>
              </a:rPr>
              <a:t>disciplines </a:t>
            </a:r>
            <a:r>
              <a:rPr dirty="0" sz="1150" spc="-25">
                <a:latin typeface="Arial"/>
                <a:cs typeface="Arial"/>
              </a:rPr>
              <a:t>together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cross-functional  </a:t>
            </a:r>
            <a:r>
              <a:rPr dirty="0" sz="1150" spc="-35">
                <a:latin typeface="Arial"/>
                <a:cs typeface="Arial"/>
              </a:rPr>
              <a:t>team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develop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concept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completely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45">
                <a:latin typeface="Arial"/>
                <a:cs typeface="Arial"/>
              </a:rPr>
              <a:t>Chevrolet.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35">
                <a:latin typeface="Arial"/>
                <a:cs typeface="Arial"/>
              </a:rPr>
              <a:t>team </a:t>
            </a:r>
            <a:r>
              <a:rPr dirty="0" sz="1150" spc="-50">
                <a:latin typeface="Arial"/>
                <a:cs typeface="Arial"/>
              </a:rPr>
              <a:t>enabled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0">
                <a:latin typeface="Arial"/>
                <a:cs typeface="Arial"/>
              </a:rPr>
              <a:t>marketers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come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25">
                <a:latin typeface="Arial"/>
                <a:cs typeface="Arial"/>
              </a:rPr>
              <a:t>alternative </a:t>
            </a:r>
            <a:r>
              <a:rPr dirty="0" sz="1150" spc="-40">
                <a:latin typeface="Arial"/>
                <a:cs typeface="Arial"/>
              </a:rPr>
              <a:t>concept,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0">
                <a:latin typeface="Arial"/>
                <a:cs typeface="Arial"/>
              </a:rPr>
              <a:t>balanced 4 </a:t>
            </a:r>
            <a:r>
              <a:rPr dirty="0" sz="1150" spc="-15">
                <a:latin typeface="Arial"/>
                <a:cs typeface="Arial"/>
              </a:rPr>
              <a:t>attributes: comfort  </a:t>
            </a:r>
            <a:r>
              <a:rPr dirty="0" sz="1150" spc="-55">
                <a:latin typeface="Arial"/>
                <a:cs typeface="Arial"/>
              </a:rPr>
              <a:t>and convenience, </a:t>
            </a:r>
            <a:r>
              <a:rPr dirty="0" sz="1150" spc="-25">
                <a:latin typeface="Arial"/>
                <a:cs typeface="Arial"/>
              </a:rPr>
              <a:t>quality, </a:t>
            </a:r>
            <a:r>
              <a:rPr dirty="0" sz="1150" spc="-40">
                <a:latin typeface="Arial"/>
                <a:cs typeface="Arial"/>
              </a:rPr>
              <a:t>styling,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performance.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75">
                <a:latin typeface="Arial"/>
                <a:cs typeface="Arial"/>
              </a:rPr>
              <a:t>was </a:t>
            </a:r>
            <a:r>
              <a:rPr dirty="0" sz="1150" spc="-50">
                <a:latin typeface="Arial"/>
                <a:cs typeface="Arial"/>
              </a:rPr>
              <a:t>considered </a:t>
            </a:r>
            <a:r>
              <a:rPr dirty="0" sz="1150" spc="-40">
                <a:latin typeface="Arial"/>
                <a:cs typeface="Arial"/>
              </a:rPr>
              <a:t>radical </a:t>
            </a:r>
            <a:r>
              <a:rPr dirty="0" sz="1150" spc="-75">
                <a:latin typeface="Arial"/>
                <a:cs typeface="Arial"/>
              </a:rPr>
              <a:t>because  </a:t>
            </a:r>
            <a:r>
              <a:rPr dirty="0" sz="1150" spc="-15">
                <a:latin typeface="Arial"/>
                <a:cs typeface="Arial"/>
              </a:rPr>
              <a:t>comfort </a:t>
            </a:r>
            <a:r>
              <a:rPr dirty="0" sz="1150" spc="-55">
                <a:latin typeface="Arial"/>
                <a:cs typeface="Arial"/>
              </a:rPr>
              <a:t>and convenience </a:t>
            </a:r>
            <a:r>
              <a:rPr dirty="0" sz="1150" spc="-35">
                <a:latin typeface="Arial"/>
                <a:cs typeface="Arial"/>
              </a:rPr>
              <a:t>were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15">
                <a:latin typeface="Arial"/>
                <a:cs typeface="Arial"/>
              </a:rPr>
              <a:t>traditional </a:t>
            </a:r>
            <a:r>
              <a:rPr dirty="0" sz="1150" spc="-45">
                <a:latin typeface="Arial"/>
                <a:cs typeface="Arial"/>
              </a:rPr>
              <a:t>Chevrolet </a:t>
            </a:r>
            <a:r>
              <a:rPr dirty="0" sz="1150" spc="-60">
                <a:latin typeface="Arial"/>
                <a:cs typeface="Arial"/>
              </a:rPr>
              <a:t>values. </a:t>
            </a:r>
            <a:r>
              <a:rPr dirty="0" sz="1150" spc="-50">
                <a:latin typeface="Arial"/>
                <a:cs typeface="Arial"/>
              </a:rPr>
              <a:t>However,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55">
                <a:latin typeface="Arial"/>
                <a:cs typeface="Arial"/>
              </a:rPr>
              <a:t>research  </a:t>
            </a:r>
            <a:r>
              <a:rPr dirty="0" sz="1150" spc="-35">
                <a:latin typeface="Arial"/>
                <a:cs typeface="Arial"/>
              </a:rPr>
              <a:t>demonstrated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0">
                <a:latin typeface="Arial"/>
                <a:cs typeface="Arial"/>
              </a:rPr>
              <a:t>consumers </a:t>
            </a:r>
            <a:r>
              <a:rPr dirty="0" sz="1150" spc="-35">
                <a:latin typeface="Arial"/>
                <a:cs typeface="Arial"/>
              </a:rPr>
              <a:t>supported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alternative </a:t>
            </a:r>
            <a:r>
              <a:rPr dirty="0" sz="1150" spc="-40">
                <a:latin typeface="Arial"/>
                <a:cs typeface="Arial"/>
              </a:rPr>
              <a:t>concept.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result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new  </a:t>
            </a:r>
            <a:r>
              <a:rPr dirty="0" sz="1150" spc="-45">
                <a:latin typeface="Arial"/>
                <a:cs typeface="Arial"/>
              </a:rPr>
              <a:t>Chevrolet </a:t>
            </a:r>
            <a:r>
              <a:rPr dirty="0" sz="1150" spc="-75">
                <a:latin typeface="Arial"/>
                <a:cs typeface="Arial"/>
              </a:rPr>
              <a:t>was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5">
                <a:latin typeface="Arial"/>
                <a:cs typeface="Arial"/>
              </a:rPr>
              <a:t>huge </a:t>
            </a:r>
            <a:r>
              <a:rPr dirty="0" sz="1150" spc="-100">
                <a:latin typeface="Arial"/>
                <a:cs typeface="Arial"/>
              </a:rPr>
              <a:t>success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30">
                <a:latin typeface="Arial"/>
                <a:cs typeface="Arial"/>
              </a:rPr>
              <a:t>market. </a:t>
            </a:r>
            <a:r>
              <a:rPr dirty="0" sz="1150" spc="-55">
                <a:latin typeface="Arial"/>
                <a:cs typeface="Arial"/>
              </a:rPr>
              <a:t>[Burns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2001]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0">
                <a:latin typeface="Arial"/>
                <a:cs typeface="Arial"/>
              </a:rPr>
              <a:t>With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55">
                <a:latin typeface="Arial"/>
                <a:cs typeface="Arial"/>
              </a:rPr>
              <a:t>research </a:t>
            </a:r>
            <a:r>
              <a:rPr dirty="0" sz="1150" spc="-45">
                <a:latin typeface="Arial"/>
                <a:cs typeface="Arial"/>
              </a:rPr>
              <a:t>you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40">
                <a:latin typeface="Arial"/>
                <a:cs typeface="Arial"/>
              </a:rPr>
              <a:t>get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30">
                <a:latin typeface="Arial"/>
                <a:cs typeface="Arial"/>
              </a:rPr>
              <a:t>kind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confirmation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your  </a:t>
            </a:r>
            <a:r>
              <a:rPr dirty="0" sz="1150" spc="-50">
                <a:latin typeface="Arial"/>
                <a:cs typeface="Arial"/>
              </a:rPr>
              <a:t>idea,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successful </a:t>
            </a:r>
            <a:r>
              <a:rPr dirty="0" sz="1150" spc="-50">
                <a:latin typeface="Arial"/>
                <a:cs typeface="Arial"/>
              </a:rPr>
              <a:t>launch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growth </a:t>
            </a:r>
            <a:r>
              <a:rPr dirty="0" sz="1150" spc="-50">
                <a:latin typeface="Arial"/>
                <a:cs typeface="Arial"/>
              </a:rPr>
              <a:t>are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possible.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40" b="1">
                <a:latin typeface="Arial"/>
                <a:cs typeface="Arial"/>
              </a:rPr>
              <a:t>Market </a:t>
            </a:r>
            <a:r>
              <a:rPr dirty="0" sz="1350" spc="-105" b="1">
                <a:latin typeface="Arial"/>
                <a:cs typeface="Arial"/>
              </a:rPr>
              <a:t>research </a:t>
            </a:r>
            <a:r>
              <a:rPr dirty="0" sz="1350" spc="-55" b="1">
                <a:latin typeface="Arial"/>
                <a:cs typeface="Arial"/>
              </a:rPr>
              <a:t>for </a:t>
            </a:r>
            <a:r>
              <a:rPr dirty="0" sz="1350" spc="-135" b="1">
                <a:latin typeface="Arial"/>
                <a:cs typeface="Arial"/>
              </a:rPr>
              <a:t>business </a:t>
            </a:r>
            <a:r>
              <a:rPr dirty="0" sz="1350" spc="-95" b="1">
                <a:latin typeface="Arial"/>
                <a:cs typeface="Arial"/>
              </a:rPr>
              <a:t>planning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20">
                <a:latin typeface="Arial"/>
                <a:cs typeface="Arial"/>
              </a:rPr>
              <a:t>Market </a:t>
            </a:r>
            <a:r>
              <a:rPr dirty="0" sz="1150" spc="-60">
                <a:latin typeface="Arial"/>
                <a:cs typeface="Arial"/>
              </a:rPr>
              <a:t>research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discovering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25">
                <a:latin typeface="Arial"/>
                <a:cs typeface="Arial"/>
              </a:rPr>
              <a:t>want, </a:t>
            </a:r>
            <a:r>
              <a:rPr dirty="0" sz="1150" spc="-50">
                <a:latin typeface="Arial"/>
                <a:cs typeface="Arial"/>
              </a:rPr>
              <a:t>need,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5">
                <a:latin typeface="Arial"/>
                <a:cs typeface="Arial"/>
              </a:rPr>
              <a:t>believe.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75">
                <a:latin typeface="Arial"/>
                <a:cs typeface="Arial"/>
              </a:rPr>
              <a:t>can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40">
                <a:latin typeface="Arial"/>
                <a:cs typeface="Arial"/>
              </a:rPr>
              <a:t>involve  </a:t>
            </a:r>
            <a:r>
              <a:rPr dirty="0" sz="1150" spc="-50">
                <a:latin typeface="Arial"/>
                <a:cs typeface="Arial"/>
              </a:rPr>
              <a:t>discovering </a:t>
            </a:r>
            <a:r>
              <a:rPr dirty="0" sz="1150" spc="-30">
                <a:latin typeface="Arial"/>
                <a:cs typeface="Arial"/>
              </a:rPr>
              <a:t>how they </a:t>
            </a:r>
            <a:r>
              <a:rPr dirty="0" sz="1150" spc="-40">
                <a:latin typeface="Arial"/>
                <a:cs typeface="Arial"/>
              </a:rPr>
              <a:t>act. </a:t>
            </a:r>
            <a:r>
              <a:rPr dirty="0" sz="1150" spc="-80">
                <a:latin typeface="Arial"/>
                <a:cs typeface="Arial"/>
              </a:rPr>
              <a:t>Once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5">
                <a:latin typeface="Arial"/>
                <a:cs typeface="Arial"/>
              </a:rPr>
              <a:t>research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complete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determine how 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market your </a:t>
            </a:r>
            <a:r>
              <a:rPr dirty="0" sz="1150" spc="-50">
                <a:latin typeface="Arial"/>
                <a:cs typeface="Arial"/>
              </a:rPr>
              <a:t>specific </a:t>
            </a:r>
            <a:r>
              <a:rPr dirty="0" sz="1150" spc="-25">
                <a:latin typeface="Arial"/>
                <a:cs typeface="Arial"/>
              </a:rPr>
              <a:t>product. </a:t>
            </a:r>
            <a:r>
              <a:rPr dirty="0" sz="1150" spc="-50">
                <a:latin typeface="Arial"/>
                <a:cs typeface="Arial"/>
              </a:rPr>
              <a:t>Whenever possible, </a:t>
            </a:r>
            <a:r>
              <a:rPr dirty="0" sz="1150" spc="5">
                <a:latin typeface="Arial"/>
                <a:cs typeface="Arial"/>
              </a:rPr>
              <a:t>try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reduce </a:t>
            </a:r>
            <a:r>
              <a:rPr dirty="0" sz="1150" spc="-60">
                <a:latin typeface="Arial"/>
                <a:cs typeface="Arial"/>
              </a:rPr>
              <a:t>risks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earliest  </a:t>
            </a:r>
            <a:r>
              <a:rPr dirty="0" sz="1150" spc="-55">
                <a:latin typeface="Arial"/>
                <a:cs typeface="Arial"/>
              </a:rPr>
              <a:t>possible </a:t>
            </a:r>
            <a:r>
              <a:rPr dirty="0" sz="1150" spc="-60">
                <a:latin typeface="Arial"/>
                <a:cs typeface="Arial"/>
              </a:rPr>
              <a:t>stage. </a:t>
            </a:r>
            <a:r>
              <a:rPr dirty="0" sz="1150" spc="-70">
                <a:latin typeface="Arial"/>
                <a:cs typeface="Arial"/>
              </a:rPr>
              <a:t>For </a:t>
            </a:r>
            <a:r>
              <a:rPr dirty="0" sz="1150" spc="-60">
                <a:latin typeface="Arial"/>
                <a:cs typeface="Arial"/>
              </a:rPr>
              <a:t>example </a:t>
            </a:r>
            <a:r>
              <a:rPr dirty="0" sz="1150" spc="-45">
                <a:latin typeface="Arial"/>
                <a:cs typeface="Arial"/>
              </a:rPr>
              <a:t>you </a:t>
            </a:r>
            <a:r>
              <a:rPr dirty="0" sz="1150" spc="-40">
                <a:latin typeface="Arial"/>
                <a:cs typeface="Arial"/>
              </a:rPr>
              <a:t>could </a:t>
            </a:r>
            <a:r>
              <a:rPr dirty="0" sz="1150" spc="-45">
                <a:latin typeface="Arial"/>
                <a:cs typeface="Arial"/>
              </a:rPr>
              <a:t>carry </a:t>
            </a:r>
            <a:r>
              <a:rPr dirty="0" sz="1150" spc="-5">
                <a:latin typeface="Arial"/>
                <a:cs typeface="Arial"/>
              </a:rPr>
              <a:t>out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60">
                <a:latin typeface="Arial"/>
                <a:cs typeface="Arial"/>
              </a:rPr>
              <a:t>research </a:t>
            </a:r>
            <a:r>
              <a:rPr dirty="0" sz="1150" spc="-40">
                <a:latin typeface="Arial"/>
                <a:cs typeface="Arial"/>
              </a:rPr>
              <a:t>early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10">
                <a:latin typeface="Arial"/>
                <a:cs typeface="Arial"/>
              </a:rPr>
              <a:t>wait </a:t>
            </a:r>
            <a:r>
              <a:rPr dirty="0" sz="1150" spc="-5">
                <a:latin typeface="Arial"/>
                <a:cs typeface="Arial"/>
              </a:rPr>
              <a:t>until  </a:t>
            </a:r>
            <a:r>
              <a:rPr dirty="0" sz="1150" spc="-45">
                <a:latin typeface="Arial"/>
                <a:cs typeface="Arial"/>
              </a:rPr>
              <a:t>you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almost </a:t>
            </a:r>
            <a:r>
              <a:rPr dirty="0" sz="1150" spc="-50">
                <a:latin typeface="Arial"/>
                <a:cs typeface="Arial"/>
              </a:rPr>
              <a:t>ready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enter the </a:t>
            </a:r>
            <a:r>
              <a:rPr dirty="0" sz="1150" spc="-30">
                <a:latin typeface="Arial"/>
                <a:cs typeface="Arial"/>
              </a:rPr>
              <a:t>market. </a:t>
            </a: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45">
                <a:latin typeface="Arial"/>
                <a:cs typeface="Arial"/>
              </a:rPr>
              <a:t>early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60">
                <a:latin typeface="Arial"/>
                <a:cs typeface="Arial"/>
              </a:rPr>
              <a:t>research reveals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0">
                <a:latin typeface="Arial"/>
                <a:cs typeface="Arial"/>
              </a:rPr>
              <a:t>your 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50">
                <a:latin typeface="Arial"/>
                <a:cs typeface="Arial"/>
              </a:rPr>
              <a:t>idea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35">
                <a:latin typeface="Arial"/>
                <a:cs typeface="Arial"/>
              </a:rPr>
              <a:t>real </a:t>
            </a:r>
            <a:r>
              <a:rPr dirty="0" sz="1150" spc="-20">
                <a:latin typeface="Arial"/>
                <a:cs typeface="Arial"/>
              </a:rPr>
              <a:t>potential, </a:t>
            </a:r>
            <a:r>
              <a:rPr dirty="0" sz="1150" spc="-45">
                <a:latin typeface="Arial"/>
                <a:cs typeface="Arial"/>
              </a:rPr>
              <a:t>you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planning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build-up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30">
                <a:latin typeface="Arial"/>
                <a:cs typeface="Arial"/>
              </a:rPr>
              <a:t>your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-15">
                <a:latin typeface="Arial"/>
                <a:cs typeface="Arial"/>
              </a:rPr>
              <a:t>[Ilar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1998]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41" y="892559"/>
            <a:ext cx="5514340" cy="8178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715">
              <a:lnSpc>
                <a:spcPct val="101699"/>
              </a:lnSpc>
              <a:spcBef>
                <a:spcPts val="75"/>
              </a:spcBef>
            </a:pP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starting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few </a:t>
            </a:r>
            <a:r>
              <a:rPr dirty="0" sz="1150" spc="-45">
                <a:latin typeface="Arial"/>
                <a:cs typeface="Arial"/>
              </a:rPr>
              <a:t>things 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5">
                <a:latin typeface="Arial"/>
                <a:cs typeface="Arial"/>
              </a:rPr>
              <a:t>found </a:t>
            </a:r>
            <a:r>
              <a:rPr dirty="0" sz="1150" spc="-5">
                <a:latin typeface="Arial"/>
                <a:cs typeface="Arial"/>
              </a:rPr>
              <a:t>out </a:t>
            </a:r>
            <a:r>
              <a:rPr dirty="0" sz="1150" spc="-25">
                <a:latin typeface="Arial"/>
                <a:cs typeface="Arial"/>
              </a:rPr>
              <a:t>through </a:t>
            </a:r>
            <a:r>
              <a:rPr dirty="0" sz="1150" spc="-30">
                <a:latin typeface="Arial"/>
                <a:cs typeface="Arial"/>
              </a:rPr>
              <a:t>market  </a:t>
            </a:r>
            <a:r>
              <a:rPr dirty="0" sz="1150" spc="-55">
                <a:latin typeface="Arial"/>
                <a:cs typeface="Arial"/>
              </a:rPr>
              <a:t>research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know </a:t>
            </a:r>
            <a:r>
              <a:rPr dirty="0" sz="1150" spc="15">
                <a:latin typeface="Arial"/>
                <a:cs typeface="Arial"/>
              </a:rPr>
              <a:t>if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your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feasible. </a:t>
            </a: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things </a:t>
            </a:r>
            <a:r>
              <a:rPr dirty="0" sz="1150" spc="-30">
                <a:latin typeface="Arial"/>
                <a:cs typeface="Arial"/>
              </a:rPr>
              <a:t>like: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40" b="1">
                <a:latin typeface="Arial"/>
                <a:cs typeface="Arial"/>
              </a:rPr>
              <a:t>Market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70" b="1">
                <a:latin typeface="Arial"/>
                <a:cs typeface="Arial"/>
              </a:rPr>
              <a:t>information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20">
                <a:latin typeface="Arial"/>
                <a:cs typeface="Arial"/>
              </a:rPr>
              <a:t>Market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making </a:t>
            </a:r>
            <a:r>
              <a:rPr dirty="0" sz="1150" spc="-35">
                <a:latin typeface="Arial"/>
                <a:cs typeface="Arial"/>
              </a:rPr>
              <a:t>known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prices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40">
                <a:latin typeface="Arial"/>
                <a:cs typeface="Arial"/>
              </a:rPr>
              <a:t>commodities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30">
                <a:latin typeface="Arial"/>
                <a:cs typeface="Arial"/>
              </a:rPr>
              <a:t>market,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supply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demand. </a:t>
            </a:r>
            <a:r>
              <a:rPr dirty="0" sz="1150" spc="-20">
                <a:latin typeface="Arial"/>
                <a:cs typeface="Arial"/>
              </a:rPr>
              <a:t>Information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markets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5">
                <a:latin typeface="Arial"/>
                <a:cs typeface="Arial"/>
              </a:rPr>
              <a:t>obtained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several 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40">
                <a:latin typeface="Arial"/>
                <a:cs typeface="Arial"/>
              </a:rPr>
              <a:t>varieties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formats.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most </a:t>
            </a:r>
            <a:r>
              <a:rPr dirty="0" sz="1150" spc="-70">
                <a:latin typeface="Arial"/>
                <a:cs typeface="Arial"/>
              </a:rPr>
              <a:t>basic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best  </a:t>
            </a:r>
            <a:r>
              <a:rPr dirty="0" sz="1150" spc="-20">
                <a:latin typeface="Arial"/>
                <a:cs typeface="Arial"/>
              </a:rPr>
              <a:t>quotation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last </a:t>
            </a:r>
            <a:r>
              <a:rPr dirty="0" sz="1150" spc="-70">
                <a:latin typeface="Arial"/>
                <a:cs typeface="Arial"/>
              </a:rPr>
              <a:t>sale </a:t>
            </a:r>
            <a:r>
              <a:rPr dirty="0" sz="1150" spc="-40">
                <a:latin typeface="Arial"/>
                <a:cs typeface="Arial"/>
              </a:rPr>
              <a:t>data, including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shares,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45">
                <a:latin typeface="Arial"/>
                <a:cs typeface="Arial"/>
              </a:rPr>
              <a:t>respect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particular  </a:t>
            </a:r>
            <a:r>
              <a:rPr dirty="0" sz="1150" spc="-40">
                <a:latin typeface="Arial"/>
                <a:cs typeface="Arial"/>
              </a:rPr>
              <a:t>security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given </a:t>
            </a:r>
            <a:r>
              <a:rPr dirty="0" sz="1150" spc="-20">
                <a:latin typeface="Arial"/>
                <a:cs typeface="Arial"/>
              </a:rPr>
              <a:t>time. </a:t>
            </a:r>
            <a:r>
              <a:rPr dirty="0" sz="1150" spc="-15">
                <a:latin typeface="Arial"/>
                <a:cs typeface="Arial"/>
              </a:rPr>
              <a:t>[Market </a:t>
            </a:r>
            <a:r>
              <a:rPr dirty="0" sz="1150" spc="-60">
                <a:latin typeface="Arial"/>
                <a:cs typeface="Arial"/>
              </a:rPr>
              <a:t>research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2006]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25" b="1">
                <a:latin typeface="Arial"/>
                <a:cs typeface="Arial"/>
              </a:rPr>
              <a:t>Examples </a:t>
            </a:r>
            <a:r>
              <a:rPr dirty="0" sz="1350" spc="-60" b="1">
                <a:latin typeface="Arial"/>
                <a:cs typeface="Arial"/>
              </a:rPr>
              <a:t>of </a:t>
            </a:r>
            <a:r>
              <a:rPr dirty="0" sz="1350" spc="-70" b="1">
                <a:latin typeface="Arial"/>
                <a:cs typeface="Arial"/>
              </a:rPr>
              <a:t>market information </a:t>
            </a:r>
            <a:r>
              <a:rPr dirty="0" sz="1350" spc="-105" b="1">
                <a:latin typeface="Arial"/>
                <a:cs typeface="Arial"/>
              </a:rPr>
              <a:t>questions</a:t>
            </a:r>
            <a:r>
              <a:rPr dirty="0" sz="1350" spc="-55" b="1">
                <a:latin typeface="Arial"/>
                <a:cs typeface="Arial"/>
              </a:rPr>
              <a:t> </a:t>
            </a:r>
            <a:r>
              <a:rPr dirty="0" sz="1350" spc="-70" b="1">
                <a:latin typeface="Arial"/>
                <a:cs typeface="Arial"/>
              </a:rPr>
              <a:t>are: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70">
                <a:latin typeface="Arial"/>
                <a:cs typeface="Arial"/>
              </a:rPr>
              <a:t>_ </a:t>
            </a:r>
            <a:r>
              <a:rPr dirty="0" sz="1150" spc="-50">
                <a:latin typeface="Arial"/>
                <a:cs typeface="Arial"/>
              </a:rPr>
              <a:t>Who are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customers?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70">
                <a:latin typeface="Arial"/>
                <a:cs typeface="Arial"/>
              </a:rPr>
              <a:t>_ </a:t>
            </a:r>
            <a:r>
              <a:rPr dirty="0" sz="1150" spc="-50">
                <a:latin typeface="Arial"/>
                <a:cs typeface="Arial"/>
              </a:rPr>
              <a:t>Where are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40">
                <a:latin typeface="Arial"/>
                <a:cs typeface="Arial"/>
              </a:rPr>
              <a:t>located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how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contacted?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70">
                <a:latin typeface="Arial"/>
                <a:cs typeface="Arial"/>
              </a:rPr>
              <a:t>_ </a:t>
            </a:r>
            <a:r>
              <a:rPr dirty="0" sz="1150" spc="-35">
                <a:latin typeface="Arial"/>
                <a:cs typeface="Arial"/>
              </a:rPr>
              <a:t>What </a:t>
            </a:r>
            <a:r>
              <a:rPr dirty="0" sz="1150" spc="-20">
                <a:latin typeface="Arial"/>
                <a:cs typeface="Arial"/>
              </a:rPr>
              <a:t>quantity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 spc="-30">
                <a:latin typeface="Arial"/>
                <a:cs typeface="Arial"/>
              </a:rPr>
              <a:t>they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want?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150" spc="-70">
                <a:latin typeface="Arial"/>
                <a:cs typeface="Arial"/>
              </a:rPr>
              <a:t>_ </a:t>
            </a:r>
            <a:r>
              <a:rPr dirty="0" sz="1150" spc="-35">
                <a:latin typeface="Arial"/>
                <a:cs typeface="Arial"/>
              </a:rPr>
              <a:t>What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best </a:t>
            </a:r>
            <a:r>
              <a:rPr dirty="0" sz="1150" spc="-15">
                <a:latin typeface="Arial"/>
                <a:cs typeface="Arial"/>
              </a:rPr>
              <a:t>time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sell?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70">
                <a:latin typeface="Arial"/>
                <a:cs typeface="Arial"/>
              </a:rPr>
              <a:t>_ </a:t>
            </a:r>
            <a:r>
              <a:rPr dirty="0" sz="1150" spc="-35">
                <a:latin typeface="Arial"/>
                <a:cs typeface="Arial"/>
              </a:rPr>
              <a:t>What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long-term </a:t>
            </a:r>
            <a:r>
              <a:rPr dirty="0" sz="1150" spc="-15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historical </a:t>
            </a:r>
            <a:r>
              <a:rPr dirty="0" sz="1150" spc="-40">
                <a:latin typeface="Arial"/>
                <a:cs typeface="Arial"/>
              </a:rPr>
              <a:t>price data </a:t>
            </a:r>
            <a:r>
              <a:rPr dirty="0" sz="1150" spc="-35">
                <a:latin typeface="Arial"/>
                <a:cs typeface="Arial"/>
              </a:rPr>
              <a:t>over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years?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70">
                <a:latin typeface="Arial"/>
                <a:cs typeface="Arial"/>
              </a:rPr>
              <a:t>_ </a:t>
            </a:r>
            <a:r>
              <a:rPr dirty="0" sz="1150" spc="-35">
                <a:latin typeface="Arial"/>
                <a:cs typeface="Arial"/>
              </a:rPr>
              <a:t>What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expected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-20">
                <a:latin typeface="Arial"/>
                <a:cs typeface="Arial"/>
              </a:rPr>
              <a:t>in the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country?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70">
                <a:latin typeface="Arial"/>
                <a:cs typeface="Arial"/>
              </a:rPr>
              <a:t>_ </a:t>
            </a:r>
            <a:r>
              <a:rPr dirty="0" sz="1150" spc="-85">
                <a:latin typeface="Arial"/>
                <a:cs typeface="Arial"/>
              </a:rPr>
              <a:t>Is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55">
                <a:latin typeface="Arial"/>
                <a:cs typeface="Arial"/>
              </a:rPr>
              <a:t>demand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another? </a:t>
            </a:r>
            <a:r>
              <a:rPr dirty="0" sz="1150" spc="-65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40" b="1">
                <a:latin typeface="Arial"/>
                <a:cs typeface="Arial"/>
              </a:rPr>
              <a:t>Market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95" b="1">
                <a:latin typeface="Arial"/>
                <a:cs typeface="Arial"/>
              </a:rPr>
              <a:t>Segmentation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20">
                <a:latin typeface="Arial"/>
                <a:cs typeface="Arial"/>
              </a:rPr>
              <a:t>Market </a:t>
            </a:r>
            <a:r>
              <a:rPr dirty="0" sz="1150" spc="-40">
                <a:latin typeface="Arial"/>
                <a:cs typeface="Arial"/>
              </a:rPr>
              <a:t>segmentation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division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5">
                <a:latin typeface="Arial"/>
                <a:cs typeface="Arial"/>
              </a:rPr>
              <a:t>population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60">
                <a:latin typeface="Arial"/>
                <a:cs typeface="Arial"/>
              </a:rPr>
              <a:t>subgroups </a:t>
            </a:r>
            <a:r>
              <a:rPr dirty="0" sz="1150" spc="5">
                <a:latin typeface="Arial"/>
                <a:cs typeface="Arial"/>
              </a:rPr>
              <a:t>with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similar  </a:t>
            </a:r>
            <a:r>
              <a:rPr dirty="0" sz="1150" spc="-30">
                <a:latin typeface="Arial"/>
                <a:cs typeface="Arial"/>
              </a:rPr>
              <a:t>motivations. </a:t>
            </a:r>
            <a:r>
              <a:rPr dirty="0" sz="1150" spc="-40">
                <a:latin typeface="Arial"/>
                <a:cs typeface="Arial"/>
              </a:rPr>
              <a:t>Widely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90">
                <a:latin typeface="Arial"/>
                <a:cs typeface="Arial"/>
              </a:rPr>
              <a:t>bases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segmenting </a:t>
            </a:r>
            <a:r>
              <a:rPr dirty="0" sz="1150" spc="-40">
                <a:latin typeface="Arial"/>
                <a:cs typeface="Arial"/>
              </a:rPr>
              <a:t>include </a:t>
            </a:r>
            <a:r>
              <a:rPr dirty="0" sz="1150" spc="-55">
                <a:latin typeface="Arial"/>
                <a:cs typeface="Arial"/>
              </a:rPr>
              <a:t>geographic </a:t>
            </a:r>
            <a:r>
              <a:rPr dirty="0" sz="1150" spc="-40">
                <a:latin typeface="Arial"/>
                <a:cs typeface="Arial"/>
              </a:rPr>
              <a:t>differences, </a:t>
            </a:r>
            <a:r>
              <a:rPr dirty="0" sz="1150" spc="-35">
                <a:latin typeface="Arial"/>
                <a:cs typeface="Arial"/>
              </a:rPr>
              <a:t>personality  </a:t>
            </a:r>
            <a:r>
              <a:rPr dirty="0" sz="1150" spc="-40">
                <a:latin typeface="Arial"/>
                <a:cs typeface="Arial"/>
              </a:rPr>
              <a:t>differences, </a:t>
            </a:r>
            <a:r>
              <a:rPr dirty="0" sz="1150" spc="-50">
                <a:latin typeface="Arial"/>
                <a:cs typeface="Arial"/>
              </a:rPr>
              <a:t>demographic </a:t>
            </a:r>
            <a:r>
              <a:rPr dirty="0" sz="1150" spc="-40">
                <a:latin typeface="Arial"/>
                <a:cs typeface="Arial"/>
              </a:rPr>
              <a:t>differences, </a:t>
            </a:r>
            <a:r>
              <a:rPr dirty="0" sz="1150" spc="-85">
                <a:latin typeface="Arial"/>
                <a:cs typeface="Arial"/>
              </a:rPr>
              <a:t>use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40">
                <a:latin typeface="Arial"/>
                <a:cs typeface="Arial"/>
              </a:rPr>
              <a:t>differences,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psychographic  </a:t>
            </a:r>
            <a:r>
              <a:rPr dirty="0" sz="1150" spc="-40">
                <a:latin typeface="Arial"/>
                <a:cs typeface="Arial"/>
              </a:rPr>
              <a:t>differences.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40" b="1">
                <a:latin typeface="Arial"/>
                <a:cs typeface="Arial"/>
              </a:rPr>
              <a:t>Market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Trends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upward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downward </a:t>
            </a:r>
            <a:r>
              <a:rPr dirty="0" sz="1150" spc="-50">
                <a:latin typeface="Arial"/>
                <a:cs typeface="Arial"/>
              </a:rPr>
              <a:t>movements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market, during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period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time,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85">
                <a:latin typeface="Arial"/>
                <a:cs typeface="Arial"/>
              </a:rPr>
              <a:t>size 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more </a:t>
            </a:r>
            <a:r>
              <a:rPr dirty="0" sz="1150" spc="-5">
                <a:latin typeface="Arial"/>
                <a:cs typeface="Arial"/>
              </a:rPr>
              <a:t>difficult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estimate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 spc="-45">
                <a:latin typeface="Arial"/>
                <a:cs typeface="Arial"/>
              </a:rPr>
              <a:t>you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starting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45">
                <a:latin typeface="Arial"/>
                <a:cs typeface="Arial"/>
              </a:rPr>
              <a:t>something </a:t>
            </a:r>
            <a:r>
              <a:rPr dirty="0" sz="1150" spc="-35">
                <a:latin typeface="Arial"/>
                <a:cs typeface="Arial"/>
              </a:rPr>
              <a:t>completely </a:t>
            </a:r>
            <a:r>
              <a:rPr dirty="0" sz="1150" spc="-40">
                <a:latin typeface="Arial"/>
                <a:cs typeface="Arial"/>
              </a:rPr>
              <a:t>new. 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85">
                <a:latin typeface="Arial"/>
                <a:cs typeface="Arial"/>
              </a:rPr>
              <a:t>case,  </a:t>
            </a:r>
            <a:r>
              <a:rPr dirty="0" sz="1150" spc="-45">
                <a:latin typeface="Arial"/>
                <a:cs typeface="Arial"/>
              </a:rPr>
              <a:t>you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derive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figures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potential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0">
                <a:latin typeface="Arial"/>
                <a:cs typeface="Arial"/>
              </a:rPr>
              <a:t>customer  </a:t>
            </a:r>
            <a:r>
              <a:rPr dirty="0" sz="1150" spc="-60">
                <a:latin typeface="Arial"/>
                <a:cs typeface="Arial"/>
              </a:rPr>
              <a:t>segments. </a:t>
            </a:r>
            <a:r>
              <a:rPr dirty="0" sz="1150" spc="-15">
                <a:latin typeface="Arial"/>
                <a:cs typeface="Arial"/>
              </a:rPr>
              <a:t>[Ilar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1998]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But </a:t>
            </a:r>
            <a:r>
              <a:rPr dirty="0" sz="1150" spc="-70">
                <a:latin typeface="Arial"/>
                <a:cs typeface="Arial"/>
              </a:rPr>
              <a:t>besides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target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45">
                <a:latin typeface="Arial"/>
                <a:cs typeface="Arial"/>
              </a:rPr>
              <a:t>you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55">
                <a:latin typeface="Arial"/>
                <a:cs typeface="Arial"/>
              </a:rPr>
              <a:t>need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30">
                <a:latin typeface="Arial"/>
                <a:cs typeface="Arial"/>
              </a:rPr>
              <a:t>about your  </a:t>
            </a:r>
            <a:r>
              <a:rPr dirty="0" sz="1150" spc="-20">
                <a:latin typeface="Arial"/>
                <a:cs typeface="Arial"/>
              </a:rPr>
              <a:t>competitor, </a:t>
            </a:r>
            <a:r>
              <a:rPr dirty="0" sz="1150" spc="-30">
                <a:latin typeface="Arial"/>
                <a:cs typeface="Arial"/>
              </a:rPr>
              <a:t>your </a:t>
            </a:r>
            <a:r>
              <a:rPr dirty="0" sz="1150" spc="-50">
                <a:latin typeface="Arial"/>
                <a:cs typeface="Arial"/>
              </a:rPr>
              <a:t>customers,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30">
                <a:latin typeface="Arial"/>
                <a:cs typeface="Arial"/>
              </a:rPr>
              <a:t>etc.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few </a:t>
            </a:r>
            <a:r>
              <a:rPr dirty="0" sz="1150" spc="-50">
                <a:latin typeface="Arial"/>
                <a:cs typeface="Arial"/>
              </a:rPr>
              <a:t>techniques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are: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10" b="1">
                <a:latin typeface="Arial"/>
                <a:cs typeface="Arial"/>
              </a:rPr>
              <a:t>Customer</a:t>
            </a:r>
            <a:r>
              <a:rPr dirty="0" sz="1350" spc="-70" b="1">
                <a:latin typeface="Arial"/>
                <a:cs typeface="Arial"/>
              </a:rPr>
              <a:t> </a:t>
            </a:r>
            <a:r>
              <a:rPr dirty="0" sz="1350" spc="-125" b="1">
                <a:latin typeface="Arial"/>
                <a:cs typeface="Arial"/>
              </a:rPr>
              <a:t>Analysis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70">
                <a:latin typeface="Arial"/>
                <a:cs typeface="Arial"/>
              </a:rPr>
              <a:t>_ </a:t>
            </a:r>
            <a:r>
              <a:rPr dirty="0" sz="1150" spc="-30">
                <a:latin typeface="Arial"/>
                <a:cs typeface="Arial"/>
              </a:rPr>
              <a:t>Competitor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analysis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70">
                <a:latin typeface="Arial"/>
                <a:cs typeface="Arial"/>
              </a:rPr>
              <a:t>_ </a:t>
            </a:r>
            <a:r>
              <a:rPr dirty="0" sz="1150" spc="-100">
                <a:latin typeface="Arial"/>
                <a:cs typeface="Arial"/>
              </a:rPr>
              <a:t>Risk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analysis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70">
                <a:latin typeface="Arial"/>
                <a:cs typeface="Arial"/>
              </a:rPr>
              <a:t>_ </a:t>
            </a:r>
            <a:r>
              <a:rPr dirty="0" sz="1150" spc="-45">
                <a:latin typeface="Arial"/>
                <a:cs typeface="Arial"/>
              </a:rPr>
              <a:t>Product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research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130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79921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60" b="1">
                <a:latin typeface="Arial"/>
                <a:cs typeface="Arial"/>
              </a:rPr>
              <a:t>MARKET </a:t>
            </a:r>
            <a:r>
              <a:rPr dirty="0" sz="1350" spc="-215" b="1">
                <a:latin typeface="Arial"/>
                <a:cs typeface="Arial"/>
              </a:rPr>
              <a:t>RESEARCH </a:t>
            </a:r>
            <a:r>
              <a:rPr dirty="0" sz="1350" spc="-225" b="1">
                <a:latin typeface="Arial"/>
                <a:cs typeface="Arial"/>
              </a:rPr>
              <a:t>PROCESS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35">
                <a:latin typeface="Arial"/>
                <a:cs typeface="Arial"/>
              </a:rPr>
              <a:t>chapter introduces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steps </a:t>
            </a:r>
            <a:r>
              <a:rPr dirty="0" sz="1150" spc="-40">
                <a:latin typeface="Arial"/>
                <a:cs typeface="Arial"/>
              </a:rPr>
              <a:t>involved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60">
                <a:latin typeface="Arial"/>
                <a:cs typeface="Arial"/>
              </a:rPr>
              <a:t>research </a:t>
            </a:r>
            <a:r>
              <a:rPr dirty="0" sz="1150" spc="-65">
                <a:latin typeface="Arial"/>
                <a:cs typeface="Arial"/>
              </a:rPr>
              <a:t>process.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45">
                <a:latin typeface="Arial"/>
                <a:cs typeface="Arial"/>
              </a:rPr>
              <a:t>provides  you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brief </a:t>
            </a:r>
            <a:r>
              <a:rPr dirty="0" sz="1150" spc="-35">
                <a:latin typeface="Arial"/>
                <a:cs typeface="Arial"/>
              </a:rPr>
              <a:t>preview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each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steps </a:t>
            </a:r>
            <a:r>
              <a:rPr dirty="0" sz="1150" spc="-75">
                <a:latin typeface="Arial"/>
                <a:cs typeface="Arial"/>
              </a:rPr>
              <a:t>necessary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conduct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55">
                <a:latin typeface="Arial"/>
                <a:cs typeface="Arial"/>
              </a:rPr>
              <a:t>research </a:t>
            </a:r>
            <a:r>
              <a:rPr dirty="0" sz="1150">
                <a:latin typeface="Arial"/>
                <a:cs typeface="Arial"/>
              </a:rPr>
              <a:t>effort. 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60">
                <a:latin typeface="Arial"/>
                <a:cs typeface="Arial"/>
              </a:rPr>
              <a:t>research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60">
                <a:latin typeface="Arial"/>
                <a:cs typeface="Arial"/>
              </a:rPr>
              <a:t>4 </a:t>
            </a:r>
            <a:r>
              <a:rPr dirty="0" sz="1150" spc="-70">
                <a:latin typeface="Arial"/>
                <a:cs typeface="Arial"/>
              </a:rPr>
              <a:t>basic </a:t>
            </a:r>
            <a:r>
              <a:rPr dirty="0" sz="1150" spc="-55">
                <a:latin typeface="Arial"/>
                <a:cs typeface="Arial"/>
              </a:rPr>
              <a:t>steps. </a:t>
            </a:r>
            <a:r>
              <a:rPr dirty="0" sz="1150" spc="-95">
                <a:latin typeface="Arial"/>
                <a:cs typeface="Arial"/>
              </a:rPr>
              <a:t>These </a:t>
            </a:r>
            <a:r>
              <a:rPr dirty="0" sz="1150" spc="-65">
                <a:latin typeface="Arial"/>
                <a:cs typeface="Arial"/>
              </a:rPr>
              <a:t>steps</a:t>
            </a:r>
            <a:r>
              <a:rPr dirty="0" sz="1150" spc="2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include: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3553460">
              <a:lnSpc>
                <a:spcPct val="101699"/>
              </a:lnSpc>
            </a:pPr>
            <a:r>
              <a:rPr dirty="0" sz="1150" spc="-75" b="1">
                <a:latin typeface="Arial"/>
                <a:cs typeface="Arial"/>
              </a:rPr>
              <a:t>Defining </a:t>
            </a:r>
            <a:r>
              <a:rPr dirty="0" sz="1150" spc="-45" b="1">
                <a:latin typeface="Arial"/>
                <a:cs typeface="Arial"/>
              </a:rPr>
              <a:t>the </a:t>
            </a:r>
            <a:r>
              <a:rPr dirty="0" sz="1150" spc="-95" b="1">
                <a:latin typeface="Arial"/>
                <a:cs typeface="Arial"/>
              </a:rPr>
              <a:t>research </a:t>
            </a:r>
            <a:r>
              <a:rPr dirty="0" sz="1150" spc="-70" b="1">
                <a:latin typeface="Arial"/>
                <a:cs typeface="Arial"/>
              </a:rPr>
              <a:t>problem  </a:t>
            </a:r>
            <a:r>
              <a:rPr dirty="0" sz="1150" spc="-100" b="1">
                <a:latin typeface="Arial"/>
                <a:cs typeface="Arial"/>
              </a:rPr>
              <a:t>Establishing </a:t>
            </a:r>
            <a:r>
              <a:rPr dirty="0" sz="1150" spc="-50" b="1">
                <a:latin typeface="Arial"/>
                <a:cs typeface="Arial"/>
              </a:rPr>
              <a:t>the </a:t>
            </a:r>
            <a:r>
              <a:rPr dirty="0" sz="1150" spc="-95" b="1">
                <a:latin typeface="Arial"/>
                <a:cs typeface="Arial"/>
              </a:rPr>
              <a:t>research </a:t>
            </a:r>
            <a:r>
              <a:rPr dirty="0" sz="1150" spc="-105" b="1">
                <a:latin typeface="Arial"/>
                <a:cs typeface="Arial"/>
              </a:rPr>
              <a:t>design  </a:t>
            </a:r>
            <a:r>
              <a:rPr dirty="0" sz="1150" spc="-90" b="1">
                <a:latin typeface="Arial"/>
                <a:cs typeface="Arial"/>
              </a:rPr>
              <a:t>Collecting </a:t>
            </a:r>
            <a:r>
              <a:rPr dirty="0" sz="1150" spc="-85" b="1">
                <a:latin typeface="Arial"/>
                <a:cs typeface="Arial"/>
              </a:rPr>
              <a:t>and </a:t>
            </a:r>
            <a:r>
              <a:rPr dirty="0" sz="1150" spc="-90" b="1">
                <a:latin typeface="Arial"/>
                <a:cs typeface="Arial"/>
              </a:rPr>
              <a:t>analyzing </a:t>
            </a:r>
            <a:r>
              <a:rPr dirty="0" sz="1150" spc="-55" b="1">
                <a:latin typeface="Arial"/>
                <a:cs typeface="Arial"/>
              </a:rPr>
              <a:t>data  </a:t>
            </a:r>
            <a:r>
              <a:rPr dirty="0" sz="1150" spc="-70" b="1">
                <a:latin typeface="Arial"/>
                <a:cs typeface="Arial"/>
              </a:rPr>
              <a:t>Formulate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findings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90" b="1">
                <a:latin typeface="Arial"/>
                <a:cs typeface="Arial"/>
              </a:rPr>
              <a:t>Meta-process </a:t>
            </a:r>
            <a:r>
              <a:rPr dirty="0" sz="1350" spc="-85" b="1">
                <a:latin typeface="Arial"/>
                <a:cs typeface="Arial"/>
              </a:rPr>
              <a:t>model </a:t>
            </a:r>
            <a:r>
              <a:rPr dirty="0" sz="1350" spc="-60" b="1">
                <a:latin typeface="Arial"/>
                <a:cs typeface="Arial"/>
              </a:rPr>
              <a:t>for </a:t>
            </a:r>
            <a:r>
              <a:rPr dirty="0" sz="1350" spc="-40" b="1">
                <a:latin typeface="Arial"/>
                <a:cs typeface="Arial"/>
              </a:rPr>
              <a:t>Market</a:t>
            </a:r>
            <a:r>
              <a:rPr dirty="0" sz="1350" spc="-65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research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50">
                <a:latin typeface="Arial"/>
                <a:cs typeface="Arial"/>
              </a:rPr>
              <a:t>Before these </a:t>
            </a:r>
            <a:r>
              <a:rPr dirty="0" sz="1150" spc="-10">
                <a:latin typeface="Arial"/>
                <a:cs typeface="Arial"/>
              </a:rPr>
              <a:t>four </a:t>
            </a:r>
            <a:r>
              <a:rPr dirty="0" sz="1150" spc="-65">
                <a:latin typeface="Arial"/>
                <a:cs typeface="Arial"/>
              </a:rPr>
              <a:t>steps </a:t>
            </a:r>
            <a:r>
              <a:rPr dirty="0" sz="1150" spc="-55">
                <a:latin typeface="Arial"/>
                <a:cs typeface="Arial"/>
              </a:rPr>
              <a:t>are </a:t>
            </a:r>
            <a:r>
              <a:rPr dirty="0" sz="1150" spc="-75">
                <a:latin typeface="Arial"/>
                <a:cs typeface="Arial"/>
              </a:rPr>
              <a:t>discussed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5">
                <a:latin typeface="Arial"/>
                <a:cs typeface="Arial"/>
              </a:rPr>
              <a:t>important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make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few </a:t>
            </a:r>
            <a:r>
              <a:rPr dirty="0" sz="1150" spc="-50">
                <a:latin typeface="Arial"/>
                <a:cs typeface="Arial"/>
              </a:rPr>
              <a:t>comments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50">
                <a:latin typeface="Arial"/>
                <a:cs typeface="Arial"/>
              </a:rPr>
              <a:t>these  </a:t>
            </a:r>
            <a:r>
              <a:rPr dirty="0" sz="1150" spc="-55">
                <a:latin typeface="Arial"/>
                <a:cs typeface="Arial"/>
              </a:rPr>
              <a:t>steps. </a:t>
            </a:r>
            <a:r>
              <a:rPr dirty="0" sz="1150" spc="-45">
                <a:latin typeface="Arial"/>
                <a:cs typeface="Arial"/>
              </a:rPr>
              <a:t>First </a:t>
            </a:r>
            <a:r>
              <a:rPr dirty="0" sz="1150" spc="-35">
                <a:latin typeface="Arial"/>
                <a:cs typeface="Arial"/>
              </a:rPr>
              <a:t>although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list </a:t>
            </a:r>
            <a:r>
              <a:rPr dirty="0" sz="1150" spc="-70">
                <a:latin typeface="Arial"/>
                <a:cs typeface="Arial"/>
              </a:rPr>
              <a:t>does </a:t>
            </a:r>
            <a:r>
              <a:rPr dirty="0" sz="1150" spc="-35">
                <a:latin typeface="Arial"/>
                <a:cs typeface="Arial"/>
              </a:rPr>
              <a:t>strongly </a:t>
            </a:r>
            <a:r>
              <a:rPr dirty="0" sz="1150" spc="-25">
                <a:latin typeface="Arial"/>
                <a:cs typeface="Arial"/>
              </a:rPr>
              <a:t>imply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25">
                <a:latin typeface="Arial"/>
                <a:cs typeface="Arial"/>
              </a:rPr>
              <a:t>orderly </a:t>
            </a:r>
            <a:r>
              <a:rPr dirty="0" sz="1150" spc="-45">
                <a:latin typeface="Arial"/>
                <a:cs typeface="Arial"/>
              </a:rPr>
              <a:t>step-by-step </a:t>
            </a:r>
            <a:r>
              <a:rPr dirty="0" sz="1150" spc="-60">
                <a:latin typeface="Arial"/>
                <a:cs typeface="Arial"/>
              </a:rPr>
              <a:t>process,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rare 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research </a:t>
            </a:r>
            <a:r>
              <a:rPr dirty="0" sz="1150" spc="-25">
                <a:latin typeface="Arial"/>
                <a:cs typeface="Arial"/>
              </a:rPr>
              <a:t>project </a:t>
            </a:r>
            <a:r>
              <a:rPr dirty="0" sz="1150" spc="-30">
                <a:latin typeface="Arial"/>
                <a:cs typeface="Arial"/>
              </a:rPr>
              <a:t>follows </a:t>
            </a:r>
            <a:r>
              <a:rPr dirty="0" sz="1150" spc="-50">
                <a:latin typeface="Arial"/>
                <a:cs typeface="Arial"/>
              </a:rPr>
              <a:t>these </a:t>
            </a:r>
            <a:r>
              <a:rPr dirty="0" sz="1150" spc="-60">
                <a:latin typeface="Arial"/>
                <a:cs typeface="Arial"/>
              </a:rPr>
              <a:t>steps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55">
                <a:latin typeface="Arial"/>
                <a:cs typeface="Arial"/>
              </a:rPr>
              <a:t>exact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presented </a:t>
            </a:r>
            <a:r>
              <a:rPr dirty="0" sz="1150" spc="-20">
                <a:latin typeface="Arial"/>
                <a:cs typeface="Arial"/>
              </a:rPr>
              <a:t>in the  </a:t>
            </a:r>
            <a:r>
              <a:rPr dirty="0" sz="1150" spc="-30">
                <a:latin typeface="Arial"/>
                <a:cs typeface="Arial"/>
              </a:rPr>
              <a:t>figure.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20">
                <a:latin typeface="Arial"/>
                <a:cs typeface="Arial"/>
              </a:rPr>
              <a:t>Market </a:t>
            </a:r>
            <a:r>
              <a:rPr dirty="0" sz="1150" spc="-55">
                <a:latin typeface="Arial"/>
                <a:cs typeface="Arial"/>
              </a:rPr>
              <a:t>research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25">
                <a:latin typeface="Arial"/>
                <a:cs typeface="Arial"/>
              </a:rPr>
              <a:t>interactive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 spc="-40">
                <a:latin typeface="Arial"/>
                <a:cs typeface="Arial"/>
              </a:rPr>
              <a:t>whereby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researcher, by discovering  </a:t>
            </a:r>
            <a:r>
              <a:rPr dirty="0" sz="1150" spc="-45">
                <a:latin typeface="Arial"/>
                <a:cs typeface="Arial"/>
              </a:rPr>
              <a:t>something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given </a:t>
            </a:r>
            <a:r>
              <a:rPr dirty="0" sz="1150" spc="-40">
                <a:latin typeface="Arial"/>
                <a:cs typeface="Arial"/>
              </a:rPr>
              <a:t>step,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0">
                <a:latin typeface="Arial"/>
                <a:cs typeface="Arial"/>
              </a:rPr>
              <a:t>move </a:t>
            </a:r>
            <a:r>
              <a:rPr dirty="0" sz="1150" spc="-55">
                <a:latin typeface="Arial"/>
                <a:cs typeface="Arial"/>
              </a:rPr>
              <a:t>backward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65">
                <a:latin typeface="Arial"/>
                <a:cs typeface="Arial"/>
              </a:rPr>
              <a:t>process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begin </a:t>
            </a:r>
            <a:r>
              <a:rPr dirty="0" sz="1150" spc="-65">
                <a:latin typeface="Arial"/>
                <a:cs typeface="Arial"/>
              </a:rPr>
              <a:t>again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30">
                <a:latin typeface="Arial"/>
                <a:cs typeface="Arial"/>
              </a:rPr>
              <a:t>another  </a:t>
            </a:r>
            <a:r>
              <a:rPr dirty="0" sz="1150" spc="-45">
                <a:latin typeface="Arial"/>
                <a:cs typeface="Arial"/>
              </a:rPr>
              <a:t>step </a:t>
            </a:r>
            <a:r>
              <a:rPr dirty="0" sz="1150" spc="-15">
                <a:latin typeface="Arial"/>
                <a:cs typeface="Arial"/>
              </a:rPr>
              <a:t>[Market </a:t>
            </a:r>
            <a:r>
              <a:rPr dirty="0" sz="1150" spc="-55">
                <a:latin typeface="Arial"/>
                <a:cs typeface="Arial"/>
              </a:rPr>
              <a:t>research </a:t>
            </a:r>
            <a:r>
              <a:rPr dirty="0" sz="1150" spc="-40">
                <a:latin typeface="Arial"/>
                <a:cs typeface="Arial"/>
              </a:rPr>
              <a:t>2006] </a:t>
            </a:r>
            <a:r>
              <a:rPr dirty="0" sz="1150" spc="-60">
                <a:latin typeface="Arial"/>
                <a:cs typeface="Arial"/>
              </a:rPr>
              <a:t>Finding </a:t>
            </a:r>
            <a:r>
              <a:rPr dirty="0" sz="1150" spc="-65">
                <a:latin typeface="Arial"/>
                <a:cs typeface="Arial"/>
              </a:rPr>
              <a:t>some </a:t>
            </a:r>
            <a:r>
              <a:rPr dirty="0" sz="1150" spc="-45">
                <a:latin typeface="Arial"/>
                <a:cs typeface="Arial"/>
              </a:rPr>
              <a:t>new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25">
                <a:latin typeface="Arial"/>
                <a:cs typeface="Arial"/>
              </a:rPr>
              <a:t>while </a:t>
            </a:r>
            <a:r>
              <a:rPr dirty="0" sz="1150" spc="-35">
                <a:latin typeface="Arial"/>
                <a:cs typeface="Arial"/>
              </a:rPr>
              <a:t>collecting </a:t>
            </a:r>
            <a:r>
              <a:rPr dirty="0" sz="1150" spc="-40">
                <a:latin typeface="Arial"/>
                <a:cs typeface="Arial"/>
              </a:rPr>
              <a:t>data,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85">
                <a:latin typeface="Arial"/>
                <a:cs typeface="Arial"/>
              </a:rPr>
              <a:t>cause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researcher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establish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55">
                <a:latin typeface="Arial"/>
                <a:cs typeface="Arial"/>
              </a:rPr>
              <a:t>research</a:t>
            </a:r>
            <a:r>
              <a:rPr dirty="0" sz="1150" spc="-24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objectives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20">
                <a:latin typeface="Arial"/>
                <a:cs typeface="Arial"/>
              </a:rPr>
              <a:t>the following the </a:t>
            </a:r>
            <a:r>
              <a:rPr dirty="0" sz="1150" spc="-10">
                <a:latin typeface="Arial"/>
                <a:cs typeface="Arial"/>
              </a:rPr>
              <a:t>different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60">
                <a:latin typeface="Arial"/>
                <a:cs typeface="Arial"/>
              </a:rPr>
              <a:t>research steps </a:t>
            </a:r>
            <a:r>
              <a:rPr dirty="0" sz="1150" spc="-50">
                <a:latin typeface="Arial"/>
                <a:cs typeface="Arial"/>
              </a:rPr>
              <a:t>are described.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90" b="1">
                <a:latin typeface="Arial"/>
                <a:cs typeface="Arial"/>
              </a:rPr>
              <a:t>Defining </a:t>
            </a:r>
            <a:r>
              <a:rPr dirty="0" sz="1350" spc="-55" b="1">
                <a:latin typeface="Arial"/>
                <a:cs typeface="Arial"/>
              </a:rPr>
              <a:t>the </a:t>
            </a:r>
            <a:r>
              <a:rPr dirty="0" sz="1350" spc="-105" b="1">
                <a:latin typeface="Arial"/>
                <a:cs typeface="Arial"/>
              </a:rPr>
              <a:t>research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85" b="1">
                <a:latin typeface="Arial"/>
                <a:cs typeface="Arial"/>
              </a:rPr>
              <a:t>problem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step </a:t>
            </a:r>
            <a:r>
              <a:rPr dirty="0" sz="1150" spc="-35">
                <a:latin typeface="Arial"/>
                <a:cs typeface="Arial"/>
              </a:rPr>
              <a:t>defining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research </a:t>
            </a:r>
            <a:r>
              <a:rPr dirty="0" sz="1150" spc="-30">
                <a:latin typeface="Arial"/>
                <a:cs typeface="Arial"/>
              </a:rPr>
              <a:t>problem </a:t>
            </a:r>
            <a:r>
              <a:rPr dirty="0" sz="1150" spc="-60">
                <a:latin typeface="Arial"/>
                <a:cs typeface="Arial"/>
              </a:rPr>
              <a:t>exists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2 </a:t>
            </a:r>
            <a:r>
              <a:rPr dirty="0" sz="1150" spc="-40">
                <a:latin typeface="Arial"/>
                <a:cs typeface="Arial"/>
              </a:rPr>
              <a:t>main </a:t>
            </a:r>
            <a:r>
              <a:rPr dirty="0" sz="1150" spc="-55">
                <a:latin typeface="Arial"/>
                <a:cs typeface="Arial"/>
              </a:rPr>
              <a:t>steps: </a:t>
            </a:r>
            <a:r>
              <a:rPr dirty="0" sz="1150" spc="-45">
                <a:latin typeface="Arial"/>
                <a:cs typeface="Arial"/>
              </a:rPr>
              <a:t>(1) </a:t>
            </a:r>
            <a:r>
              <a:rPr dirty="0" sz="1150" spc="-25">
                <a:latin typeface="Arial"/>
                <a:cs typeface="Arial"/>
              </a:rPr>
              <a:t>formulating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problem  </a:t>
            </a:r>
            <a:r>
              <a:rPr dirty="0" sz="1150" spc="-55">
                <a:latin typeface="Arial"/>
                <a:cs typeface="Arial"/>
              </a:rPr>
              <a:t>and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45">
                <a:latin typeface="Arial"/>
                <a:cs typeface="Arial"/>
              </a:rPr>
              <a:t>(2) </a:t>
            </a:r>
            <a:r>
              <a:rPr dirty="0" sz="1150" spc="-60">
                <a:latin typeface="Arial"/>
                <a:cs typeface="Arial"/>
              </a:rPr>
              <a:t>Establishing </a:t>
            </a:r>
            <a:r>
              <a:rPr dirty="0" sz="1150" spc="-55">
                <a:latin typeface="Arial"/>
                <a:cs typeface="Arial"/>
              </a:rPr>
              <a:t>research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objectives.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Defining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problem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single </a:t>
            </a:r>
            <a:r>
              <a:rPr dirty="0" sz="1150" spc="-35">
                <a:latin typeface="Arial"/>
                <a:cs typeface="Arial"/>
              </a:rPr>
              <a:t>most </a:t>
            </a:r>
            <a:r>
              <a:rPr dirty="0" sz="1150" spc="-15">
                <a:latin typeface="Arial"/>
                <a:cs typeface="Arial"/>
              </a:rPr>
              <a:t>important </a:t>
            </a:r>
            <a:r>
              <a:rPr dirty="0" sz="1150" spc="-40">
                <a:latin typeface="Arial"/>
                <a:cs typeface="Arial"/>
              </a:rPr>
              <a:t>step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60">
                <a:latin typeface="Arial"/>
                <a:cs typeface="Arial"/>
              </a:rPr>
              <a:t>research process. </a:t>
            </a:r>
            <a:r>
              <a:rPr dirty="0" sz="1150" spc="-105">
                <a:latin typeface="Arial"/>
                <a:cs typeface="Arial"/>
              </a:rPr>
              <a:t>A  </a:t>
            </a:r>
            <a:r>
              <a:rPr dirty="0" sz="1150" spc="-45">
                <a:latin typeface="Arial"/>
                <a:cs typeface="Arial"/>
              </a:rPr>
              <a:t>clear </a:t>
            </a:r>
            <a:r>
              <a:rPr dirty="0" sz="1150" spc="-30">
                <a:latin typeface="Arial"/>
                <a:cs typeface="Arial"/>
              </a:rPr>
              <a:t>statement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problem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key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good research.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firm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65">
                <a:latin typeface="Arial"/>
                <a:cs typeface="Arial"/>
              </a:rPr>
              <a:t>spend </a:t>
            </a:r>
            <a:r>
              <a:rPr dirty="0" sz="1150" spc="-50">
                <a:latin typeface="Arial"/>
                <a:cs typeface="Arial"/>
              </a:rPr>
              <a:t>hundreds </a:t>
            </a:r>
            <a:r>
              <a:rPr dirty="0" sz="1150" spc="-10">
                <a:latin typeface="Arial"/>
                <a:cs typeface="Arial"/>
              </a:rPr>
              <a:t>or  </a:t>
            </a:r>
            <a:r>
              <a:rPr dirty="0" sz="1150" spc="-55">
                <a:latin typeface="Arial"/>
                <a:cs typeface="Arial"/>
              </a:rPr>
              <a:t>thousands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dollars doing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55">
                <a:latin typeface="Arial"/>
                <a:cs typeface="Arial"/>
              </a:rPr>
              <a:t>research,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30">
                <a:latin typeface="Arial"/>
                <a:cs typeface="Arial"/>
              </a:rPr>
              <a:t>correctly </a:t>
            </a:r>
            <a:r>
              <a:rPr dirty="0" sz="1150" spc="-20">
                <a:latin typeface="Arial"/>
                <a:cs typeface="Arial"/>
              </a:rPr>
              <a:t>identified </a:t>
            </a:r>
            <a:r>
              <a:rPr dirty="0" sz="1150" spc="-15">
                <a:latin typeface="Arial"/>
                <a:cs typeface="Arial"/>
              </a:rPr>
              <a:t>the  </a:t>
            </a:r>
            <a:r>
              <a:rPr dirty="0" sz="1150" spc="-30">
                <a:latin typeface="Arial"/>
                <a:cs typeface="Arial"/>
              </a:rPr>
              <a:t>problem, </a:t>
            </a:r>
            <a:r>
              <a:rPr dirty="0" sz="1150" spc="-40">
                <a:latin typeface="Arial"/>
                <a:cs typeface="Arial"/>
              </a:rPr>
              <a:t>those dollars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wasted.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20">
                <a:latin typeface="Arial"/>
                <a:cs typeface="Arial"/>
              </a:rPr>
              <a:t>our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0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obvious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problem </a:t>
            </a:r>
            <a:r>
              <a:rPr dirty="0" sz="1150" spc="-45">
                <a:latin typeface="Arial"/>
                <a:cs typeface="Arial"/>
              </a:rPr>
              <a:t>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setting 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-45">
                <a:latin typeface="Arial"/>
                <a:cs typeface="Arial"/>
              </a:rPr>
              <a:t>But </a:t>
            </a:r>
            <a:r>
              <a:rPr dirty="0" sz="1150" spc="-60">
                <a:latin typeface="Arial"/>
                <a:cs typeface="Arial"/>
              </a:rPr>
              <a:t>even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clear, you </a:t>
            </a:r>
            <a:r>
              <a:rPr dirty="0" sz="1150" spc="-10">
                <a:latin typeface="Arial"/>
                <a:cs typeface="Arial"/>
              </a:rPr>
              <a:t>still </a:t>
            </a:r>
            <a:r>
              <a:rPr dirty="0" sz="1150" spc="-60">
                <a:latin typeface="Arial"/>
                <a:cs typeface="Arial"/>
              </a:rPr>
              <a:t>need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know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50">
                <a:latin typeface="Arial"/>
                <a:cs typeface="Arial"/>
              </a:rPr>
              <a:t>exactly </a:t>
            </a:r>
            <a:r>
              <a:rPr dirty="0" sz="1150" spc="-45">
                <a:latin typeface="Arial"/>
                <a:cs typeface="Arial"/>
              </a:rPr>
              <a:t>you </a:t>
            </a:r>
            <a:r>
              <a:rPr dirty="0" sz="1150" spc="-55">
                <a:latin typeface="Arial"/>
                <a:cs typeface="Arial"/>
              </a:rPr>
              <a:t>need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know 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make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00">
                <a:latin typeface="Arial"/>
                <a:cs typeface="Arial"/>
              </a:rPr>
              <a:t>success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50">
                <a:latin typeface="Arial"/>
                <a:cs typeface="Arial"/>
              </a:rPr>
              <a:t>specific </a:t>
            </a:r>
            <a:r>
              <a:rPr dirty="0" sz="1150" spc="-30">
                <a:latin typeface="Arial"/>
                <a:cs typeface="Arial"/>
              </a:rPr>
              <a:t>related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difficult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15">
                <a:latin typeface="Arial"/>
                <a:cs typeface="Arial"/>
              </a:rPr>
              <a:t>find </a:t>
            </a:r>
            <a:r>
              <a:rPr dirty="0" sz="1150" spc="-10">
                <a:latin typeface="Arial"/>
                <a:cs typeface="Arial"/>
              </a:rPr>
              <a:t>out. </a:t>
            </a:r>
            <a:r>
              <a:rPr dirty="0" sz="1150" spc="-60">
                <a:latin typeface="Arial"/>
                <a:cs typeface="Arial"/>
              </a:rPr>
              <a:t>Problems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0">
                <a:latin typeface="Arial"/>
                <a:cs typeface="Arial"/>
              </a:rPr>
              <a:t>encountered are: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unknown </a:t>
            </a:r>
            <a:r>
              <a:rPr dirty="0" sz="1150" spc="-20">
                <a:latin typeface="Arial"/>
                <a:cs typeface="Arial"/>
              </a:rPr>
              <a:t>what potential </a:t>
            </a:r>
            <a:r>
              <a:rPr dirty="0" sz="1150" spc="-45">
                <a:latin typeface="Arial"/>
                <a:cs typeface="Arial"/>
              </a:rPr>
              <a:t>markets 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45">
                <a:latin typeface="Arial"/>
                <a:cs typeface="Arial"/>
              </a:rPr>
              <a:t>are,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40">
                <a:latin typeface="Arial"/>
                <a:cs typeface="Arial"/>
              </a:rPr>
              <a:t>customer </a:t>
            </a:r>
            <a:r>
              <a:rPr dirty="0" sz="1150" spc="-55">
                <a:latin typeface="Arial"/>
                <a:cs typeface="Arial"/>
              </a:rPr>
              <a:t>groups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interested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your </a:t>
            </a:r>
            <a:r>
              <a:rPr dirty="0" sz="1150" spc="-35">
                <a:latin typeface="Arial"/>
                <a:cs typeface="Arial"/>
              </a:rPr>
              <a:t>products,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competitors </a:t>
            </a:r>
            <a:r>
              <a:rPr dirty="0" sz="1150" spc="-65">
                <a:latin typeface="Arial"/>
                <a:cs typeface="Arial"/>
              </a:rPr>
              <a:t>are?  </a:t>
            </a: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25">
                <a:latin typeface="Arial"/>
                <a:cs typeface="Arial"/>
              </a:rPr>
              <a:t>formulating </a:t>
            </a:r>
            <a:r>
              <a:rPr dirty="0" sz="1150" spc="-30">
                <a:latin typeface="Arial"/>
                <a:cs typeface="Arial"/>
              </a:rPr>
              <a:t>your problem, </a:t>
            </a:r>
            <a:r>
              <a:rPr dirty="0" sz="1150" spc="-45">
                <a:latin typeface="Arial"/>
                <a:cs typeface="Arial"/>
              </a:rPr>
              <a:t>you </a:t>
            </a:r>
            <a:r>
              <a:rPr dirty="0" sz="1150" spc="-55">
                <a:latin typeface="Arial"/>
                <a:cs typeface="Arial"/>
              </a:rPr>
              <a:t>need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formulate </a:t>
            </a:r>
            <a:r>
              <a:rPr dirty="0" sz="1150" spc="-30">
                <a:latin typeface="Arial"/>
                <a:cs typeface="Arial"/>
              </a:rPr>
              <a:t>your </a:t>
            </a:r>
            <a:r>
              <a:rPr dirty="0" sz="1150" spc="-55">
                <a:latin typeface="Arial"/>
                <a:cs typeface="Arial"/>
              </a:rPr>
              <a:t>research </a:t>
            </a:r>
            <a:r>
              <a:rPr dirty="0" sz="1150" spc="-45">
                <a:latin typeface="Arial"/>
                <a:cs typeface="Arial"/>
              </a:rPr>
              <a:t>questions. </a:t>
            </a:r>
            <a:r>
              <a:rPr dirty="0" sz="1150" spc="-35">
                <a:latin typeface="Arial"/>
                <a:cs typeface="Arial"/>
              </a:rPr>
              <a:t>What  </a:t>
            </a:r>
            <a:r>
              <a:rPr dirty="0" sz="1150" spc="-45">
                <a:latin typeface="Arial"/>
                <a:cs typeface="Arial"/>
              </a:rPr>
              <a:t>questions </a:t>
            </a:r>
            <a:r>
              <a:rPr dirty="0" sz="1150" spc="-55">
                <a:latin typeface="Arial"/>
                <a:cs typeface="Arial"/>
              </a:rPr>
              <a:t>need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answered and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5">
                <a:latin typeface="Arial"/>
                <a:cs typeface="Arial"/>
              </a:rPr>
              <a:t>possible </a:t>
            </a:r>
            <a:r>
              <a:rPr dirty="0" sz="1150" spc="-50">
                <a:latin typeface="Arial"/>
                <a:cs typeface="Arial"/>
              </a:rPr>
              <a:t>sub-questions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 spc="-45">
                <a:latin typeface="Arial"/>
                <a:cs typeface="Arial"/>
              </a:rPr>
              <a:t>you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have.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10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problem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15">
                <a:latin typeface="Arial"/>
                <a:cs typeface="Arial"/>
              </a:rPr>
              <a:t>opportunity </a:t>
            </a:r>
            <a:r>
              <a:rPr dirty="0" sz="1150" spc="-35">
                <a:latin typeface="Arial"/>
                <a:cs typeface="Arial"/>
              </a:rPr>
              <a:t>defined,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next </a:t>
            </a:r>
            <a:r>
              <a:rPr dirty="0" sz="1150" spc="-40">
                <a:latin typeface="Arial"/>
                <a:cs typeface="Arial"/>
              </a:rPr>
              <a:t>step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set objectives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your market  </a:t>
            </a:r>
            <a:r>
              <a:rPr dirty="0" sz="1150" spc="-55">
                <a:latin typeface="Arial"/>
                <a:cs typeface="Arial"/>
              </a:rPr>
              <a:t>research </a:t>
            </a:r>
            <a:r>
              <a:rPr dirty="0" sz="1150" spc="-35">
                <a:latin typeface="Arial"/>
                <a:cs typeface="Arial"/>
              </a:rPr>
              <a:t>operations. </a:t>
            </a:r>
            <a:r>
              <a:rPr dirty="0" sz="1150" spc="-85">
                <a:latin typeface="Arial"/>
                <a:cs typeface="Arial"/>
              </a:rPr>
              <a:t>Research </a:t>
            </a:r>
            <a:r>
              <a:rPr dirty="0" sz="1150" spc="-40">
                <a:latin typeface="Arial"/>
                <a:cs typeface="Arial"/>
              </a:rPr>
              <a:t>objectives, </a:t>
            </a:r>
            <a:r>
              <a:rPr dirty="0" sz="1150" spc="-30">
                <a:latin typeface="Arial"/>
                <a:cs typeface="Arial"/>
              </a:rPr>
              <a:t>related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determined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1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problem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131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74" y="892559"/>
            <a:ext cx="5514340" cy="781367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6350">
              <a:lnSpc>
                <a:spcPct val="101699"/>
              </a:lnSpc>
              <a:spcBef>
                <a:spcPts val="75"/>
              </a:spcBef>
            </a:pPr>
            <a:r>
              <a:rPr dirty="0" sz="1150" spc="-20">
                <a:latin typeface="Arial"/>
                <a:cs typeface="Arial"/>
              </a:rPr>
              <a:t>formulation,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set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60">
                <a:latin typeface="Arial"/>
                <a:cs typeface="Arial"/>
              </a:rPr>
              <a:t>achieved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35">
                <a:latin typeface="Arial"/>
                <a:cs typeface="Arial"/>
              </a:rPr>
              <a:t>provide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necessary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solve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problem.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good </a:t>
            </a:r>
            <a:r>
              <a:rPr dirty="0" sz="1150" spc="-50">
                <a:latin typeface="Arial"/>
                <a:cs typeface="Arial"/>
              </a:rPr>
              <a:t>way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setting </a:t>
            </a:r>
            <a:r>
              <a:rPr dirty="0" sz="1150" spc="-60">
                <a:latin typeface="Arial"/>
                <a:cs typeface="Arial"/>
              </a:rPr>
              <a:t>research </a:t>
            </a:r>
            <a:r>
              <a:rPr dirty="0" sz="1150" spc="-45">
                <a:latin typeface="Arial"/>
                <a:cs typeface="Arial"/>
              </a:rPr>
              <a:t>objectives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ask,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0">
                <a:latin typeface="Arial"/>
                <a:cs typeface="Arial"/>
              </a:rPr>
              <a:t>“What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needed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solve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problem?" </a:t>
            </a:r>
            <a:r>
              <a:rPr dirty="0" sz="1150" spc="-65">
                <a:latin typeface="Arial"/>
                <a:cs typeface="Arial"/>
              </a:rPr>
              <a:t>Your </a:t>
            </a:r>
            <a:r>
              <a:rPr dirty="0" sz="1150" spc="-35">
                <a:latin typeface="Arial"/>
                <a:cs typeface="Arial"/>
              </a:rPr>
              <a:t>objective </a:t>
            </a:r>
            <a:r>
              <a:rPr dirty="0" sz="1150" spc="-25">
                <a:latin typeface="Arial"/>
                <a:cs typeface="Arial"/>
              </a:rPr>
              <a:t>might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>
                <a:latin typeface="Arial"/>
                <a:cs typeface="Arial"/>
              </a:rPr>
              <a:t>to  </a:t>
            </a:r>
            <a:r>
              <a:rPr dirty="0" sz="1150" spc="-40">
                <a:latin typeface="Arial"/>
                <a:cs typeface="Arial"/>
              </a:rPr>
              <a:t>explore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nature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problem </a:t>
            </a:r>
            <a:r>
              <a:rPr dirty="0" sz="1150" spc="-85">
                <a:latin typeface="Arial"/>
                <a:cs typeface="Arial"/>
              </a:rPr>
              <a:t>so </a:t>
            </a:r>
            <a:r>
              <a:rPr dirty="0" sz="1150" spc="-45">
                <a:latin typeface="Arial"/>
                <a:cs typeface="Arial"/>
              </a:rPr>
              <a:t>you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">
                <a:latin typeface="Arial"/>
                <a:cs typeface="Arial"/>
              </a:rPr>
              <a:t>further </a:t>
            </a:r>
            <a:r>
              <a:rPr dirty="0" sz="1150" spc="-35">
                <a:latin typeface="Arial"/>
                <a:cs typeface="Arial"/>
              </a:rPr>
              <a:t>define </a:t>
            </a:r>
            <a:r>
              <a:rPr dirty="0" sz="1150" spc="10">
                <a:latin typeface="Arial"/>
                <a:cs typeface="Arial"/>
              </a:rPr>
              <a:t>it,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0">
                <a:latin typeface="Arial"/>
                <a:cs typeface="Arial"/>
              </a:rPr>
              <a:t>perhaps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determine  how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0">
                <a:latin typeface="Arial"/>
                <a:cs typeface="Arial"/>
              </a:rPr>
              <a:t>buy </a:t>
            </a:r>
            <a:r>
              <a:rPr dirty="0" sz="1150" spc="-30">
                <a:latin typeface="Arial"/>
                <a:cs typeface="Arial"/>
              </a:rPr>
              <a:t>your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70">
                <a:latin typeface="Arial"/>
                <a:cs typeface="Arial"/>
              </a:rPr>
              <a:t>packaged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certain </a:t>
            </a:r>
            <a:r>
              <a:rPr dirty="0" sz="1150" spc="-50">
                <a:latin typeface="Arial"/>
                <a:cs typeface="Arial"/>
              </a:rPr>
              <a:t>way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offered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certain  </a:t>
            </a:r>
            <a:r>
              <a:rPr dirty="0" sz="1150" spc="-35">
                <a:latin typeface="Arial"/>
                <a:cs typeface="Arial"/>
              </a:rPr>
              <a:t>price. </a:t>
            </a:r>
            <a:r>
              <a:rPr dirty="0" sz="1150" spc="-65">
                <a:latin typeface="Arial"/>
                <a:cs typeface="Arial"/>
              </a:rPr>
              <a:t>Your </a:t>
            </a:r>
            <a:r>
              <a:rPr dirty="0" sz="1150" spc="-30">
                <a:latin typeface="Arial"/>
                <a:cs typeface="Arial"/>
              </a:rPr>
              <a:t>objective </a:t>
            </a:r>
            <a:r>
              <a:rPr dirty="0" sz="1150" spc="-25">
                <a:latin typeface="Arial"/>
                <a:cs typeface="Arial"/>
              </a:rPr>
              <a:t>might </a:t>
            </a:r>
            <a:r>
              <a:rPr dirty="0" sz="1150" spc="-60">
                <a:latin typeface="Arial"/>
                <a:cs typeface="Arial"/>
              </a:rPr>
              <a:t>even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test </a:t>
            </a:r>
            <a:r>
              <a:rPr dirty="0" sz="1150" spc="-55">
                <a:latin typeface="Arial"/>
                <a:cs typeface="Arial"/>
              </a:rPr>
              <a:t>possible </a:t>
            </a:r>
            <a:r>
              <a:rPr dirty="0" sz="1150" spc="-85">
                <a:latin typeface="Arial"/>
                <a:cs typeface="Arial"/>
              </a:rPr>
              <a:t>cause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effect </a:t>
            </a:r>
            <a:r>
              <a:rPr dirty="0" sz="1150" spc="-40">
                <a:latin typeface="Arial"/>
                <a:cs typeface="Arial"/>
              </a:rPr>
              <a:t>relationships. </a:t>
            </a:r>
            <a:r>
              <a:rPr dirty="0" sz="1150" spc="-65">
                <a:latin typeface="Arial"/>
                <a:cs typeface="Arial"/>
              </a:rPr>
              <a:t>For  </a:t>
            </a:r>
            <a:r>
              <a:rPr dirty="0" sz="1150" spc="-50">
                <a:latin typeface="Arial"/>
                <a:cs typeface="Arial"/>
              </a:rPr>
              <a:t>example,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 spc="-45">
                <a:latin typeface="Arial"/>
                <a:cs typeface="Arial"/>
              </a:rPr>
              <a:t>you </a:t>
            </a:r>
            <a:r>
              <a:rPr dirty="0" sz="1150" spc="-20">
                <a:latin typeface="Arial"/>
                <a:cs typeface="Arial"/>
              </a:rPr>
              <a:t>lower </a:t>
            </a:r>
            <a:r>
              <a:rPr dirty="0" sz="1150" spc="-35">
                <a:latin typeface="Arial"/>
                <a:cs typeface="Arial"/>
              </a:rPr>
              <a:t>your price, </a:t>
            </a:r>
            <a:r>
              <a:rPr dirty="0" sz="1150" spc="-30">
                <a:latin typeface="Arial"/>
                <a:cs typeface="Arial"/>
              </a:rPr>
              <a:t>how </a:t>
            </a:r>
            <a:r>
              <a:rPr dirty="0" sz="1150" spc="-55">
                <a:latin typeface="Arial"/>
                <a:cs typeface="Arial"/>
              </a:rPr>
              <a:t>much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25">
                <a:latin typeface="Arial"/>
                <a:cs typeface="Arial"/>
              </a:rPr>
              <a:t>it </a:t>
            </a:r>
            <a:r>
              <a:rPr dirty="0" sz="1150" spc="-60">
                <a:latin typeface="Arial"/>
                <a:cs typeface="Arial"/>
              </a:rPr>
              <a:t>increase </a:t>
            </a:r>
            <a:r>
              <a:rPr dirty="0" sz="1150" spc="-30">
                <a:latin typeface="Arial"/>
                <a:cs typeface="Arial"/>
              </a:rPr>
              <a:t>your </a:t>
            </a:r>
            <a:r>
              <a:rPr dirty="0" sz="1150" spc="-85">
                <a:latin typeface="Arial"/>
                <a:cs typeface="Arial"/>
              </a:rPr>
              <a:t>sales </a:t>
            </a:r>
            <a:r>
              <a:rPr dirty="0" sz="1150" spc="-50">
                <a:latin typeface="Arial"/>
                <a:cs typeface="Arial"/>
              </a:rPr>
              <a:t>volume?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what  </a:t>
            </a:r>
            <a:r>
              <a:rPr dirty="0" sz="1150" spc="-30">
                <a:latin typeface="Arial"/>
                <a:cs typeface="Arial"/>
              </a:rPr>
              <a:t>impact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30">
                <a:latin typeface="Arial"/>
                <a:cs typeface="Arial"/>
              </a:rPr>
              <a:t>your </a:t>
            </a:r>
            <a:r>
              <a:rPr dirty="0" sz="1150" spc="-15">
                <a:latin typeface="Arial"/>
                <a:cs typeface="Arial"/>
              </a:rPr>
              <a:t>profit?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75">
                <a:latin typeface="Arial"/>
                <a:cs typeface="Arial"/>
              </a:rPr>
              <a:t>Clear </a:t>
            </a:r>
            <a:r>
              <a:rPr dirty="0" sz="1150" spc="-45">
                <a:latin typeface="Arial"/>
                <a:cs typeface="Arial"/>
              </a:rPr>
              <a:t>objectives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0">
                <a:latin typeface="Arial"/>
                <a:cs typeface="Arial"/>
              </a:rPr>
              <a:t>lead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clear </a:t>
            </a:r>
            <a:r>
              <a:rPr dirty="0" sz="1150" spc="-40">
                <a:latin typeface="Arial"/>
                <a:cs typeface="Arial"/>
              </a:rPr>
              <a:t>results. </a:t>
            </a:r>
            <a:r>
              <a:rPr dirty="0" sz="1150" spc="-75">
                <a:latin typeface="Arial"/>
                <a:cs typeface="Arial"/>
              </a:rPr>
              <a:t>An </a:t>
            </a:r>
            <a:r>
              <a:rPr dirty="0" sz="1150" spc="-55">
                <a:latin typeface="Arial"/>
                <a:cs typeface="Arial"/>
              </a:rPr>
              <a:t>example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situation </a:t>
            </a:r>
            <a:r>
              <a:rPr dirty="0" sz="1150" spc="-15">
                <a:latin typeface="Arial"/>
                <a:cs typeface="Arial"/>
              </a:rPr>
              <a:t>at  </a:t>
            </a:r>
            <a:r>
              <a:rPr dirty="0" sz="1150" spc="-45">
                <a:latin typeface="Arial"/>
                <a:cs typeface="Arial"/>
              </a:rPr>
              <a:t>Camaro/Firebird. </a:t>
            </a:r>
            <a:r>
              <a:rPr dirty="0" sz="1150" spc="-30">
                <a:latin typeface="Arial"/>
                <a:cs typeface="Arial"/>
              </a:rPr>
              <a:t>Auto </a:t>
            </a:r>
            <a:r>
              <a:rPr dirty="0" sz="1150" spc="-40">
                <a:latin typeface="Arial"/>
                <a:cs typeface="Arial"/>
              </a:rPr>
              <a:t>manufacturers </a:t>
            </a:r>
            <a:r>
              <a:rPr dirty="0" sz="1150" spc="-50">
                <a:latin typeface="Arial"/>
                <a:cs typeface="Arial"/>
              </a:rPr>
              <a:t>are sometimes </a:t>
            </a:r>
            <a:r>
              <a:rPr dirty="0" sz="1150" spc="-35">
                <a:latin typeface="Arial"/>
                <a:cs typeface="Arial"/>
              </a:rPr>
              <a:t>criticized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0">
                <a:latin typeface="Arial"/>
                <a:cs typeface="Arial"/>
              </a:rPr>
              <a:t>creating </a:t>
            </a:r>
            <a:r>
              <a:rPr dirty="0" sz="1150" spc="-60">
                <a:latin typeface="Arial"/>
                <a:cs typeface="Arial"/>
              </a:rPr>
              <a:t>expensive  </a:t>
            </a:r>
            <a:r>
              <a:rPr dirty="0" sz="1150" spc="-55">
                <a:latin typeface="Arial"/>
                <a:cs typeface="Arial"/>
              </a:rPr>
              <a:t>vehicles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35">
                <a:latin typeface="Arial"/>
                <a:cs typeface="Arial"/>
              </a:rPr>
              <a:t>unwanted </a:t>
            </a:r>
            <a:r>
              <a:rPr dirty="0" sz="1150" spc="-40">
                <a:latin typeface="Arial"/>
                <a:cs typeface="Arial"/>
              </a:rPr>
              <a:t>features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technologies </a:t>
            </a:r>
            <a:r>
              <a:rPr dirty="0" sz="1150">
                <a:latin typeface="Arial"/>
                <a:cs typeface="Arial"/>
              </a:rPr>
              <a:t>that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30">
                <a:latin typeface="Arial"/>
                <a:cs typeface="Arial"/>
              </a:rPr>
              <a:t>meet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needs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target  </a:t>
            </a:r>
            <a:r>
              <a:rPr dirty="0" sz="1150" spc="-30">
                <a:latin typeface="Arial"/>
                <a:cs typeface="Arial"/>
              </a:rPr>
              <a:t>market. </a:t>
            </a: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avoid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15">
                <a:latin typeface="Arial"/>
                <a:cs typeface="Arial"/>
              </a:rPr>
              <a:t>trap </a:t>
            </a:r>
            <a:r>
              <a:rPr dirty="0" sz="1150" spc="-50">
                <a:latin typeface="Arial"/>
                <a:cs typeface="Arial"/>
              </a:rPr>
              <a:t>engineering </a:t>
            </a:r>
            <a:r>
              <a:rPr dirty="0" sz="1150" spc="-35">
                <a:latin typeface="Arial"/>
                <a:cs typeface="Arial"/>
              </a:rPr>
              <a:t>team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this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20">
                <a:latin typeface="Arial"/>
                <a:cs typeface="Arial"/>
              </a:rPr>
              <a:t>turned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market </a:t>
            </a:r>
            <a:r>
              <a:rPr dirty="0" sz="1150" spc="-55">
                <a:latin typeface="Arial"/>
                <a:cs typeface="Arial"/>
              </a:rPr>
              <a:t>research </a:t>
            </a:r>
            <a:r>
              <a:rPr dirty="0" sz="1150" spc="5">
                <a:latin typeface="Arial"/>
                <a:cs typeface="Arial"/>
              </a:rPr>
              <a:t>to  </a:t>
            </a:r>
            <a:r>
              <a:rPr dirty="0" sz="1150" spc="-45">
                <a:latin typeface="Arial"/>
                <a:cs typeface="Arial"/>
              </a:rPr>
              <a:t>evaluate </a:t>
            </a:r>
            <a:r>
              <a:rPr dirty="0" sz="1150" spc="-30">
                <a:latin typeface="Arial"/>
                <a:cs typeface="Arial"/>
              </a:rPr>
              <a:t>how </a:t>
            </a:r>
            <a:r>
              <a:rPr dirty="0" sz="1150" spc="-80">
                <a:latin typeface="Arial"/>
                <a:cs typeface="Arial"/>
              </a:rPr>
              <a:t>changes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0">
                <a:latin typeface="Arial"/>
                <a:cs typeface="Arial"/>
              </a:rPr>
              <a:t>performance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fuel </a:t>
            </a:r>
            <a:r>
              <a:rPr dirty="0" sz="1150" spc="-50">
                <a:latin typeface="Arial"/>
                <a:cs typeface="Arial"/>
              </a:rPr>
              <a:t>economy </a:t>
            </a:r>
            <a:r>
              <a:rPr dirty="0" sz="1150" spc="-25">
                <a:latin typeface="Arial"/>
                <a:cs typeface="Arial"/>
              </a:rPr>
              <a:t>would affect </a:t>
            </a:r>
            <a:r>
              <a:rPr dirty="0" sz="1150" spc="-85">
                <a:latin typeface="Arial"/>
                <a:cs typeface="Arial"/>
              </a:rPr>
              <a:t>sales </a:t>
            </a:r>
            <a:r>
              <a:rPr dirty="0" sz="1150" spc="-45">
                <a:latin typeface="Arial"/>
                <a:cs typeface="Arial"/>
              </a:rPr>
              <a:t>volume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40">
                <a:latin typeface="Arial"/>
                <a:cs typeface="Arial"/>
              </a:rPr>
              <a:t>customer </a:t>
            </a:r>
            <a:r>
              <a:rPr dirty="0" sz="1150" spc="-35">
                <a:latin typeface="Arial"/>
                <a:cs typeface="Arial"/>
              </a:rPr>
              <a:t>satisfaction.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20">
                <a:latin typeface="Arial"/>
                <a:cs typeface="Arial"/>
              </a:rPr>
              <a:t>turned </a:t>
            </a:r>
            <a:r>
              <a:rPr dirty="0" sz="1150" spc="-5">
                <a:latin typeface="Arial"/>
                <a:cs typeface="Arial"/>
              </a:rPr>
              <a:t>out that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-35">
                <a:latin typeface="Arial"/>
                <a:cs typeface="Arial"/>
              </a:rPr>
              <a:t>were </a:t>
            </a:r>
            <a:r>
              <a:rPr dirty="0" sz="1150" spc="-20">
                <a:latin typeface="Arial"/>
                <a:cs typeface="Arial"/>
              </a:rPr>
              <a:t>willing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pay </a:t>
            </a:r>
            <a:r>
              <a:rPr dirty="0" sz="1150" spc="-35">
                <a:latin typeface="Arial"/>
                <a:cs typeface="Arial"/>
              </a:rPr>
              <a:t>more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5">
                <a:latin typeface="Arial"/>
                <a:cs typeface="Arial"/>
              </a:rPr>
              <a:t>greater  </a:t>
            </a:r>
            <a:r>
              <a:rPr dirty="0" sz="1150" spc="-40">
                <a:latin typeface="Arial"/>
                <a:cs typeface="Arial"/>
              </a:rPr>
              <a:t>performance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car </a:t>
            </a:r>
            <a:r>
              <a:rPr dirty="0" sz="1150" spc="-70">
                <a:latin typeface="Arial"/>
                <a:cs typeface="Arial"/>
              </a:rPr>
              <a:t>also </a:t>
            </a:r>
            <a:r>
              <a:rPr dirty="0" sz="1150" spc="-20">
                <a:latin typeface="Arial"/>
                <a:cs typeface="Arial"/>
              </a:rPr>
              <a:t>offered </a:t>
            </a:r>
            <a:r>
              <a:rPr dirty="0" sz="1150" spc="-45">
                <a:latin typeface="Arial"/>
                <a:cs typeface="Arial"/>
              </a:rPr>
              <a:t>simultaneous </a:t>
            </a:r>
            <a:r>
              <a:rPr dirty="0" sz="1150" spc="-70">
                <a:latin typeface="Arial"/>
                <a:cs typeface="Arial"/>
              </a:rPr>
              <a:t>increases </a:t>
            </a:r>
            <a:r>
              <a:rPr dirty="0" sz="1150" spc="-20">
                <a:latin typeface="Arial"/>
                <a:cs typeface="Arial"/>
              </a:rPr>
              <a:t>in fuel </a:t>
            </a:r>
            <a:r>
              <a:rPr dirty="0" sz="1150" spc="-50">
                <a:latin typeface="Arial"/>
                <a:cs typeface="Arial"/>
              </a:rPr>
              <a:t>economy.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[Burns </a:t>
            </a:r>
            <a:r>
              <a:rPr dirty="0" sz="1150" spc="-35">
                <a:latin typeface="Arial"/>
                <a:cs typeface="Arial"/>
              </a:rPr>
              <a:t>2001]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problem </a:t>
            </a:r>
            <a:r>
              <a:rPr dirty="0" sz="1150" spc="-35">
                <a:latin typeface="Arial"/>
                <a:cs typeface="Arial"/>
              </a:rPr>
              <a:t>description,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research </a:t>
            </a:r>
            <a:r>
              <a:rPr dirty="0" sz="1150" spc="-35">
                <a:latin typeface="Arial"/>
                <a:cs typeface="Arial"/>
              </a:rPr>
              <a:t>question, </a:t>
            </a:r>
            <a:r>
              <a:rPr dirty="0" sz="1150" spc="-75">
                <a:latin typeface="Arial"/>
                <a:cs typeface="Arial"/>
              </a:rPr>
              <a:t>sub </a:t>
            </a:r>
            <a:r>
              <a:rPr dirty="0" sz="1150" spc="-45">
                <a:latin typeface="Arial"/>
                <a:cs typeface="Arial"/>
              </a:rPr>
              <a:t>questions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research </a:t>
            </a:r>
            <a:r>
              <a:rPr dirty="0" sz="1150" spc="-40">
                <a:latin typeface="Arial"/>
                <a:cs typeface="Arial"/>
              </a:rPr>
              <a:t>objectives 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15">
                <a:latin typeface="Arial"/>
                <a:cs typeface="Arial"/>
              </a:rPr>
              <a:t>part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35">
                <a:latin typeface="Arial"/>
                <a:cs typeface="Arial"/>
              </a:rPr>
              <a:t>overall </a:t>
            </a:r>
            <a:r>
              <a:rPr dirty="0" sz="1150" spc="-40">
                <a:latin typeface="Arial"/>
                <a:cs typeface="Arial"/>
              </a:rPr>
              <a:t>document </a:t>
            </a:r>
            <a:r>
              <a:rPr dirty="0" sz="1150" spc="-30">
                <a:latin typeface="Arial"/>
                <a:cs typeface="Arial"/>
              </a:rPr>
              <a:t>problem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description.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50">
                <a:latin typeface="Arial"/>
                <a:cs typeface="Arial"/>
              </a:rPr>
              <a:t>describing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formulating the </a:t>
            </a:r>
            <a:r>
              <a:rPr dirty="0" sz="1150" spc="-30">
                <a:latin typeface="Arial"/>
                <a:cs typeface="Arial"/>
              </a:rPr>
              <a:t>problem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objectives,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next </a:t>
            </a:r>
            <a:r>
              <a:rPr dirty="0" sz="1150" spc="-45">
                <a:latin typeface="Arial"/>
                <a:cs typeface="Arial"/>
              </a:rPr>
              <a:t>step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prepare 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detailed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realistic </a:t>
            </a:r>
            <a:r>
              <a:rPr dirty="0" sz="1150" spc="-15">
                <a:latin typeface="Arial"/>
                <a:cs typeface="Arial"/>
              </a:rPr>
              <a:t>time </a:t>
            </a:r>
            <a:r>
              <a:rPr dirty="0" sz="1150" spc="-35">
                <a:latin typeface="Arial"/>
                <a:cs typeface="Arial"/>
              </a:rPr>
              <a:t>frame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complete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60">
                <a:latin typeface="Arial"/>
                <a:cs typeface="Arial"/>
              </a:rPr>
              <a:t>steps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60">
                <a:latin typeface="Arial"/>
                <a:cs typeface="Arial"/>
              </a:rPr>
              <a:t>research </a:t>
            </a:r>
            <a:r>
              <a:rPr dirty="0" sz="1150" spc="-65">
                <a:latin typeface="Arial"/>
                <a:cs typeface="Arial"/>
              </a:rPr>
              <a:t>process. </a:t>
            </a:r>
            <a:r>
              <a:rPr dirty="0" sz="1150" spc="-5">
                <a:latin typeface="Arial"/>
                <a:cs typeface="Arial"/>
              </a:rPr>
              <a:t>If  </a:t>
            </a:r>
            <a:r>
              <a:rPr dirty="0" sz="1150" spc="-30">
                <a:latin typeface="Arial"/>
                <a:cs typeface="Arial"/>
              </a:rPr>
              <a:t>your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5">
                <a:latin typeface="Arial"/>
                <a:cs typeface="Arial"/>
              </a:rPr>
              <a:t>operates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5">
                <a:latin typeface="Arial"/>
                <a:cs typeface="Arial"/>
              </a:rPr>
              <a:t>cycles, </a:t>
            </a:r>
            <a:r>
              <a:rPr dirty="0" sz="1150" spc="-50">
                <a:latin typeface="Arial"/>
                <a:cs typeface="Arial"/>
              </a:rPr>
              <a:t>establish </a:t>
            </a:r>
            <a:r>
              <a:rPr dirty="0" sz="1150" spc="-25">
                <a:latin typeface="Arial"/>
                <a:cs typeface="Arial"/>
              </a:rPr>
              <a:t>target </a:t>
            </a:r>
            <a:r>
              <a:rPr dirty="0" sz="1150" spc="-55">
                <a:latin typeface="Arial"/>
                <a:cs typeface="Arial"/>
              </a:rPr>
              <a:t>dates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25">
                <a:latin typeface="Arial"/>
                <a:cs typeface="Arial"/>
              </a:rPr>
              <a:t>allow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best </a:t>
            </a:r>
            <a:r>
              <a:rPr dirty="0" sz="1150" spc="-50">
                <a:latin typeface="Arial"/>
                <a:cs typeface="Arial"/>
              </a:rPr>
              <a:t>accessibility 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your market. </a:t>
            </a: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holiday greeting </a:t>
            </a:r>
            <a:r>
              <a:rPr dirty="0" sz="1150" spc="-50">
                <a:latin typeface="Arial"/>
                <a:cs typeface="Arial"/>
              </a:rPr>
              <a:t>card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25">
                <a:latin typeface="Arial"/>
                <a:cs typeface="Arial"/>
              </a:rPr>
              <a:t>want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conduct  </a:t>
            </a:r>
            <a:r>
              <a:rPr dirty="0" sz="1150" spc="-55">
                <a:latin typeface="Arial"/>
                <a:cs typeface="Arial"/>
              </a:rPr>
              <a:t>research </a:t>
            </a:r>
            <a:r>
              <a:rPr dirty="0" sz="1150" spc="-30">
                <a:latin typeface="Arial"/>
                <a:cs typeface="Arial"/>
              </a:rPr>
              <a:t>before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0">
                <a:latin typeface="Arial"/>
                <a:cs typeface="Arial"/>
              </a:rPr>
              <a:t>around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holiday </a:t>
            </a:r>
            <a:r>
              <a:rPr dirty="0" sz="1150" spc="-80">
                <a:latin typeface="Arial"/>
                <a:cs typeface="Arial"/>
              </a:rPr>
              <a:t>season </a:t>
            </a:r>
            <a:r>
              <a:rPr dirty="0" sz="1150" spc="-50">
                <a:latin typeface="Arial"/>
                <a:cs typeface="Arial"/>
              </a:rPr>
              <a:t>buying </a:t>
            </a:r>
            <a:r>
              <a:rPr dirty="0" sz="1150" spc="-30">
                <a:latin typeface="Arial"/>
                <a:cs typeface="Arial"/>
              </a:rPr>
              <a:t>period,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50">
                <a:latin typeface="Arial"/>
                <a:cs typeface="Arial"/>
              </a:rPr>
              <a:t>customers are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most  </a:t>
            </a:r>
            <a:r>
              <a:rPr dirty="0" sz="1150" spc="-30">
                <a:latin typeface="Arial"/>
                <a:cs typeface="Arial"/>
              </a:rPr>
              <a:t>likely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thinking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about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purchases. </a:t>
            </a:r>
            <a:r>
              <a:rPr dirty="0" sz="1150" spc="-10">
                <a:latin typeface="Arial"/>
                <a:cs typeface="Arial"/>
              </a:rPr>
              <a:t>[Market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research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2006]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10" b="1">
                <a:latin typeface="Arial"/>
                <a:cs typeface="Arial"/>
              </a:rPr>
              <a:t>Selecting </a:t>
            </a:r>
            <a:r>
              <a:rPr dirty="0" sz="1350" spc="-100" b="1">
                <a:latin typeface="Arial"/>
                <a:cs typeface="Arial"/>
              </a:rPr>
              <a:t>and establishing </a:t>
            </a:r>
            <a:r>
              <a:rPr dirty="0" sz="1350" spc="-110" b="1">
                <a:latin typeface="Arial"/>
                <a:cs typeface="Arial"/>
              </a:rPr>
              <a:t>research</a:t>
            </a:r>
            <a:r>
              <a:rPr dirty="0" sz="1350" spc="10" b="1">
                <a:latin typeface="Arial"/>
                <a:cs typeface="Arial"/>
              </a:rPr>
              <a:t> </a:t>
            </a:r>
            <a:r>
              <a:rPr dirty="0" sz="1350" spc="-125" b="1">
                <a:latin typeface="Arial"/>
                <a:cs typeface="Arial"/>
              </a:rPr>
              <a:t>design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step </a:t>
            </a:r>
            <a:r>
              <a:rPr dirty="0" sz="1150" spc="-50">
                <a:latin typeface="Arial"/>
                <a:cs typeface="Arial"/>
              </a:rPr>
              <a:t>selecting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establishing </a:t>
            </a:r>
            <a:r>
              <a:rPr dirty="0" sz="1150" spc="-55">
                <a:latin typeface="Arial"/>
                <a:cs typeface="Arial"/>
              </a:rPr>
              <a:t>research </a:t>
            </a:r>
            <a:r>
              <a:rPr dirty="0" sz="1150" spc="-65">
                <a:latin typeface="Arial"/>
                <a:cs typeface="Arial"/>
              </a:rPr>
              <a:t>design </a:t>
            </a:r>
            <a:r>
              <a:rPr dirty="0" sz="1150" spc="-60">
                <a:latin typeface="Arial"/>
                <a:cs typeface="Arial"/>
              </a:rPr>
              <a:t>consists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3 </a:t>
            </a:r>
            <a:r>
              <a:rPr dirty="0" sz="1150" spc="-40">
                <a:latin typeface="Arial"/>
                <a:cs typeface="Arial"/>
              </a:rPr>
              <a:t>main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steps: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(1) </a:t>
            </a:r>
            <a:r>
              <a:rPr dirty="0" sz="1150" spc="-70">
                <a:latin typeface="Arial"/>
                <a:cs typeface="Arial"/>
              </a:rPr>
              <a:t>Select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research design, </a:t>
            </a:r>
            <a:r>
              <a:rPr dirty="0" sz="1150" spc="-45">
                <a:latin typeface="Arial"/>
                <a:cs typeface="Arial"/>
              </a:rPr>
              <a:t>(2) </a:t>
            </a:r>
            <a:r>
              <a:rPr dirty="0" sz="1150" spc="-15">
                <a:latin typeface="Arial"/>
                <a:cs typeface="Arial"/>
              </a:rPr>
              <a:t>identify information </a:t>
            </a:r>
            <a:r>
              <a:rPr dirty="0" sz="1150" spc="-50">
                <a:latin typeface="Arial"/>
                <a:cs typeface="Arial"/>
              </a:rPr>
              <a:t>types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sources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(3) </a:t>
            </a:r>
            <a:r>
              <a:rPr dirty="0" sz="1150" spc="-30">
                <a:latin typeface="Arial"/>
                <a:cs typeface="Arial"/>
              </a:rPr>
              <a:t>determine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design </a:t>
            </a:r>
            <a:r>
              <a:rPr dirty="0" sz="1150" spc="-55">
                <a:latin typeface="Arial"/>
                <a:cs typeface="Arial"/>
              </a:rPr>
              <a:t>research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instrument.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350" spc="-105" b="1">
                <a:latin typeface="Arial"/>
                <a:cs typeface="Arial"/>
              </a:rPr>
              <a:t>Collecting </a:t>
            </a:r>
            <a:r>
              <a:rPr dirty="0" sz="1350" spc="-100" b="1">
                <a:latin typeface="Arial"/>
                <a:cs typeface="Arial"/>
              </a:rPr>
              <a:t>and </a:t>
            </a:r>
            <a:r>
              <a:rPr dirty="0" sz="1350" spc="-105" b="1">
                <a:latin typeface="Arial"/>
                <a:cs typeface="Arial"/>
              </a:rPr>
              <a:t>analyzing</a:t>
            </a:r>
            <a:r>
              <a:rPr dirty="0" sz="1350" spc="-15" b="1">
                <a:latin typeface="Arial"/>
                <a:cs typeface="Arial"/>
              </a:rPr>
              <a:t> </a:t>
            </a:r>
            <a:r>
              <a:rPr dirty="0" sz="1350" spc="-65" b="1">
                <a:latin typeface="Arial"/>
                <a:cs typeface="Arial"/>
              </a:rPr>
              <a:t>data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60">
                <a:latin typeface="Arial"/>
                <a:cs typeface="Arial"/>
              </a:rPr>
              <a:t>Data </a:t>
            </a:r>
            <a:r>
              <a:rPr dirty="0" sz="1150" spc="-30">
                <a:latin typeface="Arial"/>
                <a:cs typeface="Arial"/>
              </a:rPr>
              <a:t>collection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usually </a:t>
            </a:r>
            <a:r>
              <a:rPr dirty="0" sz="1150" spc="-45">
                <a:latin typeface="Arial"/>
                <a:cs typeface="Arial"/>
              </a:rPr>
              <a:t>done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5">
                <a:latin typeface="Arial"/>
                <a:cs typeface="Arial"/>
              </a:rPr>
              <a:t>trained </a:t>
            </a:r>
            <a:r>
              <a:rPr dirty="0" sz="1150" spc="-30">
                <a:latin typeface="Arial"/>
                <a:cs typeface="Arial"/>
              </a:rPr>
              <a:t>interviewers </a:t>
            </a:r>
            <a:r>
              <a:rPr dirty="0" sz="1150" spc="-35">
                <a:latin typeface="Arial"/>
                <a:cs typeface="Arial"/>
              </a:rPr>
              <a:t>who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employed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15">
                <a:latin typeface="Arial"/>
                <a:cs typeface="Arial"/>
              </a:rPr>
              <a:t>field </a:t>
            </a:r>
            <a:r>
              <a:rPr dirty="0" sz="1150" spc="-40">
                <a:latin typeface="Arial"/>
                <a:cs typeface="Arial"/>
              </a:rPr>
              <a:t>data  </a:t>
            </a:r>
            <a:r>
              <a:rPr dirty="0" sz="1150" spc="-30">
                <a:latin typeface="Arial"/>
                <a:cs typeface="Arial"/>
              </a:rPr>
              <a:t>collection </a:t>
            </a:r>
            <a:r>
              <a:rPr dirty="0" sz="1150" spc="-60">
                <a:latin typeface="Arial"/>
                <a:cs typeface="Arial"/>
              </a:rPr>
              <a:t>companies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collect primary </a:t>
            </a:r>
            <a:r>
              <a:rPr dirty="0" sz="1150" spc="-40">
                <a:latin typeface="Arial"/>
                <a:cs typeface="Arial"/>
              </a:rPr>
              <a:t>data.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choice </a:t>
            </a:r>
            <a:r>
              <a:rPr dirty="0" sz="1150" spc="-90">
                <a:latin typeface="Arial"/>
                <a:cs typeface="Arial"/>
              </a:rPr>
              <a:t>has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60">
                <a:latin typeface="Arial"/>
                <a:cs typeface="Arial"/>
              </a:rPr>
              <a:t>made </a:t>
            </a:r>
            <a:r>
              <a:rPr dirty="0" sz="1150" spc="-35">
                <a:latin typeface="Arial"/>
                <a:cs typeface="Arial"/>
              </a:rPr>
              <a:t>between </a:t>
            </a:r>
            <a:r>
              <a:rPr dirty="0" sz="1150" spc="-40">
                <a:latin typeface="Arial"/>
                <a:cs typeface="Arial"/>
              </a:rPr>
              <a:t>collecting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data </a:t>
            </a:r>
            <a:r>
              <a:rPr dirty="0" sz="1150" spc="-35">
                <a:latin typeface="Arial"/>
                <a:cs typeface="Arial"/>
              </a:rPr>
              <a:t>yourself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hiring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35">
                <a:latin typeface="Arial"/>
                <a:cs typeface="Arial"/>
              </a:rPr>
              <a:t>external </a:t>
            </a:r>
            <a:r>
              <a:rPr dirty="0" sz="1150" spc="-25">
                <a:latin typeface="Arial"/>
                <a:cs typeface="Arial"/>
              </a:rPr>
              <a:t>office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60">
                <a:latin typeface="Arial"/>
                <a:cs typeface="Arial"/>
              </a:rPr>
              <a:t>specialized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interviews. </a:t>
            </a:r>
            <a:r>
              <a:rPr dirty="0" sz="1150" spc="-60">
                <a:latin typeface="Arial"/>
                <a:cs typeface="Arial"/>
              </a:rPr>
              <a:t>Data </a:t>
            </a:r>
            <a:r>
              <a:rPr dirty="0" sz="1150" spc="-65">
                <a:latin typeface="Arial"/>
                <a:cs typeface="Arial"/>
              </a:rPr>
              <a:t>analysis  is </a:t>
            </a:r>
            <a:r>
              <a:rPr dirty="0" sz="1150" spc="-55">
                <a:latin typeface="Arial"/>
                <a:cs typeface="Arial"/>
              </a:rPr>
              <a:t>needed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give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raw </a:t>
            </a:r>
            <a:r>
              <a:rPr dirty="0" sz="1150" spc="-40">
                <a:latin typeface="Arial"/>
                <a:cs typeface="Arial"/>
              </a:rPr>
              <a:t>data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50">
                <a:latin typeface="Arial"/>
                <a:cs typeface="Arial"/>
              </a:rPr>
              <a:t>meaning.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>
                <a:latin typeface="Arial"/>
                <a:cs typeface="Arial"/>
              </a:rPr>
              <a:t>first </a:t>
            </a:r>
            <a:r>
              <a:rPr dirty="0" sz="1150" spc="-45">
                <a:latin typeface="Arial"/>
                <a:cs typeface="Arial"/>
              </a:rPr>
              <a:t>step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0">
                <a:latin typeface="Arial"/>
                <a:cs typeface="Arial"/>
              </a:rPr>
              <a:t>analyzing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data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cleaning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data.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checking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raw </a:t>
            </a:r>
            <a:r>
              <a:rPr dirty="0" sz="1150" spc="-40">
                <a:latin typeface="Arial"/>
                <a:cs typeface="Arial"/>
              </a:rPr>
              <a:t>data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verify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data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5">
                <a:latin typeface="Arial"/>
                <a:cs typeface="Arial"/>
              </a:rPr>
              <a:t>been  </a:t>
            </a:r>
            <a:r>
              <a:rPr dirty="0" sz="1150" spc="-30">
                <a:latin typeface="Arial"/>
                <a:cs typeface="Arial"/>
              </a:rPr>
              <a:t>correctly entered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files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data </a:t>
            </a:r>
            <a:r>
              <a:rPr dirty="0" sz="1150" spc="-30">
                <a:latin typeface="Arial"/>
                <a:cs typeface="Arial"/>
              </a:rPr>
              <a:t>collection </a:t>
            </a:r>
            <a:r>
              <a:rPr dirty="0" sz="1150" spc="-15">
                <a:latin typeface="Arial"/>
                <a:cs typeface="Arial"/>
              </a:rPr>
              <a:t>form. After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data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 </a:t>
            </a:r>
            <a:r>
              <a:rPr dirty="0" sz="1150" spc="-50">
                <a:latin typeface="Arial"/>
                <a:cs typeface="Arial"/>
              </a:rPr>
              <a:t>coded.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assigning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60">
                <a:latin typeface="Arial"/>
                <a:cs typeface="Arial"/>
              </a:rPr>
              <a:t>response </a:t>
            </a:r>
            <a:r>
              <a:rPr dirty="0" sz="1150" spc="-55">
                <a:latin typeface="Arial"/>
                <a:cs typeface="Arial"/>
              </a:rPr>
              <a:t>categories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numerical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value.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132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222504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 </a:t>
            </a:r>
            <a:r>
              <a:rPr dirty="0" sz="1150" spc="-65">
                <a:latin typeface="Arial"/>
                <a:cs typeface="Arial"/>
              </a:rPr>
              <a:t>males </a:t>
            </a:r>
            <a:r>
              <a:rPr dirty="0" sz="1150" spc="-100">
                <a:latin typeface="Arial"/>
                <a:cs typeface="Arial"/>
              </a:rPr>
              <a:t>= </a:t>
            </a:r>
            <a:r>
              <a:rPr dirty="0" sz="1150" spc="-45">
                <a:latin typeface="Arial"/>
                <a:cs typeface="Arial"/>
              </a:rPr>
              <a:t>1, </a:t>
            </a:r>
            <a:r>
              <a:rPr dirty="0" sz="1150" spc="-55">
                <a:latin typeface="Arial"/>
                <a:cs typeface="Arial"/>
              </a:rPr>
              <a:t>females </a:t>
            </a:r>
            <a:r>
              <a:rPr dirty="0" sz="1150" spc="-100">
                <a:latin typeface="Arial"/>
                <a:cs typeface="Arial"/>
              </a:rPr>
              <a:t>= </a:t>
            </a:r>
            <a:r>
              <a:rPr dirty="0" sz="1150" spc="-45">
                <a:latin typeface="Arial"/>
                <a:cs typeface="Arial"/>
              </a:rPr>
              <a:t>2. </a:t>
            </a: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data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0">
                <a:latin typeface="Arial"/>
                <a:cs typeface="Arial"/>
              </a:rPr>
              <a:t>tabulated, </a:t>
            </a:r>
            <a:r>
              <a:rPr dirty="0" sz="1150" spc="-35">
                <a:latin typeface="Arial"/>
                <a:cs typeface="Arial"/>
              </a:rPr>
              <a:t>which refers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0">
                <a:latin typeface="Arial"/>
                <a:cs typeface="Arial"/>
              </a:rPr>
              <a:t>actual counting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observations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15">
                <a:latin typeface="Arial"/>
                <a:cs typeface="Arial"/>
              </a:rPr>
              <a:t>fall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5">
                <a:latin typeface="Arial"/>
                <a:cs typeface="Arial"/>
              </a:rPr>
              <a:t>each </a:t>
            </a:r>
            <a:r>
              <a:rPr dirty="0" sz="1150" spc="-55">
                <a:latin typeface="Arial"/>
                <a:cs typeface="Arial"/>
              </a:rPr>
              <a:t>possible </a:t>
            </a:r>
            <a:r>
              <a:rPr dirty="0" sz="1150" spc="-65">
                <a:latin typeface="Arial"/>
                <a:cs typeface="Arial"/>
              </a:rPr>
              <a:t>response  </a:t>
            </a:r>
            <a:r>
              <a:rPr dirty="0" sz="1150" spc="-45">
                <a:latin typeface="Arial"/>
                <a:cs typeface="Arial"/>
              </a:rPr>
              <a:t>category.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85" b="1">
                <a:latin typeface="Arial"/>
                <a:cs typeface="Arial"/>
              </a:rPr>
              <a:t>Formulate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findings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60">
                <a:latin typeface="Arial"/>
                <a:cs typeface="Arial"/>
              </a:rPr>
              <a:t>analyzing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data </a:t>
            </a:r>
            <a:r>
              <a:rPr dirty="0" sz="1150" spc="-45">
                <a:latin typeface="Arial"/>
                <a:cs typeface="Arial"/>
              </a:rPr>
              <a:t>you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65">
                <a:latin typeface="Arial"/>
                <a:cs typeface="Arial"/>
              </a:rPr>
              <a:t>make </a:t>
            </a:r>
            <a:r>
              <a:rPr dirty="0" sz="1150" spc="-35">
                <a:latin typeface="Arial"/>
                <a:cs typeface="Arial"/>
              </a:rPr>
              <a:t>your </a:t>
            </a:r>
            <a:r>
              <a:rPr dirty="0" sz="1150" spc="-40">
                <a:latin typeface="Arial"/>
                <a:cs typeface="Arial"/>
              </a:rPr>
              <a:t>findings </a:t>
            </a:r>
            <a:r>
              <a:rPr dirty="0" sz="1150" spc="-75">
                <a:latin typeface="Arial"/>
                <a:cs typeface="Arial"/>
              </a:rPr>
              <a:t>based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40">
                <a:latin typeface="Arial"/>
                <a:cs typeface="Arial"/>
              </a:rPr>
              <a:t>data. </a:t>
            </a:r>
            <a:r>
              <a:rPr dirty="0" sz="1150" spc="-85">
                <a:latin typeface="Arial"/>
                <a:cs typeface="Arial"/>
              </a:rPr>
              <a:t>Once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findings 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target </a:t>
            </a:r>
            <a:r>
              <a:rPr dirty="0" sz="1150" spc="-30">
                <a:latin typeface="Arial"/>
                <a:cs typeface="Arial"/>
              </a:rPr>
              <a:t>market, </a:t>
            </a:r>
            <a:r>
              <a:rPr dirty="0" sz="1150" spc="-20">
                <a:latin typeface="Arial"/>
                <a:cs typeface="Arial"/>
              </a:rPr>
              <a:t>competition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environment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finished, </a:t>
            </a:r>
            <a:r>
              <a:rPr dirty="0" sz="1150" spc="-40">
                <a:latin typeface="Arial"/>
                <a:cs typeface="Arial"/>
              </a:rPr>
              <a:t>present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0">
                <a:latin typeface="Arial"/>
                <a:cs typeface="Arial"/>
              </a:rPr>
              <a:t>an  </a:t>
            </a:r>
            <a:r>
              <a:rPr dirty="0" sz="1150" spc="-55">
                <a:latin typeface="Arial"/>
                <a:cs typeface="Arial"/>
              </a:rPr>
              <a:t>organized </a:t>
            </a:r>
            <a:r>
              <a:rPr dirty="0" sz="1150" spc="-45">
                <a:latin typeface="Arial"/>
                <a:cs typeface="Arial"/>
              </a:rPr>
              <a:t>manner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decision </a:t>
            </a:r>
            <a:r>
              <a:rPr dirty="0" sz="1150" spc="-65">
                <a:latin typeface="Arial"/>
                <a:cs typeface="Arial"/>
              </a:rPr>
              <a:t>makers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business.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this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 spc="-10">
                <a:latin typeface="Arial"/>
                <a:cs typeface="Arial"/>
              </a:rPr>
              <a:t>report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findings </a:t>
            </a:r>
            <a:r>
              <a:rPr dirty="0" sz="1150" spc="-20">
                <a:latin typeface="Arial"/>
                <a:cs typeface="Arial"/>
              </a:rPr>
              <a:t>in  the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65">
                <a:latin typeface="Arial"/>
                <a:cs typeface="Arial"/>
              </a:rPr>
              <a:t>analysis </a:t>
            </a:r>
            <a:r>
              <a:rPr dirty="0" sz="1150" spc="-45">
                <a:latin typeface="Arial"/>
                <a:cs typeface="Arial"/>
              </a:rPr>
              <a:t>section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your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40">
                <a:latin typeface="Arial"/>
                <a:cs typeface="Arial"/>
              </a:rPr>
              <a:t>plan. In </a:t>
            </a:r>
            <a:r>
              <a:rPr dirty="0" sz="1150" spc="-50">
                <a:latin typeface="Arial"/>
                <a:cs typeface="Arial"/>
              </a:rPr>
              <a:t>summary,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resulting </a:t>
            </a:r>
            <a:r>
              <a:rPr dirty="0" sz="1150" spc="-40">
                <a:latin typeface="Arial"/>
                <a:cs typeface="Arial"/>
              </a:rPr>
              <a:t>data </a:t>
            </a:r>
            <a:r>
              <a:rPr dirty="0" sz="1150" spc="-75">
                <a:latin typeface="Arial"/>
                <a:cs typeface="Arial"/>
              </a:rPr>
              <a:t>was  </a:t>
            </a:r>
            <a:r>
              <a:rPr dirty="0" sz="1150" spc="-40">
                <a:latin typeface="Arial"/>
                <a:cs typeface="Arial"/>
              </a:rPr>
              <a:t>created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help </a:t>
            </a:r>
            <a:r>
              <a:rPr dirty="0" sz="1150" spc="-50">
                <a:latin typeface="Arial"/>
                <a:cs typeface="Arial"/>
              </a:rPr>
              <a:t>guide </a:t>
            </a:r>
            <a:r>
              <a:rPr dirty="0" sz="1150" spc="-30">
                <a:latin typeface="Arial"/>
                <a:cs typeface="Arial"/>
              </a:rPr>
              <a:t>your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55">
                <a:latin typeface="Arial"/>
                <a:cs typeface="Arial"/>
              </a:rPr>
              <a:t>decisions, </a:t>
            </a:r>
            <a:r>
              <a:rPr dirty="0" sz="1150" spc="-85">
                <a:latin typeface="Arial"/>
                <a:cs typeface="Arial"/>
              </a:rPr>
              <a:t>so </a:t>
            </a:r>
            <a:r>
              <a:rPr dirty="0" sz="1150" spc="35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5">
                <a:latin typeface="Arial"/>
                <a:cs typeface="Arial"/>
              </a:rPr>
              <a:t>readily </a:t>
            </a:r>
            <a:r>
              <a:rPr dirty="0" sz="1150" spc="-70">
                <a:latin typeface="Arial"/>
                <a:cs typeface="Arial"/>
              </a:rPr>
              <a:t>accessible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50">
                <a:latin typeface="Arial"/>
                <a:cs typeface="Arial"/>
              </a:rPr>
              <a:t>decision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makers.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133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607317" y="891035"/>
            <a:ext cx="5035550" cy="804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225" b="1">
                <a:latin typeface="Arial"/>
                <a:cs typeface="Arial"/>
              </a:rPr>
              <a:t> </a:t>
            </a:r>
            <a:r>
              <a:rPr dirty="0" sz="1550" spc="-85" b="1">
                <a:latin typeface="Arial"/>
                <a:cs typeface="Arial"/>
              </a:rPr>
              <a:t>26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204" b="1">
                <a:latin typeface="Arial"/>
                <a:cs typeface="Arial"/>
              </a:rPr>
              <a:t>CONSUMER </a:t>
            </a:r>
            <a:r>
              <a:rPr dirty="0" sz="1750" spc="-200" b="1">
                <a:latin typeface="Arial"/>
                <a:cs typeface="Arial"/>
              </a:rPr>
              <a:t>BEHAVIOR </a:t>
            </a:r>
            <a:r>
              <a:rPr dirty="0" sz="1750" spc="-35" b="1">
                <a:latin typeface="Arial"/>
                <a:cs typeface="Arial"/>
              </a:rPr>
              <a:t>&amp; </a:t>
            </a:r>
            <a:r>
              <a:rPr dirty="0" sz="1750" spc="-185" b="1">
                <a:latin typeface="Arial"/>
                <a:cs typeface="Arial"/>
              </a:rPr>
              <a:t>MARKETING</a:t>
            </a:r>
            <a:r>
              <a:rPr dirty="0" sz="1750" spc="65" b="1">
                <a:latin typeface="Arial"/>
                <a:cs typeface="Arial"/>
              </a:rPr>
              <a:t> </a:t>
            </a:r>
            <a:r>
              <a:rPr dirty="0" sz="1750" spc="-285" b="1">
                <a:latin typeface="Arial"/>
                <a:cs typeface="Arial"/>
              </a:rPr>
              <a:t>RESEARCH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134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225" y="1915163"/>
            <a:ext cx="5514340" cy="69145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30">
                <a:latin typeface="Arial"/>
                <a:cs typeface="Arial"/>
              </a:rPr>
              <a:t>Marketing </a:t>
            </a:r>
            <a:r>
              <a:rPr dirty="0" sz="1150" spc="-85">
                <a:latin typeface="Arial"/>
                <a:cs typeface="Arial"/>
              </a:rPr>
              <a:t>Research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process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gathering  </a:t>
            </a:r>
            <a:r>
              <a:rPr dirty="0" sz="1150" spc="-40">
                <a:latin typeface="Arial"/>
                <a:cs typeface="Arial"/>
              </a:rPr>
              <a:t>data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35">
                <a:latin typeface="Arial"/>
                <a:cs typeface="Arial"/>
              </a:rPr>
              <a:t>marketing </a:t>
            </a:r>
            <a:r>
              <a:rPr dirty="0" sz="1150" spc="-80">
                <a:latin typeface="Arial"/>
                <a:cs typeface="Arial"/>
              </a:rPr>
              <a:t>issues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30">
                <a:latin typeface="Arial"/>
                <a:cs typeface="Arial"/>
              </a:rPr>
              <a:t>transforming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0">
                <a:latin typeface="Arial"/>
                <a:cs typeface="Arial"/>
              </a:rPr>
              <a:t>raw </a:t>
            </a:r>
            <a:r>
              <a:rPr dirty="0" sz="1150" spc="-40">
                <a:latin typeface="Arial"/>
                <a:cs typeface="Arial"/>
              </a:rPr>
              <a:t>data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40">
                <a:latin typeface="Arial"/>
                <a:cs typeface="Arial"/>
              </a:rPr>
              <a:t>meaningful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35">
                <a:latin typeface="Arial"/>
                <a:cs typeface="Arial"/>
              </a:rPr>
              <a:t>improve </a:t>
            </a:r>
            <a:r>
              <a:rPr dirty="0" sz="1150" spc="-60">
                <a:latin typeface="Arial"/>
                <a:cs typeface="Arial"/>
              </a:rPr>
              <a:t>decisions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50">
                <a:latin typeface="Arial"/>
                <a:cs typeface="Arial"/>
              </a:rPr>
              <a:t>reduce </a:t>
            </a:r>
            <a:r>
              <a:rPr dirty="0" sz="1150" spc="-55">
                <a:latin typeface="Arial"/>
                <a:cs typeface="Arial"/>
              </a:rPr>
              <a:t>risks. </a:t>
            </a:r>
            <a:r>
              <a:rPr dirty="0" sz="1150" spc="-20">
                <a:latin typeface="Arial"/>
                <a:cs typeface="Arial"/>
              </a:rPr>
              <a:t>Market </a:t>
            </a:r>
            <a:r>
              <a:rPr dirty="0" sz="1150" spc="-60">
                <a:latin typeface="Arial"/>
                <a:cs typeface="Arial"/>
              </a:rPr>
              <a:t>research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35">
                <a:latin typeface="Arial"/>
                <a:cs typeface="Arial"/>
              </a:rPr>
              <a:t>help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40">
                <a:latin typeface="Arial"/>
                <a:cs typeface="Arial"/>
              </a:rPr>
              <a:t>nearly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75">
                <a:latin typeface="Arial"/>
                <a:cs typeface="Arial"/>
              </a:rPr>
              <a:t>phase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marketing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30">
                <a:latin typeface="Arial"/>
                <a:cs typeface="Arial"/>
              </a:rPr>
              <a:t>setting  </a:t>
            </a:r>
            <a:r>
              <a:rPr dirty="0" sz="1150" spc="-70">
                <a:latin typeface="Arial"/>
                <a:cs typeface="Arial"/>
              </a:rPr>
              <a:t>goals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65">
                <a:latin typeface="Arial"/>
                <a:cs typeface="Arial"/>
              </a:rPr>
              <a:t>share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developing  </a:t>
            </a:r>
            <a:r>
              <a:rPr dirty="0" sz="1150" spc="-40">
                <a:latin typeface="Arial"/>
                <a:cs typeface="Arial"/>
              </a:rPr>
              <a:t>new products </a:t>
            </a:r>
            <a:r>
              <a:rPr dirty="0" sz="1150" spc="15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monitoring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5">
                <a:latin typeface="Arial"/>
                <a:cs typeface="Arial"/>
              </a:rPr>
              <a:t>program’s  effectiveness.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15">
                <a:latin typeface="Arial"/>
                <a:cs typeface="Arial"/>
              </a:rPr>
              <a:t>important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monitor </a:t>
            </a:r>
            <a:r>
              <a:rPr dirty="0" sz="1150" spc="-20">
                <a:latin typeface="Arial"/>
                <a:cs typeface="Arial"/>
              </a:rPr>
              <a:t>the competition, </a:t>
            </a:r>
            <a:r>
              <a:rPr dirty="0" sz="1150" spc="-35">
                <a:latin typeface="Arial"/>
                <a:cs typeface="Arial"/>
              </a:rPr>
              <a:t>track </a:t>
            </a:r>
            <a:r>
              <a:rPr dirty="0" sz="1150" spc="-30">
                <a:latin typeface="Arial"/>
                <a:cs typeface="Arial"/>
              </a:rPr>
              <a:t>industry </a:t>
            </a:r>
            <a:r>
              <a:rPr dirty="0" sz="1150" spc="-35">
                <a:latin typeface="Arial"/>
                <a:cs typeface="Arial"/>
              </a:rPr>
              <a:t>trends,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60">
                <a:latin typeface="Arial"/>
                <a:cs typeface="Arial"/>
              </a:rPr>
              <a:t>measure </a:t>
            </a:r>
            <a:r>
              <a:rPr dirty="0" sz="1150" spc="-40">
                <a:latin typeface="Arial"/>
                <a:cs typeface="Arial"/>
              </a:rPr>
              <a:t>customer satisfaction.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Marketing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Research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0">
                <a:latin typeface="Arial"/>
                <a:cs typeface="Arial"/>
              </a:rPr>
              <a:t>occur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10">
                <a:latin typeface="Arial"/>
                <a:cs typeface="Arial"/>
              </a:rPr>
              <a:t>point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30">
                <a:latin typeface="Arial"/>
                <a:cs typeface="Arial"/>
              </a:rPr>
              <a:t>product's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existence.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10" b="1">
                <a:latin typeface="Arial"/>
                <a:cs typeface="Arial"/>
              </a:rPr>
              <a:t>The </a:t>
            </a:r>
            <a:r>
              <a:rPr dirty="0" sz="1350" spc="-125" b="1">
                <a:latin typeface="Arial"/>
                <a:cs typeface="Arial"/>
              </a:rPr>
              <a:t>Research</a:t>
            </a:r>
            <a:r>
              <a:rPr dirty="0" sz="1350" spc="-55" b="1">
                <a:latin typeface="Arial"/>
                <a:cs typeface="Arial"/>
              </a:rPr>
              <a:t> </a:t>
            </a:r>
            <a:r>
              <a:rPr dirty="0" sz="1350" spc="-150" b="1">
                <a:latin typeface="Arial"/>
                <a:cs typeface="Arial"/>
              </a:rPr>
              <a:t>Process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65">
                <a:latin typeface="Arial"/>
                <a:cs typeface="Arial"/>
              </a:rPr>
              <a:t>Study </a:t>
            </a:r>
            <a:r>
              <a:rPr dirty="0" sz="1150" spc="-20">
                <a:latin typeface="Arial"/>
                <a:cs typeface="Arial"/>
              </a:rPr>
              <a:t>the current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situation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70">
                <a:latin typeface="Arial"/>
                <a:cs typeface="Arial"/>
              </a:rPr>
              <a:t>Select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research</a:t>
            </a:r>
            <a:r>
              <a:rPr dirty="0" sz="1150" spc="-3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method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50">
                <a:latin typeface="Arial"/>
                <a:cs typeface="Arial"/>
              </a:rPr>
              <a:t>Collect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data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75">
                <a:latin typeface="Arial"/>
                <a:cs typeface="Arial"/>
              </a:rPr>
              <a:t>Secondary </a:t>
            </a:r>
            <a:r>
              <a:rPr dirty="0" sz="1150" spc="-40">
                <a:latin typeface="Arial"/>
                <a:cs typeface="Arial"/>
              </a:rPr>
              <a:t>data </a:t>
            </a:r>
            <a:r>
              <a:rPr dirty="0" sz="1150" spc="-50">
                <a:latin typeface="Arial"/>
                <a:cs typeface="Arial"/>
              </a:rPr>
              <a:t>are already available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45">
                <a:latin typeface="Arial"/>
                <a:cs typeface="Arial"/>
              </a:rPr>
              <a:t>previous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research.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50">
                <a:latin typeface="Arial"/>
                <a:cs typeface="Arial"/>
              </a:rPr>
              <a:t>Primary </a:t>
            </a:r>
            <a:r>
              <a:rPr dirty="0" sz="1150" spc="-40">
                <a:latin typeface="Arial"/>
                <a:cs typeface="Arial"/>
              </a:rPr>
              <a:t>data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newly </a:t>
            </a:r>
            <a:r>
              <a:rPr dirty="0" sz="1150" spc="-25">
                <a:latin typeface="Arial"/>
                <a:cs typeface="Arial"/>
              </a:rPr>
              <a:t>performed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research.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70">
                <a:latin typeface="Arial"/>
                <a:cs typeface="Arial"/>
              </a:rPr>
              <a:t>Analyze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data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60">
                <a:latin typeface="Arial"/>
                <a:cs typeface="Arial"/>
              </a:rPr>
              <a:t>Prepare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report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25" b="1">
                <a:latin typeface="Arial"/>
                <a:cs typeface="Arial"/>
              </a:rPr>
              <a:t>Research</a:t>
            </a:r>
            <a:r>
              <a:rPr dirty="0" sz="1350" spc="-75" b="1">
                <a:latin typeface="Arial"/>
                <a:cs typeface="Arial"/>
              </a:rPr>
              <a:t> Methods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80" b="1">
                <a:latin typeface="Arial"/>
                <a:cs typeface="Arial"/>
              </a:rPr>
              <a:t>Observation: </a:t>
            </a:r>
            <a:r>
              <a:rPr dirty="0" sz="1150" spc="-20">
                <a:latin typeface="Arial"/>
                <a:cs typeface="Arial"/>
              </a:rPr>
              <a:t>Market </a:t>
            </a:r>
            <a:r>
              <a:rPr dirty="0" sz="1150" spc="-85">
                <a:latin typeface="Arial"/>
                <a:cs typeface="Arial"/>
              </a:rPr>
              <a:t>Research </a:t>
            </a:r>
            <a:r>
              <a:rPr dirty="0" sz="1150" spc="-40">
                <a:latin typeface="Arial"/>
                <a:cs typeface="Arial"/>
              </a:rPr>
              <a:t>technique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0">
                <a:latin typeface="Arial"/>
                <a:cs typeface="Arial"/>
              </a:rPr>
              <a:t>involves </a:t>
            </a:r>
            <a:r>
              <a:rPr dirty="0" sz="1150" spc="-45">
                <a:latin typeface="Arial"/>
                <a:cs typeface="Arial"/>
              </a:rPr>
              <a:t>simply </a:t>
            </a:r>
            <a:r>
              <a:rPr dirty="0" sz="1150" spc="-40">
                <a:latin typeface="Arial"/>
                <a:cs typeface="Arial"/>
              </a:rPr>
              <a:t>watching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recording  </a:t>
            </a:r>
            <a:r>
              <a:rPr dirty="0" sz="1150" spc="-50">
                <a:latin typeface="Arial"/>
                <a:cs typeface="Arial"/>
              </a:rPr>
              <a:t>consumer </a:t>
            </a:r>
            <a:r>
              <a:rPr dirty="0" sz="1150" spc="-40">
                <a:latin typeface="Arial"/>
                <a:cs typeface="Arial"/>
              </a:rPr>
              <a:t>behavior. </a:t>
            </a:r>
            <a:r>
              <a:rPr dirty="0" sz="1150" spc="-55">
                <a:latin typeface="Arial"/>
                <a:cs typeface="Arial"/>
              </a:rPr>
              <a:t>Probably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oldest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55">
                <a:latin typeface="Arial"/>
                <a:cs typeface="Arial"/>
              </a:rPr>
              <a:t>research,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5">
                <a:latin typeface="Arial"/>
                <a:cs typeface="Arial"/>
              </a:rPr>
              <a:t>been </a:t>
            </a:r>
            <a:r>
              <a:rPr dirty="0" sz="1150" spc="-25">
                <a:latin typeface="Arial"/>
                <a:cs typeface="Arial"/>
              </a:rPr>
              <a:t>brought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35">
                <a:latin typeface="Arial"/>
                <a:cs typeface="Arial"/>
              </a:rPr>
              <a:t>date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30">
                <a:latin typeface="Arial"/>
                <a:cs typeface="Arial"/>
              </a:rPr>
              <a:t>tools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35">
                <a:latin typeface="Arial"/>
                <a:cs typeface="Arial"/>
              </a:rPr>
              <a:t>electronic </a:t>
            </a:r>
            <a:r>
              <a:rPr dirty="0" sz="1150" spc="-40">
                <a:latin typeface="Arial"/>
                <a:cs typeface="Arial"/>
              </a:rPr>
              <a:t>supermarket </a:t>
            </a:r>
            <a:r>
              <a:rPr dirty="0" sz="1150" spc="-75">
                <a:latin typeface="Arial"/>
                <a:cs typeface="Arial"/>
              </a:rPr>
              <a:t>scanners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5">
                <a:latin typeface="Arial"/>
                <a:cs typeface="Arial"/>
              </a:rPr>
              <a:t>allow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95">
                <a:latin typeface="Arial"/>
                <a:cs typeface="Arial"/>
              </a:rPr>
              <a:t>see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50">
                <a:latin typeface="Arial"/>
                <a:cs typeface="Arial"/>
              </a:rPr>
              <a:t>selling </a:t>
            </a:r>
            <a:r>
              <a:rPr dirty="0" sz="1150">
                <a:latin typeface="Arial"/>
                <a:cs typeface="Arial"/>
              </a:rPr>
              <a:t>without </a:t>
            </a:r>
            <a:r>
              <a:rPr dirty="0" sz="1150" spc="-55">
                <a:latin typeface="Arial"/>
                <a:cs typeface="Arial"/>
              </a:rPr>
              <a:t>having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0">
                <a:latin typeface="Arial"/>
                <a:cs typeface="Arial"/>
              </a:rPr>
              <a:t>check shelves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inventory.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70" b="1">
                <a:latin typeface="Arial"/>
                <a:cs typeface="Arial"/>
              </a:rPr>
              <a:t>Survey-Market </a:t>
            </a:r>
            <a:r>
              <a:rPr dirty="0" sz="1150" spc="-105" b="1">
                <a:latin typeface="Arial"/>
                <a:cs typeface="Arial"/>
              </a:rPr>
              <a:t>Research: </a:t>
            </a:r>
            <a:r>
              <a:rPr dirty="0" sz="1150" spc="-40">
                <a:latin typeface="Arial"/>
                <a:cs typeface="Arial"/>
              </a:rPr>
              <a:t>technique </a:t>
            </a:r>
            <a:r>
              <a:rPr dirty="0" sz="1150" spc="-60">
                <a:latin typeface="Arial"/>
                <a:cs typeface="Arial"/>
              </a:rPr>
              <a:t>using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questionnaire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either </a:t>
            </a:r>
            <a:r>
              <a:rPr dirty="0" sz="1150" spc="-35">
                <a:latin typeface="Arial"/>
                <a:cs typeface="Arial"/>
              </a:rPr>
              <a:t>mailed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40">
                <a:latin typeface="Arial"/>
                <a:cs typeface="Arial"/>
              </a:rPr>
              <a:t>individuals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basis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interviews. </a:t>
            </a:r>
            <a:r>
              <a:rPr dirty="0" sz="1150" spc="-85">
                <a:latin typeface="Arial"/>
                <a:cs typeface="Arial"/>
              </a:rPr>
              <a:t>Surveys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60">
                <a:latin typeface="Arial"/>
                <a:cs typeface="Arial"/>
              </a:rPr>
              <a:t>expensive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0">
                <a:latin typeface="Arial"/>
                <a:cs typeface="Arial"/>
              </a:rPr>
              <a:t>vary </a:t>
            </a:r>
            <a:r>
              <a:rPr dirty="0" sz="1150" spc="-30">
                <a:latin typeface="Arial"/>
                <a:cs typeface="Arial"/>
              </a:rPr>
              <a:t>widely 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accuracy;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is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5">
                <a:latin typeface="Arial"/>
                <a:cs typeface="Arial"/>
              </a:rPr>
              <a:t>difficult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find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representative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groups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respondents.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40" b="1">
                <a:latin typeface="Arial"/>
                <a:cs typeface="Arial"/>
              </a:rPr>
              <a:t>Focus </a:t>
            </a:r>
            <a:r>
              <a:rPr dirty="0" sz="1150" spc="-60" b="1">
                <a:latin typeface="Arial"/>
                <a:cs typeface="Arial"/>
              </a:rPr>
              <a:t>Group</a:t>
            </a:r>
            <a:r>
              <a:rPr dirty="0" sz="1150" spc="-60">
                <a:latin typeface="Arial"/>
                <a:cs typeface="Arial"/>
              </a:rPr>
              <a:t>-</a:t>
            </a:r>
            <a:r>
              <a:rPr dirty="0" sz="1150" spc="-60" b="1">
                <a:latin typeface="Arial"/>
                <a:cs typeface="Arial"/>
              </a:rPr>
              <a:t>Market </a:t>
            </a:r>
            <a:r>
              <a:rPr dirty="0" sz="1150" spc="-105" b="1">
                <a:latin typeface="Arial"/>
                <a:cs typeface="Arial"/>
              </a:rPr>
              <a:t>Research: </a:t>
            </a:r>
            <a:r>
              <a:rPr dirty="0" sz="1150" spc="-40">
                <a:latin typeface="Arial"/>
                <a:cs typeface="Arial"/>
              </a:rPr>
              <a:t>technique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which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small </a:t>
            </a:r>
            <a:r>
              <a:rPr dirty="0" sz="1150" spc="-40">
                <a:latin typeface="Arial"/>
                <a:cs typeface="Arial"/>
              </a:rPr>
              <a:t>group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gathered,  </a:t>
            </a:r>
            <a:r>
              <a:rPr dirty="0" sz="1150" spc="-45">
                <a:latin typeface="Arial"/>
                <a:cs typeface="Arial"/>
              </a:rPr>
              <a:t>presented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65">
                <a:latin typeface="Arial"/>
                <a:cs typeface="Arial"/>
              </a:rPr>
              <a:t>an issue,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5">
                <a:latin typeface="Arial"/>
                <a:cs typeface="Arial"/>
              </a:rPr>
              <a:t>asked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80">
                <a:latin typeface="Arial"/>
                <a:cs typeface="Arial"/>
              </a:rPr>
              <a:t>discuss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depth. </a:t>
            </a:r>
            <a:r>
              <a:rPr dirty="0" sz="1150" spc="-20">
                <a:latin typeface="Arial"/>
                <a:cs typeface="Arial"/>
              </a:rPr>
              <a:t>At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45">
                <a:latin typeface="Arial"/>
                <a:cs typeface="Arial"/>
              </a:rPr>
              <a:t>best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40">
                <a:latin typeface="Arial"/>
                <a:cs typeface="Arial"/>
              </a:rPr>
              <a:t>allows </a:t>
            </a:r>
            <a:r>
              <a:rPr dirty="0" sz="1150" spc="-30">
                <a:latin typeface="Arial"/>
                <a:cs typeface="Arial"/>
              </a:rPr>
              <a:t>exploration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50">
                <a:latin typeface="Arial"/>
                <a:cs typeface="Arial"/>
              </a:rPr>
              <a:t>complex </a:t>
            </a:r>
            <a:r>
              <a:rPr dirty="0" sz="1150" spc="-85">
                <a:latin typeface="Arial"/>
                <a:cs typeface="Arial"/>
              </a:rPr>
              <a:t>issues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45">
                <a:latin typeface="Arial"/>
                <a:cs typeface="Arial"/>
              </a:rPr>
              <a:t>produce </a:t>
            </a:r>
            <a:r>
              <a:rPr dirty="0" sz="1150" spc="-40">
                <a:latin typeface="Arial"/>
                <a:cs typeface="Arial"/>
              </a:rPr>
              <a:t>creative </a:t>
            </a:r>
            <a:r>
              <a:rPr dirty="0" sz="1150" spc="-35">
                <a:latin typeface="Arial"/>
                <a:cs typeface="Arial"/>
              </a:rPr>
              <a:t>solutions. Its </a:t>
            </a:r>
            <a:r>
              <a:rPr dirty="0" sz="1150" spc="-50">
                <a:latin typeface="Arial"/>
                <a:cs typeface="Arial"/>
              </a:rPr>
              <a:t>small </a:t>
            </a:r>
            <a:r>
              <a:rPr dirty="0" sz="1150" spc="-80">
                <a:latin typeface="Arial"/>
                <a:cs typeface="Arial"/>
              </a:rPr>
              <a:t>size </a:t>
            </a:r>
            <a:r>
              <a:rPr dirty="0" sz="1150" spc="-50">
                <a:latin typeface="Arial"/>
                <a:cs typeface="Arial"/>
              </a:rPr>
              <a:t>(6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15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best) 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40">
                <a:latin typeface="Arial"/>
                <a:cs typeface="Arial"/>
              </a:rPr>
              <a:t>represent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larger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25">
                <a:latin typeface="Arial"/>
                <a:cs typeface="Arial"/>
              </a:rPr>
              <a:t>well. </a:t>
            </a:r>
            <a:r>
              <a:rPr dirty="0" sz="1150" spc="-95">
                <a:latin typeface="Arial"/>
                <a:cs typeface="Arial"/>
              </a:rPr>
              <a:t>Focus </a:t>
            </a:r>
            <a:r>
              <a:rPr dirty="0" sz="1150" spc="-55">
                <a:latin typeface="Arial"/>
                <a:cs typeface="Arial"/>
              </a:rPr>
              <a:t>groups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10">
                <a:latin typeface="Arial"/>
                <a:cs typeface="Arial"/>
              </a:rPr>
              <a:t>often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">
                <a:latin typeface="Arial"/>
                <a:cs typeface="Arial"/>
              </a:rPr>
              <a:t>first  </a:t>
            </a:r>
            <a:r>
              <a:rPr dirty="0" sz="1150" spc="-40">
                <a:latin typeface="Arial"/>
                <a:cs typeface="Arial"/>
              </a:rPr>
              <a:t>step, </a:t>
            </a:r>
            <a:r>
              <a:rPr dirty="0" sz="1150" spc="-50">
                <a:latin typeface="Arial"/>
                <a:cs typeface="Arial"/>
              </a:rPr>
              <a:t>leading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research.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9525">
              <a:lnSpc>
                <a:spcPct val="101699"/>
              </a:lnSpc>
            </a:pPr>
            <a:r>
              <a:rPr dirty="0" sz="1150" spc="-70" b="1">
                <a:latin typeface="Arial"/>
                <a:cs typeface="Arial"/>
              </a:rPr>
              <a:t>Experimentation</a:t>
            </a:r>
            <a:r>
              <a:rPr dirty="0" sz="1150" spc="-70">
                <a:latin typeface="Arial"/>
                <a:cs typeface="Arial"/>
              </a:rPr>
              <a:t>: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55">
                <a:latin typeface="Arial"/>
                <a:cs typeface="Arial"/>
              </a:rPr>
              <a:t>research </a:t>
            </a:r>
            <a:r>
              <a:rPr dirty="0" sz="1150" spc="-40">
                <a:latin typeface="Arial"/>
                <a:cs typeface="Arial"/>
              </a:rPr>
              <a:t>technique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5">
                <a:latin typeface="Arial"/>
                <a:cs typeface="Arial"/>
              </a:rPr>
              <a:t>attempts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compare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responses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5">
                <a:latin typeface="Arial"/>
                <a:cs typeface="Arial"/>
              </a:rPr>
              <a:t>same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similar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35">
                <a:latin typeface="Arial"/>
                <a:cs typeface="Arial"/>
              </a:rPr>
              <a:t>under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55">
                <a:latin typeface="Arial"/>
                <a:cs typeface="Arial"/>
              </a:rPr>
              <a:t>circumstances.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30">
                <a:latin typeface="Arial"/>
                <a:cs typeface="Arial"/>
              </a:rPr>
              <a:t>method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60">
                <a:latin typeface="Arial"/>
                <a:cs typeface="Arial"/>
              </a:rPr>
              <a:t>expensive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but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8" y="892559"/>
            <a:ext cx="5513070" cy="65335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321945">
              <a:lnSpc>
                <a:spcPct val="101699"/>
              </a:lnSpc>
              <a:spcBef>
                <a:spcPts val="75"/>
              </a:spcBef>
            </a:pP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0">
                <a:latin typeface="Arial"/>
                <a:cs typeface="Arial"/>
              </a:rPr>
              <a:t>supply </a:t>
            </a:r>
            <a:r>
              <a:rPr dirty="0" sz="1150" spc="-65">
                <a:latin typeface="Arial"/>
                <a:cs typeface="Arial"/>
              </a:rPr>
              <a:t>answers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questions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70">
                <a:latin typeface="Arial"/>
                <a:cs typeface="Arial"/>
              </a:rPr>
              <a:t>surveys </a:t>
            </a:r>
            <a:r>
              <a:rPr dirty="0" sz="1150" spc="-40">
                <a:latin typeface="Arial"/>
                <a:cs typeface="Arial"/>
              </a:rPr>
              <a:t>cannot </a:t>
            </a:r>
            <a:r>
              <a:rPr dirty="0" sz="1150" spc="-65">
                <a:latin typeface="Arial"/>
                <a:cs typeface="Arial"/>
              </a:rPr>
              <a:t>address,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5">
                <a:latin typeface="Arial"/>
                <a:cs typeface="Arial"/>
              </a:rPr>
              <a:t>allowing </a:t>
            </a:r>
            <a:r>
              <a:rPr dirty="0" sz="1150" spc="-55">
                <a:latin typeface="Arial"/>
                <a:cs typeface="Arial"/>
              </a:rPr>
              <a:t>customers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60">
                <a:latin typeface="Arial"/>
                <a:cs typeface="Arial"/>
              </a:rPr>
              <a:t>sample </a:t>
            </a:r>
            <a:r>
              <a:rPr dirty="0" sz="1150" spc="-45">
                <a:latin typeface="Arial"/>
                <a:cs typeface="Arial"/>
              </a:rPr>
              <a:t>new </a:t>
            </a:r>
            <a:r>
              <a:rPr dirty="0" sz="1150" spc="-35">
                <a:latin typeface="Arial"/>
                <a:cs typeface="Arial"/>
              </a:rPr>
              <a:t>products, </a:t>
            </a:r>
            <a:r>
              <a:rPr dirty="0" sz="1150">
                <a:latin typeface="Arial"/>
                <a:cs typeface="Arial"/>
              </a:rPr>
              <a:t>for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instance.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45" b="1">
                <a:latin typeface="Arial"/>
                <a:cs typeface="Arial"/>
              </a:rPr>
              <a:t>UNDERSTANDING </a:t>
            </a:r>
            <a:r>
              <a:rPr dirty="0" sz="1350" spc="-160" b="1">
                <a:latin typeface="Arial"/>
                <a:cs typeface="Arial"/>
              </a:rPr>
              <a:t>CONSUMER</a:t>
            </a:r>
            <a:r>
              <a:rPr dirty="0" sz="1350" spc="5" b="1">
                <a:latin typeface="Arial"/>
                <a:cs typeface="Arial"/>
              </a:rPr>
              <a:t> </a:t>
            </a:r>
            <a:r>
              <a:rPr dirty="0" sz="1350" spc="-155" b="1">
                <a:latin typeface="Arial"/>
                <a:cs typeface="Arial"/>
              </a:rPr>
              <a:t>BEHAVIOR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35">
                <a:latin typeface="Arial"/>
                <a:cs typeface="Arial"/>
              </a:rPr>
              <a:t>Marketers </a:t>
            </a:r>
            <a:r>
              <a:rPr dirty="0" sz="1150" spc="-40">
                <a:latin typeface="Arial"/>
                <a:cs typeface="Arial"/>
              </a:rPr>
              <a:t>study </a:t>
            </a:r>
            <a:r>
              <a:rPr dirty="0" sz="1150" spc="-55">
                <a:latin typeface="Arial"/>
                <a:cs typeface="Arial"/>
              </a:rPr>
              <a:t>consumer </a:t>
            </a:r>
            <a:r>
              <a:rPr dirty="0" sz="1150" spc="-45">
                <a:latin typeface="Arial"/>
                <a:cs typeface="Arial"/>
              </a:rPr>
              <a:t>buying </a:t>
            </a:r>
            <a:r>
              <a:rPr dirty="0" sz="1150" spc="-40">
                <a:latin typeface="Arial"/>
                <a:cs typeface="Arial"/>
              </a:rPr>
              <a:t>behavior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learn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75">
                <a:latin typeface="Arial"/>
                <a:cs typeface="Arial"/>
              </a:rPr>
              <a:t>makes </a:t>
            </a:r>
            <a:r>
              <a:rPr dirty="0" sz="1150" spc="-40">
                <a:latin typeface="Arial"/>
                <a:cs typeface="Arial"/>
              </a:rPr>
              <a:t>individuals </a:t>
            </a:r>
            <a:r>
              <a:rPr dirty="0" sz="1150" spc="-50">
                <a:latin typeface="Arial"/>
                <a:cs typeface="Arial"/>
              </a:rPr>
              <a:t>buy one 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45">
                <a:latin typeface="Arial"/>
                <a:cs typeface="Arial"/>
              </a:rPr>
              <a:t>instead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another. </a:t>
            </a:r>
            <a:r>
              <a:rPr dirty="0" sz="1150" spc="-70">
                <a:latin typeface="Arial"/>
                <a:cs typeface="Arial"/>
              </a:rPr>
              <a:t>Consumer </a:t>
            </a:r>
            <a:r>
              <a:rPr dirty="0" sz="1150" spc="-45">
                <a:latin typeface="Arial"/>
                <a:cs typeface="Arial"/>
              </a:rPr>
              <a:t>markets </a:t>
            </a:r>
            <a:r>
              <a:rPr dirty="0" sz="1150" spc="-50">
                <a:latin typeface="Arial"/>
                <a:cs typeface="Arial"/>
              </a:rPr>
              <a:t>consist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individuals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5">
                <a:latin typeface="Arial"/>
                <a:cs typeface="Arial"/>
              </a:rPr>
              <a:t>households </a:t>
            </a:r>
            <a:r>
              <a:rPr dirty="0" sz="1150" spc="-5">
                <a:latin typeface="Arial"/>
                <a:cs typeface="Arial"/>
              </a:rPr>
              <a:t>that  </a:t>
            </a:r>
            <a:r>
              <a:rPr dirty="0" sz="1150" spc="-60">
                <a:latin typeface="Arial"/>
                <a:cs typeface="Arial"/>
              </a:rPr>
              <a:t>purchase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personal </a:t>
            </a:r>
            <a:r>
              <a:rPr dirty="0" sz="1150" spc="-65">
                <a:latin typeface="Arial"/>
                <a:cs typeface="Arial"/>
              </a:rPr>
              <a:t>use. </a:t>
            </a:r>
            <a:r>
              <a:rPr dirty="0" sz="1150" spc="-90">
                <a:latin typeface="Arial"/>
                <a:cs typeface="Arial"/>
              </a:rPr>
              <a:t>Issues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50">
                <a:latin typeface="Arial"/>
                <a:cs typeface="Arial"/>
              </a:rPr>
              <a:t>considered 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differences  </a:t>
            </a:r>
            <a:r>
              <a:rPr dirty="0" sz="1150" spc="-35">
                <a:latin typeface="Arial"/>
                <a:cs typeface="Arial"/>
              </a:rPr>
              <a:t>between </a:t>
            </a:r>
            <a:r>
              <a:rPr dirty="0" sz="1150" spc="-40">
                <a:latin typeface="Arial"/>
                <a:cs typeface="Arial"/>
              </a:rPr>
              <a:t>organizational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consumer </a:t>
            </a:r>
            <a:r>
              <a:rPr dirty="0" sz="1150" spc="-40">
                <a:latin typeface="Arial"/>
                <a:cs typeface="Arial"/>
              </a:rPr>
              <a:t>markets,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buyer’s </a:t>
            </a:r>
            <a:r>
              <a:rPr dirty="0" sz="1150" spc="-50">
                <a:latin typeface="Arial"/>
                <a:cs typeface="Arial"/>
              </a:rPr>
              <a:t>decision </a:t>
            </a:r>
            <a:r>
              <a:rPr dirty="0" sz="1150" spc="-65">
                <a:latin typeface="Arial"/>
                <a:cs typeface="Arial"/>
              </a:rPr>
              <a:t>process,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35">
                <a:latin typeface="Arial"/>
                <a:cs typeface="Arial"/>
              </a:rPr>
              <a:t>factors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5">
                <a:latin typeface="Arial"/>
                <a:cs typeface="Arial"/>
              </a:rPr>
              <a:t>affect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0">
                <a:latin typeface="Arial"/>
                <a:cs typeface="Arial"/>
              </a:rPr>
              <a:t>decision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process.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95" b="1">
                <a:latin typeface="Arial"/>
                <a:cs typeface="Arial"/>
              </a:rPr>
              <a:t>Influences </a:t>
            </a:r>
            <a:r>
              <a:rPr dirty="0" sz="1350" spc="-105" b="1">
                <a:latin typeface="Arial"/>
                <a:cs typeface="Arial"/>
              </a:rPr>
              <a:t>on </a:t>
            </a:r>
            <a:r>
              <a:rPr dirty="0" sz="1350" spc="-130" b="1">
                <a:latin typeface="Arial"/>
                <a:cs typeface="Arial"/>
              </a:rPr>
              <a:t>Consumer</a:t>
            </a:r>
            <a:r>
              <a:rPr dirty="0" sz="1350" spc="-45" b="1">
                <a:latin typeface="Arial"/>
                <a:cs typeface="Arial"/>
              </a:rPr>
              <a:t> </a:t>
            </a:r>
            <a:r>
              <a:rPr dirty="0" sz="1350" spc="-100" b="1">
                <a:latin typeface="Arial"/>
                <a:cs typeface="Arial"/>
              </a:rPr>
              <a:t>Behavior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417830" indent="-635">
              <a:lnSpc>
                <a:spcPct val="101699"/>
              </a:lnSpc>
              <a:spcBef>
                <a:spcPts val="5"/>
              </a:spcBef>
            </a:pPr>
            <a:r>
              <a:rPr dirty="0" sz="1150" spc="-110" b="1">
                <a:latin typeface="Arial"/>
                <a:cs typeface="Arial"/>
              </a:rPr>
              <a:t>Consumer </a:t>
            </a:r>
            <a:r>
              <a:rPr dirty="0" sz="1150" spc="-75" b="1">
                <a:latin typeface="Arial"/>
                <a:cs typeface="Arial"/>
              </a:rPr>
              <a:t>behavior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essentially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study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why </a:t>
            </a:r>
            <a:r>
              <a:rPr dirty="0" sz="1150" spc="-65">
                <a:latin typeface="Arial"/>
                <a:cs typeface="Arial"/>
              </a:rPr>
              <a:t>consumers </a:t>
            </a:r>
            <a:r>
              <a:rPr dirty="0" sz="1150" spc="-60">
                <a:latin typeface="Arial"/>
                <a:cs typeface="Arial"/>
              </a:rPr>
              <a:t>purchase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consume  </a:t>
            </a:r>
            <a:r>
              <a:rPr dirty="0" sz="1150" spc="-35">
                <a:latin typeface="Arial"/>
                <a:cs typeface="Arial"/>
              </a:rPr>
              <a:t>products. </a:t>
            </a:r>
            <a:r>
              <a:rPr dirty="0" sz="1150" spc="-60">
                <a:latin typeface="Arial"/>
                <a:cs typeface="Arial"/>
              </a:rPr>
              <a:t>Four key </a:t>
            </a:r>
            <a:r>
              <a:rPr dirty="0" sz="1150" spc="-35">
                <a:latin typeface="Arial"/>
                <a:cs typeface="Arial"/>
              </a:rPr>
              <a:t>factors influence </a:t>
            </a:r>
            <a:r>
              <a:rPr dirty="0" sz="1150" spc="-55">
                <a:latin typeface="Arial"/>
                <a:cs typeface="Arial"/>
              </a:rPr>
              <a:t>consumer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behavior: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187960">
              <a:lnSpc>
                <a:spcPct val="100000"/>
              </a:lnSpc>
              <a:buFont typeface="Arial"/>
              <a:buAutoNum type="romanUcPeriod"/>
              <a:tabLst>
                <a:tab pos="469900" algn="l"/>
              </a:tabLst>
            </a:pPr>
            <a:r>
              <a:rPr dirty="0" sz="1150" spc="-100" b="1">
                <a:latin typeface="Arial"/>
                <a:cs typeface="Arial"/>
              </a:rPr>
              <a:t>Psychological</a:t>
            </a:r>
            <a:r>
              <a:rPr dirty="0" sz="1150" spc="-100">
                <a:latin typeface="Arial"/>
                <a:cs typeface="Arial"/>
              </a:rPr>
              <a:t>: </a:t>
            </a:r>
            <a:r>
              <a:rPr dirty="0" sz="1150" spc="-25">
                <a:latin typeface="Arial"/>
                <a:cs typeface="Arial"/>
              </a:rPr>
              <a:t>Motivations, </a:t>
            </a:r>
            <a:r>
              <a:rPr dirty="0" sz="1150" spc="-40">
                <a:latin typeface="Arial"/>
                <a:cs typeface="Arial"/>
              </a:rPr>
              <a:t>perceptions, </a:t>
            </a:r>
            <a:r>
              <a:rPr dirty="0" sz="1150" spc="-20">
                <a:latin typeface="Arial"/>
                <a:cs typeface="Arial"/>
              </a:rPr>
              <a:t>ability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learn,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attitudes</a:t>
            </a:r>
            <a:endParaRPr sz="1150">
              <a:latin typeface="Arial"/>
              <a:cs typeface="Arial"/>
            </a:endParaRPr>
          </a:p>
          <a:p>
            <a:pPr marL="469900" indent="-224154">
              <a:lnSpc>
                <a:spcPct val="100000"/>
              </a:lnSpc>
              <a:spcBef>
                <a:spcPts val="25"/>
              </a:spcBef>
              <a:buFont typeface="Arial"/>
              <a:buAutoNum type="romanUcPeriod"/>
              <a:tabLst>
                <a:tab pos="469900" algn="l"/>
              </a:tabLst>
            </a:pPr>
            <a:r>
              <a:rPr dirty="0" sz="1150" spc="-85" b="1">
                <a:latin typeface="Arial"/>
                <a:cs typeface="Arial"/>
              </a:rPr>
              <a:t>Personal</a:t>
            </a:r>
            <a:r>
              <a:rPr dirty="0" sz="1150" spc="-85">
                <a:latin typeface="Arial"/>
                <a:cs typeface="Arial"/>
              </a:rPr>
              <a:t>: </a:t>
            </a:r>
            <a:r>
              <a:rPr dirty="0" sz="1150" spc="-45">
                <a:latin typeface="Arial"/>
                <a:cs typeface="Arial"/>
              </a:rPr>
              <a:t>Lifestyle, </a:t>
            </a:r>
            <a:r>
              <a:rPr dirty="0" sz="1150" spc="-35">
                <a:latin typeface="Arial"/>
                <a:cs typeface="Arial"/>
              </a:rPr>
              <a:t>personality, </a:t>
            </a:r>
            <a:r>
              <a:rPr dirty="0" sz="1150" spc="-50">
                <a:latin typeface="Arial"/>
                <a:cs typeface="Arial"/>
              </a:rPr>
              <a:t>economic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status</a:t>
            </a:r>
            <a:endParaRPr sz="1150">
              <a:latin typeface="Arial"/>
              <a:cs typeface="Arial"/>
            </a:endParaRPr>
          </a:p>
          <a:p>
            <a:pPr marL="469900" indent="-262255">
              <a:lnSpc>
                <a:spcPct val="100000"/>
              </a:lnSpc>
              <a:spcBef>
                <a:spcPts val="25"/>
              </a:spcBef>
              <a:buFont typeface="Arial"/>
              <a:buAutoNum type="romanUcPeriod"/>
              <a:tabLst>
                <a:tab pos="469900" algn="l"/>
              </a:tabLst>
            </a:pPr>
            <a:r>
              <a:rPr dirty="0" sz="1150" spc="-90" b="1">
                <a:latin typeface="Arial"/>
                <a:cs typeface="Arial"/>
              </a:rPr>
              <a:t>Social</a:t>
            </a:r>
            <a:r>
              <a:rPr dirty="0" sz="1150" spc="-90">
                <a:latin typeface="Arial"/>
                <a:cs typeface="Arial"/>
              </a:rPr>
              <a:t>: </a:t>
            </a:r>
            <a:r>
              <a:rPr dirty="0" sz="1150" spc="-60">
                <a:latin typeface="Arial"/>
                <a:cs typeface="Arial"/>
              </a:rPr>
              <a:t>Family, </a:t>
            </a:r>
            <a:r>
              <a:rPr dirty="0" sz="1150" spc="-25">
                <a:latin typeface="Arial"/>
                <a:cs typeface="Arial"/>
              </a:rPr>
              <a:t>opinion </a:t>
            </a:r>
            <a:r>
              <a:rPr dirty="0" sz="1150" spc="-55">
                <a:latin typeface="Arial"/>
                <a:cs typeface="Arial"/>
              </a:rPr>
              <a:t>leaders, </a:t>
            </a:r>
            <a:r>
              <a:rPr dirty="0" sz="1150" spc="-40">
                <a:latin typeface="Arial"/>
                <a:cs typeface="Arial"/>
              </a:rPr>
              <a:t>reference </a:t>
            </a:r>
            <a:r>
              <a:rPr dirty="0" sz="1150" spc="-55">
                <a:latin typeface="Arial"/>
                <a:cs typeface="Arial"/>
              </a:rPr>
              <a:t>groups </a:t>
            </a:r>
            <a:r>
              <a:rPr dirty="0" sz="1150" spc="-60">
                <a:latin typeface="Arial"/>
                <a:cs typeface="Arial"/>
              </a:rPr>
              <a:t>(e.g. </a:t>
            </a:r>
            <a:r>
              <a:rPr dirty="0" sz="1150" spc="-35">
                <a:latin typeface="Arial"/>
                <a:cs typeface="Arial"/>
              </a:rPr>
              <a:t>friends,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associates)</a:t>
            </a:r>
            <a:endParaRPr sz="1150">
              <a:latin typeface="Arial"/>
              <a:cs typeface="Arial"/>
            </a:endParaRPr>
          </a:p>
          <a:p>
            <a:pPr marL="469900" indent="-271780">
              <a:lnSpc>
                <a:spcPct val="100000"/>
              </a:lnSpc>
              <a:spcBef>
                <a:spcPts val="25"/>
              </a:spcBef>
              <a:buFont typeface="Arial"/>
              <a:buAutoNum type="romanUcPeriod"/>
              <a:tabLst>
                <a:tab pos="469900" algn="l"/>
              </a:tabLst>
            </a:pPr>
            <a:r>
              <a:rPr dirty="0" sz="1150" spc="-65" b="1">
                <a:latin typeface="Arial"/>
                <a:cs typeface="Arial"/>
              </a:rPr>
              <a:t>Cultural</a:t>
            </a:r>
            <a:r>
              <a:rPr dirty="0" sz="1150" spc="-65">
                <a:latin typeface="Arial"/>
                <a:cs typeface="Arial"/>
              </a:rPr>
              <a:t>: </a:t>
            </a:r>
            <a:r>
              <a:rPr dirty="0" sz="1150" spc="-45">
                <a:latin typeface="Arial"/>
                <a:cs typeface="Arial"/>
              </a:rPr>
              <a:t>Culture, </a:t>
            </a:r>
            <a:r>
              <a:rPr dirty="0" sz="1150" spc="-40">
                <a:latin typeface="Arial"/>
                <a:cs typeface="Arial"/>
              </a:rPr>
              <a:t>subculture, </a:t>
            </a:r>
            <a:r>
              <a:rPr dirty="0" sz="1150" spc="-55">
                <a:latin typeface="Arial"/>
                <a:cs typeface="Arial"/>
              </a:rPr>
              <a:t>social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class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romanUcPeriod"/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10" b="1">
                <a:latin typeface="Arial"/>
                <a:cs typeface="Arial"/>
              </a:rPr>
              <a:t>The </a:t>
            </a:r>
            <a:r>
              <a:rPr dirty="0" sz="1350" spc="-130" b="1">
                <a:latin typeface="Arial"/>
                <a:cs typeface="Arial"/>
              </a:rPr>
              <a:t>Consumer Buying</a:t>
            </a:r>
            <a:r>
              <a:rPr dirty="0" sz="1350" spc="10" b="1">
                <a:latin typeface="Arial"/>
                <a:cs typeface="Arial"/>
              </a:rPr>
              <a:t> </a:t>
            </a:r>
            <a:r>
              <a:rPr dirty="0" sz="1350" spc="-150" b="1">
                <a:latin typeface="Arial"/>
                <a:cs typeface="Arial"/>
              </a:rPr>
              <a:t>Process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One </a:t>
            </a:r>
            <a:r>
              <a:rPr dirty="0" sz="1150" spc="-50">
                <a:latin typeface="Arial"/>
                <a:cs typeface="Arial"/>
              </a:rPr>
              <a:t>way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look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psychology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buying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understand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decision-making </a:t>
            </a:r>
            <a:r>
              <a:rPr dirty="0" sz="1150" spc="-70">
                <a:latin typeface="Arial"/>
                <a:cs typeface="Arial"/>
              </a:rPr>
              <a:t>process 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70">
                <a:latin typeface="Arial"/>
                <a:cs typeface="Arial"/>
              </a:rPr>
              <a:t>go </a:t>
            </a:r>
            <a:r>
              <a:rPr dirty="0" sz="1150" spc="-25">
                <a:latin typeface="Arial"/>
                <a:cs typeface="Arial"/>
              </a:rPr>
              <a:t>through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55">
                <a:latin typeface="Arial"/>
                <a:cs typeface="Arial"/>
              </a:rPr>
              <a:t>making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purchase. </a:t>
            </a:r>
            <a:r>
              <a:rPr dirty="0" sz="1150" spc="-60">
                <a:latin typeface="Arial"/>
                <a:cs typeface="Arial"/>
              </a:rPr>
              <a:t>Deciding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buy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problem-solving  </a:t>
            </a:r>
            <a:r>
              <a:rPr dirty="0" sz="1150" spc="-65">
                <a:latin typeface="Arial"/>
                <a:cs typeface="Arial"/>
              </a:rPr>
              <a:t>process. Sometimes consumers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become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lvl="1" marL="469900" marR="48895" indent="-187960">
              <a:lnSpc>
                <a:spcPct val="101699"/>
              </a:lnSpc>
              <a:buFont typeface="Arial"/>
              <a:buAutoNum type="romanUcPeriod"/>
              <a:tabLst>
                <a:tab pos="469900" algn="l"/>
              </a:tabLst>
            </a:pPr>
            <a:r>
              <a:rPr dirty="0" sz="1150" spc="-60" b="1">
                <a:latin typeface="Arial"/>
                <a:cs typeface="Arial"/>
              </a:rPr>
              <a:t>Problem/Need </a:t>
            </a:r>
            <a:r>
              <a:rPr dirty="0" sz="1150" spc="-75" b="1">
                <a:latin typeface="Arial"/>
                <a:cs typeface="Arial"/>
              </a:rPr>
              <a:t>recognition</a:t>
            </a:r>
            <a:r>
              <a:rPr dirty="0" sz="1150" spc="-75">
                <a:latin typeface="Arial"/>
                <a:cs typeface="Arial"/>
              </a:rPr>
              <a:t>: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consumer </a:t>
            </a:r>
            <a:r>
              <a:rPr dirty="0" sz="1150" spc="-50">
                <a:latin typeface="Arial"/>
                <a:cs typeface="Arial"/>
              </a:rPr>
              <a:t>buying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 spc="-65">
                <a:latin typeface="Arial"/>
                <a:cs typeface="Arial"/>
              </a:rPr>
              <a:t>begins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55">
                <a:latin typeface="Arial"/>
                <a:cs typeface="Arial"/>
              </a:rPr>
              <a:t>recognizing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30">
                <a:latin typeface="Arial"/>
                <a:cs typeface="Arial"/>
              </a:rPr>
              <a:t>problem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0">
                <a:latin typeface="Arial"/>
                <a:cs typeface="Arial"/>
              </a:rPr>
              <a:t>need. </a:t>
            </a:r>
            <a:r>
              <a:rPr dirty="0" sz="1150" spc="-80">
                <a:latin typeface="Arial"/>
                <a:cs typeface="Arial"/>
              </a:rPr>
              <a:t>Needs </a:t>
            </a:r>
            <a:r>
              <a:rPr dirty="0" sz="1150" spc="-15">
                <a:latin typeface="Arial"/>
                <a:cs typeface="Arial"/>
              </a:rPr>
              <a:t>often </a:t>
            </a:r>
            <a:r>
              <a:rPr dirty="0" sz="1150" spc="-55">
                <a:latin typeface="Arial"/>
                <a:cs typeface="Arial"/>
              </a:rPr>
              <a:t>arise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20">
                <a:latin typeface="Arial"/>
                <a:cs typeface="Arial"/>
              </a:rPr>
              <a:t>our </a:t>
            </a:r>
            <a:r>
              <a:rPr dirty="0" sz="1150" spc="-50">
                <a:latin typeface="Arial"/>
                <a:cs typeface="Arial"/>
              </a:rPr>
              <a:t>personal </a:t>
            </a:r>
            <a:r>
              <a:rPr dirty="0" sz="1150" spc="-55">
                <a:latin typeface="Arial"/>
                <a:cs typeface="Arial"/>
              </a:rPr>
              <a:t>circumstances </a:t>
            </a:r>
            <a:r>
              <a:rPr dirty="0" sz="1150" spc="-70">
                <a:latin typeface="Arial"/>
                <a:cs typeface="Arial"/>
              </a:rPr>
              <a:t>change,  </a:t>
            </a:r>
            <a:r>
              <a:rPr dirty="0" sz="1150" spc="-40">
                <a:latin typeface="Arial"/>
                <a:cs typeface="Arial"/>
              </a:rPr>
              <a:t>creating </a:t>
            </a:r>
            <a:r>
              <a:rPr dirty="0" sz="1150" spc="-35">
                <a:latin typeface="Arial"/>
                <a:cs typeface="Arial"/>
              </a:rPr>
              <a:t>windows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opportunity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0">
                <a:latin typeface="Arial"/>
                <a:cs typeface="Arial"/>
              </a:rPr>
              <a:t>marketers </a:t>
            </a:r>
            <a:r>
              <a:rPr dirty="0" sz="1150" spc="-60">
                <a:latin typeface="Arial"/>
                <a:cs typeface="Arial"/>
              </a:rPr>
              <a:t>(e.g. </a:t>
            </a:r>
            <a:r>
              <a:rPr dirty="0" sz="1150" spc="-30">
                <a:latin typeface="Arial"/>
                <a:cs typeface="Arial"/>
              </a:rPr>
              <a:t>getting married, entering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30">
                <a:latin typeface="Arial"/>
                <a:cs typeface="Arial"/>
              </a:rPr>
              <a:t>workforce,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etc.).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Arial"/>
              <a:buAutoNum type="romanUcPeriod"/>
            </a:pPr>
            <a:endParaRPr sz="1200">
              <a:latin typeface="Arial"/>
              <a:cs typeface="Arial"/>
            </a:endParaRPr>
          </a:p>
          <a:p>
            <a:pPr algn="just" lvl="1" marL="469265" marR="5080" indent="-224154">
              <a:lnSpc>
                <a:spcPct val="101400"/>
              </a:lnSpc>
              <a:buFont typeface="Arial"/>
              <a:buAutoNum type="romanUcPeriod"/>
              <a:tabLst>
                <a:tab pos="469900" algn="l"/>
              </a:tabLst>
            </a:pPr>
            <a:r>
              <a:rPr dirty="0" sz="1150" spc="-55" b="1">
                <a:latin typeface="Arial"/>
                <a:cs typeface="Arial"/>
              </a:rPr>
              <a:t>Information </a:t>
            </a:r>
            <a:r>
              <a:rPr dirty="0" sz="1150" spc="-90" b="1">
                <a:latin typeface="Arial"/>
                <a:cs typeface="Arial"/>
              </a:rPr>
              <a:t>seeking</a:t>
            </a:r>
            <a:r>
              <a:rPr dirty="0" sz="1150" spc="-90">
                <a:latin typeface="Arial"/>
                <a:cs typeface="Arial"/>
              </a:rPr>
              <a:t>: </a:t>
            </a:r>
            <a:r>
              <a:rPr dirty="0" sz="1150" spc="-85">
                <a:latin typeface="Arial"/>
                <a:cs typeface="Arial"/>
              </a:rPr>
              <a:t>Sources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65">
                <a:latin typeface="Arial"/>
                <a:cs typeface="Arial"/>
              </a:rPr>
              <a:t>range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50">
                <a:latin typeface="Arial"/>
                <a:cs typeface="Arial"/>
              </a:rPr>
              <a:t>personal </a:t>
            </a:r>
            <a:r>
              <a:rPr dirty="0" sz="1150" spc="-60">
                <a:latin typeface="Arial"/>
                <a:cs typeface="Arial"/>
              </a:rPr>
              <a:t>sources,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35">
                <a:latin typeface="Arial"/>
                <a:cs typeface="Arial"/>
              </a:rPr>
              <a:t>marketing </a:t>
            </a:r>
            <a:r>
              <a:rPr dirty="0" sz="1150" spc="-65">
                <a:latin typeface="Arial"/>
                <a:cs typeface="Arial"/>
              </a:rPr>
              <a:t>sources,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public </a:t>
            </a:r>
            <a:r>
              <a:rPr dirty="0" sz="1150" spc="-60">
                <a:latin typeface="Arial"/>
                <a:cs typeface="Arial"/>
              </a:rPr>
              <a:t>sources,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experience. </a:t>
            </a:r>
            <a:r>
              <a:rPr dirty="0" sz="1150" spc="-60">
                <a:latin typeface="Arial"/>
                <a:cs typeface="Arial"/>
              </a:rPr>
              <a:t>Depending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product, 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65">
                <a:latin typeface="Arial"/>
                <a:cs typeface="Arial"/>
              </a:rPr>
              <a:t>seeking </a:t>
            </a:r>
            <a:r>
              <a:rPr dirty="0" sz="1150" spc="-70">
                <a:latin typeface="Arial"/>
                <a:cs typeface="Arial"/>
              </a:rPr>
              <a:t>ranges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40">
                <a:latin typeface="Arial"/>
                <a:cs typeface="Arial"/>
              </a:rPr>
              <a:t>superficial </a:t>
            </a:r>
            <a:r>
              <a:rPr dirty="0" sz="1150" spc="-60">
                <a:latin typeface="Arial"/>
                <a:cs typeface="Arial"/>
              </a:rPr>
              <a:t>(e.g. </a:t>
            </a:r>
            <a:r>
              <a:rPr dirty="0" sz="1150" spc="-30">
                <a:latin typeface="Arial"/>
                <a:cs typeface="Arial"/>
              </a:rPr>
              <a:t>"Where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15">
                <a:latin typeface="Arial"/>
                <a:cs typeface="Arial"/>
              </a:rPr>
              <a:t>soft </a:t>
            </a:r>
            <a:r>
              <a:rPr dirty="0" sz="1150" spc="-25">
                <a:latin typeface="Arial"/>
                <a:cs typeface="Arial"/>
              </a:rPr>
              <a:t>drink  </a:t>
            </a:r>
            <a:r>
              <a:rPr dirty="0" sz="1150" spc="-50">
                <a:latin typeface="Arial"/>
                <a:cs typeface="Arial"/>
              </a:rPr>
              <a:t>machine?")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extensive </a:t>
            </a:r>
            <a:r>
              <a:rPr dirty="0" sz="1150" spc="-60">
                <a:latin typeface="Arial"/>
                <a:cs typeface="Arial"/>
              </a:rPr>
              <a:t>(e.g. </a:t>
            </a:r>
            <a:r>
              <a:rPr dirty="0" sz="1150" spc="-25">
                <a:latin typeface="Arial"/>
                <a:cs typeface="Arial"/>
              </a:rPr>
              <a:t>library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research).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135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25368" y="7581393"/>
            <a:ext cx="17208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35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87498" y="7581393"/>
            <a:ext cx="5055235" cy="558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80" b="1">
                <a:latin typeface="Arial"/>
                <a:cs typeface="Arial"/>
              </a:rPr>
              <a:t>Evaluation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60" b="1">
                <a:latin typeface="Arial"/>
                <a:cs typeface="Arial"/>
              </a:rPr>
              <a:t>alternatives</a:t>
            </a:r>
            <a:r>
              <a:rPr dirty="0" sz="1150" spc="-60">
                <a:latin typeface="Arial"/>
                <a:cs typeface="Arial"/>
              </a:rPr>
              <a:t>: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45">
                <a:latin typeface="Arial"/>
                <a:cs typeface="Arial"/>
              </a:rPr>
              <a:t>step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essentially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matching </a:t>
            </a:r>
            <a:r>
              <a:rPr dirty="0" sz="1150" spc="-60">
                <a:latin typeface="Arial"/>
                <a:cs typeface="Arial"/>
              </a:rPr>
              <a:t>process: </a:t>
            </a:r>
            <a:r>
              <a:rPr dirty="0" sz="1150" spc="-55">
                <a:latin typeface="Arial"/>
                <a:cs typeface="Arial"/>
              </a:rPr>
              <a:t>How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 spc="-20">
                <a:latin typeface="Arial"/>
                <a:cs typeface="Arial"/>
              </a:rPr>
              <a:t>the  attributes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products </a:t>
            </a:r>
            <a:r>
              <a:rPr dirty="0" sz="1150" spc="-45">
                <a:latin typeface="Arial"/>
                <a:cs typeface="Arial"/>
              </a:rPr>
              <a:t>you </a:t>
            </a:r>
            <a:r>
              <a:rPr dirty="0" sz="1150" spc="-50">
                <a:latin typeface="Arial"/>
                <a:cs typeface="Arial"/>
              </a:rPr>
              <a:t>are considering </a:t>
            </a:r>
            <a:r>
              <a:rPr dirty="0" sz="1150" spc="-40">
                <a:latin typeface="Arial"/>
                <a:cs typeface="Arial"/>
              </a:rPr>
              <a:t>match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30">
                <a:latin typeface="Arial"/>
                <a:cs typeface="Arial"/>
              </a:rPr>
              <a:t>your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wants?  </a:t>
            </a:r>
            <a:r>
              <a:rPr dirty="0" sz="1150" spc="-55">
                <a:latin typeface="Arial"/>
                <a:cs typeface="Arial"/>
              </a:rPr>
              <a:t>Here,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too,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evaluation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process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can</a:t>
            </a:r>
            <a:r>
              <a:rPr dirty="0" sz="1150" spc="-60">
                <a:latin typeface="Arial"/>
                <a:cs typeface="Arial"/>
              </a:rPr>
              <a:t> range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from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brief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protract.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6228" y="8294624"/>
            <a:ext cx="5328285" cy="7359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283845" marR="5080" indent="-271780">
              <a:lnSpc>
                <a:spcPct val="101699"/>
              </a:lnSpc>
              <a:spcBef>
                <a:spcPts val="75"/>
              </a:spcBef>
            </a:pPr>
            <a:r>
              <a:rPr dirty="0" sz="1150" spc="-65">
                <a:latin typeface="Arial"/>
                <a:cs typeface="Arial"/>
              </a:rPr>
              <a:t>IV. </a:t>
            </a:r>
            <a:r>
              <a:rPr dirty="0" sz="1150" spc="-110" b="1">
                <a:latin typeface="Arial"/>
                <a:cs typeface="Arial"/>
              </a:rPr>
              <a:t>Purchase </a:t>
            </a:r>
            <a:r>
              <a:rPr dirty="0" sz="1150" spc="-85" b="1">
                <a:latin typeface="Arial"/>
                <a:cs typeface="Arial"/>
              </a:rPr>
              <a:t>decision</a:t>
            </a:r>
            <a:r>
              <a:rPr dirty="0" sz="1150" spc="-85">
                <a:latin typeface="Arial"/>
                <a:cs typeface="Arial"/>
              </a:rPr>
              <a:t>: </a:t>
            </a:r>
            <a:r>
              <a:rPr dirty="0" sz="1150" spc="-80">
                <a:latin typeface="Arial"/>
                <a:cs typeface="Arial"/>
              </a:rPr>
              <a:t>Purchase </a:t>
            </a:r>
            <a:r>
              <a:rPr dirty="0" sz="1150" spc="-60">
                <a:latin typeface="Arial"/>
                <a:cs typeface="Arial"/>
              </a:rPr>
              <a:t>decisions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typically </a:t>
            </a:r>
            <a:r>
              <a:rPr dirty="0" sz="1150" spc="-75">
                <a:latin typeface="Arial"/>
                <a:cs typeface="Arial"/>
              </a:rPr>
              <a:t>based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combination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25">
                <a:latin typeface="Arial"/>
                <a:cs typeface="Arial"/>
              </a:rPr>
              <a:t>rational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emotional </a:t>
            </a:r>
            <a:r>
              <a:rPr dirty="0" sz="1150" spc="-40">
                <a:latin typeface="Arial"/>
                <a:cs typeface="Arial"/>
              </a:rPr>
              <a:t>motives. </a:t>
            </a:r>
            <a:r>
              <a:rPr dirty="0" sz="1150" spc="-75" b="1">
                <a:latin typeface="Arial"/>
                <a:cs typeface="Arial"/>
              </a:rPr>
              <a:t>Rational </a:t>
            </a:r>
            <a:r>
              <a:rPr dirty="0" sz="1150" spc="-80" b="1">
                <a:latin typeface="Arial"/>
                <a:cs typeface="Arial"/>
              </a:rPr>
              <a:t>motives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75">
                <a:latin typeface="Arial"/>
                <a:cs typeface="Arial"/>
              </a:rPr>
              <a:t>based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45">
                <a:latin typeface="Arial"/>
                <a:cs typeface="Arial"/>
              </a:rPr>
              <a:t>logical </a:t>
            </a:r>
            <a:r>
              <a:rPr dirty="0" sz="1150" spc="-35">
                <a:latin typeface="Arial"/>
                <a:cs typeface="Arial"/>
              </a:rPr>
              <a:t>evaluation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20">
                <a:latin typeface="Arial"/>
                <a:cs typeface="Arial"/>
              </a:rPr>
              <a:t>attributes </a:t>
            </a:r>
            <a:r>
              <a:rPr dirty="0" sz="1150" spc="-55">
                <a:latin typeface="Arial"/>
                <a:cs typeface="Arial"/>
              </a:rPr>
              <a:t>(e.g. </a:t>
            </a:r>
            <a:r>
              <a:rPr dirty="0" sz="1150" spc="-45">
                <a:latin typeface="Arial"/>
                <a:cs typeface="Arial"/>
              </a:rPr>
              <a:t>cost, </a:t>
            </a:r>
            <a:r>
              <a:rPr dirty="0" sz="1150" spc="-25">
                <a:latin typeface="Arial"/>
                <a:cs typeface="Arial"/>
              </a:rPr>
              <a:t>quality, </a:t>
            </a:r>
            <a:r>
              <a:rPr dirty="0" sz="1150" spc="-60">
                <a:latin typeface="Arial"/>
                <a:cs typeface="Arial"/>
              </a:rPr>
              <a:t>usefulness). </a:t>
            </a:r>
            <a:r>
              <a:rPr dirty="0" sz="1150" spc="-80" b="1">
                <a:latin typeface="Arial"/>
                <a:cs typeface="Arial"/>
              </a:rPr>
              <a:t>Emotional motives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75">
                <a:latin typeface="Arial"/>
                <a:cs typeface="Arial"/>
              </a:rPr>
              <a:t>based </a:t>
            </a:r>
            <a:r>
              <a:rPr dirty="0" sz="1150" spc="-35">
                <a:latin typeface="Arial"/>
                <a:cs typeface="Arial"/>
              </a:rPr>
              <a:t>on  non-objective factors </a:t>
            </a:r>
            <a:r>
              <a:rPr dirty="0" sz="1150" spc="-55">
                <a:latin typeface="Arial"/>
                <a:cs typeface="Arial"/>
              </a:rPr>
              <a:t>(e.g. </a:t>
            </a:r>
            <a:r>
              <a:rPr dirty="0" sz="1150" spc="-10">
                <a:latin typeface="Arial"/>
                <a:cs typeface="Arial"/>
              </a:rPr>
              <a:t>"All </a:t>
            </a:r>
            <a:r>
              <a:rPr dirty="0" sz="1150" spc="-45">
                <a:latin typeface="Arial"/>
                <a:cs typeface="Arial"/>
              </a:rPr>
              <a:t>my </a:t>
            </a:r>
            <a:r>
              <a:rPr dirty="0" sz="1150" spc="-35">
                <a:latin typeface="Arial"/>
                <a:cs typeface="Arial"/>
              </a:rPr>
              <a:t>friends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45">
                <a:latin typeface="Arial"/>
                <a:cs typeface="Arial"/>
              </a:rPr>
              <a:t>4-inch high heel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shoes!").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52802" y="1070867"/>
            <a:ext cx="5290185" cy="7359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47015" marR="5080" indent="-234950">
              <a:lnSpc>
                <a:spcPct val="101699"/>
              </a:lnSpc>
              <a:spcBef>
                <a:spcPts val="75"/>
              </a:spcBef>
            </a:pPr>
            <a:r>
              <a:rPr dirty="0" sz="1150" spc="-75">
                <a:latin typeface="Arial"/>
                <a:cs typeface="Arial"/>
              </a:rPr>
              <a:t>V. </a:t>
            </a:r>
            <a:r>
              <a:rPr dirty="0" sz="1150" spc="-95" b="1">
                <a:latin typeface="Arial"/>
                <a:cs typeface="Arial"/>
              </a:rPr>
              <a:t>Post-purchase </a:t>
            </a:r>
            <a:r>
              <a:rPr dirty="0" sz="1150" spc="-60" b="1">
                <a:latin typeface="Arial"/>
                <a:cs typeface="Arial"/>
              </a:rPr>
              <a:t>evaluation</a:t>
            </a:r>
            <a:r>
              <a:rPr dirty="0" sz="1150" spc="-60">
                <a:latin typeface="Arial"/>
                <a:cs typeface="Arial"/>
              </a:rPr>
              <a:t>: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55">
                <a:latin typeface="Arial"/>
                <a:cs typeface="Arial"/>
              </a:rPr>
              <a:t>includes </a:t>
            </a:r>
            <a:r>
              <a:rPr dirty="0" sz="1150" spc="-40">
                <a:latin typeface="Arial"/>
                <a:cs typeface="Arial"/>
              </a:rPr>
              <a:t>everything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5">
                <a:latin typeface="Arial"/>
                <a:cs typeface="Arial"/>
              </a:rPr>
              <a:t>happens </a:t>
            </a: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sale.  </a:t>
            </a:r>
            <a:r>
              <a:rPr dirty="0" sz="1150" spc="-55">
                <a:latin typeface="Arial"/>
                <a:cs typeface="Arial"/>
              </a:rPr>
              <a:t>Satisfied </a:t>
            </a:r>
            <a:r>
              <a:rPr dirty="0" sz="1150" spc="-50">
                <a:latin typeface="Arial"/>
                <a:cs typeface="Arial"/>
              </a:rPr>
              <a:t>customers are </a:t>
            </a:r>
            <a:r>
              <a:rPr dirty="0" sz="1150" spc="-30">
                <a:latin typeface="Arial"/>
                <a:cs typeface="Arial"/>
              </a:rPr>
              <a:t>likely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repurchase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enjoyed,  </a:t>
            </a:r>
            <a:r>
              <a:rPr dirty="0" sz="1150" spc="-25">
                <a:latin typeface="Arial"/>
                <a:cs typeface="Arial"/>
              </a:rPr>
              <a:t>while </a:t>
            </a:r>
            <a:r>
              <a:rPr dirty="0" sz="1150" spc="-50">
                <a:latin typeface="Arial"/>
                <a:cs typeface="Arial"/>
              </a:rPr>
              <a:t>unhappy customers are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30">
                <a:latin typeface="Arial"/>
                <a:cs typeface="Arial"/>
              </a:rPr>
              <a:t>only unlikely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repurchase,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prone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50">
                <a:latin typeface="Arial"/>
                <a:cs typeface="Arial"/>
              </a:rPr>
              <a:t>broadcast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50">
                <a:latin typeface="Arial"/>
                <a:cs typeface="Arial"/>
              </a:rPr>
              <a:t>negative experience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20">
                <a:latin typeface="Arial"/>
                <a:cs typeface="Arial"/>
              </a:rPr>
              <a:t>potential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consumers.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136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302" y="891035"/>
            <a:ext cx="5511800" cy="1559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1850" spc="-145" b="1">
                <a:latin typeface="Arial"/>
                <a:cs typeface="Arial"/>
              </a:rPr>
              <a:t>Lecture</a:t>
            </a:r>
            <a:r>
              <a:rPr dirty="0" sz="1850" spc="-215" b="1">
                <a:latin typeface="Arial"/>
                <a:cs typeface="Arial"/>
              </a:rPr>
              <a:t> </a:t>
            </a:r>
            <a:r>
              <a:rPr dirty="0" sz="1650" spc="-80" b="1">
                <a:latin typeface="Arial"/>
                <a:cs typeface="Arial"/>
              </a:rPr>
              <a:t>27</a:t>
            </a:r>
            <a:endParaRPr sz="1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Arial"/>
              <a:cs typeface="Arial"/>
            </a:endParaRPr>
          </a:p>
          <a:p>
            <a:pPr marL="2049780" marR="186055" indent="-1856739">
              <a:lnSpc>
                <a:spcPct val="101699"/>
              </a:lnSpc>
            </a:pPr>
            <a:r>
              <a:rPr dirty="0" sz="1750" spc="-200" b="1">
                <a:latin typeface="Arial"/>
                <a:cs typeface="Arial"/>
              </a:rPr>
              <a:t>PRODUCT, </a:t>
            </a:r>
            <a:r>
              <a:rPr dirty="0" sz="1750" spc="-275" b="1">
                <a:latin typeface="Arial"/>
                <a:cs typeface="Arial"/>
              </a:rPr>
              <a:t>TYPES </a:t>
            </a:r>
            <a:r>
              <a:rPr dirty="0" sz="1750" spc="-220" b="1">
                <a:latin typeface="Arial"/>
                <a:cs typeface="Arial"/>
              </a:rPr>
              <a:t>OF </a:t>
            </a:r>
            <a:r>
              <a:rPr dirty="0" sz="1750" spc="-235" b="1">
                <a:latin typeface="Arial"/>
                <a:cs typeface="Arial"/>
              </a:rPr>
              <a:t>PRODUCTS </a:t>
            </a:r>
            <a:r>
              <a:rPr dirty="0" sz="1750" spc="-35" b="1">
                <a:latin typeface="Arial"/>
                <a:cs typeface="Arial"/>
              </a:rPr>
              <a:t>&amp; </a:t>
            </a:r>
            <a:r>
              <a:rPr dirty="0" sz="1750" spc="-290" b="1">
                <a:latin typeface="Arial"/>
                <a:cs typeface="Arial"/>
              </a:rPr>
              <a:t>STEPS </a:t>
            </a:r>
            <a:r>
              <a:rPr dirty="0" sz="1750" spc="-240" b="1">
                <a:latin typeface="Arial"/>
                <a:cs typeface="Arial"/>
              </a:rPr>
              <a:t>FOR </a:t>
            </a:r>
            <a:r>
              <a:rPr dirty="0" sz="1750" spc="-220" b="1">
                <a:latin typeface="Arial"/>
                <a:cs typeface="Arial"/>
              </a:rPr>
              <a:t>PRODUCT  </a:t>
            </a:r>
            <a:r>
              <a:rPr dirty="0" sz="1750" spc="-204" b="1">
                <a:latin typeface="Arial"/>
                <a:cs typeface="Arial"/>
              </a:rPr>
              <a:t>DEVELOPMENT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50">
                <a:latin typeface="Arial"/>
                <a:cs typeface="Arial"/>
              </a:rPr>
              <a:t>Product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137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302" y="2605535"/>
            <a:ext cx="5513705" cy="609282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45">
                <a:latin typeface="Arial"/>
                <a:cs typeface="Arial"/>
              </a:rPr>
              <a:t>Product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anything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0">
                <a:latin typeface="Arial"/>
                <a:cs typeface="Arial"/>
              </a:rPr>
              <a:t>offered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70">
                <a:latin typeface="Arial"/>
                <a:cs typeface="Arial"/>
              </a:rPr>
              <a:t>sale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0">
                <a:latin typeface="Arial"/>
                <a:cs typeface="Arial"/>
              </a:rPr>
              <a:t>return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45">
                <a:latin typeface="Arial"/>
                <a:cs typeface="Arial"/>
              </a:rPr>
              <a:t>earn  </a:t>
            </a:r>
            <a:r>
              <a:rPr dirty="0" sz="1150" spc="5">
                <a:latin typeface="Arial"/>
                <a:cs typeface="Arial"/>
              </a:rPr>
              <a:t>profit for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5">
                <a:latin typeface="Arial"/>
                <a:cs typeface="Arial"/>
              </a:rPr>
              <a:t>firm. </a:t>
            </a:r>
            <a:r>
              <a:rPr dirty="0" sz="1150" spc="-80">
                <a:latin typeface="Arial"/>
                <a:cs typeface="Arial"/>
              </a:rPr>
              <a:t>Every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65">
                <a:latin typeface="Arial"/>
                <a:cs typeface="Arial"/>
              </a:rPr>
              <a:t>some associated </a:t>
            </a:r>
            <a:r>
              <a:rPr dirty="0" sz="1150" spc="-35">
                <a:latin typeface="Arial"/>
                <a:cs typeface="Arial"/>
              </a:rPr>
              <a:t>benefits </a:t>
            </a:r>
            <a:r>
              <a:rPr dirty="0" sz="1150" spc="-75">
                <a:latin typeface="Arial"/>
                <a:cs typeface="Arial"/>
              </a:rPr>
              <a:t>based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features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that  </a:t>
            </a:r>
            <a:r>
              <a:rPr dirty="0" sz="1150" spc="-45">
                <a:latin typeface="Arial"/>
                <a:cs typeface="Arial"/>
              </a:rPr>
              <a:t>specified </a:t>
            </a:r>
            <a:r>
              <a:rPr dirty="0" sz="1150" spc="-25">
                <a:latin typeface="Arial"/>
                <a:cs typeface="Arial"/>
              </a:rPr>
              <a:t>product. </a:t>
            </a:r>
            <a:r>
              <a:rPr dirty="0" sz="1150" spc="-80">
                <a:latin typeface="Arial"/>
                <a:cs typeface="Arial"/>
              </a:rPr>
              <a:t>Every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set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identified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features.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35" b="1">
                <a:latin typeface="Arial"/>
                <a:cs typeface="Arial"/>
              </a:rPr>
              <a:t>Forms </a:t>
            </a:r>
            <a:r>
              <a:rPr dirty="0" sz="1350" spc="-60" b="1">
                <a:latin typeface="Arial"/>
                <a:cs typeface="Arial"/>
              </a:rPr>
              <a:t>of</a:t>
            </a:r>
            <a:r>
              <a:rPr dirty="0" sz="1350" spc="-30" b="1">
                <a:latin typeface="Arial"/>
                <a:cs typeface="Arial"/>
              </a:rPr>
              <a:t> </a:t>
            </a:r>
            <a:r>
              <a:rPr dirty="0" sz="1350" spc="-114" b="1">
                <a:latin typeface="Arial"/>
                <a:cs typeface="Arial"/>
              </a:rPr>
              <a:t>Products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60">
                <a:latin typeface="Arial"/>
                <a:cs typeface="Arial"/>
              </a:rPr>
              <a:t>General </a:t>
            </a:r>
            <a:r>
              <a:rPr dirty="0" sz="1150" spc="-35">
                <a:latin typeface="Arial"/>
                <a:cs typeface="Arial"/>
              </a:rPr>
              <a:t>forms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70">
                <a:latin typeface="Arial"/>
                <a:cs typeface="Arial"/>
              </a:rPr>
              <a:t>can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be: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85" b="1">
                <a:latin typeface="Arial"/>
                <a:cs typeface="Arial"/>
              </a:rPr>
              <a:t>Tangible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0">
                <a:latin typeface="Arial"/>
                <a:cs typeface="Arial"/>
              </a:rPr>
              <a:t>touch </a:t>
            </a:r>
            <a:r>
              <a:rPr dirty="0" sz="1150" spc="-50">
                <a:latin typeface="Arial"/>
                <a:cs typeface="Arial"/>
              </a:rPr>
              <a:t>physically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5">
                <a:latin typeface="Arial"/>
                <a:cs typeface="Arial"/>
              </a:rPr>
              <a:t>smelled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5">
                <a:latin typeface="Arial"/>
                <a:cs typeface="Arial"/>
              </a:rPr>
              <a:t>felt with </a:t>
            </a:r>
            <a:r>
              <a:rPr dirty="0" sz="1150" spc="-30">
                <a:latin typeface="Arial"/>
                <a:cs typeface="Arial"/>
              </a:rPr>
              <a:t>fingertips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called  </a:t>
            </a:r>
            <a:r>
              <a:rPr dirty="0" sz="1150" spc="-35">
                <a:latin typeface="Arial"/>
                <a:cs typeface="Arial"/>
              </a:rPr>
              <a:t>tangible</a:t>
            </a:r>
            <a:r>
              <a:rPr dirty="0" sz="1150" spc="-55">
                <a:latin typeface="Arial"/>
                <a:cs typeface="Arial"/>
              </a:rPr>
              <a:t> ones</a:t>
            </a:r>
            <a:r>
              <a:rPr dirty="0" sz="1150" spc="-55">
                <a:latin typeface="Times New Roman"/>
                <a:cs typeface="Times New Roman"/>
              </a:rPr>
              <a:t>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Times New Roman"/>
              <a:cs typeface="Times New Roman"/>
            </a:endParaRPr>
          </a:p>
          <a:p>
            <a:pPr marL="927100" indent="-229235">
              <a:lnSpc>
                <a:spcPct val="100000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65" b="1">
                <a:latin typeface="Arial"/>
                <a:cs typeface="Arial"/>
              </a:rPr>
              <a:t>Intangible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30">
                <a:latin typeface="Arial"/>
                <a:cs typeface="Arial"/>
              </a:rPr>
              <a:t>All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products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70">
                <a:latin typeface="Arial"/>
                <a:cs typeface="Arial"/>
              </a:rPr>
              <a:t> can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not</a:t>
            </a:r>
            <a:r>
              <a:rPr dirty="0" sz="1150" spc="-55">
                <a:latin typeface="Arial"/>
                <a:cs typeface="Arial"/>
              </a:rPr>
              <a:t> be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touched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physically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called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intangible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ones.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E.g.,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 spc="-45">
                <a:latin typeface="Arial"/>
                <a:cs typeface="Arial"/>
              </a:rPr>
              <a:t>you </a:t>
            </a:r>
            <a:r>
              <a:rPr dirty="0" sz="1150" spc="-55">
                <a:latin typeface="Arial"/>
                <a:cs typeface="Arial"/>
              </a:rPr>
              <a:t>observe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0">
                <a:latin typeface="Arial"/>
                <a:cs typeface="Arial"/>
              </a:rPr>
              <a:t>bill </a:t>
            </a:r>
            <a:r>
              <a:rPr dirty="0" sz="1150" spc="-40">
                <a:latin typeface="Arial"/>
                <a:cs typeface="Arial"/>
              </a:rPr>
              <a:t>board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35">
                <a:latin typeface="Arial"/>
                <a:cs typeface="Arial"/>
              </a:rPr>
              <a:t>juice </a:t>
            </a:r>
            <a:r>
              <a:rPr dirty="0" sz="1150" spc="-25">
                <a:latin typeface="Arial"/>
                <a:cs typeface="Arial"/>
              </a:rPr>
              <a:t>product, product </a:t>
            </a:r>
            <a:r>
              <a:rPr dirty="0" sz="1150" spc="-45">
                <a:latin typeface="Arial"/>
                <a:cs typeface="Arial"/>
              </a:rPr>
              <a:t>presented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10">
                <a:latin typeface="Arial"/>
                <a:cs typeface="Arial"/>
              </a:rPr>
              <a:t>bill </a:t>
            </a:r>
            <a:r>
              <a:rPr dirty="0" sz="1150" spc="-40">
                <a:latin typeface="Arial"/>
                <a:cs typeface="Arial"/>
              </a:rPr>
              <a:t>board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40">
                <a:latin typeface="Arial"/>
                <a:cs typeface="Arial"/>
              </a:rPr>
              <a:t>untouchable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45">
                <a:latin typeface="Arial"/>
                <a:cs typeface="Arial"/>
              </a:rPr>
              <a:t>you </a:t>
            </a:r>
            <a:r>
              <a:rPr dirty="0" sz="1150" spc="-25">
                <a:latin typeface="Arial"/>
                <a:cs typeface="Arial"/>
              </a:rPr>
              <a:t>can’t </a:t>
            </a:r>
            <a:r>
              <a:rPr dirty="0" sz="1150" spc="-30">
                <a:latin typeface="Arial"/>
                <a:cs typeface="Arial"/>
              </a:rPr>
              <a:t>feel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30">
                <a:latin typeface="Arial"/>
                <a:cs typeface="Arial"/>
              </a:rPr>
              <a:t>your </a:t>
            </a:r>
            <a:r>
              <a:rPr dirty="0" sz="1150" spc="-25">
                <a:latin typeface="Arial"/>
                <a:cs typeface="Arial"/>
              </a:rPr>
              <a:t>finger </a:t>
            </a:r>
            <a:r>
              <a:rPr dirty="0" sz="1150" spc="-5">
                <a:latin typeface="Arial"/>
                <a:cs typeface="Arial"/>
              </a:rPr>
              <a:t>or </a:t>
            </a:r>
            <a:r>
              <a:rPr dirty="0" sz="1150" spc="-45">
                <a:latin typeface="Arial"/>
                <a:cs typeface="Arial"/>
              </a:rPr>
              <a:t>smell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30">
                <a:latin typeface="Arial"/>
                <a:cs typeface="Arial"/>
              </a:rPr>
              <a:t>original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be  </a:t>
            </a:r>
            <a:r>
              <a:rPr dirty="0" sz="1150" spc="-35">
                <a:latin typeface="Arial"/>
                <a:cs typeface="Arial"/>
              </a:rPr>
              <a:t>tangible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45">
                <a:latin typeface="Arial"/>
                <a:cs typeface="Arial"/>
              </a:rPr>
              <a:t>you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35">
                <a:latin typeface="Arial"/>
                <a:cs typeface="Arial"/>
              </a:rPr>
              <a:t>taste </a:t>
            </a:r>
            <a:r>
              <a:rPr dirty="0" sz="1150" spc="5">
                <a:latin typeface="Arial"/>
                <a:cs typeface="Arial"/>
              </a:rPr>
              <a:t>it, </a:t>
            </a:r>
            <a:r>
              <a:rPr dirty="0" sz="1150" spc="-30">
                <a:latin typeface="Arial"/>
                <a:cs typeface="Arial"/>
              </a:rPr>
              <a:t>feel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0">
                <a:latin typeface="Arial"/>
                <a:cs typeface="Arial"/>
              </a:rPr>
              <a:t>smell </a:t>
            </a:r>
            <a:r>
              <a:rPr dirty="0" sz="1150" spc="10">
                <a:latin typeface="Arial"/>
                <a:cs typeface="Arial"/>
              </a:rPr>
              <a:t>it.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65" b="1">
                <a:latin typeface="Arial"/>
                <a:cs typeface="Arial"/>
              </a:rPr>
              <a:t>CLASSIFICATION </a:t>
            </a:r>
            <a:r>
              <a:rPr dirty="0" sz="1350" spc="-175" b="1">
                <a:latin typeface="Arial"/>
                <a:cs typeface="Arial"/>
              </a:rPr>
              <a:t>OF</a:t>
            </a:r>
            <a:r>
              <a:rPr dirty="0" sz="1350" spc="-204" b="1">
                <a:latin typeface="Arial"/>
                <a:cs typeface="Arial"/>
              </a:rPr>
              <a:t> </a:t>
            </a:r>
            <a:r>
              <a:rPr dirty="0" sz="1350" spc="-185" b="1">
                <a:latin typeface="Arial"/>
                <a:cs typeface="Arial"/>
              </a:rPr>
              <a:t>PRODUCTS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5">
                <a:latin typeface="Arial"/>
                <a:cs typeface="Arial"/>
              </a:rPr>
              <a:t>Products </a:t>
            </a:r>
            <a:r>
              <a:rPr dirty="0" sz="1150" spc="-50">
                <a:latin typeface="Arial"/>
                <a:cs typeface="Arial"/>
              </a:rPr>
              <a:t>are classified </a:t>
            </a:r>
            <a:r>
              <a:rPr dirty="0" sz="1150" spc="-114">
                <a:latin typeface="Arial"/>
                <a:cs typeface="Arial"/>
              </a:rPr>
              <a:t>as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under: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25" b="1">
                <a:latin typeface="Arial"/>
                <a:cs typeface="Arial"/>
              </a:rPr>
              <a:t>Consumer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Products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5">
                <a:latin typeface="Arial"/>
                <a:cs typeface="Arial"/>
              </a:rPr>
              <a:t>Products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65">
                <a:latin typeface="Arial"/>
                <a:cs typeface="Arial"/>
              </a:rPr>
              <a:t>consumers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50">
                <a:latin typeface="Arial"/>
                <a:cs typeface="Arial"/>
              </a:rPr>
              <a:t>are available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finished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60">
                <a:latin typeface="Arial"/>
                <a:cs typeface="Arial"/>
              </a:rPr>
              <a:t>consumable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forms.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75" b="1">
                <a:latin typeface="Arial"/>
                <a:cs typeface="Arial"/>
              </a:rPr>
              <a:t>Industrial </a:t>
            </a:r>
            <a:r>
              <a:rPr dirty="0" sz="1350" spc="-120" b="1">
                <a:latin typeface="Arial"/>
                <a:cs typeface="Arial"/>
              </a:rPr>
              <a:t>Products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5">
                <a:latin typeface="Arial"/>
                <a:cs typeface="Arial"/>
              </a:rPr>
              <a:t>Products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prepare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50">
                <a:latin typeface="Arial"/>
                <a:cs typeface="Arial"/>
              </a:rPr>
              <a:t>are called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5">
                <a:latin typeface="Arial"/>
                <a:cs typeface="Arial"/>
              </a:rPr>
              <a:t>industrial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products.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65" b="1">
                <a:latin typeface="Arial"/>
                <a:cs typeface="Arial"/>
              </a:rPr>
              <a:t>CATEGORIES </a:t>
            </a:r>
            <a:r>
              <a:rPr dirty="0" sz="1150" spc="-150" b="1">
                <a:latin typeface="Arial"/>
                <a:cs typeface="Arial"/>
              </a:rPr>
              <a:t>OF </a:t>
            </a:r>
            <a:r>
              <a:rPr dirty="0" sz="1150" spc="-135" b="1">
                <a:latin typeface="Arial"/>
                <a:cs typeface="Arial"/>
              </a:rPr>
              <a:t>CONSUMER</a:t>
            </a:r>
            <a:r>
              <a:rPr dirty="0" sz="1150" spc="-204" b="1">
                <a:latin typeface="Arial"/>
                <a:cs typeface="Arial"/>
              </a:rPr>
              <a:t> </a:t>
            </a:r>
            <a:r>
              <a:rPr dirty="0" sz="1150" spc="-150" b="1">
                <a:latin typeface="Arial"/>
                <a:cs typeface="Arial"/>
              </a:rPr>
              <a:t>GOODS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70">
                <a:latin typeface="Arial"/>
                <a:cs typeface="Arial"/>
              </a:rPr>
              <a:t>Consumer goods 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10">
                <a:latin typeface="Arial"/>
                <a:cs typeface="Arial"/>
              </a:rPr>
              <a:t>further </a:t>
            </a:r>
            <a:r>
              <a:rPr dirty="0" sz="1150" spc="-35">
                <a:latin typeface="Arial"/>
                <a:cs typeface="Arial"/>
              </a:rPr>
              <a:t>divided </a:t>
            </a:r>
            <a:r>
              <a:rPr dirty="0" sz="1150" spc="-110">
                <a:latin typeface="Arial"/>
                <a:cs typeface="Arial"/>
              </a:rPr>
              <a:t>as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under: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2435" cy="8107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100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50" spc="-95" b="1">
                <a:latin typeface="Arial"/>
                <a:cs typeface="Arial"/>
              </a:rPr>
              <a:t>Convenience</a:t>
            </a:r>
            <a:r>
              <a:rPr dirty="0" sz="1150" spc="-75" b="1">
                <a:latin typeface="Arial"/>
                <a:cs typeface="Arial"/>
              </a:rPr>
              <a:t> </a:t>
            </a:r>
            <a:r>
              <a:rPr dirty="0" sz="1150" spc="-120" b="1">
                <a:latin typeface="Arial"/>
                <a:cs typeface="Arial"/>
              </a:rPr>
              <a:t>goods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50" spc="-85">
                <a:latin typeface="Arial"/>
                <a:cs typeface="Arial"/>
              </a:rPr>
              <a:t>Goods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convenient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buy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customer.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55">
                <a:latin typeface="Arial"/>
                <a:cs typeface="Arial"/>
              </a:rPr>
              <a:t>Customer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35">
                <a:latin typeface="Arial"/>
                <a:cs typeface="Arial"/>
              </a:rPr>
              <a:t>complete </a:t>
            </a:r>
            <a:r>
              <a:rPr dirty="0" sz="1150" spc="-70">
                <a:latin typeface="Arial"/>
                <a:cs typeface="Arial"/>
              </a:rPr>
              <a:t>awareness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product.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0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55">
                <a:latin typeface="Arial"/>
                <a:cs typeface="Arial"/>
              </a:rPr>
              <a:t>Customer </a:t>
            </a:r>
            <a:r>
              <a:rPr dirty="0" sz="1150" spc="-70">
                <a:latin typeface="Arial"/>
                <a:cs typeface="Arial"/>
              </a:rPr>
              <a:t>buys </a:t>
            </a:r>
            <a:r>
              <a:rPr dirty="0" sz="1150" spc="-50">
                <a:latin typeface="Arial"/>
                <a:cs typeface="Arial"/>
              </a:rPr>
              <a:t>these </a:t>
            </a:r>
            <a:r>
              <a:rPr dirty="0" sz="1150" spc="-40">
                <a:latin typeface="Arial"/>
                <a:cs typeface="Arial"/>
              </a:rPr>
              <a:t>products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frequently.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85">
                <a:latin typeface="Arial"/>
                <a:cs typeface="Arial"/>
              </a:rPr>
              <a:t>Goods </a:t>
            </a:r>
            <a:r>
              <a:rPr dirty="0" sz="1150" spc="-50">
                <a:latin typeface="Arial"/>
                <a:cs typeface="Arial"/>
              </a:rPr>
              <a:t>available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45">
                <a:latin typeface="Arial"/>
                <a:cs typeface="Arial"/>
              </a:rPr>
              <a:t>near </a:t>
            </a:r>
            <a:r>
              <a:rPr dirty="0" sz="1150" spc="-70">
                <a:latin typeface="Arial"/>
                <a:cs typeface="Arial"/>
              </a:rPr>
              <a:t>places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customers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150" spc="-110" b="1">
                <a:latin typeface="Arial"/>
                <a:cs typeface="Arial"/>
              </a:rPr>
              <a:t>Shopping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125" b="1">
                <a:latin typeface="Arial"/>
                <a:cs typeface="Arial"/>
              </a:rPr>
              <a:t>Goods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50" spc="-65">
                <a:latin typeface="Arial"/>
                <a:cs typeface="Arial"/>
              </a:rPr>
              <a:t>Customers </a:t>
            </a:r>
            <a:r>
              <a:rPr dirty="0" sz="1150" spc="-55">
                <a:latin typeface="Arial"/>
                <a:cs typeface="Arial"/>
              </a:rPr>
              <a:t>move </a:t>
            </a:r>
            <a:r>
              <a:rPr dirty="0" sz="1150" spc="-15">
                <a:latin typeface="Arial"/>
                <a:cs typeface="Arial"/>
              </a:rPr>
              <a:t>farther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acquire </a:t>
            </a:r>
            <a:r>
              <a:rPr dirty="0" sz="1150" spc="-50">
                <a:latin typeface="Arial"/>
                <a:cs typeface="Arial"/>
              </a:rPr>
              <a:t>these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goods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65">
                <a:latin typeface="Arial"/>
                <a:cs typeface="Arial"/>
              </a:rPr>
              <a:t>Customers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70">
                <a:latin typeface="Arial"/>
                <a:cs typeface="Arial"/>
              </a:rPr>
              <a:t>search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getting </a:t>
            </a:r>
            <a:r>
              <a:rPr dirty="0" sz="1150" spc="-50">
                <a:latin typeface="Arial"/>
                <a:cs typeface="Arial"/>
              </a:rPr>
              <a:t>these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goods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55">
                <a:latin typeface="Arial"/>
                <a:cs typeface="Arial"/>
              </a:rPr>
              <a:t>Usually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50">
                <a:latin typeface="Arial"/>
                <a:cs typeface="Arial"/>
              </a:rPr>
              <a:t>standardized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these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goods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75">
                <a:latin typeface="Arial"/>
                <a:cs typeface="Arial"/>
              </a:rPr>
              <a:t>Prices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10">
                <a:latin typeface="Arial"/>
                <a:cs typeface="Arial"/>
              </a:rPr>
              <a:t>not </a:t>
            </a:r>
            <a:r>
              <a:rPr dirty="0" sz="1150" spc="-50">
                <a:latin typeface="Arial"/>
                <a:cs typeface="Arial"/>
              </a:rPr>
              <a:t>standardized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these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goods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150" spc="-85" b="1">
                <a:latin typeface="Arial"/>
                <a:cs typeface="Arial"/>
              </a:rPr>
              <a:t>Specialty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120" b="1">
                <a:latin typeface="Arial"/>
                <a:cs typeface="Arial"/>
              </a:rPr>
              <a:t>goods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these </a:t>
            </a:r>
            <a:r>
              <a:rPr dirty="0" sz="1150" spc="-35">
                <a:latin typeface="Arial"/>
                <a:cs typeface="Arial"/>
              </a:rPr>
              <a:t>products, </a:t>
            </a:r>
            <a:r>
              <a:rPr dirty="0" sz="1150" spc="-55">
                <a:latin typeface="Arial"/>
                <a:cs typeface="Arial"/>
              </a:rPr>
              <a:t>customers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40">
                <a:latin typeface="Arial"/>
                <a:cs typeface="Arial"/>
              </a:rPr>
              <a:t>strong brand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loyalty.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65">
                <a:latin typeface="Arial"/>
                <a:cs typeface="Arial"/>
              </a:rPr>
              <a:t>Customers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25">
                <a:latin typeface="Arial"/>
                <a:cs typeface="Arial"/>
              </a:rPr>
              <a:t>quality, </a:t>
            </a:r>
            <a:r>
              <a:rPr dirty="0" sz="1150" spc="-45">
                <a:latin typeface="Arial"/>
                <a:cs typeface="Arial"/>
              </a:rPr>
              <a:t>status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45">
                <a:latin typeface="Arial"/>
                <a:cs typeface="Arial"/>
              </a:rPr>
              <a:t>standard </a:t>
            </a:r>
            <a:r>
              <a:rPr dirty="0" sz="1150" spc="-65">
                <a:latin typeface="Arial"/>
                <a:cs typeface="Arial"/>
              </a:rPr>
              <a:t>conscious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these </a:t>
            </a:r>
            <a:r>
              <a:rPr dirty="0" sz="1150" spc="-35">
                <a:latin typeface="Arial"/>
                <a:cs typeface="Arial"/>
              </a:rPr>
              <a:t>products.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Font typeface="Wingdings"/>
              <a:buChar char=""/>
            </a:pPr>
            <a:endParaRPr sz="13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Wingdings"/>
              <a:buChar char=""/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90" b="1">
                <a:latin typeface="Arial"/>
                <a:cs typeface="Arial"/>
              </a:rPr>
              <a:t>CATEGORIES </a:t>
            </a:r>
            <a:r>
              <a:rPr dirty="0" sz="1350" spc="-175" b="1">
                <a:latin typeface="Arial"/>
                <a:cs typeface="Arial"/>
              </a:rPr>
              <a:t>OF </a:t>
            </a:r>
            <a:r>
              <a:rPr dirty="0" sz="1350" spc="-140" b="1">
                <a:latin typeface="Arial"/>
                <a:cs typeface="Arial"/>
              </a:rPr>
              <a:t>INDUSTRIAL</a:t>
            </a:r>
            <a:r>
              <a:rPr dirty="0" sz="1350" spc="-235" b="1">
                <a:latin typeface="Arial"/>
                <a:cs typeface="Arial"/>
              </a:rPr>
              <a:t> </a:t>
            </a:r>
            <a:r>
              <a:rPr dirty="0" sz="1350" spc="-175" b="1">
                <a:latin typeface="Arial"/>
                <a:cs typeface="Arial"/>
              </a:rPr>
              <a:t>GOODS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30">
                <a:latin typeface="Arial"/>
                <a:cs typeface="Arial"/>
              </a:rPr>
              <a:t>Industrial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20">
                <a:latin typeface="Arial"/>
                <a:cs typeface="Arial"/>
              </a:rPr>
              <a:t>following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categories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150" spc="-75" b="1">
                <a:latin typeface="Arial"/>
                <a:cs typeface="Arial"/>
              </a:rPr>
              <a:t>Capital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Items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capital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goods.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0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long </a:t>
            </a:r>
            <a:r>
              <a:rPr dirty="0" sz="1150" spc="-35">
                <a:latin typeface="Arial"/>
                <a:cs typeface="Arial"/>
              </a:rPr>
              <a:t>lived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expensive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goods.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65">
                <a:latin typeface="Arial"/>
                <a:cs typeface="Arial"/>
              </a:rPr>
              <a:t>Sometimes </a:t>
            </a:r>
            <a:r>
              <a:rPr dirty="0" sz="1150" spc="-45">
                <a:latin typeface="Arial"/>
                <a:cs typeface="Arial"/>
              </a:rPr>
              <a:t>copyrights </a:t>
            </a:r>
            <a:r>
              <a:rPr dirty="0" sz="1150" spc="-50">
                <a:latin typeface="Arial"/>
                <a:cs typeface="Arial"/>
              </a:rPr>
              <a:t>are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purchased.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150" spc="-114" b="1">
                <a:latin typeface="Arial"/>
                <a:cs typeface="Arial"/>
              </a:rPr>
              <a:t>Expense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Items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70">
                <a:latin typeface="Arial"/>
                <a:cs typeface="Arial"/>
              </a:rPr>
              <a:t>can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be:</a:t>
            </a:r>
            <a:endParaRPr sz="1150">
              <a:latin typeface="Arial"/>
              <a:cs typeface="Arial"/>
            </a:endParaRPr>
          </a:p>
          <a:p>
            <a:pPr lvl="2" marL="1384300" indent="-22860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1384300" algn="l"/>
              </a:tabLst>
            </a:pPr>
            <a:r>
              <a:rPr dirty="0" sz="1150" spc="-105">
                <a:latin typeface="Arial"/>
                <a:cs typeface="Arial"/>
              </a:rPr>
              <a:t>Raw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Material</a:t>
            </a:r>
            <a:endParaRPr sz="1150">
              <a:latin typeface="Arial"/>
              <a:cs typeface="Arial"/>
            </a:endParaRPr>
          </a:p>
          <a:p>
            <a:pPr lvl="2" marL="13843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1384300" algn="l"/>
              </a:tabLst>
            </a:pPr>
            <a:r>
              <a:rPr dirty="0" sz="1150" spc="-95">
                <a:latin typeface="Arial"/>
                <a:cs typeface="Arial"/>
              </a:rPr>
              <a:t>Some </a:t>
            </a:r>
            <a:r>
              <a:rPr dirty="0" sz="1150" spc="5">
                <a:latin typeface="Arial"/>
                <a:cs typeface="Arial"/>
              </a:rPr>
              <a:t>utility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items</a:t>
            </a:r>
            <a:endParaRPr sz="1150">
              <a:latin typeface="Arial"/>
              <a:cs typeface="Arial"/>
            </a:endParaRPr>
          </a:p>
          <a:p>
            <a:pPr lvl="3" marL="1841500" indent="-228600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1840864" algn="l"/>
                <a:tab pos="1841500" algn="l"/>
              </a:tabLst>
            </a:pPr>
            <a:r>
              <a:rPr dirty="0" sz="1150" spc="-40">
                <a:latin typeface="Arial"/>
                <a:cs typeface="Arial"/>
              </a:rPr>
              <a:t>Oil</a:t>
            </a:r>
            <a:endParaRPr sz="1150">
              <a:latin typeface="Arial"/>
              <a:cs typeface="Arial"/>
            </a:endParaRPr>
          </a:p>
          <a:p>
            <a:pPr lvl="3" marL="18415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1840864" algn="l"/>
                <a:tab pos="1841500" algn="l"/>
              </a:tabLst>
            </a:pPr>
            <a:r>
              <a:rPr dirty="0" sz="1150" spc="-85">
                <a:latin typeface="Arial"/>
                <a:cs typeface="Arial"/>
              </a:rPr>
              <a:t>Grease</a:t>
            </a:r>
            <a:endParaRPr sz="1150">
              <a:latin typeface="Arial"/>
              <a:cs typeface="Arial"/>
            </a:endParaRPr>
          </a:p>
          <a:p>
            <a:pPr lvl="2" marL="1384300" indent="-229235">
              <a:lnSpc>
                <a:spcPct val="100000"/>
              </a:lnSpc>
              <a:spcBef>
                <a:spcPts val="20"/>
              </a:spcBef>
              <a:buFont typeface="Wingdings"/>
              <a:buChar char=""/>
              <a:tabLst>
                <a:tab pos="1384300" algn="l"/>
              </a:tabLst>
            </a:pPr>
            <a:r>
              <a:rPr dirty="0" sz="1150" spc="-95">
                <a:latin typeface="Arial"/>
                <a:cs typeface="Arial"/>
              </a:rPr>
              <a:t>Some </a:t>
            </a:r>
            <a:r>
              <a:rPr dirty="0" sz="1150" spc="-30">
                <a:latin typeface="Arial"/>
                <a:cs typeface="Arial"/>
              </a:rPr>
              <a:t>tools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operations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70" b="1">
                <a:latin typeface="Arial"/>
                <a:cs typeface="Arial"/>
              </a:rPr>
              <a:t>PRODUCT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40" b="1">
                <a:latin typeface="Arial"/>
                <a:cs typeface="Arial"/>
              </a:rPr>
              <a:t>MIX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6985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Product </a:t>
            </a:r>
            <a:r>
              <a:rPr dirty="0" sz="1150" spc="-40">
                <a:latin typeface="Arial"/>
                <a:cs typeface="Arial"/>
              </a:rPr>
              <a:t>mix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defined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combination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40">
                <a:latin typeface="Arial"/>
                <a:cs typeface="Arial"/>
              </a:rPr>
              <a:t>those products </a:t>
            </a:r>
            <a:r>
              <a:rPr dirty="0" sz="1150" spc="-20">
                <a:latin typeface="Arial"/>
                <a:cs typeface="Arial"/>
              </a:rPr>
              <a:t>offered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 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65">
                <a:latin typeface="Arial"/>
                <a:cs typeface="Arial"/>
              </a:rPr>
              <a:t>sale. </a:t>
            </a:r>
            <a:r>
              <a:rPr dirty="0" sz="1150" spc="-25">
                <a:latin typeface="Arial"/>
                <a:cs typeface="Arial"/>
              </a:rPr>
              <a:t>It’s </a:t>
            </a:r>
            <a:r>
              <a:rPr dirty="0" u="heavy" sz="1150" spc="-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width </a:t>
            </a:r>
            <a:r>
              <a:rPr dirty="0" u="heavy" sz="1150" spc="-8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wise</a:t>
            </a:r>
            <a:r>
              <a:rPr dirty="0" sz="1150" spc="-80" b="1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expansion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55">
                <a:latin typeface="Arial"/>
                <a:cs typeface="Arial"/>
              </a:rPr>
              <a:t>companies.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35">
                <a:latin typeface="Arial"/>
                <a:cs typeface="Arial"/>
              </a:rPr>
              <a:t>Production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cars, </a:t>
            </a:r>
            <a:r>
              <a:rPr dirty="0" sz="1150" spc="-40">
                <a:latin typeface="Arial"/>
                <a:cs typeface="Arial"/>
              </a:rPr>
              <a:t>trucks </a:t>
            </a:r>
            <a:r>
              <a:rPr dirty="0" sz="1150" spc="-5">
                <a:latin typeface="Arial"/>
                <a:cs typeface="Arial"/>
              </a:rPr>
              <a:t>motor </a:t>
            </a:r>
            <a:r>
              <a:rPr dirty="0" sz="1150" spc="-60">
                <a:latin typeface="Arial"/>
                <a:cs typeface="Arial"/>
              </a:rPr>
              <a:t>cycle </a:t>
            </a:r>
            <a:r>
              <a:rPr dirty="0" sz="1150" spc="-40">
                <a:latin typeface="Arial"/>
                <a:cs typeface="Arial"/>
              </a:rPr>
              <a:t>etc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55">
                <a:latin typeface="Arial"/>
                <a:cs typeface="Arial"/>
              </a:rPr>
              <a:t>vehicles </a:t>
            </a:r>
            <a:r>
              <a:rPr dirty="0" sz="1150" spc="-45">
                <a:latin typeface="Arial"/>
                <a:cs typeface="Arial"/>
              </a:rPr>
              <a:t>produced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85">
                <a:latin typeface="Arial"/>
                <a:cs typeface="Arial"/>
              </a:rPr>
              <a:t>same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examples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product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mix.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138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4340" cy="4425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 b="1">
                <a:latin typeface="Arial"/>
                <a:cs typeface="Arial"/>
              </a:rPr>
              <a:t>PRODUCT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55" b="1">
                <a:latin typeface="Arial"/>
                <a:cs typeface="Arial"/>
              </a:rPr>
              <a:t>LINE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650">
              <a:latin typeface="Arial"/>
              <a:cs typeface="Arial"/>
            </a:endParaRPr>
          </a:p>
          <a:p>
            <a:pPr algn="just" marL="927100" indent="-229235">
              <a:lnSpc>
                <a:spcPct val="100000"/>
              </a:lnSpc>
              <a:spcBef>
                <a:spcPts val="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45">
                <a:latin typeface="Arial"/>
                <a:cs typeface="Arial"/>
              </a:rPr>
              <a:t>Depth </a:t>
            </a:r>
            <a:r>
              <a:rPr dirty="0" sz="1150" spc="-50">
                <a:latin typeface="Arial"/>
                <a:cs typeface="Arial"/>
              </a:rPr>
              <a:t>wise </a:t>
            </a:r>
            <a:r>
              <a:rPr dirty="0" sz="1150" spc="-60">
                <a:latin typeface="Arial"/>
                <a:cs typeface="Arial"/>
              </a:rPr>
              <a:t>expansion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25">
                <a:latin typeface="Arial"/>
                <a:cs typeface="Arial"/>
              </a:rPr>
              <a:t>product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line</a:t>
            </a:r>
            <a:endParaRPr sz="1150">
              <a:latin typeface="Arial"/>
              <a:cs typeface="Arial"/>
            </a:endParaRPr>
          </a:p>
          <a:p>
            <a:pPr algn="just" marL="927100" marR="6985" indent="-229235">
              <a:lnSpc>
                <a:spcPct val="101699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55">
                <a:latin typeface="Arial"/>
                <a:cs typeface="Arial"/>
              </a:rPr>
              <a:t>Products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similar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0">
                <a:latin typeface="Arial"/>
                <a:cs typeface="Arial"/>
              </a:rPr>
              <a:t>each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55">
                <a:latin typeface="Arial"/>
                <a:cs typeface="Arial"/>
              </a:rPr>
              <a:t>.e.g. </a:t>
            </a:r>
            <a:r>
              <a:rPr dirty="0" sz="1150" spc="20">
                <a:latin typeface="Arial"/>
                <a:cs typeface="Arial"/>
              </a:rPr>
              <a:t>if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producing </a:t>
            </a:r>
            <a:r>
              <a:rPr dirty="0" sz="1150" spc="-125">
                <a:latin typeface="Arial"/>
                <a:cs typeface="Arial"/>
              </a:rPr>
              <a:t>TV  </a:t>
            </a:r>
            <a:r>
              <a:rPr dirty="0" sz="1150" spc="-60">
                <a:latin typeface="Arial"/>
                <a:cs typeface="Arial"/>
              </a:rPr>
              <a:t>sets, </a:t>
            </a:r>
            <a:r>
              <a:rPr dirty="0" sz="1150" spc="-35">
                <a:latin typeface="Arial"/>
                <a:cs typeface="Arial"/>
              </a:rPr>
              <a:t>like </a:t>
            </a:r>
            <a:r>
              <a:rPr dirty="0" sz="1150" spc="-60">
                <a:latin typeface="Arial"/>
                <a:cs typeface="Arial"/>
              </a:rPr>
              <a:t>black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15">
                <a:latin typeface="Arial"/>
                <a:cs typeface="Arial"/>
              </a:rPr>
              <a:t>white, </a:t>
            </a:r>
            <a:r>
              <a:rPr dirty="0" sz="1150" spc="-40">
                <a:latin typeface="Arial"/>
                <a:cs typeface="Arial"/>
              </a:rPr>
              <a:t>medium </a:t>
            </a:r>
            <a:r>
              <a:rPr dirty="0" sz="1150" spc="-65">
                <a:latin typeface="Arial"/>
                <a:cs typeface="Arial"/>
              </a:rPr>
              <a:t>sized, </a:t>
            </a:r>
            <a:r>
              <a:rPr dirty="0" sz="1150" spc="-50">
                <a:latin typeface="Arial"/>
                <a:cs typeface="Arial"/>
              </a:rPr>
              <a:t>large </a:t>
            </a:r>
            <a:r>
              <a:rPr dirty="0" sz="1150" spc="-80">
                <a:latin typeface="Arial"/>
                <a:cs typeface="Arial"/>
              </a:rPr>
              <a:t>size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50">
                <a:latin typeface="Arial"/>
                <a:cs typeface="Arial"/>
              </a:rPr>
              <a:t>small </a:t>
            </a:r>
            <a:r>
              <a:rPr dirty="0" sz="1150" spc="-80">
                <a:latin typeface="Arial"/>
                <a:cs typeface="Arial"/>
              </a:rPr>
              <a:t>size </a:t>
            </a:r>
            <a:r>
              <a:rPr dirty="0" sz="1150" spc="-100">
                <a:latin typeface="Arial"/>
                <a:cs typeface="Arial"/>
              </a:rPr>
              <a:t>TV, </a:t>
            </a:r>
            <a:r>
              <a:rPr dirty="0" sz="1150" spc="-25">
                <a:latin typeface="Arial"/>
                <a:cs typeface="Arial"/>
              </a:rPr>
              <a:t>then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>
                <a:latin typeface="Arial"/>
                <a:cs typeface="Arial"/>
              </a:rPr>
              <a:t>will 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50">
                <a:latin typeface="Arial"/>
                <a:cs typeface="Arial"/>
              </a:rPr>
              <a:t>lines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company.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225" b="1">
                <a:latin typeface="Arial"/>
                <a:cs typeface="Arial"/>
              </a:rPr>
              <a:t>STEPS </a:t>
            </a:r>
            <a:r>
              <a:rPr dirty="0" sz="1350" spc="-195" b="1">
                <a:latin typeface="Arial"/>
                <a:cs typeface="Arial"/>
              </a:rPr>
              <a:t>FOR </a:t>
            </a:r>
            <a:r>
              <a:rPr dirty="0" sz="1350" spc="-170" b="1">
                <a:latin typeface="Arial"/>
                <a:cs typeface="Arial"/>
              </a:rPr>
              <a:t>PRODUCT</a:t>
            </a:r>
            <a:r>
              <a:rPr dirty="0" sz="1350" spc="-125" b="1">
                <a:latin typeface="Arial"/>
                <a:cs typeface="Arial"/>
              </a:rPr>
              <a:t> </a:t>
            </a:r>
            <a:r>
              <a:rPr dirty="0" sz="1350" spc="-160" b="1">
                <a:latin typeface="Arial"/>
                <a:cs typeface="Arial"/>
              </a:rPr>
              <a:t>DEVELOPMENT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45">
                <a:latin typeface="Arial"/>
                <a:cs typeface="Arial"/>
              </a:rPr>
              <a:t>Following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important </a:t>
            </a:r>
            <a:r>
              <a:rPr dirty="0" sz="1150" spc="-60">
                <a:latin typeface="Arial"/>
                <a:cs typeface="Arial"/>
              </a:rPr>
              <a:t>steps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35">
                <a:latin typeface="Arial"/>
                <a:cs typeface="Arial"/>
              </a:rPr>
              <a:t>development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process: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5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50" spc="-50">
                <a:latin typeface="Arial"/>
                <a:cs typeface="Arial"/>
              </a:rPr>
              <a:t>Recognition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unsatisfied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needs.</a:t>
            </a:r>
            <a:endParaRPr sz="11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20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50" spc="-60">
                <a:latin typeface="Arial"/>
                <a:cs typeface="Arial"/>
              </a:rPr>
              <a:t>Idea </a:t>
            </a:r>
            <a:r>
              <a:rPr dirty="0" sz="1150" spc="-45">
                <a:latin typeface="Arial"/>
                <a:cs typeface="Arial"/>
              </a:rPr>
              <a:t>Generation.</a:t>
            </a:r>
            <a:endParaRPr sz="11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50" spc="-60">
                <a:latin typeface="Arial"/>
                <a:cs typeface="Arial"/>
              </a:rPr>
              <a:t>Idea </a:t>
            </a:r>
            <a:r>
              <a:rPr dirty="0" sz="1150" spc="-70">
                <a:latin typeface="Arial"/>
                <a:cs typeface="Arial"/>
              </a:rPr>
              <a:t>Screening.</a:t>
            </a:r>
            <a:endParaRPr sz="11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50" spc="-30">
                <a:latin typeface="Arial"/>
                <a:cs typeface="Arial"/>
              </a:rPr>
              <a:t>Prototype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70">
                <a:latin typeface="Arial"/>
                <a:cs typeface="Arial"/>
              </a:rPr>
              <a:t>Physical </a:t>
            </a:r>
            <a:r>
              <a:rPr dirty="0" sz="1150" spc="-75">
                <a:latin typeface="Arial"/>
                <a:cs typeface="Arial"/>
              </a:rPr>
              <a:t>shape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product.</a:t>
            </a:r>
            <a:endParaRPr sz="11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50" spc="-45">
                <a:latin typeface="Arial"/>
                <a:cs typeface="Arial"/>
              </a:rPr>
              <a:t>Product</a:t>
            </a:r>
            <a:r>
              <a:rPr dirty="0" sz="1150" spc="-60">
                <a:latin typeface="Arial"/>
                <a:cs typeface="Arial"/>
              </a:rPr>
              <a:t> Testing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0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85">
                <a:latin typeface="Arial"/>
                <a:cs typeface="Arial"/>
              </a:rPr>
              <a:t>Tests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>
                <a:latin typeface="Arial"/>
                <a:cs typeface="Arial"/>
              </a:rPr>
              <a:t>of two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types:</a:t>
            </a:r>
            <a:endParaRPr sz="1150">
              <a:latin typeface="Arial"/>
              <a:cs typeface="Arial"/>
            </a:endParaRPr>
          </a:p>
          <a:p>
            <a:pPr lvl="2" marL="13843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1384935" algn="l"/>
              </a:tabLst>
            </a:pPr>
            <a:r>
              <a:rPr dirty="0" sz="1150" spc="-45">
                <a:latin typeface="Arial"/>
                <a:cs typeface="Arial"/>
              </a:rPr>
              <a:t>Laboratory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Test.</a:t>
            </a:r>
            <a:endParaRPr sz="1150">
              <a:latin typeface="Arial"/>
              <a:cs typeface="Arial"/>
            </a:endParaRPr>
          </a:p>
          <a:p>
            <a:pPr lvl="2" marL="13843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1384935" algn="l"/>
              </a:tabLst>
            </a:pPr>
            <a:r>
              <a:rPr dirty="0" sz="1150" spc="-20">
                <a:latin typeface="Arial"/>
                <a:cs typeface="Arial"/>
              </a:rPr>
              <a:t>Market </a:t>
            </a:r>
            <a:r>
              <a:rPr dirty="0" sz="1150" spc="-70">
                <a:latin typeface="Arial"/>
                <a:cs typeface="Arial"/>
              </a:rPr>
              <a:t>Test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70">
                <a:latin typeface="Arial"/>
                <a:cs typeface="Arial"/>
              </a:rPr>
              <a:t>Test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Marketing.</a:t>
            </a:r>
            <a:endParaRPr sz="1150">
              <a:latin typeface="Arial"/>
              <a:cs typeface="Arial"/>
            </a:endParaRPr>
          </a:p>
          <a:p>
            <a:pPr lvl="3" marL="1841500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1840864" algn="l"/>
                <a:tab pos="1842135" algn="l"/>
              </a:tabLst>
            </a:pPr>
            <a:r>
              <a:rPr dirty="0" sz="1150" spc="-45">
                <a:latin typeface="Arial"/>
                <a:cs typeface="Arial"/>
              </a:rPr>
              <a:t>Product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sold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5">
                <a:latin typeface="Arial"/>
                <a:cs typeface="Arial"/>
              </a:rPr>
              <a:t>trial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basis.</a:t>
            </a:r>
            <a:endParaRPr sz="11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50" spc="-45">
                <a:latin typeface="Arial"/>
                <a:cs typeface="Arial"/>
              </a:rPr>
              <a:t>Commercialization</a:t>
            </a:r>
            <a:endParaRPr sz="1150">
              <a:latin typeface="Arial"/>
              <a:cs typeface="Arial"/>
            </a:endParaRPr>
          </a:p>
          <a:p>
            <a:pPr lvl="1" marL="927100" marR="5080" indent="-228600">
              <a:lnSpc>
                <a:spcPct val="101699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45">
                <a:latin typeface="Arial"/>
                <a:cs typeface="Arial"/>
              </a:rPr>
              <a:t>Product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sold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45">
                <a:latin typeface="Arial"/>
                <a:cs typeface="Arial"/>
              </a:rPr>
              <a:t>commercial </a:t>
            </a:r>
            <a:r>
              <a:rPr dirty="0" sz="1150" spc="-70">
                <a:latin typeface="Arial"/>
                <a:cs typeface="Arial"/>
              </a:rPr>
              <a:t>basis.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45">
                <a:latin typeface="Arial"/>
                <a:cs typeface="Arial"/>
              </a:rPr>
              <a:t>concept </a:t>
            </a:r>
            <a:r>
              <a:rPr dirty="0" sz="1150" spc="-60">
                <a:latin typeface="Arial"/>
                <a:cs typeface="Arial"/>
              </a:rPr>
              <a:t>is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100" b="1">
                <a:latin typeface="Arial"/>
                <a:cs typeface="Arial"/>
              </a:rPr>
              <a:t>Mass  </a:t>
            </a:r>
            <a:r>
              <a:rPr dirty="0" sz="1150" spc="-65" b="1">
                <a:latin typeface="Arial"/>
                <a:cs typeface="Arial"/>
              </a:rPr>
              <a:t>marketing.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139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54686" y="891035"/>
            <a:ext cx="5487035" cy="83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28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220" b="1">
                <a:latin typeface="Arial"/>
                <a:cs typeface="Arial"/>
              </a:rPr>
              <a:t>PRODUCT </a:t>
            </a:r>
            <a:r>
              <a:rPr dirty="0" sz="1750" spc="-235" b="1">
                <a:latin typeface="Arial"/>
                <a:cs typeface="Arial"/>
              </a:rPr>
              <a:t>LIFE </a:t>
            </a:r>
            <a:r>
              <a:rPr dirty="0" sz="1750" spc="-275" b="1">
                <a:latin typeface="Arial"/>
                <a:cs typeface="Arial"/>
              </a:rPr>
              <a:t>CYCLE, </a:t>
            </a:r>
            <a:r>
              <a:rPr dirty="0" sz="1750" spc="-165" b="1">
                <a:latin typeface="Arial"/>
                <a:cs typeface="Arial"/>
              </a:rPr>
              <a:t>BRANDING, </a:t>
            </a:r>
            <a:r>
              <a:rPr dirty="0" sz="1750" spc="-215" b="1">
                <a:latin typeface="Arial"/>
                <a:cs typeface="Arial"/>
              </a:rPr>
              <a:t>PACKAGING </a:t>
            </a:r>
            <a:r>
              <a:rPr dirty="0" sz="1750" spc="-35" b="1">
                <a:latin typeface="Arial"/>
                <a:cs typeface="Arial"/>
              </a:rPr>
              <a:t>&amp;</a:t>
            </a:r>
            <a:r>
              <a:rPr dirty="0" sz="1750" spc="95" b="1">
                <a:latin typeface="Arial"/>
                <a:cs typeface="Arial"/>
              </a:rPr>
              <a:t> </a:t>
            </a:r>
            <a:r>
              <a:rPr dirty="0" sz="1750" spc="-235" b="1">
                <a:latin typeface="Arial"/>
                <a:cs typeface="Arial"/>
              </a:rPr>
              <a:t>LABELING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140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295" y="1962406"/>
            <a:ext cx="5513705" cy="6804659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175895">
              <a:lnSpc>
                <a:spcPct val="101699"/>
              </a:lnSpc>
              <a:spcBef>
                <a:spcPts val="75"/>
              </a:spcBef>
            </a:pPr>
            <a:r>
              <a:rPr dirty="0" sz="1150" spc="-45">
                <a:latin typeface="Arial"/>
                <a:cs typeface="Arial"/>
              </a:rPr>
              <a:t>Product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core </a:t>
            </a:r>
            <a:r>
              <a:rPr dirty="0" sz="1150" spc="-55">
                <a:latin typeface="Arial"/>
                <a:cs typeface="Arial"/>
              </a:rPr>
              <a:t>concern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5">
                <a:latin typeface="Arial"/>
                <a:cs typeface="Arial"/>
              </a:rPr>
              <a:t>firm.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efforts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30">
                <a:latin typeface="Arial"/>
                <a:cs typeface="Arial"/>
              </a:rPr>
              <a:t>raw material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finished </a:t>
            </a:r>
            <a:r>
              <a:rPr dirty="0" sz="1150" spc="-10">
                <a:latin typeface="Arial"/>
                <a:cs typeface="Arial"/>
              </a:rPr>
              <a:t>form 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related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5">
                <a:latin typeface="Arial"/>
                <a:cs typeface="Arial"/>
              </a:rPr>
              <a:t>product. </a:t>
            </a:r>
            <a:r>
              <a:rPr dirty="0" sz="1150" spc="-85">
                <a:latin typeface="Arial"/>
                <a:cs typeface="Arial"/>
              </a:rPr>
              <a:t>Business </a:t>
            </a:r>
            <a:r>
              <a:rPr dirty="0" sz="1150">
                <a:latin typeface="Arial"/>
                <a:cs typeface="Arial"/>
              </a:rPr>
              <a:t>firm </a:t>
            </a:r>
            <a:r>
              <a:rPr dirty="0" sz="1150" spc="-65">
                <a:latin typeface="Arial"/>
                <a:cs typeface="Arial"/>
              </a:rPr>
              <a:t>spend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develop, </a:t>
            </a:r>
            <a:r>
              <a:rPr dirty="0" sz="1150" spc="-40">
                <a:latin typeface="Arial"/>
                <a:cs typeface="Arial"/>
              </a:rPr>
              <a:t>present </a:t>
            </a:r>
            <a:r>
              <a:rPr dirty="0" sz="1150" spc="15">
                <a:latin typeface="Arial"/>
                <a:cs typeface="Arial"/>
              </a:rPr>
              <a:t>&amp;  </a:t>
            </a:r>
            <a:r>
              <a:rPr dirty="0" sz="1150" spc="-30">
                <a:latin typeface="Arial"/>
                <a:cs typeface="Arial"/>
              </a:rPr>
              <a:t>maintain </a:t>
            </a:r>
            <a:r>
              <a:rPr dirty="0" sz="1150" spc="-25">
                <a:latin typeface="Arial"/>
                <a:cs typeface="Arial"/>
              </a:rPr>
              <a:t>product through </a:t>
            </a:r>
            <a:r>
              <a:rPr dirty="0" sz="1150" spc="-5">
                <a:latin typeface="Arial"/>
                <a:cs typeface="Arial"/>
              </a:rPr>
              <a:t>out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30">
                <a:latin typeface="Arial"/>
                <a:cs typeface="Arial"/>
              </a:rPr>
              <a:t>operation. </a:t>
            </a:r>
            <a:r>
              <a:rPr dirty="0" sz="1150" spc="-35">
                <a:latin typeface="Arial"/>
                <a:cs typeface="Arial"/>
              </a:rPr>
              <a:t>Normally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70">
                <a:latin typeface="Arial"/>
                <a:cs typeface="Arial"/>
              </a:rPr>
              <a:t>have </a:t>
            </a:r>
            <a:r>
              <a:rPr dirty="0" sz="1150" spc="-20">
                <a:latin typeface="Arial"/>
                <a:cs typeface="Arial"/>
              </a:rPr>
              <a:t>following  </a:t>
            </a:r>
            <a:r>
              <a:rPr dirty="0" sz="1150" spc="-10">
                <a:latin typeface="Arial"/>
                <a:cs typeface="Arial"/>
              </a:rPr>
              <a:t>four</a:t>
            </a:r>
            <a:r>
              <a:rPr dirty="0" sz="1150" spc="-65">
                <a:latin typeface="Arial"/>
                <a:cs typeface="Arial"/>
              </a:rPr>
              <a:t> stages: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75" b="1">
                <a:latin typeface="Arial"/>
                <a:cs typeface="Arial"/>
              </a:rPr>
              <a:t>Introduction </a:t>
            </a:r>
            <a:r>
              <a:rPr dirty="0" sz="1350" spc="-110" b="1">
                <a:latin typeface="Arial"/>
                <a:cs typeface="Arial"/>
              </a:rPr>
              <a:t>stage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Arial"/>
              <a:cs typeface="Arial"/>
            </a:endParaRPr>
          </a:p>
          <a:p>
            <a:pPr marL="12700" marR="22352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stage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introduced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40">
                <a:latin typeface="Arial"/>
                <a:cs typeface="Arial"/>
              </a:rPr>
              <a:t>continuous </a:t>
            </a:r>
            <a:r>
              <a:rPr dirty="0" sz="1150" spc="-210">
                <a:latin typeface="Arial"/>
                <a:cs typeface="Arial"/>
              </a:rPr>
              <a:t>R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80">
                <a:latin typeface="Arial"/>
                <a:cs typeface="Arial"/>
              </a:rPr>
              <a:t>D,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30">
                <a:latin typeface="Arial"/>
                <a:cs typeface="Arial"/>
              </a:rPr>
              <a:t>all  </a:t>
            </a:r>
            <a:r>
              <a:rPr dirty="0" sz="1150" spc="-40">
                <a:latin typeface="Arial"/>
                <a:cs typeface="Arial"/>
              </a:rPr>
              <a:t>developmental </a:t>
            </a:r>
            <a:r>
              <a:rPr dirty="0" sz="1150" spc="-70">
                <a:latin typeface="Arial"/>
                <a:cs typeface="Arial"/>
              </a:rPr>
              <a:t>processes. </a:t>
            </a:r>
            <a:r>
              <a:rPr dirty="0" sz="1150" spc="-20">
                <a:latin typeface="Arial"/>
                <a:cs typeface="Arial"/>
              </a:rPr>
              <a:t>At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60">
                <a:latin typeface="Arial"/>
                <a:cs typeface="Arial"/>
              </a:rPr>
              <a:t>stage,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only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0">
                <a:latin typeface="Arial"/>
                <a:cs typeface="Arial"/>
              </a:rPr>
              <a:t>few </a:t>
            </a:r>
            <a:r>
              <a:rPr dirty="0" sz="1150" spc="-40">
                <a:latin typeface="Arial"/>
                <a:cs typeface="Arial"/>
              </a:rPr>
              <a:t>manufacturers </a:t>
            </a:r>
            <a:r>
              <a:rPr dirty="0" sz="1150" spc="-20">
                <a:latin typeface="Arial"/>
                <a:cs typeface="Arial"/>
              </a:rPr>
              <a:t>in the  </a:t>
            </a:r>
            <a:r>
              <a:rPr dirty="0" sz="1150" spc="-30">
                <a:latin typeface="Arial"/>
                <a:cs typeface="Arial"/>
              </a:rPr>
              <a:t>market. </a:t>
            </a:r>
            <a:r>
              <a:rPr dirty="0" sz="1150" spc="-90">
                <a:latin typeface="Arial"/>
                <a:cs typeface="Arial"/>
              </a:rPr>
              <a:t>Since </a:t>
            </a:r>
            <a:r>
              <a:rPr dirty="0" sz="1150" spc="-85">
                <a:latin typeface="Arial"/>
                <a:cs typeface="Arial"/>
              </a:rPr>
              <a:t>less </a:t>
            </a:r>
            <a:r>
              <a:rPr dirty="0" sz="1150" spc="-50">
                <a:latin typeface="Arial"/>
                <a:cs typeface="Arial"/>
              </a:rPr>
              <a:t>producers are </a:t>
            </a:r>
            <a:r>
              <a:rPr dirty="0" sz="1150" spc="-25">
                <a:latin typeface="Arial"/>
                <a:cs typeface="Arial"/>
              </a:rPr>
              <a:t>there,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40">
                <a:latin typeface="Arial"/>
                <a:cs typeface="Arial"/>
              </a:rPr>
              <a:t>almost </a:t>
            </a:r>
            <a:r>
              <a:rPr dirty="0" sz="1150" spc="-45">
                <a:latin typeface="Arial"/>
                <a:cs typeface="Arial"/>
              </a:rPr>
              <a:t>no </a:t>
            </a:r>
            <a:r>
              <a:rPr dirty="0" sz="1150" spc="-30">
                <a:latin typeface="Arial"/>
                <a:cs typeface="Arial"/>
              </a:rPr>
              <a:t>competitions. </a:t>
            </a:r>
            <a:r>
              <a:rPr dirty="0" sz="1150" spc="-90">
                <a:latin typeface="Arial"/>
                <a:cs typeface="Arial"/>
              </a:rPr>
              <a:t>Since </a:t>
            </a:r>
            <a:r>
              <a:rPr dirty="0" sz="1150" spc="-85">
                <a:latin typeface="Arial"/>
                <a:cs typeface="Arial"/>
              </a:rPr>
              <a:t>sales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85">
                <a:latin typeface="Arial"/>
                <a:cs typeface="Arial"/>
              </a:rPr>
              <a:t>less so  </a:t>
            </a:r>
            <a:r>
              <a:rPr dirty="0" sz="1150" spc="-15">
                <a:latin typeface="Arial"/>
                <a:cs typeface="Arial"/>
              </a:rPr>
              <a:t>profits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65">
                <a:latin typeface="Arial"/>
                <a:cs typeface="Arial"/>
              </a:rPr>
              <a:t>also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less.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8890">
              <a:lnSpc>
                <a:spcPct val="101699"/>
              </a:lnSpc>
            </a:pPr>
            <a:r>
              <a:rPr dirty="0" sz="1150" spc="-20">
                <a:latin typeface="Arial"/>
                <a:cs typeface="Arial"/>
              </a:rPr>
              <a:t>At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65">
                <a:latin typeface="Arial"/>
                <a:cs typeface="Arial"/>
              </a:rPr>
              <a:t>stage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65">
                <a:latin typeface="Arial"/>
                <a:cs typeface="Arial"/>
              </a:rPr>
              <a:t>appears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30">
                <a:latin typeface="Arial"/>
                <a:cs typeface="Arial"/>
              </a:rPr>
              <a:t>“Question </a:t>
            </a:r>
            <a:r>
              <a:rPr dirty="0" sz="1150">
                <a:latin typeface="Arial"/>
                <a:cs typeface="Arial"/>
              </a:rPr>
              <a:t>Mark”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70">
                <a:latin typeface="Arial"/>
                <a:cs typeface="Arial"/>
              </a:rPr>
              <a:t>shows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70">
                <a:latin typeface="Arial"/>
                <a:cs typeface="Arial"/>
              </a:rPr>
              <a:t>successful </a:t>
            </a:r>
            <a:r>
              <a:rPr dirty="0" sz="1150" spc="-20">
                <a:latin typeface="Arial"/>
                <a:cs typeface="Arial"/>
              </a:rPr>
              <a:t>in  the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">
                <a:latin typeface="Arial"/>
                <a:cs typeface="Arial"/>
              </a:rPr>
              <a:t>not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be.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80" b="1">
                <a:latin typeface="Arial"/>
                <a:cs typeface="Arial"/>
              </a:rPr>
              <a:t>Growth</a:t>
            </a:r>
            <a:r>
              <a:rPr dirty="0" sz="1350" spc="-60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Stage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 marR="167640">
              <a:lnSpc>
                <a:spcPct val="100899"/>
              </a:lnSpc>
            </a:pPr>
            <a:r>
              <a:rPr dirty="0" sz="1150" spc="-20">
                <a:latin typeface="Arial"/>
                <a:cs typeface="Arial"/>
              </a:rPr>
              <a:t>At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this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stage,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customers’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awareness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develops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15">
                <a:latin typeface="Arial"/>
                <a:cs typeface="Arial"/>
              </a:rPr>
              <a:t>&amp;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15">
                <a:latin typeface="Arial"/>
                <a:cs typeface="Arial"/>
              </a:rPr>
              <a:t>start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knowing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more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5">
                <a:latin typeface="Arial"/>
                <a:cs typeface="Arial"/>
              </a:rPr>
              <a:t>&amp;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more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about  </a:t>
            </a:r>
            <a:r>
              <a:rPr dirty="0" sz="1150" spc="-40">
                <a:latin typeface="Arial"/>
                <a:cs typeface="Arial"/>
              </a:rPr>
              <a:t>new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market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so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sale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will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increase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due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to:</a:t>
            </a:r>
            <a:endParaRPr sz="1150">
              <a:latin typeface="Arial"/>
              <a:cs typeface="Arial"/>
            </a:endParaRPr>
          </a:p>
          <a:p>
            <a:pPr marL="13843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1384935" algn="l"/>
              </a:tabLst>
            </a:pPr>
            <a:r>
              <a:rPr dirty="0" sz="1150" spc="-65">
                <a:latin typeface="Arial"/>
                <a:cs typeface="Arial"/>
              </a:rPr>
              <a:t>Repeated </a:t>
            </a:r>
            <a:r>
              <a:rPr dirty="0" sz="1150" spc="-40">
                <a:latin typeface="Arial"/>
                <a:cs typeface="Arial"/>
              </a:rPr>
              <a:t>orders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old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customers.</a:t>
            </a:r>
            <a:endParaRPr sz="1150">
              <a:latin typeface="Arial"/>
              <a:cs typeface="Arial"/>
            </a:endParaRPr>
          </a:p>
          <a:p>
            <a:pPr marL="13843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1384935" algn="l"/>
              </a:tabLst>
            </a:pPr>
            <a:r>
              <a:rPr dirty="0" sz="1150" spc="-55">
                <a:latin typeface="Arial"/>
                <a:cs typeface="Arial"/>
              </a:rPr>
              <a:t>New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25">
                <a:latin typeface="Arial"/>
                <a:cs typeface="Arial"/>
              </a:rPr>
              <a:t>enter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market.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20">
                <a:latin typeface="Arial"/>
                <a:cs typeface="Arial"/>
              </a:rPr>
              <a:t>At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60">
                <a:latin typeface="Arial"/>
                <a:cs typeface="Arial"/>
              </a:rPr>
              <a:t>stage,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called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15">
                <a:latin typeface="Arial"/>
                <a:cs typeface="Arial"/>
              </a:rPr>
              <a:t>“Star”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0">
                <a:latin typeface="Arial"/>
                <a:cs typeface="Arial"/>
              </a:rPr>
              <a:t>generates </a:t>
            </a:r>
            <a:r>
              <a:rPr dirty="0" sz="1150" spc="-55">
                <a:latin typeface="Arial"/>
                <a:cs typeface="Arial"/>
              </a:rPr>
              <a:t>good </a:t>
            </a:r>
            <a:r>
              <a:rPr dirty="0" sz="1150" spc="-15">
                <a:latin typeface="Arial"/>
                <a:cs typeface="Arial"/>
              </a:rPr>
              <a:t>profits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firm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40" b="1">
                <a:latin typeface="Arial"/>
                <a:cs typeface="Arial"/>
              </a:rPr>
              <a:t>Maturity</a:t>
            </a:r>
            <a:r>
              <a:rPr dirty="0" sz="1350" spc="-60" b="1">
                <a:latin typeface="Arial"/>
                <a:cs typeface="Arial"/>
              </a:rPr>
              <a:t> </a:t>
            </a:r>
            <a:r>
              <a:rPr dirty="0" sz="1350" spc="-125" b="1">
                <a:latin typeface="Arial"/>
                <a:cs typeface="Arial"/>
              </a:rPr>
              <a:t>Stage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90">
                <a:latin typeface="Arial"/>
                <a:cs typeface="Arial"/>
              </a:rPr>
              <a:t>Since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60">
                <a:latin typeface="Arial"/>
                <a:cs typeface="Arial"/>
              </a:rPr>
              <a:t>stage, </a:t>
            </a:r>
            <a:r>
              <a:rPr dirty="0" sz="1150" spc="-40">
                <a:latin typeface="Arial"/>
                <a:cs typeface="Arial"/>
              </a:rPr>
              <a:t>people </a:t>
            </a:r>
            <a:r>
              <a:rPr dirty="0" sz="1150" spc="-55">
                <a:latin typeface="Arial"/>
                <a:cs typeface="Arial"/>
              </a:rPr>
              <a:t>become </a:t>
            </a:r>
            <a:r>
              <a:rPr dirty="0" sz="1150" spc="-35">
                <a:latin typeface="Arial"/>
                <a:cs typeface="Arial"/>
              </a:rPr>
              <a:t>more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50">
                <a:latin typeface="Arial"/>
                <a:cs typeface="Arial"/>
              </a:rPr>
              <a:t>aware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20">
                <a:latin typeface="Arial"/>
                <a:cs typeface="Arial"/>
              </a:rPr>
              <a:t>in the 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45">
                <a:latin typeface="Arial"/>
                <a:cs typeface="Arial"/>
              </a:rPr>
              <a:t>here </a:t>
            </a:r>
            <a:r>
              <a:rPr dirty="0" sz="1150" spc="-75">
                <a:latin typeface="Arial"/>
                <a:cs typeface="Arial"/>
              </a:rPr>
              <a:t>comes </a:t>
            </a:r>
            <a:r>
              <a:rPr dirty="0" sz="1150" spc="-25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time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30">
                <a:latin typeface="Arial"/>
                <a:cs typeface="Arial"/>
              </a:rPr>
              <a:t>only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55">
                <a:latin typeface="Arial"/>
                <a:cs typeface="Arial"/>
              </a:rPr>
              <a:t>become </a:t>
            </a:r>
            <a:r>
              <a:rPr dirty="0" sz="1150" spc="-45">
                <a:latin typeface="Arial"/>
                <a:cs typeface="Arial"/>
              </a:rPr>
              <a:t>stable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40">
                <a:latin typeface="Arial"/>
                <a:cs typeface="Arial"/>
              </a:rPr>
              <a:t>people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15">
                <a:latin typeface="Arial"/>
                <a:cs typeface="Arial"/>
              </a:rPr>
              <a:t>start  </a:t>
            </a:r>
            <a:r>
              <a:rPr dirty="0" sz="1150" spc="-55">
                <a:latin typeface="Arial"/>
                <a:cs typeface="Arial"/>
              </a:rPr>
              <a:t>recognizing company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reference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5">
                <a:latin typeface="Arial"/>
                <a:cs typeface="Arial"/>
              </a:rPr>
              <a:t>particular product. </a:t>
            </a:r>
            <a:r>
              <a:rPr dirty="0" sz="1150" spc="-60">
                <a:latin typeface="Arial"/>
                <a:cs typeface="Arial"/>
              </a:rPr>
              <a:t>Here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60">
                <a:latin typeface="Arial"/>
                <a:cs typeface="Arial"/>
              </a:rPr>
              <a:t>gets  </a:t>
            </a:r>
            <a:r>
              <a:rPr dirty="0" sz="1150" spc="-40">
                <a:latin typeface="Arial"/>
                <a:cs typeface="Arial"/>
              </a:rPr>
              <a:t>“share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Mind”</a:t>
            </a:r>
            <a:r>
              <a:rPr dirty="0" sz="1150" spc="-60">
                <a:latin typeface="Arial"/>
                <a:cs typeface="Arial"/>
              </a:rPr>
              <a:t> among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targeted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markets.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At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this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stage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</a:t>
            </a:r>
            <a:r>
              <a:rPr dirty="0" sz="1150" spc="-55">
                <a:latin typeface="Arial"/>
                <a:cs typeface="Arial"/>
              </a:rPr>
              <a:t> have: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55">
                <a:latin typeface="Arial"/>
                <a:cs typeface="Arial"/>
              </a:rPr>
              <a:t>Highest </a:t>
            </a:r>
            <a:r>
              <a:rPr dirty="0" sz="1150" spc="-40">
                <a:latin typeface="Arial"/>
                <a:cs typeface="Arial"/>
              </a:rPr>
              <a:t>level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85">
                <a:latin typeface="Arial"/>
                <a:cs typeface="Arial"/>
              </a:rPr>
              <a:t>sales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4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awareness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product.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15">
                <a:latin typeface="Arial"/>
                <a:cs typeface="Arial"/>
              </a:rPr>
              <a:t>More </a:t>
            </a:r>
            <a:r>
              <a:rPr dirty="0" sz="1150" spc="-55">
                <a:latin typeface="Arial"/>
                <a:cs typeface="Arial"/>
              </a:rPr>
              <a:t>sellers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25">
                <a:latin typeface="Arial"/>
                <a:cs typeface="Arial"/>
              </a:rPr>
              <a:t>enter </a:t>
            </a:r>
            <a:r>
              <a:rPr dirty="0" sz="1150" spc="-20">
                <a:latin typeface="Arial"/>
                <a:cs typeface="Arial"/>
              </a:rPr>
              <a:t>in the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market.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40">
                <a:latin typeface="Arial"/>
                <a:cs typeface="Arial"/>
              </a:rPr>
              <a:t>Completion </a:t>
            </a:r>
            <a:r>
              <a:rPr dirty="0" sz="1150" spc="-60">
                <a:latin typeface="Arial"/>
                <a:cs typeface="Arial"/>
              </a:rPr>
              <a:t>become </a:t>
            </a:r>
            <a:r>
              <a:rPr dirty="0" sz="1150" spc="-45">
                <a:latin typeface="Arial"/>
                <a:cs typeface="Arial"/>
              </a:rPr>
              <a:t>very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high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20">
                <a:latin typeface="Arial"/>
                <a:cs typeface="Arial"/>
              </a:rPr>
              <a:t>At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60">
                <a:latin typeface="Arial"/>
                <a:cs typeface="Arial"/>
              </a:rPr>
              <a:t>stage,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75">
                <a:latin typeface="Arial"/>
                <a:cs typeface="Arial"/>
              </a:rPr>
              <a:t>“Cash </a:t>
            </a:r>
            <a:r>
              <a:rPr dirty="0" sz="1150" spc="-40">
                <a:latin typeface="Arial"/>
                <a:cs typeface="Arial"/>
              </a:rPr>
              <a:t>Cow”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35">
                <a:latin typeface="Arial"/>
                <a:cs typeface="Arial"/>
              </a:rPr>
              <a:t>now </a:t>
            </a:r>
            <a:r>
              <a:rPr dirty="0" sz="1150" spc="5">
                <a:latin typeface="Arial"/>
                <a:cs typeface="Arial"/>
              </a:rPr>
              <a:t>profit </a:t>
            </a:r>
            <a:r>
              <a:rPr dirty="0" sz="1150" spc="-55">
                <a:latin typeface="Arial"/>
                <a:cs typeface="Arial"/>
              </a:rPr>
              <a:t>margins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80">
                <a:latin typeface="Arial"/>
                <a:cs typeface="Arial"/>
              </a:rPr>
              <a:t>less </a:t>
            </a:r>
            <a:r>
              <a:rPr dirty="0" sz="1150" spc="-30">
                <a:latin typeface="Arial"/>
                <a:cs typeface="Arial"/>
              </a:rPr>
              <a:t>than </a:t>
            </a:r>
            <a:r>
              <a:rPr dirty="0" sz="1150" spc="-20">
                <a:latin typeface="Arial"/>
                <a:cs typeface="Arial"/>
              </a:rPr>
              <a:t>growth  </a:t>
            </a:r>
            <a:r>
              <a:rPr dirty="0" sz="1150" spc="-65">
                <a:latin typeface="Arial"/>
                <a:cs typeface="Arial"/>
              </a:rPr>
              <a:t>stage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60">
                <a:latin typeface="Arial"/>
                <a:cs typeface="Arial"/>
              </a:rPr>
              <a:t>gain </a:t>
            </a:r>
            <a:r>
              <a:rPr dirty="0" sz="1150" spc="-30">
                <a:latin typeface="Arial"/>
                <a:cs typeface="Arial"/>
              </a:rPr>
              <a:t>relatively more market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share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71700" y="4037076"/>
            <a:ext cx="3429000" cy="2171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30299" y="892559"/>
            <a:ext cx="5513070" cy="27279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95" b="1">
                <a:latin typeface="Arial"/>
                <a:cs typeface="Arial"/>
              </a:rPr>
              <a:t>Decline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Stage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139700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last </a:t>
            </a:r>
            <a:r>
              <a:rPr dirty="0" sz="1150" spc="-70">
                <a:latin typeface="Arial"/>
                <a:cs typeface="Arial"/>
              </a:rPr>
              <a:t>stage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25">
                <a:latin typeface="Arial"/>
                <a:cs typeface="Arial"/>
              </a:rPr>
              <a:t>product. </a:t>
            </a:r>
            <a:r>
              <a:rPr dirty="0" sz="1150" spc="-45">
                <a:latin typeface="Arial"/>
                <a:cs typeface="Arial"/>
              </a:rPr>
              <a:t>Product </a:t>
            </a:r>
            <a:r>
              <a:rPr dirty="0" sz="1150" spc="-75">
                <a:latin typeface="Arial"/>
                <a:cs typeface="Arial"/>
              </a:rPr>
              <a:t>loss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65">
                <a:latin typeface="Arial"/>
                <a:cs typeface="Arial"/>
              </a:rPr>
              <a:t>share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15">
                <a:latin typeface="Arial"/>
                <a:cs typeface="Arial"/>
              </a:rPr>
              <a:t>well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15">
                <a:latin typeface="Arial"/>
                <a:cs typeface="Arial"/>
              </a:rPr>
              <a:t>profits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">
                <a:latin typeface="Arial"/>
                <a:cs typeface="Arial"/>
              </a:rPr>
              <a:t>firm.  </a:t>
            </a:r>
            <a:r>
              <a:rPr dirty="0" sz="1150" spc="-20">
                <a:latin typeface="Arial"/>
                <a:cs typeface="Arial"/>
              </a:rPr>
              <a:t>At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this</a:t>
            </a:r>
            <a:r>
              <a:rPr dirty="0" sz="1150" spc="-60">
                <a:latin typeface="Arial"/>
                <a:cs typeface="Arial"/>
              </a:rPr>
              <a:t> stage,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will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disappear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from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market.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97155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Following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important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steps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become</a:t>
            </a:r>
            <a:r>
              <a:rPr dirty="0" sz="1150" spc="-45">
                <a:latin typeface="Arial"/>
                <a:cs typeface="Arial"/>
              </a:rPr>
              <a:t> very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necessary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firm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taken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order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bring 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70">
                <a:latin typeface="Arial"/>
                <a:cs typeface="Arial"/>
              </a:rPr>
              <a:t>back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market: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927100" marR="5080" indent="-228600">
              <a:lnSpc>
                <a:spcPct val="101699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15">
                <a:latin typeface="Arial"/>
                <a:cs typeface="Arial"/>
              </a:rPr>
              <a:t>More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35">
                <a:latin typeface="Arial"/>
                <a:cs typeface="Arial"/>
              </a:rPr>
              <a:t>more </a:t>
            </a:r>
            <a:r>
              <a:rPr dirty="0" sz="1150" spc="-125">
                <a:latin typeface="Arial"/>
                <a:cs typeface="Arial"/>
              </a:rPr>
              <a:t>D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210">
                <a:latin typeface="Arial"/>
                <a:cs typeface="Arial"/>
              </a:rPr>
              <a:t>R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30">
                <a:latin typeface="Arial"/>
                <a:cs typeface="Arial"/>
              </a:rPr>
              <a:t>innovation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add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25">
                <a:latin typeface="Arial"/>
                <a:cs typeface="Arial"/>
              </a:rPr>
              <a:t>feature </a:t>
            </a:r>
            <a:r>
              <a:rPr dirty="0" sz="1150" spc="-20">
                <a:latin typeface="Arial"/>
                <a:cs typeface="Arial"/>
              </a:rPr>
              <a:t>in the  </a:t>
            </a:r>
            <a:r>
              <a:rPr dirty="0" sz="1150" spc="-25">
                <a:latin typeface="Arial"/>
                <a:cs typeface="Arial"/>
              </a:rPr>
              <a:t>product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75">
                <a:latin typeface="Arial"/>
                <a:cs typeface="Arial"/>
              </a:rPr>
              <a:t>Searching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25">
                <a:latin typeface="Arial"/>
                <a:cs typeface="Arial"/>
              </a:rPr>
              <a:t>target </a:t>
            </a:r>
            <a:r>
              <a:rPr dirty="0" sz="1150" spc="-45">
                <a:latin typeface="Arial"/>
                <a:cs typeface="Arial"/>
              </a:rPr>
              <a:t>markets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0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40">
                <a:latin typeface="Arial"/>
                <a:cs typeface="Arial"/>
              </a:rPr>
              <a:t>Evolution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new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co-product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123189">
              <a:lnSpc>
                <a:spcPct val="101699"/>
              </a:lnSpc>
            </a:pPr>
            <a:r>
              <a:rPr dirty="0" sz="1150" spc="-20">
                <a:latin typeface="Arial"/>
                <a:cs typeface="Arial"/>
              </a:rPr>
              <a:t>At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65">
                <a:latin typeface="Arial"/>
                <a:cs typeface="Arial"/>
              </a:rPr>
              <a:t>stage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50">
                <a:latin typeface="Arial"/>
                <a:cs typeface="Arial"/>
              </a:rPr>
              <a:t>called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15">
                <a:latin typeface="Arial"/>
                <a:cs typeface="Arial"/>
              </a:rPr>
              <a:t>“Dog”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35">
                <a:latin typeface="Arial"/>
                <a:cs typeface="Arial"/>
              </a:rPr>
              <a:t>development </a:t>
            </a:r>
            <a:r>
              <a:rPr dirty="0" sz="1150" spc="-65">
                <a:latin typeface="Arial"/>
                <a:cs typeface="Arial"/>
              </a:rPr>
              <a:t>costs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15">
                <a:latin typeface="Arial"/>
                <a:cs typeface="Arial"/>
              </a:rPr>
              <a:t>&amp;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more 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15">
                <a:latin typeface="Arial"/>
                <a:cs typeface="Arial"/>
              </a:rPr>
              <a:t>profits at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all.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141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30299" y="6418581"/>
            <a:ext cx="5381625" cy="1914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20" b="1">
                <a:latin typeface="Arial"/>
                <a:cs typeface="Arial"/>
              </a:rPr>
              <a:t>USE </a:t>
            </a:r>
            <a:r>
              <a:rPr dirty="0" sz="1450" spc="-185" b="1">
                <a:latin typeface="Arial"/>
                <a:cs typeface="Arial"/>
              </a:rPr>
              <a:t>OF PRODUCT </a:t>
            </a:r>
            <a:r>
              <a:rPr dirty="0" sz="1450" spc="-195" b="1">
                <a:latin typeface="Arial"/>
                <a:cs typeface="Arial"/>
              </a:rPr>
              <a:t>LIFE </a:t>
            </a:r>
            <a:r>
              <a:rPr dirty="0" sz="1450" spc="-265" b="1">
                <a:latin typeface="Arial"/>
                <a:cs typeface="Arial"/>
              </a:rPr>
              <a:t>CYCLE </a:t>
            </a:r>
            <a:r>
              <a:rPr dirty="0" sz="1450" spc="-60" b="1">
                <a:latin typeface="Arial"/>
                <a:cs typeface="Arial"/>
              </a:rPr>
              <a:t>IN </a:t>
            </a:r>
            <a:r>
              <a:rPr dirty="0" sz="1450" spc="-160" b="1">
                <a:latin typeface="Arial"/>
                <a:cs typeface="Arial"/>
              </a:rPr>
              <a:t>DECISION </a:t>
            </a:r>
            <a:r>
              <a:rPr dirty="0" sz="1450" spc="-114" b="1">
                <a:latin typeface="Arial"/>
                <a:cs typeface="Arial"/>
              </a:rPr>
              <a:t>MAKING</a:t>
            </a:r>
            <a:r>
              <a:rPr dirty="0" sz="1450" spc="120" b="1">
                <a:latin typeface="Arial"/>
                <a:cs typeface="Arial"/>
              </a:rPr>
              <a:t> </a:t>
            </a:r>
            <a:r>
              <a:rPr dirty="0" sz="1450" spc="-245" b="1">
                <a:latin typeface="Arial"/>
                <a:cs typeface="Arial"/>
              </a:rPr>
              <a:t>PROCESS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350" spc="-75" b="1">
                <a:latin typeface="Arial"/>
                <a:cs typeface="Arial"/>
              </a:rPr>
              <a:t>Introduction</a:t>
            </a:r>
            <a:r>
              <a:rPr dirty="0" sz="1350" spc="-60" b="1">
                <a:latin typeface="Arial"/>
                <a:cs typeface="Arial"/>
              </a:rPr>
              <a:t> </a:t>
            </a:r>
            <a:r>
              <a:rPr dirty="0" sz="1350" spc="-125" b="1">
                <a:latin typeface="Arial"/>
                <a:cs typeface="Arial"/>
              </a:rPr>
              <a:t>Stage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lvl="1" marL="926465" indent="-229235">
              <a:lnSpc>
                <a:spcPct val="100000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50" spc="-35">
                <a:latin typeface="Arial"/>
                <a:cs typeface="Arial"/>
              </a:rPr>
              <a:t>Marketers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25">
                <a:latin typeface="Arial"/>
                <a:cs typeface="Arial"/>
              </a:rPr>
              <a:t>dictate </a:t>
            </a:r>
            <a:r>
              <a:rPr dirty="0" sz="1150" spc="-35">
                <a:latin typeface="Arial"/>
                <a:cs typeface="Arial"/>
              </a:rPr>
              <a:t>more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policies.</a:t>
            </a:r>
            <a:endParaRPr sz="1150">
              <a:latin typeface="Arial"/>
              <a:cs typeface="Arial"/>
            </a:endParaRPr>
          </a:p>
          <a:p>
            <a:pPr lvl="1" marL="926465" marR="129539" indent="-228600">
              <a:lnSpc>
                <a:spcPct val="101699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50" spc="-20">
                <a:latin typeface="Arial"/>
                <a:cs typeface="Arial"/>
              </a:rPr>
              <a:t>At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this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stage, </a:t>
            </a:r>
            <a:r>
              <a:rPr dirty="0" sz="1150" spc="-50">
                <a:latin typeface="Arial"/>
                <a:cs typeface="Arial"/>
              </a:rPr>
              <a:t>customers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</a:t>
            </a:r>
            <a:r>
              <a:rPr dirty="0" sz="1150" spc="-50">
                <a:latin typeface="Arial"/>
                <a:cs typeface="Arial"/>
              </a:rPr>
              <a:t> are</a:t>
            </a:r>
            <a:r>
              <a:rPr dirty="0" sz="1150" spc="-45">
                <a:latin typeface="Arial"/>
                <a:cs typeface="Arial"/>
              </a:rPr>
              <a:t> venturesome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(Who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like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try  </a:t>
            </a:r>
            <a:r>
              <a:rPr dirty="0" sz="1150" spc="-40">
                <a:latin typeface="Arial"/>
                <a:cs typeface="Arial"/>
              </a:rPr>
              <a:t>new</a:t>
            </a:r>
            <a:r>
              <a:rPr dirty="0" sz="1150" spc="-55">
                <a:latin typeface="Arial"/>
                <a:cs typeface="Arial"/>
              </a:rPr>
              <a:t> ideas).</a:t>
            </a:r>
            <a:endParaRPr sz="1150">
              <a:latin typeface="Arial"/>
              <a:cs typeface="Arial"/>
            </a:endParaRPr>
          </a:p>
          <a:p>
            <a:pPr lvl="1" marL="926465" marR="5080" indent="-228600">
              <a:lnSpc>
                <a:spcPct val="101699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50" spc="-35">
                <a:latin typeface="Arial"/>
                <a:cs typeface="Arial"/>
              </a:rPr>
              <a:t>Marketers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60">
                <a:latin typeface="Arial"/>
                <a:cs typeface="Arial"/>
              </a:rPr>
              <a:t>keep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prices </a:t>
            </a:r>
            <a:r>
              <a:rPr dirty="0" sz="1150" spc="-45">
                <a:latin typeface="Arial"/>
                <a:cs typeface="Arial"/>
              </a:rPr>
              <a:t>high </a:t>
            </a:r>
            <a:r>
              <a:rPr dirty="0" sz="1150" spc="-70">
                <a:latin typeface="Arial"/>
                <a:cs typeface="Arial"/>
              </a:rPr>
              <a:t>because, </a:t>
            </a:r>
            <a:r>
              <a:rPr dirty="0" sz="1150" spc="-60">
                <a:latin typeface="Arial"/>
                <a:cs typeface="Arial"/>
              </a:rPr>
              <a:t>Customer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15">
                <a:latin typeface="Arial"/>
                <a:cs typeface="Arial"/>
              </a:rPr>
              <a:t>afford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spend 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45">
                <a:latin typeface="Arial"/>
                <a:cs typeface="Arial"/>
              </a:rPr>
              <a:t>money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new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product.</a:t>
            </a:r>
            <a:endParaRPr sz="1150">
              <a:latin typeface="Arial"/>
              <a:cs typeface="Arial"/>
            </a:endParaRPr>
          </a:p>
          <a:p>
            <a:pPr lvl="1" marL="926465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65">
                <a:latin typeface="Arial"/>
                <a:cs typeface="Arial"/>
              </a:rPr>
              <a:t>There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will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not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much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profit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at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this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stage.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79" y="1070867"/>
            <a:ext cx="5376545" cy="722375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9900" indent="-229235">
              <a:lnSpc>
                <a:spcPct val="100000"/>
              </a:lnSpc>
              <a:spcBef>
                <a:spcPts val="105"/>
              </a:spcBef>
              <a:buFont typeface="Wingdings"/>
              <a:buChar char=""/>
              <a:tabLst>
                <a:tab pos="470534" algn="l"/>
              </a:tabLst>
            </a:pPr>
            <a:r>
              <a:rPr dirty="0" sz="1350" spc="-80" b="1">
                <a:latin typeface="Arial"/>
                <a:cs typeface="Arial"/>
              </a:rPr>
              <a:t>Growth</a:t>
            </a:r>
            <a:r>
              <a:rPr dirty="0" sz="1350" spc="-60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Stage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algn="r" lvl="1" marL="228600" marR="2113280" indent="-228600">
              <a:lnSpc>
                <a:spcPct val="100000"/>
              </a:lnSpc>
              <a:buFont typeface="Wingdings"/>
              <a:buChar char=""/>
              <a:tabLst>
                <a:tab pos="228600" algn="l"/>
              </a:tabLst>
            </a:pPr>
            <a:r>
              <a:rPr dirty="0" sz="1150" spc="-35">
                <a:latin typeface="Arial"/>
                <a:cs typeface="Arial"/>
              </a:rPr>
              <a:t>Marketers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45">
                <a:latin typeface="Arial"/>
                <a:cs typeface="Arial"/>
              </a:rPr>
              <a:t>earn </a:t>
            </a:r>
            <a:r>
              <a:rPr dirty="0" sz="1150" spc="-35">
                <a:latin typeface="Arial"/>
                <a:cs typeface="Arial"/>
              </a:rPr>
              <a:t>more </a:t>
            </a:r>
            <a:r>
              <a:rPr dirty="0" sz="1150" spc="5">
                <a:latin typeface="Arial"/>
                <a:cs typeface="Arial"/>
              </a:rPr>
              <a:t>profit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due </a:t>
            </a:r>
            <a:r>
              <a:rPr dirty="0" sz="1150" spc="5">
                <a:latin typeface="Arial"/>
                <a:cs typeface="Arial"/>
              </a:rPr>
              <a:t>to:</a:t>
            </a:r>
            <a:endParaRPr sz="1150">
              <a:latin typeface="Arial"/>
              <a:cs typeface="Arial"/>
            </a:endParaRPr>
          </a:p>
          <a:p>
            <a:pPr algn="r" lvl="2" marL="228600" marR="2099945" indent="-22860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228600" algn="l"/>
              </a:tabLst>
            </a:pPr>
            <a:r>
              <a:rPr dirty="0" sz="1150" spc="-75">
                <a:latin typeface="Arial"/>
                <a:cs typeface="Arial"/>
              </a:rPr>
              <a:t>Small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manufacturers</a:t>
            </a:r>
            <a:endParaRPr sz="1150">
              <a:latin typeface="Arial"/>
              <a:cs typeface="Arial"/>
            </a:endParaRPr>
          </a:p>
          <a:p>
            <a:pPr lvl="2" marL="1384300" indent="-229235">
              <a:lnSpc>
                <a:spcPct val="100000"/>
              </a:lnSpc>
              <a:spcBef>
                <a:spcPts val="20"/>
              </a:spcBef>
              <a:buFont typeface="Wingdings"/>
              <a:buChar char=""/>
              <a:tabLst>
                <a:tab pos="1384935" algn="l"/>
              </a:tabLst>
            </a:pPr>
            <a:r>
              <a:rPr dirty="0" sz="1150" spc="-120">
                <a:latin typeface="Arial"/>
                <a:cs typeface="Arial"/>
              </a:rPr>
              <a:t>Less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Competition</a:t>
            </a:r>
            <a:endParaRPr sz="1150">
              <a:latin typeface="Arial"/>
              <a:cs typeface="Arial"/>
            </a:endParaRPr>
          </a:p>
          <a:p>
            <a:pPr lvl="2" marL="13843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1384935" algn="l"/>
              </a:tabLst>
            </a:pPr>
            <a:r>
              <a:rPr dirty="0" sz="1150" spc="-65">
                <a:latin typeface="Arial"/>
                <a:cs typeface="Arial"/>
              </a:rPr>
              <a:t>High </a:t>
            </a:r>
            <a:r>
              <a:rPr dirty="0" sz="1150" spc="-105">
                <a:latin typeface="Arial"/>
                <a:cs typeface="Arial"/>
              </a:rPr>
              <a:t>Sales</a:t>
            </a:r>
            <a:endParaRPr sz="11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50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Font typeface="Wingdings"/>
              <a:buChar char=""/>
              <a:tabLst>
                <a:tab pos="470534" algn="l"/>
              </a:tabLst>
            </a:pPr>
            <a:r>
              <a:rPr dirty="0" sz="1350" spc="-40" b="1">
                <a:latin typeface="Arial"/>
                <a:cs typeface="Arial"/>
              </a:rPr>
              <a:t>Maturity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10" b="1">
                <a:latin typeface="Arial"/>
                <a:cs typeface="Arial"/>
              </a:rPr>
              <a:t>stage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50" spc="-35">
                <a:latin typeface="Arial"/>
                <a:cs typeface="Arial"/>
              </a:rPr>
              <a:t>Marketers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will:</a:t>
            </a:r>
            <a:endParaRPr sz="1150">
              <a:latin typeface="Arial"/>
              <a:cs typeface="Arial"/>
            </a:endParaRPr>
          </a:p>
          <a:p>
            <a:pPr lvl="2" marL="1384300" indent="-22860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1384300" algn="l"/>
              </a:tabLst>
            </a:pPr>
            <a:r>
              <a:rPr dirty="0" sz="1150" spc="-90">
                <a:latin typeface="Arial"/>
                <a:cs typeface="Arial"/>
              </a:rPr>
              <a:t>Reduce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price </a:t>
            </a:r>
            <a:r>
              <a:rPr dirty="0" sz="1150" spc="-50">
                <a:latin typeface="Arial"/>
                <a:cs typeface="Arial"/>
              </a:rPr>
              <a:t>due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more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competition.</a:t>
            </a:r>
            <a:endParaRPr sz="1150">
              <a:latin typeface="Arial"/>
              <a:cs typeface="Arial"/>
            </a:endParaRPr>
          </a:p>
          <a:p>
            <a:pPr lvl="2" marL="1384300" indent="-228600">
              <a:lnSpc>
                <a:spcPct val="100000"/>
              </a:lnSpc>
              <a:spcBef>
                <a:spcPts val="10"/>
              </a:spcBef>
              <a:buFont typeface="Wingdings"/>
              <a:buChar char=""/>
              <a:tabLst>
                <a:tab pos="1384300" algn="l"/>
              </a:tabLst>
            </a:pPr>
            <a:r>
              <a:rPr dirty="0" sz="1150" spc="-90">
                <a:latin typeface="Arial"/>
                <a:cs typeface="Arial"/>
              </a:rPr>
              <a:t>Spend </a:t>
            </a:r>
            <a:r>
              <a:rPr dirty="0" sz="1150" spc="-45">
                <a:latin typeface="Arial"/>
                <a:cs typeface="Arial"/>
              </a:rPr>
              <a:t>money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60">
                <a:latin typeface="Arial"/>
                <a:cs typeface="Arial"/>
              </a:rPr>
              <a:t>research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development.</a:t>
            </a:r>
            <a:endParaRPr sz="1150">
              <a:latin typeface="Arial"/>
              <a:cs typeface="Arial"/>
            </a:endParaRPr>
          </a:p>
          <a:p>
            <a:pPr lvl="2" marL="1384300" indent="-22860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1384300" algn="l"/>
              </a:tabLst>
            </a:pPr>
            <a:r>
              <a:rPr dirty="0" sz="1150" spc="-90">
                <a:latin typeface="Arial"/>
                <a:cs typeface="Arial"/>
              </a:rPr>
              <a:t>Spend </a:t>
            </a:r>
            <a:r>
              <a:rPr dirty="0" sz="1150" spc="-45">
                <a:latin typeface="Arial"/>
                <a:cs typeface="Arial"/>
              </a:rPr>
              <a:t>money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promote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brand </a:t>
            </a:r>
            <a:r>
              <a:rPr dirty="0" sz="1150" spc="-60">
                <a:latin typeface="Arial"/>
                <a:cs typeface="Arial"/>
              </a:rPr>
              <a:t>name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product.</a:t>
            </a:r>
            <a:endParaRPr sz="1150">
              <a:latin typeface="Arial"/>
              <a:cs typeface="Arial"/>
            </a:endParaRPr>
          </a:p>
          <a:p>
            <a:pPr lvl="1" marL="927100" marR="5080" indent="-228600">
              <a:lnSpc>
                <a:spcPct val="101699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50" spc="-35">
                <a:latin typeface="Arial"/>
                <a:cs typeface="Arial"/>
              </a:rPr>
              <a:t>Marketers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55">
                <a:latin typeface="Arial"/>
                <a:cs typeface="Arial"/>
              </a:rPr>
              <a:t>revise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35">
                <a:latin typeface="Arial"/>
                <a:cs typeface="Arial"/>
              </a:rPr>
              <a:t>marketing </a:t>
            </a:r>
            <a:r>
              <a:rPr dirty="0" sz="1150" spc="-45">
                <a:latin typeface="Arial"/>
                <a:cs typeface="Arial"/>
              </a:rPr>
              <a:t>strategies. </a:t>
            </a:r>
            <a:r>
              <a:rPr dirty="0" sz="1150" spc="-35">
                <a:latin typeface="Arial"/>
                <a:cs typeface="Arial"/>
              </a:rPr>
              <a:t>i.e. </a:t>
            </a:r>
            <a:r>
              <a:rPr dirty="0" sz="1150" spc="-80">
                <a:latin typeface="Arial"/>
                <a:cs typeface="Arial"/>
              </a:rPr>
              <a:t>They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15">
                <a:latin typeface="Arial"/>
                <a:cs typeface="Arial"/>
              </a:rPr>
              <a:t>find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new  </a:t>
            </a:r>
            <a:r>
              <a:rPr dirty="0" sz="1150" spc="-65">
                <a:latin typeface="Arial"/>
                <a:cs typeface="Arial"/>
              </a:rPr>
              <a:t>segments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market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product.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75">
                <a:latin typeface="Arial"/>
                <a:cs typeface="Arial"/>
              </a:rPr>
              <a:t>Per </a:t>
            </a:r>
            <a:r>
              <a:rPr dirty="0" sz="1150" spc="-5">
                <a:latin typeface="Arial"/>
                <a:cs typeface="Arial"/>
              </a:rPr>
              <a:t>unit </a:t>
            </a:r>
            <a:r>
              <a:rPr dirty="0" sz="1150" spc="5">
                <a:latin typeface="Arial"/>
                <a:cs typeface="Arial"/>
              </a:rPr>
              <a:t>profit </a:t>
            </a:r>
            <a:r>
              <a:rPr dirty="0" sz="1150" spc="-25">
                <a:latin typeface="Arial"/>
                <a:cs typeface="Arial"/>
              </a:rPr>
              <a:t>might </a:t>
            </a:r>
            <a:r>
              <a:rPr dirty="0" sz="1150" spc="-50">
                <a:latin typeface="Arial"/>
                <a:cs typeface="Arial"/>
              </a:rPr>
              <a:t>reduce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30">
                <a:latin typeface="Arial"/>
                <a:cs typeface="Arial"/>
              </a:rPr>
              <a:t>this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stage.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350" spc="-95" b="1">
                <a:latin typeface="Arial"/>
                <a:cs typeface="Arial"/>
              </a:rPr>
              <a:t>Decline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Stage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Wingdings"/>
              <a:buChar char=""/>
            </a:pPr>
            <a:endParaRPr sz="12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50" spc="-35">
                <a:latin typeface="Arial"/>
                <a:cs typeface="Arial"/>
              </a:rPr>
              <a:t>Marketers </a:t>
            </a:r>
            <a:r>
              <a:rPr dirty="0" sz="1150" spc="-45">
                <a:latin typeface="Arial"/>
                <a:cs typeface="Arial"/>
              </a:rPr>
              <a:t>should sell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selective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customers.</a:t>
            </a:r>
            <a:endParaRPr sz="1150">
              <a:latin typeface="Arial"/>
              <a:cs typeface="Arial"/>
            </a:endParaRPr>
          </a:p>
          <a:p>
            <a:pPr lvl="1" marL="926465" marR="102235" indent="-228600">
              <a:lnSpc>
                <a:spcPct val="101699"/>
              </a:lnSpc>
              <a:buFont typeface="Wingdings"/>
              <a:buChar char=""/>
              <a:tabLst>
                <a:tab pos="927100" algn="l"/>
              </a:tabLst>
            </a:pPr>
            <a:r>
              <a:rPr dirty="0" sz="1150" spc="-20">
                <a:latin typeface="Arial"/>
                <a:cs typeface="Arial"/>
              </a:rPr>
              <a:t>At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this</a:t>
            </a:r>
            <a:r>
              <a:rPr dirty="0" sz="1150" spc="-60">
                <a:latin typeface="Arial"/>
                <a:cs typeface="Arial"/>
              </a:rPr>
              <a:t> stage,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marketers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will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introduce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innovations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keep 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80">
                <a:latin typeface="Arial"/>
                <a:cs typeface="Arial"/>
              </a:rPr>
              <a:t>sales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high.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80" b="1">
                <a:latin typeface="Arial"/>
                <a:cs typeface="Arial"/>
              </a:rPr>
              <a:t>BRANDS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102235">
              <a:lnSpc>
                <a:spcPct val="101699"/>
              </a:lnSpc>
            </a:pPr>
            <a:r>
              <a:rPr dirty="0" sz="1150" spc="-60">
                <a:latin typeface="Arial"/>
                <a:cs typeface="Arial"/>
              </a:rPr>
              <a:t>Brand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symbol,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sign,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writing,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color,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5">
                <a:latin typeface="Arial"/>
                <a:cs typeface="Arial"/>
              </a:rPr>
              <a:t>design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combination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50">
                <a:latin typeface="Arial"/>
                <a:cs typeface="Arial"/>
              </a:rPr>
              <a:t>these  </a:t>
            </a:r>
            <a:r>
              <a:rPr dirty="0" sz="1150" spc="-45">
                <a:latin typeface="Arial"/>
                <a:cs typeface="Arial"/>
              </a:rPr>
              <a:t>things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identify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40" b="1">
                <a:latin typeface="Arial"/>
                <a:cs typeface="Arial"/>
              </a:rPr>
              <a:t>BRANDING</a:t>
            </a:r>
            <a:r>
              <a:rPr dirty="0" sz="1350" spc="-65" b="1">
                <a:latin typeface="Arial"/>
                <a:cs typeface="Arial"/>
              </a:rPr>
              <a:t> </a:t>
            </a:r>
            <a:r>
              <a:rPr dirty="0" sz="1350" spc="-225" b="1">
                <a:latin typeface="Arial"/>
                <a:cs typeface="Arial"/>
              </a:rPr>
              <a:t>PROCESS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55">
                <a:latin typeface="Arial"/>
                <a:cs typeface="Arial"/>
              </a:rPr>
              <a:t>Branding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20">
                <a:latin typeface="Arial"/>
                <a:cs typeface="Arial"/>
              </a:rPr>
              <a:t>identification </a:t>
            </a:r>
            <a:r>
              <a:rPr dirty="0" sz="1150" spc="-60">
                <a:latin typeface="Arial"/>
                <a:cs typeface="Arial"/>
              </a:rPr>
              <a:t>is </a:t>
            </a:r>
            <a:r>
              <a:rPr dirty="0" sz="1150" spc="-70">
                <a:latin typeface="Arial"/>
                <a:cs typeface="Arial"/>
              </a:rPr>
              <a:t>suggested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60" b="1">
                <a:latin typeface="Arial"/>
                <a:cs typeface="Arial"/>
              </a:rPr>
              <a:t>BRAND</a:t>
            </a:r>
            <a:r>
              <a:rPr dirty="0" sz="1350" spc="-70" b="1">
                <a:latin typeface="Arial"/>
                <a:cs typeface="Arial"/>
              </a:rPr>
              <a:t> </a:t>
            </a:r>
            <a:r>
              <a:rPr dirty="0" sz="1350" spc="-145" b="1">
                <a:latin typeface="Arial"/>
                <a:cs typeface="Arial"/>
              </a:rPr>
              <a:t>EQUITY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60">
                <a:latin typeface="Arial"/>
                <a:cs typeface="Arial"/>
              </a:rPr>
              <a:t>Brand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Equity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loyalty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-40">
                <a:latin typeface="Arial"/>
                <a:cs typeface="Arial"/>
              </a:rPr>
              <a:t>attached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60" b="1">
                <a:latin typeface="Arial"/>
                <a:cs typeface="Arial"/>
              </a:rPr>
              <a:t>BRAND</a:t>
            </a:r>
            <a:r>
              <a:rPr dirty="0" sz="1350" spc="-70" b="1">
                <a:latin typeface="Arial"/>
                <a:cs typeface="Arial"/>
              </a:rPr>
              <a:t> </a:t>
            </a:r>
            <a:r>
              <a:rPr dirty="0" sz="1350" spc="-190" b="1">
                <a:latin typeface="Arial"/>
                <a:cs typeface="Arial"/>
              </a:rPr>
              <a:t>AWARENESS</a:t>
            </a:r>
            <a:endParaRPr sz="1350">
              <a:latin typeface="Arial"/>
              <a:cs typeface="Arial"/>
            </a:endParaRPr>
          </a:p>
          <a:p>
            <a:pPr marL="12700" marR="333375">
              <a:lnSpc>
                <a:spcPts val="1400"/>
              </a:lnSpc>
              <a:spcBef>
                <a:spcPts val="50"/>
              </a:spcBef>
            </a:pPr>
            <a:r>
              <a:rPr dirty="0" sz="1150" spc="-60">
                <a:latin typeface="Arial"/>
                <a:cs typeface="Arial"/>
              </a:rPr>
              <a:t>Brand </a:t>
            </a:r>
            <a:r>
              <a:rPr dirty="0" sz="1150" spc="-70">
                <a:latin typeface="Arial"/>
                <a:cs typeface="Arial"/>
              </a:rPr>
              <a:t>awareness 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extent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customer </a:t>
            </a:r>
            <a:r>
              <a:rPr dirty="0" sz="1150" spc="-55">
                <a:latin typeface="Arial"/>
                <a:cs typeface="Arial"/>
              </a:rPr>
              <a:t>knows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5">
                <a:latin typeface="Arial"/>
                <a:cs typeface="Arial"/>
              </a:rPr>
              <a:t>recalls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brand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25">
                <a:latin typeface="Arial"/>
                <a:cs typeface="Arial"/>
              </a:rPr>
              <a:t>product.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142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1035"/>
            <a:ext cx="5201920" cy="4424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245" b="1">
                <a:latin typeface="Arial"/>
                <a:cs typeface="Arial"/>
              </a:rPr>
              <a:t>TYPES </a:t>
            </a:r>
            <a:r>
              <a:rPr dirty="0" sz="1550" spc="-204" b="1">
                <a:latin typeface="Arial"/>
                <a:cs typeface="Arial"/>
              </a:rPr>
              <a:t>OF </a:t>
            </a:r>
            <a:r>
              <a:rPr dirty="0" sz="1550" spc="-190" b="1">
                <a:latin typeface="Arial"/>
                <a:cs typeface="Arial"/>
              </a:rPr>
              <a:t>BRAND</a:t>
            </a:r>
            <a:r>
              <a:rPr dirty="0" sz="1550" spc="-215" b="1">
                <a:latin typeface="Arial"/>
                <a:cs typeface="Arial"/>
              </a:rPr>
              <a:t> </a:t>
            </a:r>
            <a:r>
              <a:rPr dirty="0" sz="1550" spc="-165" b="1">
                <a:latin typeface="Arial"/>
                <a:cs typeface="Arial"/>
              </a:rPr>
              <a:t>NAMES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70" b="1">
                <a:latin typeface="Arial"/>
                <a:cs typeface="Arial"/>
              </a:rPr>
              <a:t>National</a:t>
            </a:r>
            <a:r>
              <a:rPr dirty="0" sz="1350" spc="-65" b="1">
                <a:latin typeface="Arial"/>
                <a:cs typeface="Arial"/>
              </a:rPr>
              <a:t> </a:t>
            </a:r>
            <a:r>
              <a:rPr dirty="0" sz="1350" spc="-130" b="1">
                <a:latin typeface="Arial"/>
                <a:cs typeface="Arial"/>
              </a:rPr>
              <a:t>Brands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85">
                <a:latin typeface="Arial"/>
                <a:cs typeface="Arial"/>
              </a:rPr>
              <a:t>same </a:t>
            </a:r>
            <a:r>
              <a:rPr dirty="0" sz="1150" spc="-40">
                <a:latin typeface="Arial"/>
                <a:cs typeface="Arial"/>
              </a:rPr>
              <a:t>brand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sold </a:t>
            </a:r>
            <a:r>
              <a:rPr dirty="0" sz="1150" spc="-20">
                <a:latin typeface="Arial"/>
                <a:cs typeface="Arial"/>
              </a:rPr>
              <a:t>throughout the </a:t>
            </a:r>
            <a:r>
              <a:rPr dirty="0" sz="1150" spc="-25">
                <a:latin typeface="Arial"/>
                <a:cs typeface="Arial"/>
              </a:rPr>
              <a:t>country then its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35">
                <a:latin typeface="Arial"/>
                <a:cs typeface="Arial"/>
              </a:rPr>
              <a:t>National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Brand.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35" b="1">
                <a:latin typeface="Arial"/>
                <a:cs typeface="Arial"/>
              </a:rPr>
              <a:t>License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30" b="1">
                <a:latin typeface="Arial"/>
                <a:cs typeface="Arial"/>
              </a:rPr>
              <a:t>Brands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60">
                <a:latin typeface="Arial"/>
                <a:cs typeface="Arial"/>
              </a:rPr>
              <a:t>Seller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buys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right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sell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brand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market.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80" b="1">
                <a:latin typeface="Arial"/>
                <a:cs typeface="Arial"/>
              </a:rPr>
              <a:t>Private </a:t>
            </a:r>
            <a:r>
              <a:rPr dirty="0" sz="1350" spc="-130" b="1">
                <a:latin typeface="Arial"/>
                <a:cs typeface="Arial"/>
              </a:rPr>
              <a:t>Brands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35">
                <a:latin typeface="Arial"/>
                <a:cs typeface="Arial"/>
              </a:rPr>
              <a:t>Manufacturers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brand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20">
                <a:latin typeface="Arial"/>
                <a:cs typeface="Arial"/>
              </a:rPr>
              <a:t>retailer </a:t>
            </a:r>
            <a:r>
              <a:rPr dirty="0" sz="1150" spc="-25">
                <a:latin typeface="Arial"/>
                <a:cs typeface="Arial"/>
              </a:rPr>
              <a:t>while </a:t>
            </a:r>
            <a:r>
              <a:rPr dirty="0" sz="1150" spc="-35">
                <a:latin typeface="Arial"/>
                <a:cs typeface="Arial"/>
              </a:rPr>
              <a:t>manufacturing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50" spc="-195" b="1">
                <a:latin typeface="Arial"/>
                <a:cs typeface="Arial"/>
              </a:rPr>
              <a:t>PACKAGING </a:t>
            </a:r>
            <a:r>
              <a:rPr dirty="0" sz="1550" spc="-150" b="1">
                <a:latin typeface="Arial"/>
                <a:cs typeface="Arial"/>
              </a:rPr>
              <a:t>AND</a:t>
            </a:r>
            <a:r>
              <a:rPr dirty="0" sz="1550" spc="-195" b="1">
                <a:latin typeface="Arial"/>
                <a:cs typeface="Arial"/>
              </a:rPr>
              <a:t> </a:t>
            </a:r>
            <a:r>
              <a:rPr dirty="0" sz="1550" spc="-210" b="1">
                <a:latin typeface="Arial"/>
                <a:cs typeface="Arial"/>
              </a:rPr>
              <a:t>LABELING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350" spc="-130" b="1">
                <a:latin typeface="Arial"/>
                <a:cs typeface="Arial"/>
              </a:rPr>
              <a:t>Packaging</a:t>
            </a:r>
            <a:endParaRPr sz="13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20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85">
                <a:latin typeface="Arial"/>
                <a:cs typeface="Arial"/>
              </a:rPr>
              <a:t>Dress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product.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70">
                <a:latin typeface="Arial"/>
                <a:cs typeface="Arial"/>
              </a:rPr>
              <a:t>Designing </a:t>
            </a:r>
            <a:r>
              <a:rPr dirty="0" sz="1150" spc="-55">
                <a:latin typeface="Arial"/>
                <a:cs typeface="Arial"/>
              </a:rPr>
              <a:t>and making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wrapper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470534" algn="l"/>
              </a:tabLst>
            </a:pPr>
            <a:r>
              <a:rPr dirty="0" sz="1350" spc="-114" b="1">
                <a:latin typeface="Arial"/>
                <a:cs typeface="Arial"/>
              </a:rPr>
              <a:t>Labeling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ts val="1400"/>
              </a:lnSpc>
              <a:spcBef>
                <a:spcPts val="50"/>
              </a:spcBef>
            </a:pPr>
            <a:r>
              <a:rPr dirty="0" sz="1150" spc="-45">
                <a:latin typeface="Arial"/>
                <a:cs typeface="Arial"/>
              </a:rPr>
              <a:t>Part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80">
                <a:latin typeface="Arial"/>
                <a:cs typeface="Arial"/>
              </a:rPr>
              <a:t>package </a:t>
            </a:r>
            <a:r>
              <a:rPr dirty="0" sz="1150" spc="-40">
                <a:latin typeface="Arial"/>
                <a:cs typeface="Arial"/>
              </a:rPr>
              <a:t>containing </a:t>
            </a:r>
            <a:r>
              <a:rPr dirty="0" sz="1150" spc="-55">
                <a:latin typeface="Arial"/>
                <a:cs typeface="Arial"/>
              </a:rPr>
              <a:t>name, </a:t>
            </a:r>
            <a:r>
              <a:rPr dirty="0" sz="1150" spc="-35">
                <a:latin typeface="Arial"/>
                <a:cs typeface="Arial"/>
              </a:rPr>
              <a:t>contents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name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manufacturer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label.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143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80563" y="889511"/>
            <a:ext cx="4161154" cy="1190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29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750" spc="-185" b="1">
                <a:latin typeface="Arial"/>
                <a:cs typeface="Arial"/>
              </a:rPr>
              <a:t>PRICING </a:t>
            </a:r>
            <a:r>
              <a:rPr dirty="0" sz="1750" spc="-35" b="1">
                <a:latin typeface="Arial"/>
                <a:cs typeface="Arial"/>
              </a:rPr>
              <a:t>&amp; </a:t>
            </a:r>
            <a:r>
              <a:rPr dirty="0" sz="1750" spc="-165" b="1">
                <a:latin typeface="Arial"/>
                <a:cs typeface="Arial"/>
              </a:rPr>
              <a:t>DISTRIBUTION</a:t>
            </a:r>
            <a:r>
              <a:rPr dirty="0" sz="1750" spc="-65" b="1">
                <a:latin typeface="Arial"/>
                <a:cs typeface="Arial"/>
              </a:rPr>
              <a:t> </a:t>
            </a:r>
            <a:r>
              <a:rPr dirty="0" sz="1750" spc="-50" b="1">
                <a:latin typeface="Arial"/>
                <a:cs typeface="Arial"/>
              </a:rPr>
              <a:t>MIX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144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286" y="2133218"/>
            <a:ext cx="5511800" cy="6914515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1350" spc="-114" b="1">
                <a:latin typeface="Arial"/>
                <a:cs typeface="Arial"/>
              </a:rPr>
              <a:t>Pricing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1150" spc="-65">
                <a:latin typeface="Arial"/>
                <a:cs typeface="Arial"/>
              </a:rPr>
              <a:t>Price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value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seller </a:t>
            </a:r>
            <a:r>
              <a:rPr dirty="0" sz="1150" spc="-60">
                <a:latin typeface="Arial"/>
                <a:cs typeface="Arial"/>
              </a:rPr>
              <a:t>receives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75">
                <a:latin typeface="Arial"/>
                <a:cs typeface="Arial"/>
              </a:rPr>
              <a:t>exchange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good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service.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150" spc="15">
                <a:latin typeface="Arial"/>
                <a:cs typeface="Arial"/>
              </a:rPr>
              <a:t>It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process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determining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what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>
                <a:latin typeface="Arial"/>
                <a:cs typeface="Arial"/>
              </a:rPr>
              <a:t>will</a:t>
            </a:r>
            <a:r>
              <a:rPr dirty="0" sz="1150" spc="-50">
                <a:latin typeface="Arial"/>
                <a:cs typeface="Arial"/>
              </a:rPr>
              <a:t> receive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75">
                <a:latin typeface="Arial"/>
                <a:cs typeface="Arial"/>
              </a:rPr>
              <a:t> exchange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products.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00" b="1">
                <a:latin typeface="Arial"/>
                <a:cs typeface="Arial"/>
              </a:rPr>
              <a:t>Objectives </a:t>
            </a:r>
            <a:r>
              <a:rPr dirty="0" sz="1350" spc="-60" b="1">
                <a:latin typeface="Arial"/>
                <a:cs typeface="Arial"/>
              </a:rPr>
              <a:t>of</a:t>
            </a:r>
            <a:r>
              <a:rPr dirty="0" sz="1350" spc="-55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Pricing</a:t>
            </a:r>
            <a:endParaRPr sz="13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35">
                <a:latin typeface="Arial"/>
                <a:cs typeface="Arial"/>
              </a:rPr>
              <a:t>Maximization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profit.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60">
                <a:latin typeface="Arial"/>
                <a:cs typeface="Arial"/>
              </a:rPr>
              <a:t>Increasing </a:t>
            </a:r>
            <a:r>
              <a:rPr dirty="0" sz="1150" spc="-30">
                <a:latin typeface="Arial"/>
                <a:cs typeface="Arial"/>
              </a:rPr>
              <a:t>market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share.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65">
                <a:latin typeface="Arial"/>
                <a:cs typeface="Arial"/>
              </a:rPr>
              <a:t>Psychological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advantage.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60">
                <a:latin typeface="Arial"/>
                <a:cs typeface="Arial"/>
              </a:rPr>
              <a:t>Get </a:t>
            </a:r>
            <a:r>
              <a:rPr dirty="0" sz="1150" spc="-10">
                <a:latin typeface="Arial"/>
                <a:cs typeface="Arial"/>
              </a:rPr>
              <a:t>rid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stock.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har char="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40" b="1">
                <a:latin typeface="Arial"/>
                <a:cs typeface="Arial"/>
              </a:rPr>
              <a:t>Cost Based</a:t>
            </a:r>
            <a:r>
              <a:rPr dirty="0" sz="1350" spc="-15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Pricing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dirty="0" sz="1150" spc="-4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cost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based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pricing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cost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considered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amount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profit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added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it.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00" b="1">
                <a:latin typeface="Arial"/>
                <a:cs typeface="Arial"/>
              </a:rPr>
              <a:t>Breakeven</a:t>
            </a:r>
            <a:r>
              <a:rPr dirty="0" sz="1350" spc="-60" b="1">
                <a:latin typeface="Arial"/>
                <a:cs typeface="Arial"/>
              </a:rPr>
              <a:t> </a:t>
            </a:r>
            <a:r>
              <a:rPr dirty="0" sz="1350" spc="-125" b="1">
                <a:latin typeface="Arial"/>
                <a:cs typeface="Arial"/>
              </a:rPr>
              <a:t>Analysis</a:t>
            </a:r>
            <a:endParaRPr sz="1350">
              <a:latin typeface="Arial"/>
              <a:cs typeface="Arial"/>
            </a:endParaRPr>
          </a:p>
          <a:p>
            <a:pPr marL="355600" marR="5080" indent="-343535">
              <a:lnSpc>
                <a:spcPts val="1260"/>
              </a:lnSpc>
              <a:spcBef>
                <a:spcPts val="760"/>
              </a:spcBef>
            </a:pPr>
            <a:r>
              <a:rPr dirty="0" sz="1150" spc="-65">
                <a:latin typeface="Arial"/>
                <a:cs typeface="Arial"/>
              </a:rPr>
              <a:t>Breakeven analysis </a:t>
            </a:r>
            <a:r>
              <a:rPr dirty="0" sz="1150" spc="-30">
                <a:latin typeface="Arial"/>
                <a:cs typeface="Arial"/>
              </a:rPr>
              <a:t>tells </a:t>
            </a:r>
            <a:r>
              <a:rPr dirty="0" sz="1150" spc="-85">
                <a:latin typeface="Arial"/>
                <a:cs typeface="Arial"/>
              </a:rPr>
              <a:t>us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10">
                <a:latin typeface="Arial"/>
                <a:cs typeface="Arial"/>
              </a:rPr>
              <a:t>point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5">
                <a:latin typeface="Arial"/>
                <a:cs typeface="Arial"/>
              </a:rPr>
              <a:t>profit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75">
                <a:latin typeface="Arial"/>
                <a:cs typeface="Arial"/>
              </a:rPr>
              <a:t>loss  </a:t>
            </a:r>
            <a:r>
              <a:rPr dirty="0" sz="1150" spc="-15">
                <a:latin typeface="Arial"/>
                <a:cs typeface="Arial"/>
              </a:rPr>
              <a:t>point.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150" spc="-40">
                <a:latin typeface="Arial"/>
                <a:cs typeface="Arial"/>
              </a:rPr>
              <a:t>In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order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calculate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breakeven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point,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we</a:t>
            </a:r>
            <a:r>
              <a:rPr dirty="0" sz="1150" spc="-55">
                <a:latin typeface="Arial"/>
                <a:cs typeface="Arial"/>
              </a:rPr>
              <a:t> need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consider: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5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75">
                <a:latin typeface="Arial"/>
                <a:cs typeface="Arial"/>
              </a:rPr>
              <a:t>Fixed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cost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59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50">
                <a:latin typeface="Arial"/>
                <a:cs typeface="Arial"/>
              </a:rPr>
              <a:t>Variable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cost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150" spc="-95" b="1">
                <a:latin typeface="Arial"/>
                <a:cs typeface="Arial"/>
              </a:rPr>
              <a:t>Fixed </a:t>
            </a:r>
            <a:r>
              <a:rPr dirty="0" sz="1150" spc="-105" b="1">
                <a:latin typeface="Arial"/>
                <a:cs typeface="Arial"/>
              </a:rPr>
              <a:t>cost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40">
                <a:latin typeface="Arial"/>
                <a:cs typeface="Arial"/>
              </a:rPr>
              <a:t>remain </a:t>
            </a:r>
            <a:r>
              <a:rPr dirty="0" sz="1150" spc="-35">
                <a:latin typeface="Arial"/>
                <a:cs typeface="Arial"/>
              </a:rPr>
              <a:t>fixed </a:t>
            </a:r>
            <a:r>
              <a:rPr dirty="0" sz="1150" spc="-60">
                <a:latin typeface="Arial"/>
                <a:cs typeface="Arial"/>
              </a:rPr>
              <a:t>regardless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units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produced.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150" spc="-65" b="1">
                <a:latin typeface="Arial"/>
                <a:cs typeface="Arial"/>
              </a:rPr>
              <a:t>Variable </a:t>
            </a:r>
            <a:r>
              <a:rPr dirty="0" sz="1150" spc="-110" b="1">
                <a:latin typeface="Arial"/>
                <a:cs typeface="Arial"/>
              </a:rPr>
              <a:t>cost </a:t>
            </a:r>
            <a:r>
              <a:rPr dirty="0" sz="1150" spc="-55">
                <a:latin typeface="Arial"/>
                <a:cs typeface="Arial"/>
              </a:rPr>
              <a:t>varies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units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produced.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150" spc="-65" b="1">
                <a:latin typeface="Arial"/>
                <a:cs typeface="Arial"/>
              </a:rPr>
              <a:t>Total </a:t>
            </a:r>
            <a:r>
              <a:rPr dirty="0" sz="1150" spc="-120" b="1">
                <a:latin typeface="Arial"/>
                <a:cs typeface="Arial"/>
              </a:rPr>
              <a:t>Cost </a:t>
            </a:r>
            <a:r>
              <a:rPr dirty="0" sz="1150" spc="-100">
                <a:latin typeface="Arial"/>
                <a:cs typeface="Arial"/>
              </a:rPr>
              <a:t>= </a:t>
            </a:r>
            <a:r>
              <a:rPr dirty="0" sz="1150" spc="-75">
                <a:latin typeface="Arial"/>
                <a:cs typeface="Arial"/>
              </a:rPr>
              <a:t>Fixed </a:t>
            </a:r>
            <a:r>
              <a:rPr dirty="0" sz="1150" spc="-50">
                <a:latin typeface="Arial"/>
                <a:cs typeface="Arial"/>
              </a:rPr>
              <a:t>cost </a:t>
            </a:r>
            <a:r>
              <a:rPr dirty="0" sz="1150" spc="-100">
                <a:latin typeface="Arial"/>
                <a:cs typeface="Arial"/>
              </a:rPr>
              <a:t>+ </a:t>
            </a:r>
            <a:r>
              <a:rPr dirty="0" sz="1150" spc="-50">
                <a:latin typeface="Arial"/>
                <a:cs typeface="Arial"/>
              </a:rPr>
              <a:t>Variable</a:t>
            </a:r>
            <a:r>
              <a:rPr dirty="0" sz="1150" spc="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cost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150" spc="-60">
                <a:latin typeface="Arial"/>
                <a:cs typeface="Arial"/>
              </a:rPr>
              <a:t>Concept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breakeven </a:t>
            </a:r>
            <a:r>
              <a:rPr dirty="0" sz="1150" spc="-65">
                <a:latin typeface="Arial"/>
                <a:cs typeface="Arial"/>
              </a:rPr>
              <a:t>analysis </a:t>
            </a:r>
            <a:r>
              <a:rPr dirty="0" sz="1150" spc="-70">
                <a:latin typeface="Arial"/>
                <a:cs typeface="Arial"/>
              </a:rPr>
              <a:t>is used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cost </a:t>
            </a:r>
            <a:r>
              <a:rPr dirty="0" sz="1150" spc="-75">
                <a:latin typeface="Arial"/>
                <a:cs typeface="Arial"/>
              </a:rPr>
              <a:t>based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pricing.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350" spc="-114" b="1">
                <a:latin typeface="Arial"/>
                <a:cs typeface="Arial"/>
              </a:rPr>
              <a:t>Pricing </a:t>
            </a:r>
            <a:r>
              <a:rPr dirty="0" sz="1350" spc="-65" b="1">
                <a:latin typeface="Arial"/>
                <a:cs typeface="Arial"/>
              </a:rPr>
              <a:t>of </a:t>
            </a:r>
            <a:r>
              <a:rPr dirty="0" sz="1350" spc="-85" b="1">
                <a:latin typeface="Arial"/>
                <a:cs typeface="Arial"/>
              </a:rPr>
              <a:t>a </a:t>
            </a:r>
            <a:r>
              <a:rPr dirty="0" sz="1350" spc="-70" b="1">
                <a:latin typeface="Arial"/>
                <a:cs typeface="Arial"/>
              </a:rPr>
              <a:t>new</a:t>
            </a:r>
            <a:r>
              <a:rPr dirty="0" sz="1350" spc="-35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Product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65">
                <a:latin typeface="Arial"/>
                <a:cs typeface="Arial"/>
              </a:rPr>
              <a:t>There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are various </a:t>
            </a:r>
            <a:r>
              <a:rPr dirty="0" sz="1150" spc="-35">
                <a:latin typeface="Arial"/>
                <a:cs typeface="Arial"/>
              </a:rPr>
              <a:t>forms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pricing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determine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price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9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65">
                <a:latin typeface="Arial"/>
                <a:cs typeface="Arial"/>
              </a:rPr>
              <a:t>Price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Skimming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40">
                <a:solidFill>
                  <a:srgbClr val="320032"/>
                </a:solidFill>
                <a:latin typeface="Arial"/>
                <a:cs typeface="Arial"/>
              </a:rPr>
              <a:t>Penetrating</a:t>
            </a:r>
            <a:r>
              <a:rPr dirty="0" sz="1150" spc="-60">
                <a:solidFill>
                  <a:srgbClr val="320032"/>
                </a:solidFill>
                <a:latin typeface="Arial"/>
                <a:cs typeface="Arial"/>
              </a:rPr>
              <a:t> </a:t>
            </a:r>
            <a:r>
              <a:rPr dirty="0" sz="1150" spc="-55">
                <a:solidFill>
                  <a:srgbClr val="320032"/>
                </a:solidFill>
                <a:latin typeface="Arial"/>
                <a:cs typeface="Arial"/>
              </a:rPr>
              <a:t>Pricing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7" y="891339"/>
            <a:ext cx="5511165" cy="821245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75">
                <a:solidFill>
                  <a:srgbClr val="320032"/>
                </a:solidFill>
                <a:latin typeface="Arial"/>
                <a:cs typeface="Arial"/>
              </a:rPr>
              <a:t>Fixed</a:t>
            </a:r>
            <a:r>
              <a:rPr dirty="0" sz="1150" spc="-65">
                <a:solidFill>
                  <a:srgbClr val="320032"/>
                </a:solidFill>
                <a:latin typeface="Arial"/>
                <a:cs typeface="Arial"/>
              </a:rPr>
              <a:t> Price</a:t>
            </a:r>
            <a:endParaRPr sz="11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65">
                <a:solidFill>
                  <a:srgbClr val="320032"/>
                </a:solidFill>
                <a:latin typeface="Arial"/>
                <a:cs typeface="Arial"/>
              </a:rPr>
              <a:t>Dynamic</a:t>
            </a:r>
            <a:r>
              <a:rPr dirty="0" sz="1150" spc="-55">
                <a:solidFill>
                  <a:srgbClr val="320032"/>
                </a:solidFill>
                <a:latin typeface="Arial"/>
                <a:cs typeface="Arial"/>
              </a:rPr>
              <a:t> </a:t>
            </a:r>
            <a:r>
              <a:rPr dirty="0" sz="1150" spc="-65">
                <a:solidFill>
                  <a:srgbClr val="320032"/>
                </a:solidFill>
                <a:latin typeface="Arial"/>
                <a:cs typeface="Arial"/>
              </a:rPr>
              <a:t>Price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1350" spc="-110" b="1">
                <a:latin typeface="Arial"/>
                <a:cs typeface="Arial"/>
              </a:rPr>
              <a:t>Price</a:t>
            </a:r>
            <a:r>
              <a:rPr dirty="0" sz="1350" spc="-65" b="1">
                <a:latin typeface="Arial"/>
                <a:cs typeface="Arial"/>
              </a:rPr>
              <a:t> </a:t>
            </a:r>
            <a:r>
              <a:rPr dirty="0" sz="1350" spc="-125" b="1">
                <a:latin typeface="Arial"/>
                <a:cs typeface="Arial"/>
              </a:rPr>
              <a:t>Skimming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  <a:spcBef>
                <a:spcPts val="655"/>
              </a:spcBef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strategy </a:t>
            </a:r>
            <a:r>
              <a:rPr dirty="0" sz="1150" spc="-25">
                <a:latin typeface="Arial"/>
                <a:cs typeface="Arial"/>
              </a:rPr>
              <a:t>through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introduced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40">
                <a:latin typeface="Arial"/>
                <a:cs typeface="Arial"/>
              </a:rPr>
              <a:t>higher price </a:t>
            </a:r>
            <a:r>
              <a:rPr dirty="0" sz="1150" spc="-30">
                <a:latin typeface="Arial"/>
                <a:cs typeface="Arial"/>
              </a:rPr>
              <a:t>than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market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expectations.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10" b="1">
                <a:latin typeface="Arial"/>
                <a:cs typeface="Arial"/>
              </a:rPr>
              <a:t>Advantages </a:t>
            </a:r>
            <a:r>
              <a:rPr dirty="0" sz="1350" spc="-60" b="1">
                <a:latin typeface="Arial"/>
                <a:cs typeface="Arial"/>
              </a:rPr>
              <a:t>of </a:t>
            </a:r>
            <a:r>
              <a:rPr dirty="0" sz="1350" spc="-90" b="1">
                <a:latin typeface="Arial"/>
                <a:cs typeface="Arial"/>
              </a:rPr>
              <a:t>price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14" b="1">
                <a:latin typeface="Arial"/>
                <a:cs typeface="Arial"/>
              </a:rPr>
              <a:t>skimming</a:t>
            </a:r>
            <a:endParaRPr sz="1350">
              <a:latin typeface="Arial"/>
              <a:cs typeface="Arial"/>
            </a:endParaRPr>
          </a:p>
          <a:p>
            <a:pPr marL="469900" marR="5080" indent="-228600">
              <a:lnSpc>
                <a:spcPct val="100899"/>
              </a:lnSpc>
              <a:spcBef>
                <a:spcPts val="77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any </a:t>
            </a:r>
            <a:r>
              <a:rPr dirty="0" sz="1150" spc="-45">
                <a:latin typeface="Arial"/>
                <a:cs typeface="Arial"/>
              </a:rPr>
              <a:t>mistake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calculation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cost, </a:t>
            </a:r>
            <a:r>
              <a:rPr dirty="0" sz="1150" spc="-35">
                <a:latin typeface="Arial"/>
                <a:cs typeface="Arial"/>
              </a:rPr>
              <a:t>price </a:t>
            </a:r>
            <a:r>
              <a:rPr dirty="0" sz="1150" spc="-50">
                <a:latin typeface="Arial"/>
                <a:cs typeface="Arial"/>
              </a:rPr>
              <a:t>skimming </a:t>
            </a:r>
            <a:r>
              <a:rPr dirty="0" sz="1150" spc="-40">
                <a:latin typeface="Arial"/>
                <a:cs typeface="Arial"/>
              </a:rPr>
              <a:t>strategy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absorb </a:t>
            </a:r>
            <a:r>
              <a:rPr dirty="0" sz="1150" spc="-5">
                <a:latin typeface="Arial"/>
                <a:cs typeface="Arial"/>
              </a:rPr>
              <a:t>that  </a:t>
            </a:r>
            <a:r>
              <a:rPr dirty="0" sz="1150" spc="-45">
                <a:latin typeface="Arial"/>
                <a:cs typeface="Arial"/>
              </a:rPr>
              <a:t>mistake </a:t>
            </a:r>
            <a:r>
              <a:rPr dirty="0" sz="1150" spc="-5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initial </a:t>
            </a:r>
            <a:r>
              <a:rPr dirty="0" sz="1150" spc="-40">
                <a:latin typeface="Arial"/>
                <a:cs typeface="Arial"/>
              </a:rPr>
              <a:t>higher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price.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9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60">
                <a:latin typeface="Arial"/>
                <a:cs typeface="Arial"/>
              </a:rPr>
              <a:t>Sometimes,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customers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value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quality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with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price.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har char="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80" b="1">
                <a:latin typeface="Arial"/>
                <a:cs typeface="Arial"/>
              </a:rPr>
              <a:t>Penetrating</a:t>
            </a:r>
            <a:r>
              <a:rPr dirty="0" sz="1350" spc="-60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Pricing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1150" spc="-40">
                <a:latin typeface="Arial"/>
                <a:cs typeface="Arial"/>
              </a:rPr>
              <a:t>Penetrating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price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initial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lower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price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than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the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market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expectations.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10" b="1">
                <a:latin typeface="Arial"/>
                <a:cs typeface="Arial"/>
              </a:rPr>
              <a:t>Advantages </a:t>
            </a:r>
            <a:r>
              <a:rPr dirty="0" sz="1350" spc="-60" b="1">
                <a:latin typeface="Arial"/>
                <a:cs typeface="Arial"/>
              </a:rPr>
              <a:t>of </a:t>
            </a:r>
            <a:r>
              <a:rPr dirty="0" sz="1350" spc="-80" b="1">
                <a:latin typeface="Arial"/>
                <a:cs typeface="Arial"/>
              </a:rPr>
              <a:t>Penetrating</a:t>
            </a:r>
            <a:r>
              <a:rPr dirty="0" sz="1350" spc="-55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Pricing</a:t>
            </a:r>
            <a:endParaRPr sz="13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larger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65">
                <a:latin typeface="Arial"/>
                <a:cs typeface="Arial"/>
              </a:rPr>
              <a:t>share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0">
                <a:latin typeface="Arial"/>
                <a:cs typeface="Arial"/>
              </a:rPr>
              <a:t>captured </a:t>
            </a:r>
            <a:r>
              <a:rPr dirty="0" sz="1150" spc="-25">
                <a:latin typeface="Arial"/>
                <a:cs typeface="Arial"/>
              </a:rPr>
              <a:t>through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35">
                <a:latin typeface="Arial"/>
                <a:cs typeface="Arial"/>
              </a:rPr>
              <a:t>pricing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strategy.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55">
                <a:latin typeface="Arial"/>
                <a:cs typeface="Arial"/>
              </a:rPr>
              <a:t>Pricing </a:t>
            </a:r>
            <a:r>
              <a:rPr dirty="0" sz="1150" spc="-65">
                <a:latin typeface="Arial"/>
                <a:cs typeface="Arial"/>
              </a:rPr>
              <a:t>depends </a:t>
            </a:r>
            <a:r>
              <a:rPr dirty="0" sz="1150" spc="-40">
                <a:latin typeface="Arial"/>
                <a:cs typeface="Arial"/>
              </a:rPr>
              <a:t>upon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objectives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har char="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14" b="1">
                <a:latin typeface="Arial"/>
                <a:cs typeface="Arial"/>
              </a:rPr>
              <a:t>Fixed </a:t>
            </a:r>
            <a:r>
              <a:rPr dirty="0" sz="1350" spc="-110" b="1">
                <a:latin typeface="Arial"/>
                <a:cs typeface="Arial"/>
              </a:rPr>
              <a:t>Price </a:t>
            </a:r>
            <a:r>
              <a:rPr dirty="0" sz="1350" spc="-114" b="1">
                <a:latin typeface="Arial"/>
                <a:cs typeface="Arial"/>
              </a:rPr>
              <a:t>Vs. </a:t>
            </a:r>
            <a:r>
              <a:rPr dirty="0" sz="1350" spc="-110" b="1">
                <a:latin typeface="Arial"/>
                <a:cs typeface="Arial"/>
              </a:rPr>
              <a:t>Dynamic</a:t>
            </a:r>
            <a:r>
              <a:rPr dirty="0" sz="1350" spc="50" b="1">
                <a:latin typeface="Arial"/>
                <a:cs typeface="Arial"/>
              </a:rPr>
              <a:t> </a:t>
            </a:r>
            <a:r>
              <a:rPr dirty="0" sz="1350" spc="-110" b="1">
                <a:latin typeface="Arial"/>
                <a:cs typeface="Arial"/>
              </a:rPr>
              <a:t>Price</a:t>
            </a:r>
            <a:endParaRPr sz="1350">
              <a:latin typeface="Arial"/>
              <a:cs typeface="Arial"/>
            </a:endParaRPr>
          </a:p>
          <a:p>
            <a:pPr marL="12700" marR="2216150">
              <a:lnSpc>
                <a:spcPct val="152200"/>
              </a:lnSpc>
              <a:spcBef>
                <a:spcPts val="715"/>
              </a:spcBef>
            </a:pPr>
            <a:r>
              <a:rPr dirty="0" sz="1150" spc="-75">
                <a:latin typeface="Arial"/>
                <a:cs typeface="Arial"/>
              </a:rPr>
              <a:t>Fixed </a:t>
            </a:r>
            <a:r>
              <a:rPr dirty="0" sz="1150" spc="-40">
                <a:latin typeface="Arial"/>
                <a:cs typeface="Arial"/>
              </a:rPr>
              <a:t>price </a:t>
            </a:r>
            <a:r>
              <a:rPr dirty="0" sz="1150" spc="-35">
                <a:latin typeface="Arial"/>
                <a:cs typeface="Arial"/>
              </a:rPr>
              <a:t>held constant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specified </a:t>
            </a:r>
            <a:r>
              <a:rPr dirty="0" sz="1150" spc="-30">
                <a:latin typeface="Arial"/>
                <a:cs typeface="Arial"/>
              </a:rPr>
              <a:t>period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time. 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fixed </a:t>
            </a:r>
            <a:r>
              <a:rPr dirty="0" sz="1150" spc="-35">
                <a:latin typeface="Arial"/>
                <a:cs typeface="Arial"/>
              </a:rPr>
              <a:t>pricing </a:t>
            </a:r>
            <a:r>
              <a:rPr dirty="0" sz="1150" spc="-30">
                <a:latin typeface="Arial"/>
                <a:cs typeface="Arial"/>
              </a:rPr>
              <a:t>method, </a:t>
            </a:r>
            <a:r>
              <a:rPr dirty="0" sz="1150" spc="-45">
                <a:latin typeface="Arial"/>
                <a:cs typeface="Arial"/>
              </a:rPr>
              <a:t>we </a:t>
            </a:r>
            <a:r>
              <a:rPr dirty="0" sz="1150" spc="-40">
                <a:latin typeface="Arial"/>
                <a:cs typeface="Arial"/>
              </a:rPr>
              <a:t>do </a:t>
            </a:r>
            <a:r>
              <a:rPr dirty="0" sz="1150" spc="-5">
                <a:latin typeface="Arial"/>
                <a:cs typeface="Arial"/>
              </a:rPr>
              <a:t>not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consider: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745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80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40">
                <a:latin typeface="Arial"/>
                <a:cs typeface="Arial"/>
              </a:rPr>
              <a:t> customer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80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35">
                <a:latin typeface="Arial"/>
                <a:cs typeface="Arial"/>
              </a:rPr>
              <a:t> community</a:t>
            </a:r>
            <a:endParaRPr sz="1150">
              <a:latin typeface="Arial"/>
              <a:cs typeface="Arial"/>
            </a:endParaRPr>
          </a:p>
          <a:p>
            <a:pPr lvl="1" marL="12700" marR="3070225" indent="685800">
              <a:lnSpc>
                <a:spcPct val="151300"/>
              </a:lnSpc>
              <a:spcBef>
                <a:spcPts val="25"/>
              </a:spcBef>
              <a:buFont typeface="Symbol"/>
              <a:buChar char=""/>
              <a:tabLst>
                <a:tab pos="926465" algn="l"/>
                <a:tab pos="927100" algn="l"/>
              </a:tabLst>
            </a:pPr>
            <a:r>
              <a:rPr dirty="0" sz="1150" spc="-50">
                <a:latin typeface="Arial"/>
                <a:cs typeface="Arial"/>
              </a:rPr>
              <a:t>Location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sale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point 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dynamic </a:t>
            </a:r>
            <a:r>
              <a:rPr dirty="0" sz="1150" spc="-40">
                <a:latin typeface="Arial"/>
                <a:cs typeface="Arial"/>
              </a:rPr>
              <a:t>pricing, price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0">
                <a:latin typeface="Arial"/>
                <a:cs typeface="Arial"/>
              </a:rPr>
              <a:t>vary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from:</a:t>
            </a:r>
            <a:endParaRPr sz="11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74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55">
                <a:latin typeface="Arial"/>
                <a:cs typeface="Arial"/>
              </a:rPr>
              <a:t>Customer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customer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20">
                <a:latin typeface="Arial"/>
                <a:cs typeface="Arial"/>
              </a:rPr>
              <a:t>Market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market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har char="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20" b="1">
                <a:latin typeface="Arial"/>
                <a:cs typeface="Arial"/>
              </a:rPr>
              <a:t>Factors </a:t>
            </a:r>
            <a:r>
              <a:rPr dirty="0" sz="1350" spc="-45" b="1">
                <a:latin typeface="Arial"/>
                <a:cs typeface="Arial"/>
              </a:rPr>
              <a:t>to </a:t>
            </a:r>
            <a:r>
              <a:rPr dirty="0" sz="1350" spc="-85" b="1">
                <a:latin typeface="Arial"/>
                <a:cs typeface="Arial"/>
              </a:rPr>
              <a:t>be </a:t>
            </a:r>
            <a:r>
              <a:rPr dirty="0" sz="1350" spc="-105" b="1">
                <a:latin typeface="Arial"/>
                <a:cs typeface="Arial"/>
              </a:rPr>
              <a:t>considered </a:t>
            </a:r>
            <a:r>
              <a:rPr dirty="0" sz="1350" spc="-65" b="1">
                <a:latin typeface="Arial"/>
                <a:cs typeface="Arial"/>
              </a:rPr>
              <a:t>while </a:t>
            </a:r>
            <a:r>
              <a:rPr dirty="0" sz="1350" spc="-85" b="1">
                <a:latin typeface="Arial"/>
                <a:cs typeface="Arial"/>
              </a:rPr>
              <a:t>setting </a:t>
            </a:r>
            <a:r>
              <a:rPr dirty="0" sz="1350" spc="-65" b="1">
                <a:latin typeface="Arial"/>
                <a:cs typeface="Arial"/>
              </a:rPr>
              <a:t>International</a:t>
            </a:r>
            <a:r>
              <a:rPr dirty="0" sz="1350" spc="-20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Pricing</a:t>
            </a:r>
            <a:endParaRPr sz="13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7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65">
                <a:latin typeface="Arial"/>
                <a:cs typeface="Arial"/>
              </a:rPr>
              <a:t>Currency</a:t>
            </a:r>
            <a:endParaRPr sz="11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73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90">
                <a:latin typeface="Arial"/>
                <a:cs typeface="Arial"/>
              </a:rPr>
              <a:t>Exchange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rate</a:t>
            </a:r>
            <a:endParaRPr sz="11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105">
                <a:latin typeface="Arial"/>
                <a:cs typeface="Arial"/>
              </a:rPr>
              <a:t>Taxes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Government</a:t>
            </a:r>
            <a:endParaRPr sz="11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30">
                <a:latin typeface="Arial"/>
                <a:cs typeface="Arial"/>
              </a:rPr>
              <a:t>Tariff</a:t>
            </a:r>
            <a:endParaRPr sz="11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7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45">
                <a:latin typeface="Arial"/>
                <a:cs typeface="Arial"/>
              </a:rPr>
              <a:t>Freight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145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70" y="901703"/>
            <a:ext cx="5515610" cy="79540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229235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60">
                <a:latin typeface="Arial"/>
                <a:cs typeface="Arial"/>
              </a:rPr>
              <a:t>Insurance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75" b="1">
                <a:latin typeface="Arial"/>
                <a:cs typeface="Arial"/>
              </a:rPr>
              <a:t>THE </a:t>
            </a:r>
            <a:r>
              <a:rPr dirty="0" sz="1350" spc="-130" b="1">
                <a:latin typeface="Arial"/>
                <a:cs typeface="Arial"/>
              </a:rPr>
              <a:t>DISTRIBUTION</a:t>
            </a:r>
            <a:r>
              <a:rPr dirty="0" sz="1350" spc="-180" b="1">
                <a:latin typeface="Arial"/>
                <a:cs typeface="Arial"/>
              </a:rPr>
              <a:t> </a:t>
            </a:r>
            <a:r>
              <a:rPr dirty="0" sz="1350" spc="-45" b="1">
                <a:latin typeface="Arial"/>
                <a:cs typeface="Arial"/>
              </a:rPr>
              <a:t>MIX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Getting products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35">
                <a:latin typeface="Arial"/>
                <a:cs typeface="Arial"/>
              </a:rPr>
              <a:t>producer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consumer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next </a:t>
            </a:r>
            <a:r>
              <a:rPr dirty="0" sz="1150" spc="-35">
                <a:latin typeface="Arial"/>
                <a:cs typeface="Arial"/>
              </a:rPr>
              <a:t>element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marketing mix,  known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65" b="1">
                <a:latin typeface="Arial"/>
                <a:cs typeface="Arial"/>
              </a:rPr>
              <a:t>distribution</a:t>
            </a:r>
            <a:r>
              <a:rPr dirty="0" sz="1150" spc="-65">
                <a:latin typeface="Arial"/>
                <a:cs typeface="Arial"/>
              </a:rPr>
              <a:t>, </a:t>
            </a:r>
            <a:r>
              <a:rPr dirty="0" sz="1150" spc="-15">
                <a:latin typeface="Arial"/>
                <a:cs typeface="Arial"/>
              </a:rPr>
              <a:t>or </a:t>
            </a:r>
            <a:r>
              <a:rPr dirty="0" sz="1150" spc="-75" b="1">
                <a:latin typeface="Arial"/>
                <a:cs typeface="Arial"/>
              </a:rPr>
              <a:t>place</a:t>
            </a:r>
            <a:r>
              <a:rPr dirty="0" sz="1150" spc="-75">
                <a:latin typeface="Arial"/>
                <a:cs typeface="Arial"/>
              </a:rPr>
              <a:t>. </a:t>
            </a:r>
            <a:r>
              <a:rPr dirty="0" sz="1150" spc="-70">
                <a:latin typeface="Arial"/>
                <a:cs typeface="Arial"/>
              </a:rPr>
              <a:t>An </a:t>
            </a:r>
            <a:r>
              <a:rPr dirty="0" sz="1150" spc="-55">
                <a:latin typeface="Arial"/>
                <a:cs typeface="Arial"/>
              </a:rPr>
              <a:t>organized </a:t>
            </a:r>
            <a:r>
              <a:rPr dirty="0" sz="1150" spc="-20">
                <a:latin typeface="Arial"/>
                <a:cs typeface="Arial"/>
              </a:rPr>
              <a:t>network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firms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move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45">
                <a:latin typeface="Arial"/>
                <a:cs typeface="Arial"/>
              </a:rPr>
              <a:t>producers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called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5" b="1">
                <a:latin typeface="Arial"/>
                <a:cs typeface="Arial"/>
              </a:rPr>
              <a:t>distribution </a:t>
            </a:r>
            <a:r>
              <a:rPr dirty="0" sz="1150" spc="-85" b="1">
                <a:latin typeface="Arial"/>
                <a:cs typeface="Arial"/>
              </a:rPr>
              <a:t>channel</a:t>
            </a:r>
            <a:r>
              <a:rPr dirty="0" sz="1150" spc="-85">
                <a:latin typeface="Arial"/>
                <a:cs typeface="Arial"/>
              </a:rPr>
              <a:t>,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marketing  </a:t>
            </a:r>
            <a:r>
              <a:rPr dirty="0" sz="1150" spc="-50">
                <a:latin typeface="Arial"/>
                <a:cs typeface="Arial"/>
              </a:rPr>
              <a:t>channel.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company’s </a:t>
            </a:r>
            <a:r>
              <a:rPr dirty="0" sz="1150" spc="-60">
                <a:latin typeface="Arial"/>
                <a:cs typeface="Arial"/>
              </a:rPr>
              <a:t>decisions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0">
                <a:latin typeface="Arial"/>
                <a:cs typeface="Arial"/>
              </a:rPr>
              <a:t>channels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65">
                <a:latin typeface="Arial"/>
                <a:cs typeface="Arial"/>
              </a:rPr>
              <a:t>used,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 b="1">
                <a:latin typeface="Arial"/>
                <a:cs typeface="Arial"/>
              </a:rPr>
              <a:t>distribution </a:t>
            </a:r>
            <a:r>
              <a:rPr dirty="0" sz="1150" spc="-75" b="1">
                <a:latin typeface="Arial"/>
                <a:cs typeface="Arial"/>
              </a:rPr>
              <a:t>mix</a:t>
            </a:r>
            <a:r>
              <a:rPr dirty="0" sz="1150" spc="-75">
                <a:latin typeface="Arial"/>
                <a:cs typeface="Arial"/>
              </a:rPr>
              <a:t>,  </a:t>
            </a:r>
            <a:r>
              <a:rPr dirty="0" sz="1150" spc="-65">
                <a:latin typeface="Arial"/>
                <a:cs typeface="Arial"/>
              </a:rPr>
              <a:t>plays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major </a:t>
            </a:r>
            <a:r>
              <a:rPr dirty="0" sz="1150" spc="-20">
                <a:latin typeface="Arial"/>
                <a:cs typeface="Arial"/>
              </a:rPr>
              <a:t>role in the firm’s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success.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buFont typeface="Wingdings"/>
              <a:buChar char=""/>
              <a:tabLst>
                <a:tab pos="240665" algn="l"/>
                <a:tab pos="241935" algn="l"/>
              </a:tabLst>
            </a:pPr>
            <a:r>
              <a:rPr dirty="0" sz="1350" spc="-75" b="1">
                <a:latin typeface="Arial"/>
                <a:cs typeface="Arial"/>
              </a:rPr>
              <a:t>Intermediaries </a:t>
            </a:r>
            <a:r>
              <a:rPr dirty="0" sz="1350" spc="-95" b="1">
                <a:latin typeface="Arial"/>
                <a:cs typeface="Arial"/>
              </a:rPr>
              <a:t>and </a:t>
            </a:r>
            <a:r>
              <a:rPr dirty="0" sz="1350" spc="-80" b="1">
                <a:latin typeface="Arial"/>
                <a:cs typeface="Arial"/>
              </a:rPr>
              <a:t>Distribution</a:t>
            </a:r>
            <a:r>
              <a:rPr dirty="0" sz="1350" spc="-55" b="1">
                <a:latin typeface="Arial"/>
                <a:cs typeface="Arial"/>
              </a:rPr>
              <a:t> </a:t>
            </a:r>
            <a:r>
              <a:rPr dirty="0" sz="1350" spc="-125" b="1">
                <a:latin typeface="Arial"/>
                <a:cs typeface="Arial"/>
              </a:rPr>
              <a:t>Channels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Wingdings"/>
              <a:buChar char=""/>
            </a:pPr>
            <a:endParaRPr sz="1200">
              <a:latin typeface="Arial"/>
              <a:cs typeface="Arial"/>
            </a:endParaRPr>
          </a:p>
          <a:p>
            <a:pPr algn="just" marL="12700" marR="8890">
              <a:lnSpc>
                <a:spcPct val="101699"/>
              </a:lnSpc>
            </a:pP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most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your </a:t>
            </a:r>
            <a:r>
              <a:rPr dirty="0" sz="1150" spc="-65">
                <a:latin typeface="Arial"/>
                <a:cs typeface="Arial"/>
              </a:rPr>
              <a:t>purchases, </a:t>
            </a:r>
            <a:r>
              <a:rPr dirty="0" sz="1150" spc="-45">
                <a:latin typeface="Arial"/>
                <a:cs typeface="Arial"/>
              </a:rPr>
              <a:t>you </a:t>
            </a:r>
            <a:r>
              <a:rPr dirty="0" sz="1150" spc="-30">
                <a:latin typeface="Arial"/>
                <a:cs typeface="Arial"/>
              </a:rPr>
              <a:t>rely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60" b="1">
                <a:latin typeface="Arial"/>
                <a:cs typeface="Arial"/>
              </a:rPr>
              <a:t>market </a:t>
            </a:r>
            <a:r>
              <a:rPr dirty="0" sz="1150" spc="-65" b="1">
                <a:latin typeface="Arial"/>
                <a:cs typeface="Arial"/>
              </a:rPr>
              <a:t>intermediaries,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35">
                <a:latin typeface="Arial"/>
                <a:cs typeface="Arial"/>
              </a:rPr>
              <a:t>known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40">
                <a:latin typeface="Arial"/>
                <a:cs typeface="Arial"/>
              </a:rPr>
              <a:t>middlemen, 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55">
                <a:latin typeface="Arial"/>
                <a:cs typeface="Arial"/>
              </a:rPr>
              <a:t>channel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services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35">
                <a:latin typeface="Arial"/>
                <a:cs typeface="Arial"/>
              </a:rPr>
              <a:t>producer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end-users.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lvl="1" marL="698500" marR="8255" indent="-228600">
              <a:lnSpc>
                <a:spcPct val="101699"/>
              </a:lnSpc>
              <a:buFont typeface="Courier New"/>
              <a:buChar char="o"/>
              <a:tabLst>
                <a:tab pos="697865" algn="l"/>
                <a:tab pos="699135" algn="l"/>
              </a:tabLst>
            </a:pPr>
            <a:r>
              <a:rPr dirty="0" sz="1150" spc="-65" b="1">
                <a:latin typeface="Arial"/>
                <a:cs typeface="Arial"/>
              </a:rPr>
              <a:t>Wholesaler-intermediary </a:t>
            </a:r>
            <a:r>
              <a:rPr dirty="0" sz="1150" spc="-40">
                <a:latin typeface="Arial"/>
                <a:cs typeface="Arial"/>
              </a:rPr>
              <a:t>those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65">
                <a:latin typeface="Arial"/>
                <a:cs typeface="Arial"/>
              </a:rPr>
              <a:t>sells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80">
                <a:latin typeface="Arial"/>
                <a:cs typeface="Arial"/>
              </a:rPr>
              <a:t>businesses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55">
                <a:latin typeface="Arial"/>
                <a:cs typeface="Arial"/>
              </a:rPr>
              <a:t>resale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final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consumers.</a:t>
            </a:r>
            <a:endParaRPr sz="1150">
              <a:latin typeface="Arial"/>
              <a:cs typeface="Arial"/>
            </a:endParaRPr>
          </a:p>
          <a:p>
            <a:pPr lvl="1" marL="698500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697865" algn="l"/>
                <a:tab pos="699135" algn="l"/>
              </a:tabLst>
            </a:pPr>
            <a:r>
              <a:rPr dirty="0" sz="1150" spc="-60" b="1">
                <a:latin typeface="Arial"/>
                <a:cs typeface="Arial"/>
              </a:rPr>
              <a:t>Retailer-intermediary </a:t>
            </a:r>
            <a:r>
              <a:rPr dirty="0" sz="1150" spc="-85" b="1">
                <a:latin typeface="Arial"/>
                <a:cs typeface="Arial"/>
              </a:rPr>
              <a:t>those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65">
                <a:latin typeface="Arial"/>
                <a:cs typeface="Arial"/>
              </a:rPr>
              <a:t>sells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25">
                <a:latin typeface="Arial"/>
                <a:cs typeface="Arial"/>
              </a:rPr>
              <a:t>directly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consumers.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firm's </a:t>
            </a:r>
            <a:r>
              <a:rPr dirty="0" sz="1150" spc="-55">
                <a:latin typeface="Arial"/>
                <a:cs typeface="Arial"/>
              </a:rPr>
              <a:t>choice </a:t>
            </a:r>
            <a:r>
              <a:rPr dirty="0" sz="1150" spc="-35">
                <a:latin typeface="Arial"/>
                <a:cs typeface="Arial"/>
              </a:rPr>
              <a:t>between </a:t>
            </a:r>
            <a:r>
              <a:rPr dirty="0" sz="1150" spc="-60">
                <a:latin typeface="Arial"/>
                <a:cs typeface="Arial"/>
              </a:rPr>
              <a:t>using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35">
                <a:latin typeface="Arial"/>
                <a:cs typeface="Arial"/>
              </a:rPr>
              <a:t>independent </a:t>
            </a:r>
            <a:r>
              <a:rPr dirty="0" sz="1150" spc="-30">
                <a:latin typeface="Arial"/>
                <a:cs typeface="Arial"/>
              </a:rPr>
              <a:t>intermediary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employing </a:t>
            </a:r>
            <a:r>
              <a:rPr dirty="0" sz="1150" spc="-25">
                <a:latin typeface="Arial"/>
                <a:cs typeface="Arial"/>
              </a:rPr>
              <a:t>its own 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 spc="-20">
                <a:latin typeface="Arial"/>
                <a:cs typeface="Arial"/>
              </a:rPr>
              <a:t>network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80">
                <a:latin typeface="Arial"/>
                <a:cs typeface="Arial"/>
              </a:rPr>
              <a:t>sales </a:t>
            </a:r>
            <a:r>
              <a:rPr dirty="0" sz="1150" spc="-30">
                <a:latin typeface="Arial"/>
                <a:cs typeface="Arial"/>
              </a:rPr>
              <a:t>force </a:t>
            </a:r>
            <a:r>
              <a:rPr dirty="0" sz="1150" spc="-65">
                <a:latin typeface="Arial"/>
                <a:cs typeface="Arial"/>
              </a:rPr>
              <a:t>depends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5">
                <a:latin typeface="Arial"/>
                <a:cs typeface="Arial"/>
              </a:rPr>
              <a:t>three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factors: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1155700" indent="-229235">
              <a:lnSpc>
                <a:spcPct val="100000"/>
              </a:lnSpc>
              <a:buAutoNum type="arabicParenR"/>
              <a:tabLst>
                <a:tab pos="1156335" algn="l"/>
              </a:tabLst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company's </a:t>
            </a:r>
            <a:r>
              <a:rPr dirty="0" sz="1150" spc="-25">
                <a:latin typeface="Arial"/>
                <a:cs typeface="Arial"/>
              </a:rPr>
              <a:t>target </a:t>
            </a:r>
            <a:r>
              <a:rPr dirty="0" sz="1150" spc="-45">
                <a:latin typeface="Arial"/>
                <a:cs typeface="Arial"/>
              </a:rPr>
              <a:t>markets</a:t>
            </a:r>
            <a:endParaRPr sz="1150">
              <a:latin typeface="Arial"/>
              <a:cs typeface="Arial"/>
            </a:endParaRPr>
          </a:p>
          <a:p>
            <a:pPr marL="1155700" indent="-229235">
              <a:lnSpc>
                <a:spcPct val="100000"/>
              </a:lnSpc>
              <a:spcBef>
                <a:spcPts val="25"/>
              </a:spcBef>
              <a:buAutoNum type="arabicParenR"/>
              <a:tabLst>
                <a:tab pos="1156335" algn="l"/>
              </a:tabLst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nature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products</a:t>
            </a:r>
            <a:endParaRPr sz="1150">
              <a:latin typeface="Arial"/>
              <a:cs typeface="Arial"/>
            </a:endParaRPr>
          </a:p>
          <a:p>
            <a:pPr marL="1155700" indent="-229235">
              <a:lnSpc>
                <a:spcPct val="100000"/>
              </a:lnSpc>
              <a:spcBef>
                <a:spcPts val="25"/>
              </a:spcBef>
              <a:buAutoNum type="arabicParenR"/>
              <a:tabLst>
                <a:tab pos="1156335" algn="l"/>
              </a:tabLst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costs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maintaining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80">
                <a:latin typeface="Arial"/>
                <a:cs typeface="Arial"/>
              </a:rPr>
              <a:t>sales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networks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rabicParenR"/>
            </a:pPr>
            <a:endParaRPr sz="120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35">
                <a:latin typeface="Arial"/>
                <a:cs typeface="Arial"/>
              </a:rPr>
              <a:t>intermediaries </a:t>
            </a:r>
            <a:r>
              <a:rPr dirty="0" sz="1150" spc="-40">
                <a:latin typeface="Arial"/>
                <a:cs typeface="Arial"/>
              </a:rPr>
              <a:t>involved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55">
                <a:latin typeface="Arial"/>
                <a:cs typeface="Arial"/>
              </a:rPr>
              <a:t>channel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distribution  </a:t>
            </a:r>
            <a:r>
              <a:rPr dirty="0" sz="1150" spc="-50">
                <a:latin typeface="Arial"/>
                <a:cs typeface="Arial"/>
              </a:rPr>
              <a:t>depend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kind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marketing </a:t>
            </a:r>
            <a:r>
              <a:rPr dirty="0" sz="1150" spc="-50">
                <a:latin typeface="Arial"/>
                <a:cs typeface="Arial"/>
              </a:rPr>
              <a:t>practices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particular </a:t>
            </a:r>
            <a:r>
              <a:rPr dirty="0" sz="1150" spc="-30">
                <a:latin typeface="Arial"/>
                <a:cs typeface="Arial"/>
              </a:rPr>
              <a:t>industry. </a:t>
            </a:r>
            <a:r>
              <a:rPr dirty="0" sz="1150" spc="-65">
                <a:latin typeface="Arial"/>
                <a:cs typeface="Arial"/>
              </a:rPr>
              <a:t>There 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10">
                <a:latin typeface="Arial"/>
                <a:cs typeface="Arial"/>
              </a:rPr>
              <a:t>important </a:t>
            </a:r>
            <a:r>
              <a:rPr dirty="0" sz="1150" spc="-40">
                <a:latin typeface="Arial"/>
                <a:cs typeface="Arial"/>
              </a:rPr>
              <a:t>differences </a:t>
            </a:r>
            <a:r>
              <a:rPr dirty="0" sz="1150" spc="-60">
                <a:latin typeface="Arial"/>
                <a:cs typeface="Arial"/>
              </a:rPr>
              <a:t>among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channels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100" b="1">
                <a:latin typeface="Arial"/>
                <a:cs typeface="Arial"/>
              </a:rPr>
              <a:t>consumer </a:t>
            </a:r>
            <a:r>
              <a:rPr dirty="0" sz="1150" spc="-90" b="1">
                <a:latin typeface="Arial"/>
                <a:cs typeface="Arial"/>
              </a:rPr>
              <a:t>products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114" b="1">
                <a:latin typeface="Arial"/>
                <a:cs typeface="Arial"/>
              </a:rPr>
              <a:t>business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products</a:t>
            </a:r>
            <a:r>
              <a:rPr dirty="0" sz="1150" spc="-85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75" b="1">
                <a:latin typeface="Arial"/>
                <a:cs typeface="Arial"/>
              </a:rPr>
              <a:t>Distribution </a:t>
            </a:r>
            <a:r>
              <a:rPr dirty="0" sz="1350" spc="-60" b="1">
                <a:latin typeface="Arial"/>
                <a:cs typeface="Arial"/>
              </a:rPr>
              <a:t>of </a:t>
            </a:r>
            <a:r>
              <a:rPr dirty="0" sz="1350" spc="-130" b="1">
                <a:latin typeface="Arial"/>
                <a:cs typeface="Arial"/>
              </a:rPr>
              <a:t>Consumer</a:t>
            </a:r>
            <a:r>
              <a:rPr dirty="0" sz="1350" spc="-90" b="1">
                <a:latin typeface="Arial"/>
                <a:cs typeface="Arial"/>
              </a:rPr>
              <a:t> </a:t>
            </a:r>
            <a:r>
              <a:rPr dirty="0" sz="1350" spc="-114" b="1">
                <a:latin typeface="Arial"/>
                <a:cs typeface="Arial"/>
              </a:rPr>
              <a:t>Products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12700" marR="631190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Channels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100" b="1">
                <a:latin typeface="Arial"/>
                <a:cs typeface="Arial"/>
              </a:rPr>
              <a:t>consumer </a:t>
            </a:r>
            <a:r>
              <a:rPr dirty="0" sz="1150" spc="-125" b="1">
                <a:latin typeface="Arial"/>
                <a:cs typeface="Arial"/>
              </a:rPr>
              <a:t>goods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55">
                <a:latin typeface="Arial"/>
                <a:cs typeface="Arial"/>
              </a:rPr>
              <a:t>usually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most </a:t>
            </a:r>
            <a:r>
              <a:rPr dirty="0" sz="1150" spc="-50">
                <a:latin typeface="Arial"/>
                <a:cs typeface="Arial"/>
              </a:rPr>
              <a:t>complex, </a:t>
            </a:r>
            <a:r>
              <a:rPr dirty="0" sz="1150" spc="-35">
                <a:latin typeface="Arial"/>
                <a:cs typeface="Arial"/>
              </a:rPr>
              <a:t>although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75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 </a:t>
            </a:r>
            <a:r>
              <a:rPr dirty="0" sz="1150" spc="-50">
                <a:latin typeface="Arial"/>
                <a:cs typeface="Arial"/>
              </a:rPr>
              <a:t>categorized. </a:t>
            </a:r>
            <a:r>
              <a:rPr dirty="0" sz="1150" spc="-60">
                <a:latin typeface="Arial"/>
                <a:cs typeface="Arial"/>
              </a:rPr>
              <a:t>Typical </a:t>
            </a:r>
            <a:r>
              <a:rPr dirty="0" sz="1150" spc="-65">
                <a:latin typeface="Arial"/>
                <a:cs typeface="Arial"/>
              </a:rPr>
              <a:t>channels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include: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lvl="1" marL="1841500" marR="7620" indent="-229235">
              <a:lnSpc>
                <a:spcPct val="101699"/>
              </a:lnSpc>
              <a:buFont typeface="Arial"/>
              <a:buAutoNum type="arabicPeriod"/>
              <a:tabLst>
                <a:tab pos="1842135" algn="l"/>
              </a:tabLst>
            </a:pPr>
            <a:r>
              <a:rPr dirty="0" sz="1150" spc="-95" b="1">
                <a:latin typeface="Arial"/>
                <a:cs typeface="Arial"/>
              </a:rPr>
              <a:t>Channel </a:t>
            </a:r>
            <a:r>
              <a:rPr dirty="0" sz="1150" spc="-60" b="1">
                <a:latin typeface="Arial"/>
                <a:cs typeface="Arial"/>
              </a:rPr>
              <a:t>1: </a:t>
            </a:r>
            <a:r>
              <a:rPr dirty="0" sz="1150" spc="-70" b="1">
                <a:latin typeface="Arial"/>
                <a:cs typeface="Arial"/>
              </a:rPr>
              <a:t>Direct </a:t>
            </a:r>
            <a:r>
              <a:rPr dirty="0" sz="1150" spc="-65" b="1">
                <a:latin typeface="Arial"/>
                <a:cs typeface="Arial"/>
              </a:rPr>
              <a:t>Distribution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10" b="1">
                <a:latin typeface="Arial"/>
                <a:cs typeface="Arial"/>
              </a:rPr>
              <a:t>Consumer </a:t>
            </a:r>
            <a:r>
              <a:rPr dirty="0" sz="1150" spc="-95" b="1">
                <a:latin typeface="Arial"/>
                <a:cs typeface="Arial"/>
              </a:rPr>
              <a:t>Products</a:t>
            </a:r>
            <a:r>
              <a:rPr dirty="0" sz="1150" spc="-95">
                <a:latin typeface="Arial"/>
                <a:cs typeface="Arial"/>
              </a:rPr>
              <a:t>, </a:t>
            </a:r>
            <a:r>
              <a:rPr dirty="0" sz="1150" spc="-60">
                <a:latin typeface="Arial"/>
                <a:cs typeface="Arial"/>
              </a:rPr>
              <a:t>ex.  </a:t>
            </a:r>
            <a:r>
              <a:rPr dirty="0" sz="1150" spc="-55">
                <a:latin typeface="Arial"/>
                <a:cs typeface="Arial"/>
              </a:rPr>
              <a:t>Avon, </a:t>
            </a:r>
            <a:r>
              <a:rPr dirty="0" sz="1150" spc="-45">
                <a:latin typeface="Arial"/>
                <a:cs typeface="Arial"/>
              </a:rPr>
              <a:t>Fuller </a:t>
            </a:r>
            <a:r>
              <a:rPr dirty="0" sz="1150" spc="-65">
                <a:latin typeface="Arial"/>
                <a:cs typeface="Arial"/>
              </a:rPr>
              <a:t>Brush,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Tupperware</a:t>
            </a:r>
            <a:endParaRPr sz="1150">
              <a:latin typeface="Arial"/>
              <a:cs typeface="Arial"/>
            </a:endParaRPr>
          </a:p>
          <a:p>
            <a:pPr lvl="1" marL="1841500" marR="5080" indent="-228600">
              <a:lnSpc>
                <a:spcPct val="101699"/>
              </a:lnSpc>
              <a:buFont typeface="Arial"/>
              <a:buAutoNum type="arabicPeriod"/>
              <a:tabLst>
                <a:tab pos="1842135" algn="l"/>
              </a:tabLst>
            </a:pPr>
            <a:r>
              <a:rPr dirty="0" sz="1150" spc="-95" b="1">
                <a:latin typeface="Arial"/>
                <a:cs typeface="Arial"/>
              </a:rPr>
              <a:t>Channel </a:t>
            </a:r>
            <a:r>
              <a:rPr dirty="0" sz="1150" spc="-60" b="1">
                <a:latin typeface="Arial"/>
                <a:cs typeface="Arial"/>
              </a:rPr>
              <a:t>2: </a:t>
            </a:r>
            <a:r>
              <a:rPr dirty="0" sz="1150" spc="-65" b="1">
                <a:latin typeface="Arial"/>
                <a:cs typeface="Arial"/>
              </a:rPr>
              <a:t>Retail Distribution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10" b="1">
                <a:latin typeface="Arial"/>
                <a:cs typeface="Arial"/>
              </a:rPr>
              <a:t>Consumer </a:t>
            </a:r>
            <a:r>
              <a:rPr dirty="0" sz="1150" spc="-95" b="1">
                <a:latin typeface="Arial"/>
                <a:cs typeface="Arial"/>
              </a:rPr>
              <a:t>Products</a:t>
            </a:r>
            <a:r>
              <a:rPr dirty="0" sz="1150" spc="-95">
                <a:latin typeface="Arial"/>
                <a:cs typeface="Arial"/>
              </a:rPr>
              <a:t>, </a:t>
            </a:r>
            <a:r>
              <a:rPr dirty="0" sz="1150" spc="-60">
                <a:latin typeface="Arial"/>
                <a:cs typeface="Arial"/>
              </a:rPr>
              <a:t>ex.  Levi's, Goodyear,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PeaPod.com</a:t>
            </a:r>
            <a:endParaRPr sz="1150">
              <a:latin typeface="Arial"/>
              <a:cs typeface="Arial"/>
            </a:endParaRPr>
          </a:p>
          <a:p>
            <a:pPr lvl="1" marL="1841500" marR="6985" indent="-228600">
              <a:lnSpc>
                <a:spcPct val="101699"/>
              </a:lnSpc>
              <a:buFont typeface="Arial"/>
              <a:buAutoNum type="arabicPeriod"/>
              <a:tabLst>
                <a:tab pos="1842135" algn="l"/>
              </a:tabLst>
            </a:pPr>
            <a:r>
              <a:rPr dirty="0" sz="1150" spc="-95" b="1">
                <a:latin typeface="Arial"/>
                <a:cs typeface="Arial"/>
              </a:rPr>
              <a:t>Channel </a:t>
            </a:r>
            <a:r>
              <a:rPr dirty="0" sz="1150" spc="-60" b="1">
                <a:latin typeface="Arial"/>
                <a:cs typeface="Arial"/>
              </a:rPr>
              <a:t>3: </a:t>
            </a:r>
            <a:r>
              <a:rPr dirty="0" sz="1150" spc="-75" b="1">
                <a:latin typeface="Arial"/>
                <a:cs typeface="Arial"/>
              </a:rPr>
              <a:t>Wholesale </a:t>
            </a:r>
            <a:r>
              <a:rPr dirty="0" sz="1150" spc="-65" b="1">
                <a:latin typeface="Arial"/>
                <a:cs typeface="Arial"/>
              </a:rPr>
              <a:t>Distribution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10" b="1">
                <a:latin typeface="Arial"/>
                <a:cs typeface="Arial"/>
              </a:rPr>
              <a:t>Consumer </a:t>
            </a:r>
            <a:r>
              <a:rPr dirty="0" sz="1150" spc="-95" b="1">
                <a:latin typeface="Arial"/>
                <a:cs typeface="Arial"/>
              </a:rPr>
              <a:t>Products</a:t>
            </a:r>
            <a:r>
              <a:rPr dirty="0" sz="1150" spc="-95">
                <a:latin typeface="Arial"/>
                <a:cs typeface="Arial"/>
              </a:rPr>
              <a:t>,  </a:t>
            </a:r>
            <a:r>
              <a:rPr dirty="0" sz="1150" spc="-60">
                <a:latin typeface="Arial"/>
                <a:cs typeface="Arial"/>
              </a:rPr>
              <a:t>ex. </a:t>
            </a:r>
            <a:r>
              <a:rPr dirty="0" sz="1150" spc="-30">
                <a:latin typeface="Arial"/>
                <a:cs typeface="Arial"/>
              </a:rPr>
              <a:t>combination </a:t>
            </a:r>
            <a:r>
              <a:rPr dirty="0" sz="1150" spc="-55">
                <a:latin typeface="Arial"/>
                <a:cs typeface="Arial"/>
              </a:rPr>
              <a:t>convenience </a:t>
            </a:r>
            <a:r>
              <a:rPr dirty="0" sz="1150" spc="-40">
                <a:latin typeface="Arial"/>
                <a:cs typeface="Arial"/>
              </a:rPr>
              <a:t>store/gas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station</a:t>
            </a:r>
            <a:endParaRPr sz="1150">
              <a:latin typeface="Arial"/>
              <a:cs typeface="Arial"/>
            </a:endParaRPr>
          </a:p>
          <a:p>
            <a:pPr lvl="1" marL="1841500" marR="7620" indent="-228600">
              <a:lnSpc>
                <a:spcPct val="101699"/>
              </a:lnSpc>
              <a:buFont typeface="Arial"/>
              <a:buAutoNum type="arabicPeriod"/>
              <a:tabLst>
                <a:tab pos="1842135" algn="l"/>
              </a:tabLst>
            </a:pPr>
            <a:r>
              <a:rPr dirty="0" sz="1150" spc="-95" b="1">
                <a:latin typeface="Arial"/>
                <a:cs typeface="Arial"/>
              </a:rPr>
              <a:t>Channel </a:t>
            </a:r>
            <a:r>
              <a:rPr dirty="0" sz="1150" spc="-60" b="1">
                <a:latin typeface="Arial"/>
                <a:cs typeface="Arial"/>
              </a:rPr>
              <a:t>4: </a:t>
            </a:r>
            <a:r>
              <a:rPr dirty="0" sz="1150" spc="-65" b="1">
                <a:latin typeface="Arial"/>
                <a:cs typeface="Arial"/>
              </a:rPr>
              <a:t>Distribution </a:t>
            </a:r>
            <a:r>
              <a:rPr dirty="0" sz="1150" spc="-80" b="1">
                <a:latin typeface="Arial"/>
                <a:cs typeface="Arial"/>
              </a:rPr>
              <a:t>through </a:t>
            </a:r>
            <a:r>
              <a:rPr dirty="0" sz="1150" spc="-120" b="1">
                <a:latin typeface="Arial"/>
                <a:cs typeface="Arial"/>
              </a:rPr>
              <a:t>Sales </a:t>
            </a:r>
            <a:r>
              <a:rPr dirty="0" sz="1150" spc="-105" b="1">
                <a:latin typeface="Arial"/>
                <a:cs typeface="Arial"/>
              </a:rPr>
              <a:t>Agents </a:t>
            </a:r>
            <a:r>
              <a:rPr dirty="0" sz="1150" spc="-60" b="1">
                <a:latin typeface="Arial"/>
                <a:cs typeface="Arial"/>
              </a:rPr>
              <a:t>or </a:t>
            </a:r>
            <a:r>
              <a:rPr dirty="0" sz="1150" spc="-95" b="1">
                <a:latin typeface="Arial"/>
                <a:cs typeface="Arial"/>
              </a:rPr>
              <a:t>Brokers</a:t>
            </a:r>
            <a:r>
              <a:rPr dirty="0" sz="1150" spc="-95">
                <a:latin typeface="Arial"/>
                <a:cs typeface="Arial"/>
              </a:rPr>
              <a:t>, </a:t>
            </a:r>
            <a:r>
              <a:rPr dirty="0" sz="1150" spc="-60">
                <a:latin typeface="Arial"/>
                <a:cs typeface="Arial"/>
              </a:rPr>
              <a:t>ex.  </a:t>
            </a:r>
            <a:r>
              <a:rPr dirty="0" sz="1150" spc="-20">
                <a:latin typeface="Arial"/>
                <a:cs typeface="Arial"/>
              </a:rPr>
              <a:t>food </a:t>
            </a:r>
            <a:r>
              <a:rPr dirty="0" sz="1150" spc="-40">
                <a:latin typeface="Arial"/>
                <a:cs typeface="Arial"/>
              </a:rPr>
              <a:t>brokers, </a:t>
            </a:r>
            <a:r>
              <a:rPr dirty="0" sz="1150" spc="-25">
                <a:latin typeface="Arial"/>
                <a:cs typeface="Arial"/>
              </a:rPr>
              <a:t>travel </a:t>
            </a:r>
            <a:r>
              <a:rPr dirty="0" sz="1150" spc="-60">
                <a:latin typeface="Arial"/>
                <a:cs typeface="Arial"/>
              </a:rPr>
              <a:t>agents,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realtors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146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169667" y="892559"/>
            <a:ext cx="4473575" cy="914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4805" indent="-332740">
              <a:lnSpc>
                <a:spcPct val="100000"/>
              </a:lnSpc>
              <a:spcBef>
                <a:spcPts val="100"/>
              </a:spcBef>
              <a:buFont typeface="Arial"/>
              <a:buAutoNum type="romanLcPeriod" startAt="2"/>
              <a:tabLst>
                <a:tab pos="344805" algn="l"/>
                <a:tab pos="345440" algn="l"/>
              </a:tabLst>
            </a:pPr>
            <a:r>
              <a:rPr dirty="0" sz="1150" spc="-90" b="1">
                <a:latin typeface="Arial"/>
                <a:cs typeface="Arial"/>
              </a:rPr>
              <a:t>The </a:t>
            </a:r>
            <a:r>
              <a:rPr dirty="0" sz="1150" spc="-120" b="1">
                <a:latin typeface="Arial"/>
                <a:cs typeface="Arial"/>
              </a:rPr>
              <a:t>Pros </a:t>
            </a:r>
            <a:r>
              <a:rPr dirty="0" sz="1150" spc="-85" b="1">
                <a:latin typeface="Arial"/>
                <a:cs typeface="Arial"/>
              </a:rPr>
              <a:t>and </a:t>
            </a:r>
            <a:r>
              <a:rPr dirty="0" sz="1150" spc="-145" b="1">
                <a:latin typeface="Arial"/>
                <a:cs typeface="Arial"/>
              </a:rPr>
              <a:t>Cons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70" b="1">
                <a:latin typeface="Arial"/>
                <a:cs typeface="Arial"/>
              </a:rPr>
              <a:t>Non-direct</a:t>
            </a:r>
            <a:r>
              <a:rPr dirty="0" sz="1150" spc="-65" b="1">
                <a:latin typeface="Arial"/>
                <a:cs typeface="Arial"/>
              </a:rPr>
              <a:t> Distribution</a:t>
            </a:r>
            <a:endParaRPr sz="1150">
              <a:latin typeface="Arial"/>
              <a:cs typeface="Arial"/>
            </a:endParaRPr>
          </a:p>
          <a:p>
            <a:pPr marL="344805" marR="39370">
              <a:lnSpc>
                <a:spcPct val="101699"/>
              </a:lnSpc>
            </a:pPr>
            <a:r>
              <a:rPr dirty="0" sz="1150" spc="-35">
                <a:latin typeface="Arial"/>
                <a:cs typeface="Arial"/>
              </a:rPr>
              <a:t>Non-direct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 spc="-65">
                <a:latin typeface="Arial"/>
                <a:cs typeface="Arial"/>
              </a:rPr>
              <a:t>becomes </a:t>
            </a:r>
            <a:r>
              <a:rPr dirty="0" sz="1150" spc="-40">
                <a:latin typeface="Arial"/>
                <a:cs typeface="Arial"/>
              </a:rPr>
              <a:t>higher priced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end </a:t>
            </a:r>
            <a:r>
              <a:rPr dirty="0" sz="1150" spc="-70">
                <a:latin typeface="Arial"/>
                <a:cs typeface="Arial"/>
              </a:rPr>
              <a:t>users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because  </a:t>
            </a:r>
            <a:r>
              <a:rPr dirty="0" sz="1150" spc="-70">
                <a:latin typeface="Arial"/>
                <a:cs typeface="Arial"/>
              </a:rPr>
              <a:t>each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 spc="-25">
                <a:latin typeface="Arial"/>
                <a:cs typeface="Arial"/>
              </a:rPr>
              <a:t>link </a:t>
            </a:r>
            <a:r>
              <a:rPr dirty="0" sz="1150" spc="-75">
                <a:latin typeface="Arial"/>
                <a:cs typeface="Arial"/>
              </a:rPr>
              <a:t>charges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markup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commission.</a:t>
            </a:r>
            <a:endParaRPr sz="1150">
              <a:latin typeface="Arial"/>
              <a:cs typeface="Arial"/>
            </a:endParaRPr>
          </a:p>
          <a:p>
            <a:pPr lvl="1" marL="802005" marR="5080" indent="-228600">
              <a:lnSpc>
                <a:spcPct val="101699"/>
              </a:lnSpc>
              <a:buAutoNum type="arabicPeriod"/>
              <a:tabLst>
                <a:tab pos="802640" algn="l"/>
              </a:tabLst>
            </a:pPr>
            <a:r>
              <a:rPr dirty="0" sz="1150" spc="-35">
                <a:latin typeface="Arial"/>
                <a:cs typeface="Arial"/>
              </a:rPr>
              <a:t>Intermediaries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85">
                <a:latin typeface="Arial"/>
                <a:cs typeface="Arial"/>
              </a:rPr>
              <a:t>save </a:t>
            </a:r>
            <a:r>
              <a:rPr dirty="0" sz="1150" spc="-65">
                <a:latin typeface="Arial"/>
                <a:cs typeface="Arial"/>
              </a:rPr>
              <a:t>consumers </a:t>
            </a:r>
            <a:r>
              <a:rPr dirty="0" sz="1150" spc="-15">
                <a:latin typeface="Arial"/>
                <a:cs typeface="Arial"/>
              </a:rPr>
              <a:t>both time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money </a:t>
            </a:r>
            <a:r>
              <a:rPr dirty="0" sz="1150" spc="-50">
                <a:latin typeface="Arial"/>
                <a:cs typeface="Arial"/>
              </a:rPr>
              <a:t>by  </a:t>
            </a:r>
            <a:r>
              <a:rPr dirty="0" sz="1150" spc="-35">
                <a:latin typeface="Arial"/>
                <a:cs typeface="Arial"/>
              </a:rPr>
              <a:t>providing </a:t>
            </a:r>
            <a:r>
              <a:rPr dirty="0" sz="1150" spc="-55">
                <a:latin typeface="Arial"/>
                <a:cs typeface="Arial"/>
              </a:rPr>
              <a:t>added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value.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147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36140" y="1962406"/>
            <a:ext cx="1631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01898" y="1962406"/>
            <a:ext cx="4140835" cy="7359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95" b="1">
                <a:latin typeface="Arial"/>
                <a:cs typeface="Arial"/>
              </a:rPr>
              <a:t>Channel </a:t>
            </a:r>
            <a:r>
              <a:rPr dirty="0" sz="1150" spc="-60" b="1">
                <a:latin typeface="Arial"/>
                <a:cs typeface="Arial"/>
              </a:rPr>
              <a:t>5: </a:t>
            </a:r>
            <a:r>
              <a:rPr dirty="0" sz="1150" spc="-65" b="1">
                <a:latin typeface="Arial"/>
                <a:cs typeface="Arial"/>
              </a:rPr>
              <a:t>Distribution </a:t>
            </a:r>
            <a:r>
              <a:rPr dirty="0" sz="1150" spc="-95" b="1">
                <a:latin typeface="Arial"/>
                <a:cs typeface="Arial"/>
              </a:rPr>
              <a:t>by </a:t>
            </a:r>
            <a:r>
              <a:rPr dirty="0" sz="1150" spc="-105" b="1">
                <a:latin typeface="Arial"/>
                <a:cs typeface="Arial"/>
              </a:rPr>
              <a:t>Agents </a:t>
            </a:r>
            <a:r>
              <a:rPr dirty="0" sz="1150" spc="-40" b="1">
                <a:latin typeface="Arial"/>
                <a:cs typeface="Arial"/>
              </a:rPr>
              <a:t>to </a:t>
            </a:r>
            <a:r>
              <a:rPr dirty="0" sz="1150" spc="-114" b="1">
                <a:latin typeface="Arial"/>
                <a:cs typeface="Arial"/>
              </a:rPr>
              <a:t>Consumers </a:t>
            </a:r>
            <a:r>
              <a:rPr dirty="0" sz="1150" spc="-85" b="1">
                <a:latin typeface="Arial"/>
                <a:cs typeface="Arial"/>
              </a:rPr>
              <a:t>and </a:t>
            </a:r>
            <a:r>
              <a:rPr dirty="0" sz="1150" spc="-120" b="1">
                <a:latin typeface="Arial"/>
                <a:cs typeface="Arial"/>
              </a:rPr>
              <a:t>Businesses</a:t>
            </a:r>
            <a:r>
              <a:rPr dirty="0" sz="1150" spc="-120">
                <a:latin typeface="Arial"/>
                <a:cs typeface="Arial"/>
              </a:rPr>
              <a:t>, </a:t>
            </a:r>
            <a:r>
              <a:rPr dirty="0" sz="1150" spc="-60">
                <a:latin typeface="Arial"/>
                <a:cs typeface="Arial"/>
              </a:rPr>
              <a:t>ex. 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25">
                <a:latin typeface="Arial"/>
                <a:cs typeface="Arial"/>
              </a:rPr>
              <a:t>travel </a:t>
            </a:r>
            <a:r>
              <a:rPr dirty="0" sz="1150" spc="-70">
                <a:latin typeface="Arial"/>
                <a:cs typeface="Arial"/>
              </a:rPr>
              <a:t>agencies. </a:t>
            </a:r>
            <a:r>
              <a:rPr dirty="0" sz="1150" spc="-75">
                <a:latin typeface="Arial"/>
                <a:cs typeface="Arial"/>
              </a:rPr>
              <a:t>Channel </a:t>
            </a:r>
            <a:r>
              <a:rPr dirty="0" sz="1150" spc="-60">
                <a:latin typeface="Arial"/>
                <a:cs typeface="Arial"/>
              </a:rPr>
              <a:t>5 </a:t>
            </a:r>
            <a:r>
              <a:rPr dirty="0" sz="1150" spc="-25">
                <a:latin typeface="Arial"/>
                <a:cs typeface="Arial"/>
              </a:rPr>
              <a:t>differs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65">
                <a:latin typeface="Arial"/>
                <a:cs typeface="Arial"/>
              </a:rPr>
              <a:t>channels </a:t>
            </a:r>
            <a:r>
              <a:rPr dirty="0" sz="1150" spc="-20">
                <a:latin typeface="Arial"/>
                <a:cs typeface="Arial"/>
              </a:rPr>
              <a:t>in  </a:t>
            </a:r>
            <a:r>
              <a:rPr dirty="0" sz="1150" spc="5">
                <a:latin typeface="Arial"/>
                <a:cs typeface="Arial"/>
              </a:rPr>
              <a:t>two </a:t>
            </a:r>
            <a:r>
              <a:rPr dirty="0" sz="1150" spc="-60">
                <a:latin typeface="Arial"/>
                <a:cs typeface="Arial"/>
              </a:rPr>
              <a:t>ways: </a:t>
            </a:r>
            <a:r>
              <a:rPr dirty="0" sz="1150" spc="-45">
                <a:latin typeface="Arial"/>
                <a:cs typeface="Arial"/>
              </a:rPr>
              <a:t>(1)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50">
                <a:latin typeface="Arial"/>
                <a:cs typeface="Arial"/>
              </a:rPr>
              <a:t>includes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50">
                <a:latin typeface="Arial"/>
                <a:cs typeface="Arial"/>
              </a:rPr>
              <a:t>agent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sole </a:t>
            </a:r>
            <a:r>
              <a:rPr dirty="0" sz="1150" spc="-25">
                <a:latin typeface="Arial"/>
                <a:cs typeface="Arial"/>
              </a:rPr>
              <a:t>intermediary </a:t>
            </a:r>
            <a:r>
              <a:rPr dirty="0" sz="1150" spc="-45">
                <a:latin typeface="Arial"/>
                <a:cs typeface="Arial"/>
              </a:rPr>
              <a:t>(2) </a:t>
            </a:r>
            <a:r>
              <a:rPr dirty="0" sz="1150" spc="30">
                <a:latin typeface="Arial"/>
                <a:cs typeface="Arial"/>
              </a:rPr>
              <a:t>it  </a:t>
            </a:r>
            <a:r>
              <a:rPr dirty="0" sz="1150" spc="-30">
                <a:latin typeface="Arial"/>
                <a:cs typeface="Arial"/>
              </a:rPr>
              <a:t>distributes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both </a:t>
            </a:r>
            <a:r>
              <a:rPr dirty="0" sz="1150" spc="-65">
                <a:latin typeface="Arial"/>
                <a:cs typeface="Arial"/>
              </a:rPr>
              <a:t>consumers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5">
                <a:latin typeface="Arial"/>
                <a:cs typeface="Arial"/>
              </a:rPr>
              <a:t>business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customers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0368" y="2850898"/>
            <a:ext cx="5512435" cy="768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75" b="1">
                <a:latin typeface="Arial"/>
                <a:cs typeface="Arial"/>
              </a:rPr>
              <a:t>Distribution </a:t>
            </a:r>
            <a:r>
              <a:rPr dirty="0" sz="1350" spc="-60" b="1">
                <a:latin typeface="Arial"/>
                <a:cs typeface="Arial"/>
              </a:rPr>
              <a:t>of </a:t>
            </a:r>
            <a:r>
              <a:rPr dirty="0" sz="1350" spc="-150" b="1">
                <a:latin typeface="Arial"/>
                <a:cs typeface="Arial"/>
              </a:rPr>
              <a:t>Business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Products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65" b="1">
                <a:latin typeface="Arial"/>
                <a:cs typeface="Arial"/>
              </a:rPr>
              <a:t>Industrial </a:t>
            </a:r>
            <a:r>
              <a:rPr dirty="0" sz="1150" spc="-50" b="1">
                <a:latin typeface="Arial"/>
                <a:cs typeface="Arial"/>
              </a:rPr>
              <a:t>Distribution</a:t>
            </a:r>
            <a:r>
              <a:rPr dirty="0" sz="1150" spc="-50">
                <a:latin typeface="Arial"/>
                <a:cs typeface="Arial"/>
              </a:rPr>
              <a:t>-network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channel members </a:t>
            </a:r>
            <a:r>
              <a:rPr dirty="0" sz="1150" spc="-40">
                <a:latin typeface="Arial"/>
                <a:cs typeface="Arial"/>
              </a:rPr>
              <a:t>involved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5">
                <a:latin typeface="Arial"/>
                <a:cs typeface="Arial"/>
              </a:rPr>
              <a:t>flow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manufactured 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industrial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customers.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36199" y="4487674"/>
            <a:ext cx="1631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69732" y="3774442"/>
            <a:ext cx="4474845" cy="109283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44805" marR="5080" indent="-299085">
              <a:lnSpc>
                <a:spcPct val="101699"/>
              </a:lnSpc>
              <a:spcBef>
                <a:spcPts val="75"/>
              </a:spcBef>
              <a:buFont typeface="Arial"/>
              <a:buAutoNum type="romanLcPeriod"/>
              <a:tabLst>
                <a:tab pos="344805" algn="l"/>
                <a:tab pos="345440" algn="l"/>
              </a:tabLst>
            </a:pPr>
            <a:r>
              <a:rPr dirty="0" sz="1150" spc="-95" b="1">
                <a:latin typeface="Arial"/>
                <a:cs typeface="Arial"/>
              </a:rPr>
              <a:t>Channel </a:t>
            </a:r>
            <a:r>
              <a:rPr dirty="0" sz="1150" spc="-60" b="1">
                <a:latin typeface="Arial"/>
                <a:cs typeface="Arial"/>
              </a:rPr>
              <a:t>6: </a:t>
            </a:r>
            <a:r>
              <a:rPr dirty="0" sz="1150" spc="-65" b="1">
                <a:latin typeface="Arial"/>
                <a:cs typeface="Arial"/>
              </a:rPr>
              <a:t>Direct Distribution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30" b="1">
                <a:latin typeface="Arial"/>
                <a:cs typeface="Arial"/>
              </a:rPr>
              <a:t>Business </a:t>
            </a:r>
            <a:r>
              <a:rPr dirty="0" sz="1150" spc="-95" b="1">
                <a:latin typeface="Arial"/>
                <a:cs typeface="Arial"/>
              </a:rPr>
              <a:t>Products</a:t>
            </a:r>
            <a:r>
              <a:rPr dirty="0" sz="1150" spc="-95">
                <a:latin typeface="Arial"/>
                <a:cs typeface="Arial"/>
              </a:rPr>
              <a:t>, </a:t>
            </a:r>
            <a:r>
              <a:rPr dirty="0" sz="1150" spc="-60">
                <a:latin typeface="Arial"/>
                <a:cs typeface="Arial"/>
              </a:rPr>
              <a:t>ex. </a:t>
            </a:r>
            <a:r>
              <a:rPr dirty="0" sz="1150" spc="-45">
                <a:latin typeface="Arial"/>
                <a:cs typeface="Arial"/>
              </a:rPr>
              <a:t>Dell  </a:t>
            </a:r>
            <a:r>
              <a:rPr dirty="0" sz="1150" spc="-55">
                <a:latin typeface="Arial"/>
                <a:cs typeface="Arial"/>
              </a:rPr>
              <a:t>Computers</a:t>
            </a:r>
            <a:endParaRPr sz="1150">
              <a:latin typeface="Arial"/>
              <a:cs typeface="Arial"/>
            </a:endParaRPr>
          </a:p>
          <a:p>
            <a:pPr marL="344805" marR="5080" indent="-332740">
              <a:lnSpc>
                <a:spcPct val="101699"/>
              </a:lnSpc>
              <a:spcBef>
                <a:spcPts val="5"/>
              </a:spcBef>
              <a:buFont typeface="Arial"/>
              <a:buAutoNum type="romanLcPeriod"/>
              <a:tabLst>
                <a:tab pos="344805" algn="l"/>
                <a:tab pos="345440" algn="l"/>
              </a:tabLst>
            </a:pPr>
            <a:r>
              <a:rPr dirty="0" sz="1150" spc="-95" b="1">
                <a:latin typeface="Arial"/>
                <a:cs typeface="Arial"/>
              </a:rPr>
              <a:t>Channel </a:t>
            </a:r>
            <a:r>
              <a:rPr dirty="0" sz="1150" spc="-60" b="1">
                <a:latin typeface="Arial"/>
                <a:cs typeface="Arial"/>
              </a:rPr>
              <a:t>7: </a:t>
            </a:r>
            <a:r>
              <a:rPr dirty="0" sz="1150" spc="-75" b="1">
                <a:latin typeface="Arial"/>
                <a:cs typeface="Arial"/>
              </a:rPr>
              <a:t>Wholesale </a:t>
            </a:r>
            <a:r>
              <a:rPr dirty="0" sz="1150" spc="-65" b="1">
                <a:latin typeface="Arial"/>
                <a:cs typeface="Arial"/>
              </a:rPr>
              <a:t>Distribution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65" b="1">
                <a:latin typeface="Arial"/>
                <a:cs typeface="Arial"/>
              </a:rPr>
              <a:t>Industrial </a:t>
            </a:r>
            <a:r>
              <a:rPr dirty="0" sz="1150" spc="-95" b="1">
                <a:latin typeface="Arial"/>
                <a:cs typeface="Arial"/>
              </a:rPr>
              <a:t>Products</a:t>
            </a:r>
            <a:r>
              <a:rPr dirty="0" sz="1150" spc="-95">
                <a:latin typeface="Arial"/>
                <a:cs typeface="Arial"/>
              </a:rPr>
              <a:t>, </a:t>
            </a:r>
            <a:r>
              <a:rPr dirty="0" sz="1150" spc="-60">
                <a:latin typeface="Arial"/>
                <a:cs typeface="Arial"/>
              </a:rPr>
              <a:t>ex. 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office </a:t>
            </a:r>
            <a:r>
              <a:rPr dirty="0" sz="1150" spc="-35">
                <a:latin typeface="Arial"/>
                <a:cs typeface="Arial"/>
              </a:rPr>
              <a:t>equipment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accessories</a:t>
            </a:r>
            <a:endParaRPr sz="1150">
              <a:latin typeface="Arial"/>
              <a:cs typeface="Arial"/>
            </a:endParaRPr>
          </a:p>
          <a:p>
            <a:pPr marL="344805" marR="5715">
              <a:lnSpc>
                <a:spcPct val="101699"/>
              </a:lnSpc>
            </a:pPr>
            <a:r>
              <a:rPr dirty="0" sz="1150" spc="-95" b="1">
                <a:latin typeface="Arial"/>
                <a:cs typeface="Arial"/>
              </a:rPr>
              <a:t>Channel </a:t>
            </a:r>
            <a:r>
              <a:rPr dirty="0" sz="1150" spc="-60" b="1">
                <a:latin typeface="Arial"/>
                <a:cs typeface="Arial"/>
              </a:rPr>
              <a:t>8: </a:t>
            </a:r>
            <a:r>
              <a:rPr dirty="0" sz="1150" spc="-75" b="1">
                <a:latin typeface="Arial"/>
                <a:cs typeface="Arial"/>
              </a:rPr>
              <a:t>Wholesale </a:t>
            </a:r>
            <a:r>
              <a:rPr dirty="0" sz="1150" spc="-65" b="1">
                <a:latin typeface="Arial"/>
                <a:cs typeface="Arial"/>
              </a:rPr>
              <a:t>Distribution </a:t>
            </a:r>
            <a:r>
              <a:rPr dirty="0" sz="1150" spc="-40" b="1">
                <a:latin typeface="Arial"/>
                <a:cs typeface="Arial"/>
              </a:rPr>
              <a:t>to </a:t>
            </a:r>
            <a:r>
              <a:rPr dirty="0" sz="1150" spc="-130" b="1">
                <a:latin typeface="Arial"/>
                <a:cs typeface="Arial"/>
              </a:rPr>
              <a:t>Business </a:t>
            </a:r>
            <a:r>
              <a:rPr dirty="0" sz="1150" spc="-75" b="1">
                <a:latin typeface="Arial"/>
                <a:cs typeface="Arial"/>
              </a:rPr>
              <a:t>Retailers</a:t>
            </a:r>
            <a:r>
              <a:rPr dirty="0" sz="1150" spc="-75">
                <a:latin typeface="Arial"/>
                <a:cs typeface="Arial"/>
              </a:rPr>
              <a:t>, </a:t>
            </a:r>
            <a:r>
              <a:rPr dirty="0" sz="1150" spc="-60">
                <a:latin typeface="Arial"/>
                <a:cs typeface="Arial"/>
              </a:rPr>
              <a:t>ex. </a:t>
            </a:r>
            <a:r>
              <a:rPr dirty="0" sz="1150" spc="-70">
                <a:latin typeface="Arial"/>
                <a:cs typeface="Arial"/>
              </a:rPr>
              <a:t>Staples,  </a:t>
            </a:r>
            <a:r>
              <a:rPr dirty="0" sz="1150" spc="-40">
                <a:latin typeface="Arial"/>
                <a:cs typeface="Arial"/>
              </a:rPr>
              <a:t>Office </a:t>
            </a:r>
            <a:r>
              <a:rPr dirty="0" sz="1150" spc="-45">
                <a:latin typeface="Arial"/>
                <a:cs typeface="Arial"/>
              </a:rPr>
              <a:t>Depot, </a:t>
            </a:r>
            <a:r>
              <a:rPr dirty="0" sz="1150" spc="-40">
                <a:latin typeface="Arial"/>
                <a:cs typeface="Arial"/>
              </a:rPr>
              <a:t>Office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Max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82" y="891035"/>
            <a:ext cx="5514340" cy="4494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762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30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"/>
              <a:cs typeface="Arial"/>
            </a:endParaRPr>
          </a:p>
          <a:p>
            <a:pPr marL="260985">
              <a:lnSpc>
                <a:spcPct val="100000"/>
              </a:lnSpc>
            </a:pPr>
            <a:r>
              <a:rPr dirty="0" sz="1750" spc="-200" b="1">
                <a:latin typeface="Arial"/>
                <a:cs typeface="Arial"/>
              </a:rPr>
              <a:t>WHOLESALING, </a:t>
            </a:r>
            <a:r>
              <a:rPr dirty="0" sz="1750" spc="-195" b="1">
                <a:latin typeface="Arial"/>
                <a:cs typeface="Arial"/>
              </a:rPr>
              <a:t>RETAILING </a:t>
            </a:r>
            <a:r>
              <a:rPr dirty="0" sz="1750" spc="-35" b="1">
                <a:latin typeface="Arial"/>
                <a:cs typeface="Arial"/>
              </a:rPr>
              <a:t>&amp; </a:t>
            </a:r>
            <a:r>
              <a:rPr dirty="0" sz="1750" spc="-240" b="1">
                <a:latin typeface="Arial"/>
                <a:cs typeface="Arial"/>
              </a:rPr>
              <a:t>PHYSICAL</a:t>
            </a:r>
            <a:r>
              <a:rPr dirty="0" sz="1750" spc="-185" b="1">
                <a:latin typeface="Arial"/>
                <a:cs typeface="Arial"/>
              </a:rPr>
              <a:t> </a:t>
            </a:r>
            <a:r>
              <a:rPr dirty="0" sz="1750" spc="-165" b="1">
                <a:latin typeface="Arial"/>
                <a:cs typeface="Arial"/>
              </a:rPr>
              <a:t>DISTRIBUTION</a:t>
            </a:r>
            <a:endParaRPr sz="17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1455"/>
              </a:spcBef>
            </a:pPr>
            <a:r>
              <a:rPr dirty="0" sz="1350" spc="-120" b="1">
                <a:latin typeface="Arial"/>
                <a:cs typeface="Arial"/>
              </a:rPr>
              <a:t>Agents </a:t>
            </a:r>
            <a:r>
              <a:rPr dirty="0" sz="1350" spc="-100" b="1">
                <a:latin typeface="Arial"/>
                <a:cs typeface="Arial"/>
              </a:rPr>
              <a:t>and</a:t>
            </a:r>
            <a:r>
              <a:rPr dirty="0" sz="1350" spc="-90" b="1">
                <a:latin typeface="Arial"/>
                <a:cs typeface="Arial"/>
              </a:rPr>
              <a:t> </a:t>
            </a:r>
            <a:r>
              <a:rPr dirty="0" sz="1350" spc="-100" b="1">
                <a:latin typeface="Arial"/>
                <a:cs typeface="Arial"/>
              </a:rPr>
              <a:t>Broker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Independent </a:t>
            </a:r>
            <a:r>
              <a:rPr dirty="0" sz="1150" spc="-25">
                <a:latin typeface="Arial"/>
                <a:cs typeface="Arial"/>
              </a:rPr>
              <a:t>intermediary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50">
                <a:latin typeface="Arial"/>
                <a:cs typeface="Arial"/>
              </a:rPr>
              <a:t>usually </a:t>
            </a:r>
            <a:r>
              <a:rPr dirty="0" sz="1150" spc="-45">
                <a:latin typeface="Arial"/>
                <a:cs typeface="Arial"/>
              </a:rPr>
              <a:t>represents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40">
                <a:latin typeface="Arial"/>
                <a:cs typeface="Arial"/>
              </a:rPr>
              <a:t>manufacturers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sells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50">
                <a:latin typeface="Arial"/>
                <a:cs typeface="Arial"/>
              </a:rPr>
              <a:t>wholesalers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retailers. </a:t>
            </a:r>
            <a:r>
              <a:rPr dirty="0" sz="1150" spc="-60">
                <a:latin typeface="Arial"/>
                <a:cs typeface="Arial"/>
              </a:rPr>
              <a:t>Provides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wide </a:t>
            </a:r>
            <a:r>
              <a:rPr dirty="0" sz="1150" spc="-60">
                <a:latin typeface="Arial"/>
                <a:cs typeface="Arial"/>
              </a:rPr>
              <a:t>range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 spc="-40">
                <a:latin typeface="Arial"/>
                <a:cs typeface="Arial"/>
              </a:rPr>
              <a:t>including shelf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display  merchandising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advertising </a:t>
            </a:r>
            <a:r>
              <a:rPr dirty="0" sz="1150" spc="-30">
                <a:latin typeface="Arial"/>
                <a:cs typeface="Arial"/>
              </a:rPr>
              <a:t>layout. </a:t>
            </a:r>
            <a:r>
              <a:rPr dirty="0" sz="1150" spc="-65">
                <a:latin typeface="Arial"/>
                <a:cs typeface="Arial"/>
              </a:rPr>
              <a:t>Agents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brokers </a:t>
            </a:r>
            <a:r>
              <a:rPr dirty="0" sz="1150" spc="-45">
                <a:latin typeface="Arial"/>
                <a:cs typeface="Arial"/>
              </a:rPr>
              <a:t>never  </a:t>
            </a:r>
            <a:r>
              <a:rPr dirty="0" sz="1150" spc="-40">
                <a:latin typeface="Arial"/>
                <a:cs typeface="Arial"/>
              </a:rPr>
              <a:t>actually </a:t>
            </a:r>
            <a:r>
              <a:rPr dirty="0" sz="1150" spc="-25">
                <a:latin typeface="Arial"/>
                <a:cs typeface="Arial"/>
              </a:rPr>
              <a:t>own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55">
                <a:latin typeface="Arial"/>
                <a:cs typeface="Arial"/>
              </a:rPr>
              <a:t>merchandise </a:t>
            </a:r>
            <a:r>
              <a:rPr dirty="0" sz="1150" spc="-30">
                <a:latin typeface="Arial"/>
                <a:cs typeface="Arial"/>
              </a:rPr>
              <a:t>they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sell.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65" b="1">
                <a:latin typeface="Arial"/>
                <a:cs typeface="Arial"/>
              </a:rPr>
              <a:t>WHOLESALING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Wholesalers </a:t>
            </a:r>
            <a:r>
              <a:rPr dirty="0" sz="1150" spc="-45">
                <a:latin typeface="Arial"/>
                <a:cs typeface="Arial"/>
              </a:rPr>
              <a:t>sell </a:t>
            </a:r>
            <a:r>
              <a:rPr dirty="0" sz="1150" spc="-25">
                <a:latin typeface="Arial"/>
                <a:cs typeface="Arial"/>
              </a:rPr>
              <a:t>primarily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retailers,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50">
                <a:latin typeface="Arial"/>
                <a:cs typeface="Arial"/>
              </a:rPr>
              <a:t>wholesalers,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industrial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15">
                <a:latin typeface="Arial"/>
                <a:cs typeface="Arial"/>
              </a:rPr>
              <a:t>institutional  </a:t>
            </a:r>
            <a:r>
              <a:rPr dirty="0" sz="1150" spc="-65">
                <a:latin typeface="Arial"/>
                <a:cs typeface="Arial"/>
              </a:rPr>
              <a:t>users. </a:t>
            </a:r>
            <a:r>
              <a:rPr dirty="0" sz="1150" spc="-55">
                <a:latin typeface="Arial"/>
                <a:cs typeface="Arial"/>
              </a:rPr>
              <a:t>Wholesalers </a:t>
            </a:r>
            <a:r>
              <a:rPr dirty="0" sz="1150" spc="-35">
                <a:latin typeface="Arial"/>
                <a:cs typeface="Arial"/>
              </a:rPr>
              <a:t>provide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variety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services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buying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55">
                <a:latin typeface="Arial"/>
                <a:cs typeface="Arial"/>
              </a:rPr>
              <a:t>resale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5">
                <a:latin typeface="Arial"/>
                <a:cs typeface="Arial"/>
              </a:rPr>
              <a:t>use. </a:t>
            </a:r>
            <a:r>
              <a:rPr dirty="0" sz="1150" spc="-9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types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wholesale </a:t>
            </a:r>
            <a:r>
              <a:rPr dirty="0" sz="1150" spc="-35">
                <a:latin typeface="Arial"/>
                <a:cs typeface="Arial"/>
              </a:rPr>
              <a:t>intermediaries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are: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40665" algn="l"/>
                <a:tab pos="241935" algn="l"/>
              </a:tabLst>
            </a:pPr>
            <a:r>
              <a:rPr dirty="0" sz="1350" spc="-65" b="1">
                <a:latin typeface="Arial"/>
                <a:cs typeface="Arial"/>
              </a:rPr>
              <a:t>Merchant</a:t>
            </a:r>
            <a:r>
              <a:rPr dirty="0" sz="1350" spc="-70" b="1">
                <a:latin typeface="Arial"/>
                <a:cs typeface="Arial"/>
              </a:rPr>
              <a:t> </a:t>
            </a:r>
            <a:r>
              <a:rPr dirty="0" sz="1350" spc="-100" b="1">
                <a:latin typeface="Arial"/>
                <a:cs typeface="Arial"/>
              </a:rPr>
              <a:t>wholesalers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—independent wholesaler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55">
                <a:latin typeface="Arial"/>
                <a:cs typeface="Arial"/>
              </a:rPr>
              <a:t>takes </a:t>
            </a:r>
            <a:r>
              <a:rPr dirty="0" sz="1150" spc="-50">
                <a:latin typeface="Arial"/>
                <a:cs typeface="Arial"/>
              </a:rPr>
              <a:t>legal </a:t>
            </a:r>
            <a:r>
              <a:rPr dirty="0" sz="1150" spc="-75">
                <a:latin typeface="Arial"/>
                <a:cs typeface="Arial"/>
              </a:rPr>
              <a:t>possession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45">
                <a:latin typeface="Arial"/>
                <a:cs typeface="Arial"/>
              </a:rPr>
              <a:t>produced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variety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40">
                <a:latin typeface="Arial"/>
                <a:cs typeface="Arial"/>
              </a:rPr>
              <a:t>manufacturers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then </a:t>
            </a:r>
            <a:r>
              <a:rPr dirty="0" sz="1150" spc="-55">
                <a:latin typeface="Arial"/>
                <a:cs typeface="Arial"/>
              </a:rPr>
              <a:t>resells </a:t>
            </a:r>
            <a:r>
              <a:rPr dirty="0" sz="1150" spc="-25">
                <a:latin typeface="Arial"/>
                <a:cs typeface="Arial"/>
              </a:rPr>
              <a:t>them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70">
                <a:latin typeface="Arial"/>
                <a:cs typeface="Arial"/>
              </a:rPr>
              <a:t>businesses. </a:t>
            </a:r>
            <a:r>
              <a:rPr dirty="0" sz="1150" spc="-30">
                <a:latin typeface="Arial"/>
                <a:cs typeface="Arial"/>
              </a:rPr>
              <a:t>Merchant </a:t>
            </a:r>
            <a:r>
              <a:rPr dirty="0" sz="1150" spc="-50">
                <a:latin typeface="Arial"/>
                <a:cs typeface="Arial"/>
              </a:rPr>
              <a:t>wholesalers </a:t>
            </a:r>
            <a:r>
              <a:rPr dirty="0" sz="1150" spc="-65">
                <a:latin typeface="Arial"/>
                <a:cs typeface="Arial"/>
              </a:rPr>
              <a:t>also  </a:t>
            </a:r>
            <a:r>
              <a:rPr dirty="0" sz="1150" spc="-35">
                <a:latin typeface="Arial"/>
                <a:cs typeface="Arial"/>
              </a:rPr>
              <a:t>provide </a:t>
            </a:r>
            <a:r>
              <a:rPr dirty="0" sz="1150" spc="-50">
                <a:latin typeface="Arial"/>
                <a:cs typeface="Arial"/>
              </a:rPr>
              <a:t>storage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deliver;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merchant </a:t>
            </a:r>
            <a:r>
              <a:rPr dirty="0" sz="1150" spc="-50">
                <a:latin typeface="Arial"/>
                <a:cs typeface="Arial"/>
              </a:rPr>
              <a:t>wholesaling </a:t>
            </a:r>
            <a:r>
              <a:rPr dirty="0" sz="1150" spc="-30">
                <a:latin typeface="Arial"/>
                <a:cs typeface="Arial"/>
              </a:rPr>
              <a:t>industry </a:t>
            </a:r>
            <a:r>
              <a:rPr dirty="0" sz="1150" spc="-55">
                <a:latin typeface="Arial"/>
                <a:cs typeface="Arial"/>
              </a:rPr>
              <a:t>employs </a:t>
            </a:r>
            <a:r>
              <a:rPr dirty="0" sz="1150" spc="-60">
                <a:latin typeface="Arial"/>
                <a:cs typeface="Arial"/>
              </a:rPr>
              <a:t>6 </a:t>
            </a:r>
            <a:r>
              <a:rPr dirty="0" sz="1150" spc="-15">
                <a:latin typeface="Arial"/>
                <a:cs typeface="Arial"/>
              </a:rPr>
              <a:t>million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20">
                <a:latin typeface="Arial"/>
                <a:cs typeface="Arial"/>
              </a:rPr>
              <a:t>in  the </a:t>
            </a:r>
            <a:r>
              <a:rPr dirty="0" sz="1150" spc="-30">
                <a:latin typeface="Arial"/>
                <a:cs typeface="Arial"/>
              </a:rPr>
              <a:t>United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States.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148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36162" y="6610605"/>
            <a:ext cx="1631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7682" y="5540757"/>
            <a:ext cx="4506595" cy="21628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376555" marR="5080" indent="-299085">
              <a:lnSpc>
                <a:spcPct val="101699"/>
              </a:lnSpc>
              <a:spcBef>
                <a:spcPts val="75"/>
              </a:spcBef>
              <a:buFont typeface="Arial"/>
              <a:buAutoNum type="romanLcPeriod"/>
              <a:tabLst>
                <a:tab pos="377190" algn="l"/>
              </a:tabLst>
            </a:pPr>
            <a:r>
              <a:rPr dirty="0" sz="1150" spc="-90" b="1">
                <a:latin typeface="Arial"/>
                <a:cs typeface="Arial"/>
              </a:rPr>
              <a:t>Full-Service </a:t>
            </a:r>
            <a:r>
              <a:rPr dirty="0" sz="1150" spc="-60" b="1">
                <a:latin typeface="Arial"/>
                <a:cs typeface="Arial"/>
              </a:rPr>
              <a:t>Merchant </a:t>
            </a:r>
            <a:r>
              <a:rPr dirty="0" sz="1150" spc="-55" b="1">
                <a:latin typeface="Arial"/>
                <a:cs typeface="Arial"/>
              </a:rPr>
              <a:t>Wholesaler-</a:t>
            </a:r>
            <a:r>
              <a:rPr dirty="0" sz="1150" spc="-55">
                <a:latin typeface="Arial"/>
                <a:cs typeface="Arial"/>
              </a:rPr>
              <a:t>-merchant </a:t>
            </a:r>
            <a:r>
              <a:rPr dirty="0" sz="1150" spc="-45">
                <a:latin typeface="Arial"/>
                <a:cs typeface="Arial"/>
              </a:rPr>
              <a:t>wholesaler </a:t>
            </a:r>
            <a:r>
              <a:rPr dirty="0" sz="1150" spc="-30">
                <a:latin typeface="Arial"/>
                <a:cs typeface="Arial"/>
              </a:rPr>
              <a:t>who  </a:t>
            </a:r>
            <a:r>
              <a:rPr dirty="0" sz="1150" spc="-45">
                <a:latin typeface="Arial"/>
                <a:cs typeface="Arial"/>
              </a:rPr>
              <a:t>provides </a:t>
            </a:r>
            <a:r>
              <a:rPr dirty="0" sz="1150" spc="-25">
                <a:latin typeface="Arial"/>
                <a:cs typeface="Arial"/>
              </a:rPr>
              <a:t>credit, </a:t>
            </a:r>
            <a:r>
              <a:rPr dirty="0" sz="1150" spc="-35">
                <a:latin typeface="Arial"/>
                <a:cs typeface="Arial"/>
              </a:rPr>
              <a:t>marketing,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merchandising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addition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15">
                <a:latin typeface="Arial"/>
                <a:cs typeface="Arial"/>
              </a:rPr>
              <a:t>traditional </a:t>
            </a:r>
            <a:r>
              <a:rPr dirty="0" sz="1150" spc="-45">
                <a:latin typeface="Arial"/>
                <a:cs typeface="Arial"/>
              </a:rPr>
              <a:t>buying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selling </a:t>
            </a:r>
            <a:r>
              <a:rPr dirty="0" sz="1150" spc="-60">
                <a:latin typeface="Arial"/>
                <a:cs typeface="Arial"/>
              </a:rPr>
              <a:t>services. </a:t>
            </a:r>
            <a:r>
              <a:rPr dirty="0" sz="1150" spc="-35">
                <a:latin typeface="Arial"/>
                <a:cs typeface="Arial"/>
              </a:rPr>
              <a:t>Approximately </a:t>
            </a:r>
            <a:r>
              <a:rPr dirty="0" sz="1150" spc="-55">
                <a:latin typeface="Arial"/>
                <a:cs typeface="Arial"/>
              </a:rPr>
              <a:t>80 </a:t>
            </a:r>
            <a:r>
              <a:rPr dirty="0" sz="1150" spc="-35">
                <a:latin typeface="Arial"/>
                <a:cs typeface="Arial"/>
              </a:rPr>
              <a:t>percent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35">
                <a:latin typeface="Arial"/>
                <a:cs typeface="Arial"/>
              </a:rPr>
              <a:t>merchant </a:t>
            </a:r>
            <a:r>
              <a:rPr dirty="0" sz="1150" spc="-50">
                <a:latin typeface="Arial"/>
                <a:cs typeface="Arial"/>
              </a:rPr>
              <a:t>wholesalers are </a:t>
            </a:r>
            <a:r>
              <a:rPr dirty="0" sz="1150" spc="-40">
                <a:latin typeface="Arial"/>
                <a:cs typeface="Arial"/>
              </a:rPr>
              <a:t>full-service </a:t>
            </a:r>
            <a:r>
              <a:rPr dirty="0" sz="1150" spc="-35">
                <a:latin typeface="Arial"/>
                <a:cs typeface="Arial"/>
              </a:rPr>
              <a:t>merchant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wholesalers.</a:t>
            </a:r>
            <a:endParaRPr sz="1150">
              <a:latin typeface="Arial"/>
              <a:cs typeface="Arial"/>
            </a:endParaRPr>
          </a:p>
          <a:p>
            <a:pPr algn="just" marL="376555" marR="6350" indent="-332740">
              <a:lnSpc>
                <a:spcPct val="101699"/>
              </a:lnSpc>
              <a:spcBef>
                <a:spcPts val="5"/>
              </a:spcBef>
              <a:buFont typeface="Arial"/>
              <a:buAutoNum type="romanLcPeriod"/>
              <a:tabLst>
                <a:tab pos="377190" algn="l"/>
              </a:tabLst>
            </a:pPr>
            <a:r>
              <a:rPr dirty="0" sz="1150" spc="-85" b="1">
                <a:latin typeface="Arial"/>
                <a:cs typeface="Arial"/>
              </a:rPr>
              <a:t>Limited-Service </a:t>
            </a:r>
            <a:r>
              <a:rPr dirty="0" sz="1150" spc="-60" b="1">
                <a:latin typeface="Arial"/>
                <a:cs typeface="Arial"/>
              </a:rPr>
              <a:t>Merchant Wholesaler</a:t>
            </a:r>
            <a:r>
              <a:rPr dirty="0" sz="1150" spc="-60">
                <a:latin typeface="Arial"/>
                <a:cs typeface="Arial"/>
              </a:rPr>
              <a:t>—merchant </a:t>
            </a:r>
            <a:r>
              <a:rPr dirty="0" sz="1150" spc="-45">
                <a:latin typeface="Arial"/>
                <a:cs typeface="Arial"/>
              </a:rPr>
              <a:t>wholesaler </a:t>
            </a:r>
            <a:r>
              <a:rPr dirty="0" sz="1150" spc="-30">
                <a:latin typeface="Arial"/>
                <a:cs typeface="Arial"/>
              </a:rPr>
              <a:t>who  </a:t>
            </a:r>
            <a:r>
              <a:rPr dirty="0" sz="1150" spc="-45">
                <a:latin typeface="Arial"/>
                <a:cs typeface="Arial"/>
              </a:rPr>
              <a:t>provides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0">
                <a:latin typeface="Arial"/>
                <a:cs typeface="Arial"/>
              </a:rPr>
              <a:t>limited </a:t>
            </a:r>
            <a:r>
              <a:rPr dirty="0" sz="1150" spc="-60">
                <a:latin typeface="Arial"/>
                <a:cs typeface="Arial"/>
              </a:rPr>
              <a:t>range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services, </a:t>
            </a:r>
            <a:r>
              <a:rPr dirty="0" sz="1150" spc="-55">
                <a:latin typeface="Arial"/>
                <a:cs typeface="Arial"/>
              </a:rPr>
              <a:t>sometimes </a:t>
            </a:r>
            <a:r>
              <a:rPr dirty="0" sz="1150" spc="-30">
                <a:latin typeface="Arial"/>
                <a:cs typeface="Arial"/>
              </a:rPr>
              <a:t>only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storage.</a:t>
            </a:r>
            <a:endParaRPr sz="1150">
              <a:latin typeface="Arial"/>
              <a:cs typeface="Arial"/>
            </a:endParaRPr>
          </a:p>
          <a:p>
            <a:pPr algn="just" marL="376555" marR="5080">
              <a:lnSpc>
                <a:spcPct val="101699"/>
              </a:lnSpc>
            </a:pPr>
            <a:r>
              <a:rPr dirty="0" sz="1150" spc="-85" b="1">
                <a:latin typeface="Arial"/>
                <a:cs typeface="Arial"/>
              </a:rPr>
              <a:t>Drop </a:t>
            </a:r>
            <a:r>
              <a:rPr dirty="0" sz="1150" spc="-45" b="1">
                <a:latin typeface="Arial"/>
                <a:cs typeface="Arial"/>
              </a:rPr>
              <a:t>Shipper</a:t>
            </a:r>
            <a:r>
              <a:rPr dirty="0" sz="1150" spc="-45">
                <a:latin typeface="Arial"/>
                <a:cs typeface="Arial"/>
              </a:rPr>
              <a:t>—limited-function </a:t>
            </a:r>
            <a:r>
              <a:rPr dirty="0" sz="1150" spc="-35">
                <a:latin typeface="Arial"/>
                <a:cs typeface="Arial"/>
              </a:rPr>
              <a:t>merchant </a:t>
            </a:r>
            <a:r>
              <a:rPr dirty="0" sz="1150" spc="-45">
                <a:latin typeface="Arial"/>
                <a:cs typeface="Arial"/>
              </a:rPr>
              <a:t>wholesaler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60">
                <a:latin typeface="Arial"/>
                <a:cs typeface="Arial"/>
              </a:rPr>
              <a:t>receives  </a:t>
            </a:r>
            <a:r>
              <a:rPr dirty="0" sz="1150" spc="-40">
                <a:latin typeface="Arial"/>
                <a:cs typeface="Arial"/>
              </a:rPr>
              <a:t>customer orders, </a:t>
            </a:r>
            <a:r>
              <a:rPr dirty="0" sz="1150" spc="-45">
                <a:latin typeface="Arial"/>
                <a:cs typeface="Arial"/>
              </a:rPr>
              <a:t>negotiates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45">
                <a:latin typeface="Arial"/>
                <a:cs typeface="Arial"/>
              </a:rPr>
              <a:t>producers, </a:t>
            </a:r>
            <a:r>
              <a:rPr dirty="0" sz="1150" spc="-60">
                <a:latin typeface="Arial"/>
                <a:cs typeface="Arial"/>
              </a:rPr>
              <a:t>takes </a:t>
            </a:r>
            <a:r>
              <a:rPr dirty="0" sz="1150" spc="10">
                <a:latin typeface="Arial"/>
                <a:cs typeface="Arial"/>
              </a:rPr>
              <a:t>title to </a:t>
            </a:r>
            <a:r>
              <a:rPr dirty="0" sz="1150" spc="-65">
                <a:latin typeface="Arial"/>
                <a:cs typeface="Arial"/>
              </a:rPr>
              <a:t>goods,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65">
                <a:latin typeface="Arial"/>
                <a:cs typeface="Arial"/>
              </a:rPr>
              <a:t>arranges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5">
                <a:latin typeface="Arial"/>
                <a:cs typeface="Arial"/>
              </a:rPr>
              <a:t>shipment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customers.</a:t>
            </a:r>
            <a:endParaRPr sz="1150">
              <a:latin typeface="Arial"/>
              <a:cs typeface="Arial"/>
            </a:endParaRPr>
          </a:p>
          <a:p>
            <a:pPr algn="just" marL="376555" marR="6350" indent="-364490">
              <a:lnSpc>
                <a:spcPct val="101699"/>
              </a:lnSpc>
            </a:pPr>
            <a:r>
              <a:rPr dirty="0" sz="1150" spc="-30">
                <a:latin typeface="Arial"/>
                <a:cs typeface="Arial"/>
              </a:rPr>
              <a:t>iv. </a:t>
            </a:r>
            <a:r>
              <a:rPr dirty="0" sz="1150" spc="-130" b="1">
                <a:latin typeface="Arial"/>
                <a:cs typeface="Arial"/>
              </a:rPr>
              <a:t>Rack </a:t>
            </a:r>
            <a:r>
              <a:rPr dirty="0" sz="1150" spc="-40" b="1">
                <a:latin typeface="Arial"/>
                <a:cs typeface="Arial"/>
              </a:rPr>
              <a:t>jobbers</a:t>
            </a:r>
            <a:r>
              <a:rPr dirty="0" sz="1150" spc="-40">
                <a:latin typeface="Arial"/>
                <a:cs typeface="Arial"/>
              </a:rPr>
              <a:t>—limited-function </a:t>
            </a:r>
            <a:r>
              <a:rPr dirty="0" sz="1150" spc="-35">
                <a:latin typeface="Arial"/>
                <a:cs typeface="Arial"/>
              </a:rPr>
              <a:t>merchant </a:t>
            </a:r>
            <a:r>
              <a:rPr dirty="0" sz="1150" spc="-45">
                <a:latin typeface="Arial"/>
                <a:cs typeface="Arial"/>
              </a:rPr>
              <a:t>wholesaler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65">
                <a:latin typeface="Arial"/>
                <a:cs typeface="Arial"/>
              </a:rPr>
              <a:t>sets </a:t>
            </a:r>
            <a:r>
              <a:rPr dirty="0" sz="1150" spc="-40">
                <a:latin typeface="Arial"/>
                <a:cs typeface="Arial"/>
              </a:rPr>
              <a:t>up  </a:t>
            </a:r>
            <a:r>
              <a:rPr dirty="0" sz="1150" spc="-60">
                <a:latin typeface="Arial"/>
                <a:cs typeface="Arial"/>
              </a:rPr>
              <a:t>displays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5">
                <a:latin typeface="Arial"/>
                <a:cs typeface="Arial"/>
              </a:rPr>
              <a:t>retail </a:t>
            </a:r>
            <a:r>
              <a:rPr dirty="0" sz="1150" spc="-25">
                <a:latin typeface="Arial"/>
                <a:cs typeface="Arial"/>
              </a:rPr>
              <a:t>outlets, </a:t>
            </a:r>
            <a:r>
              <a:rPr dirty="0" sz="1150" spc="-50">
                <a:latin typeface="Arial"/>
                <a:cs typeface="Arial"/>
              </a:rPr>
              <a:t>stock </a:t>
            </a:r>
            <a:r>
              <a:rPr dirty="0" sz="1150" spc="-30">
                <a:latin typeface="Arial"/>
                <a:cs typeface="Arial"/>
              </a:rPr>
              <a:t>inventory,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mark </a:t>
            </a:r>
            <a:r>
              <a:rPr dirty="0" sz="1150" spc="-55">
                <a:latin typeface="Arial"/>
                <a:cs typeface="Arial"/>
              </a:rPr>
              <a:t>prices </a:t>
            </a:r>
            <a:r>
              <a:rPr dirty="0" sz="1150" spc="-35">
                <a:latin typeface="Arial"/>
                <a:cs typeface="Arial"/>
              </a:rPr>
              <a:t>on  </a:t>
            </a:r>
            <a:r>
              <a:rPr dirty="0" sz="1150" spc="-55">
                <a:latin typeface="Arial"/>
                <a:cs typeface="Arial"/>
              </a:rPr>
              <a:t>merchandise </a:t>
            </a:r>
            <a:r>
              <a:rPr dirty="0" sz="1150" spc="-50">
                <a:latin typeface="Arial"/>
                <a:cs typeface="Arial"/>
              </a:rPr>
              <a:t>displayed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certain </a:t>
            </a:r>
            <a:r>
              <a:rPr dirty="0" sz="1150" spc="-60">
                <a:latin typeface="Arial"/>
                <a:cs typeface="Arial"/>
              </a:rPr>
              <a:t>area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store.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0355" y="7857236"/>
            <a:ext cx="5513070" cy="1123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30" b="1">
                <a:latin typeface="Arial"/>
                <a:cs typeface="Arial"/>
              </a:rPr>
              <a:t>DISTRIBUTION</a:t>
            </a:r>
            <a:r>
              <a:rPr dirty="0" sz="1350" spc="-70" b="1">
                <a:latin typeface="Arial"/>
                <a:cs typeface="Arial"/>
              </a:rPr>
              <a:t> </a:t>
            </a:r>
            <a:r>
              <a:rPr dirty="0" sz="1350" spc="-195" b="1">
                <a:latin typeface="Arial"/>
                <a:cs typeface="Arial"/>
              </a:rPr>
              <a:t>STRATEGIES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400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 spc="-40">
                <a:latin typeface="Arial"/>
                <a:cs typeface="Arial"/>
              </a:rPr>
              <a:t>strategy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company’s </a:t>
            </a:r>
            <a:r>
              <a:rPr dirty="0" sz="1150" spc="-35">
                <a:latin typeface="Arial"/>
                <a:cs typeface="Arial"/>
              </a:rPr>
              <a:t>overall </a:t>
            </a:r>
            <a:r>
              <a:rPr dirty="0" sz="1150" spc="-45">
                <a:latin typeface="Arial"/>
                <a:cs typeface="Arial"/>
              </a:rPr>
              <a:t>plan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45">
                <a:latin typeface="Arial"/>
                <a:cs typeface="Arial"/>
              </a:rPr>
              <a:t>moving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buyers and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plays 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major </a:t>
            </a:r>
            <a:r>
              <a:rPr dirty="0" sz="1150" spc="-20">
                <a:latin typeface="Arial"/>
                <a:cs typeface="Arial"/>
              </a:rPr>
              <a:t>role in the </a:t>
            </a:r>
            <a:r>
              <a:rPr dirty="0" sz="1150" spc="-55">
                <a:latin typeface="Arial"/>
                <a:cs typeface="Arial"/>
              </a:rPr>
              <a:t>company’s </a:t>
            </a:r>
            <a:r>
              <a:rPr dirty="0" sz="1150" spc="-85">
                <a:latin typeface="Arial"/>
                <a:cs typeface="Arial"/>
              </a:rPr>
              <a:t>success. </a:t>
            </a:r>
            <a:r>
              <a:rPr dirty="0" sz="1150" spc="-80">
                <a:latin typeface="Arial"/>
                <a:cs typeface="Arial"/>
              </a:rPr>
              <a:t>One </a:t>
            </a:r>
            <a:r>
              <a:rPr dirty="0" sz="1150" spc="-15">
                <a:latin typeface="Arial"/>
                <a:cs typeface="Arial"/>
              </a:rPr>
              <a:t>part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0">
                <a:latin typeface="Arial"/>
                <a:cs typeface="Arial"/>
              </a:rPr>
              <a:t>strategy, </a:t>
            </a:r>
            <a:r>
              <a:rPr dirty="0" sz="1150" spc="-55">
                <a:latin typeface="Arial"/>
                <a:cs typeface="Arial"/>
              </a:rPr>
              <a:t>choosing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appropriate  market </a:t>
            </a:r>
            <a:r>
              <a:rPr dirty="0" sz="1150" spc="-60">
                <a:latin typeface="Arial"/>
                <a:cs typeface="Arial"/>
              </a:rPr>
              <a:t>coverage, depends </a:t>
            </a:r>
            <a:r>
              <a:rPr dirty="0" sz="1150" spc="-25">
                <a:latin typeface="Arial"/>
                <a:cs typeface="Arial"/>
              </a:rPr>
              <a:t>primarily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product,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55">
                <a:latin typeface="Arial"/>
                <a:cs typeface="Arial"/>
              </a:rPr>
              <a:t>convenience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30">
                <a:latin typeface="Arial"/>
                <a:cs typeface="Arial"/>
              </a:rPr>
              <a:t>require 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45">
                <a:latin typeface="Arial"/>
                <a:cs typeface="Arial"/>
              </a:rPr>
              <a:t>strategies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40">
                <a:latin typeface="Arial"/>
                <a:cs typeface="Arial"/>
              </a:rPr>
              <a:t>organizational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supplies.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136139" y="2319023"/>
            <a:ext cx="1631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149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69667" y="892559"/>
            <a:ext cx="4474845" cy="21628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44805" marR="17145" indent="-299085">
              <a:lnSpc>
                <a:spcPct val="101699"/>
              </a:lnSpc>
              <a:spcBef>
                <a:spcPts val="75"/>
              </a:spcBef>
              <a:buFont typeface="Arial"/>
              <a:buAutoNum type="romanLcPeriod"/>
              <a:tabLst>
                <a:tab pos="344805" algn="l"/>
                <a:tab pos="345440" algn="l"/>
              </a:tabLst>
            </a:pPr>
            <a:r>
              <a:rPr dirty="0" sz="1150" spc="-70" b="1">
                <a:latin typeface="Arial"/>
                <a:cs typeface="Arial"/>
              </a:rPr>
              <a:t>Intensive </a:t>
            </a:r>
            <a:r>
              <a:rPr dirty="0" sz="1150" spc="-65" b="1">
                <a:latin typeface="Arial"/>
                <a:cs typeface="Arial"/>
              </a:rPr>
              <a:t>distribution</a:t>
            </a:r>
            <a:r>
              <a:rPr dirty="0" sz="1150" spc="-65">
                <a:latin typeface="Arial"/>
                <a:cs typeface="Arial"/>
              </a:rPr>
              <a:t>, </a:t>
            </a:r>
            <a:r>
              <a:rPr dirty="0" sz="1150" spc="-40">
                <a:latin typeface="Arial"/>
                <a:cs typeface="Arial"/>
              </a:rPr>
              <a:t>where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saturated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product,  </a:t>
            </a:r>
            <a:r>
              <a:rPr dirty="0" sz="1150" spc="-40">
                <a:latin typeface="Arial"/>
                <a:cs typeface="Arial"/>
              </a:rPr>
              <a:t>almost </a:t>
            </a:r>
            <a:r>
              <a:rPr dirty="0" sz="1150" spc="-30">
                <a:latin typeface="Arial"/>
                <a:cs typeface="Arial"/>
              </a:rPr>
              <a:t>certainly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long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 spc="-50">
                <a:latin typeface="Arial"/>
                <a:cs typeface="Arial"/>
              </a:rPr>
              <a:t>chain. </a:t>
            </a:r>
            <a:r>
              <a:rPr dirty="0" sz="1150" spc="-35">
                <a:latin typeface="Arial"/>
                <a:cs typeface="Arial"/>
              </a:rPr>
              <a:t>Normally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35">
                <a:latin typeface="Arial"/>
                <a:cs typeface="Arial"/>
              </a:rPr>
              <a:t>low-cost </a:t>
            </a:r>
            <a:r>
              <a:rPr dirty="0" sz="1150" spc="-55">
                <a:latin typeface="Arial"/>
                <a:cs typeface="Arial"/>
              </a:rPr>
              <a:t>consumer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45">
                <a:latin typeface="Arial"/>
                <a:cs typeface="Arial"/>
              </a:rPr>
              <a:t>widespread </a:t>
            </a:r>
            <a:r>
              <a:rPr dirty="0" sz="1150" spc="-55">
                <a:latin typeface="Arial"/>
                <a:cs typeface="Arial"/>
              </a:rPr>
              <a:t>appeal </a:t>
            </a:r>
            <a:r>
              <a:rPr dirty="0" sz="1150" spc="-75">
                <a:latin typeface="Arial"/>
                <a:cs typeface="Arial"/>
              </a:rPr>
              <a:t>such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65">
                <a:latin typeface="Arial"/>
                <a:cs typeface="Arial"/>
              </a:rPr>
              <a:t>candy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70">
                <a:latin typeface="Arial"/>
                <a:cs typeface="Arial"/>
              </a:rPr>
              <a:t>magazines.</a:t>
            </a:r>
            <a:endParaRPr sz="1150">
              <a:latin typeface="Arial"/>
              <a:cs typeface="Arial"/>
            </a:endParaRPr>
          </a:p>
          <a:p>
            <a:pPr algn="just" marL="344805" marR="5715" indent="-332740">
              <a:lnSpc>
                <a:spcPct val="101699"/>
              </a:lnSpc>
              <a:spcBef>
                <a:spcPts val="5"/>
              </a:spcBef>
              <a:buFont typeface="Arial"/>
              <a:buAutoNum type="romanLcPeriod"/>
              <a:tabLst>
                <a:tab pos="345440" algn="l"/>
              </a:tabLst>
            </a:pPr>
            <a:r>
              <a:rPr dirty="0" sz="1150" spc="-110" b="1">
                <a:latin typeface="Arial"/>
                <a:cs typeface="Arial"/>
              </a:rPr>
              <a:t>Exclusive </a:t>
            </a:r>
            <a:r>
              <a:rPr dirty="0" sz="1150" spc="-65" b="1">
                <a:latin typeface="Arial"/>
                <a:cs typeface="Arial"/>
              </a:rPr>
              <a:t>distribution </a:t>
            </a:r>
            <a:r>
              <a:rPr dirty="0" sz="1150" spc="-60">
                <a:latin typeface="Arial"/>
                <a:cs typeface="Arial"/>
              </a:rPr>
              <a:t>severely </a:t>
            </a:r>
            <a:r>
              <a:rPr dirty="0" sz="1150" spc="-15">
                <a:latin typeface="Arial"/>
                <a:cs typeface="Arial"/>
              </a:rPr>
              <a:t>limits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outlets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15">
                <a:latin typeface="Arial"/>
                <a:cs typeface="Arial"/>
              </a:rPr>
              <a:t>item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particular </a:t>
            </a:r>
            <a:r>
              <a:rPr dirty="0" sz="1150" spc="-60">
                <a:latin typeface="Arial"/>
                <a:cs typeface="Arial"/>
              </a:rPr>
              <a:t>geographic area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most </a:t>
            </a:r>
            <a:r>
              <a:rPr dirty="0" sz="1150" spc="-10">
                <a:latin typeface="Arial"/>
                <a:cs typeface="Arial"/>
              </a:rPr>
              <a:t>often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>
                <a:latin typeface="Arial"/>
                <a:cs typeface="Arial"/>
              </a:rPr>
              <a:t>for  </a:t>
            </a:r>
            <a:r>
              <a:rPr dirty="0" sz="1150" spc="-60">
                <a:latin typeface="Arial"/>
                <a:cs typeface="Arial"/>
              </a:rPr>
              <a:t>expensive </a:t>
            </a:r>
            <a:r>
              <a:rPr dirty="0" sz="1150" spc="-45">
                <a:latin typeface="Arial"/>
                <a:cs typeface="Arial"/>
              </a:rPr>
              <a:t>specialty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0">
                <a:latin typeface="Arial"/>
                <a:cs typeface="Arial"/>
              </a:rPr>
              <a:t>technical </a:t>
            </a:r>
            <a:r>
              <a:rPr dirty="0" sz="1150" spc="-35">
                <a:latin typeface="Arial"/>
                <a:cs typeface="Arial"/>
              </a:rPr>
              <a:t>products,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85">
                <a:latin typeface="Arial"/>
                <a:cs typeface="Arial"/>
              </a:rPr>
              <a:t>Jaguar  </a:t>
            </a:r>
            <a:r>
              <a:rPr dirty="0" sz="1150" spc="-40">
                <a:latin typeface="Arial"/>
                <a:cs typeface="Arial"/>
              </a:rPr>
              <a:t>automobiles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80">
                <a:latin typeface="Arial"/>
                <a:cs typeface="Arial"/>
              </a:rPr>
              <a:t>Rolex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watches.</a:t>
            </a:r>
            <a:endParaRPr sz="1150">
              <a:latin typeface="Arial"/>
              <a:cs typeface="Arial"/>
            </a:endParaRPr>
          </a:p>
          <a:p>
            <a:pPr algn="just" marL="344805" marR="5080">
              <a:lnSpc>
                <a:spcPct val="101699"/>
              </a:lnSpc>
            </a:pPr>
            <a:r>
              <a:rPr dirty="0" sz="1150" spc="-85" b="1">
                <a:latin typeface="Arial"/>
                <a:cs typeface="Arial"/>
              </a:rPr>
              <a:t>Selective </a:t>
            </a:r>
            <a:r>
              <a:rPr dirty="0" sz="1150" spc="-65" b="1">
                <a:latin typeface="Arial"/>
                <a:cs typeface="Arial"/>
              </a:rPr>
              <a:t>distribution </a:t>
            </a:r>
            <a:r>
              <a:rPr dirty="0" sz="1150" spc="-95">
                <a:latin typeface="Arial"/>
                <a:cs typeface="Arial"/>
              </a:rPr>
              <a:t>uses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0">
                <a:latin typeface="Arial"/>
                <a:cs typeface="Arial"/>
              </a:rPr>
              <a:t>limited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outlets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might  </a:t>
            </a:r>
            <a:r>
              <a:rPr dirty="0" sz="1150" spc="-20">
                <a:latin typeface="Arial"/>
                <a:cs typeface="Arial"/>
              </a:rPr>
              <a:t>work </a:t>
            </a:r>
            <a:r>
              <a:rPr dirty="0" sz="1150" spc="-10">
                <a:latin typeface="Arial"/>
                <a:cs typeface="Arial"/>
              </a:rPr>
              <a:t>better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shipping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buyer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5">
                <a:latin typeface="Arial"/>
                <a:cs typeface="Arial"/>
              </a:rPr>
              <a:t>likely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want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50">
                <a:latin typeface="Arial"/>
                <a:cs typeface="Arial"/>
              </a:rPr>
              <a:t>compare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3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features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prices. </a:t>
            </a:r>
            <a:r>
              <a:rPr dirty="0" sz="1150" spc="-85">
                <a:latin typeface="Arial"/>
                <a:cs typeface="Arial"/>
              </a:rPr>
              <a:t>Examples </a:t>
            </a:r>
            <a:r>
              <a:rPr dirty="0" sz="1150" spc="-55">
                <a:latin typeface="Arial"/>
                <a:cs typeface="Arial"/>
              </a:rPr>
              <a:t>are fashions and  appliances.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0293" y="3207515"/>
            <a:ext cx="5514340" cy="5673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30" b="1">
                <a:latin typeface="Arial"/>
                <a:cs typeface="Arial"/>
              </a:rPr>
              <a:t>DISTRIBUTION</a:t>
            </a:r>
            <a:r>
              <a:rPr dirty="0" sz="1350" spc="-70" b="1">
                <a:latin typeface="Arial"/>
                <a:cs typeface="Arial"/>
              </a:rPr>
              <a:t> </a:t>
            </a:r>
            <a:r>
              <a:rPr dirty="0" sz="1350" spc="-185" b="1">
                <a:latin typeface="Arial"/>
                <a:cs typeface="Arial"/>
              </a:rPr>
              <a:t>CONFLICTS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241300" marR="5715" indent="-228600">
              <a:lnSpc>
                <a:spcPct val="101699"/>
              </a:lnSpc>
              <a:buFont typeface="Wingdings"/>
              <a:buChar char=""/>
              <a:tabLst>
                <a:tab pos="241300" algn="l"/>
              </a:tabLst>
            </a:pPr>
            <a:r>
              <a:rPr dirty="0" sz="1150" spc="-95" b="1">
                <a:latin typeface="Arial"/>
                <a:cs typeface="Arial"/>
              </a:rPr>
              <a:t>Channel </a:t>
            </a:r>
            <a:r>
              <a:rPr dirty="0" sz="1150" spc="-75" b="1">
                <a:latin typeface="Arial"/>
                <a:cs typeface="Arial"/>
              </a:rPr>
              <a:t>conflict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0">
                <a:latin typeface="Arial"/>
                <a:cs typeface="Arial"/>
              </a:rPr>
              <a:t>occur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55">
                <a:latin typeface="Arial"/>
                <a:cs typeface="Arial"/>
              </a:rPr>
              <a:t>channel </a:t>
            </a:r>
            <a:r>
              <a:rPr dirty="0" sz="1150" spc="-45">
                <a:latin typeface="Arial"/>
                <a:cs typeface="Arial"/>
              </a:rPr>
              <a:t>member </a:t>
            </a:r>
            <a:r>
              <a:rPr dirty="0" sz="1150" spc="-70">
                <a:latin typeface="Arial"/>
                <a:cs typeface="Arial"/>
              </a:rPr>
              <a:t>places </a:t>
            </a:r>
            <a:r>
              <a:rPr dirty="0" sz="1150" spc="-25">
                <a:latin typeface="Arial"/>
                <a:cs typeface="Arial"/>
              </a:rPr>
              <a:t>its own </a:t>
            </a:r>
            <a:r>
              <a:rPr dirty="0" sz="1150" spc="-100">
                <a:latin typeface="Arial"/>
                <a:cs typeface="Arial"/>
              </a:rPr>
              <a:t>success </a:t>
            </a:r>
            <a:r>
              <a:rPr dirty="0" sz="1150" spc="-60">
                <a:latin typeface="Arial"/>
                <a:cs typeface="Arial"/>
              </a:rPr>
              <a:t>above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95">
                <a:latin typeface="Arial"/>
                <a:cs typeface="Arial"/>
              </a:rPr>
              <a:t>success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entire </a:t>
            </a:r>
            <a:r>
              <a:rPr dirty="0" sz="1150" spc="-50">
                <a:latin typeface="Arial"/>
                <a:cs typeface="Arial"/>
              </a:rPr>
              <a:t>channel,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members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 spc="-50">
                <a:latin typeface="Arial"/>
                <a:cs typeface="Arial"/>
              </a:rPr>
              <a:t>channel </a:t>
            </a:r>
            <a:r>
              <a:rPr dirty="0" sz="1150" spc="-60">
                <a:latin typeface="Arial"/>
                <a:cs typeface="Arial"/>
              </a:rPr>
              <a:t>disagree  </a:t>
            </a:r>
            <a:r>
              <a:rPr dirty="0" sz="1150" spc="-35">
                <a:latin typeface="Arial"/>
                <a:cs typeface="Arial"/>
              </a:rPr>
              <a:t>over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roles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they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should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play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rewards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they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should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receive.</a:t>
            </a:r>
            <a:endParaRPr sz="1150">
              <a:latin typeface="Arial"/>
              <a:cs typeface="Arial"/>
            </a:endParaRPr>
          </a:p>
          <a:p>
            <a:pPr algn="just" marL="240665" marR="5080" indent="-228600">
              <a:lnSpc>
                <a:spcPct val="101699"/>
              </a:lnSpc>
              <a:spcBef>
                <a:spcPts val="5"/>
              </a:spcBef>
              <a:buFont typeface="Wingdings"/>
              <a:buChar char=""/>
              <a:tabLst>
                <a:tab pos="241300" algn="l"/>
              </a:tabLst>
            </a:pPr>
            <a:r>
              <a:rPr dirty="0" sz="1150" spc="-95" b="1">
                <a:latin typeface="Arial"/>
                <a:cs typeface="Arial"/>
              </a:rPr>
              <a:t>Channel Leadership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45">
                <a:latin typeface="Arial"/>
                <a:cs typeface="Arial"/>
              </a:rPr>
              <a:t>occur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channel </a:t>
            </a:r>
            <a:r>
              <a:rPr dirty="0" sz="1150" spc="-40">
                <a:latin typeface="Arial"/>
                <a:cs typeface="Arial"/>
              </a:rPr>
              <a:t>member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most </a:t>
            </a:r>
            <a:r>
              <a:rPr dirty="0" sz="1150" spc="-20">
                <a:latin typeface="Arial"/>
                <a:cs typeface="Arial"/>
              </a:rPr>
              <a:t>powerful in  </a:t>
            </a:r>
            <a:r>
              <a:rPr dirty="0" sz="1150" spc="-30">
                <a:latin typeface="Arial"/>
                <a:cs typeface="Arial"/>
              </a:rPr>
              <a:t>determining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roles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rewards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50">
                <a:latin typeface="Arial"/>
                <a:cs typeface="Arial"/>
              </a:rPr>
              <a:t>members. </a:t>
            </a:r>
            <a:r>
              <a:rPr dirty="0" sz="1150" spc="-55">
                <a:latin typeface="Arial"/>
                <a:cs typeface="Arial"/>
              </a:rPr>
              <a:t>That </a:t>
            </a:r>
            <a:r>
              <a:rPr dirty="0" sz="1150" spc="-40">
                <a:latin typeface="Arial"/>
                <a:cs typeface="Arial"/>
              </a:rPr>
              <a:t>member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75">
                <a:latin typeface="Arial"/>
                <a:cs typeface="Arial"/>
              </a:rPr>
              <a:t>Channel </a:t>
            </a:r>
            <a:r>
              <a:rPr dirty="0" sz="1150" spc="-60">
                <a:latin typeface="Arial"/>
                <a:cs typeface="Arial"/>
              </a:rPr>
              <a:t>Captain. </a:t>
            </a:r>
            <a:r>
              <a:rPr dirty="0" sz="1150" spc="-50">
                <a:latin typeface="Arial"/>
                <a:cs typeface="Arial"/>
              </a:rPr>
              <a:t>Power </a:t>
            </a:r>
            <a:r>
              <a:rPr dirty="0" sz="1150" spc="-60">
                <a:latin typeface="Arial"/>
                <a:cs typeface="Arial"/>
              </a:rPr>
              <a:t>may come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desirability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producer's </a:t>
            </a:r>
            <a:r>
              <a:rPr dirty="0" sz="1150" spc="-25">
                <a:latin typeface="Arial"/>
                <a:cs typeface="Arial"/>
              </a:rPr>
              <a:t>product, </a:t>
            </a:r>
            <a:r>
              <a:rPr dirty="0" sz="1150" spc="-10">
                <a:latin typeface="Arial"/>
                <a:cs typeface="Arial"/>
              </a:rPr>
              <a:t>or  from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large </a:t>
            </a:r>
            <a:r>
              <a:rPr dirty="0" sz="1150" spc="-85">
                <a:latin typeface="Arial"/>
                <a:cs typeface="Arial"/>
              </a:rPr>
              <a:t>sales </a:t>
            </a:r>
            <a:r>
              <a:rPr dirty="0" sz="1150" spc="-45">
                <a:latin typeface="Arial"/>
                <a:cs typeface="Arial"/>
              </a:rPr>
              <a:t>volume generated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wholesaler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retailer.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/>
              <a:buChar char="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50" b="1">
                <a:latin typeface="Arial"/>
                <a:cs typeface="Arial"/>
              </a:rPr>
              <a:t>RETAILING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Retailers </a:t>
            </a:r>
            <a:r>
              <a:rPr dirty="0" sz="1150" spc="-45">
                <a:latin typeface="Arial"/>
                <a:cs typeface="Arial"/>
              </a:rPr>
              <a:t>sell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individuals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50">
                <a:latin typeface="Arial"/>
                <a:cs typeface="Arial"/>
              </a:rPr>
              <a:t>buy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15">
                <a:latin typeface="Arial"/>
                <a:cs typeface="Arial"/>
              </a:rPr>
              <a:t>ultimate </a:t>
            </a:r>
            <a:r>
              <a:rPr dirty="0" sz="1150" spc="-40">
                <a:latin typeface="Arial"/>
                <a:cs typeface="Arial"/>
              </a:rPr>
              <a:t>consumption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visible  </a:t>
            </a:r>
            <a:r>
              <a:rPr dirty="0" sz="1150" spc="-30">
                <a:latin typeface="Arial"/>
                <a:cs typeface="Arial"/>
              </a:rPr>
              <a:t>element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 spc="-50">
                <a:latin typeface="Arial"/>
                <a:cs typeface="Arial"/>
              </a:rPr>
              <a:t>chain. </a:t>
            </a:r>
            <a:r>
              <a:rPr dirty="0" sz="1150" spc="-55">
                <a:latin typeface="Arial"/>
                <a:cs typeface="Arial"/>
              </a:rPr>
              <a:t>Retailers </a:t>
            </a:r>
            <a:r>
              <a:rPr dirty="0" sz="1150" spc="-35">
                <a:latin typeface="Arial"/>
                <a:cs typeface="Arial"/>
              </a:rPr>
              <a:t>represent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end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 spc="-50">
                <a:latin typeface="Arial"/>
                <a:cs typeface="Arial"/>
              </a:rPr>
              <a:t>channel,  </a:t>
            </a:r>
            <a:r>
              <a:rPr dirty="0" sz="1150" spc="-55">
                <a:latin typeface="Arial"/>
                <a:cs typeface="Arial"/>
              </a:rPr>
              <a:t>making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sale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5">
                <a:latin typeface="Arial"/>
                <a:cs typeface="Arial"/>
              </a:rPr>
              <a:t>services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final </a:t>
            </a:r>
            <a:r>
              <a:rPr dirty="0" sz="1150" spc="-60">
                <a:latin typeface="Arial"/>
                <a:cs typeface="Arial"/>
              </a:rPr>
              <a:t>consumers. </a:t>
            </a:r>
            <a:r>
              <a:rPr dirty="0" sz="1150" spc="-70">
                <a:latin typeface="Arial"/>
                <a:cs typeface="Arial"/>
              </a:rPr>
              <a:t>Today’s </a:t>
            </a:r>
            <a:r>
              <a:rPr dirty="0" sz="1150" spc="-15">
                <a:latin typeface="Arial"/>
                <a:cs typeface="Arial"/>
              </a:rPr>
              <a:t>retail </a:t>
            </a:r>
            <a:r>
              <a:rPr dirty="0" sz="1150" spc="-45">
                <a:latin typeface="Arial"/>
                <a:cs typeface="Arial"/>
              </a:rPr>
              <a:t>stores </a:t>
            </a:r>
            <a:r>
              <a:rPr dirty="0" sz="1150" spc="-40">
                <a:latin typeface="Arial"/>
                <a:cs typeface="Arial"/>
              </a:rPr>
              <a:t>include  </a:t>
            </a:r>
            <a:r>
              <a:rPr dirty="0" sz="1150" spc="-25">
                <a:latin typeface="Arial"/>
                <a:cs typeface="Arial"/>
              </a:rPr>
              <a:t>department </a:t>
            </a:r>
            <a:r>
              <a:rPr dirty="0" sz="1150" spc="-45">
                <a:latin typeface="Arial"/>
                <a:cs typeface="Arial"/>
              </a:rPr>
              <a:t>stores,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discount </a:t>
            </a:r>
            <a:r>
              <a:rPr dirty="0" sz="1150" spc="-45">
                <a:latin typeface="Arial"/>
                <a:cs typeface="Arial"/>
              </a:rPr>
              <a:t>stores,  </a:t>
            </a:r>
            <a:r>
              <a:rPr dirty="0" sz="1150" spc="-55">
                <a:latin typeface="Arial"/>
                <a:cs typeface="Arial"/>
              </a:rPr>
              <a:t>warehouse clubs, </a:t>
            </a:r>
            <a:r>
              <a:rPr dirty="0" sz="1150" spc="-40">
                <a:latin typeface="Arial"/>
                <a:cs typeface="Arial"/>
              </a:rPr>
              <a:t>hypermarkets, </a:t>
            </a:r>
            <a:r>
              <a:rPr dirty="0" sz="1150" spc="-25">
                <a:latin typeface="Arial"/>
                <a:cs typeface="Arial"/>
              </a:rPr>
              <a:t>factory outlets,  </a:t>
            </a:r>
            <a:r>
              <a:rPr dirty="0" sz="1150" spc="-45">
                <a:latin typeface="Arial"/>
                <a:cs typeface="Arial"/>
              </a:rPr>
              <a:t>category </a:t>
            </a:r>
            <a:r>
              <a:rPr dirty="0" sz="1150" spc="-35">
                <a:latin typeface="Arial"/>
                <a:cs typeface="Arial"/>
              </a:rPr>
              <a:t>killers, </a:t>
            </a:r>
            <a:r>
              <a:rPr dirty="0" sz="1150" spc="-50">
                <a:latin typeface="Arial"/>
                <a:cs typeface="Arial"/>
              </a:rPr>
              <a:t>supermarkets, </a:t>
            </a:r>
            <a:r>
              <a:rPr dirty="0" sz="1150" spc="-55">
                <a:latin typeface="Arial"/>
                <a:cs typeface="Arial"/>
              </a:rPr>
              <a:t>convenience </a:t>
            </a:r>
            <a:r>
              <a:rPr dirty="0" sz="1150" spc="-45">
                <a:latin typeface="Arial"/>
                <a:cs typeface="Arial"/>
              </a:rPr>
              <a:t>stores,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catalog </a:t>
            </a:r>
            <a:r>
              <a:rPr dirty="0" sz="1150" spc="-45">
                <a:latin typeface="Arial"/>
                <a:cs typeface="Arial"/>
              </a:rPr>
              <a:t>stores. </a:t>
            </a:r>
            <a:r>
              <a:rPr dirty="0" sz="1150" spc="-55">
                <a:latin typeface="Arial"/>
                <a:cs typeface="Arial"/>
              </a:rPr>
              <a:t>Retailers </a:t>
            </a:r>
            <a:r>
              <a:rPr dirty="0" sz="1150" spc="-85">
                <a:latin typeface="Arial"/>
                <a:cs typeface="Arial"/>
              </a:rPr>
              <a:t>save  </a:t>
            </a:r>
            <a:r>
              <a:rPr dirty="0" sz="1150" spc="-65">
                <a:latin typeface="Arial"/>
                <a:cs typeface="Arial"/>
              </a:rPr>
              <a:t>consumers </a:t>
            </a:r>
            <a:r>
              <a:rPr dirty="0" sz="1150" spc="-15">
                <a:latin typeface="Arial"/>
                <a:cs typeface="Arial"/>
              </a:rPr>
              <a:t>time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money.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375">
                <a:latin typeface="Arial"/>
                <a:cs typeface="Arial"/>
              </a:rPr>
              <a:t>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350" spc="-135" b="1">
                <a:latin typeface="Arial"/>
                <a:cs typeface="Arial"/>
              </a:rPr>
              <a:t>Types </a:t>
            </a:r>
            <a:r>
              <a:rPr dirty="0" sz="1350" spc="-60" b="1">
                <a:latin typeface="Arial"/>
                <a:cs typeface="Arial"/>
              </a:rPr>
              <a:t>of </a:t>
            </a:r>
            <a:r>
              <a:rPr dirty="0" sz="1350" spc="-70" b="1">
                <a:latin typeface="Arial"/>
                <a:cs typeface="Arial"/>
              </a:rPr>
              <a:t>Retailer</a:t>
            </a:r>
            <a:r>
              <a:rPr dirty="0" sz="1350" spc="-50" b="1">
                <a:latin typeface="Arial"/>
                <a:cs typeface="Arial"/>
              </a:rPr>
              <a:t> </a:t>
            </a:r>
            <a:r>
              <a:rPr dirty="0" sz="1350" spc="-80" b="1">
                <a:latin typeface="Arial"/>
                <a:cs typeface="Arial"/>
              </a:rPr>
              <a:t>Outlets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 algn="just" lvl="1" marL="1384300" indent="-299720">
              <a:lnSpc>
                <a:spcPct val="100000"/>
              </a:lnSpc>
              <a:spcBef>
                <a:spcPts val="5"/>
              </a:spcBef>
              <a:buSzPct val="85185"/>
              <a:buFont typeface="Arial"/>
              <a:buAutoNum type="romanLcPeriod"/>
              <a:tabLst>
                <a:tab pos="1384935" algn="l"/>
              </a:tabLst>
            </a:pPr>
            <a:r>
              <a:rPr dirty="0" sz="1350" spc="-105" b="1">
                <a:latin typeface="Arial"/>
                <a:cs typeface="Arial"/>
              </a:rPr>
              <a:t>Product </a:t>
            </a:r>
            <a:r>
              <a:rPr dirty="0" sz="1350" spc="-120" b="1">
                <a:latin typeface="Arial"/>
                <a:cs typeface="Arial"/>
              </a:rPr>
              <a:t>Line </a:t>
            </a:r>
            <a:r>
              <a:rPr dirty="0" sz="1350" spc="-45" b="1">
                <a:latin typeface="Arial"/>
                <a:cs typeface="Arial"/>
              </a:rPr>
              <a:t>Retailer</a:t>
            </a:r>
            <a:r>
              <a:rPr dirty="0" sz="1150" spc="-45">
                <a:latin typeface="Arial"/>
                <a:cs typeface="Arial"/>
              </a:rPr>
              <a:t>-retailer </a:t>
            </a:r>
            <a:r>
              <a:rPr dirty="0" sz="1150" spc="-30">
                <a:latin typeface="Arial"/>
                <a:cs typeface="Arial"/>
              </a:rPr>
              <a:t>featuring </a:t>
            </a:r>
            <a:r>
              <a:rPr dirty="0" sz="1150" spc="-40">
                <a:latin typeface="Arial"/>
                <a:cs typeface="Arial"/>
              </a:rPr>
              <a:t>broad </a:t>
            </a:r>
            <a:r>
              <a:rPr dirty="0" sz="1150" spc="-20">
                <a:latin typeface="Arial"/>
                <a:cs typeface="Arial"/>
              </a:rPr>
              <a:t>product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lines.</a:t>
            </a:r>
            <a:endParaRPr sz="1150">
              <a:latin typeface="Arial"/>
              <a:cs typeface="Arial"/>
            </a:endParaRPr>
          </a:p>
          <a:p>
            <a:pPr algn="just" lvl="2" marL="1841500" marR="6350" indent="-228600">
              <a:lnSpc>
                <a:spcPts val="1400"/>
              </a:lnSpc>
              <a:spcBef>
                <a:spcPts val="50"/>
              </a:spcBef>
              <a:buFont typeface="Arial"/>
              <a:buAutoNum type="arabicPeriod"/>
              <a:tabLst>
                <a:tab pos="1842135" algn="l"/>
              </a:tabLst>
            </a:pPr>
            <a:r>
              <a:rPr dirty="0" sz="1150" spc="-60" b="1">
                <a:latin typeface="Arial"/>
                <a:cs typeface="Arial"/>
              </a:rPr>
              <a:t>Department </a:t>
            </a:r>
            <a:r>
              <a:rPr dirty="0" sz="1150" spc="-70" b="1">
                <a:latin typeface="Arial"/>
                <a:cs typeface="Arial"/>
              </a:rPr>
              <a:t>Store</a:t>
            </a:r>
            <a:r>
              <a:rPr dirty="0" sz="1150" spc="-70">
                <a:latin typeface="Arial"/>
                <a:cs typeface="Arial"/>
              </a:rPr>
              <a:t>—large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30">
                <a:latin typeface="Arial"/>
                <a:cs typeface="Arial"/>
              </a:rPr>
              <a:t>line </a:t>
            </a:r>
            <a:r>
              <a:rPr dirty="0" sz="1150" spc="-20">
                <a:latin typeface="Arial"/>
                <a:cs typeface="Arial"/>
              </a:rPr>
              <a:t>retailer </a:t>
            </a:r>
            <a:r>
              <a:rPr dirty="0" sz="1150" spc="-50">
                <a:latin typeface="Arial"/>
                <a:cs typeface="Arial"/>
              </a:rPr>
              <a:t>characterized  by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60">
                <a:latin typeface="Arial"/>
                <a:cs typeface="Arial"/>
              </a:rPr>
              <a:t>specialized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departments.</a:t>
            </a:r>
            <a:endParaRPr sz="1150">
              <a:latin typeface="Arial"/>
              <a:cs typeface="Arial"/>
            </a:endParaRPr>
          </a:p>
          <a:p>
            <a:pPr algn="just" lvl="2" marL="1841500" marR="5715" indent="-228600">
              <a:lnSpc>
                <a:spcPts val="1400"/>
              </a:lnSpc>
              <a:spcBef>
                <a:spcPts val="5"/>
              </a:spcBef>
              <a:buFont typeface="Arial"/>
              <a:buAutoNum type="arabicPeriod"/>
              <a:tabLst>
                <a:tab pos="1842135" algn="l"/>
              </a:tabLst>
            </a:pPr>
            <a:r>
              <a:rPr dirty="0" sz="1150" spc="-75" b="1">
                <a:latin typeface="Arial"/>
                <a:cs typeface="Arial"/>
              </a:rPr>
              <a:t>Supermarket</a:t>
            </a:r>
            <a:r>
              <a:rPr dirty="0" sz="1150" spc="-75">
                <a:latin typeface="Arial"/>
                <a:cs typeface="Arial"/>
              </a:rPr>
              <a:t>—large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30">
                <a:latin typeface="Arial"/>
                <a:cs typeface="Arial"/>
              </a:rPr>
              <a:t>line </a:t>
            </a:r>
            <a:r>
              <a:rPr dirty="0" sz="1150" spc="-20">
                <a:latin typeface="Arial"/>
                <a:cs typeface="Arial"/>
              </a:rPr>
              <a:t>retailer </a:t>
            </a:r>
            <a:r>
              <a:rPr dirty="0" sz="1150" spc="-25">
                <a:latin typeface="Arial"/>
                <a:cs typeface="Arial"/>
              </a:rPr>
              <a:t>offering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variety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20">
                <a:latin typeface="Arial"/>
                <a:cs typeface="Arial"/>
              </a:rPr>
              <a:t>food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food-related </a:t>
            </a:r>
            <a:r>
              <a:rPr dirty="0" sz="1150" spc="-35">
                <a:latin typeface="Arial"/>
                <a:cs typeface="Arial"/>
              </a:rPr>
              <a:t>items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0">
                <a:latin typeface="Arial"/>
                <a:cs typeface="Arial"/>
              </a:rPr>
              <a:t>specialized </a:t>
            </a:r>
            <a:r>
              <a:rPr dirty="0" sz="1150" spc="-35">
                <a:latin typeface="Arial"/>
                <a:cs typeface="Arial"/>
              </a:rPr>
              <a:t>departments. </a:t>
            </a:r>
            <a:r>
              <a:rPr dirty="0" sz="1150" spc="-90">
                <a:latin typeface="Arial"/>
                <a:cs typeface="Arial"/>
              </a:rPr>
              <a:t>Ex.,  </a:t>
            </a:r>
            <a:r>
              <a:rPr dirty="0" sz="1150" spc="-70">
                <a:latin typeface="Arial"/>
                <a:cs typeface="Arial"/>
              </a:rPr>
              <a:t>Safeway, </a:t>
            </a:r>
            <a:r>
              <a:rPr dirty="0" sz="1150" spc="-55">
                <a:latin typeface="Arial"/>
                <a:cs typeface="Arial"/>
              </a:rPr>
              <a:t>Kroger,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 algn="just" lvl="2" marL="1841500" marR="8255" indent="-228600">
              <a:lnSpc>
                <a:spcPts val="1400"/>
              </a:lnSpc>
              <a:spcBef>
                <a:spcPts val="15"/>
              </a:spcBef>
              <a:buFont typeface="Arial"/>
              <a:buAutoNum type="arabicPeriod"/>
              <a:tabLst>
                <a:tab pos="1842135" algn="l"/>
              </a:tabLst>
            </a:pPr>
            <a:r>
              <a:rPr dirty="0" sz="1150" spc="-65" b="1">
                <a:latin typeface="Arial"/>
                <a:cs typeface="Arial"/>
              </a:rPr>
              <a:t>Hypermarket</a:t>
            </a:r>
            <a:r>
              <a:rPr dirty="0" sz="1150" spc="-65">
                <a:latin typeface="Arial"/>
                <a:cs typeface="Arial"/>
              </a:rPr>
              <a:t>—very </a:t>
            </a:r>
            <a:r>
              <a:rPr dirty="0" sz="1150" spc="-45">
                <a:latin typeface="Arial"/>
                <a:cs typeface="Arial"/>
              </a:rPr>
              <a:t>large 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30">
                <a:latin typeface="Arial"/>
                <a:cs typeface="Arial"/>
              </a:rPr>
              <a:t>line </a:t>
            </a:r>
            <a:r>
              <a:rPr dirty="0" sz="1150" spc="-20">
                <a:latin typeface="Arial"/>
                <a:cs typeface="Arial"/>
              </a:rPr>
              <a:t>retailer </a:t>
            </a:r>
            <a:r>
              <a:rPr dirty="0" sz="1150" spc="-45">
                <a:latin typeface="Arial"/>
                <a:cs typeface="Arial"/>
              </a:rPr>
              <a:t>carrying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30">
                <a:latin typeface="Arial"/>
                <a:cs typeface="Arial"/>
              </a:rPr>
              <a:t>wide variety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unrelated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products.</a:t>
            </a:r>
            <a:endParaRPr sz="1150">
              <a:latin typeface="Arial"/>
              <a:cs typeface="Arial"/>
            </a:endParaRPr>
          </a:p>
          <a:p>
            <a:pPr algn="just" lvl="2" marL="1841500" marR="5080" indent="-228600">
              <a:lnSpc>
                <a:spcPts val="1400"/>
              </a:lnSpc>
              <a:spcBef>
                <a:spcPts val="5"/>
              </a:spcBef>
              <a:buFont typeface="Arial"/>
              <a:buAutoNum type="arabicPeriod"/>
              <a:tabLst>
                <a:tab pos="1842135" algn="l"/>
              </a:tabLst>
            </a:pPr>
            <a:r>
              <a:rPr dirty="0" sz="1150" spc="-85" b="1">
                <a:latin typeface="Arial"/>
                <a:cs typeface="Arial"/>
              </a:rPr>
              <a:t>Specialty </a:t>
            </a:r>
            <a:r>
              <a:rPr dirty="0" sz="1150" spc="-80" b="1">
                <a:latin typeface="Arial"/>
                <a:cs typeface="Arial"/>
              </a:rPr>
              <a:t>Stores</a:t>
            </a:r>
            <a:r>
              <a:rPr dirty="0" sz="1150" spc="-80">
                <a:latin typeface="Arial"/>
                <a:cs typeface="Arial"/>
              </a:rPr>
              <a:t>—carry </a:t>
            </a:r>
            <a:r>
              <a:rPr dirty="0" sz="1150" spc="-30">
                <a:latin typeface="Arial"/>
                <a:cs typeface="Arial"/>
              </a:rPr>
              <a:t>only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particular type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good,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65">
                <a:latin typeface="Arial"/>
                <a:cs typeface="Arial"/>
              </a:rPr>
              <a:t>an  </a:t>
            </a:r>
            <a:r>
              <a:rPr dirty="0" sz="1150" spc="-50">
                <a:latin typeface="Arial"/>
                <a:cs typeface="Arial"/>
              </a:rPr>
              <a:t>extensive </a:t>
            </a:r>
            <a:r>
              <a:rPr dirty="0" sz="1150" spc="-40">
                <a:latin typeface="Arial"/>
                <a:cs typeface="Arial"/>
              </a:rPr>
              <a:t>selection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brands, </a:t>
            </a:r>
            <a:r>
              <a:rPr dirty="0" sz="1150" spc="-50">
                <a:latin typeface="Arial"/>
                <a:cs typeface="Arial"/>
              </a:rPr>
              <a:t>styles, </a:t>
            </a:r>
            <a:r>
              <a:rPr dirty="0" sz="1150" spc="-80">
                <a:latin typeface="Arial"/>
                <a:cs typeface="Arial"/>
              </a:rPr>
              <a:t>sizes, </a:t>
            </a:r>
            <a:r>
              <a:rPr dirty="0" sz="1150" spc="-50">
                <a:latin typeface="Arial"/>
                <a:cs typeface="Arial"/>
              </a:rPr>
              <a:t>models,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2" y="892559"/>
            <a:ext cx="5514340" cy="795845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841500" marR="5715">
              <a:lnSpc>
                <a:spcPct val="101699"/>
              </a:lnSpc>
              <a:spcBef>
                <a:spcPts val="75"/>
              </a:spcBef>
            </a:pPr>
            <a:r>
              <a:rPr dirty="0" sz="1150" spc="-55">
                <a:latin typeface="Arial"/>
                <a:cs typeface="Arial"/>
              </a:rPr>
              <a:t>prices </a:t>
            </a:r>
            <a:r>
              <a:rPr dirty="0" sz="1150" spc="-5">
                <a:latin typeface="Arial"/>
                <a:cs typeface="Arial"/>
              </a:rPr>
              <a:t>within </a:t>
            </a:r>
            <a:r>
              <a:rPr dirty="0" sz="1150" spc="-75">
                <a:latin typeface="Arial"/>
                <a:cs typeface="Arial"/>
              </a:rPr>
              <a:t>each </a:t>
            </a:r>
            <a:r>
              <a:rPr dirty="0" sz="1150" spc="-30">
                <a:latin typeface="Arial"/>
                <a:cs typeface="Arial"/>
              </a:rPr>
              <a:t>line </a:t>
            </a:r>
            <a:r>
              <a:rPr dirty="0" sz="1150" spc="-55">
                <a:latin typeface="Arial"/>
                <a:cs typeface="Arial"/>
              </a:rPr>
              <a:t>stocked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35">
                <a:latin typeface="Arial"/>
                <a:cs typeface="Arial"/>
              </a:rPr>
              <a:t>children’s clothing,  </a:t>
            </a:r>
            <a:r>
              <a:rPr dirty="0" sz="1150" spc="-55">
                <a:latin typeface="Arial"/>
                <a:cs typeface="Arial"/>
              </a:rPr>
              <a:t>books,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sporting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goods.</a:t>
            </a:r>
            <a:endParaRPr sz="1150">
              <a:latin typeface="Arial"/>
              <a:cs typeface="Arial"/>
            </a:endParaRPr>
          </a:p>
          <a:p>
            <a:pPr algn="just" marL="1841500" marR="6350" indent="-228600">
              <a:lnSpc>
                <a:spcPct val="101699"/>
              </a:lnSpc>
              <a:spcBef>
                <a:spcPts val="5"/>
              </a:spcBef>
              <a:buFont typeface="Arial"/>
              <a:buAutoNum type="arabicPeriod" startAt="5"/>
              <a:tabLst>
                <a:tab pos="1841500" algn="l"/>
              </a:tabLst>
            </a:pPr>
            <a:r>
              <a:rPr dirty="0" sz="1150" spc="-95" b="1">
                <a:latin typeface="Arial"/>
                <a:cs typeface="Arial"/>
              </a:rPr>
              <a:t>Category </a:t>
            </a:r>
            <a:r>
              <a:rPr dirty="0" sz="1150" spc="-70" b="1">
                <a:latin typeface="Arial"/>
                <a:cs typeface="Arial"/>
              </a:rPr>
              <a:t>killers </a:t>
            </a:r>
            <a:r>
              <a:rPr dirty="0" sz="1150" spc="-50">
                <a:latin typeface="Arial"/>
                <a:cs typeface="Arial"/>
              </a:rPr>
              <a:t>are superstores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90">
                <a:latin typeface="Arial"/>
                <a:cs typeface="Arial"/>
              </a:rPr>
              <a:t>Toys </a:t>
            </a:r>
            <a:r>
              <a:rPr dirty="0" sz="1150" spc="-210">
                <a:latin typeface="Arial"/>
                <a:cs typeface="Arial"/>
              </a:rPr>
              <a:t>R </a:t>
            </a:r>
            <a:r>
              <a:rPr dirty="0" sz="1150" spc="-110">
                <a:latin typeface="Arial"/>
                <a:cs typeface="Arial"/>
              </a:rPr>
              <a:t>Us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0">
                <a:latin typeface="Arial"/>
                <a:cs typeface="Arial"/>
              </a:rPr>
              <a:t>Office  Depot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0">
                <a:latin typeface="Arial"/>
                <a:cs typeface="Arial"/>
              </a:rPr>
              <a:t>dominate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45">
                <a:latin typeface="Arial"/>
                <a:cs typeface="Arial"/>
              </a:rPr>
              <a:t>stocking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55">
                <a:latin typeface="Arial"/>
                <a:cs typeface="Arial"/>
              </a:rPr>
              <a:t>conceivable  </a:t>
            </a:r>
            <a:r>
              <a:rPr dirty="0" sz="1150" spc="-30">
                <a:latin typeface="Arial"/>
                <a:cs typeface="Arial"/>
              </a:rPr>
              <a:t>variety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particular </a:t>
            </a:r>
            <a:r>
              <a:rPr dirty="0" sz="1150" spc="-30">
                <a:latin typeface="Arial"/>
                <a:cs typeface="Arial"/>
              </a:rPr>
              <a:t>line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merchandise.</a:t>
            </a:r>
            <a:endParaRPr sz="1150">
              <a:latin typeface="Arial"/>
              <a:cs typeface="Arial"/>
            </a:endParaRPr>
          </a:p>
          <a:p>
            <a:pPr algn="just" marL="1841500" marR="7620" indent="-228600">
              <a:lnSpc>
                <a:spcPct val="101699"/>
              </a:lnSpc>
              <a:buFont typeface="Arial"/>
              <a:buAutoNum type="arabicPeriod" startAt="5"/>
              <a:tabLst>
                <a:tab pos="1841500" algn="l"/>
              </a:tabLst>
            </a:pPr>
            <a:r>
              <a:rPr dirty="0" sz="1150" spc="-100" b="1">
                <a:latin typeface="Arial"/>
                <a:cs typeface="Arial"/>
              </a:rPr>
              <a:t>Scrambled </a:t>
            </a:r>
            <a:r>
              <a:rPr dirty="0" sz="1150" spc="-70" b="1">
                <a:latin typeface="Arial"/>
                <a:cs typeface="Arial"/>
              </a:rPr>
              <a:t>merchandising</a:t>
            </a:r>
            <a:r>
              <a:rPr dirty="0" sz="1150" spc="-70">
                <a:latin typeface="Arial"/>
                <a:cs typeface="Arial"/>
              </a:rPr>
              <a:t>—retail </a:t>
            </a:r>
            <a:r>
              <a:rPr dirty="0" sz="1150" spc="-40">
                <a:latin typeface="Arial"/>
                <a:cs typeface="Arial"/>
              </a:rPr>
              <a:t>practice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carrying </a:t>
            </a:r>
            <a:r>
              <a:rPr dirty="0" sz="1150" spc="-60">
                <a:latin typeface="Arial"/>
                <a:cs typeface="Arial"/>
              </a:rPr>
              <a:t>any 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expected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sell </a:t>
            </a:r>
            <a:r>
              <a:rPr dirty="0" sz="1150" spc="-15">
                <a:latin typeface="Arial"/>
                <a:cs typeface="Arial"/>
              </a:rPr>
              <a:t>well </a:t>
            </a:r>
            <a:r>
              <a:rPr dirty="0" sz="1150" spc="-60">
                <a:latin typeface="Arial"/>
                <a:cs typeface="Arial"/>
              </a:rPr>
              <a:t>regardless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store's  </a:t>
            </a:r>
            <a:r>
              <a:rPr dirty="0" sz="1150" spc="-30">
                <a:latin typeface="Arial"/>
                <a:cs typeface="Arial"/>
              </a:rPr>
              <a:t>original </a:t>
            </a:r>
            <a:r>
              <a:rPr dirty="0" sz="1150" spc="-25">
                <a:latin typeface="Arial"/>
                <a:cs typeface="Arial"/>
              </a:rPr>
              <a:t>product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offering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1383665" marR="215900" indent="-332740">
              <a:lnSpc>
                <a:spcPct val="101200"/>
              </a:lnSpc>
              <a:buSzPct val="85185"/>
              <a:buFont typeface="Arial"/>
              <a:buAutoNum type="romanLcPeriod" startAt="2"/>
              <a:tabLst>
                <a:tab pos="1383665" algn="l"/>
                <a:tab pos="1384300" algn="l"/>
              </a:tabLst>
            </a:pPr>
            <a:r>
              <a:rPr dirty="0" sz="1350" spc="-114" b="1">
                <a:latin typeface="Arial"/>
                <a:cs typeface="Arial"/>
              </a:rPr>
              <a:t>Bargain </a:t>
            </a:r>
            <a:r>
              <a:rPr dirty="0" sz="1350" spc="-50" b="1">
                <a:latin typeface="Arial"/>
                <a:cs typeface="Arial"/>
              </a:rPr>
              <a:t>Retailer</a:t>
            </a:r>
            <a:r>
              <a:rPr dirty="0" sz="1350" spc="-50">
                <a:latin typeface="Arial"/>
                <a:cs typeface="Arial"/>
              </a:rPr>
              <a:t>—</a:t>
            </a:r>
            <a:r>
              <a:rPr dirty="0" sz="1150" spc="-50">
                <a:latin typeface="Arial"/>
                <a:cs typeface="Arial"/>
              </a:rPr>
              <a:t>retailer </a:t>
            </a:r>
            <a:r>
              <a:rPr dirty="0" sz="1150" spc="-45">
                <a:latin typeface="Arial"/>
                <a:cs typeface="Arial"/>
              </a:rPr>
              <a:t>carrying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wide </a:t>
            </a:r>
            <a:r>
              <a:rPr dirty="0" sz="1150" spc="-60">
                <a:latin typeface="Arial"/>
                <a:cs typeface="Arial"/>
              </a:rPr>
              <a:t>range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15">
                <a:latin typeface="Arial"/>
                <a:cs typeface="Arial"/>
              </a:rPr>
              <a:t>at  </a:t>
            </a:r>
            <a:r>
              <a:rPr dirty="0" sz="1150" spc="-50">
                <a:latin typeface="Arial"/>
                <a:cs typeface="Arial"/>
              </a:rPr>
              <a:t>bargain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prices.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romanLcPeriod" startAt="2"/>
            </a:pPr>
            <a:endParaRPr sz="1200">
              <a:latin typeface="Arial"/>
              <a:cs typeface="Arial"/>
            </a:endParaRPr>
          </a:p>
          <a:p>
            <a:pPr algn="just" lvl="1" marL="1840864" marR="5080" indent="-228600">
              <a:lnSpc>
                <a:spcPct val="101699"/>
              </a:lnSpc>
              <a:buFont typeface="Arial"/>
              <a:buAutoNum type="arabicPeriod"/>
              <a:tabLst>
                <a:tab pos="1841500" algn="l"/>
              </a:tabLst>
            </a:pPr>
            <a:r>
              <a:rPr dirty="0" sz="1150" spc="-95" b="1">
                <a:latin typeface="Arial"/>
                <a:cs typeface="Arial"/>
              </a:rPr>
              <a:t>Discount </a:t>
            </a:r>
            <a:r>
              <a:rPr dirty="0" sz="1150" spc="-80" b="1">
                <a:latin typeface="Arial"/>
                <a:cs typeface="Arial"/>
              </a:rPr>
              <a:t>House</a:t>
            </a:r>
            <a:r>
              <a:rPr dirty="0" sz="1150" spc="-80">
                <a:latin typeface="Arial"/>
                <a:cs typeface="Arial"/>
              </a:rPr>
              <a:t>—bargain </a:t>
            </a:r>
            <a:r>
              <a:rPr dirty="0" sz="1150" spc="-20">
                <a:latin typeface="Arial"/>
                <a:cs typeface="Arial"/>
              </a:rPr>
              <a:t>retailer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5">
                <a:latin typeface="Arial"/>
                <a:cs typeface="Arial"/>
              </a:rPr>
              <a:t>generates </a:t>
            </a:r>
            <a:r>
              <a:rPr dirty="0" sz="1150" spc="-50">
                <a:latin typeface="Arial"/>
                <a:cs typeface="Arial"/>
              </a:rPr>
              <a:t>large </a:t>
            </a:r>
            <a:r>
              <a:rPr dirty="0" sz="1150" spc="-80">
                <a:latin typeface="Arial"/>
                <a:cs typeface="Arial"/>
              </a:rPr>
              <a:t>sales  </a:t>
            </a:r>
            <a:r>
              <a:rPr dirty="0" sz="1150" spc="-40">
                <a:latin typeface="Arial"/>
                <a:cs typeface="Arial"/>
              </a:rPr>
              <a:t>volume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5">
                <a:latin typeface="Arial"/>
                <a:cs typeface="Arial"/>
              </a:rPr>
              <a:t>offering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40">
                <a:latin typeface="Arial"/>
                <a:cs typeface="Arial"/>
              </a:rPr>
              <a:t>substantial price </a:t>
            </a:r>
            <a:r>
              <a:rPr dirty="0" sz="1150" spc="-35">
                <a:latin typeface="Arial"/>
                <a:cs typeface="Arial"/>
              </a:rPr>
              <a:t>reductions. </a:t>
            </a:r>
            <a:r>
              <a:rPr dirty="0" sz="1150" spc="-105">
                <a:latin typeface="Arial"/>
                <a:cs typeface="Arial"/>
              </a:rPr>
              <a:t>K-  </a:t>
            </a:r>
            <a:r>
              <a:rPr dirty="0" sz="1150" spc="-5">
                <a:latin typeface="Arial"/>
                <a:cs typeface="Arial"/>
              </a:rPr>
              <a:t>Mart,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Wal-mart</a:t>
            </a:r>
            <a:endParaRPr sz="1150">
              <a:latin typeface="Arial"/>
              <a:cs typeface="Arial"/>
            </a:endParaRPr>
          </a:p>
          <a:p>
            <a:pPr algn="just" lvl="1" marL="1840864" marR="6350" indent="-228600">
              <a:lnSpc>
                <a:spcPct val="101699"/>
              </a:lnSpc>
              <a:buFont typeface="Arial"/>
              <a:buAutoNum type="arabicPeriod"/>
              <a:tabLst>
                <a:tab pos="1841500" algn="l"/>
              </a:tabLst>
            </a:pPr>
            <a:r>
              <a:rPr dirty="0" sz="1150" spc="-75" b="1">
                <a:latin typeface="Arial"/>
                <a:cs typeface="Arial"/>
              </a:rPr>
              <a:t>Off-Price </a:t>
            </a:r>
            <a:r>
              <a:rPr dirty="0" sz="1150" spc="-70" b="1">
                <a:latin typeface="Arial"/>
                <a:cs typeface="Arial"/>
              </a:rPr>
              <a:t>Store</a:t>
            </a:r>
            <a:r>
              <a:rPr dirty="0" sz="1150" spc="-70">
                <a:latin typeface="Arial"/>
                <a:cs typeface="Arial"/>
              </a:rPr>
              <a:t>—bargain </a:t>
            </a:r>
            <a:r>
              <a:rPr dirty="0" sz="1150" spc="-20">
                <a:latin typeface="Arial"/>
                <a:cs typeface="Arial"/>
              </a:rPr>
              <a:t>retailer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5">
                <a:latin typeface="Arial"/>
                <a:cs typeface="Arial"/>
              </a:rPr>
              <a:t>buys </a:t>
            </a:r>
            <a:r>
              <a:rPr dirty="0" sz="1150" spc="-95">
                <a:latin typeface="Arial"/>
                <a:cs typeface="Arial"/>
              </a:rPr>
              <a:t>excess </a:t>
            </a:r>
            <a:r>
              <a:rPr dirty="0" sz="1150" spc="-35">
                <a:latin typeface="Arial"/>
                <a:cs typeface="Arial"/>
              </a:rPr>
              <a:t>inventories 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35">
                <a:latin typeface="Arial"/>
                <a:cs typeface="Arial"/>
              </a:rPr>
              <a:t>high-quality </a:t>
            </a:r>
            <a:r>
              <a:rPr dirty="0" sz="1150" spc="-40">
                <a:latin typeface="Arial"/>
                <a:cs typeface="Arial"/>
              </a:rPr>
              <a:t>manufacturers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sells </a:t>
            </a:r>
            <a:r>
              <a:rPr dirty="0" sz="1150" spc="-25">
                <a:latin typeface="Arial"/>
                <a:cs typeface="Arial"/>
              </a:rPr>
              <a:t>them </a:t>
            </a:r>
            <a:r>
              <a:rPr dirty="0" sz="1150" spc="-15">
                <a:latin typeface="Arial"/>
                <a:cs typeface="Arial"/>
              </a:rPr>
              <a:t>at  </a:t>
            </a:r>
            <a:r>
              <a:rPr dirty="0" sz="1150" spc="-40">
                <a:latin typeface="Arial"/>
                <a:cs typeface="Arial"/>
              </a:rPr>
              <a:t>discounted </a:t>
            </a:r>
            <a:r>
              <a:rPr dirty="0" sz="1150" spc="-50">
                <a:latin typeface="Arial"/>
                <a:cs typeface="Arial"/>
              </a:rPr>
              <a:t>prices. </a:t>
            </a:r>
            <a:r>
              <a:rPr dirty="0" sz="1150" spc="-45">
                <a:latin typeface="Arial"/>
                <a:cs typeface="Arial"/>
              </a:rPr>
              <a:t>Marshall's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most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successful.</a:t>
            </a:r>
            <a:endParaRPr sz="1150">
              <a:latin typeface="Arial"/>
              <a:cs typeface="Arial"/>
            </a:endParaRPr>
          </a:p>
          <a:p>
            <a:pPr algn="just" lvl="1" marL="1840864" marR="6350" indent="-228600">
              <a:lnSpc>
                <a:spcPct val="101699"/>
              </a:lnSpc>
              <a:buFont typeface="Arial"/>
              <a:buAutoNum type="arabicPeriod"/>
              <a:tabLst>
                <a:tab pos="1841500" algn="l"/>
              </a:tabLst>
            </a:pPr>
            <a:r>
              <a:rPr dirty="0" sz="1150" spc="-95" b="1">
                <a:latin typeface="Arial"/>
                <a:cs typeface="Arial"/>
              </a:rPr>
              <a:t>Catalog </a:t>
            </a:r>
            <a:r>
              <a:rPr dirty="0" sz="1150" spc="-75" b="1">
                <a:latin typeface="Arial"/>
                <a:cs typeface="Arial"/>
              </a:rPr>
              <a:t>Showroom</a:t>
            </a:r>
            <a:r>
              <a:rPr dirty="0" sz="1150" spc="-75">
                <a:latin typeface="Arial"/>
                <a:cs typeface="Arial"/>
              </a:rPr>
              <a:t>—bargain </a:t>
            </a:r>
            <a:r>
              <a:rPr dirty="0" sz="1150" spc="-20">
                <a:latin typeface="Arial"/>
                <a:cs typeface="Arial"/>
              </a:rPr>
              <a:t>retailer </a:t>
            </a:r>
            <a:r>
              <a:rPr dirty="0" sz="1150" spc="-1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0">
                <a:latin typeface="Arial"/>
                <a:cs typeface="Arial"/>
              </a:rPr>
              <a:t>customers  </a:t>
            </a:r>
            <a:r>
              <a:rPr dirty="0" sz="1150" spc="-60">
                <a:latin typeface="Arial"/>
                <a:cs typeface="Arial"/>
              </a:rPr>
              <a:t>place </a:t>
            </a:r>
            <a:r>
              <a:rPr dirty="0" sz="1150" spc="-40">
                <a:latin typeface="Arial"/>
                <a:cs typeface="Arial"/>
              </a:rPr>
              <a:t>orders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catalog </a:t>
            </a:r>
            <a:r>
              <a:rPr dirty="0" sz="1150" spc="-35">
                <a:latin typeface="Arial"/>
                <a:cs typeface="Arial"/>
              </a:rPr>
              <a:t>items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50">
                <a:latin typeface="Arial"/>
                <a:cs typeface="Arial"/>
              </a:rPr>
              <a:t>picked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50">
                <a:latin typeface="Arial"/>
                <a:cs typeface="Arial"/>
              </a:rPr>
              <a:t>on-premises  </a:t>
            </a:r>
            <a:r>
              <a:rPr dirty="0" sz="1150" spc="-55">
                <a:latin typeface="Arial"/>
                <a:cs typeface="Arial"/>
              </a:rPr>
              <a:t>warehouses.</a:t>
            </a:r>
            <a:endParaRPr sz="1150">
              <a:latin typeface="Arial"/>
              <a:cs typeface="Arial"/>
            </a:endParaRPr>
          </a:p>
          <a:p>
            <a:pPr algn="just" lvl="1" marL="1840864" marR="8255" indent="-228600">
              <a:lnSpc>
                <a:spcPct val="101699"/>
              </a:lnSpc>
              <a:buFont typeface="Arial"/>
              <a:buAutoNum type="arabicPeriod"/>
              <a:tabLst>
                <a:tab pos="1841500" algn="l"/>
              </a:tabLst>
            </a:pPr>
            <a:r>
              <a:rPr dirty="0" sz="1150" spc="-90" b="1">
                <a:latin typeface="Arial"/>
                <a:cs typeface="Arial"/>
              </a:rPr>
              <a:t>Factory </a:t>
            </a:r>
            <a:r>
              <a:rPr dirty="0" sz="1150" spc="-55" b="1">
                <a:latin typeface="Arial"/>
                <a:cs typeface="Arial"/>
              </a:rPr>
              <a:t>Outlet</a:t>
            </a:r>
            <a:r>
              <a:rPr dirty="0" sz="1150" spc="-55">
                <a:latin typeface="Arial"/>
                <a:cs typeface="Arial"/>
              </a:rPr>
              <a:t>—bargain </a:t>
            </a:r>
            <a:r>
              <a:rPr dirty="0" sz="1150" spc="-15">
                <a:latin typeface="Arial"/>
                <a:cs typeface="Arial"/>
              </a:rPr>
              <a:t>retailer </a:t>
            </a:r>
            <a:r>
              <a:rPr dirty="0" sz="1150" spc="-40">
                <a:latin typeface="Arial"/>
                <a:cs typeface="Arial"/>
              </a:rPr>
              <a:t>owned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manufacturer  </a:t>
            </a:r>
            <a:r>
              <a:rPr dirty="0" sz="1150" spc="-55">
                <a:latin typeface="Arial"/>
                <a:cs typeface="Arial"/>
              </a:rPr>
              <a:t>whose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sells.</a:t>
            </a:r>
            <a:endParaRPr sz="1150">
              <a:latin typeface="Arial"/>
              <a:cs typeface="Arial"/>
            </a:endParaRPr>
          </a:p>
          <a:p>
            <a:pPr algn="just" lvl="1" marL="1840864" marR="5715" indent="-228600">
              <a:lnSpc>
                <a:spcPct val="101699"/>
              </a:lnSpc>
              <a:spcBef>
                <a:spcPts val="5"/>
              </a:spcBef>
              <a:buFont typeface="Arial"/>
              <a:buAutoNum type="arabicPeriod"/>
              <a:tabLst>
                <a:tab pos="1841500" algn="l"/>
              </a:tabLst>
            </a:pPr>
            <a:r>
              <a:rPr dirty="0" sz="1150" spc="-80" b="1">
                <a:latin typeface="Arial"/>
                <a:cs typeface="Arial"/>
              </a:rPr>
              <a:t>Warehouse </a:t>
            </a:r>
            <a:r>
              <a:rPr dirty="0" sz="1150" spc="-110" b="1">
                <a:latin typeface="Arial"/>
                <a:cs typeface="Arial"/>
              </a:rPr>
              <a:t>Club </a:t>
            </a:r>
            <a:r>
              <a:rPr dirty="0" sz="1150" spc="-20">
                <a:latin typeface="Arial"/>
                <a:cs typeface="Arial"/>
              </a:rPr>
              <a:t>(or </a:t>
            </a:r>
            <a:r>
              <a:rPr dirty="0" sz="1150" spc="-55">
                <a:latin typeface="Arial"/>
                <a:cs typeface="Arial"/>
              </a:rPr>
              <a:t>Wholesale </a:t>
            </a:r>
            <a:r>
              <a:rPr dirty="0" sz="1150" spc="-70">
                <a:latin typeface="Arial"/>
                <a:cs typeface="Arial"/>
              </a:rPr>
              <a:t>Club) </a:t>
            </a:r>
            <a:r>
              <a:rPr dirty="0" sz="1150" spc="-55">
                <a:latin typeface="Arial"/>
                <a:cs typeface="Arial"/>
              </a:rPr>
              <a:t>—bargain </a:t>
            </a:r>
            <a:r>
              <a:rPr dirty="0" sz="1150" spc="-20">
                <a:latin typeface="Arial"/>
                <a:cs typeface="Arial"/>
              </a:rPr>
              <a:t>retailer  </a:t>
            </a:r>
            <a:r>
              <a:rPr dirty="0" sz="1150" spc="-25">
                <a:latin typeface="Arial"/>
                <a:cs typeface="Arial"/>
              </a:rPr>
              <a:t>offering </a:t>
            </a:r>
            <a:r>
              <a:rPr dirty="0" sz="1150" spc="-50">
                <a:latin typeface="Arial"/>
                <a:cs typeface="Arial"/>
              </a:rPr>
              <a:t>large discounts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50">
                <a:latin typeface="Arial"/>
                <a:cs typeface="Arial"/>
              </a:rPr>
              <a:t>brand-name </a:t>
            </a:r>
            <a:r>
              <a:rPr dirty="0" sz="1150" spc="-55">
                <a:latin typeface="Arial"/>
                <a:cs typeface="Arial"/>
              </a:rPr>
              <a:t>merchandise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45">
                <a:latin typeface="Arial"/>
                <a:cs typeface="Arial"/>
              </a:rPr>
              <a:t>paid </a:t>
            </a:r>
            <a:r>
              <a:rPr dirty="0" sz="1150" spc="-50">
                <a:latin typeface="Arial"/>
                <a:cs typeface="Arial"/>
              </a:rPr>
              <a:t>annual </a:t>
            </a:r>
            <a:r>
              <a:rPr dirty="0" sz="1150" spc="-45">
                <a:latin typeface="Arial"/>
                <a:cs typeface="Arial"/>
              </a:rPr>
              <a:t>membership </a:t>
            </a:r>
            <a:r>
              <a:rPr dirty="0" sz="1150" spc="-55">
                <a:latin typeface="Arial"/>
                <a:cs typeface="Arial"/>
              </a:rPr>
              <a:t>fees. </a:t>
            </a:r>
            <a:r>
              <a:rPr dirty="0" sz="1150" spc="-85">
                <a:latin typeface="Arial"/>
                <a:cs typeface="Arial"/>
              </a:rPr>
              <a:t>Ex., </a:t>
            </a:r>
            <a:r>
              <a:rPr dirty="0" sz="1150" spc="-65">
                <a:latin typeface="Arial"/>
                <a:cs typeface="Arial"/>
              </a:rPr>
              <a:t>Price  </a:t>
            </a:r>
            <a:r>
              <a:rPr dirty="0" sz="1150" spc="-70">
                <a:latin typeface="Arial"/>
                <a:cs typeface="Arial"/>
              </a:rPr>
              <a:t>Club,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0">
                <a:latin typeface="Arial"/>
                <a:cs typeface="Arial"/>
              </a:rPr>
              <a:t>merged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30">
                <a:latin typeface="Arial"/>
                <a:cs typeface="Arial"/>
              </a:rPr>
              <a:t>rival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Costco.</a:t>
            </a:r>
            <a:endParaRPr sz="1150">
              <a:latin typeface="Arial"/>
              <a:cs typeface="Arial"/>
            </a:endParaRPr>
          </a:p>
          <a:p>
            <a:pPr algn="just" lvl="1" marL="1840864" marR="7620" indent="-228600">
              <a:lnSpc>
                <a:spcPct val="101699"/>
              </a:lnSpc>
              <a:buFont typeface="Arial"/>
              <a:buAutoNum type="arabicPeriod"/>
              <a:tabLst>
                <a:tab pos="1841500" algn="l"/>
              </a:tabLst>
            </a:pPr>
            <a:r>
              <a:rPr dirty="0" sz="1150" spc="-95" b="1">
                <a:latin typeface="Arial"/>
                <a:cs typeface="Arial"/>
              </a:rPr>
              <a:t>Convenience </a:t>
            </a:r>
            <a:r>
              <a:rPr dirty="0" sz="1150" spc="-50" b="1">
                <a:latin typeface="Arial"/>
                <a:cs typeface="Arial"/>
              </a:rPr>
              <a:t>Store</a:t>
            </a:r>
            <a:r>
              <a:rPr dirty="0" sz="1150" spc="-50">
                <a:latin typeface="Arial"/>
                <a:cs typeface="Arial"/>
              </a:rPr>
              <a:t>—retail </a:t>
            </a:r>
            <a:r>
              <a:rPr dirty="0" sz="1150" spc="-30">
                <a:latin typeface="Arial"/>
                <a:cs typeface="Arial"/>
              </a:rPr>
              <a:t>store </a:t>
            </a:r>
            <a:r>
              <a:rPr dirty="0" sz="1150" spc="-25">
                <a:latin typeface="Arial"/>
                <a:cs typeface="Arial"/>
              </a:rPr>
              <a:t>offering </a:t>
            </a:r>
            <a:r>
              <a:rPr dirty="0" sz="1150" spc="-85">
                <a:latin typeface="Arial"/>
                <a:cs typeface="Arial"/>
              </a:rPr>
              <a:t>easy </a:t>
            </a:r>
            <a:r>
              <a:rPr dirty="0" sz="1150" spc="-50">
                <a:latin typeface="Arial"/>
                <a:cs typeface="Arial"/>
              </a:rPr>
              <a:t>accessibility,  </a:t>
            </a:r>
            <a:r>
              <a:rPr dirty="0" sz="1150" spc="-45">
                <a:latin typeface="Arial"/>
                <a:cs typeface="Arial"/>
              </a:rPr>
              <a:t>extended hours,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fast </a:t>
            </a:r>
            <a:r>
              <a:rPr dirty="0" sz="1150" spc="-55">
                <a:latin typeface="Arial"/>
                <a:cs typeface="Arial"/>
              </a:rPr>
              <a:t>service. </a:t>
            </a:r>
            <a:r>
              <a:rPr dirty="0" sz="1150" spc="-110">
                <a:latin typeface="Arial"/>
                <a:cs typeface="Arial"/>
              </a:rPr>
              <a:t>Ex. </a:t>
            </a:r>
            <a:r>
              <a:rPr dirty="0" sz="1150" spc="-70">
                <a:latin typeface="Arial"/>
                <a:cs typeface="Arial"/>
              </a:rPr>
              <a:t>7-Eleven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Circle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00">
                <a:latin typeface="Arial"/>
                <a:cs typeface="Arial"/>
              </a:rPr>
              <a:t>K.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550" spc="-215" b="1">
                <a:latin typeface="Arial"/>
                <a:cs typeface="Arial"/>
              </a:rPr>
              <a:t>PHYSICAL</a:t>
            </a:r>
            <a:r>
              <a:rPr dirty="0" sz="1550" spc="-70" b="1">
                <a:latin typeface="Arial"/>
                <a:cs typeface="Arial"/>
              </a:rPr>
              <a:t> </a:t>
            </a:r>
            <a:r>
              <a:rPr dirty="0" sz="1550" spc="-150" b="1">
                <a:latin typeface="Arial"/>
                <a:cs typeface="Arial"/>
              </a:rPr>
              <a:t>DISTRIBUTION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70">
                <a:latin typeface="Arial"/>
                <a:cs typeface="Arial"/>
              </a:rPr>
              <a:t>Physical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 spc="-80">
                <a:latin typeface="Arial"/>
                <a:cs typeface="Arial"/>
              </a:rPr>
              <a:t>encompasses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35">
                <a:latin typeface="Arial"/>
                <a:cs typeface="Arial"/>
              </a:rPr>
              <a:t>activities </a:t>
            </a:r>
            <a:r>
              <a:rPr dirty="0" sz="1150" spc="-30">
                <a:latin typeface="Arial"/>
                <a:cs typeface="Arial"/>
              </a:rPr>
              <a:t>required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move </a:t>
            </a:r>
            <a:r>
              <a:rPr dirty="0" sz="1150" spc="-35">
                <a:latin typeface="Arial"/>
                <a:cs typeface="Arial"/>
              </a:rPr>
              <a:t>finished products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35">
                <a:latin typeface="Arial"/>
                <a:cs typeface="Arial"/>
              </a:rPr>
              <a:t>producer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consumer.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complex </a:t>
            </a:r>
            <a:r>
              <a:rPr dirty="0" sz="1150" spc="-40">
                <a:latin typeface="Arial"/>
                <a:cs typeface="Arial"/>
              </a:rPr>
              <a:t>strategic </a:t>
            </a:r>
            <a:r>
              <a:rPr dirty="0" sz="1150" spc="-20">
                <a:latin typeface="Arial"/>
                <a:cs typeface="Arial"/>
              </a:rPr>
              <a:t>activity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25">
                <a:latin typeface="Arial"/>
                <a:cs typeface="Arial"/>
              </a:rPr>
              <a:t>trade-offs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5">
                <a:latin typeface="Arial"/>
                <a:cs typeface="Arial"/>
              </a:rPr>
              <a:t>affect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profits.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60">
                <a:latin typeface="Arial"/>
                <a:cs typeface="Arial"/>
              </a:rPr>
              <a:t>Technology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physical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 spc="-70">
                <a:latin typeface="Arial"/>
                <a:cs typeface="Arial"/>
              </a:rPr>
              <a:t>systems </a:t>
            </a:r>
            <a:r>
              <a:rPr dirty="0" sz="1150" spc="-30">
                <a:latin typeface="Arial"/>
                <a:cs typeface="Arial"/>
              </a:rPr>
              <a:t>today </a:t>
            </a:r>
            <a:r>
              <a:rPr dirty="0" sz="1150" spc="-50">
                <a:latin typeface="Arial"/>
                <a:cs typeface="Arial"/>
              </a:rPr>
              <a:t>includes </a:t>
            </a:r>
            <a:r>
              <a:rPr dirty="0" sz="1150" spc="-25">
                <a:latin typeface="Arial"/>
                <a:cs typeface="Arial"/>
              </a:rPr>
              <a:t>satellite </a:t>
            </a:r>
            <a:r>
              <a:rPr dirty="0" sz="1150" spc="-40">
                <a:latin typeface="Arial"/>
                <a:cs typeface="Arial"/>
              </a:rPr>
              <a:t>navigation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35">
                <a:latin typeface="Arial"/>
                <a:cs typeface="Arial"/>
              </a:rPr>
              <a:t>communication, </a:t>
            </a:r>
            <a:r>
              <a:rPr dirty="0" sz="1150" spc="-30">
                <a:latin typeface="Arial"/>
                <a:cs typeface="Arial"/>
              </a:rPr>
              <a:t>robots, </a:t>
            </a:r>
            <a:r>
              <a:rPr dirty="0" sz="1150" spc="-55">
                <a:latin typeface="Arial"/>
                <a:cs typeface="Arial"/>
              </a:rPr>
              <a:t>machine </a:t>
            </a:r>
            <a:r>
              <a:rPr dirty="0" sz="1150" spc="-40">
                <a:latin typeface="Arial"/>
                <a:cs typeface="Arial"/>
              </a:rPr>
              <a:t>vision; </a:t>
            </a:r>
            <a:r>
              <a:rPr dirty="0" sz="1150" spc="-50">
                <a:latin typeface="Arial"/>
                <a:cs typeface="Arial"/>
              </a:rPr>
              <a:t>voice </a:t>
            </a:r>
            <a:r>
              <a:rPr dirty="0" sz="1150" spc="-15">
                <a:latin typeface="Arial"/>
                <a:cs typeface="Arial"/>
              </a:rPr>
              <a:t>input </a:t>
            </a:r>
            <a:r>
              <a:rPr dirty="0" sz="1150" spc="-40">
                <a:latin typeface="Arial"/>
                <a:cs typeface="Arial"/>
              </a:rPr>
              <a:t>computers, on-board </a:t>
            </a:r>
            <a:r>
              <a:rPr dirty="0" sz="1150" spc="-30">
                <a:latin typeface="Arial"/>
                <a:cs typeface="Arial"/>
              </a:rPr>
              <a:t>computer  </a:t>
            </a:r>
            <a:r>
              <a:rPr dirty="0" sz="1150" spc="-50">
                <a:latin typeface="Arial"/>
                <a:cs typeface="Arial"/>
              </a:rPr>
              <a:t>logbooks,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planning </a:t>
            </a:r>
            <a:r>
              <a:rPr dirty="0" sz="1150" spc="-30">
                <a:latin typeface="Arial"/>
                <a:cs typeface="Arial"/>
              </a:rPr>
              <a:t>software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90">
                <a:latin typeface="Arial"/>
                <a:cs typeface="Arial"/>
              </a:rPr>
              <a:t>uses </a:t>
            </a:r>
            <a:r>
              <a:rPr dirty="0" sz="1150" spc="-15">
                <a:latin typeface="Arial"/>
                <a:cs typeface="Arial"/>
              </a:rPr>
              <a:t>artificial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intelligence.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  <a:spcBef>
                <a:spcPts val="5"/>
              </a:spcBef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overriding </a:t>
            </a:r>
            <a:r>
              <a:rPr dirty="0" sz="1150" spc="-30">
                <a:latin typeface="Arial"/>
                <a:cs typeface="Arial"/>
              </a:rPr>
              <a:t>objective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55">
                <a:latin typeface="Arial"/>
                <a:cs typeface="Arial"/>
              </a:rPr>
              <a:t>physical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 spc="-70">
                <a:latin typeface="Arial"/>
                <a:cs typeface="Arial"/>
              </a:rPr>
              <a:t>systems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achieve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25">
                <a:latin typeface="Arial"/>
                <a:cs typeface="Arial"/>
              </a:rPr>
              <a:t>competitive </a:t>
            </a:r>
            <a:r>
              <a:rPr dirty="0" sz="1150" spc="-40">
                <a:latin typeface="Arial"/>
                <a:cs typeface="Arial"/>
              </a:rPr>
              <a:t>level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customer </a:t>
            </a:r>
            <a:r>
              <a:rPr dirty="0" sz="1150" spc="-55">
                <a:latin typeface="Arial"/>
                <a:cs typeface="Arial"/>
              </a:rPr>
              <a:t>service standards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lowest </a:t>
            </a:r>
            <a:r>
              <a:rPr dirty="0" sz="1150">
                <a:latin typeface="Arial"/>
                <a:cs typeface="Arial"/>
              </a:rPr>
              <a:t>total </a:t>
            </a:r>
            <a:r>
              <a:rPr dirty="0" sz="1150" spc="-45">
                <a:latin typeface="Arial"/>
                <a:cs typeface="Arial"/>
              </a:rPr>
              <a:t>cost. </a:t>
            </a:r>
            <a:r>
              <a:rPr dirty="0" sz="1150" spc="-65">
                <a:latin typeface="Arial"/>
                <a:cs typeface="Arial"/>
              </a:rPr>
              <a:t>Producers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55">
                <a:latin typeface="Arial"/>
                <a:cs typeface="Arial"/>
              </a:rPr>
              <a:t>be  </a:t>
            </a:r>
            <a:r>
              <a:rPr dirty="0" sz="1150" spc="-50">
                <a:latin typeface="Arial"/>
                <a:cs typeface="Arial"/>
              </a:rPr>
              <a:t>able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0">
                <a:latin typeface="Arial"/>
                <a:cs typeface="Arial"/>
              </a:rPr>
              <a:t>analyze </a:t>
            </a:r>
            <a:r>
              <a:rPr dirty="0" sz="1150" spc="-25">
                <a:latin typeface="Arial"/>
                <a:cs typeface="Arial"/>
              </a:rPr>
              <a:t>whether </a:t>
            </a:r>
            <a:r>
              <a:rPr dirty="0" sz="1150" spc="4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>
                <a:latin typeface="Arial"/>
                <a:cs typeface="Arial"/>
              </a:rPr>
              <a:t>worth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deliver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20">
                <a:latin typeface="Arial"/>
                <a:cs typeface="Arial"/>
              </a:rPr>
              <a:t>in three </a:t>
            </a:r>
            <a:r>
              <a:rPr dirty="0" sz="1150" spc="-80">
                <a:latin typeface="Arial"/>
                <a:cs typeface="Arial"/>
              </a:rPr>
              <a:t>days </a:t>
            </a:r>
            <a:r>
              <a:rPr dirty="0" sz="1150" spc="-40">
                <a:latin typeface="Arial"/>
                <a:cs typeface="Arial"/>
              </a:rPr>
              <a:t>instead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five, </a:t>
            </a:r>
            <a:r>
              <a:rPr dirty="0" sz="1150" spc="15">
                <a:latin typeface="Arial"/>
                <a:cs typeface="Arial"/>
              </a:rPr>
              <a:t>if  </a:t>
            </a:r>
            <a:r>
              <a:rPr dirty="0" sz="1150" spc="-45">
                <a:latin typeface="Arial"/>
                <a:cs typeface="Arial"/>
              </a:rPr>
              <a:t>doing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60">
                <a:latin typeface="Arial"/>
                <a:cs typeface="Arial"/>
              </a:rPr>
              <a:t>reduces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cost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15">
                <a:latin typeface="Arial"/>
                <a:cs typeface="Arial"/>
              </a:rPr>
              <a:t>item.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goal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optimize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>
                <a:latin typeface="Arial"/>
                <a:cs typeface="Arial"/>
              </a:rPr>
              <a:t>total </a:t>
            </a:r>
            <a:r>
              <a:rPr dirty="0" sz="1150" spc="-50">
                <a:latin typeface="Arial"/>
                <a:cs typeface="Arial"/>
              </a:rPr>
              <a:t>cost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3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achieving </a:t>
            </a:r>
            <a:r>
              <a:rPr dirty="0" sz="1150" spc="-20">
                <a:latin typeface="Arial"/>
                <a:cs typeface="Arial"/>
              </a:rPr>
              <a:t>the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150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73" y="892559"/>
            <a:ext cx="5514340" cy="766445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6985">
              <a:lnSpc>
                <a:spcPct val="101699"/>
              </a:lnSpc>
              <a:spcBef>
                <a:spcPts val="75"/>
              </a:spcBef>
            </a:pPr>
            <a:r>
              <a:rPr dirty="0" sz="1150" spc="-45">
                <a:latin typeface="Arial"/>
                <a:cs typeface="Arial"/>
              </a:rPr>
              <a:t>desired </a:t>
            </a:r>
            <a:r>
              <a:rPr dirty="0" sz="1150" spc="-40">
                <a:latin typeface="Arial"/>
                <a:cs typeface="Arial"/>
              </a:rPr>
              <a:t>level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service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60">
                <a:latin typeface="Arial"/>
                <a:cs typeface="Arial"/>
              </a:rPr>
              <a:t>analyzing </a:t>
            </a:r>
            <a:r>
              <a:rPr dirty="0" sz="1150" spc="-70">
                <a:latin typeface="Arial"/>
                <a:cs typeface="Arial"/>
              </a:rPr>
              <a:t>each </a:t>
            </a:r>
            <a:r>
              <a:rPr dirty="0" sz="1150" spc="-45">
                <a:latin typeface="Arial"/>
                <a:cs typeface="Arial"/>
              </a:rPr>
              <a:t>step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process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20">
                <a:latin typeface="Arial"/>
                <a:cs typeface="Arial"/>
              </a:rPr>
              <a:t>relation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other  </a:t>
            </a:r>
            <a:r>
              <a:rPr dirty="0" sz="1150" spc="-55">
                <a:latin typeface="Arial"/>
                <a:cs typeface="Arial"/>
              </a:rPr>
              <a:t>steps.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85" b="1">
                <a:latin typeface="Arial"/>
                <a:cs typeface="Arial"/>
              </a:rPr>
              <a:t>Transportation</a:t>
            </a:r>
            <a:r>
              <a:rPr dirty="0" sz="1350" spc="-60" b="1">
                <a:latin typeface="Arial"/>
                <a:cs typeface="Arial"/>
              </a:rPr>
              <a:t> </a:t>
            </a:r>
            <a:r>
              <a:rPr dirty="0" sz="1350" spc="-95" b="1">
                <a:latin typeface="Arial"/>
                <a:cs typeface="Arial"/>
              </a:rPr>
              <a:t>Operations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algn="just" marL="1384300" indent="-317500">
              <a:lnSpc>
                <a:spcPct val="100000"/>
              </a:lnSpc>
              <a:buAutoNum type="romanLcPeriod"/>
              <a:tabLst>
                <a:tab pos="1384300" algn="l"/>
              </a:tabLst>
            </a:pPr>
            <a:r>
              <a:rPr dirty="0" sz="1350" spc="-40" b="1">
                <a:latin typeface="Arial"/>
                <a:cs typeface="Arial"/>
              </a:rPr>
              <a:t>Major </a:t>
            </a:r>
            <a:r>
              <a:rPr dirty="0" sz="1350" spc="-75" b="1">
                <a:latin typeface="Arial"/>
                <a:cs typeface="Arial"/>
              </a:rPr>
              <a:t>transportation </a:t>
            </a:r>
            <a:r>
              <a:rPr dirty="0" sz="1350" spc="-120" b="1">
                <a:latin typeface="Arial"/>
                <a:cs typeface="Arial"/>
              </a:rPr>
              <a:t>modes</a:t>
            </a:r>
            <a:r>
              <a:rPr dirty="0" sz="1350" spc="-105" b="1">
                <a:latin typeface="Arial"/>
                <a:cs typeface="Arial"/>
              </a:rPr>
              <a:t> </a:t>
            </a:r>
            <a:r>
              <a:rPr dirty="0" sz="1350" spc="-70" b="1">
                <a:latin typeface="Arial"/>
                <a:cs typeface="Arial"/>
              </a:rPr>
              <a:t>are:</a:t>
            </a:r>
            <a:endParaRPr sz="1350">
              <a:latin typeface="Arial"/>
              <a:cs typeface="Arial"/>
            </a:endParaRPr>
          </a:p>
          <a:p>
            <a:pPr algn="just" lvl="1" marL="1841500" marR="6350" indent="-228600">
              <a:lnSpc>
                <a:spcPct val="101699"/>
              </a:lnSpc>
              <a:spcBef>
                <a:spcPts val="10"/>
              </a:spcBef>
              <a:buFont typeface="Arial"/>
              <a:buAutoNum type="arabicPeriod"/>
              <a:tabLst>
                <a:tab pos="1841500" algn="l"/>
              </a:tabLst>
            </a:pPr>
            <a:r>
              <a:rPr dirty="0" sz="1150" spc="-114" b="1">
                <a:latin typeface="Arial"/>
                <a:cs typeface="Arial"/>
              </a:rPr>
              <a:t>Trucks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most </a:t>
            </a:r>
            <a:r>
              <a:rPr dirty="0" sz="1150" spc="-25">
                <a:latin typeface="Arial"/>
                <a:cs typeface="Arial"/>
              </a:rPr>
              <a:t>frequently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">
                <a:latin typeface="Arial"/>
                <a:cs typeface="Arial"/>
              </a:rPr>
              <a:t>offer </a:t>
            </a:r>
            <a:r>
              <a:rPr dirty="0" sz="1150" spc="-20">
                <a:latin typeface="Arial"/>
                <a:cs typeface="Arial"/>
              </a:rPr>
              <a:t>door-to-door  </a:t>
            </a:r>
            <a:r>
              <a:rPr dirty="0" sz="1150" spc="-35">
                <a:latin typeface="Arial"/>
                <a:cs typeface="Arial"/>
              </a:rPr>
              <a:t>delivery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public </a:t>
            </a:r>
            <a:r>
              <a:rPr dirty="0" sz="1150" spc="-55">
                <a:latin typeface="Arial"/>
                <a:cs typeface="Arial"/>
              </a:rPr>
              <a:t>highways,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unable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carry 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50">
                <a:latin typeface="Arial"/>
                <a:cs typeface="Arial"/>
              </a:rPr>
              <a:t>types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cargo.</a:t>
            </a:r>
            <a:endParaRPr sz="1150">
              <a:latin typeface="Arial"/>
              <a:cs typeface="Arial"/>
            </a:endParaRPr>
          </a:p>
          <a:p>
            <a:pPr algn="just" lvl="1" marL="1841500" marR="8255" indent="-228600">
              <a:lnSpc>
                <a:spcPct val="101699"/>
              </a:lnSpc>
              <a:buFont typeface="Arial"/>
              <a:buAutoNum type="arabicPeriod"/>
              <a:tabLst>
                <a:tab pos="1841500" algn="l"/>
              </a:tabLst>
            </a:pPr>
            <a:r>
              <a:rPr dirty="0" sz="1150" spc="-90" b="1">
                <a:latin typeface="Arial"/>
                <a:cs typeface="Arial"/>
              </a:rPr>
              <a:t>Railroads </a:t>
            </a:r>
            <a:r>
              <a:rPr dirty="0" sz="1150" spc="-50">
                <a:latin typeface="Arial"/>
                <a:cs typeface="Arial"/>
              </a:rPr>
              <a:t>are able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carry heavier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35">
                <a:latin typeface="Arial"/>
                <a:cs typeface="Arial"/>
              </a:rPr>
              <a:t>diversified  </a:t>
            </a:r>
            <a:r>
              <a:rPr dirty="0" sz="1150" spc="-55">
                <a:latin typeface="Arial"/>
                <a:cs typeface="Arial"/>
              </a:rPr>
              <a:t>cargo, </a:t>
            </a:r>
            <a:r>
              <a:rPr dirty="0" sz="1150" spc="-10">
                <a:latin typeface="Arial"/>
                <a:cs typeface="Arial"/>
              </a:rPr>
              <a:t>but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are unable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deliver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directly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customer.</a:t>
            </a:r>
            <a:endParaRPr sz="1150">
              <a:latin typeface="Arial"/>
              <a:cs typeface="Arial"/>
            </a:endParaRPr>
          </a:p>
          <a:p>
            <a:pPr algn="just" lvl="1" marL="1841500" marR="7620" indent="-228600">
              <a:lnSpc>
                <a:spcPct val="101699"/>
              </a:lnSpc>
              <a:buFont typeface="Arial"/>
              <a:buAutoNum type="arabicPeriod"/>
              <a:tabLst>
                <a:tab pos="1841500" algn="l"/>
              </a:tabLst>
            </a:pPr>
            <a:r>
              <a:rPr dirty="0" sz="1150" spc="-45" b="1">
                <a:latin typeface="Arial"/>
                <a:cs typeface="Arial"/>
              </a:rPr>
              <a:t>Water </a:t>
            </a:r>
            <a:r>
              <a:rPr dirty="0" sz="1150" spc="-80" b="1">
                <a:latin typeface="Arial"/>
                <a:cs typeface="Arial"/>
              </a:rPr>
              <a:t>carriers</a:t>
            </a:r>
            <a:r>
              <a:rPr dirty="0" sz="1150" spc="-80">
                <a:latin typeface="Arial"/>
                <a:cs typeface="Arial"/>
              </a:rPr>
              <a:t>—Boats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cheapest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transport,  </a:t>
            </a:r>
            <a:r>
              <a:rPr dirty="0" sz="1150" spc="-55">
                <a:latin typeface="Arial"/>
                <a:cs typeface="Arial"/>
              </a:rPr>
              <a:t>especially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35">
                <a:latin typeface="Arial"/>
                <a:cs typeface="Arial"/>
              </a:rPr>
              <a:t>bulk items,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55">
                <a:latin typeface="Arial"/>
                <a:cs typeface="Arial"/>
              </a:rPr>
              <a:t>service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slow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infrequent,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delivery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restricted.</a:t>
            </a:r>
            <a:endParaRPr sz="1150">
              <a:latin typeface="Arial"/>
              <a:cs typeface="Arial"/>
            </a:endParaRPr>
          </a:p>
          <a:p>
            <a:pPr algn="just" lvl="1" marL="1841500" marR="5715" indent="-228600">
              <a:lnSpc>
                <a:spcPct val="101699"/>
              </a:lnSpc>
              <a:buFont typeface="Arial"/>
              <a:buAutoNum type="arabicPeriod"/>
              <a:tabLst>
                <a:tab pos="1841500" algn="l"/>
              </a:tabLst>
            </a:pPr>
            <a:r>
              <a:rPr dirty="0" sz="1150" spc="-70" b="1">
                <a:latin typeface="Arial"/>
                <a:cs typeface="Arial"/>
              </a:rPr>
              <a:t>Air </a:t>
            </a:r>
            <a:r>
              <a:rPr dirty="0" sz="1150" spc="-65" b="1">
                <a:latin typeface="Arial"/>
                <a:cs typeface="Arial"/>
              </a:rPr>
              <a:t>transport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fastest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moving </a:t>
            </a:r>
            <a:r>
              <a:rPr dirty="0" sz="1150" spc="-65">
                <a:latin typeface="Arial"/>
                <a:cs typeface="Arial"/>
              </a:rPr>
              <a:t>goods,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30">
                <a:latin typeface="Arial"/>
                <a:cs typeface="Arial"/>
              </a:rPr>
              <a:t>it  </a:t>
            </a:r>
            <a:r>
              <a:rPr dirty="0" sz="1150" spc="-30">
                <a:latin typeface="Arial"/>
                <a:cs typeface="Arial"/>
              </a:rPr>
              <a:t>doesn’t </a:t>
            </a:r>
            <a:r>
              <a:rPr dirty="0" sz="1150" spc="-70">
                <a:latin typeface="Arial"/>
                <a:cs typeface="Arial"/>
              </a:rPr>
              <a:t>go </a:t>
            </a:r>
            <a:r>
              <a:rPr dirty="0" sz="1150" spc="-45">
                <a:latin typeface="Arial"/>
                <a:cs typeface="Arial"/>
              </a:rPr>
              <a:t>everywhere,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45">
                <a:latin typeface="Arial"/>
                <a:cs typeface="Arial"/>
              </a:rPr>
              <a:t>carry </a:t>
            </a:r>
            <a:r>
              <a:rPr dirty="0" sz="1150" spc="-30">
                <a:latin typeface="Arial"/>
                <a:cs typeface="Arial"/>
              </a:rPr>
              <a:t>only certain </a:t>
            </a:r>
            <a:r>
              <a:rPr dirty="0" sz="1150" spc="-50">
                <a:latin typeface="Arial"/>
                <a:cs typeface="Arial"/>
              </a:rPr>
              <a:t>types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55">
                <a:latin typeface="Arial"/>
                <a:cs typeface="Arial"/>
              </a:rPr>
              <a:t>cargo, and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unreliable </a:t>
            </a:r>
            <a:r>
              <a:rPr dirty="0" sz="1150" spc="-60">
                <a:latin typeface="Arial"/>
                <a:cs typeface="Arial"/>
              </a:rPr>
              <a:t>and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expensive.</a:t>
            </a:r>
            <a:endParaRPr sz="1150">
              <a:latin typeface="Arial"/>
              <a:cs typeface="Arial"/>
            </a:endParaRPr>
          </a:p>
          <a:p>
            <a:pPr algn="just" lvl="1" marL="1841500" marR="5080" indent="-228600">
              <a:lnSpc>
                <a:spcPct val="101699"/>
              </a:lnSpc>
              <a:buFont typeface="Arial"/>
              <a:buAutoNum type="arabicPeriod"/>
              <a:tabLst>
                <a:tab pos="1841500" algn="l"/>
              </a:tabLst>
            </a:pPr>
            <a:r>
              <a:rPr dirty="0" sz="1150" spc="-80" b="1">
                <a:latin typeface="Arial"/>
                <a:cs typeface="Arial"/>
              </a:rPr>
              <a:t>Pipelines</a:t>
            </a:r>
            <a:r>
              <a:rPr dirty="0" sz="1150" spc="-80">
                <a:latin typeface="Arial"/>
                <a:cs typeface="Arial"/>
              </a:rPr>
              <a:t>, </a:t>
            </a:r>
            <a:r>
              <a:rPr dirty="0" sz="1150" spc="-35">
                <a:latin typeface="Arial"/>
                <a:cs typeface="Arial"/>
              </a:rPr>
              <a:t>although </a:t>
            </a:r>
            <a:r>
              <a:rPr dirty="0" sz="1150" spc="-65">
                <a:latin typeface="Arial"/>
                <a:cs typeface="Arial"/>
              </a:rPr>
              <a:t>expensive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build,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extremely  </a:t>
            </a:r>
            <a:r>
              <a:rPr dirty="0" sz="1150" spc="-50">
                <a:latin typeface="Arial"/>
                <a:cs typeface="Arial"/>
              </a:rPr>
              <a:t>economical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operate </a:t>
            </a:r>
            <a:r>
              <a:rPr dirty="0" sz="1150" spc="-60">
                <a:latin typeface="Arial"/>
                <a:cs typeface="Arial"/>
              </a:rPr>
              <a:t>and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maintain.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algn="just" marL="1384300" indent="-351155">
              <a:lnSpc>
                <a:spcPct val="100000"/>
              </a:lnSpc>
              <a:buFont typeface="Arial"/>
              <a:buAutoNum type="romanLcPeriod"/>
              <a:tabLst>
                <a:tab pos="1384935" algn="l"/>
              </a:tabLst>
            </a:pPr>
            <a:r>
              <a:rPr dirty="0" sz="1350" spc="-150" b="1">
                <a:latin typeface="Arial"/>
                <a:cs typeface="Arial"/>
              </a:rPr>
              <a:t>Changes </a:t>
            </a:r>
            <a:r>
              <a:rPr dirty="0" sz="1350" spc="-80" b="1">
                <a:latin typeface="Arial"/>
                <a:cs typeface="Arial"/>
              </a:rPr>
              <a:t>in </a:t>
            </a:r>
            <a:r>
              <a:rPr dirty="0" sz="1350" spc="-85" b="1">
                <a:latin typeface="Arial"/>
                <a:cs typeface="Arial"/>
              </a:rPr>
              <a:t>Transportation</a:t>
            </a:r>
            <a:r>
              <a:rPr dirty="0" sz="1350" b="1">
                <a:latin typeface="Arial"/>
                <a:cs typeface="Arial"/>
              </a:rPr>
              <a:t> </a:t>
            </a:r>
            <a:r>
              <a:rPr dirty="0" sz="1350" spc="-90" b="1">
                <a:latin typeface="Arial"/>
                <a:cs typeface="Arial"/>
              </a:rPr>
              <a:t>Operations</a:t>
            </a:r>
            <a:endParaRPr sz="1350">
              <a:latin typeface="Arial"/>
              <a:cs typeface="Arial"/>
            </a:endParaRPr>
          </a:p>
          <a:p>
            <a:pPr algn="just" lvl="1" marL="1840864" marR="6985" indent="-228600">
              <a:lnSpc>
                <a:spcPct val="101699"/>
              </a:lnSpc>
              <a:spcBef>
                <a:spcPts val="10"/>
              </a:spcBef>
              <a:buFont typeface="Arial"/>
              <a:buAutoNum type="arabicPeriod"/>
              <a:tabLst>
                <a:tab pos="1841500" algn="l"/>
              </a:tabLst>
            </a:pPr>
            <a:r>
              <a:rPr dirty="0" sz="1150" spc="-55" b="1">
                <a:latin typeface="Arial"/>
                <a:cs typeface="Arial"/>
              </a:rPr>
              <a:t>Inter-modal </a:t>
            </a:r>
            <a:r>
              <a:rPr dirty="0" sz="1150" spc="-70" b="1">
                <a:latin typeface="Arial"/>
                <a:cs typeface="Arial"/>
              </a:rPr>
              <a:t>Transportation</a:t>
            </a:r>
            <a:r>
              <a:rPr dirty="0" sz="1150" spc="-70">
                <a:latin typeface="Arial"/>
                <a:cs typeface="Arial"/>
              </a:rPr>
              <a:t>: </a:t>
            </a:r>
            <a:r>
              <a:rPr dirty="0" sz="1150" spc="-45">
                <a:latin typeface="Arial"/>
                <a:cs typeface="Arial"/>
              </a:rPr>
              <a:t>combined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several 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60">
                <a:latin typeface="Arial"/>
                <a:cs typeface="Arial"/>
              </a:rPr>
              <a:t>modes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transportation.</a:t>
            </a:r>
            <a:endParaRPr sz="1150">
              <a:latin typeface="Arial"/>
              <a:cs typeface="Arial"/>
            </a:endParaRPr>
          </a:p>
          <a:p>
            <a:pPr algn="just" lvl="1" marL="1840864" marR="6350" indent="-228600">
              <a:lnSpc>
                <a:spcPct val="101699"/>
              </a:lnSpc>
              <a:buFont typeface="Arial"/>
              <a:buAutoNum type="arabicPeriod"/>
              <a:tabLst>
                <a:tab pos="1841500" algn="l"/>
              </a:tabLst>
            </a:pPr>
            <a:r>
              <a:rPr dirty="0" sz="1150" spc="-70" b="1">
                <a:latin typeface="Arial"/>
                <a:cs typeface="Arial"/>
              </a:rPr>
              <a:t>Containerization</a:t>
            </a:r>
            <a:r>
              <a:rPr dirty="0" sz="1150" spc="-70">
                <a:latin typeface="Arial"/>
                <a:cs typeface="Arial"/>
              </a:rPr>
              <a:t>: </a:t>
            </a:r>
            <a:r>
              <a:rPr dirty="0" sz="1150" spc="-95">
                <a:latin typeface="Arial"/>
                <a:cs typeface="Arial"/>
              </a:rPr>
              <a:t>uses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standardized </a:t>
            </a:r>
            <a:r>
              <a:rPr dirty="0" sz="1150" spc="-45">
                <a:latin typeface="Arial"/>
                <a:cs typeface="Arial"/>
              </a:rPr>
              <a:t>heavy-duty </a:t>
            </a:r>
            <a:r>
              <a:rPr dirty="0" sz="1150" spc="-40">
                <a:latin typeface="Arial"/>
                <a:cs typeface="Arial"/>
              </a:rPr>
              <a:t>containers 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35">
                <a:latin typeface="Arial"/>
                <a:cs typeface="Arial"/>
              </a:rPr>
              <a:t>items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65">
                <a:latin typeface="Arial"/>
                <a:cs typeface="Arial"/>
              </a:rPr>
              <a:t>sealed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30">
                <a:latin typeface="Arial"/>
                <a:cs typeface="Arial"/>
              </a:rPr>
              <a:t>points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shipment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50">
                <a:latin typeface="Arial"/>
                <a:cs typeface="Arial"/>
              </a:rPr>
              <a:t>opened </a:t>
            </a:r>
            <a:r>
              <a:rPr dirty="0" sz="1150" spc="-30">
                <a:latin typeface="Arial"/>
                <a:cs typeface="Arial"/>
              </a:rPr>
              <a:t>only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20">
                <a:latin typeface="Arial"/>
                <a:cs typeface="Arial"/>
              </a:rPr>
              <a:t>final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destination.</a:t>
            </a:r>
            <a:endParaRPr sz="1150">
              <a:latin typeface="Arial"/>
              <a:cs typeface="Arial"/>
            </a:endParaRPr>
          </a:p>
          <a:p>
            <a:pPr algn="just" lvl="1" marL="1840864" marR="5080" indent="-228600">
              <a:lnSpc>
                <a:spcPct val="101699"/>
              </a:lnSpc>
              <a:buFont typeface="Arial"/>
              <a:buAutoNum type="arabicPeriod"/>
              <a:tabLst>
                <a:tab pos="1841500" algn="l"/>
              </a:tabLst>
            </a:pPr>
            <a:r>
              <a:rPr dirty="0" sz="1150" spc="-105" b="1">
                <a:latin typeface="Arial"/>
                <a:cs typeface="Arial"/>
              </a:rPr>
              <a:t>Physical </a:t>
            </a:r>
            <a:r>
              <a:rPr dirty="0" sz="1150" spc="-65" b="1">
                <a:latin typeface="Arial"/>
                <a:cs typeface="Arial"/>
              </a:rPr>
              <a:t>Distribution </a:t>
            </a:r>
            <a:r>
              <a:rPr dirty="0" sz="1150" spc="-85" b="1">
                <a:latin typeface="Arial"/>
                <a:cs typeface="Arial"/>
              </a:rPr>
              <a:t>and </a:t>
            </a:r>
            <a:r>
              <a:rPr dirty="0" sz="1150" spc="-100" b="1">
                <a:latin typeface="Arial"/>
                <a:cs typeface="Arial"/>
              </a:rPr>
              <a:t>E-Customer </a:t>
            </a:r>
            <a:r>
              <a:rPr dirty="0" sz="1150" spc="-75" b="1">
                <a:latin typeface="Arial"/>
                <a:cs typeface="Arial"/>
              </a:rPr>
              <a:t>Satisfaction</a:t>
            </a:r>
            <a:r>
              <a:rPr dirty="0" sz="1150" spc="-75">
                <a:latin typeface="Arial"/>
                <a:cs typeface="Arial"/>
              </a:rPr>
              <a:t>: </a:t>
            </a:r>
            <a:r>
              <a:rPr dirty="0" sz="1150" spc="-60">
                <a:latin typeface="Arial"/>
                <a:cs typeface="Arial"/>
              </a:rPr>
              <a:t>New </a:t>
            </a:r>
            <a:r>
              <a:rPr dirty="0" sz="1150" spc="-50">
                <a:latin typeface="Arial"/>
                <a:cs typeface="Arial"/>
              </a:rPr>
              <a:t>e-  </a:t>
            </a:r>
            <a:r>
              <a:rPr dirty="0" sz="1150" spc="-55">
                <a:latin typeface="Arial"/>
                <a:cs typeface="Arial"/>
              </a:rPr>
              <a:t>commerce </a:t>
            </a:r>
            <a:r>
              <a:rPr dirty="0" sz="1150" spc="-60">
                <a:latin typeface="Arial"/>
                <a:cs typeface="Arial"/>
              </a:rPr>
              <a:t>companies </a:t>
            </a:r>
            <a:r>
              <a:rPr dirty="0" sz="1150" spc="-55">
                <a:latin typeface="Arial"/>
                <a:cs typeface="Arial"/>
              </a:rPr>
              <a:t>need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focus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30">
                <a:latin typeface="Arial"/>
                <a:cs typeface="Arial"/>
              </a:rPr>
              <a:t>only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80">
                <a:latin typeface="Arial"/>
                <a:cs typeface="Arial"/>
              </a:rPr>
              <a:t>sales </a:t>
            </a:r>
            <a:r>
              <a:rPr dirty="0" sz="1150" spc="-10">
                <a:latin typeface="Arial"/>
                <a:cs typeface="Arial"/>
              </a:rPr>
              <a:t>but 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40">
                <a:latin typeface="Arial"/>
                <a:cs typeface="Arial"/>
              </a:rPr>
              <a:t>after-sale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avoid </a:t>
            </a:r>
            <a:r>
              <a:rPr dirty="0" sz="1150" spc="-40">
                <a:latin typeface="Arial"/>
                <a:cs typeface="Arial"/>
              </a:rPr>
              <a:t>customer  dissatisfaction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5">
                <a:latin typeface="Arial"/>
                <a:cs typeface="Arial"/>
              </a:rPr>
              <a:t>discourages </a:t>
            </a:r>
            <a:r>
              <a:rPr dirty="0" sz="1150" spc="-35">
                <a:latin typeface="Arial"/>
                <a:cs typeface="Arial"/>
              </a:rPr>
              <a:t>repeat </a:t>
            </a:r>
            <a:r>
              <a:rPr dirty="0" sz="1150" spc="-75">
                <a:latin typeface="Arial"/>
                <a:cs typeface="Arial"/>
              </a:rPr>
              <a:t>sales. </a:t>
            </a:r>
            <a:r>
              <a:rPr dirty="0" sz="1150" spc="-70" b="1">
                <a:latin typeface="Arial"/>
                <a:cs typeface="Arial"/>
              </a:rPr>
              <a:t>Order  </a:t>
            </a:r>
            <a:r>
              <a:rPr dirty="0" sz="1150" spc="-60" b="1">
                <a:latin typeface="Arial"/>
                <a:cs typeface="Arial"/>
              </a:rPr>
              <a:t>Fulfillment </a:t>
            </a:r>
            <a:r>
              <a:rPr dirty="0" sz="1150" spc="-85" b="1">
                <a:latin typeface="Arial"/>
                <a:cs typeface="Arial"/>
              </a:rPr>
              <a:t>and </a:t>
            </a:r>
            <a:r>
              <a:rPr dirty="0" sz="1150" spc="-105" b="1">
                <a:latin typeface="Arial"/>
                <a:cs typeface="Arial"/>
              </a:rPr>
              <a:t>E-Customer </a:t>
            </a:r>
            <a:r>
              <a:rPr dirty="0" sz="1150" spc="-75" b="1">
                <a:latin typeface="Arial"/>
                <a:cs typeface="Arial"/>
              </a:rPr>
              <a:t>Satisfaction</a:t>
            </a:r>
            <a:r>
              <a:rPr dirty="0" sz="1150" spc="-75">
                <a:latin typeface="Arial"/>
                <a:cs typeface="Arial"/>
              </a:rPr>
              <a:t>: </a:t>
            </a:r>
            <a:r>
              <a:rPr dirty="0" sz="1150" spc="-45">
                <a:latin typeface="Arial"/>
                <a:cs typeface="Arial"/>
              </a:rPr>
              <a:t>Order </a:t>
            </a:r>
            <a:r>
              <a:rPr dirty="0" sz="1150" spc="-5">
                <a:latin typeface="Arial"/>
                <a:cs typeface="Arial"/>
              </a:rPr>
              <a:t>fulfillment  </a:t>
            </a:r>
            <a:r>
              <a:rPr dirty="0" sz="1150" spc="-65">
                <a:latin typeface="Arial"/>
                <a:cs typeface="Arial"/>
              </a:rPr>
              <a:t>begins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sale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made: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ends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30">
                <a:latin typeface="Arial"/>
                <a:cs typeface="Arial"/>
              </a:rPr>
              <a:t>getting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25">
                <a:latin typeface="Arial"/>
                <a:cs typeface="Arial"/>
              </a:rPr>
              <a:t>product,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good </a:t>
            </a:r>
            <a:r>
              <a:rPr dirty="0" sz="1150" spc="-25">
                <a:latin typeface="Arial"/>
                <a:cs typeface="Arial"/>
              </a:rPr>
              <a:t>condition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15">
                <a:latin typeface="Arial"/>
                <a:cs typeface="Arial"/>
              </a:rPr>
              <a:t>time,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customer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70">
                <a:latin typeface="Arial"/>
                <a:cs typeface="Arial"/>
              </a:rPr>
              <a:t>each </a:t>
            </a:r>
            <a:r>
              <a:rPr dirty="0" sz="1150" spc="-85">
                <a:latin typeface="Arial"/>
                <a:cs typeface="Arial"/>
              </a:rPr>
              <a:t>sales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transaction.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14" b="1">
                <a:latin typeface="Arial"/>
                <a:cs typeface="Arial"/>
              </a:rPr>
              <a:t>PROMOTION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ultimate </a:t>
            </a:r>
            <a:r>
              <a:rPr dirty="0" sz="1150" spc="-60">
                <a:latin typeface="Arial"/>
                <a:cs typeface="Arial"/>
              </a:rPr>
              <a:t>goal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promotion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increase </a:t>
            </a:r>
            <a:r>
              <a:rPr dirty="0" sz="1150" spc="-75">
                <a:latin typeface="Arial"/>
                <a:cs typeface="Arial"/>
              </a:rPr>
              <a:t>sales. </a:t>
            </a:r>
            <a:r>
              <a:rPr dirty="0" sz="1150" spc="-35">
                <a:latin typeface="Arial"/>
                <a:cs typeface="Arial"/>
              </a:rPr>
              <a:t>Other </a:t>
            </a:r>
            <a:r>
              <a:rPr dirty="0" sz="1150" spc="-75">
                <a:latin typeface="Arial"/>
                <a:cs typeface="Arial"/>
              </a:rPr>
              <a:t>goals </a:t>
            </a:r>
            <a:r>
              <a:rPr dirty="0" sz="1150" spc="-40">
                <a:latin typeface="Arial"/>
                <a:cs typeface="Arial"/>
              </a:rPr>
              <a:t>include </a:t>
            </a:r>
            <a:r>
              <a:rPr dirty="0" sz="1150" spc="-45">
                <a:latin typeface="Arial"/>
                <a:cs typeface="Arial"/>
              </a:rPr>
              <a:t>communicating  </a:t>
            </a:r>
            <a:r>
              <a:rPr dirty="0" sz="1150" spc="-20">
                <a:latin typeface="Arial"/>
                <a:cs typeface="Arial"/>
              </a:rPr>
              <a:t>information, </a:t>
            </a:r>
            <a:r>
              <a:rPr dirty="0" sz="1150" spc="-30">
                <a:latin typeface="Arial"/>
                <a:cs typeface="Arial"/>
              </a:rPr>
              <a:t>positioning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product, </a:t>
            </a:r>
            <a:r>
              <a:rPr dirty="0" sz="1150" spc="-50">
                <a:latin typeface="Arial"/>
                <a:cs typeface="Arial"/>
              </a:rPr>
              <a:t>adding value,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controlling </a:t>
            </a:r>
            <a:r>
              <a:rPr dirty="0" sz="1150" spc="-80">
                <a:latin typeface="Arial"/>
                <a:cs typeface="Arial"/>
              </a:rPr>
              <a:t>sales </a:t>
            </a:r>
            <a:r>
              <a:rPr dirty="0" sz="1150" spc="-40">
                <a:latin typeface="Arial"/>
                <a:cs typeface="Arial"/>
              </a:rPr>
              <a:t>volume. In </a:t>
            </a:r>
            <a:r>
              <a:rPr dirty="0" sz="1150" spc="-50">
                <a:latin typeface="Arial"/>
                <a:cs typeface="Arial"/>
              </a:rPr>
              <a:t>deciding 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appropriate </a:t>
            </a:r>
            <a:r>
              <a:rPr dirty="0" sz="1150" spc="-20">
                <a:latin typeface="Arial"/>
                <a:cs typeface="Arial"/>
              </a:rPr>
              <a:t>promotional </a:t>
            </a:r>
            <a:r>
              <a:rPr dirty="0" sz="1150" spc="-35">
                <a:latin typeface="Arial"/>
                <a:cs typeface="Arial"/>
              </a:rPr>
              <a:t>mix, </a:t>
            </a:r>
            <a:r>
              <a:rPr dirty="0" sz="1150" spc="-40">
                <a:latin typeface="Arial"/>
                <a:cs typeface="Arial"/>
              </a:rPr>
              <a:t>marketers must </a:t>
            </a:r>
            <a:r>
              <a:rPr dirty="0" sz="1150" spc="-45">
                <a:latin typeface="Arial"/>
                <a:cs typeface="Arial"/>
              </a:rPr>
              <a:t>consider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good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5">
                <a:latin typeface="Arial"/>
                <a:cs typeface="Arial"/>
              </a:rPr>
              <a:t>service </a:t>
            </a:r>
            <a:r>
              <a:rPr dirty="0" sz="1150" spc="-50">
                <a:latin typeface="Arial"/>
                <a:cs typeface="Arial"/>
              </a:rPr>
              <a:t>being  </a:t>
            </a:r>
            <a:r>
              <a:rPr dirty="0" sz="1150" spc="-25">
                <a:latin typeface="Arial"/>
                <a:cs typeface="Arial"/>
              </a:rPr>
              <a:t>offered, </a:t>
            </a:r>
            <a:r>
              <a:rPr dirty="0" sz="1150" spc="-45">
                <a:latin typeface="Arial"/>
                <a:cs typeface="Arial"/>
              </a:rPr>
              <a:t>characteristics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target </a:t>
            </a:r>
            <a:r>
              <a:rPr dirty="0" sz="1150" spc="-55">
                <a:latin typeface="Arial"/>
                <a:cs typeface="Arial"/>
              </a:rPr>
              <a:t>audience and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buyer’s </a:t>
            </a:r>
            <a:r>
              <a:rPr dirty="0" sz="1150" spc="-50">
                <a:latin typeface="Arial"/>
                <a:cs typeface="Arial"/>
              </a:rPr>
              <a:t>decision </a:t>
            </a:r>
            <a:r>
              <a:rPr dirty="0" sz="1150" spc="-60">
                <a:latin typeface="Arial"/>
                <a:cs typeface="Arial"/>
              </a:rPr>
              <a:t>process,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the  promotional </a:t>
            </a:r>
            <a:r>
              <a:rPr dirty="0" sz="1150" spc="-40">
                <a:latin typeface="Arial"/>
                <a:cs typeface="Arial"/>
              </a:rPr>
              <a:t>mix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budget.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151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38284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85" b="1">
                <a:latin typeface="Arial"/>
                <a:cs typeface="Arial"/>
              </a:rPr>
              <a:t>Promotional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00" b="1">
                <a:latin typeface="Arial"/>
                <a:cs typeface="Arial"/>
              </a:rPr>
              <a:t>Objectives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algn="just" marL="12700" marR="5080" indent="3302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Promotions </a:t>
            </a:r>
            <a:r>
              <a:rPr dirty="0" sz="1150" spc="-45">
                <a:latin typeface="Arial"/>
                <a:cs typeface="Arial"/>
              </a:rPr>
              <a:t>experts  </a:t>
            </a:r>
            <a:r>
              <a:rPr dirty="0" sz="1150" spc="-60">
                <a:latin typeface="Arial"/>
                <a:cs typeface="Arial"/>
              </a:rPr>
              <a:t>recognize </a:t>
            </a:r>
            <a:r>
              <a:rPr dirty="0" sz="1150" spc="-5">
                <a:latin typeface="Arial"/>
                <a:cs typeface="Arial"/>
              </a:rPr>
              <a:t>that not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45">
                <a:latin typeface="Arial"/>
                <a:cs typeface="Arial"/>
              </a:rPr>
              <a:t>objectives 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85">
                <a:latin typeface="Arial"/>
                <a:cs typeface="Arial"/>
              </a:rPr>
              <a:t>sales </a:t>
            </a:r>
            <a:r>
              <a:rPr dirty="0" sz="1150" spc="-40">
                <a:latin typeface="Arial"/>
                <a:cs typeface="Arial"/>
              </a:rPr>
              <a:t>objectives. </a:t>
            </a:r>
            <a:r>
              <a:rPr dirty="0" sz="1150" spc="-100">
                <a:latin typeface="Arial"/>
                <a:cs typeface="Arial"/>
              </a:rPr>
              <a:t>Some  </a:t>
            </a:r>
            <a:r>
              <a:rPr dirty="0" sz="1150" spc="-45">
                <a:latin typeface="Arial"/>
                <a:cs typeface="Arial"/>
              </a:rPr>
              <a:t>communications objectives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20">
                <a:latin typeface="Arial"/>
                <a:cs typeface="Arial"/>
              </a:rPr>
              <a:t>indirect </a:t>
            </a:r>
            <a:r>
              <a:rPr dirty="0" sz="1150" spc="-50">
                <a:latin typeface="Arial"/>
                <a:cs typeface="Arial"/>
              </a:rPr>
              <a:t>approach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make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55">
                <a:latin typeface="Arial"/>
                <a:cs typeface="Arial"/>
              </a:rPr>
              <a:t>audience </a:t>
            </a:r>
            <a:r>
              <a:rPr dirty="0" sz="1150" spc="-50">
                <a:latin typeface="Arial"/>
                <a:cs typeface="Arial"/>
              </a:rPr>
              <a:t>aware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new 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75">
                <a:latin typeface="Arial"/>
                <a:cs typeface="Arial"/>
              </a:rPr>
              <a:t>change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company’s </a:t>
            </a:r>
            <a:r>
              <a:rPr dirty="0" sz="1150" spc="-50">
                <a:latin typeface="Arial"/>
                <a:cs typeface="Arial"/>
              </a:rPr>
              <a:t>negative </a:t>
            </a:r>
            <a:r>
              <a:rPr dirty="0" sz="1150" spc="-55">
                <a:latin typeface="Arial"/>
                <a:cs typeface="Arial"/>
              </a:rPr>
              <a:t>image.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addition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increasing </a:t>
            </a:r>
            <a:r>
              <a:rPr dirty="0" sz="1150" spc="-75">
                <a:latin typeface="Arial"/>
                <a:cs typeface="Arial"/>
              </a:rPr>
              <a:t>sales, </a:t>
            </a:r>
            <a:r>
              <a:rPr dirty="0" sz="1150" spc="-15">
                <a:latin typeface="Arial"/>
                <a:cs typeface="Arial"/>
              </a:rPr>
              <a:t>promotion 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10">
                <a:latin typeface="Arial"/>
                <a:cs typeface="Arial"/>
              </a:rPr>
              <a:t>four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objectives.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95" b="1">
                <a:latin typeface="Arial"/>
                <a:cs typeface="Arial"/>
              </a:rPr>
              <a:t>Communicating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60" b="1">
                <a:latin typeface="Arial"/>
                <a:cs typeface="Arial"/>
              </a:rPr>
              <a:t>Information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20">
                <a:latin typeface="Arial"/>
                <a:cs typeface="Arial"/>
              </a:rPr>
              <a:t>Information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65">
                <a:latin typeface="Arial"/>
                <a:cs typeface="Arial"/>
              </a:rPr>
              <a:t>advise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product's </a:t>
            </a:r>
            <a:r>
              <a:rPr dirty="0" sz="1150" spc="-55">
                <a:latin typeface="Arial"/>
                <a:cs typeface="Arial"/>
              </a:rPr>
              <a:t>existence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features.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5" b="1">
                <a:latin typeface="Arial"/>
                <a:cs typeface="Arial"/>
              </a:rPr>
              <a:t>Creating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100" b="1">
                <a:latin typeface="Arial"/>
                <a:cs typeface="Arial"/>
              </a:rPr>
              <a:t>Awareness</a:t>
            </a:r>
            <a:endParaRPr sz="1150">
              <a:latin typeface="Arial"/>
              <a:cs typeface="Arial"/>
            </a:endParaRPr>
          </a:p>
          <a:p>
            <a:pPr algn="just" marL="12700" marR="8890">
              <a:lnSpc>
                <a:spcPct val="100899"/>
              </a:lnSpc>
              <a:spcBef>
                <a:spcPts val="15"/>
              </a:spcBef>
            </a:pPr>
            <a:r>
              <a:rPr dirty="0" sz="1150" spc="-55">
                <a:latin typeface="Arial"/>
                <a:cs typeface="Arial"/>
              </a:rPr>
              <a:t>Through </a:t>
            </a:r>
            <a:r>
              <a:rPr dirty="0" sz="1150" spc="-35">
                <a:latin typeface="Arial"/>
                <a:cs typeface="Arial"/>
              </a:rPr>
              <a:t>provided </a:t>
            </a:r>
            <a:r>
              <a:rPr dirty="0" sz="1150" spc="-15">
                <a:latin typeface="Arial"/>
                <a:cs typeface="Arial"/>
              </a:rPr>
              <a:t>information,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-60">
                <a:latin typeface="Arial"/>
                <a:cs typeface="Arial"/>
              </a:rPr>
              <a:t>become </a:t>
            </a:r>
            <a:r>
              <a:rPr dirty="0" sz="1150" spc="-50">
                <a:latin typeface="Arial"/>
                <a:cs typeface="Arial"/>
              </a:rPr>
              <a:t>aware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50">
                <a:latin typeface="Arial"/>
                <a:cs typeface="Arial"/>
              </a:rPr>
              <a:t>available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market.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00" b="1">
                <a:latin typeface="Arial"/>
                <a:cs typeface="Arial"/>
              </a:rPr>
              <a:t>Comparison</a:t>
            </a:r>
            <a:endParaRPr sz="1150">
              <a:latin typeface="Arial"/>
              <a:cs typeface="Arial"/>
            </a:endParaRPr>
          </a:p>
          <a:p>
            <a:pPr marL="12700" marR="6985">
              <a:lnSpc>
                <a:spcPct val="101699"/>
              </a:lnSpc>
              <a:spcBef>
                <a:spcPts val="5"/>
              </a:spcBef>
            </a:pP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65">
                <a:latin typeface="Arial"/>
                <a:cs typeface="Arial"/>
              </a:rPr>
              <a:t>awareness, </a:t>
            </a:r>
            <a:r>
              <a:rPr dirty="0" sz="1150" spc="-50">
                <a:latin typeface="Arial"/>
                <a:cs typeface="Arial"/>
              </a:rPr>
              <a:t>customers, </a:t>
            </a:r>
            <a:r>
              <a:rPr dirty="0" sz="1150" spc="-65">
                <a:latin typeface="Arial"/>
                <a:cs typeface="Arial"/>
              </a:rPr>
              <a:t>make </a:t>
            </a:r>
            <a:r>
              <a:rPr dirty="0" sz="1150" spc="-55">
                <a:latin typeface="Arial"/>
                <a:cs typeface="Arial"/>
              </a:rPr>
              <a:t>comparisons </a:t>
            </a:r>
            <a:r>
              <a:rPr dirty="0" sz="1150" spc="-60">
                <a:latin typeface="Arial"/>
                <a:cs typeface="Arial"/>
              </a:rPr>
              <a:t>among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available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5">
                <a:latin typeface="Arial"/>
                <a:cs typeface="Arial"/>
              </a:rPr>
              <a:t>the  </a:t>
            </a:r>
            <a:r>
              <a:rPr dirty="0" sz="1150" spc="-30">
                <a:latin typeface="Arial"/>
                <a:cs typeface="Arial"/>
              </a:rPr>
              <a:t>market.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10" b="1">
                <a:latin typeface="Arial"/>
                <a:cs typeface="Arial"/>
              </a:rPr>
              <a:t>Buying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decision</a:t>
            </a:r>
            <a:endParaRPr sz="1150">
              <a:latin typeface="Arial"/>
              <a:cs typeface="Arial"/>
            </a:endParaRPr>
          </a:p>
          <a:p>
            <a:pPr marL="12700" marR="5715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Last </a:t>
            </a:r>
            <a:r>
              <a:rPr dirty="0" sz="1150" spc="-45">
                <a:latin typeface="Arial"/>
                <a:cs typeface="Arial"/>
              </a:rPr>
              <a:t>step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buying decision </a:t>
            </a: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-25">
                <a:latin typeface="Arial"/>
                <a:cs typeface="Arial"/>
              </a:rPr>
              <a:t>finally </a:t>
            </a:r>
            <a:r>
              <a:rPr dirty="0" sz="1150" spc="-45">
                <a:latin typeface="Arial"/>
                <a:cs typeface="Arial"/>
              </a:rPr>
              <a:t>acquire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25">
                <a:latin typeface="Arial"/>
                <a:cs typeface="Arial"/>
              </a:rPr>
              <a:t>while  </a:t>
            </a:r>
            <a:r>
              <a:rPr dirty="0" sz="1150" spc="-55">
                <a:latin typeface="Arial"/>
                <a:cs typeface="Arial"/>
              </a:rPr>
              <a:t>paying </a:t>
            </a:r>
            <a:r>
              <a:rPr dirty="0" sz="1150" spc="-50">
                <a:latin typeface="Arial"/>
                <a:cs typeface="Arial"/>
              </a:rPr>
              <a:t>due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costs.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152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2" y="889511"/>
            <a:ext cx="5513705" cy="7333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635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31</a:t>
            </a:r>
            <a:endParaRPr sz="17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dirty="0" sz="1750" spc="-150" b="1">
                <a:latin typeface="Arial"/>
                <a:cs typeface="Arial"/>
              </a:rPr>
              <a:t>PROMOTION </a:t>
            </a:r>
            <a:r>
              <a:rPr dirty="0" sz="1750" spc="-35" b="1">
                <a:latin typeface="Arial"/>
                <a:cs typeface="Arial"/>
              </a:rPr>
              <a:t>&amp;</a:t>
            </a:r>
            <a:r>
              <a:rPr dirty="0" sz="1750" spc="-45" b="1">
                <a:latin typeface="Arial"/>
                <a:cs typeface="Arial"/>
              </a:rPr>
              <a:t> </a:t>
            </a:r>
            <a:r>
              <a:rPr dirty="0" sz="1750" spc="-200" b="1">
                <a:latin typeface="Arial"/>
                <a:cs typeface="Arial"/>
              </a:rPr>
              <a:t>ADVERTISEMENT</a:t>
            </a:r>
            <a:endParaRPr sz="175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1515"/>
              </a:spcBef>
              <a:buFont typeface="Symbol"/>
              <a:buChar char=""/>
              <a:tabLst>
                <a:tab pos="240665" algn="l"/>
                <a:tab pos="241300" algn="l"/>
              </a:tabLst>
            </a:pPr>
            <a:r>
              <a:rPr dirty="0" sz="1350" spc="-85" b="1">
                <a:latin typeface="Arial"/>
                <a:cs typeface="Arial"/>
              </a:rPr>
              <a:t>Promotional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00" b="1">
                <a:latin typeface="Arial"/>
                <a:cs typeface="Arial"/>
              </a:rPr>
              <a:t>Strategies</a:t>
            </a:r>
            <a:endParaRPr sz="1350">
              <a:latin typeface="Arial"/>
              <a:cs typeface="Arial"/>
            </a:endParaRPr>
          </a:p>
          <a:p>
            <a:pPr lvl="1" marL="1383665" marR="7620" indent="-299085">
              <a:lnSpc>
                <a:spcPct val="101899"/>
              </a:lnSpc>
              <a:spcBef>
                <a:spcPts val="1415"/>
              </a:spcBef>
              <a:buSzPct val="92000"/>
              <a:buFont typeface="Arial"/>
              <a:buAutoNum type="romanLcPeriod"/>
              <a:tabLst>
                <a:tab pos="1383665" algn="l"/>
                <a:tab pos="1384300" algn="l"/>
              </a:tabLst>
            </a:pPr>
            <a:r>
              <a:rPr dirty="0" sz="1250" spc="-150" b="1">
                <a:latin typeface="Arial"/>
                <a:cs typeface="Arial"/>
              </a:rPr>
              <a:t>A </a:t>
            </a:r>
            <a:r>
              <a:rPr dirty="0" sz="1250" spc="-125" b="1">
                <a:latin typeface="Arial"/>
                <a:cs typeface="Arial"/>
              </a:rPr>
              <a:t>push </a:t>
            </a:r>
            <a:r>
              <a:rPr dirty="0" sz="1250" spc="-85" b="1">
                <a:latin typeface="Arial"/>
                <a:cs typeface="Arial"/>
              </a:rPr>
              <a:t>strategy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promotional </a:t>
            </a:r>
            <a:r>
              <a:rPr dirty="0" sz="1150" spc="-50">
                <a:latin typeface="Arial"/>
                <a:cs typeface="Arial"/>
              </a:rPr>
              <a:t>approach </a:t>
            </a:r>
            <a:r>
              <a:rPr dirty="0" sz="1150" spc="-60">
                <a:latin typeface="Arial"/>
                <a:cs typeface="Arial"/>
              </a:rPr>
              <a:t>designed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motivate  </a:t>
            </a:r>
            <a:r>
              <a:rPr dirty="0" sz="1150" spc="-50">
                <a:latin typeface="Arial"/>
                <a:cs typeface="Arial"/>
              </a:rPr>
              <a:t>wholesalers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retailers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push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producer’s products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end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users.</a:t>
            </a:r>
            <a:endParaRPr sz="1150">
              <a:latin typeface="Arial"/>
              <a:cs typeface="Arial"/>
            </a:endParaRPr>
          </a:p>
          <a:p>
            <a:pPr lvl="1" marL="1383665" indent="-332740">
              <a:lnSpc>
                <a:spcPct val="100000"/>
              </a:lnSpc>
              <a:spcBef>
                <a:spcPts val="20"/>
              </a:spcBef>
              <a:buSzPct val="92000"/>
              <a:buFont typeface="Arial"/>
              <a:buAutoNum type="romanLcPeriod"/>
              <a:tabLst>
                <a:tab pos="1383665" algn="l"/>
                <a:tab pos="1384300" algn="l"/>
              </a:tabLst>
            </a:pPr>
            <a:r>
              <a:rPr dirty="0" sz="1250" spc="-150" b="1">
                <a:latin typeface="Arial"/>
                <a:cs typeface="Arial"/>
              </a:rPr>
              <a:t>A </a:t>
            </a:r>
            <a:r>
              <a:rPr dirty="0" sz="1250" spc="-70" b="1">
                <a:latin typeface="Arial"/>
                <a:cs typeface="Arial"/>
              </a:rPr>
              <a:t>pull </a:t>
            </a:r>
            <a:r>
              <a:rPr dirty="0" sz="1250" spc="-85" b="1">
                <a:latin typeface="Arial"/>
                <a:cs typeface="Arial"/>
              </a:rPr>
              <a:t>strategy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promotional </a:t>
            </a:r>
            <a:r>
              <a:rPr dirty="0" sz="1150" spc="-50">
                <a:latin typeface="Arial"/>
                <a:cs typeface="Arial"/>
              </a:rPr>
              <a:t>approach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5">
                <a:latin typeface="Arial"/>
                <a:cs typeface="Arial"/>
              </a:rPr>
              <a:t>stimulates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consumer</a:t>
            </a:r>
            <a:endParaRPr sz="1150">
              <a:latin typeface="Arial"/>
              <a:cs typeface="Arial"/>
            </a:endParaRPr>
          </a:p>
          <a:p>
            <a:pPr marL="1383665" marR="5080">
              <a:lnSpc>
                <a:spcPct val="101699"/>
              </a:lnSpc>
              <a:spcBef>
                <a:spcPts val="5"/>
              </a:spcBef>
            </a:pPr>
            <a:r>
              <a:rPr dirty="0" sz="1150" spc="-50">
                <a:latin typeface="Arial"/>
                <a:cs typeface="Arial"/>
              </a:rPr>
              <a:t>demand,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25">
                <a:latin typeface="Arial"/>
                <a:cs typeface="Arial"/>
              </a:rPr>
              <a:t>then </a:t>
            </a:r>
            <a:r>
              <a:rPr dirty="0" sz="1150" spc="-50">
                <a:latin typeface="Arial"/>
                <a:cs typeface="Arial"/>
              </a:rPr>
              <a:t>exerts </a:t>
            </a:r>
            <a:r>
              <a:rPr dirty="0" sz="1150" spc="-55">
                <a:latin typeface="Arial"/>
                <a:cs typeface="Arial"/>
              </a:rPr>
              <a:t>pressure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50">
                <a:latin typeface="Arial"/>
                <a:cs typeface="Arial"/>
              </a:rPr>
              <a:t>wholesalers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retailers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45">
                <a:latin typeface="Arial"/>
                <a:cs typeface="Arial"/>
              </a:rPr>
              <a:t>carry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product.</a:t>
            </a:r>
            <a:endParaRPr sz="1150">
              <a:latin typeface="Arial"/>
              <a:cs typeface="Arial"/>
            </a:endParaRPr>
          </a:p>
          <a:p>
            <a:pPr marL="1383665">
              <a:lnSpc>
                <a:spcPct val="100000"/>
              </a:lnSpc>
              <a:spcBef>
                <a:spcPts val="25"/>
              </a:spcBef>
            </a:pPr>
            <a:r>
              <a:rPr dirty="0" sz="1150" spc="-40">
                <a:latin typeface="Arial"/>
                <a:cs typeface="Arial"/>
              </a:rPr>
              <a:t>Many </a:t>
            </a:r>
            <a:r>
              <a:rPr dirty="0" sz="1150" spc="-25">
                <a:latin typeface="Arial"/>
                <a:cs typeface="Arial"/>
              </a:rPr>
              <a:t>firms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-40">
                <a:latin typeface="Arial"/>
                <a:cs typeface="Arial"/>
              </a:rPr>
              <a:t>combinations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these </a:t>
            </a:r>
            <a:r>
              <a:rPr dirty="0" sz="1150" spc="5">
                <a:latin typeface="Arial"/>
                <a:cs typeface="Arial"/>
              </a:rPr>
              <a:t>two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45">
                <a:latin typeface="Arial"/>
                <a:cs typeface="Arial"/>
              </a:rPr>
              <a:t>strategies.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240665" algn="l"/>
                <a:tab pos="241935" algn="l"/>
              </a:tabLst>
            </a:pPr>
            <a:r>
              <a:rPr dirty="0" sz="1350" spc="-85" b="1">
                <a:latin typeface="Arial"/>
                <a:cs typeface="Arial"/>
              </a:rPr>
              <a:t>Promotional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45" b="1">
                <a:latin typeface="Arial"/>
                <a:cs typeface="Arial"/>
              </a:rPr>
              <a:t>Mix</a:t>
            </a:r>
            <a:endParaRPr sz="13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1410"/>
              </a:spcBef>
            </a:pPr>
            <a:r>
              <a:rPr dirty="0" sz="1150" spc="-35">
                <a:latin typeface="Arial"/>
                <a:cs typeface="Arial"/>
              </a:rPr>
              <a:t>Marketers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-10">
                <a:latin typeface="Arial"/>
                <a:cs typeface="Arial"/>
              </a:rPr>
              <a:t>four </a:t>
            </a:r>
            <a:r>
              <a:rPr dirty="0" sz="1150" spc="-50">
                <a:latin typeface="Arial"/>
                <a:cs typeface="Arial"/>
              </a:rPr>
              <a:t>types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promotional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tools: </a:t>
            </a:r>
            <a:r>
              <a:rPr dirty="0" sz="1150" spc="-40">
                <a:latin typeface="Arial"/>
                <a:cs typeface="Arial"/>
              </a:rPr>
              <a:t>advertising, </a:t>
            </a:r>
            <a:r>
              <a:rPr dirty="0" sz="1150" spc="-50">
                <a:latin typeface="Arial"/>
                <a:cs typeface="Arial"/>
              </a:rPr>
              <a:t>personal </a:t>
            </a:r>
            <a:r>
              <a:rPr dirty="0" sz="1150" spc="-45">
                <a:latin typeface="Arial"/>
                <a:cs typeface="Arial"/>
              </a:rPr>
              <a:t>selling,  </a:t>
            </a:r>
            <a:r>
              <a:rPr dirty="0" sz="1150" spc="-85">
                <a:latin typeface="Arial"/>
                <a:cs typeface="Arial"/>
              </a:rPr>
              <a:t>sales  </a:t>
            </a:r>
            <a:r>
              <a:rPr dirty="0" sz="1150" spc="-30">
                <a:latin typeface="Arial"/>
                <a:cs typeface="Arial"/>
              </a:rPr>
              <a:t>promotions,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publicity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public </a:t>
            </a:r>
            <a:r>
              <a:rPr dirty="0" sz="1150" spc="-30">
                <a:latin typeface="Arial"/>
                <a:cs typeface="Arial"/>
              </a:rPr>
              <a:t>relations. </a:t>
            </a:r>
            <a:r>
              <a:rPr dirty="0" sz="1150" spc="-25">
                <a:latin typeface="Arial"/>
                <a:cs typeface="Arial"/>
              </a:rPr>
              <a:t>Market-related </a:t>
            </a:r>
            <a:r>
              <a:rPr dirty="0" sz="1150" spc="-35">
                <a:latin typeface="Arial"/>
                <a:cs typeface="Arial"/>
              </a:rPr>
              <a:t>factors influence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15">
                <a:latin typeface="Arial"/>
                <a:cs typeface="Arial"/>
              </a:rPr>
              <a:t>promotion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mix.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79375">
              <a:lnSpc>
                <a:spcPct val="100000"/>
              </a:lnSpc>
            </a:pPr>
            <a:r>
              <a:rPr dirty="0" sz="1150" spc="-85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best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combination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promotional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tools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will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depend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on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many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factors,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such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as: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lvl="1" marL="1384300" indent="-299720">
              <a:lnSpc>
                <a:spcPct val="100000"/>
              </a:lnSpc>
              <a:buAutoNum type="romanLcPeriod"/>
              <a:tabLst>
                <a:tab pos="1384935" algn="l"/>
              </a:tabLst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nature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</a:t>
            </a:r>
            <a:endParaRPr sz="1150">
              <a:latin typeface="Arial"/>
              <a:cs typeface="Arial"/>
            </a:endParaRPr>
          </a:p>
          <a:p>
            <a:pPr algn="just" lvl="1" marL="1384300" indent="-333375">
              <a:lnSpc>
                <a:spcPct val="100000"/>
              </a:lnSpc>
              <a:spcBef>
                <a:spcPts val="25"/>
              </a:spcBef>
              <a:buAutoNum type="romanLcPeriod"/>
              <a:tabLst>
                <a:tab pos="1384935" algn="l"/>
              </a:tabLst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Target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Audience</a:t>
            </a:r>
            <a:endParaRPr sz="1150">
              <a:latin typeface="Arial"/>
              <a:cs typeface="Arial"/>
            </a:endParaRPr>
          </a:p>
          <a:p>
            <a:pPr algn="just" lvl="1" marL="1384300" marR="5715" indent="-366395">
              <a:lnSpc>
                <a:spcPts val="1400"/>
              </a:lnSpc>
              <a:spcBef>
                <a:spcPts val="45"/>
              </a:spcBef>
              <a:buAutoNum type="romanLcPeriod"/>
              <a:tabLst>
                <a:tab pos="1384935" algn="l"/>
              </a:tabLst>
            </a:pPr>
            <a:r>
              <a:rPr dirty="0" sz="1150" spc="-30">
                <a:latin typeface="Arial"/>
                <a:cs typeface="Arial"/>
              </a:rPr>
              <a:t>Promotion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Buyer Decision </a:t>
            </a:r>
            <a:r>
              <a:rPr dirty="0" sz="1150" spc="-80">
                <a:latin typeface="Arial"/>
                <a:cs typeface="Arial"/>
              </a:rPr>
              <a:t>Process. This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five-step 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 spc="-20">
                <a:latin typeface="Arial"/>
                <a:cs typeface="Arial"/>
              </a:rPr>
              <a:t>outlined in </a:t>
            </a:r>
            <a:r>
              <a:rPr dirty="0" sz="1150" spc="-55">
                <a:latin typeface="Arial"/>
                <a:cs typeface="Arial"/>
              </a:rPr>
              <a:t>Chapter </a:t>
            </a:r>
            <a:r>
              <a:rPr dirty="0" sz="1150" spc="-45">
                <a:latin typeface="Arial"/>
                <a:cs typeface="Arial"/>
              </a:rPr>
              <a:t>10. </a:t>
            </a:r>
            <a:r>
              <a:rPr dirty="0" sz="1150" spc="-35">
                <a:latin typeface="Arial"/>
                <a:cs typeface="Arial"/>
              </a:rPr>
              <a:t>Marketers </a:t>
            </a:r>
            <a:r>
              <a:rPr dirty="0" sz="1150" spc="-40">
                <a:latin typeface="Arial"/>
                <a:cs typeface="Arial"/>
              </a:rPr>
              <a:t>match </a:t>
            </a:r>
            <a:r>
              <a:rPr dirty="0" sz="1150" spc="-15">
                <a:latin typeface="Arial"/>
                <a:cs typeface="Arial"/>
              </a:rPr>
              <a:t>promotion efforts 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75">
                <a:latin typeface="Arial"/>
                <a:cs typeface="Arial"/>
              </a:rPr>
              <a:t>stages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buying decision </a:t>
            </a:r>
            <a:r>
              <a:rPr dirty="0" sz="1150" spc="-65">
                <a:latin typeface="Arial"/>
                <a:cs typeface="Arial"/>
              </a:rPr>
              <a:t>process.</a:t>
            </a:r>
            <a:endParaRPr sz="1150">
              <a:latin typeface="Arial"/>
              <a:cs typeface="Arial"/>
            </a:endParaRPr>
          </a:p>
          <a:p>
            <a:pPr algn="just" lvl="1" marL="1384300" marR="5080" indent="-364490">
              <a:lnSpc>
                <a:spcPts val="1400"/>
              </a:lnSpc>
              <a:spcBef>
                <a:spcPts val="10"/>
              </a:spcBef>
              <a:buAutoNum type="romanLcPeriod"/>
              <a:tabLst>
                <a:tab pos="1384935" algn="l"/>
              </a:tabLst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Promotional </a:t>
            </a:r>
            <a:r>
              <a:rPr dirty="0" sz="1150" spc="-20">
                <a:latin typeface="Arial"/>
                <a:cs typeface="Arial"/>
              </a:rPr>
              <a:t>Mix </a:t>
            </a:r>
            <a:r>
              <a:rPr dirty="0" sz="1150" spc="-55">
                <a:latin typeface="Arial"/>
                <a:cs typeface="Arial"/>
              </a:rPr>
              <a:t>Budget.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combined </a:t>
            </a:r>
            <a:r>
              <a:rPr dirty="0" sz="1150" spc="-65">
                <a:latin typeface="Arial"/>
                <a:cs typeface="Arial"/>
              </a:rPr>
              <a:t>costs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personal selling,  </a:t>
            </a:r>
            <a:r>
              <a:rPr dirty="0" sz="1150" spc="-40">
                <a:latin typeface="Arial"/>
                <a:cs typeface="Arial"/>
              </a:rPr>
              <a:t>advertising, </a:t>
            </a:r>
            <a:r>
              <a:rPr dirty="0" sz="1150" spc="-80">
                <a:latin typeface="Arial"/>
                <a:cs typeface="Arial"/>
              </a:rPr>
              <a:t>sales </a:t>
            </a:r>
            <a:r>
              <a:rPr dirty="0" sz="1150" spc="-20">
                <a:latin typeface="Arial"/>
                <a:cs typeface="Arial"/>
              </a:rPr>
              <a:t>promotion,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public </a:t>
            </a:r>
            <a:r>
              <a:rPr dirty="0" sz="1150" spc="-30">
                <a:latin typeface="Arial"/>
                <a:cs typeface="Arial"/>
              </a:rPr>
              <a:t>relations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15">
                <a:latin typeface="Arial"/>
                <a:cs typeface="Arial"/>
              </a:rPr>
              <a:t>fall </a:t>
            </a:r>
            <a:r>
              <a:rPr dirty="0" sz="1150" spc="-5">
                <a:latin typeface="Arial"/>
                <a:cs typeface="Arial"/>
              </a:rPr>
              <a:t>within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the  </a:t>
            </a:r>
            <a:r>
              <a:rPr dirty="0" sz="1150" spc="-45">
                <a:latin typeface="Arial"/>
                <a:cs typeface="Arial"/>
              </a:rPr>
              <a:t>budgeted </a:t>
            </a:r>
            <a:r>
              <a:rPr dirty="0" sz="1150" spc="-30">
                <a:latin typeface="Arial"/>
                <a:cs typeface="Arial"/>
              </a:rPr>
              <a:t>amount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be </a:t>
            </a:r>
            <a:r>
              <a:rPr dirty="0" sz="1150" spc="-60">
                <a:latin typeface="Arial"/>
                <a:cs typeface="Arial"/>
              </a:rPr>
              <a:t>balanced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desired </a:t>
            </a:r>
            <a:r>
              <a:rPr dirty="0" sz="1150" spc="-35">
                <a:latin typeface="Arial"/>
                <a:cs typeface="Arial"/>
              </a:rPr>
              <a:t>effects on  </a:t>
            </a:r>
            <a:r>
              <a:rPr dirty="0" sz="1150" spc="-20">
                <a:latin typeface="Arial"/>
                <a:cs typeface="Arial"/>
              </a:rPr>
              <a:t>attitudes </a:t>
            </a:r>
            <a:r>
              <a:rPr dirty="0" sz="1150" spc="-55">
                <a:latin typeface="Arial"/>
                <a:cs typeface="Arial"/>
              </a:rPr>
              <a:t>and purchasing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decisions.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550" spc="-170" b="1">
                <a:latin typeface="Arial"/>
                <a:cs typeface="Arial"/>
              </a:rPr>
              <a:t>ADVERTISING</a:t>
            </a:r>
            <a:r>
              <a:rPr dirty="0" sz="1550" spc="-90" b="1">
                <a:latin typeface="Arial"/>
                <a:cs typeface="Arial"/>
              </a:rPr>
              <a:t> </a:t>
            </a:r>
            <a:r>
              <a:rPr dirty="0" sz="1550" spc="-135" b="1">
                <a:latin typeface="Arial"/>
                <a:cs typeface="Arial"/>
              </a:rPr>
              <a:t>PROMOTION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35">
                <a:latin typeface="Arial"/>
                <a:cs typeface="Arial"/>
              </a:rPr>
              <a:t>Promotional </a:t>
            </a:r>
            <a:r>
              <a:rPr dirty="0" sz="1150" spc="-5">
                <a:latin typeface="Arial"/>
                <a:cs typeface="Arial"/>
              </a:rPr>
              <a:t>tool </a:t>
            </a:r>
            <a:r>
              <a:rPr dirty="0" sz="1150" spc="-50">
                <a:latin typeface="Arial"/>
                <a:cs typeface="Arial"/>
              </a:rPr>
              <a:t>consisting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paid, </a:t>
            </a:r>
            <a:r>
              <a:rPr dirty="0" sz="1150" spc="-45">
                <a:latin typeface="Arial"/>
                <a:cs typeface="Arial"/>
              </a:rPr>
              <a:t>non-personal </a:t>
            </a:r>
            <a:r>
              <a:rPr dirty="0" sz="1150" spc="-35">
                <a:latin typeface="Arial"/>
                <a:cs typeface="Arial"/>
              </a:rPr>
              <a:t>communication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20">
                <a:latin typeface="Arial"/>
                <a:cs typeface="Arial"/>
              </a:rPr>
              <a:t>identified  </a:t>
            </a:r>
            <a:r>
              <a:rPr dirty="0" sz="1150" spc="-55">
                <a:latin typeface="Arial"/>
                <a:cs typeface="Arial"/>
              </a:rPr>
              <a:t>sponsor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inform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60">
                <a:latin typeface="Arial"/>
                <a:cs typeface="Arial"/>
              </a:rPr>
              <a:t>audience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product.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average </a:t>
            </a:r>
            <a:r>
              <a:rPr dirty="0" sz="1150" spc="-100">
                <a:latin typeface="Arial"/>
                <a:cs typeface="Arial"/>
              </a:rPr>
              <a:t>U.S. </a:t>
            </a:r>
            <a:r>
              <a:rPr dirty="0" sz="1150" spc="-35">
                <a:latin typeface="Arial"/>
                <a:cs typeface="Arial"/>
              </a:rPr>
              <a:t>resident </a:t>
            </a:r>
            <a:r>
              <a:rPr dirty="0" sz="1150" spc="-65">
                <a:latin typeface="Arial"/>
                <a:cs typeface="Arial"/>
              </a:rPr>
              <a:t>is exposed </a:t>
            </a:r>
            <a:r>
              <a:rPr dirty="0" sz="1150" spc="5">
                <a:latin typeface="Arial"/>
                <a:cs typeface="Arial"/>
              </a:rPr>
              <a:t>to  </a:t>
            </a:r>
            <a:r>
              <a:rPr dirty="0" sz="1150" spc="-40">
                <a:latin typeface="Arial"/>
                <a:cs typeface="Arial"/>
              </a:rPr>
              <a:t>roughly </a:t>
            </a:r>
            <a:r>
              <a:rPr dirty="0" sz="1150" spc="-55">
                <a:latin typeface="Arial"/>
                <a:cs typeface="Arial"/>
              </a:rPr>
              <a:t>250 </a:t>
            </a:r>
            <a:r>
              <a:rPr dirty="0" sz="1150" spc="-85">
                <a:latin typeface="Arial"/>
                <a:cs typeface="Arial"/>
              </a:rPr>
              <a:t>ads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60">
                <a:latin typeface="Arial"/>
                <a:cs typeface="Arial"/>
              </a:rPr>
              <a:t>day </a:t>
            </a:r>
            <a:r>
              <a:rPr dirty="0" sz="1150" spc="-25">
                <a:latin typeface="Arial"/>
                <a:cs typeface="Arial"/>
              </a:rPr>
              <a:t>through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variety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media—including </a:t>
            </a:r>
            <a:r>
              <a:rPr dirty="0" sz="1150" spc="-5">
                <a:latin typeface="Arial"/>
                <a:cs typeface="Arial"/>
              </a:rPr>
              <a:t>floor </a:t>
            </a:r>
            <a:r>
              <a:rPr dirty="0" sz="1150" spc="-70">
                <a:latin typeface="Arial"/>
                <a:cs typeface="Arial"/>
              </a:rPr>
              <a:t>ads. </a:t>
            </a:r>
            <a:r>
              <a:rPr dirty="0" sz="1150" spc="-30">
                <a:latin typeface="Arial"/>
                <a:cs typeface="Arial"/>
              </a:rPr>
              <a:t>All forms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40">
                <a:latin typeface="Arial"/>
                <a:cs typeface="Arial"/>
              </a:rPr>
              <a:t>advertising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20">
                <a:latin typeface="Arial"/>
                <a:cs typeface="Arial"/>
              </a:rPr>
              <a:t>three </a:t>
            </a:r>
            <a:r>
              <a:rPr dirty="0" sz="1150" spc="-40">
                <a:latin typeface="Arial"/>
                <a:cs typeface="Arial"/>
              </a:rPr>
              <a:t>objectives: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create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65">
                <a:latin typeface="Arial"/>
                <a:cs typeface="Arial"/>
              </a:rPr>
              <a:t>awareness,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create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maintain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60">
                <a:latin typeface="Arial"/>
                <a:cs typeface="Arial"/>
              </a:rPr>
              <a:t>image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product,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stimulate </a:t>
            </a:r>
            <a:r>
              <a:rPr dirty="0" sz="1150" spc="-55">
                <a:latin typeface="Arial"/>
                <a:cs typeface="Arial"/>
              </a:rPr>
              <a:t>consumer </a:t>
            </a:r>
            <a:r>
              <a:rPr dirty="0" sz="1150" spc="-50">
                <a:latin typeface="Arial"/>
                <a:cs typeface="Arial"/>
              </a:rPr>
              <a:t>demand.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30">
                <a:latin typeface="Arial"/>
                <a:cs typeface="Arial"/>
              </a:rPr>
              <a:t>only </a:t>
            </a:r>
            <a:r>
              <a:rPr dirty="0" sz="1150" spc="-40">
                <a:latin typeface="Arial"/>
                <a:cs typeface="Arial"/>
              </a:rPr>
              <a:t>determines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45">
                <a:latin typeface="Arial"/>
                <a:cs typeface="Arial"/>
              </a:rPr>
              <a:t>we  buy,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but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shapes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our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view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world.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153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57" y="891035"/>
            <a:ext cx="5514340" cy="50520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0" b="1">
                <a:latin typeface="Arial"/>
                <a:cs typeface="Arial"/>
              </a:rPr>
              <a:t>Advertising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469900" marR="6350" indent="-228600">
              <a:lnSpc>
                <a:spcPct val="101699"/>
              </a:lnSpc>
              <a:buAutoNum type="arabicParenR"/>
              <a:tabLst>
                <a:tab pos="470534" algn="l"/>
              </a:tabLst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best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promotion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reaching </a:t>
            </a:r>
            <a:r>
              <a:rPr dirty="0" sz="1150" spc="-100">
                <a:latin typeface="Arial"/>
                <a:cs typeface="Arial"/>
              </a:rPr>
              <a:t>mass </a:t>
            </a:r>
            <a:r>
              <a:rPr dirty="0" sz="1150" spc="-65">
                <a:latin typeface="Arial"/>
                <a:cs typeface="Arial"/>
              </a:rPr>
              <a:t>audiences </a:t>
            </a:r>
            <a:r>
              <a:rPr dirty="0" sz="1150" spc="-40">
                <a:latin typeface="Arial"/>
                <a:cs typeface="Arial"/>
              </a:rPr>
              <a:t>quickly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low </a:t>
            </a:r>
            <a:r>
              <a:rPr dirty="0" sz="1150" spc="-45">
                <a:latin typeface="Arial"/>
                <a:cs typeface="Arial"/>
              </a:rPr>
              <a:t>per-person  cost.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AutoNum type="arabicParenR"/>
              <a:tabLst>
                <a:tab pos="470534" algn="l"/>
              </a:tabLst>
            </a:pPr>
            <a:r>
              <a:rPr dirty="0" sz="1150" spc="-85">
                <a:latin typeface="Arial"/>
                <a:cs typeface="Arial"/>
              </a:rPr>
              <a:t>Gives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greatest </a:t>
            </a:r>
            <a:r>
              <a:rPr dirty="0" sz="1150" spc="-15">
                <a:latin typeface="Arial"/>
                <a:cs typeface="Arial"/>
              </a:rPr>
              <a:t>control </a:t>
            </a:r>
            <a:r>
              <a:rPr dirty="0" sz="1150" spc="-40">
                <a:latin typeface="Arial"/>
                <a:cs typeface="Arial"/>
              </a:rPr>
              <a:t>over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45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message.</a:t>
            </a:r>
            <a:endParaRPr sz="1150">
              <a:latin typeface="Arial"/>
              <a:cs typeface="Arial"/>
            </a:endParaRPr>
          </a:p>
          <a:p>
            <a:pPr marL="469900" marR="5080" indent="-229235">
              <a:lnSpc>
                <a:spcPct val="101699"/>
              </a:lnSpc>
              <a:buAutoNum type="arabicParenR"/>
              <a:tabLst>
                <a:tab pos="470534" algn="l"/>
              </a:tabLst>
            </a:pPr>
            <a:r>
              <a:rPr dirty="0" sz="1150" spc="-50">
                <a:latin typeface="Arial"/>
                <a:cs typeface="Arial"/>
              </a:rPr>
              <a:t>Promotes </a:t>
            </a:r>
            <a:r>
              <a:rPr dirty="0" sz="1150" spc="-65">
                <a:latin typeface="Arial"/>
                <a:cs typeface="Arial"/>
              </a:rPr>
              <a:t>goods, services,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0">
                <a:latin typeface="Arial"/>
                <a:cs typeface="Arial"/>
              </a:rPr>
              <a:t>ideas, using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">
                <a:latin typeface="Arial"/>
                <a:cs typeface="Arial"/>
              </a:rPr>
              <a:t>full </a:t>
            </a:r>
            <a:r>
              <a:rPr dirty="0" sz="1150" spc="-60">
                <a:latin typeface="Arial"/>
                <a:cs typeface="Arial"/>
              </a:rPr>
              <a:t>range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creative </a:t>
            </a:r>
            <a:r>
              <a:rPr dirty="0" sz="1150" spc="-60">
                <a:latin typeface="Arial"/>
                <a:cs typeface="Arial"/>
              </a:rPr>
              <a:t>approaches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50">
                <a:latin typeface="Arial"/>
                <a:cs typeface="Arial"/>
              </a:rPr>
              <a:t>media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convey </a:t>
            </a:r>
            <a:r>
              <a:rPr dirty="0" sz="1150" spc="-30">
                <a:latin typeface="Arial"/>
                <a:cs typeface="Arial"/>
              </a:rPr>
              <a:t>your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message.</a:t>
            </a:r>
            <a:endParaRPr sz="1150">
              <a:latin typeface="Arial"/>
              <a:cs typeface="Arial"/>
            </a:endParaRPr>
          </a:p>
          <a:p>
            <a:pPr marL="469900" marR="6350" indent="-228600">
              <a:lnSpc>
                <a:spcPct val="101699"/>
              </a:lnSpc>
              <a:buAutoNum type="arabicParenR"/>
              <a:tabLst>
                <a:tab pos="470534" algn="l"/>
              </a:tabLst>
            </a:pPr>
            <a:r>
              <a:rPr dirty="0" sz="1150" spc="-20">
                <a:latin typeface="Arial"/>
                <a:cs typeface="Arial"/>
              </a:rPr>
              <a:t>Must </a:t>
            </a:r>
            <a:r>
              <a:rPr dirty="0" sz="1150" spc="-30">
                <a:latin typeface="Arial"/>
                <a:cs typeface="Arial"/>
              </a:rPr>
              <a:t>conform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law,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15">
                <a:latin typeface="Arial"/>
                <a:cs typeface="Arial"/>
              </a:rPr>
              <a:t>well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ethical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moral </a:t>
            </a:r>
            <a:r>
              <a:rPr dirty="0" sz="1150" spc="-55">
                <a:latin typeface="Arial"/>
                <a:cs typeface="Arial"/>
              </a:rPr>
              <a:t>standards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medium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trade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associations.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AutoNum type="arabicParenR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50" spc="-170" b="1">
                <a:latin typeface="Arial"/>
                <a:cs typeface="Arial"/>
              </a:rPr>
              <a:t>ADVERTISING</a:t>
            </a:r>
            <a:r>
              <a:rPr dirty="0" sz="1550" spc="-90" b="1">
                <a:latin typeface="Arial"/>
                <a:cs typeface="Arial"/>
              </a:rPr>
              <a:t> </a:t>
            </a:r>
            <a:r>
              <a:rPr dirty="0" sz="1550" spc="-225" b="1">
                <a:latin typeface="Arial"/>
                <a:cs typeface="Arial"/>
              </a:rPr>
              <a:t>STRATEGIES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advertising </a:t>
            </a:r>
            <a:r>
              <a:rPr dirty="0" sz="1150" spc="-45">
                <a:latin typeface="Arial"/>
                <a:cs typeface="Arial"/>
              </a:rPr>
              <a:t>strategies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30">
                <a:latin typeface="Arial"/>
                <a:cs typeface="Arial"/>
              </a:rPr>
              <a:t>most </a:t>
            </a:r>
            <a:r>
              <a:rPr dirty="0" sz="1150" spc="-10">
                <a:latin typeface="Arial"/>
                <a:cs typeface="Arial"/>
              </a:rPr>
              <a:t>often </a:t>
            </a:r>
            <a:r>
              <a:rPr dirty="0" sz="1150" spc="-50">
                <a:latin typeface="Arial"/>
                <a:cs typeface="Arial"/>
              </a:rPr>
              <a:t>depend </a:t>
            </a:r>
            <a:r>
              <a:rPr dirty="0" sz="1150" spc="-35">
                <a:latin typeface="Arial"/>
                <a:cs typeface="Arial"/>
              </a:rPr>
              <a:t>on which </a:t>
            </a:r>
            <a:r>
              <a:rPr dirty="0" sz="1150" spc="-65">
                <a:latin typeface="Arial"/>
                <a:cs typeface="Arial"/>
              </a:rPr>
              <a:t>stage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10">
                <a:latin typeface="Arial"/>
                <a:cs typeface="Arial"/>
              </a:rPr>
              <a:t>life </a:t>
            </a:r>
            <a:r>
              <a:rPr dirty="0" sz="1150" spc="-60">
                <a:latin typeface="Arial"/>
                <a:cs typeface="Arial"/>
              </a:rPr>
              <a:t>cycle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5">
                <a:latin typeface="Arial"/>
                <a:cs typeface="Arial"/>
              </a:rPr>
              <a:t>in. </a:t>
            </a:r>
            <a:r>
              <a:rPr dirty="0" sz="1150" spc="-50">
                <a:latin typeface="Arial"/>
                <a:cs typeface="Arial"/>
              </a:rPr>
              <a:t>During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product's </a:t>
            </a:r>
            <a:r>
              <a:rPr dirty="0" sz="1150" spc="-20">
                <a:latin typeface="Arial"/>
                <a:cs typeface="Arial"/>
              </a:rPr>
              <a:t>growth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maturity </a:t>
            </a:r>
            <a:r>
              <a:rPr dirty="0" sz="1150" spc="-70">
                <a:latin typeface="Arial"/>
                <a:cs typeface="Arial"/>
              </a:rPr>
              <a:t>stages,  </a:t>
            </a:r>
            <a:r>
              <a:rPr dirty="0" sz="1150" spc="-40">
                <a:latin typeface="Arial"/>
                <a:cs typeface="Arial"/>
              </a:rPr>
              <a:t>marketers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70">
                <a:latin typeface="Arial"/>
                <a:cs typeface="Arial"/>
              </a:rPr>
              <a:t>choose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three </a:t>
            </a:r>
            <a:r>
              <a:rPr dirty="0" sz="1150" spc="-50">
                <a:latin typeface="Arial"/>
                <a:cs typeface="Arial"/>
              </a:rPr>
              <a:t>common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approaches: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lvl="1" marL="1384300" marR="6350" indent="-299085">
              <a:lnSpc>
                <a:spcPct val="101499"/>
              </a:lnSpc>
              <a:spcBef>
                <a:spcPts val="5"/>
              </a:spcBef>
              <a:buSzPct val="85185"/>
              <a:buFont typeface="Arial"/>
              <a:buAutoNum type="romanLcPeriod"/>
              <a:tabLst>
                <a:tab pos="1384935" algn="l"/>
              </a:tabLst>
            </a:pPr>
            <a:r>
              <a:rPr dirty="0" sz="1350" spc="-114" b="1">
                <a:latin typeface="Arial"/>
                <a:cs typeface="Arial"/>
              </a:rPr>
              <a:t>Persuasive </a:t>
            </a:r>
            <a:r>
              <a:rPr dirty="0" sz="1350" spc="-75" b="1">
                <a:latin typeface="Arial"/>
                <a:cs typeface="Arial"/>
              </a:rPr>
              <a:t>Advertising</a:t>
            </a:r>
            <a:r>
              <a:rPr dirty="0" sz="1150" spc="-75">
                <a:latin typeface="Arial"/>
                <a:cs typeface="Arial"/>
              </a:rPr>
              <a:t>—advertising </a:t>
            </a:r>
            <a:r>
              <a:rPr dirty="0" sz="1150" spc="-40">
                <a:latin typeface="Arial"/>
                <a:cs typeface="Arial"/>
              </a:rPr>
              <a:t>strategy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5">
                <a:latin typeface="Arial"/>
                <a:cs typeface="Arial"/>
              </a:rPr>
              <a:t>tries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35">
                <a:latin typeface="Arial"/>
                <a:cs typeface="Arial"/>
              </a:rPr>
              <a:t>influence </a:t>
            </a:r>
            <a:r>
              <a:rPr dirty="0" sz="1150" spc="-65">
                <a:latin typeface="Arial"/>
                <a:cs typeface="Arial"/>
              </a:rPr>
              <a:t>consumers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buy one </a:t>
            </a:r>
            <a:r>
              <a:rPr dirty="0" sz="1150" spc="-55">
                <a:latin typeface="Arial"/>
                <a:cs typeface="Arial"/>
              </a:rPr>
              <a:t>company's </a:t>
            </a:r>
            <a:r>
              <a:rPr dirty="0" sz="1150" spc="-40">
                <a:latin typeface="Arial"/>
                <a:cs typeface="Arial"/>
              </a:rPr>
              <a:t>products instead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those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rivals.</a:t>
            </a:r>
            <a:endParaRPr sz="1150">
              <a:latin typeface="Arial"/>
              <a:cs typeface="Arial"/>
            </a:endParaRPr>
          </a:p>
          <a:p>
            <a:pPr algn="just" lvl="1" marL="1384300" marR="7620" indent="-332740">
              <a:lnSpc>
                <a:spcPct val="101200"/>
              </a:lnSpc>
              <a:spcBef>
                <a:spcPts val="5"/>
              </a:spcBef>
              <a:buSzPct val="85185"/>
              <a:buFont typeface="Arial"/>
              <a:buAutoNum type="romanLcPeriod"/>
              <a:tabLst>
                <a:tab pos="1384935" algn="l"/>
              </a:tabLst>
            </a:pPr>
            <a:r>
              <a:rPr dirty="0" sz="1350" spc="-95" b="1">
                <a:latin typeface="Arial"/>
                <a:cs typeface="Arial"/>
              </a:rPr>
              <a:t>Comparative</a:t>
            </a:r>
            <a:r>
              <a:rPr dirty="0" sz="1350" spc="185" b="1">
                <a:latin typeface="Arial"/>
                <a:cs typeface="Arial"/>
              </a:rPr>
              <a:t> </a:t>
            </a:r>
            <a:r>
              <a:rPr dirty="0" sz="1350" spc="-75" b="1">
                <a:latin typeface="Arial"/>
                <a:cs typeface="Arial"/>
              </a:rPr>
              <a:t>Advertising</a:t>
            </a:r>
            <a:r>
              <a:rPr dirty="0" sz="1150" spc="-75">
                <a:latin typeface="Arial"/>
                <a:cs typeface="Arial"/>
              </a:rPr>
              <a:t>—advertising </a:t>
            </a:r>
            <a:r>
              <a:rPr dirty="0" sz="1150" spc="-40">
                <a:latin typeface="Arial"/>
                <a:cs typeface="Arial"/>
              </a:rPr>
              <a:t>strategy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directly  </a:t>
            </a:r>
            <a:r>
              <a:rPr dirty="0" sz="1150" spc="-60">
                <a:latin typeface="Arial"/>
                <a:cs typeface="Arial"/>
              </a:rPr>
              <a:t>compares </a:t>
            </a:r>
            <a:r>
              <a:rPr dirty="0" sz="1150">
                <a:latin typeface="Arial"/>
                <a:cs typeface="Arial"/>
              </a:rPr>
              <a:t>two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more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products.</a:t>
            </a:r>
            <a:endParaRPr sz="1150">
              <a:latin typeface="Arial"/>
              <a:cs typeface="Arial"/>
            </a:endParaRPr>
          </a:p>
          <a:p>
            <a:pPr algn="just" lvl="1" marL="1384300" marR="5080" indent="-365760">
              <a:lnSpc>
                <a:spcPct val="101200"/>
              </a:lnSpc>
              <a:spcBef>
                <a:spcPts val="10"/>
              </a:spcBef>
              <a:buSzPct val="85185"/>
              <a:buFont typeface="Arial"/>
              <a:buAutoNum type="romanLcPeriod"/>
              <a:tabLst>
                <a:tab pos="1384935" algn="l"/>
              </a:tabLst>
            </a:pPr>
            <a:r>
              <a:rPr dirty="0" sz="1350" spc="-95" b="1">
                <a:latin typeface="Arial"/>
                <a:cs typeface="Arial"/>
              </a:rPr>
              <a:t>Reminder </a:t>
            </a:r>
            <a:r>
              <a:rPr dirty="0" sz="1350" spc="-75" b="1">
                <a:latin typeface="Arial"/>
                <a:cs typeface="Arial"/>
              </a:rPr>
              <a:t>Advertising</a:t>
            </a:r>
            <a:r>
              <a:rPr dirty="0" sz="1150" spc="-75">
                <a:latin typeface="Arial"/>
                <a:cs typeface="Arial"/>
              </a:rPr>
              <a:t>—advertising </a:t>
            </a:r>
            <a:r>
              <a:rPr dirty="0" sz="1150" spc="-40">
                <a:latin typeface="Arial"/>
                <a:cs typeface="Arial"/>
              </a:rPr>
              <a:t>strategy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5">
                <a:latin typeface="Arial"/>
                <a:cs typeface="Arial"/>
              </a:rPr>
              <a:t>tries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keep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30">
                <a:latin typeface="Arial"/>
                <a:cs typeface="Arial"/>
              </a:rPr>
              <a:t>product's </a:t>
            </a:r>
            <a:r>
              <a:rPr dirty="0" sz="1150" spc="-60">
                <a:latin typeface="Arial"/>
                <a:cs typeface="Arial"/>
              </a:rPr>
              <a:t>name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55">
                <a:latin typeface="Arial"/>
                <a:cs typeface="Arial"/>
              </a:rPr>
              <a:t>consumer's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mind.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45" b="1">
                <a:latin typeface="Arial"/>
                <a:cs typeface="Arial"/>
              </a:rPr>
              <a:t>ADVERTISING</a:t>
            </a:r>
            <a:r>
              <a:rPr dirty="0" sz="1350" spc="-90" b="1">
                <a:latin typeface="Arial"/>
                <a:cs typeface="Arial"/>
              </a:rPr>
              <a:t> </a:t>
            </a:r>
            <a:r>
              <a:rPr dirty="0" sz="1350" spc="-100" b="1">
                <a:latin typeface="Arial"/>
                <a:cs typeface="Arial"/>
              </a:rPr>
              <a:t>MEDIA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40">
                <a:latin typeface="Arial"/>
                <a:cs typeface="Arial"/>
              </a:rPr>
              <a:t>Variety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communication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devices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carrying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seller's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message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potential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customers: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154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01870" y="6098541"/>
            <a:ext cx="9588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59079" y="6098541"/>
            <a:ext cx="3684904" cy="269748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715">
              <a:lnSpc>
                <a:spcPct val="101699"/>
              </a:lnSpc>
              <a:spcBef>
                <a:spcPts val="75"/>
              </a:spcBef>
            </a:pPr>
            <a:r>
              <a:rPr dirty="0" sz="1150" spc="-85" b="1">
                <a:latin typeface="Arial"/>
                <a:cs typeface="Arial"/>
              </a:rPr>
              <a:t>Television </a:t>
            </a:r>
            <a:r>
              <a:rPr dirty="0" sz="1150" spc="-50">
                <a:latin typeface="Arial"/>
                <a:cs typeface="Arial"/>
              </a:rPr>
              <a:t>sometimes </a:t>
            </a:r>
            <a:r>
              <a:rPr dirty="0" sz="1150" spc="-70">
                <a:latin typeface="Arial"/>
                <a:cs typeface="Arial"/>
              </a:rPr>
              <a:t>leads </a:t>
            </a:r>
            <a:r>
              <a:rPr dirty="0" sz="1150" spc="-45">
                <a:latin typeface="Arial"/>
                <a:cs typeface="Arial"/>
              </a:rPr>
              <a:t>viewers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confuse commercials 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25">
                <a:latin typeface="Arial"/>
                <a:cs typeface="Arial"/>
              </a:rPr>
              <a:t>brevity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great </a:t>
            </a:r>
            <a:r>
              <a:rPr dirty="0" sz="1150" spc="-35">
                <a:latin typeface="Arial"/>
                <a:cs typeface="Arial"/>
              </a:rPr>
              <a:t>number.</a:t>
            </a:r>
            <a:endParaRPr sz="115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  <a:spcBef>
                <a:spcPts val="5"/>
              </a:spcBef>
            </a:pPr>
            <a:r>
              <a:rPr dirty="0" sz="1150" spc="-80" b="1">
                <a:latin typeface="Arial"/>
                <a:cs typeface="Arial"/>
              </a:rPr>
              <a:t>Newspapers</a:t>
            </a:r>
            <a:r>
              <a:rPr dirty="0" sz="1150" spc="-80">
                <a:latin typeface="Arial"/>
                <a:cs typeface="Arial"/>
              </a:rPr>
              <a:t>—the </a:t>
            </a:r>
            <a:r>
              <a:rPr dirty="0" sz="1150" spc="-35">
                <a:latin typeface="Arial"/>
                <a:cs typeface="Arial"/>
              </a:rPr>
              <a:t>most </a:t>
            </a:r>
            <a:r>
              <a:rPr dirty="0" sz="1150" spc="-30">
                <a:latin typeface="Arial"/>
                <a:cs typeface="Arial"/>
              </a:rPr>
              <a:t>widely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40">
                <a:latin typeface="Arial"/>
                <a:cs typeface="Arial"/>
              </a:rPr>
              <a:t>medium, </a:t>
            </a:r>
            <a:r>
              <a:rPr dirty="0" sz="1150" spc="-50">
                <a:latin typeface="Arial"/>
                <a:cs typeface="Arial"/>
              </a:rPr>
              <a:t>accounting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55">
                <a:latin typeface="Arial"/>
                <a:cs typeface="Arial"/>
              </a:rPr>
              <a:t>20 </a:t>
            </a:r>
            <a:r>
              <a:rPr dirty="0" sz="1150" spc="-35">
                <a:latin typeface="Arial"/>
                <a:cs typeface="Arial"/>
              </a:rPr>
              <a:t>percent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40">
                <a:latin typeface="Arial"/>
                <a:cs typeface="Arial"/>
              </a:rPr>
              <a:t>advertising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expenditures.</a:t>
            </a:r>
            <a:endParaRPr sz="115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65" b="1">
                <a:latin typeface="Arial"/>
                <a:cs typeface="Arial"/>
              </a:rPr>
              <a:t>Direct </a:t>
            </a:r>
            <a:r>
              <a:rPr dirty="0" sz="1150" spc="-40" b="1">
                <a:latin typeface="Arial"/>
                <a:cs typeface="Arial"/>
              </a:rPr>
              <a:t>Mail</a:t>
            </a:r>
            <a:r>
              <a:rPr dirty="0" sz="1150" spc="-40">
                <a:latin typeface="Arial"/>
                <a:cs typeface="Arial"/>
              </a:rPr>
              <a:t>—about </a:t>
            </a:r>
            <a:r>
              <a:rPr dirty="0" sz="1150" spc="-65">
                <a:latin typeface="Arial"/>
                <a:cs typeface="Arial"/>
              </a:rPr>
              <a:t>18 </a:t>
            </a:r>
            <a:r>
              <a:rPr dirty="0" sz="1150" spc="-35">
                <a:latin typeface="Arial"/>
                <a:cs typeface="Arial"/>
              </a:rPr>
              <a:t>percent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65">
                <a:latin typeface="Arial"/>
                <a:cs typeface="Arial"/>
              </a:rPr>
              <a:t>ad </a:t>
            </a:r>
            <a:r>
              <a:rPr dirty="0" sz="1150" spc="-55">
                <a:latin typeface="Arial"/>
                <a:cs typeface="Arial"/>
              </a:rPr>
              <a:t>spending. </a:t>
            </a:r>
            <a:r>
              <a:rPr dirty="0" sz="1150" spc="-35">
                <a:latin typeface="Arial"/>
                <a:cs typeface="Arial"/>
              </a:rPr>
              <a:t>Direct </a:t>
            </a:r>
            <a:r>
              <a:rPr dirty="0" sz="1150" spc="-30">
                <a:latin typeface="Arial"/>
                <a:cs typeface="Arial"/>
              </a:rPr>
              <a:t>mail 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largest </a:t>
            </a:r>
            <a:r>
              <a:rPr dirty="0" sz="1150" spc="-70">
                <a:latin typeface="Arial"/>
                <a:cs typeface="Arial"/>
              </a:rPr>
              <a:t>advance </a:t>
            </a:r>
            <a:r>
              <a:rPr dirty="0" sz="1150" spc="-65">
                <a:latin typeface="Arial"/>
                <a:cs typeface="Arial"/>
              </a:rPr>
              <a:t>costs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40">
                <a:latin typeface="Arial"/>
                <a:cs typeface="Arial"/>
              </a:rPr>
              <a:t>technique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5">
                <a:latin typeface="Arial"/>
                <a:cs typeface="Arial"/>
              </a:rPr>
              <a:t>highest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cost-effectiveness.</a:t>
            </a:r>
            <a:endParaRPr sz="115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80" b="1">
                <a:latin typeface="Arial"/>
                <a:cs typeface="Arial"/>
              </a:rPr>
              <a:t>Radio</a:t>
            </a:r>
            <a:r>
              <a:rPr dirty="0" sz="1150" spc="-80">
                <a:latin typeface="Arial"/>
                <a:cs typeface="Arial"/>
              </a:rPr>
              <a:t>-8 </a:t>
            </a:r>
            <a:r>
              <a:rPr dirty="0" sz="1150" spc="-35">
                <a:latin typeface="Arial"/>
                <a:cs typeface="Arial"/>
              </a:rPr>
              <a:t>percent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45">
                <a:latin typeface="Arial"/>
                <a:cs typeface="Arial"/>
              </a:rPr>
              <a:t>advertising </a:t>
            </a:r>
            <a:r>
              <a:rPr dirty="0" sz="1150" spc="-40">
                <a:latin typeface="Arial"/>
                <a:cs typeface="Arial"/>
              </a:rPr>
              <a:t>outlays. </a:t>
            </a:r>
            <a:r>
              <a:rPr dirty="0" sz="1150" spc="-75">
                <a:latin typeface="Arial"/>
                <a:cs typeface="Arial"/>
              </a:rPr>
              <a:t>Radio </a:t>
            </a:r>
            <a:r>
              <a:rPr dirty="0" sz="1150" spc="-90">
                <a:latin typeface="Arial"/>
                <a:cs typeface="Arial"/>
              </a:rPr>
              <a:t>ads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quite  </a:t>
            </a:r>
            <a:r>
              <a:rPr dirty="0" sz="1150" spc="-55">
                <a:latin typeface="Arial"/>
                <a:cs typeface="Arial"/>
              </a:rPr>
              <a:t>inexpensive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85">
                <a:latin typeface="Arial"/>
                <a:cs typeface="Arial"/>
              </a:rPr>
              <a:t>easy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65">
                <a:latin typeface="Arial"/>
                <a:cs typeface="Arial"/>
              </a:rPr>
              <a:t>consumers </a:t>
            </a:r>
            <a:r>
              <a:rPr dirty="0" sz="1150" spc="5">
                <a:latin typeface="Arial"/>
                <a:cs typeface="Arial"/>
              </a:rPr>
              <a:t>to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ignore.</a:t>
            </a:r>
            <a:endParaRPr sz="115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70" b="1">
                <a:latin typeface="Arial"/>
                <a:cs typeface="Arial"/>
              </a:rPr>
              <a:t>Magazines</a:t>
            </a:r>
            <a:r>
              <a:rPr dirty="0" sz="1150" spc="-70">
                <a:latin typeface="Arial"/>
                <a:cs typeface="Arial"/>
              </a:rPr>
              <a:t>—roughly </a:t>
            </a:r>
            <a:r>
              <a:rPr dirty="0" sz="1150" spc="-60">
                <a:latin typeface="Arial"/>
                <a:cs typeface="Arial"/>
              </a:rPr>
              <a:t>5 </a:t>
            </a:r>
            <a:r>
              <a:rPr dirty="0" sz="1150" spc="-35">
                <a:latin typeface="Arial"/>
                <a:cs typeface="Arial"/>
              </a:rPr>
              <a:t>percent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40">
                <a:latin typeface="Arial"/>
                <a:cs typeface="Arial"/>
              </a:rPr>
              <a:t>advertising. </a:t>
            </a:r>
            <a:r>
              <a:rPr dirty="0" sz="1150" spc="-85">
                <a:latin typeface="Arial"/>
                <a:cs typeface="Arial"/>
              </a:rPr>
              <a:t>Huge  </a:t>
            </a:r>
            <a:r>
              <a:rPr dirty="0" sz="1150" spc="-30">
                <a:latin typeface="Arial"/>
                <a:cs typeface="Arial"/>
              </a:rPr>
              <a:t>variety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magazines </a:t>
            </a:r>
            <a:r>
              <a:rPr dirty="0" sz="1150" spc="-80">
                <a:latin typeface="Arial"/>
                <a:cs typeface="Arial"/>
              </a:rPr>
              <a:t>makes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high </a:t>
            </a:r>
            <a:r>
              <a:rPr dirty="0" sz="1150" spc="-40">
                <a:latin typeface="Arial"/>
                <a:cs typeface="Arial"/>
              </a:rPr>
              <a:t>level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ready </a:t>
            </a:r>
            <a:r>
              <a:rPr dirty="0" sz="1150" spc="-30">
                <a:latin typeface="Arial"/>
                <a:cs typeface="Arial"/>
              </a:rPr>
              <a:t>market  </a:t>
            </a:r>
            <a:r>
              <a:rPr dirty="0" sz="1150" spc="-40">
                <a:latin typeface="Arial"/>
                <a:cs typeface="Arial"/>
              </a:rPr>
              <a:t>segmentation.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70" b="1">
                <a:latin typeface="Arial"/>
                <a:cs typeface="Arial"/>
              </a:rPr>
              <a:t>Outdoor Advertising</a:t>
            </a:r>
            <a:r>
              <a:rPr dirty="0" sz="1150" spc="-70">
                <a:latin typeface="Arial"/>
                <a:cs typeface="Arial"/>
              </a:rPr>
              <a:t>—about </a:t>
            </a:r>
            <a:r>
              <a:rPr dirty="0" sz="1150" spc="-60">
                <a:latin typeface="Arial"/>
                <a:cs typeface="Arial"/>
              </a:rPr>
              <a:t>1 </a:t>
            </a:r>
            <a:r>
              <a:rPr dirty="0" sz="1150" spc="-35">
                <a:latin typeface="Arial"/>
                <a:cs typeface="Arial"/>
              </a:rPr>
              <a:t>percent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40">
                <a:latin typeface="Arial"/>
                <a:cs typeface="Arial"/>
              </a:rPr>
              <a:t>advertising.  </a:t>
            </a:r>
            <a:r>
              <a:rPr dirty="0" sz="1150" spc="-45">
                <a:latin typeface="Arial"/>
                <a:cs typeface="Arial"/>
              </a:rPr>
              <a:t>Billboards, </a:t>
            </a:r>
            <a:r>
              <a:rPr dirty="0" sz="1150" spc="-70">
                <a:latin typeface="Arial"/>
                <a:cs typeface="Arial"/>
              </a:rPr>
              <a:t>signs, </a:t>
            </a:r>
            <a:r>
              <a:rPr dirty="0" sz="1150" spc="-85">
                <a:latin typeface="Arial"/>
                <a:cs typeface="Arial"/>
              </a:rPr>
              <a:t>ads </a:t>
            </a:r>
            <a:r>
              <a:rPr dirty="0" sz="1150" spc="-40">
                <a:latin typeface="Arial"/>
                <a:cs typeface="Arial"/>
              </a:rPr>
              <a:t>on </a:t>
            </a:r>
            <a:r>
              <a:rPr dirty="0" sz="1150" spc="-75">
                <a:latin typeface="Arial"/>
                <a:cs typeface="Arial"/>
              </a:rPr>
              <a:t>buses, </a:t>
            </a:r>
            <a:r>
              <a:rPr dirty="0" sz="1150" spc="-45">
                <a:latin typeface="Arial"/>
                <a:cs typeface="Arial"/>
              </a:rPr>
              <a:t>taxis, </a:t>
            </a:r>
            <a:r>
              <a:rPr dirty="0" sz="1150" spc="-50">
                <a:latin typeface="Arial"/>
                <a:cs typeface="Arial"/>
              </a:rPr>
              <a:t>stadiums, </a:t>
            </a:r>
            <a:r>
              <a:rPr dirty="0" sz="1150" spc="-30">
                <a:latin typeface="Arial"/>
                <a:cs typeface="Arial"/>
              </a:rPr>
              <a:t>etc. </a:t>
            </a:r>
            <a:r>
              <a:rPr dirty="0" sz="1150" spc="-50">
                <a:latin typeface="Arial"/>
                <a:cs typeface="Arial"/>
              </a:rPr>
              <a:t>are  </a:t>
            </a:r>
            <a:r>
              <a:rPr dirty="0" sz="1150" spc="-55">
                <a:latin typeface="Arial"/>
                <a:cs typeface="Arial"/>
              </a:rPr>
              <a:t>inexpensive and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50">
                <a:latin typeface="Arial"/>
                <a:cs typeface="Arial"/>
              </a:rPr>
              <a:t>high </a:t>
            </a:r>
            <a:r>
              <a:rPr dirty="0" sz="1150" spc="-35">
                <a:latin typeface="Arial"/>
                <a:cs typeface="Arial"/>
              </a:rPr>
              <a:t>repeat </a:t>
            </a:r>
            <a:r>
              <a:rPr dirty="0" sz="1150" spc="-55">
                <a:latin typeface="Arial"/>
                <a:cs typeface="Arial"/>
              </a:rPr>
              <a:t>exposure. </a:t>
            </a:r>
            <a:r>
              <a:rPr dirty="0" sz="1150" spc="-20">
                <a:latin typeface="Arial"/>
                <a:cs typeface="Arial"/>
              </a:rPr>
              <a:t>It's</a:t>
            </a:r>
            <a:r>
              <a:rPr dirty="0" sz="1150" spc="1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growing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01876" y="6455157"/>
            <a:ext cx="129539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01876" y="6811773"/>
            <a:ext cx="1631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01876" y="7346697"/>
            <a:ext cx="16192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65">
                <a:latin typeface="Arial"/>
                <a:cs typeface="Arial"/>
              </a:rPr>
              <a:t>v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01874" y="7703312"/>
            <a:ext cx="12827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65">
                <a:latin typeface="Arial"/>
                <a:cs typeface="Arial"/>
              </a:rPr>
              <a:t>v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01876" y="8238236"/>
            <a:ext cx="16192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65">
                <a:latin typeface="Arial"/>
                <a:cs typeface="Arial"/>
              </a:rPr>
              <a:t>v</a:t>
            </a: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959098" y="892559"/>
            <a:ext cx="3682365" cy="7359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30">
                <a:latin typeface="Arial"/>
                <a:cs typeface="Arial"/>
              </a:rPr>
              <a:t>faster than </a:t>
            </a:r>
            <a:r>
              <a:rPr dirty="0" sz="1150" spc="-60">
                <a:latin typeface="Arial"/>
                <a:cs typeface="Arial"/>
              </a:rPr>
              <a:t>newspapers, </a:t>
            </a:r>
            <a:r>
              <a:rPr dirty="0" sz="1150" spc="-70">
                <a:latin typeface="Arial"/>
                <a:cs typeface="Arial"/>
              </a:rPr>
              <a:t>magazines,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television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offers  animation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changing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images.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90" b="1">
                <a:latin typeface="Arial"/>
                <a:cs typeface="Arial"/>
              </a:rPr>
              <a:t>The </a:t>
            </a:r>
            <a:r>
              <a:rPr dirty="0" sz="1150" spc="-45" b="1">
                <a:latin typeface="Arial"/>
                <a:cs typeface="Arial"/>
              </a:rPr>
              <a:t>Internet</a:t>
            </a:r>
            <a:r>
              <a:rPr dirty="0" sz="1150" spc="-45">
                <a:latin typeface="Arial"/>
                <a:cs typeface="Arial"/>
              </a:rPr>
              <a:t>—Still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40">
                <a:latin typeface="Arial"/>
                <a:cs typeface="Arial"/>
              </a:rPr>
              <a:t>infancy </a:t>
            </a:r>
            <a:r>
              <a:rPr dirty="0" sz="1150" spc="-5">
                <a:latin typeface="Arial"/>
                <a:cs typeface="Arial"/>
              </a:rPr>
              <a:t>but </a:t>
            </a:r>
            <a:r>
              <a:rPr dirty="0" sz="1150" spc="-30">
                <a:latin typeface="Arial"/>
                <a:cs typeface="Arial"/>
              </a:rPr>
              <a:t>offers </a:t>
            </a:r>
            <a:r>
              <a:rPr dirty="0" sz="1150" spc="-45">
                <a:latin typeface="Arial"/>
                <a:cs typeface="Arial"/>
              </a:rPr>
              <a:t>high </a:t>
            </a:r>
            <a:r>
              <a:rPr dirty="0" sz="1150" spc="-20">
                <a:latin typeface="Arial"/>
                <a:cs typeface="Arial"/>
              </a:rPr>
              <a:t>potential,  </a:t>
            </a:r>
            <a:r>
              <a:rPr dirty="0" sz="1150" spc="-25">
                <a:latin typeface="Arial"/>
                <a:cs typeface="Arial"/>
              </a:rPr>
              <a:t>particularly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targeted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advertising.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155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01899" y="1249175"/>
            <a:ext cx="19494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65">
                <a:latin typeface="Arial"/>
                <a:cs typeface="Arial"/>
              </a:rPr>
              <a:t>v</a:t>
            </a:r>
            <a:r>
              <a:rPr dirty="0" sz="1150">
                <a:latin typeface="Arial"/>
                <a:cs typeface="Arial"/>
              </a:rPr>
              <a:t>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0319" y="1782574"/>
            <a:ext cx="5511165" cy="425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10" b="1">
                <a:latin typeface="Arial"/>
                <a:cs typeface="Arial"/>
              </a:rPr>
              <a:t>The </a:t>
            </a:r>
            <a:r>
              <a:rPr dirty="0" sz="1350" spc="-50" b="1">
                <a:latin typeface="Arial"/>
                <a:cs typeface="Arial"/>
              </a:rPr>
              <a:t>Media</a:t>
            </a:r>
            <a:r>
              <a:rPr dirty="0" sz="1350" spc="-70" b="1">
                <a:latin typeface="Arial"/>
                <a:cs typeface="Arial"/>
              </a:rPr>
              <a:t> </a:t>
            </a:r>
            <a:r>
              <a:rPr dirty="0" sz="1350" spc="-40" b="1">
                <a:latin typeface="Arial"/>
                <a:cs typeface="Arial"/>
              </a:rPr>
              <a:t>Mix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Combination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advertising </a:t>
            </a:r>
            <a:r>
              <a:rPr dirty="0" sz="1150" spc="-50">
                <a:latin typeface="Arial"/>
                <a:cs typeface="Arial"/>
              </a:rPr>
              <a:t>media </a:t>
            </a:r>
            <a:r>
              <a:rPr dirty="0" sz="1150" spc="-70">
                <a:latin typeface="Arial"/>
                <a:cs typeface="Arial"/>
              </a:rPr>
              <a:t>chosen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advertise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company's </a:t>
            </a:r>
            <a:r>
              <a:rPr dirty="0" sz="1150" spc="-35">
                <a:latin typeface="Arial"/>
                <a:cs typeface="Arial"/>
              </a:rPr>
              <a:t>products, </a:t>
            </a:r>
            <a:r>
              <a:rPr dirty="0" sz="1150" spc="-40">
                <a:latin typeface="Arial"/>
                <a:cs typeface="Arial"/>
              </a:rPr>
              <a:t>Determinants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Media </a:t>
            </a:r>
            <a:r>
              <a:rPr dirty="0" sz="1150" spc="-20">
                <a:latin typeface="Arial"/>
                <a:cs typeface="Arial"/>
              </a:rPr>
              <a:t>Mix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include: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marL="2298700" marR="5080" indent="-228600">
              <a:lnSpc>
                <a:spcPct val="101699"/>
              </a:lnSpc>
              <a:buSzPct val="86956"/>
              <a:buFont typeface="Wingdings"/>
              <a:buChar char=""/>
              <a:tabLst>
                <a:tab pos="2298065" algn="l"/>
                <a:tab pos="2299335" algn="l"/>
              </a:tabLst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characteristics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target </a:t>
            </a:r>
            <a:r>
              <a:rPr dirty="0" sz="1150" spc="-55">
                <a:latin typeface="Arial"/>
                <a:cs typeface="Arial"/>
              </a:rPr>
              <a:t>audience and </a:t>
            </a:r>
            <a:r>
              <a:rPr dirty="0" sz="1150" spc="-15">
                <a:latin typeface="Arial"/>
                <a:cs typeface="Arial"/>
              </a:rPr>
              <a:t>the  </a:t>
            </a:r>
            <a:r>
              <a:rPr dirty="0" sz="1150" spc="-50">
                <a:latin typeface="Arial"/>
                <a:cs typeface="Arial"/>
              </a:rPr>
              <a:t>types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media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will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reach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determined.</a:t>
            </a:r>
            <a:endParaRPr sz="1150">
              <a:latin typeface="Arial"/>
              <a:cs typeface="Arial"/>
            </a:endParaRPr>
          </a:p>
          <a:p>
            <a:pPr marL="2298700" marR="5080" indent="-228600">
              <a:lnSpc>
                <a:spcPct val="101699"/>
              </a:lnSpc>
              <a:buSzPct val="86956"/>
              <a:buFont typeface="Wingdings"/>
              <a:buChar char=""/>
              <a:tabLst>
                <a:tab pos="2298065" algn="l"/>
                <a:tab pos="2299335" algn="l"/>
              </a:tabLst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choice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media </a:t>
            </a:r>
            <a:r>
              <a:rPr dirty="0" sz="1150" spc="-65">
                <a:latin typeface="Arial"/>
                <a:cs typeface="Arial"/>
              </a:rPr>
              <a:t>is also </a:t>
            </a:r>
            <a:r>
              <a:rPr dirty="0" sz="1150" spc="-30">
                <a:latin typeface="Arial"/>
                <a:cs typeface="Arial"/>
              </a:rPr>
              <a:t>determined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0">
                <a:latin typeface="Arial"/>
                <a:cs typeface="Arial"/>
              </a:rPr>
              <a:t>is  </a:t>
            </a:r>
            <a:r>
              <a:rPr dirty="0" sz="1150" spc="-50">
                <a:latin typeface="Arial"/>
                <a:cs typeface="Arial"/>
              </a:rPr>
              <a:t>expected </a:t>
            </a:r>
            <a:r>
              <a:rPr dirty="0" sz="1150" spc="5">
                <a:latin typeface="Arial"/>
                <a:cs typeface="Arial"/>
              </a:rPr>
              <a:t>to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do.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45" b="1">
                <a:latin typeface="Arial"/>
                <a:cs typeface="Arial"/>
              </a:rPr>
              <a:t>ADVERTISING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95" b="1">
                <a:latin typeface="Arial"/>
                <a:cs typeface="Arial"/>
              </a:rPr>
              <a:t>AGENCY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 spc="-35">
                <a:latin typeface="Arial"/>
                <a:cs typeface="Arial"/>
              </a:rPr>
              <a:t>Independent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company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5">
                <a:latin typeface="Arial"/>
                <a:cs typeface="Arial"/>
              </a:rPr>
              <a:t>that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40">
                <a:latin typeface="Arial"/>
                <a:cs typeface="Arial"/>
              </a:rPr>
              <a:t>provides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65">
                <a:latin typeface="Arial"/>
                <a:cs typeface="Arial"/>
              </a:rPr>
              <a:t>some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or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all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5">
                <a:latin typeface="Arial"/>
                <a:cs typeface="Arial"/>
              </a:rPr>
              <a:t>of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80">
                <a:latin typeface="Arial"/>
                <a:cs typeface="Arial"/>
              </a:rPr>
              <a:t>a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client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5">
                <a:latin typeface="Arial"/>
                <a:cs typeface="Arial"/>
              </a:rPr>
              <a:t>firm's</a:t>
            </a:r>
            <a:r>
              <a:rPr dirty="0" sz="1050" spc="-75">
                <a:latin typeface="Arial"/>
                <a:cs typeface="Arial"/>
              </a:rPr>
              <a:t> </a:t>
            </a:r>
            <a:r>
              <a:rPr dirty="0" sz="1050" spc="-40">
                <a:latin typeface="Arial"/>
                <a:cs typeface="Arial"/>
              </a:rPr>
              <a:t>advertising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60">
                <a:latin typeface="Arial"/>
                <a:cs typeface="Arial"/>
              </a:rPr>
              <a:t>needs.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50" spc="-95" b="1">
                <a:latin typeface="Arial"/>
                <a:cs typeface="Arial"/>
              </a:rPr>
              <a:t>Preparing </a:t>
            </a:r>
            <a:r>
              <a:rPr dirty="0" sz="1250" spc="-50" b="1">
                <a:latin typeface="Arial"/>
                <a:cs typeface="Arial"/>
              </a:rPr>
              <a:t>the </a:t>
            </a:r>
            <a:r>
              <a:rPr dirty="0" sz="1250" spc="-114" b="1">
                <a:latin typeface="Arial"/>
                <a:cs typeface="Arial"/>
              </a:rPr>
              <a:t>Campaign </a:t>
            </a:r>
            <a:r>
              <a:rPr dirty="0" sz="1250" spc="-40" b="1">
                <a:latin typeface="Arial"/>
                <a:cs typeface="Arial"/>
              </a:rPr>
              <a:t>with </a:t>
            </a:r>
            <a:r>
              <a:rPr dirty="0" sz="1250" spc="-95" b="1">
                <a:latin typeface="Arial"/>
                <a:cs typeface="Arial"/>
              </a:rPr>
              <a:t>an Advertising</a:t>
            </a:r>
            <a:r>
              <a:rPr dirty="0" sz="1250" spc="10" b="1">
                <a:latin typeface="Arial"/>
                <a:cs typeface="Arial"/>
              </a:rPr>
              <a:t> </a:t>
            </a:r>
            <a:r>
              <a:rPr dirty="0" sz="1250" spc="-130" b="1">
                <a:latin typeface="Arial"/>
                <a:cs typeface="Arial"/>
              </a:rPr>
              <a:t>Agency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spc="-40">
                <a:latin typeface="Arial"/>
                <a:cs typeface="Arial"/>
              </a:rPr>
              <a:t>Advertising </a:t>
            </a:r>
            <a:r>
              <a:rPr dirty="0" sz="1050" spc="-70">
                <a:latin typeface="Arial"/>
                <a:cs typeface="Arial"/>
              </a:rPr>
              <a:t>Campaign </a:t>
            </a:r>
            <a:r>
              <a:rPr dirty="0" sz="1050" spc="-100">
                <a:latin typeface="Arial"/>
                <a:cs typeface="Arial"/>
              </a:rPr>
              <a:t>— </a:t>
            </a:r>
            <a:r>
              <a:rPr dirty="0" sz="1050" spc="-40">
                <a:latin typeface="Arial"/>
                <a:cs typeface="Arial"/>
              </a:rPr>
              <a:t>arrangement </a:t>
            </a:r>
            <a:r>
              <a:rPr dirty="0" sz="1050" spc="-5">
                <a:latin typeface="Arial"/>
                <a:cs typeface="Arial"/>
              </a:rPr>
              <a:t>of </a:t>
            </a:r>
            <a:r>
              <a:rPr dirty="0" sz="1050" spc="-80">
                <a:latin typeface="Arial"/>
                <a:cs typeface="Arial"/>
              </a:rPr>
              <a:t>ads </a:t>
            </a:r>
            <a:r>
              <a:rPr dirty="0" sz="1050" spc="-15">
                <a:latin typeface="Arial"/>
                <a:cs typeface="Arial"/>
              </a:rPr>
              <a:t>in </a:t>
            </a:r>
            <a:r>
              <a:rPr dirty="0" sz="1050" spc="-50">
                <a:latin typeface="Arial"/>
                <a:cs typeface="Arial"/>
              </a:rPr>
              <a:t>selected </a:t>
            </a:r>
            <a:r>
              <a:rPr dirty="0" sz="1050" spc="-45">
                <a:latin typeface="Arial"/>
                <a:cs typeface="Arial"/>
              </a:rPr>
              <a:t>media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55">
                <a:latin typeface="Arial"/>
                <a:cs typeface="Arial"/>
              </a:rPr>
              <a:t>reach </a:t>
            </a:r>
            <a:r>
              <a:rPr dirty="0" sz="1050" spc="-30">
                <a:latin typeface="Arial"/>
                <a:cs typeface="Arial"/>
              </a:rPr>
              <a:t>targeted </a:t>
            </a:r>
            <a:r>
              <a:rPr dirty="0" sz="1050" spc="-55">
                <a:latin typeface="Arial"/>
                <a:cs typeface="Arial"/>
              </a:rPr>
              <a:t>audiences.</a:t>
            </a:r>
            <a:r>
              <a:rPr dirty="0" sz="1050" spc="-180">
                <a:latin typeface="Arial"/>
                <a:cs typeface="Arial"/>
              </a:rPr>
              <a:t> </a:t>
            </a:r>
            <a:r>
              <a:rPr dirty="0" sz="1050" spc="5">
                <a:latin typeface="Arial"/>
                <a:cs typeface="Arial"/>
              </a:rPr>
              <a:t>It: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Arial"/>
              <a:cs typeface="Arial"/>
            </a:endParaRPr>
          </a:p>
          <a:p>
            <a:pPr marL="106680" indent="-94615">
              <a:lnSpc>
                <a:spcPct val="100000"/>
              </a:lnSpc>
              <a:buAutoNum type="romanLcPeriod"/>
              <a:tabLst>
                <a:tab pos="107314" algn="l"/>
              </a:tabLst>
            </a:pPr>
            <a:r>
              <a:rPr dirty="0" sz="1050" spc="-15">
                <a:latin typeface="Arial"/>
                <a:cs typeface="Arial"/>
              </a:rPr>
              <a:t>Identify the </a:t>
            </a:r>
            <a:r>
              <a:rPr dirty="0" sz="1050" spc="-20">
                <a:latin typeface="Arial"/>
                <a:cs typeface="Arial"/>
              </a:rPr>
              <a:t>target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0">
                <a:latin typeface="Arial"/>
                <a:cs typeface="Arial"/>
              </a:rPr>
              <a:t>audience</a:t>
            </a:r>
            <a:endParaRPr sz="1050">
              <a:latin typeface="Arial"/>
              <a:cs typeface="Arial"/>
            </a:endParaRPr>
          </a:p>
          <a:p>
            <a:pPr marL="137160" indent="-125095">
              <a:lnSpc>
                <a:spcPct val="100000"/>
              </a:lnSpc>
              <a:spcBef>
                <a:spcPts val="25"/>
              </a:spcBef>
              <a:buAutoNum type="romanLcPeriod"/>
              <a:tabLst>
                <a:tab pos="137795" algn="l"/>
              </a:tabLst>
            </a:pPr>
            <a:r>
              <a:rPr dirty="0" sz="1050" spc="-60">
                <a:latin typeface="Arial"/>
                <a:cs typeface="Arial"/>
              </a:rPr>
              <a:t>Establish </a:t>
            </a:r>
            <a:r>
              <a:rPr dirty="0" sz="1050" spc="-15">
                <a:latin typeface="Arial"/>
                <a:cs typeface="Arial"/>
              </a:rPr>
              <a:t>the </a:t>
            </a:r>
            <a:r>
              <a:rPr dirty="0" sz="1050" spc="-40">
                <a:latin typeface="Arial"/>
                <a:cs typeface="Arial"/>
              </a:rPr>
              <a:t>advertising</a:t>
            </a:r>
            <a:r>
              <a:rPr dirty="0" sz="1050" spc="-90">
                <a:latin typeface="Arial"/>
                <a:cs typeface="Arial"/>
              </a:rPr>
              <a:t> </a:t>
            </a:r>
            <a:r>
              <a:rPr dirty="0" sz="1050" spc="-35">
                <a:latin typeface="Arial"/>
                <a:cs typeface="Arial"/>
              </a:rPr>
              <a:t>budget</a:t>
            </a:r>
            <a:endParaRPr sz="1050">
              <a:latin typeface="Arial"/>
              <a:cs typeface="Arial"/>
            </a:endParaRPr>
          </a:p>
          <a:p>
            <a:pPr marL="167640" indent="-155575">
              <a:lnSpc>
                <a:spcPct val="100000"/>
              </a:lnSpc>
              <a:spcBef>
                <a:spcPts val="25"/>
              </a:spcBef>
              <a:buAutoNum type="romanLcPeriod"/>
              <a:tabLst>
                <a:tab pos="168275" algn="l"/>
              </a:tabLst>
            </a:pPr>
            <a:r>
              <a:rPr dirty="0" sz="1050" spc="-40">
                <a:latin typeface="Arial"/>
                <a:cs typeface="Arial"/>
              </a:rPr>
              <a:t>Define </a:t>
            </a:r>
            <a:r>
              <a:rPr dirty="0" sz="1050" spc="-20">
                <a:latin typeface="Arial"/>
                <a:cs typeface="Arial"/>
              </a:rPr>
              <a:t>the </a:t>
            </a:r>
            <a:r>
              <a:rPr dirty="0" sz="1050" spc="-40">
                <a:latin typeface="Arial"/>
                <a:cs typeface="Arial"/>
              </a:rPr>
              <a:t>objectives </a:t>
            </a:r>
            <a:r>
              <a:rPr dirty="0" sz="1050" spc="-5">
                <a:latin typeface="Arial"/>
                <a:cs typeface="Arial"/>
              </a:rPr>
              <a:t>of </a:t>
            </a:r>
            <a:r>
              <a:rPr dirty="0" sz="1050" spc="-20">
                <a:latin typeface="Arial"/>
                <a:cs typeface="Arial"/>
              </a:rPr>
              <a:t>the </a:t>
            </a:r>
            <a:r>
              <a:rPr dirty="0" sz="1050" spc="-40">
                <a:latin typeface="Arial"/>
                <a:cs typeface="Arial"/>
              </a:rPr>
              <a:t>advertising</a:t>
            </a:r>
            <a:r>
              <a:rPr dirty="0" sz="1050" spc="-195">
                <a:latin typeface="Arial"/>
                <a:cs typeface="Arial"/>
              </a:rPr>
              <a:t> </a:t>
            </a:r>
            <a:r>
              <a:rPr dirty="0" sz="1050" spc="-85">
                <a:latin typeface="Arial"/>
                <a:cs typeface="Arial"/>
              </a:rPr>
              <a:t>messages</a:t>
            </a:r>
            <a:endParaRPr sz="1050">
              <a:latin typeface="Arial"/>
              <a:cs typeface="Arial"/>
            </a:endParaRPr>
          </a:p>
          <a:p>
            <a:pPr marL="167640" indent="-155575">
              <a:lnSpc>
                <a:spcPct val="100000"/>
              </a:lnSpc>
              <a:spcBef>
                <a:spcPts val="10"/>
              </a:spcBef>
              <a:buAutoNum type="romanLcPeriod"/>
              <a:tabLst>
                <a:tab pos="168275" algn="l"/>
              </a:tabLst>
            </a:pPr>
            <a:r>
              <a:rPr dirty="0" sz="1050" spc="-60">
                <a:latin typeface="Arial"/>
                <a:cs typeface="Arial"/>
              </a:rPr>
              <a:t>Create </a:t>
            </a:r>
            <a:r>
              <a:rPr dirty="0" sz="1050" spc="-15">
                <a:latin typeface="Arial"/>
                <a:cs typeface="Arial"/>
              </a:rPr>
              <a:t>the </a:t>
            </a:r>
            <a:r>
              <a:rPr dirty="0" sz="1050" spc="-40">
                <a:latin typeface="Arial"/>
                <a:cs typeface="Arial"/>
              </a:rPr>
              <a:t>advertising</a:t>
            </a:r>
            <a:r>
              <a:rPr dirty="0" sz="1050" spc="-100">
                <a:latin typeface="Arial"/>
                <a:cs typeface="Arial"/>
              </a:rPr>
              <a:t> </a:t>
            </a:r>
            <a:r>
              <a:rPr dirty="0" sz="1050" spc="-90">
                <a:latin typeface="Arial"/>
                <a:cs typeface="Arial"/>
              </a:rPr>
              <a:t>messages</a:t>
            </a:r>
            <a:endParaRPr sz="1050">
              <a:latin typeface="Arial"/>
              <a:cs typeface="Arial"/>
            </a:endParaRPr>
          </a:p>
          <a:p>
            <a:pPr marL="137160" indent="-125095">
              <a:lnSpc>
                <a:spcPct val="100000"/>
              </a:lnSpc>
              <a:spcBef>
                <a:spcPts val="25"/>
              </a:spcBef>
              <a:buAutoNum type="romanLcPeriod"/>
              <a:tabLst>
                <a:tab pos="137795" algn="l"/>
              </a:tabLst>
            </a:pPr>
            <a:r>
              <a:rPr dirty="0" sz="1050" spc="-60">
                <a:latin typeface="Arial"/>
                <a:cs typeface="Arial"/>
              </a:rPr>
              <a:t>Select </a:t>
            </a:r>
            <a:r>
              <a:rPr dirty="0" sz="1050" spc="-15">
                <a:latin typeface="Arial"/>
                <a:cs typeface="Arial"/>
              </a:rPr>
              <a:t>the </a:t>
            </a:r>
            <a:r>
              <a:rPr dirty="0" sz="1050" spc="-30">
                <a:latin typeface="Arial"/>
                <a:cs typeface="Arial"/>
              </a:rPr>
              <a:t>appropriate</a:t>
            </a:r>
            <a:r>
              <a:rPr dirty="0" sz="1050" spc="-100">
                <a:latin typeface="Arial"/>
                <a:cs typeface="Arial"/>
              </a:rPr>
              <a:t> </a:t>
            </a:r>
            <a:r>
              <a:rPr dirty="0" sz="1050" spc="-45">
                <a:latin typeface="Arial"/>
                <a:cs typeface="Arial"/>
              </a:rPr>
              <a:t>media</a:t>
            </a:r>
            <a:endParaRPr sz="1050">
              <a:latin typeface="Arial"/>
              <a:cs typeface="Arial"/>
            </a:endParaRPr>
          </a:p>
          <a:p>
            <a:pPr marL="167640" indent="-155575">
              <a:lnSpc>
                <a:spcPct val="100000"/>
              </a:lnSpc>
              <a:spcBef>
                <a:spcPts val="25"/>
              </a:spcBef>
              <a:buAutoNum type="romanLcPeriod"/>
              <a:tabLst>
                <a:tab pos="168275" algn="l"/>
              </a:tabLst>
            </a:pPr>
            <a:r>
              <a:rPr dirty="0" sz="1050" spc="-60">
                <a:latin typeface="Arial"/>
                <a:cs typeface="Arial"/>
              </a:rPr>
              <a:t>Evaluate </a:t>
            </a:r>
            <a:r>
              <a:rPr dirty="0" sz="1050" spc="-40">
                <a:latin typeface="Arial"/>
                <a:cs typeface="Arial"/>
              </a:rPr>
              <a:t>advertising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45">
                <a:latin typeface="Arial"/>
                <a:cs typeface="Arial"/>
              </a:rPr>
              <a:t>effectiveness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38" y="889511"/>
            <a:ext cx="5462905" cy="81191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635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32</a:t>
            </a:r>
            <a:endParaRPr sz="1750">
              <a:latin typeface="Arial"/>
              <a:cs typeface="Arial"/>
            </a:endParaRPr>
          </a:p>
          <a:p>
            <a:pPr algn="ctr" marL="47625">
              <a:lnSpc>
                <a:spcPct val="100000"/>
              </a:lnSpc>
              <a:spcBef>
                <a:spcPts val="1440"/>
              </a:spcBef>
            </a:pPr>
            <a:r>
              <a:rPr dirty="0" sz="1750" spc="-254" b="1">
                <a:latin typeface="Arial"/>
                <a:cs typeface="Arial"/>
              </a:rPr>
              <a:t>PERSONAL</a:t>
            </a:r>
            <a:r>
              <a:rPr dirty="0" sz="1750" spc="-95" b="1">
                <a:latin typeface="Arial"/>
                <a:cs typeface="Arial"/>
              </a:rPr>
              <a:t> </a:t>
            </a:r>
            <a:r>
              <a:rPr dirty="0" sz="1750" spc="-245" b="1">
                <a:latin typeface="Arial"/>
                <a:cs typeface="Arial"/>
              </a:rPr>
              <a:t>SELLING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dirty="0" sz="1250" spc="-95" b="1">
                <a:latin typeface="Arial"/>
                <a:cs typeface="Arial"/>
              </a:rPr>
              <a:t>Preparing </a:t>
            </a:r>
            <a:r>
              <a:rPr dirty="0" sz="1250" spc="-50" b="1">
                <a:latin typeface="Arial"/>
                <a:cs typeface="Arial"/>
              </a:rPr>
              <a:t>the </a:t>
            </a:r>
            <a:r>
              <a:rPr dirty="0" sz="1250" spc="-114" b="1">
                <a:latin typeface="Arial"/>
                <a:cs typeface="Arial"/>
              </a:rPr>
              <a:t>Campaign </a:t>
            </a:r>
            <a:r>
              <a:rPr dirty="0" sz="1250" spc="-40" b="1">
                <a:latin typeface="Arial"/>
                <a:cs typeface="Arial"/>
              </a:rPr>
              <a:t>with </a:t>
            </a:r>
            <a:r>
              <a:rPr dirty="0" sz="1250" spc="-95" b="1">
                <a:latin typeface="Arial"/>
                <a:cs typeface="Arial"/>
              </a:rPr>
              <a:t>an Advertising</a:t>
            </a:r>
            <a:r>
              <a:rPr dirty="0" sz="1250" spc="10" b="1">
                <a:latin typeface="Arial"/>
                <a:cs typeface="Arial"/>
              </a:rPr>
              <a:t> </a:t>
            </a:r>
            <a:r>
              <a:rPr dirty="0" sz="1250" spc="-130" b="1">
                <a:latin typeface="Arial"/>
                <a:cs typeface="Arial"/>
              </a:rPr>
              <a:t>Agency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spc="15">
                <a:latin typeface="Arial"/>
                <a:cs typeface="Arial"/>
              </a:rPr>
              <a:t>It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45">
                <a:latin typeface="Arial"/>
                <a:cs typeface="Arial"/>
              </a:rPr>
              <a:t>includes: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Arial"/>
              <a:cs typeface="Arial"/>
            </a:endParaRPr>
          </a:p>
          <a:p>
            <a:pPr marL="109855" indent="-97790">
              <a:lnSpc>
                <a:spcPct val="100000"/>
              </a:lnSpc>
              <a:spcBef>
                <a:spcPts val="5"/>
              </a:spcBef>
              <a:buFont typeface="Arial"/>
              <a:buAutoNum type="romanLcPeriod"/>
              <a:tabLst>
                <a:tab pos="110489" algn="l"/>
              </a:tabLst>
            </a:pPr>
            <a:r>
              <a:rPr dirty="0" sz="1050" spc="-50" b="1">
                <a:latin typeface="Arial"/>
                <a:cs typeface="Arial"/>
              </a:rPr>
              <a:t>Identify </a:t>
            </a:r>
            <a:r>
              <a:rPr dirty="0" sz="1050" spc="-40" b="1">
                <a:latin typeface="Arial"/>
                <a:cs typeface="Arial"/>
              </a:rPr>
              <a:t>the </a:t>
            </a:r>
            <a:r>
              <a:rPr dirty="0" sz="1050" spc="-50" b="1">
                <a:latin typeface="Arial"/>
                <a:cs typeface="Arial"/>
              </a:rPr>
              <a:t>target</a:t>
            </a:r>
            <a:r>
              <a:rPr dirty="0" sz="1050" spc="-95" b="1">
                <a:latin typeface="Arial"/>
                <a:cs typeface="Arial"/>
              </a:rPr>
              <a:t> </a:t>
            </a:r>
            <a:r>
              <a:rPr dirty="0" sz="1050" spc="-80" b="1">
                <a:latin typeface="Arial"/>
                <a:cs typeface="Arial"/>
              </a:rPr>
              <a:t>audience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AutoNum type="romanLcPeriod"/>
            </a:pPr>
            <a:endParaRPr sz="110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buAutoNum type="alphaLcPeriod"/>
              <a:tabLst>
                <a:tab pos="469265" algn="l"/>
                <a:tab pos="470534" algn="l"/>
              </a:tabLst>
            </a:pPr>
            <a:r>
              <a:rPr dirty="0" sz="1050" spc="-50">
                <a:latin typeface="Arial"/>
                <a:cs typeface="Arial"/>
              </a:rPr>
              <a:t>Education</a:t>
            </a:r>
            <a:r>
              <a:rPr dirty="0" sz="1050" spc="-114">
                <a:latin typeface="Arial"/>
                <a:cs typeface="Arial"/>
              </a:rPr>
              <a:t> </a:t>
            </a:r>
            <a:r>
              <a:rPr dirty="0" sz="1050" spc="-105">
                <a:latin typeface="Arial"/>
                <a:cs typeface="Arial"/>
              </a:rPr>
              <a:t>Class</a:t>
            </a:r>
            <a:endParaRPr sz="105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spcBef>
                <a:spcPts val="15"/>
              </a:spcBef>
              <a:buAutoNum type="alphaLcPeriod"/>
              <a:tabLst>
                <a:tab pos="470534" algn="l"/>
              </a:tabLst>
            </a:pPr>
            <a:r>
              <a:rPr dirty="0" sz="1050" spc="-50">
                <a:latin typeface="Arial"/>
                <a:cs typeface="Arial"/>
              </a:rPr>
              <a:t>Income </a:t>
            </a:r>
            <a:r>
              <a:rPr dirty="0" sz="1050" spc="-105">
                <a:latin typeface="Arial"/>
                <a:cs typeface="Arial"/>
              </a:rPr>
              <a:t>Class</a:t>
            </a:r>
            <a:endParaRPr sz="105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spcBef>
                <a:spcPts val="20"/>
              </a:spcBef>
              <a:buAutoNum type="alphaLcPeriod"/>
              <a:tabLst>
                <a:tab pos="469265" algn="l"/>
                <a:tab pos="470534" algn="l"/>
              </a:tabLst>
            </a:pPr>
            <a:r>
              <a:rPr dirty="0" sz="1050" spc="-55">
                <a:latin typeface="Arial"/>
                <a:cs typeface="Arial"/>
              </a:rPr>
              <a:t>Area (Rural </a:t>
            </a:r>
            <a:r>
              <a:rPr dirty="0" sz="1050" spc="-20">
                <a:latin typeface="Arial"/>
                <a:cs typeface="Arial"/>
              </a:rPr>
              <a:t>or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40">
                <a:latin typeface="Arial"/>
                <a:cs typeface="Arial"/>
              </a:rPr>
              <a:t>urban)</a:t>
            </a:r>
            <a:endParaRPr sz="105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470534" algn="l"/>
              </a:tabLst>
            </a:pPr>
            <a:r>
              <a:rPr dirty="0" sz="1050" spc="-85">
                <a:latin typeface="Arial"/>
                <a:cs typeface="Arial"/>
              </a:rPr>
              <a:t>Age</a:t>
            </a:r>
            <a:endParaRPr sz="105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469265" algn="l"/>
                <a:tab pos="470534" algn="l"/>
              </a:tabLst>
            </a:pPr>
            <a:r>
              <a:rPr dirty="0" sz="1050" spc="-70">
                <a:latin typeface="Arial"/>
                <a:cs typeface="Arial"/>
              </a:rPr>
              <a:t>Social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5">
                <a:latin typeface="Arial"/>
                <a:cs typeface="Arial"/>
              </a:rPr>
              <a:t>Class</a:t>
            </a:r>
            <a:endParaRPr sz="1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Arial"/>
              <a:buAutoNum type="alphaLcPeriod"/>
            </a:pPr>
            <a:endParaRPr sz="1100">
              <a:latin typeface="Arial"/>
              <a:cs typeface="Arial"/>
            </a:endParaRPr>
          </a:p>
          <a:p>
            <a:pPr marL="137160" indent="-125095">
              <a:lnSpc>
                <a:spcPct val="100000"/>
              </a:lnSpc>
              <a:buFont typeface="Arial"/>
              <a:buAutoNum type="romanLcPeriod"/>
              <a:tabLst>
                <a:tab pos="137795" algn="l"/>
              </a:tabLst>
            </a:pPr>
            <a:r>
              <a:rPr dirty="0" sz="1050" spc="-90" b="1">
                <a:latin typeface="Arial"/>
                <a:cs typeface="Arial"/>
              </a:rPr>
              <a:t>Establish </a:t>
            </a:r>
            <a:r>
              <a:rPr dirty="0" sz="1050" spc="-40" b="1">
                <a:latin typeface="Arial"/>
                <a:cs typeface="Arial"/>
              </a:rPr>
              <a:t>the </a:t>
            </a:r>
            <a:r>
              <a:rPr dirty="0" sz="1050" spc="-75" b="1">
                <a:latin typeface="Arial"/>
                <a:cs typeface="Arial"/>
              </a:rPr>
              <a:t>advertising</a:t>
            </a:r>
            <a:r>
              <a:rPr dirty="0" sz="1050" spc="-65" b="1">
                <a:latin typeface="Arial"/>
                <a:cs typeface="Arial"/>
              </a:rPr>
              <a:t> </a:t>
            </a:r>
            <a:r>
              <a:rPr dirty="0" sz="1050" spc="-75" b="1">
                <a:latin typeface="Arial"/>
                <a:cs typeface="Arial"/>
              </a:rPr>
              <a:t>budget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AutoNum type="romanLcPeriod"/>
            </a:pPr>
            <a:endParaRPr sz="110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buAutoNum type="alphaLcPeriod"/>
              <a:tabLst>
                <a:tab pos="926465" algn="l"/>
                <a:tab pos="927735" algn="l"/>
              </a:tabLst>
            </a:pPr>
            <a:r>
              <a:rPr dirty="0" sz="1050" spc="-60">
                <a:latin typeface="Arial"/>
                <a:cs typeface="Arial"/>
              </a:rPr>
              <a:t>Percentage </a:t>
            </a:r>
            <a:r>
              <a:rPr dirty="0" sz="1050" spc="-10">
                <a:latin typeface="Arial"/>
                <a:cs typeface="Arial"/>
              </a:rPr>
              <a:t>of </a:t>
            </a:r>
            <a:r>
              <a:rPr dirty="0" sz="1050" spc="-45">
                <a:latin typeface="Arial"/>
                <a:cs typeface="Arial"/>
              </a:rPr>
              <a:t>expected</a:t>
            </a:r>
            <a:r>
              <a:rPr dirty="0" sz="1050" spc="-90">
                <a:latin typeface="Arial"/>
                <a:cs typeface="Arial"/>
              </a:rPr>
              <a:t> </a:t>
            </a:r>
            <a:r>
              <a:rPr dirty="0" sz="1050" spc="-80">
                <a:latin typeface="Arial"/>
                <a:cs typeface="Arial"/>
              </a:rPr>
              <a:t>sales</a:t>
            </a:r>
            <a:endParaRPr sz="10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927735" algn="l"/>
              </a:tabLst>
            </a:pPr>
            <a:r>
              <a:rPr dirty="0" sz="1050" spc="-55">
                <a:latin typeface="Arial"/>
                <a:cs typeface="Arial"/>
              </a:rPr>
              <a:t>Considering </a:t>
            </a:r>
            <a:r>
              <a:rPr dirty="0" sz="1050" spc="-20">
                <a:latin typeface="Arial"/>
                <a:cs typeface="Arial"/>
              </a:rPr>
              <a:t>our </a:t>
            </a:r>
            <a:r>
              <a:rPr dirty="0" sz="1050" spc="-35">
                <a:latin typeface="Arial"/>
                <a:cs typeface="Arial"/>
              </a:rPr>
              <a:t>marketing</a:t>
            </a:r>
            <a:r>
              <a:rPr dirty="0" sz="1050" spc="-105">
                <a:latin typeface="Arial"/>
                <a:cs typeface="Arial"/>
              </a:rPr>
              <a:t> </a:t>
            </a:r>
            <a:r>
              <a:rPr dirty="0" sz="1050" spc="-40">
                <a:latin typeface="Arial"/>
                <a:cs typeface="Arial"/>
              </a:rPr>
              <a:t>objectives</a:t>
            </a:r>
            <a:endParaRPr sz="10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0"/>
              </a:spcBef>
              <a:buAutoNum type="alphaLcPeriod"/>
              <a:tabLst>
                <a:tab pos="926465" algn="l"/>
                <a:tab pos="927735" algn="l"/>
              </a:tabLst>
            </a:pPr>
            <a:r>
              <a:rPr dirty="0" sz="1050" spc="-55">
                <a:latin typeface="Arial"/>
                <a:cs typeface="Arial"/>
              </a:rPr>
              <a:t>Considering </a:t>
            </a:r>
            <a:r>
              <a:rPr dirty="0" sz="1050" spc="-15">
                <a:latin typeface="Arial"/>
                <a:cs typeface="Arial"/>
              </a:rPr>
              <a:t>the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competitors</a:t>
            </a:r>
            <a:endParaRPr sz="1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Arial"/>
              <a:buAutoNum type="alphaLcPeriod"/>
            </a:pPr>
            <a:endParaRPr sz="1100">
              <a:latin typeface="Arial"/>
              <a:cs typeface="Arial"/>
            </a:endParaRPr>
          </a:p>
          <a:p>
            <a:pPr marL="167640" indent="-155575">
              <a:lnSpc>
                <a:spcPct val="100000"/>
              </a:lnSpc>
              <a:spcBef>
                <a:spcPts val="5"/>
              </a:spcBef>
              <a:buFont typeface="Arial"/>
              <a:buAutoNum type="romanLcPeriod"/>
              <a:tabLst>
                <a:tab pos="168275" algn="l"/>
              </a:tabLst>
            </a:pPr>
            <a:r>
              <a:rPr dirty="0" sz="1050" spc="-60" b="1">
                <a:latin typeface="Arial"/>
                <a:cs typeface="Arial"/>
              </a:rPr>
              <a:t>Define </a:t>
            </a:r>
            <a:r>
              <a:rPr dirty="0" sz="1050" spc="-40" b="1">
                <a:latin typeface="Arial"/>
                <a:cs typeface="Arial"/>
              </a:rPr>
              <a:t>the </a:t>
            </a:r>
            <a:r>
              <a:rPr dirty="0" sz="1050" spc="-75" b="1">
                <a:latin typeface="Arial"/>
                <a:cs typeface="Arial"/>
              </a:rPr>
              <a:t>objectives </a:t>
            </a:r>
            <a:r>
              <a:rPr dirty="0" sz="1050" spc="-50" b="1">
                <a:latin typeface="Arial"/>
                <a:cs typeface="Arial"/>
              </a:rPr>
              <a:t>of </a:t>
            </a:r>
            <a:r>
              <a:rPr dirty="0" sz="1050" spc="-45" b="1">
                <a:latin typeface="Arial"/>
                <a:cs typeface="Arial"/>
              </a:rPr>
              <a:t>the </a:t>
            </a:r>
            <a:r>
              <a:rPr dirty="0" sz="1050" spc="-75" b="1">
                <a:latin typeface="Arial"/>
                <a:cs typeface="Arial"/>
              </a:rPr>
              <a:t>advertising</a:t>
            </a:r>
            <a:r>
              <a:rPr dirty="0" sz="1050" spc="-110" b="1">
                <a:latin typeface="Arial"/>
                <a:cs typeface="Arial"/>
              </a:rPr>
              <a:t> </a:t>
            </a:r>
            <a:r>
              <a:rPr dirty="0" sz="1050" spc="-114" b="1">
                <a:latin typeface="Arial"/>
                <a:cs typeface="Arial"/>
              </a:rPr>
              <a:t>messages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AutoNum type="romanLcPeriod"/>
            </a:pPr>
            <a:endParaRPr sz="110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buAutoNum type="alphaLcPeriod"/>
              <a:tabLst>
                <a:tab pos="926465" algn="l"/>
                <a:tab pos="927735" algn="l"/>
              </a:tabLst>
            </a:pPr>
            <a:r>
              <a:rPr dirty="0" sz="1050" spc="-45">
                <a:latin typeface="Arial"/>
                <a:cs typeface="Arial"/>
              </a:rPr>
              <a:t>Are </a:t>
            </a:r>
            <a:r>
              <a:rPr dirty="0" sz="1050" spc="-35">
                <a:latin typeface="Arial"/>
                <a:cs typeface="Arial"/>
              </a:rPr>
              <a:t>we </a:t>
            </a:r>
            <a:r>
              <a:rPr dirty="0" sz="1050" spc="-50">
                <a:latin typeface="Arial"/>
                <a:cs typeface="Arial"/>
              </a:rPr>
              <a:t>going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25">
                <a:latin typeface="Arial"/>
                <a:cs typeface="Arial"/>
              </a:rPr>
              <a:t>introduce </a:t>
            </a:r>
            <a:r>
              <a:rPr dirty="0" sz="1050" spc="-40">
                <a:latin typeface="Arial"/>
                <a:cs typeface="Arial"/>
              </a:rPr>
              <a:t>new</a:t>
            </a:r>
            <a:r>
              <a:rPr dirty="0" sz="1050" spc="-204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product</a:t>
            </a:r>
            <a:endParaRPr sz="10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927735" algn="l"/>
              </a:tabLst>
            </a:pPr>
            <a:r>
              <a:rPr dirty="0" sz="1050" spc="-45">
                <a:latin typeface="Arial"/>
                <a:cs typeface="Arial"/>
              </a:rPr>
              <a:t>Are </a:t>
            </a:r>
            <a:r>
              <a:rPr dirty="0" sz="1050" spc="-35">
                <a:latin typeface="Arial"/>
                <a:cs typeface="Arial"/>
              </a:rPr>
              <a:t>we </a:t>
            </a:r>
            <a:r>
              <a:rPr dirty="0" sz="1050" spc="-50">
                <a:latin typeface="Arial"/>
                <a:cs typeface="Arial"/>
              </a:rPr>
              <a:t>going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40">
                <a:latin typeface="Arial"/>
                <a:cs typeface="Arial"/>
              </a:rPr>
              <a:t>advertise </a:t>
            </a:r>
            <a:r>
              <a:rPr dirty="0" sz="1050" spc="-35">
                <a:latin typeface="Arial"/>
                <a:cs typeface="Arial"/>
              </a:rPr>
              <a:t>price </a:t>
            </a:r>
            <a:r>
              <a:rPr dirty="0" sz="1050" spc="-70">
                <a:latin typeface="Arial"/>
                <a:cs typeface="Arial"/>
              </a:rPr>
              <a:t>change</a:t>
            </a:r>
            <a:r>
              <a:rPr dirty="0" sz="1050" spc="-204">
                <a:latin typeface="Arial"/>
                <a:cs typeface="Arial"/>
              </a:rPr>
              <a:t> </a:t>
            </a:r>
            <a:r>
              <a:rPr dirty="0" sz="1050" spc="-40">
                <a:latin typeface="Arial"/>
                <a:cs typeface="Arial"/>
              </a:rPr>
              <a:t>impact?</a:t>
            </a:r>
            <a:endParaRPr sz="10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926465" algn="l"/>
                <a:tab pos="927735" algn="l"/>
              </a:tabLst>
            </a:pPr>
            <a:r>
              <a:rPr dirty="0" sz="1050" spc="-45">
                <a:latin typeface="Arial"/>
                <a:cs typeface="Arial"/>
              </a:rPr>
              <a:t>Are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35">
                <a:latin typeface="Arial"/>
                <a:cs typeface="Arial"/>
              </a:rPr>
              <a:t>we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50">
                <a:latin typeface="Arial"/>
                <a:cs typeface="Arial"/>
              </a:rPr>
              <a:t>going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to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45">
                <a:latin typeface="Arial"/>
                <a:cs typeface="Arial"/>
              </a:rPr>
              <a:t>launch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35">
                <a:latin typeface="Arial"/>
                <a:cs typeface="Arial"/>
              </a:rPr>
              <a:t>new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65">
                <a:latin typeface="Arial"/>
                <a:cs typeface="Arial"/>
              </a:rPr>
              <a:t>campaigns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15">
                <a:latin typeface="Arial"/>
                <a:cs typeface="Arial"/>
              </a:rPr>
              <a:t>in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response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to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our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competitor’s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70">
                <a:latin typeface="Arial"/>
                <a:cs typeface="Arial"/>
              </a:rPr>
              <a:t>campaigns?</a:t>
            </a:r>
            <a:endParaRPr sz="1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Arial"/>
              <a:buAutoNum type="alphaLcPeriod"/>
            </a:pPr>
            <a:endParaRPr sz="1100">
              <a:latin typeface="Arial"/>
              <a:cs typeface="Arial"/>
            </a:endParaRPr>
          </a:p>
          <a:p>
            <a:pPr marL="173990" indent="-161925">
              <a:lnSpc>
                <a:spcPct val="100000"/>
              </a:lnSpc>
              <a:buAutoNum type="romanLcPeriod"/>
              <a:tabLst>
                <a:tab pos="174625" algn="l"/>
              </a:tabLst>
            </a:pPr>
            <a:r>
              <a:rPr dirty="0" sz="1050" spc="-70" b="1">
                <a:latin typeface="Arial"/>
                <a:cs typeface="Arial"/>
              </a:rPr>
              <a:t>Create </a:t>
            </a:r>
            <a:r>
              <a:rPr dirty="0" sz="1050" spc="-40" b="1">
                <a:latin typeface="Arial"/>
                <a:cs typeface="Arial"/>
              </a:rPr>
              <a:t>the </a:t>
            </a:r>
            <a:r>
              <a:rPr dirty="0" sz="1050" spc="-75" b="1">
                <a:latin typeface="Arial"/>
                <a:cs typeface="Arial"/>
              </a:rPr>
              <a:t>advertising</a:t>
            </a:r>
            <a:r>
              <a:rPr dirty="0" sz="1050" spc="-85" b="1">
                <a:latin typeface="Arial"/>
                <a:cs typeface="Arial"/>
              </a:rPr>
              <a:t> </a:t>
            </a:r>
            <a:r>
              <a:rPr dirty="0" sz="1050" spc="-114" b="1">
                <a:latin typeface="Arial"/>
                <a:cs typeface="Arial"/>
              </a:rPr>
              <a:t>messages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AutoNum type="romanLcPeriod"/>
            </a:pPr>
            <a:endParaRPr sz="110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5"/>
              </a:spcBef>
              <a:buAutoNum type="alphaLcPeriod"/>
              <a:tabLst>
                <a:tab pos="926465" algn="l"/>
                <a:tab pos="927735" algn="l"/>
              </a:tabLst>
            </a:pPr>
            <a:r>
              <a:rPr dirty="0" sz="1050" spc="-40">
                <a:latin typeface="Arial"/>
                <a:cs typeface="Arial"/>
              </a:rPr>
              <a:t>Include </a:t>
            </a:r>
            <a:r>
              <a:rPr dirty="0" sz="1050" spc="-25">
                <a:latin typeface="Arial"/>
                <a:cs typeface="Arial"/>
              </a:rPr>
              <a:t>all </a:t>
            </a:r>
            <a:r>
              <a:rPr dirty="0" sz="1050" spc="-30">
                <a:latin typeface="Arial"/>
                <a:cs typeface="Arial"/>
              </a:rPr>
              <a:t>color </a:t>
            </a:r>
            <a:r>
              <a:rPr dirty="0" sz="1050" spc="-45">
                <a:latin typeface="Arial"/>
                <a:cs typeface="Arial"/>
              </a:rPr>
              <a:t>selections, </a:t>
            </a:r>
            <a:r>
              <a:rPr dirty="0" sz="1050" spc="-60">
                <a:latin typeface="Arial"/>
                <a:cs typeface="Arial"/>
              </a:rPr>
              <a:t>images, Cartons </a:t>
            </a:r>
            <a:r>
              <a:rPr dirty="0" sz="1050" spc="15">
                <a:latin typeface="Arial"/>
                <a:cs typeface="Arial"/>
              </a:rPr>
              <a:t>&amp;</a:t>
            </a:r>
            <a:r>
              <a:rPr dirty="0" sz="1050" spc="-114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illustrations</a:t>
            </a:r>
            <a:endParaRPr sz="10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0"/>
              </a:spcBef>
              <a:buAutoNum type="alphaLcPeriod"/>
              <a:tabLst>
                <a:tab pos="927735" algn="l"/>
              </a:tabLst>
            </a:pPr>
            <a:r>
              <a:rPr dirty="0" sz="1050" spc="-50">
                <a:latin typeface="Arial"/>
                <a:cs typeface="Arial"/>
              </a:rPr>
              <a:t>Selection </a:t>
            </a:r>
            <a:r>
              <a:rPr dirty="0" sz="1050" spc="-5">
                <a:latin typeface="Arial"/>
                <a:cs typeface="Arial"/>
              </a:rPr>
              <a:t>of</a:t>
            </a:r>
            <a:r>
              <a:rPr dirty="0" sz="1050" spc="-60">
                <a:latin typeface="Arial"/>
                <a:cs typeface="Arial"/>
              </a:rPr>
              <a:t> language</a:t>
            </a:r>
            <a:endParaRPr sz="10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15"/>
              </a:spcBef>
              <a:buAutoNum type="alphaLcPeriod"/>
              <a:tabLst>
                <a:tab pos="926465" algn="l"/>
                <a:tab pos="927735" algn="l"/>
              </a:tabLst>
            </a:pPr>
            <a:r>
              <a:rPr dirty="0" sz="1050" spc="-50">
                <a:latin typeface="Arial"/>
                <a:cs typeface="Arial"/>
              </a:rPr>
              <a:t>Selection </a:t>
            </a:r>
            <a:r>
              <a:rPr dirty="0" sz="1050" spc="-5">
                <a:latin typeface="Arial"/>
                <a:cs typeface="Arial"/>
              </a:rPr>
              <a:t>of </a:t>
            </a:r>
            <a:r>
              <a:rPr dirty="0" sz="1050" spc="-30">
                <a:latin typeface="Arial"/>
                <a:cs typeface="Arial"/>
              </a:rPr>
              <a:t>appropriate</a:t>
            </a:r>
            <a:r>
              <a:rPr dirty="0" sz="1050" spc="-120">
                <a:latin typeface="Arial"/>
                <a:cs typeface="Arial"/>
              </a:rPr>
              <a:t> </a:t>
            </a:r>
            <a:r>
              <a:rPr dirty="0" sz="1050" spc="-40">
                <a:latin typeface="Arial"/>
                <a:cs typeface="Arial"/>
              </a:rPr>
              <a:t>words</a:t>
            </a:r>
            <a:endParaRPr sz="1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Arial"/>
              <a:buAutoNum type="alphaLcPeriod"/>
            </a:pPr>
            <a:endParaRPr sz="1100">
              <a:latin typeface="Arial"/>
              <a:cs typeface="Arial"/>
            </a:endParaRPr>
          </a:p>
          <a:p>
            <a:pPr marL="141605" indent="-129539">
              <a:lnSpc>
                <a:spcPct val="100000"/>
              </a:lnSpc>
              <a:spcBef>
                <a:spcPts val="5"/>
              </a:spcBef>
              <a:buAutoNum type="romanLcPeriod"/>
              <a:tabLst>
                <a:tab pos="142240" algn="l"/>
              </a:tabLst>
            </a:pPr>
            <a:r>
              <a:rPr dirty="0" sz="1050" spc="-85" b="1">
                <a:latin typeface="Arial"/>
                <a:cs typeface="Arial"/>
              </a:rPr>
              <a:t>Select </a:t>
            </a:r>
            <a:r>
              <a:rPr dirty="0" sz="1050" spc="-40" b="1">
                <a:latin typeface="Arial"/>
                <a:cs typeface="Arial"/>
              </a:rPr>
              <a:t>the </a:t>
            </a:r>
            <a:r>
              <a:rPr dirty="0" sz="1050" spc="-55" b="1">
                <a:latin typeface="Arial"/>
                <a:cs typeface="Arial"/>
              </a:rPr>
              <a:t>appropriate</a:t>
            </a:r>
            <a:r>
              <a:rPr dirty="0" sz="1050" spc="-65" b="1">
                <a:latin typeface="Arial"/>
                <a:cs typeface="Arial"/>
              </a:rPr>
              <a:t> media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AutoNum type="romanLcPeriod"/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050" spc="-30">
                <a:latin typeface="Arial"/>
                <a:cs typeface="Arial"/>
              </a:rPr>
              <a:t>Media </a:t>
            </a:r>
            <a:r>
              <a:rPr dirty="0" sz="1050" spc="-40">
                <a:latin typeface="Arial"/>
                <a:cs typeface="Arial"/>
              </a:rPr>
              <a:t>selection </a:t>
            </a:r>
            <a:r>
              <a:rPr dirty="0" sz="1050" spc="-55">
                <a:latin typeface="Arial"/>
                <a:cs typeface="Arial"/>
              </a:rPr>
              <a:t>is </a:t>
            </a:r>
            <a:r>
              <a:rPr dirty="0" sz="1050" spc="-40">
                <a:latin typeface="Arial"/>
                <a:cs typeface="Arial"/>
              </a:rPr>
              <a:t>very </a:t>
            </a:r>
            <a:r>
              <a:rPr dirty="0" sz="1050" spc="-15">
                <a:latin typeface="Arial"/>
                <a:cs typeface="Arial"/>
              </a:rPr>
              <a:t>important </a:t>
            </a:r>
            <a:r>
              <a:rPr dirty="0" sz="1050">
                <a:latin typeface="Arial"/>
                <a:cs typeface="Arial"/>
              </a:rPr>
              <a:t>for </a:t>
            </a:r>
            <a:r>
              <a:rPr dirty="0" sz="1050" spc="-45">
                <a:latin typeface="Arial"/>
                <a:cs typeface="Arial"/>
              </a:rPr>
              <a:t>every </a:t>
            </a:r>
            <a:r>
              <a:rPr dirty="0" sz="1050" spc="-40">
                <a:latin typeface="Arial"/>
                <a:cs typeface="Arial"/>
              </a:rPr>
              <a:t>advertising</a:t>
            </a:r>
            <a:r>
              <a:rPr dirty="0" sz="1050" spc="-204">
                <a:latin typeface="Arial"/>
                <a:cs typeface="Arial"/>
              </a:rPr>
              <a:t> </a:t>
            </a:r>
            <a:r>
              <a:rPr dirty="0" sz="1050" spc="-80">
                <a:latin typeface="Arial"/>
                <a:cs typeface="Arial"/>
              </a:rPr>
              <a:t>message. </a:t>
            </a:r>
            <a:r>
              <a:rPr dirty="0" sz="1050" spc="-85">
                <a:latin typeface="Arial"/>
                <a:cs typeface="Arial"/>
              </a:rPr>
              <a:t>E.g.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buAutoNum type="alphaLcPeriod"/>
              <a:tabLst>
                <a:tab pos="926465" algn="l"/>
                <a:tab pos="927735" algn="l"/>
              </a:tabLst>
            </a:pPr>
            <a:r>
              <a:rPr dirty="0" sz="1050" spc="-70">
                <a:latin typeface="Arial"/>
                <a:cs typeface="Arial"/>
              </a:rPr>
              <a:t>Radio </a:t>
            </a:r>
            <a:r>
              <a:rPr dirty="0" sz="1050">
                <a:latin typeface="Arial"/>
                <a:cs typeface="Arial"/>
              </a:rPr>
              <a:t>for </a:t>
            </a:r>
            <a:r>
              <a:rPr dirty="0" sz="1050" spc="-30">
                <a:latin typeface="Arial"/>
                <a:cs typeface="Arial"/>
              </a:rPr>
              <a:t>agricultural</a:t>
            </a:r>
            <a:r>
              <a:rPr dirty="0" sz="1050" spc="-105">
                <a:latin typeface="Arial"/>
                <a:cs typeface="Arial"/>
              </a:rPr>
              <a:t> </a:t>
            </a:r>
            <a:r>
              <a:rPr dirty="0" sz="1050" spc="-40">
                <a:latin typeface="Arial"/>
                <a:cs typeface="Arial"/>
              </a:rPr>
              <a:t>products</a:t>
            </a:r>
            <a:endParaRPr sz="10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927735" algn="l"/>
              </a:tabLst>
            </a:pPr>
            <a:r>
              <a:rPr dirty="0" sz="1050" spc="-114">
                <a:latin typeface="Arial"/>
                <a:cs typeface="Arial"/>
              </a:rPr>
              <a:t>TV </a:t>
            </a:r>
            <a:r>
              <a:rPr dirty="0" sz="1050" spc="-5">
                <a:latin typeface="Arial"/>
                <a:cs typeface="Arial"/>
              </a:rPr>
              <a:t>for </a:t>
            </a:r>
            <a:r>
              <a:rPr dirty="0" sz="1050" spc="-50">
                <a:latin typeface="Arial"/>
                <a:cs typeface="Arial"/>
              </a:rPr>
              <a:t>consumer</a:t>
            </a:r>
            <a:r>
              <a:rPr dirty="0" sz="1050" spc="-35">
                <a:latin typeface="Arial"/>
                <a:cs typeface="Arial"/>
              </a:rPr>
              <a:t> products</a:t>
            </a:r>
            <a:endParaRPr sz="1050">
              <a:latin typeface="Arial"/>
              <a:cs typeface="Arial"/>
            </a:endParaRPr>
          </a:p>
          <a:p>
            <a:pPr lvl="1" marL="927100" marR="234315" indent="-228600">
              <a:lnSpc>
                <a:spcPct val="101899"/>
              </a:lnSpc>
              <a:buAutoNum type="alphaLcPeriod"/>
              <a:tabLst>
                <a:tab pos="926465" algn="l"/>
                <a:tab pos="927735" algn="l"/>
              </a:tabLst>
            </a:pPr>
            <a:r>
              <a:rPr dirty="0" sz="1050" spc="-5">
                <a:latin typeface="Arial"/>
                <a:cs typeface="Arial"/>
              </a:rPr>
              <a:t>If</a:t>
            </a:r>
            <a:r>
              <a:rPr dirty="0" sz="1050" spc="-50">
                <a:latin typeface="Arial"/>
                <a:cs typeface="Arial"/>
              </a:rPr>
              <a:t> company’s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5">
                <a:latin typeface="Arial"/>
                <a:cs typeface="Arial"/>
              </a:rPr>
              <a:t>introduction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15">
                <a:latin typeface="Arial"/>
                <a:cs typeface="Arial"/>
              </a:rPr>
              <a:t>&amp;</a:t>
            </a:r>
            <a:r>
              <a:rPr dirty="0" sz="1050" spc="-60">
                <a:latin typeface="Arial"/>
                <a:cs typeface="Arial"/>
              </a:rPr>
              <a:t> </a:t>
            </a:r>
            <a:r>
              <a:rPr dirty="0" sz="1050" spc="-35">
                <a:latin typeface="Arial"/>
                <a:cs typeface="Arial"/>
              </a:rPr>
              <a:t>contents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required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then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70">
                <a:latin typeface="Arial"/>
                <a:cs typeface="Arial"/>
              </a:rPr>
              <a:t>can</a:t>
            </a:r>
            <a:r>
              <a:rPr dirty="0" sz="1050" spc="-75">
                <a:latin typeface="Arial"/>
                <a:cs typeface="Arial"/>
              </a:rPr>
              <a:t> </a:t>
            </a:r>
            <a:r>
              <a:rPr dirty="0" sz="1050" spc="-50">
                <a:latin typeface="Arial"/>
                <a:cs typeface="Arial"/>
              </a:rPr>
              <a:t>be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>
                <a:latin typeface="Arial"/>
                <a:cs typeface="Arial"/>
              </a:rPr>
              <a:t>print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45">
                <a:latin typeface="Arial"/>
                <a:cs typeface="Arial"/>
              </a:rPr>
              <a:t>media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00">
                <a:latin typeface="Arial"/>
                <a:cs typeface="Arial"/>
              </a:rPr>
              <a:t>as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50">
                <a:latin typeface="Arial"/>
                <a:cs typeface="Arial"/>
              </a:rPr>
              <a:t>good  </a:t>
            </a:r>
            <a:r>
              <a:rPr dirty="0" sz="1050" spc="-40">
                <a:latin typeface="Arial"/>
                <a:cs typeface="Arial"/>
              </a:rPr>
              <a:t>selection</a:t>
            </a:r>
            <a:endParaRPr sz="1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Arial"/>
              <a:buAutoNum type="alphaLcPeriod"/>
            </a:pPr>
            <a:endParaRPr sz="1100">
              <a:latin typeface="Arial"/>
              <a:cs typeface="Arial"/>
            </a:endParaRPr>
          </a:p>
          <a:p>
            <a:pPr marL="175260" indent="-163195">
              <a:lnSpc>
                <a:spcPct val="100000"/>
              </a:lnSpc>
              <a:buAutoNum type="romanLcPeriod" startAt="6"/>
              <a:tabLst>
                <a:tab pos="175895" algn="l"/>
              </a:tabLst>
            </a:pPr>
            <a:r>
              <a:rPr dirty="0" sz="1050" spc="-75" b="1">
                <a:latin typeface="Arial"/>
                <a:cs typeface="Arial"/>
              </a:rPr>
              <a:t>Evaluate advertising</a:t>
            </a:r>
            <a:r>
              <a:rPr dirty="0" sz="1050" spc="-50" b="1">
                <a:latin typeface="Arial"/>
                <a:cs typeface="Arial"/>
              </a:rPr>
              <a:t> </a:t>
            </a:r>
            <a:r>
              <a:rPr dirty="0" sz="1050" spc="-75" b="1">
                <a:latin typeface="Arial"/>
                <a:cs typeface="Arial"/>
              </a:rPr>
              <a:t>effectiveness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AutoNum type="romanLcPeriod" startAt="6"/>
            </a:pPr>
            <a:endParaRPr sz="110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buAutoNum type="alphaLcPeriod"/>
              <a:tabLst>
                <a:tab pos="926465" algn="l"/>
                <a:tab pos="927735" algn="l"/>
              </a:tabLst>
            </a:pPr>
            <a:r>
              <a:rPr dirty="0" sz="1050" spc="-50">
                <a:latin typeface="Arial"/>
                <a:cs typeface="Arial"/>
              </a:rPr>
              <a:t>Our </a:t>
            </a:r>
            <a:r>
              <a:rPr dirty="0" sz="1050" spc="-85">
                <a:latin typeface="Arial"/>
                <a:cs typeface="Arial"/>
              </a:rPr>
              <a:t>message has </a:t>
            </a:r>
            <a:r>
              <a:rPr dirty="0" sz="1050" spc="-65">
                <a:latin typeface="Arial"/>
                <a:cs typeface="Arial"/>
              </a:rPr>
              <a:t>changed </a:t>
            </a:r>
            <a:r>
              <a:rPr dirty="0" sz="1050" spc="-40">
                <a:latin typeface="Arial"/>
                <a:cs typeface="Arial"/>
              </a:rPr>
              <a:t>customer’s buying </a:t>
            </a:r>
            <a:r>
              <a:rPr dirty="0" sz="1050" spc="-45">
                <a:latin typeface="Arial"/>
                <a:cs typeface="Arial"/>
              </a:rPr>
              <a:t>decision </a:t>
            </a:r>
            <a:r>
              <a:rPr dirty="0" sz="1050" spc="-20">
                <a:latin typeface="Arial"/>
                <a:cs typeface="Arial"/>
              </a:rPr>
              <a:t>or </a:t>
            </a:r>
            <a:r>
              <a:rPr dirty="0" sz="1050" spc="-30">
                <a:latin typeface="Arial"/>
                <a:cs typeface="Arial"/>
              </a:rPr>
              <a:t>not?</a:t>
            </a:r>
            <a:endParaRPr sz="10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927735" algn="l"/>
              </a:tabLst>
            </a:pPr>
            <a:r>
              <a:rPr dirty="0" sz="1050" spc="-60">
                <a:latin typeface="Arial"/>
                <a:cs typeface="Arial"/>
              </a:rPr>
              <a:t>We have </a:t>
            </a:r>
            <a:r>
              <a:rPr dirty="0" sz="1050" spc="-25">
                <a:latin typeface="Arial"/>
                <a:cs typeface="Arial"/>
              </a:rPr>
              <a:t>found </a:t>
            </a:r>
            <a:r>
              <a:rPr dirty="0" sz="1050" spc="-45">
                <a:latin typeface="Arial"/>
                <a:cs typeface="Arial"/>
              </a:rPr>
              <a:t>desired </a:t>
            </a:r>
            <a:r>
              <a:rPr dirty="0" sz="1050" spc="-60">
                <a:latin typeface="Arial"/>
                <a:cs typeface="Arial"/>
              </a:rPr>
              <a:t>image </a:t>
            </a:r>
            <a:r>
              <a:rPr dirty="0" sz="1050" spc="-10">
                <a:latin typeface="Arial"/>
                <a:cs typeface="Arial"/>
              </a:rPr>
              <a:t>or</a:t>
            </a:r>
            <a:r>
              <a:rPr dirty="0" sz="1050" spc="-75">
                <a:latin typeface="Arial"/>
                <a:cs typeface="Arial"/>
              </a:rPr>
              <a:t> </a:t>
            </a:r>
            <a:r>
              <a:rPr dirty="0" sz="1050" spc="-30">
                <a:latin typeface="Arial"/>
                <a:cs typeface="Arial"/>
              </a:rPr>
              <a:t>not?</a:t>
            </a:r>
            <a:endParaRPr sz="10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926465" algn="l"/>
                <a:tab pos="927735" algn="l"/>
              </a:tabLst>
            </a:pPr>
            <a:r>
              <a:rPr dirty="0" sz="1050" spc="-50">
                <a:latin typeface="Arial"/>
                <a:cs typeface="Arial"/>
              </a:rPr>
              <a:t>Our meaning </a:t>
            </a:r>
            <a:r>
              <a:rPr dirty="0" sz="1050" spc="-15">
                <a:latin typeface="Arial"/>
                <a:cs typeface="Arial"/>
              </a:rPr>
              <a:t>well </a:t>
            </a:r>
            <a:r>
              <a:rPr dirty="0" sz="1050" spc="-40">
                <a:latin typeface="Arial"/>
                <a:cs typeface="Arial"/>
              </a:rPr>
              <a:t>communicated </a:t>
            </a:r>
            <a:r>
              <a:rPr dirty="0" sz="1050" spc="-10">
                <a:latin typeface="Arial"/>
                <a:cs typeface="Arial"/>
              </a:rPr>
              <a:t>or</a:t>
            </a:r>
            <a:r>
              <a:rPr dirty="0" sz="1050" spc="-125">
                <a:latin typeface="Arial"/>
                <a:cs typeface="Arial"/>
              </a:rPr>
              <a:t> </a:t>
            </a:r>
            <a:r>
              <a:rPr dirty="0" sz="1050" spc="-30">
                <a:latin typeface="Arial"/>
                <a:cs typeface="Arial"/>
              </a:rPr>
              <a:t>not?</a:t>
            </a:r>
            <a:endParaRPr sz="10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156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4340" cy="52990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0" b="1">
                <a:latin typeface="Arial"/>
                <a:cs typeface="Arial"/>
              </a:rPr>
              <a:t>Advertising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25" b="1">
                <a:latin typeface="Arial"/>
                <a:cs typeface="Arial"/>
              </a:rPr>
              <a:t>Researchers</a:t>
            </a:r>
            <a:endParaRPr sz="13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1160"/>
              </a:spcBef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always </a:t>
            </a:r>
            <a:r>
              <a:rPr dirty="0" sz="1150" spc="-45">
                <a:latin typeface="Arial"/>
                <a:cs typeface="Arial"/>
              </a:rPr>
              <a:t>done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5">
                <a:latin typeface="Arial"/>
                <a:cs typeface="Arial"/>
              </a:rPr>
              <a:t>response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40">
                <a:latin typeface="Arial"/>
                <a:cs typeface="Arial"/>
              </a:rPr>
              <a:t>advertising </a:t>
            </a:r>
            <a:r>
              <a:rPr dirty="0" sz="1150" spc="-70">
                <a:latin typeface="Arial"/>
                <a:cs typeface="Arial"/>
              </a:rPr>
              <a:t>campaigns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know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overall  </a:t>
            </a:r>
            <a:r>
              <a:rPr dirty="0" sz="1150" spc="-30">
                <a:latin typeface="Arial"/>
                <a:cs typeface="Arial"/>
              </a:rPr>
              <a:t>impact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advising </a:t>
            </a:r>
            <a:r>
              <a:rPr dirty="0" sz="1150" spc="-30">
                <a:latin typeface="Arial"/>
                <a:cs typeface="Arial"/>
              </a:rPr>
              <a:t>activities. </a:t>
            </a:r>
            <a:r>
              <a:rPr dirty="0" sz="1150" spc="-45">
                <a:latin typeface="Arial"/>
                <a:cs typeface="Arial"/>
              </a:rPr>
              <a:t>Advertising </a:t>
            </a:r>
            <a:r>
              <a:rPr dirty="0" sz="1150" spc="-65">
                <a:latin typeface="Arial"/>
                <a:cs typeface="Arial"/>
              </a:rPr>
              <a:t>researches </a:t>
            </a:r>
            <a:r>
              <a:rPr dirty="0" sz="1150" spc="-35">
                <a:latin typeface="Arial"/>
                <a:cs typeface="Arial"/>
              </a:rPr>
              <a:t>bring </a:t>
            </a:r>
            <a:r>
              <a:rPr dirty="0" sz="1150" spc="-50">
                <a:latin typeface="Arial"/>
                <a:cs typeface="Arial"/>
              </a:rPr>
              <a:t>answer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above  </a:t>
            </a:r>
            <a:r>
              <a:rPr dirty="0" sz="1150" spc="-30">
                <a:latin typeface="Arial"/>
                <a:cs typeface="Arial"/>
              </a:rPr>
              <a:t>mentioned </a:t>
            </a:r>
            <a:r>
              <a:rPr dirty="0" sz="1150" spc="-70">
                <a:latin typeface="Arial"/>
                <a:cs typeface="Arial"/>
              </a:rPr>
              <a:t>aspects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25">
                <a:latin typeface="Arial"/>
                <a:cs typeface="Arial"/>
              </a:rPr>
              <a:t>through </a:t>
            </a:r>
            <a:r>
              <a:rPr dirty="0" sz="1150" spc="-50">
                <a:latin typeface="Arial"/>
                <a:cs typeface="Arial"/>
              </a:rPr>
              <a:t>these </a:t>
            </a:r>
            <a:r>
              <a:rPr dirty="0" sz="1150" spc="-60">
                <a:latin typeface="Arial"/>
                <a:cs typeface="Arial"/>
              </a:rPr>
              <a:t>companies </a:t>
            </a:r>
            <a:r>
              <a:rPr dirty="0" sz="1150" spc="-75">
                <a:latin typeface="Arial"/>
                <a:cs typeface="Arial"/>
              </a:rPr>
              <a:t>can </a:t>
            </a:r>
            <a:r>
              <a:rPr dirty="0" sz="1150" spc="-35">
                <a:latin typeface="Arial"/>
                <a:cs typeface="Arial"/>
              </a:rPr>
              <a:t>know where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change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required  </a:t>
            </a:r>
            <a:r>
              <a:rPr dirty="0" sz="1150" spc="-20">
                <a:latin typeface="Arial"/>
                <a:cs typeface="Arial"/>
              </a:rPr>
              <a:t>either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your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message,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your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budget,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your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media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selection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550" spc="-225" b="1">
                <a:latin typeface="Arial"/>
                <a:cs typeface="Arial"/>
              </a:rPr>
              <a:t>PERSONAL</a:t>
            </a:r>
            <a:r>
              <a:rPr dirty="0" sz="1550" spc="-80" b="1">
                <a:latin typeface="Arial"/>
                <a:cs typeface="Arial"/>
              </a:rPr>
              <a:t> </a:t>
            </a:r>
            <a:r>
              <a:rPr dirty="0" sz="1550" spc="-220" b="1">
                <a:latin typeface="Arial"/>
                <a:cs typeface="Arial"/>
              </a:rPr>
              <a:t>SELLING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 marR="490220">
              <a:lnSpc>
                <a:spcPct val="101699"/>
              </a:lnSpc>
              <a:spcBef>
                <a:spcPts val="5"/>
              </a:spcBef>
            </a:pPr>
            <a:r>
              <a:rPr dirty="0" sz="1150" spc="-5" i="1">
                <a:latin typeface="Arial"/>
                <a:cs typeface="Arial"/>
              </a:rPr>
              <a:t>“A </a:t>
            </a:r>
            <a:r>
              <a:rPr dirty="0" sz="1150" spc="-30" i="1">
                <a:latin typeface="Arial"/>
                <a:cs typeface="Arial"/>
              </a:rPr>
              <a:t>promotional </a:t>
            </a:r>
            <a:r>
              <a:rPr dirty="0" sz="1150" spc="-10" i="1">
                <a:latin typeface="Arial"/>
                <a:cs typeface="Arial"/>
              </a:rPr>
              <a:t>tool </a:t>
            </a:r>
            <a:r>
              <a:rPr dirty="0" sz="1150" spc="-25" i="1">
                <a:latin typeface="Arial"/>
                <a:cs typeface="Arial"/>
              </a:rPr>
              <a:t>in </a:t>
            </a:r>
            <a:r>
              <a:rPr dirty="0" sz="1150" spc="-40" i="1">
                <a:latin typeface="Arial"/>
                <a:cs typeface="Arial"/>
              </a:rPr>
              <a:t>which </a:t>
            </a:r>
            <a:r>
              <a:rPr dirty="0" sz="1150" spc="-50" i="1">
                <a:latin typeface="Arial"/>
                <a:cs typeface="Arial"/>
              </a:rPr>
              <a:t>a </a:t>
            </a:r>
            <a:r>
              <a:rPr dirty="0" sz="1150" spc="-75" i="1">
                <a:latin typeface="Arial"/>
                <a:cs typeface="Arial"/>
              </a:rPr>
              <a:t>salesperson </a:t>
            </a:r>
            <a:r>
              <a:rPr dirty="0" sz="1150" spc="-55" i="1">
                <a:latin typeface="Arial"/>
                <a:cs typeface="Arial"/>
              </a:rPr>
              <a:t>communicates </a:t>
            </a:r>
            <a:r>
              <a:rPr dirty="0" sz="1150" spc="-60" i="1">
                <a:latin typeface="Arial"/>
                <a:cs typeface="Arial"/>
              </a:rPr>
              <a:t>one-on-one </a:t>
            </a:r>
            <a:r>
              <a:rPr dirty="0" sz="1150" i="1">
                <a:latin typeface="Arial"/>
                <a:cs typeface="Arial"/>
              </a:rPr>
              <a:t>with </a:t>
            </a:r>
            <a:r>
              <a:rPr dirty="0" sz="1150" spc="-20" i="1">
                <a:latin typeface="Arial"/>
                <a:cs typeface="Arial"/>
              </a:rPr>
              <a:t>potential  </a:t>
            </a:r>
            <a:r>
              <a:rPr dirty="0" sz="1150" spc="-45" i="1">
                <a:latin typeface="Arial"/>
                <a:cs typeface="Arial"/>
              </a:rPr>
              <a:t>customers”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Arial"/>
              <a:cs typeface="Arial"/>
            </a:endParaRPr>
          </a:p>
          <a:p>
            <a:pPr algn="just" marL="241300" marR="5080" indent="-228600">
              <a:lnSpc>
                <a:spcPct val="101400"/>
              </a:lnSpc>
              <a:buFont typeface="Symbol"/>
              <a:buChar char=""/>
              <a:tabLst>
                <a:tab pos="241935" algn="l"/>
              </a:tabLst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most </a:t>
            </a:r>
            <a:r>
              <a:rPr dirty="0" sz="1150" spc="-65">
                <a:latin typeface="Arial"/>
                <a:cs typeface="Arial"/>
              </a:rPr>
              <a:t>expensive </a:t>
            </a:r>
            <a:r>
              <a:rPr dirty="0" sz="1150" spc="-15">
                <a:latin typeface="Arial"/>
                <a:cs typeface="Arial"/>
              </a:rPr>
              <a:t>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promotion </a:t>
            </a:r>
            <a:r>
              <a:rPr dirty="0" sz="1150" spc="-30">
                <a:latin typeface="Arial"/>
                <a:cs typeface="Arial"/>
              </a:rPr>
              <a:t>per contact. </a:t>
            </a:r>
            <a:r>
              <a:rPr dirty="0" sz="1150" spc="-15">
                <a:latin typeface="Arial"/>
                <a:cs typeface="Arial"/>
              </a:rPr>
              <a:t>Most </a:t>
            </a:r>
            <a:r>
              <a:rPr dirty="0" sz="1150" spc="-60">
                <a:latin typeface="Arial"/>
                <a:cs typeface="Arial"/>
              </a:rPr>
              <a:t>companies </a:t>
            </a:r>
            <a:r>
              <a:rPr dirty="0" sz="1150" spc="-65">
                <a:latin typeface="Arial"/>
                <a:cs typeface="Arial"/>
              </a:rPr>
              <a:t>spend </a:t>
            </a:r>
            <a:r>
              <a:rPr dirty="0" sz="1150" spc="-20">
                <a:latin typeface="Arial"/>
                <a:cs typeface="Arial"/>
              </a:rPr>
              <a:t>twice </a:t>
            </a:r>
            <a:r>
              <a:rPr dirty="0" sz="1150" spc="-110">
                <a:latin typeface="Arial"/>
                <a:cs typeface="Arial"/>
              </a:rPr>
              <a:t>as  </a:t>
            </a:r>
            <a:r>
              <a:rPr dirty="0" sz="1150" spc="-50">
                <a:latin typeface="Arial"/>
                <a:cs typeface="Arial"/>
              </a:rPr>
              <a:t>much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50">
                <a:latin typeface="Arial"/>
                <a:cs typeface="Arial"/>
              </a:rPr>
              <a:t>personal selling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5">
                <a:latin typeface="Arial"/>
                <a:cs typeface="Arial"/>
              </a:rPr>
              <a:t>marketing </a:t>
            </a:r>
            <a:r>
              <a:rPr dirty="0" sz="1150" spc="-30">
                <a:latin typeface="Arial"/>
                <a:cs typeface="Arial"/>
              </a:rPr>
              <a:t>activities </a:t>
            </a:r>
            <a:r>
              <a:rPr dirty="0" sz="1150" spc="-45">
                <a:latin typeface="Arial"/>
                <a:cs typeface="Arial"/>
              </a:rPr>
              <a:t>combined.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95">
                <a:latin typeface="Arial"/>
                <a:cs typeface="Arial"/>
              </a:rPr>
              <a:t>Expenses  </a:t>
            </a:r>
            <a:r>
              <a:rPr dirty="0" sz="1150" spc="-40">
                <a:latin typeface="Arial"/>
                <a:cs typeface="Arial"/>
              </a:rPr>
              <a:t>include </a:t>
            </a:r>
            <a:r>
              <a:rPr dirty="0" sz="1150" spc="-60">
                <a:latin typeface="Arial"/>
                <a:cs typeface="Arial"/>
              </a:rPr>
              <a:t>salespeople's </a:t>
            </a:r>
            <a:r>
              <a:rPr dirty="0" sz="1150" spc="-45">
                <a:latin typeface="Arial"/>
                <a:cs typeface="Arial"/>
              </a:rPr>
              <a:t>compensation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overhead, usually </a:t>
            </a:r>
            <a:r>
              <a:rPr dirty="0" sz="1150" spc="-25">
                <a:latin typeface="Arial"/>
                <a:cs typeface="Arial"/>
              </a:rPr>
              <a:t>travel, food, </a:t>
            </a:r>
            <a:r>
              <a:rPr dirty="0" sz="1150" spc="-45">
                <a:latin typeface="Arial"/>
                <a:cs typeface="Arial"/>
              </a:rPr>
              <a:t>lodging. </a:t>
            </a:r>
            <a:r>
              <a:rPr dirty="0" sz="1150" spc="-85">
                <a:latin typeface="Arial"/>
                <a:cs typeface="Arial"/>
              </a:rPr>
              <a:t>The  </a:t>
            </a:r>
            <a:r>
              <a:rPr dirty="0" sz="1150" spc="-45">
                <a:latin typeface="Arial"/>
                <a:cs typeface="Arial"/>
              </a:rPr>
              <a:t>cost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single </a:t>
            </a:r>
            <a:r>
              <a:rPr dirty="0" sz="1150" spc="-85">
                <a:latin typeface="Arial"/>
                <a:cs typeface="Arial"/>
              </a:rPr>
              <a:t>sales </a:t>
            </a:r>
            <a:r>
              <a:rPr dirty="0" sz="1150" spc="-45">
                <a:latin typeface="Arial"/>
                <a:cs typeface="Arial"/>
              </a:rPr>
              <a:t>call </a:t>
            </a:r>
            <a:r>
              <a:rPr dirty="0" sz="1150" spc="-90">
                <a:latin typeface="Arial"/>
                <a:cs typeface="Arial"/>
              </a:rPr>
              <a:t>has </a:t>
            </a:r>
            <a:r>
              <a:rPr dirty="0" sz="1150" spc="-55">
                <a:latin typeface="Arial"/>
                <a:cs typeface="Arial"/>
              </a:rPr>
              <a:t>been </a:t>
            </a:r>
            <a:r>
              <a:rPr dirty="0" sz="1150" spc="-35">
                <a:latin typeface="Arial"/>
                <a:cs typeface="Arial"/>
              </a:rPr>
              <a:t>estimated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30">
                <a:latin typeface="Arial"/>
                <a:cs typeface="Arial"/>
              </a:rPr>
              <a:t>about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$300.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Symbol"/>
              <a:buChar char=""/>
            </a:pPr>
            <a:endParaRPr sz="1250">
              <a:latin typeface="Arial"/>
              <a:cs typeface="Arial"/>
            </a:endParaRPr>
          </a:p>
          <a:p>
            <a:pPr algn="just" marL="241300" marR="6350" indent="-228600">
              <a:lnSpc>
                <a:spcPct val="101299"/>
              </a:lnSpc>
              <a:buFont typeface="Symbol"/>
              <a:buChar char=""/>
              <a:tabLst>
                <a:tab pos="241935" algn="l"/>
              </a:tabLst>
            </a:pPr>
            <a:r>
              <a:rPr dirty="0" sz="1150" spc="-105">
                <a:latin typeface="Arial"/>
                <a:cs typeface="Arial"/>
              </a:rPr>
              <a:t>Sales </a:t>
            </a:r>
            <a:r>
              <a:rPr dirty="0" sz="1150" spc="-30">
                <a:latin typeface="Arial"/>
                <a:cs typeface="Arial"/>
              </a:rPr>
              <a:t>force </a:t>
            </a:r>
            <a:r>
              <a:rPr dirty="0" sz="1150" spc="-25">
                <a:latin typeface="Arial"/>
                <a:cs typeface="Arial"/>
              </a:rPr>
              <a:t>automation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45">
                <a:latin typeface="Arial"/>
                <a:cs typeface="Arial"/>
              </a:rPr>
              <a:t>technologies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relieving </a:t>
            </a:r>
            <a:r>
              <a:rPr dirty="0" sz="1150" spc="-60">
                <a:latin typeface="Arial"/>
                <a:cs typeface="Arial"/>
              </a:rPr>
              <a:t>salespeople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35">
                <a:latin typeface="Arial"/>
                <a:cs typeface="Arial"/>
              </a:rPr>
              <a:t>nonproductive </a:t>
            </a:r>
            <a:r>
              <a:rPr dirty="0" sz="1150" spc="-60">
                <a:latin typeface="Arial"/>
                <a:cs typeface="Arial"/>
              </a:rPr>
              <a:t>tasks, </a:t>
            </a:r>
            <a:r>
              <a:rPr dirty="0" sz="1150" spc="-55">
                <a:latin typeface="Arial"/>
                <a:cs typeface="Arial"/>
              </a:rPr>
              <a:t>making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time </a:t>
            </a:r>
            <a:r>
              <a:rPr dirty="0" sz="1150" spc="-25">
                <a:latin typeface="Arial"/>
                <a:cs typeface="Arial"/>
              </a:rPr>
              <a:t>they </a:t>
            </a:r>
            <a:r>
              <a:rPr dirty="0" sz="1150" spc="-60">
                <a:latin typeface="Arial"/>
                <a:cs typeface="Arial"/>
              </a:rPr>
              <a:t>spend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15">
                <a:latin typeface="Arial"/>
                <a:cs typeface="Arial"/>
              </a:rPr>
              <a:t>efficient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20">
                <a:latin typeface="Arial"/>
                <a:cs typeface="Arial"/>
              </a:rPr>
              <a:t>profitable.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Symbol"/>
              <a:buChar char="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10" b="1">
                <a:latin typeface="Arial"/>
                <a:cs typeface="Arial"/>
              </a:rPr>
              <a:t>Personal </a:t>
            </a:r>
            <a:r>
              <a:rPr dirty="0" sz="1350" spc="-114" b="1">
                <a:latin typeface="Arial"/>
                <a:cs typeface="Arial"/>
              </a:rPr>
              <a:t>Selling</a:t>
            </a:r>
            <a:r>
              <a:rPr dirty="0" sz="1350" spc="-15" b="1">
                <a:latin typeface="Arial"/>
                <a:cs typeface="Arial"/>
              </a:rPr>
              <a:t> </a:t>
            </a:r>
            <a:r>
              <a:rPr dirty="0" sz="1350" spc="-95" b="1">
                <a:latin typeface="Arial"/>
                <a:cs typeface="Arial"/>
              </a:rPr>
              <a:t>Situations: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lvl="1" marL="1383665" marR="5080" indent="-299085">
              <a:lnSpc>
                <a:spcPct val="101699"/>
              </a:lnSpc>
              <a:buFont typeface="Arial"/>
              <a:buAutoNum type="romanLcPeriod"/>
              <a:tabLst>
                <a:tab pos="1384935" algn="l"/>
              </a:tabLst>
            </a:pPr>
            <a:r>
              <a:rPr dirty="0" sz="1150" spc="-65" b="1">
                <a:latin typeface="Arial"/>
                <a:cs typeface="Arial"/>
              </a:rPr>
              <a:t>Retail </a:t>
            </a:r>
            <a:r>
              <a:rPr dirty="0" sz="1150" spc="-85" b="1">
                <a:latin typeface="Arial"/>
                <a:cs typeface="Arial"/>
              </a:rPr>
              <a:t>Selling</a:t>
            </a:r>
            <a:r>
              <a:rPr dirty="0" sz="1150" spc="-85">
                <a:latin typeface="Arial"/>
                <a:cs typeface="Arial"/>
              </a:rPr>
              <a:t>: </a:t>
            </a:r>
            <a:r>
              <a:rPr dirty="0" sz="1150" spc="-65">
                <a:latin typeface="Arial"/>
                <a:cs typeface="Arial"/>
              </a:rPr>
              <a:t>Personal </a:t>
            </a:r>
            <a:r>
              <a:rPr dirty="0" sz="1150" spc="-50">
                <a:latin typeface="Arial"/>
                <a:cs typeface="Arial"/>
              </a:rPr>
              <a:t>selling </a:t>
            </a:r>
            <a:r>
              <a:rPr dirty="0" sz="1150" spc="-25">
                <a:latin typeface="Arial"/>
                <a:cs typeface="Arial"/>
              </a:rPr>
              <a:t>situation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50">
                <a:latin typeface="Arial"/>
                <a:cs typeface="Arial"/>
              </a:rPr>
              <a:t>are sold 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5">
                <a:latin typeface="Arial"/>
                <a:cs typeface="Arial"/>
              </a:rPr>
              <a:t>buyers' </a:t>
            </a:r>
            <a:r>
              <a:rPr dirty="0" sz="1150" spc="-50">
                <a:latin typeface="Arial"/>
                <a:cs typeface="Arial"/>
              </a:rPr>
              <a:t>personal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0">
                <a:latin typeface="Arial"/>
                <a:cs typeface="Arial"/>
              </a:rPr>
              <a:t>household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use.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Arial"/>
              <a:buAutoNum type="romanLcPeriod"/>
            </a:pPr>
            <a:endParaRPr sz="1200">
              <a:latin typeface="Arial"/>
              <a:cs typeface="Arial"/>
            </a:endParaRPr>
          </a:p>
          <a:p>
            <a:pPr algn="just" lvl="1" marL="1384300" marR="6350" indent="-332740">
              <a:lnSpc>
                <a:spcPct val="101699"/>
              </a:lnSpc>
              <a:buFont typeface="Arial"/>
              <a:buAutoNum type="romanLcPeriod"/>
              <a:tabLst>
                <a:tab pos="1384935" algn="l"/>
              </a:tabLst>
            </a:pPr>
            <a:r>
              <a:rPr dirty="0" sz="1150" spc="-65" b="1">
                <a:latin typeface="Arial"/>
                <a:cs typeface="Arial"/>
              </a:rPr>
              <a:t>Industrial </a:t>
            </a:r>
            <a:r>
              <a:rPr dirty="0" sz="1150" spc="-85" b="1">
                <a:latin typeface="Arial"/>
                <a:cs typeface="Arial"/>
              </a:rPr>
              <a:t>Selling</a:t>
            </a:r>
            <a:r>
              <a:rPr dirty="0" sz="1150" spc="-85">
                <a:latin typeface="Arial"/>
                <a:cs typeface="Arial"/>
              </a:rPr>
              <a:t>: </a:t>
            </a:r>
            <a:r>
              <a:rPr dirty="0" sz="1150" spc="-70">
                <a:latin typeface="Arial"/>
                <a:cs typeface="Arial"/>
              </a:rPr>
              <a:t>Personal </a:t>
            </a:r>
            <a:r>
              <a:rPr dirty="0" sz="1150" spc="-50">
                <a:latin typeface="Arial"/>
                <a:cs typeface="Arial"/>
              </a:rPr>
              <a:t>selling </a:t>
            </a:r>
            <a:r>
              <a:rPr dirty="0" sz="1150" spc="-25">
                <a:latin typeface="Arial"/>
                <a:cs typeface="Arial"/>
              </a:rPr>
              <a:t>situation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which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50">
                <a:latin typeface="Arial"/>
                <a:cs typeface="Arial"/>
              </a:rPr>
              <a:t>are  sold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5">
                <a:latin typeface="Arial"/>
                <a:cs typeface="Arial"/>
              </a:rPr>
              <a:t>businesses, </a:t>
            </a:r>
            <a:r>
              <a:rPr dirty="0" sz="1150" spc="-20">
                <a:latin typeface="Arial"/>
                <a:cs typeface="Arial"/>
              </a:rPr>
              <a:t>either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5">
                <a:latin typeface="Arial"/>
                <a:cs typeface="Arial"/>
              </a:rPr>
              <a:t>manufacturing </a:t>
            </a:r>
            <a:r>
              <a:rPr dirty="0" sz="1150" spc="-10">
                <a:latin typeface="Arial"/>
                <a:cs typeface="Arial"/>
              </a:rPr>
              <a:t>other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55">
                <a:latin typeface="Arial"/>
                <a:cs typeface="Arial"/>
              </a:rPr>
              <a:t>resale.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157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36141" y="6346953"/>
            <a:ext cx="1631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01906" y="6346953"/>
            <a:ext cx="4142740" cy="7359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85" b="1">
                <a:latin typeface="Arial"/>
                <a:cs typeface="Arial"/>
              </a:rPr>
              <a:t>Pharmaceutical </a:t>
            </a:r>
            <a:r>
              <a:rPr dirty="0" sz="1150" spc="-90" b="1">
                <a:latin typeface="Arial"/>
                <a:cs typeface="Arial"/>
              </a:rPr>
              <a:t>products: </a:t>
            </a:r>
            <a:r>
              <a:rPr dirty="0" sz="1150" spc="-105">
                <a:latin typeface="Arial"/>
                <a:cs typeface="Arial"/>
              </a:rPr>
              <a:t>Sales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-45">
                <a:latin typeface="Arial"/>
                <a:cs typeface="Arial"/>
              </a:rPr>
              <a:t>communicate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35">
                <a:latin typeface="Arial"/>
                <a:cs typeface="Arial"/>
              </a:rPr>
              <a:t>doctors 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presented 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doctors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25">
                <a:latin typeface="Arial"/>
                <a:cs typeface="Arial"/>
              </a:rPr>
              <a:t>in </a:t>
            </a:r>
            <a:r>
              <a:rPr dirty="0" sz="1150" spc="-10">
                <a:latin typeface="Arial"/>
                <a:cs typeface="Arial"/>
              </a:rPr>
              <a:t>return </a:t>
            </a:r>
            <a:r>
              <a:rPr dirty="0" sz="1150" spc="-35">
                <a:latin typeface="Arial"/>
                <a:cs typeface="Arial"/>
              </a:rPr>
              <a:t>doctors  </a:t>
            </a:r>
            <a:r>
              <a:rPr dirty="0" sz="1150" spc="-45">
                <a:latin typeface="Arial"/>
                <a:cs typeface="Arial"/>
              </a:rPr>
              <a:t>recommend </a:t>
            </a:r>
            <a:r>
              <a:rPr dirty="0" sz="1150" spc="-50">
                <a:latin typeface="Arial"/>
                <a:cs typeface="Arial"/>
              </a:rPr>
              <a:t>these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patients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35">
                <a:latin typeface="Arial"/>
                <a:cs typeface="Arial"/>
              </a:rPr>
              <a:t>most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specialized  </a:t>
            </a:r>
            <a:r>
              <a:rPr dirty="0" sz="1150" spc="-55">
                <a:latin typeface="Arial"/>
                <a:cs typeface="Arial"/>
              </a:rPr>
              <a:t>medicines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40">
                <a:latin typeface="Arial"/>
                <a:cs typeface="Arial"/>
              </a:rPr>
              <a:t>allowed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5">
                <a:latin typeface="Arial"/>
                <a:cs typeface="Arial"/>
              </a:rPr>
              <a:t>advertised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directly.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981956" y="891035"/>
            <a:ext cx="3660140" cy="563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33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750" spc="-254" b="1">
                <a:latin typeface="Arial"/>
                <a:cs typeface="Arial"/>
              </a:rPr>
              <a:t>PERSONAL</a:t>
            </a:r>
            <a:r>
              <a:rPr dirty="0" sz="1750" spc="-95" b="1">
                <a:latin typeface="Arial"/>
                <a:cs typeface="Arial"/>
              </a:rPr>
              <a:t> </a:t>
            </a:r>
            <a:r>
              <a:rPr dirty="0" sz="1750" spc="-245" b="1">
                <a:latin typeface="Arial"/>
                <a:cs typeface="Arial"/>
              </a:rPr>
              <a:t>SELLING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158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293" y="1653035"/>
            <a:ext cx="5514340" cy="6898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indent="-229235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135" b="1">
                <a:latin typeface="Arial"/>
                <a:cs typeface="Arial"/>
              </a:rPr>
              <a:t>Tasks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20" b="1">
                <a:latin typeface="Arial"/>
                <a:cs typeface="Arial"/>
              </a:rPr>
              <a:t>Sales</a:t>
            </a:r>
            <a:r>
              <a:rPr dirty="0" sz="1150" spc="-190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Manager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200">
              <a:latin typeface="Arial"/>
              <a:cs typeface="Arial"/>
            </a:endParaRPr>
          </a:p>
          <a:p>
            <a:pPr marL="697865">
              <a:lnSpc>
                <a:spcPct val="100000"/>
              </a:lnSpc>
            </a:pPr>
            <a:r>
              <a:rPr dirty="0" sz="1150" spc="-95">
                <a:latin typeface="Arial"/>
                <a:cs typeface="Arial"/>
              </a:rPr>
              <a:t>He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define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5">
                <a:latin typeface="Arial"/>
                <a:cs typeface="Arial"/>
              </a:rPr>
              <a:t>sales </a:t>
            </a:r>
            <a:r>
              <a:rPr dirty="0" sz="1150" spc="-40">
                <a:latin typeface="Arial"/>
                <a:cs typeface="Arial"/>
              </a:rPr>
              <a:t>objectives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endParaRPr sz="1150">
              <a:latin typeface="Arial"/>
              <a:cs typeface="Arial"/>
            </a:endParaRPr>
          </a:p>
          <a:p>
            <a:pPr lvl="1" marL="1383665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1383665" algn="l"/>
                <a:tab pos="1384300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increase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5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sales</a:t>
            </a:r>
            <a:endParaRPr sz="1150">
              <a:latin typeface="Arial"/>
              <a:cs typeface="Arial"/>
            </a:endParaRPr>
          </a:p>
          <a:p>
            <a:pPr lvl="1" marL="1383665" indent="-229235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1383665" algn="l"/>
                <a:tab pos="1384300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control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sales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Wingdings"/>
              <a:buChar char=""/>
            </a:pPr>
            <a:endParaRPr sz="130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80" b="1">
                <a:latin typeface="Arial"/>
                <a:cs typeface="Arial"/>
              </a:rPr>
              <a:t>Organization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45" b="1">
                <a:latin typeface="Arial"/>
                <a:cs typeface="Arial"/>
              </a:rPr>
              <a:t> </a:t>
            </a:r>
            <a:r>
              <a:rPr dirty="0" sz="1150" spc="-55" b="1">
                <a:latin typeface="Arial"/>
                <a:cs typeface="Arial"/>
              </a:rPr>
              <a:t>team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250">
              <a:latin typeface="Arial"/>
              <a:cs typeface="Arial"/>
            </a:endParaRPr>
          </a:p>
          <a:p>
            <a:pPr algn="just" marL="469265" marR="5080" indent="-228600">
              <a:lnSpc>
                <a:spcPct val="101699"/>
              </a:lnSpc>
              <a:buFont typeface="Symbol"/>
              <a:buChar char=""/>
              <a:tabLst>
                <a:tab pos="469900" algn="l"/>
              </a:tabLst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team performs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tasks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implementing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decisions </a:t>
            </a:r>
            <a:r>
              <a:rPr dirty="0" sz="1150" spc="-35">
                <a:latin typeface="Arial"/>
                <a:cs typeface="Arial"/>
              </a:rPr>
              <a:t>relevant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5">
                <a:latin typeface="Arial"/>
                <a:cs typeface="Arial"/>
              </a:rPr>
              <a:t>sales.  </a:t>
            </a:r>
            <a:r>
              <a:rPr dirty="0" sz="1150" spc="-105">
                <a:latin typeface="Arial"/>
                <a:cs typeface="Arial"/>
              </a:rPr>
              <a:t>Sales </a:t>
            </a:r>
            <a:r>
              <a:rPr dirty="0" sz="1150" spc="-65">
                <a:latin typeface="Arial"/>
                <a:cs typeface="Arial"/>
              </a:rPr>
              <a:t>manager </a:t>
            </a:r>
            <a:r>
              <a:rPr dirty="0" sz="1150" spc="-75">
                <a:latin typeface="Arial"/>
                <a:cs typeface="Arial"/>
              </a:rPr>
              <a:t>chooses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35">
                <a:latin typeface="Arial"/>
                <a:cs typeface="Arial"/>
              </a:rPr>
              <a:t>team. </a:t>
            </a:r>
            <a:r>
              <a:rPr dirty="0" sz="1150" spc="-100">
                <a:latin typeface="Arial"/>
                <a:cs typeface="Arial"/>
              </a:rPr>
              <a:t>He </a:t>
            </a:r>
            <a:r>
              <a:rPr dirty="0" sz="1150" spc="-50">
                <a:latin typeface="Arial"/>
                <a:cs typeface="Arial"/>
              </a:rPr>
              <a:t>conducts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tests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0">
                <a:latin typeface="Arial"/>
                <a:cs typeface="Arial"/>
              </a:rPr>
              <a:t>interview 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people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0">
                <a:latin typeface="Arial"/>
                <a:cs typeface="Arial"/>
              </a:rPr>
              <a:t> selects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right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persons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team.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Symbol"/>
              <a:buChar char=""/>
            </a:pPr>
            <a:endParaRPr sz="12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55" b="1">
                <a:latin typeface="Arial"/>
                <a:cs typeface="Arial"/>
              </a:rPr>
              <a:t>Implementation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85" b="1">
                <a:latin typeface="Arial"/>
                <a:cs typeface="Arial"/>
              </a:rPr>
              <a:t>those</a:t>
            </a:r>
            <a:r>
              <a:rPr dirty="0" sz="1150" spc="-95" b="1">
                <a:latin typeface="Arial"/>
                <a:cs typeface="Arial"/>
              </a:rPr>
              <a:t> plans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Symbol"/>
              <a:buChar char=""/>
            </a:pPr>
            <a:endParaRPr sz="1250">
              <a:latin typeface="Arial"/>
              <a:cs typeface="Arial"/>
            </a:endParaRPr>
          </a:p>
          <a:p>
            <a:pPr algn="just" marL="469265" marR="7620" indent="-228600">
              <a:lnSpc>
                <a:spcPct val="100899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65">
                <a:latin typeface="Arial"/>
                <a:cs typeface="Arial"/>
              </a:rPr>
              <a:t>stage </a:t>
            </a:r>
            <a:r>
              <a:rPr dirty="0" sz="1150" spc="-80">
                <a:latin typeface="Arial"/>
                <a:cs typeface="Arial"/>
              </a:rPr>
              <a:t>sales </a:t>
            </a:r>
            <a:r>
              <a:rPr dirty="0" sz="1150" spc="-40">
                <a:latin typeface="Arial"/>
                <a:cs typeface="Arial"/>
              </a:rPr>
              <a:t>team implements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plans made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0">
                <a:latin typeface="Arial"/>
                <a:cs typeface="Arial"/>
              </a:rPr>
              <a:t>sales </a:t>
            </a:r>
            <a:r>
              <a:rPr dirty="0" sz="1150" spc="-55">
                <a:latin typeface="Arial"/>
                <a:cs typeface="Arial"/>
              </a:rPr>
              <a:t>manger, </a:t>
            </a:r>
            <a:r>
              <a:rPr dirty="0" sz="1150" spc="-45">
                <a:latin typeface="Arial"/>
                <a:cs typeface="Arial"/>
              </a:rPr>
              <a:t>defines  quotas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regions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0">
                <a:latin typeface="Arial"/>
                <a:cs typeface="Arial"/>
              </a:rPr>
              <a:t>sales </a:t>
            </a:r>
            <a:r>
              <a:rPr dirty="0" sz="1150" spc="-60">
                <a:latin typeface="Arial"/>
                <a:cs typeface="Arial"/>
              </a:rPr>
              <a:t>persons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individually.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Symbol"/>
              <a:buChar char=""/>
            </a:pPr>
            <a:endParaRPr sz="130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60" b="1">
                <a:latin typeface="Arial"/>
                <a:cs typeface="Arial"/>
              </a:rPr>
              <a:t>Territory</a:t>
            </a:r>
            <a:r>
              <a:rPr dirty="0" sz="1150" spc="-65" b="1">
                <a:latin typeface="Arial"/>
                <a:cs typeface="Arial"/>
              </a:rPr>
              <a:t> Management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240665">
              <a:lnSpc>
                <a:spcPct val="100000"/>
              </a:lnSpc>
            </a:pPr>
            <a:r>
              <a:rPr dirty="0" sz="1150" spc="-105">
                <a:latin typeface="Arial"/>
                <a:cs typeface="Arial"/>
              </a:rPr>
              <a:t>Sales </a:t>
            </a:r>
            <a:r>
              <a:rPr dirty="0" sz="1150" spc="-45">
                <a:latin typeface="Arial"/>
                <a:cs typeface="Arial"/>
              </a:rPr>
              <a:t>Manger defines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>
                <a:latin typeface="Arial"/>
                <a:cs typeface="Arial"/>
              </a:rPr>
              <a:t>rout </a:t>
            </a:r>
            <a:r>
              <a:rPr dirty="0" sz="1150" spc="-45">
                <a:latin typeface="Arial"/>
                <a:cs typeface="Arial"/>
              </a:rPr>
              <a:t>plan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85">
                <a:latin typeface="Arial"/>
                <a:cs typeface="Arial"/>
              </a:rPr>
              <a:t>sales </a:t>
            </a:r>
            <a:r>
              <a:rPr dirty="0" sz="1150" spc="-65">
                <a:latin typeface="Arial"/>
                <a:cs typeface="Arial"/>
              </a:rPr>
              <a:t>persons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stage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95" b="1">
                <a:latin typeface="Arial"/>
                <a:cs typeface="Arial"/>
              </a:rPr>
              <a:t>PERSONAL </a:t>
            </a:r>
            <a:r>
              <a:rPr dirty="0" sz="1350" spc="-190" b="1">
                <a:latin typeface="Arial"/>
                <a:cs typeface="Arial"/>
              </a:rPr>
              <a:t>SELLING</a:t>
            </a:r>
            <a:r>
              <a:rPr dirty="0" sz="1350" spc="-130" b="1">
                <a:latin typeface="Arial"/>
                <a:cs typeface="Arial"/>
              </a:rPr>
              <a:t> </a:t>
            </a:r>
            <a:r>
              <a:rPr dirty="0" sz="1350" spc="-220" b="1">
                <a:latin typeface="Arial"/>
                <a:cs typeface="Arial"/>
              </a:rPr>
              <a:t>TASKS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algn="just" marL="927100" indent="-229235">
              <a:lnSpc>
                <a:spcPct val="100000"/>
              </a:lnSpc>
              <a:spcBef>
                <a:spcPts val="5"/>
              </a:spcBef>
              <a:buAutoNum type="alphaLcPeriod"/>
              <a:tabLst>
                <a:tab pos="927735" algn="l"/>
              </a:tabLst>
            </a:pPr>
            <a:r>
              <a:rPr dirty="0" sz="1150" spc="-105" b="1">
                <a:latin typeface="Arial"/>
                <a:cs typeface="Arial"/>
              </a:rPr>
              <a:t>Booking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orders</a:t>
            </a:r>
            <a:endParaRPr sz="1150">
              <a:latin typeface="Arial"/>
              <a:cs typeface="Arial"/>
            </a:endParaRPr>
          </a:p>
          <a:p>
            <a:pPr algn="just" marL="1841500" marR="5080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Consulting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40">
                <a:latin typeface="Arial"/>
                <a:cs typeface="Arial"/>
              </a:rPr>
              <a:t>get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40">
                <a:latin typeface="Arial"/>
                <a:cs typeface="Arial"/>
              </a:rPr>
              <a:t>orders </a:t>
            </a:r>
            <a:r>
              <a:rPr dirty="0" sz="1150" spc="-45">
                <a:latin typeface="Arial"/>
                <a:cs typeface="Arial"/>
              </a:rPr>
              <a:t>booked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45">
                <a:latin typeface="Arial"/>
                <a:cs typeface="Arial"/>
              </a:rPr>
              <a:t>specified </a:t>
            </a:r>
            <a:r>
              <a:rPr dirty="0" sz="1150" spc="-15">
                <a:latin typeface="Arial"/>
                <a:cs typeface="Arial"/>
              </a:rPr>
              <a:t>time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period.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927100" indent="-229235">
              <a:lnSpc>
                <a:spcPct val="100000"/>
              </a:lnSpc>
              <a:buAutoNum type="alphaLcPeriod" startAt="2"/>
              <a:tabLst>
                <a:tab pos="927735" algn="l"/>
              </a:tabLst>
            </a:pPr>
            <a:r>
              <a:rPr dirty="0" sz="1150" spc="-120" b="1">
                <a:latin typeface="Arial"/>
                <a:cs typeface="Arial"/>
              </a:rPr>
              <a:t>Processing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5" b="1">
                <a:latin typeface="Arial"/>
                <a:cs typeface="Arial"/>
              </a:rPr>
              <a:t> </a:t>
            </a:r>
            <a:r>
              <a:rPr dirty="0" sz="1150" spc="-85" b="1">
                <a:latin typeface="Arial"/>
                <a:cs typeface="Arial"/>
              </a:rPr>
              <a:t>orders</a:t>
            </a:r>
            <a:endParaRPr sz="1150">
              <a:latin typeface="Arial"/>
              <a:cs typeface="Arial"/>
            </a:endParaRPr>
          </a:p>
          <a:p>
            <a:pPr algn="just" marL="1841500" marR="6350">
              <a:lnSpc>
                <a:spcPct val="101699"/>
              </a:lnSpc>
            </a:pPr>
            <a:r>
              <a:rPr dirty="0" sz="1150" spc="-65">
                <a:latin typeface="Arial"/>
                <a:cs typeface="Arial"/>
              </a:rPr>
              <a:t>Personal </a:t>
            </a:r>
            <a:r>
              <a:rPr dirty="0" sz="1150" spc="-50">
                <a:latin typeface="Arial"/>
                <a:cs typeface="Arial"/>
              </a:rPr>
              <a:t>selling </a:t>
            </a:r>
            <a:r>
              <a:rPr dirty="0" sz="1150" spc="-55">
                <a:latin typeface="Arial"/>
                <a:cs typeface="Arial"/>
              </a:rPr>
              <a:t>task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0">
                <a:latin typeface="Arial"/>
                <a:cs typeface="Arial"/>
              </a:rPr>
              <a:t>salespeople </a:t>
            </a:r>
            <a:r>
              <a:rPr dirty="0" sz="1150" spc="-50">
                <a:latin typeface="Arial"/>
                <a:cs typeface="Arial"/>
              </a:rPr>
              <a:t>receive </a:t>
            </a:r>
            <a:r>
              <a:rPr dirty="0" sz="1150" spc="-40">
                <a:latin typeface="Arial"/>
                <a:cs typeface="Arial"/>
              </a:rPr>
              <a:t>orders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90">
                <a:latin typeface="Arial"/>
                <a:cs typeface="Arial"/>
              </a:rPr>
              <a:t>see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45">
                <a:latin typeface="Arial"/>
                <a:cs typeface="Arial"/>
              </a:rPr>
              <a:t>handling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delivery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927100" indent="-229235">
              <a:lnSpc>
                <a:spcPct val="100000"/>
              </a:lnSpc>
              <a:buAutoNum type="alphaLcPeriod" startAt="3"/>
              <a:tabLst>
                <a:tab pos="927735" algn="l"/>
              </a:tabLst>
            </a:pPr>
            <a:r>
              <a:rPr dirty="0" sz="1150" spc="-75" b="1">
                <a:latin typeface="Arial"/>
                <a:cs typeface="Arial"/>
              </a:rPr>
              <a:t>Creative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Selling</a:t>
            </a:r>
            <a:endParaRPr sz="1150">
              <a:latin typeface="Arial"/>
              <a:cs typeface="Arial"/>
            </a:endParaRPr>
          </a:p>
          <a:p>
            <a:pPr algn="just" marL="1841500" marR="5080">
              <a:lnSpc>
                <a:spcPct val="101699"/>
              </a:lnSpc>
            </a:pPr>
            <a:r>
              <a:rPr dirty="0" sz="1150" spc="-65">
                <a:latin typeface="Arial"/>
                <a:cs typeface="Arial"/>
              </a:rPr>
              <a:t>Personal </a:t>
            </a:r>
            <a:r>
              <a:rPr dirty="0" sz="1150" spc="-50">
                <a:latin typeface="Arial"/>
                <a:cs typeface="Arial"/>
              </a:rPr>
              <a:t>selling task,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0">
                <a:latin typeface="Arial"/>
                <a:cs typeface="Arial"/>
              </a:rPr>
              <a:t>salespeople </a:t>
            </a:r>
            <a:r>
              <a:rPr dirty="0" sz="1150" spc="5">
                <a:latin typeface="Arial"/>
                <a:cs typeface="Arial"/>
              </a:rPr>
              <a:t>try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persuade  </a:t>
            </a:r>
            <a:r>
              <a:rPr dirty="0" sz="1150" spc="-55">
                <a:latin typeface="Arial"/>
                <a:cs typeface="Arial"/>
              </a:rPr>
              <a:t>buyers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buyers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purchase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5">
                <a:latin typeface="Arial"/>
                <a:cs typeface="Arial"/>
              </a:rPr>
              <a:t>providing 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5">
                <a:latin typeface="Arial"/>
                <a:cs typeface="Arial"/>
              </a:rPr>
              <a:t>their </a:t>
            </a:r>
            <a:r>
              <a:rPr dirty="0" sz="1150" spc="-35">
                <a:latin typeface="Arial"/>
                <a:cs typeface="Arial"/>
              </a:rPr>
              <a:t>benefits, </a:t>
            </a:r>
            <a:r>
              <a:rPr dirty="0" sz="1150" spc="-65">
                <a:latin typeface="Arial"/>
                <a:cs typeface="Arial"/>
              </a:rPr>
              <a:t>salesperson </a:t>
            </a:r>
            <a:r>
              <a:rPr dirty="0" sz="1150" spc="-45">
                <a:latin typeface="Arial"/>
                <a:cs typeface="Arial"/>
              </a:rPr>
              <a:t>delivers  </a:t>
            </a:r>
            <a:r>
              <a:rPr dirty="0" sz="1150" spc="-40">
                <a:latin typeface="Arial"/>
                <a:cs typeface="Arial"/>
              </a:rPr>
              <a:t>creative </a:t>
            </a:r>
            <a:r>
              <a:rPr dirty="0" sz="1150" spc="-90">
                <a:latin typeface="Arial"/>
                <a:cs typeface="Arial"/>
              </a:rPr>
              <a:t>messages, </a:t>
            </a:r>
            <a:r>
              <a:rPr dirty="0" sz="1150" spc="-50">
                <a:latin typeface="Arial"/>
                <a:cs typeface="Arial"/>
              </a:rPr>
              <a:t>adopts </a:t>
            </a:r>
            <a:r>
              <a:rPr dirty="0" sz="1150" spc="-40">
                <a:latin typeface="Arial"/>
                <a:cs typeface="Arial"/>
              </a:rPr>
              <a:t>creative </a:t>
            </a:r>
            <a:r>
              <a:rPr dirty="0" sz="1150" spc="-70">
                <a:latin typeface="Arial"/>
                <a:cs typeface="Arial"/>
              </a:rPr>
              <a:t>ways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pursuing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invents creative </a:t>
            </a:r>
            <a:r>
              <a:rPr dirty="0" sz="1150" spc="-65">
                <a:latin typeface="Arial"/>
                <a:cs typeface="Arial"/>
              </a:rPr>
              <a:t>ideas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50">
                <a:latin typeface="Arial"/>
                <a:cs typeface="Arial"/>
              </a:rPr>
              <a:t>experience </a:t>
            </a:r>
            <a:r>
              <a:rPr dirty="0" sz="1150" spc="-10">
                <a:latin typeface="Arial"/>
                <a:cs typeface="Arial"/>
              </a:rPr>
              <a:t>of  </a:t>
            </a:r>
            <a:r>
              <a:rPr dirty="0" sz="1150" spc="-55">
                <a:latin typeface="Arial"/>
                <a:cs typeface="Arial"/>
              </a:rPr>
              <a:t>going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market.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312" y="892559"/>
            <a:ext cx="5513070" cy="7921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7865">
              <a:lnSpc>
                <a:spcPct val="100000"/>
              </a:lnSpc>
              <a:spcBef>
                <a:spcPts val="100"/>
              </a:spcBef>
            </a:pPr>
            <a:r>
              <a:rPr dirty="0" sz="1150" spc="-50" b="1">
                <a:latin typeface="Arial"/>
                <a:cs typeface="Arial"/>
              </a:rPr>
              <a:t>d. </a:t>
            </a:r>
            <a:r>
              <a:rPr dirty="0" sz="1150" spc="-80" b="1">
                <a:latin typeface="Arial"/>
                <a:cs typeface="Arial"/>
              </a:rPr>
              <a:t>Missionary</a:t>
            </a:r>
            <a:r>
              <a:rPr dirty="0" sz="1150" spc="-5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Selling</a:t>
            </a:r>
            <a:endParaRPr sz="1150">
              <a:latin typeface="Arial"/>
              <a:cs typeface="Arial"/>
            </a:endParaRPr>
          </a:p>
          <a:p>
            <a:pPr marL="1612265" marR="5080">
              <a:lnSpc>
                <a:spcPct val="101699"/>
              </a:lnSpc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sell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40">
                <a:latin typeface="Arial"/>
                <a:cs typeface="Arial"/>
              </a:rPr>
              <a:t>helping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buyer. </a:t>
            </a:r>
            <a:r>
              <a:rPr dirty="0" sz="1150" spc="-85">
                <a:latin typeface="Arial"/>
                <a:cs typeface="Arial"/>
              </a:rPr>
              <a:t>Salesman </a:t>
            </a:r>
            <a:r>
              <a:rPr dirty="0" sz="1150" spc="-45">
                <a:latin typeface="Arial"/>
                <a:cs typeface="Arial"/>
              </a:rPr>
              <a:t>provides  </a:t>
            </a:r>
            <a:r>
              <a:rPr dirty="0" sz="1150" spc="-30">
                <a:latin typeface="Arial"/>
                <a:cs typeface="Arial"/>
              </a:rPr>
              <a:t>voluntary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service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buyer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tries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put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order.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50" spc="-225" b="1">
                <a:latin typeface="Arial"/>
                <a:cs typeface="Arial"/>
              </a:rPr>
              <a:t>PERSONAL </a:t>
            </a:r>
            <a:r>
              <a:rPr dirty="0" sz="1550" spc="-220" b="1">
                <a:latin typeface="Arial"/>
                <a:cs typeface="Arial"/>
              </a:rPr>
              <a:t>SELLING</a:t>
            </a:r>
            <a:r>
              <a:rPr dirty="0" sz="1550" spc="-150" b="1">
                <a:latin typeface="Arial"/>
                <a:cs typeface="Arial"/>
              </a:rPr>
              <a:t> </a:t>
            </a:r>
            <a:r>
              <a:rPr dirty="0" sz="1550" spc="-260" b="1">
                <a:latin typeface="Arial"/>
                <a:cs typeface="Arial"/>
              </a:rPr>
              <a:t>PROCESS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50" spc="-120" b="1">
                <a:latin typeface="Arial"/>
                <a:cs typeface="Arial"/>
              </a:rPr>
              <a:t>Prospecting </a:t>
            </a:r>
            <a:r>
              <a:rPr dirty="0" sz="1450" spc="-105" b="1">
                <a:latin typeface="Arial"/>
                <a:cs typeface="Arial"/>
              </a:rPr>
              <a:t>and</a:t>
            </a:r>
            <a:r>
              <a:rPr dirty="0" sz="1450" spc="-50" b="1">
                <a:latin typeface="Arial"/>
                <a:cs typeface="Arial"/>
              </a:rPr>
              <a:t> </a:t>
            </a:r>
            <a:r>
              <a:rPr dirty="0" sz="1450" spc="-95" b="1">
                <a:latin typeface="Arial"/>
                <a:cs typeface="Arial"/>
              </a:rPr>
              <a:t>Qualifying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0899"/>
              </a:lnSpc>
            </a:pPr>
            <a:r>
              <a:rPr dirty="0" sz="1150" spc="-55">
                <a:latin typeface="Arial"/>
                <a:cs typeface="Arial"/>
              </a:rPr>
              <a:t>Prospecting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identifying </a:t>
            </a:r>
            <a:r>
              <a:rPr dirty="0" sz="1150" spc="-15">
                <a:latin typeface="Arial"/>
                <a:cs typeface="Arial"/>
              </a:rPr>
              <a:t>potential </a:t>
            </a:r>
            <a:r>
              <a:rPr dirty="0" sz="1150" spc="-45">
                <a:latin typeface="Arial"/>
                <a:cs typeface="Arial"/>
              </a:rPr>
              <a:t>customers; </a:t>
            </a:r>
            <a:r>
              <a:rPr dirty="0" sz="1150" spc="-35">
                <a:latin typeface="Arial"/>
                <a:cs typeface="Arial"/>
              </a:rPr>
              <a:t>qualifying </a:t>
            </a:r>
            <a:r>
              <a:rPr dirty="0" sz="1150" spc="-25">
                <a:latin typeface="Arial"/>
                <a:cs typeface="Arial"/>
              </a:rPr>
              <a:t>identifies </a:t>
            </a:r>
            <a:r>
              <a:rPr dirty="0" sz="1150" spc="-40">
                <a:latin typeface="Arial"/>
                <a:cs typeface="Arial"/>
              </a:rPr>
              <a:t>those </a:t>
            </a:r>
            <a:r>
              <a:rPr dirty="0" sz="1150" spc="-30">
                <a:latin typeface="Arial"/>
                <a:cs typeface="Arial"/>
              </a:rPr>
              <a:t>who  </a:t>
            </a:r>
            <a:r>
              <a:rPr dirty="0" sz="1150" spc="-65">
                <a:latin typeface="Arial"/>
                <a:cs typeface="Arial"/>
              </a:rPr>
              <a:t>have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authority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buy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ability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pay.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15">
                <a:latin typeface="Arial"/>
                <a:cs typeface="Arial"/>
              </a:rPr>
              <a:t>It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includes</a:t>
            </a:r>
            <a:endParaRPr sz="1150">
              <a:latin typeface="Arial"/>
              <a:cs typeface="Arial"/>
            </a:endParaRPr>
          </a:p>
          <a:p>
            <a:pPr marL="927100" indent="-228600">
              <a:lnSpc>
                <a:spcPct val="100000"/>
              </a:lnSpc>
              <a:spcBef>
                <a:spcPts val="20"/>
              </a:spcBef>
              <a:buAutoNum type="alphaLcPeriod"/>
              <a:tabLst>
                <a:tab pos="927100" algn="l"/>
              </a:tabLst>
            </a:pPr>
            <a:r>
              <a:rPr dirty="0" sz="1150" spc="-50">
                <a:latin typeface="Arial"/>
                <a:cs typeface="Arial"/>
              </a:rPr>
              <a:t>Location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industry</a:t>
            </a:r>
            <a:endParaRPr sz="1150">
              <a:latin typeface="Arial"/>
              <a:cs typeface="Arial"/>
            </a:endParaRPr>
          </a:p>
          <a:p>
            <a:pPr marL="927100" indent="-228600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927100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know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decision maker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926465" algn="l"/>
                <a:tab pos="927100" algn="l"/>
              </a:tabLst>
            </a:pPr>
            <a:r>
              <a:rPr dirty="0" sz="1150" spc="-110">
                <a:latin typeface="Arial"/>
                <a:cs typeface="Arial"/>
              </a:rPr>
              <a:t>Size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order</a:t>
            </a:r>
            <a:endParaRPr sz="1150">
              <a:latin typeface="Arial"/>
              <a:cs typeface="Arial"/>
            </a:endParaRPr>
          </a:p>
          <a:p>
            <a:pPr marL="927100" indent="-228600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927100" algn="l"/>
              </a:tabLst>
            </a:pPr>
            <a:r>
              <a:rPr dirty="0" sz="1150" spc="-30">
                <a:latin typeface="Arial"/>
                <a:cs typeface="Arial"/>
              </a:rPr>
              <a:t>Mode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Payment</a:t>
            </a:r>
            <a:endParaRPr sz="1150">
              <a:latin typeface="Arial"/>
              <a:cs typeface="Arial"/>
            </a:endParaRPr>
          </a:p>
          <a:p>
            <a:pPr marL="927100" indent="-228600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927100" algn="l"/>
              </a:tabLst>
            </a:pPr>
            <a:r>
              <a:rPr dirty="0" sz="1150" spc="-80">
                <a:latin typeface="Arial"/>
                <a:cs typeface="Arial"/>
              </a:rPr>
              <a:t>Past </a:t>
            </a:r>
            <a:r>
              <a:rPr dirty="0" sz="1150" spc="-50">
                <a:latin typeface="Arial"/>
                <a:cs typeface="Arial"/>
              </a:rPr>
              <a:t>practices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</a:t>
            </a:r>
            <a:endParaRPr sz="1150">
              <a:latin typeface="Arial"/>
              <a:cs typeface="Arial"/>
            </a:endParaRPr>
          </a:p>
          <a:p>
            <a:pPr marL="927100" indent="-228600">
              <a:lnSpc>
                <a:spcPct val="100000"/>
              </a:lnSpc>
              <a:spcBef>
                <a:spcPts val="20"/>
              </a:spcBef>
              <a:buAutoNum type="alphaLcPeriod"/>
              <a:tabLst>
                <a:tab pos="926465" algn="l"/>
                <a:tab pos="927100" algn="l"/>
              </a:tabLst>
            </a:pPr>
            <a:r>
              <a:rPr dirty="0" sz="1150" spc="-40">
                <a:latin typeface="Arial"/>
                <a:cs typeface="Arial"/>
              </a:rPr>
              <a:t>Current</a:t>
            </a:r>
            <a:r>
              <a:rPr dirty="0" sz="1150" spc="-60">
                <a:latin typeface="Arial"/>
                <a:cs typeface="Arial"/>
              </a:rPr>
              <a:t> Problems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14" b="1">
                <a:latin typeface="Arial"/>
                <a:cs typeface="Arial"/>
              </a:rPr>
              <a:t>Techniques </a:t>
            </a:r>
            <a:r>
              <a:rPr dirty="0" sz="1350" spc="-55" b="1">
                <a:latin typeface="Arial"/>
                <a:cs typeface="Arial"/>
              </a:rPr>
              <a:t>for</a:t>
            </a:r>
            <a:r>
              <a:rPr dirty="0" sz="1350" spc="-60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prospecting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1150" spc="-85" b="1">
                <a:latin typeface="Arial"/>
                <a:cs typeface="Arial"/>
              </a:rPr>
              <a:t>Snowball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Technique</a:t>
            </a:r>
            <a:endParaRPr sz="115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25"/>
              </a:spcBef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95">
                <a:latin typeface="Arial"/>
                <a:cs typeface="Arial"/>
              </a:rPr>
              <a:t>ask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satisfied </a:t>
            </a:r>
            <a:r>
              <a:rPr dirty="0" sz="1150" spc="-45">
                <a:latin typeface="Arial"/>
                <a:cs typeface="Arial"/>
              </a:rPr>
              <a:t>customer, </a:t>
            </a:r>
            <a:r>
              <a:rPr dirty="0" sz="1150" spc="-30">
                <a:latin typeface="Arial"/>
                <a:cs typeface="Arial"/>
              </a:rPr>
              <a:t>about more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sell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r" marL="469900" marR="3397250" indent="-470534">
              <a:lnSpc>
                <a:spcPct val="100000"/>
              </a:lnSpc>
              <a:buAutoNum type="alphaLcPeriod" startAt="2"/>
              <a:tabLst>
                <a:tab pos="470534" algn="l"/>
              </a:tabLst>
            </a:pPr>
            <a:r>
              <a:rPr dirty="0" sz="1150" spc="-110" b="1">
                <a:latin typeface="Arial"/>
                <a:cs typeface="Arial"/>
              </a:rPr>
              <a:t>Cold Conversing</a:t>
            </a:r>
            <a:r>
              <a:rPr dirty="0" sz="1150" spc="-70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Technique</a:t>
            </a:r>
            <a:endParaRPr sz="1150">
              <a:latin typeface="Arial"/>
              <a:cs typeface="Arial"/>
            </a:endParaRPr>
          </a:p>
          <a:p>
            <a:pPr algn="r" marR="3397250">
              <a:lnSpc>
                <a:spcPct val="100000"/>
              </a:lnSpc>
              <a:spcBef>
                <a:spcPts val="25"/>
              </a:spcBef>
            </a:pPr>
            <a:r>
              <a:rPr dirty="0" sz="1150" spc="-65">
                <a:latin typeface="Arial"/>
                <a:cs typeface="Arial"/>
              </a:rPr>
              <a:t>Knocking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45">
                <a:latin typeface="Arial"/>
                <a:cs typeface="Arial"/>
              </a:rPr>
              <a:t>body’s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door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00" b="1">
                <a:latin typeface="Arial"/>
                <a:cs typeface="Arial"/>
              </a:rPr>
              <a:t>Features </a:t>
            </a:r>
            <a:r>
              <a:rPr dirty="0" sz="1350" spc="-65" b="1">
                <a:latin typeface="Arial"/>
                <a:cs typeface="Arial"/>
              </a:rPr>
              <a:t>of </a:t>
            </a:r>
            <a:r>
              <a:rPr dirty="0" sz="1350" spc="-55" b="1">
                <a:latin typeface="Arial"/>
                <a:cs typeface="Arial"/>
              </a:rPr>
              <a:t>the </a:t>
            </a:r>
            <a:r>
              <a:rPr dirty="0" sz="1350" spc="-100" b="1">
                <a:latin typeface="Arial"/>
                <a:cs typeface="Arial"/>
              </a:rPr>
              <a:t>prospective</a:t>
            </a:r>
            <a:r>
              <a:rPr dirty="0" sz="1350" spc="-90" b="1">
                <a:latin typeface="Arial"/>
                <a:cs typeface="Arial"/>
              </a:rPr>
              <a:t> </a:t>
            </a:r>
            <a:r>
              <a:rPr dirty="0" sz="1350" spc="-75" b="1">
                <a:latin typeface="Arial"/>
                <a:cs typeface="Arial"/>
              </a:rPr>
              <a:t>buye</a:t>
            </a:r>
            <a:r>
              <a:rPr dirty="0" sz="1350" spc="-75">
                <a:latin typeface="Arial"/>
                <a:cs typeface="Arial"/>
              </a:rPr>
              <a:t>r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lvl="1" marL="698500" indent="-229235">
              <a:lnSpc>
                <a:spcPct val="100000"/>
              </a:lnSpc>
              <a:spcBef>
                <a:spcPts val="5"/>
              </a:spcBef>
              <a:buAutoNum type="alphaLcPeriod"/>
              <a:tabLst>
                <a:tab pos="699135" algn="l"/>
              </a:tabLst>
            </a:pPr>
            <a:r>
              <a:rPr dirty="0" sz="1150" spc="-90">
                <a:latin typeface="Arial"/>
                <a:cs typeface="Arial"/>
              </a:rPr>
              <a:t>Age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person</a:t>
            </a:r>
            <a:endParaRPr sz="1150">
              <a:latin typeface="Arial"/>
              <a:cs typeface="Arial"/>
            </a:endParaRPr>
          </a:p>
          <a:p>
            <a:pPr lvl="1" marL="698500" indent="-229235">
              <a:lnSpc>
                <a:spcPct val="100000"/>
              </a:lnSpc>
              <a:spcBef>
                <a:spcPts val="20"/>
              </a:spcBef>
              <a:buAutoNum type="alphaLcPeriod"/>
              <a:tabLst>
                <a:tab pos="699135" algn="l"/>
              </a:tabLst>
            </a:pPr>
            <a:r>
              <a:rPr dirty="0" sz="1150" spc="-25">
                <a:latin typeface="Arial"/>
                <a:cs typeface="Arial"/>
              </a:rPr>
              <a:t>Interest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buyer</a:t>
            </a:r>
            <a:endParaRPr sz="1150">
              <a:latin typeface="Arial"/>
              <a:cs typeface="Arial"/>
            </a:endParaRPr>
          </a:p>
          <a:p>
            <a:pPr lvl="1" marL="698500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697865" algn="l"/>
                <a:tab pos="699135" algn="l"/>
              </a:tabLst>
            </a:pPr>
            <a:r>
              <a:rPr dirty="0" sz="1150" spc="-60">
                <a:latin typeface="Arial"/>
                <a:cs typeface="Arial"/>
              </a:rPr>
              <a:t>Preferences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buyer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Arial"/>
              <a:buAutoNum type="alphaLcPeriod"/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60" b="1">
                <a:latin typeface="Arial"/>
                <a:cs typeface="Arial"/>
              </a:rPr>
              <a:t>APPROACHING </a:t>
            </a:r>
            <a:r>
              <a:rPr dirty="0" sz="1350" spc="-175" b="1">
                <a:latin typeface="Arial"/>
                <a:cs typeface="Arial"/>
              </a:rPr>
              <a:t>THE</a:t>
            </a:r>
            <a:r>
              <a:rPr dirty="0" sz="1350" spc="-215" b="1">
                <a:latin typeface="Arial"/>
                <a:cs typeface="Arial"/>
              </a:rPr>
              <a:t> </a:t>
            </a:r>
            <a:r>
              <a:rPr dirty="0" sz="1350" spc="-180" b="1">
                <a:latin typeface="Arial"/>
                <a:cs typeface="Arial"/>
              </a:rPr>
              <a:t>CUSTOMERS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80" b="1">
                <a:latin typeface="Arial"/>
                <a:cs typeface="Arial"/>
              </a:rPr>
              <a:t>Getting </a:t>
            </a:r>
            <a:r>
              <a:rPr dirty="0" sz="1350" spc="-75" b="1">
                <a:latin typeface="Arial"/>
                <a:cs typeface="Arial"/>
              </a:rPr>
              <a:t>appointment </a:t>
            </a:r>
            <a:r>
              <a:rPr dirty="0" sz="1350" spc="-70" b="1">
                <a:latin typeface="Arial"/>
                <a:cs typeface="Arial"/>
              </a:rPr>
              <a:t>from </a:t>
            </a:r>
            <a:r>
              <a:rPr dirty="0" sz="1350" spc="-55" b="1">
                <a:latin typeface="Arial"/>
                <a:cs typeface="Arial"/>
              </a:rPr>
              <a:t>the</a:t>
            </a:r>
            <a:r>
              <a:rPr dirty="0" sz="1350" spc="-85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customer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95" b="1">
                <a:latin typeface="Arial"/>
                <a:cs typeface="Arial"/>
              </a:rPr>
              <a:t>Advantages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45" b="1">
                <a:latin typeface="Arial"/>
                <a:cs typeface="Arial"/>
              </a:rPr>
              <a:t>the </a:t>
            </a:r>
            <a:r>
              <a:rPr dirty="0" sz="1150" spc="-65" b="1">
                <a:latin typeface="Arial"/>
                <a:cs typeface="Arial"/>
              </a:rPr>
              <a:t>appointment</a:t>
            </a:r>
            <a:endParaRPr sz="1150">
              <a:latin typeface="Arial"/>
              <a:cs typeface="Arial"/>
            </a:endParaRPr>
          </a:p>
          <a:p>
            <a:pPr lvl="2" marL="927100" indent="-22923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50">
                <a:latin typeface="Arial"/>
                <a:cs typeface="Arial"/>
              </a:rPr>
              <a:t>Proper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hearing</a:t>
            </a:r>
            <a:endParaRPr sz="1150">
              <a:latin typeface="Arial"/>
              <a:cs typeface="Arial"/>
            </a:endParaRPr>
          </a:p>
          <a:p>
            <a:pPr lvl="2" marL="927100" indent="-22923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55">
                <a:latin typeface="Arial"/>
                <a:cs typeface="Arial"/>
              </a:rPr>
              <a:t>Customer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40">
                <a:latin typeface="Arial"/>
                <a:cs typeface="Arial"/>
              </a:rPr>
              <a:t>get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feeling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5">
                <a:latin typeface="Arial"/>
                <a:cs typeface="Arial"/>
              </a:rPr>
              <a:t>his </a:t>
            </a:r>
            <a:r>
              <a:rPr dirty="0" sz="1150" spc="-10">
                <a:latin typeface="Arial"/>
                <a:cs typeface="Arial"/>
              </a:rPr>
              <a:t>time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being respected</a:t>
            </a:r>
            <a:endParaRPr sz="11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200">
              <a:latin typeface="Arial"/>
              <a:cs typeface="Arial"/>
            </a:endParaRPr>
          </a:p>
          <a:p>
            <a:pPr algn="r" marR="3390900">
              <a:lnSpc>
                <a:spcPct val="100000"/>
              </a:lnSpc>
            </a:pPr>
            <a:r>
              <a:rPr dirty="0" sz="1150" spc="-95" b="1">
                <a:latin typeface="Arial"/>
                <a:cs typeface="Arial"/>
              </a:rPr>
              <a:t>Disadvantages </a:t>
            </a:r>
            <a:r>
              <a:rPr dirty="0" sz="1150" spc="-50" b="1">
                <a:latin typeface="Arial"/>
                <a:cs typeface="Arial"/>
              </a:rPr>
              <a:t>of the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appointment</a:t>
            </a:r>
            <a:endParaRPr sz="1150">
              <a:latin typeface="Arial"/>
              <a:cs typeface="Arial"/>
            </a:endParaRPr>
          </a:p>
          <a:p>
            <a:pPr lvl="2" marL="927100" indent="-229235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55">
                <a:latin typeface="Arial"/>
                <a:cs typeface="Arial"/>
              </a:rPr>
              <a:t>Customer </a:t>
            </a:r>
            <a:r>
              <a:rPr dirty="0" sz="1150" spc="-25">
                <a:latin typeface="Arial"/>
                <a:cs typeface="Arial"/>
              </a:rPr>
              <a:t>might </a:t>
            </a:r>
            <a:r>
              <a:rPr dirty="0" sz="1150" spc="-90">
                <a:latin typeface="Arial"/>
                <a:cs typeface="Arial"/>
              </a:rPr>
              <a:t>say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no</a:t>
            </a:r>
            <a:endParaRPr sz="1150">
              <a:latin typeface="Arial"/>
              <a:cs typeface="Arial"/>
            </a:endParaRPr>
          </a:p>
          <a:p>
            <a:pPr lvl="2" marL="9271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75">
                <a:latin typeface="Arial"/>
                <a:cs typeface="Arial"/>
              </a:rPr>
              <a:t>Salesperson </a:t>
            </a:r>
            <a:r>
              <a:rPr dirty="0" sz="1150" spc="-25">
                <a:latin typeface="Arial"/>
                <a:cs typeface="Arial"/>
              </a:rPr>
              <a:t>might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50">
                <a:latin typeface="Arial"/>
                <a:cs typeface="Arial"/>
              </a:rPr>
              <a:t>able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reach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time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159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86" y="892559"/>
            <a:ext cx="5512435" cy="5183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55" b="1">
                <a:latin typeface="Arial"/>
                <a:cs typeface="Arial"/>
              </a:rPr>
              <a:t>Without </a:t>
            </a:r>
            <a:r>
              <a:rPr dirty="0" sz="1350" spc="-85" b="1">
                <a:latin typeface="Arial"/>
                <a:cs typeface="Arial"/>
              </a:rPr>
              <a:t>getting </a:t>
            </a:r>
            <a:r>
              <a:rPr dirty="0" sz="1350" spc="-75" b="1">
                <a:latin typeface="Arial"/>
                <a:cs typeface="Arial"/>
              </a:rPr>
              <a:t>appointment </a:t>
            </a:r>
            <a:r>
              <a:rPr dirty="0" sz="1350" spc="-70" b="1">
                <a:latin typeface="Arial"/>
                <a:cs typeface="Arial"/>
              </a:rPr>
              <a:t>from </a:t>
            </a:r>
            <a:r>
              <a:rPr dirty="0" sz="1350" spc="-55" b="1">
                <a:latin typeface="Arial"/>
                <a:cs typeface="Arial"/>
              </a:rPr>
              <a:t>the</a:t>
            </a:r>
            <a:r>
              <a:rPr dirty="0" sz="1350" spc="-95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customer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95" b="1">
                <a:latin typeface="Arial"/>
                <a:cs typeface="Arial"/>
              </a:rPr>
              <a:t>Advantages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55" b="1">
                <a:latin typeface="Arial"/>
                <a:cs typeface="Arial"/>
              </a:rPr>
              <a:t>not </a:t>
            </a:r>
            <a:r>
              <a:rPr dirty="0" sz="1150" spc="-75" b="1">
                <a:latin typeface="Arial"/>
                <a:cs typeface="Arial"/>
              </a:rPr>
              <a:t>getting </a:t>
            </a:r>
            <a:r>
              <a:rPr dirty="0" sz="1150" spc="-45" b="1">
                <a:latin typeface="Arial"/>
                <a:cs typeface="Arial"/>
              </a:rPr>
              <a:t>the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appointment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65">
                <a:latin typeface="Arial"/>
                <a:cs typeface="Arial"/>
              </a:rPr>
              <a:t>Time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5">
                <a:latin typeface="Arial"/>
                <a:cs typeface="Arial"/>
              </a:rPr>
              <a:t>control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salesperson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75">
                <a:latin typeface="Arial"/>
                <a:cs typeface="Arial"/>
              </a:rPr>
              <a:t>Salesperson </a:t>
            </a:r>
            <a:r>
              <a:rPr dirty="0" sz="1150" spc="-70">
                <a:latin typeface="Arial"/>
                <a:cs typeface="Arial"/>
              </a:rPr>
              <a:t>does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30">
                <a:latin typeface="Arial"/>
                <a:cs typeface="Arial"/>
              </a:rPr>
              <a:t>fear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getting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no</a:t>
            </a:r>
            <a:endParaRPr sz="115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  <a:spcBef>
                <a:spcPts val="80"/>
              </a:spcBef>
            </a:pPr>
            <a:r>
              <a:rPr dirty="0" sz="1150" spc="-5">
                <a:latin typeface="Symbol"/>
                <a:cs typeface="Symbol"/>
              </a:rPr>
              <a:t></a:t>
            </a:r>
            <a:endParaRPr sz="115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150" spc="-95" b="1">
                <a:latin typeface="Arial"/>
                <a:cs typeface="Arial"/>
              </a:rPr>
              <a:t>Disadvantages </a:t>
            </a:r>
            <a:r>
              <a:rPr dirty="0" sz="1150" spc="-50" b="1">
                <a:latin typeface="Arial"/>
                <a:cs typeface="Arial"/>
              </a:rPr>
              <a:t>of not </a:t>
            </a:r>
            <a:r>
              <a:rPr dirty="0" sz="1150" spc="-70" b="1">
                <a:latin typeface="Arial"/>
                <a:cs typeface="Arial"/>
              </a:rPr>
              <a:t>getting </a:t>
            </a:r>
            <a:r>
              <a:rPr dirty="0" sz="1150" spc="-45" b="1">
                <a:latin typeface="Arial"/>
                <a:cs typeface="Arial"/>
              </a:rPr>
              <a:t>the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appointment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55">
                <a:latin typeface="Arial"/>
                <a:cs typeface="Arial"/>
              </a:rPr>
              <a:t>Customer </a:t>
            </a:r>
            <a:r>
              <a:rPr dirty="0" sz="1150" spc="-25">
                <a:latin typeface="Arial"/>
                <a:cs typeface="Arial"/>
              </a:rPr>
              <a:t>might </a:t>
            </a:r>
            <a:r>
              <a:rPr dirty="0" sz="1150" spc="-30">
                <a:latin typeface="Arial"/>
                <a:cs typeface="Arial"/>
              </a:rPr>
              <a:t>feel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55">
                <a:latin typeface="Arial"/>
                <a:cs typeface="Arial"/>
              </a:rPr>
              <a:t>organized </a:t>
            </a:r>
            <a:r>
              <a:rPr dirty="0" sz="1150" spc="-50">
                <a:latin typeface="Arial"/>
                <a:cs typeface="Arial"/>
              </a:rPr>
              <a:t>person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Symbol"/>
              <a:buChar char="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00" b="1">
                <a:latin typeface="Arial"/>
                <a:cs typeface="Arial"/>
              </a:rPr>
              <a:t>Barriers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150" spc="-105">
                <a:latin typeface="Arial"/>
                <a:cs typeface="Arial"/>
              </a:rPr>
              <a:t>Sales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25">
                <a:latin typeface="Arial"/>
                <a:cs typeface="Arial"/>
              </a:rPr>
              <a:t>might </a:t>
            </a:r>
            <a:r>
              <a:rPr dirty="0" sz="1150" spc="-60">
                <a:latin typeface="Arial"/>
                <a:cs typeface="Arial"/>
              </a:rPr>
              <a:t>face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35">
                <a:latin typeface="Arial"/>
                <a:cs typeface="Arial"/>
              </a:rPr>
              <a:t>barriers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approaching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customer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35">
                <a:latin typeface="Arial"/>
                <a:cs typeface="Arial"/>
              </a:rPr>
              <a:t>barriers </a:t>
            </a:r>
            <a:r>
              <a:rPr dirty="0" sz="1150" spc="-70">
                <a:latin typeface="Arial"/>
                <a:cs typeface="Arial"/>
              </a:rPr>
              <a:t>can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be: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55">
                <a:latin typeface="Arial"/>
                <a:cs typeface="Arial"/>
              </a:rPr>
              <a:t>Security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guard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45">
                <a:latin typeface="Arial"/>
                <a:cs typeface="Arial"/>
              </a:rPr>
              <a:t>Receptionist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50">
                <a:latin typeface="Arial"/>
                <a:cs typeface="Arial"/>
              </a:rPr>
              <a:t>Junior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Officer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Symbol"/>
              <a:buChar char="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00" b="1">
                <a:latin typeface="Arial"/>
                <a:cs typeface="Arial"/>
              </a:rPr>
              <a:t>Techniques </a:t>
            </a:r>
            <a:r>
              <a:rPr dirty="0" sz="1150" spc="-40" b="1">
                <a:latin typeface="Arial"/>
                <a:cs typeface="Arial"/>
              </a:rPr>
              <a:t>to </a:t>
            </a:r>
            <a:r>
              <a:rPr dirty="0" sz="1150" spc="-75" b="1">
                <a:latin typeface="Arial"/>
                <a:cs typeface="Arial"/>
              </a:rPr>
              <a:t>handle</a:t>
            </a:r>
            <a:r>
              <a:rPr dirty="0" sz="1150" spc="-60" b="1">
                <a:latin typeface="Arial"/>
                <a:cs typeface="Arial"/>
              </a:rPr>
              <a:t> barrier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salesperson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0">
                <a:latin typeface="Arial"/>
                <a:cs typeface="Arial"/>
              </a:rPr>
              <a:t>handle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barriers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by:</a:t>
            </a:r>
            <a:endParaRPr sz="1150">
              <a:latin typeface="Arial"/>
              <a:cs typeface="Arial"/>
            </a:endParaRPr>
          </a:p>
          <a:p>
            <a:pPr marL="960119" indent="-26225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960119" algn="l"/>
                <a:tab pos="960755" algn="l"/>
              </a:tabLst>
            </a:pPr>
            <a:r>
              <a:rPr dirty="0" sz="1150" spc="-65">
                <a:latin typeface="Arial"/>
                <a:cs typeface="Arial"/>
              </a:rPr>
              <a:t>Requesting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security </a:t>
            </a:r>
            <a:r>
              <a:rPr dirty="0" sz="1150" spc="-55">
                <a:latin typeface="Arial"/>
                <a:cs typeface="Arial"/>
              </a:rPr>
              <a:t>guard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receptionist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70">
                <a:latin typeface="Arial"/>
                <a:cs typeface="Arial"/>
              </a:rPr>
              <a:t>Using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name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ts val="1370"/>
              </a:lnSpc>
              <a:spcBef>
                <a:spcPts val="85"/>
              </a:spcBef>
              <a:buFont typeface="Symbol"/>
              <a:buChar char=""/>
              <a:tabLst>
                <a:tab pos="926465" algn="l"/>
                <a:tab pos="927735" algn="l"/>
              </a:tabLst>
            </a:pPr>
            <a:r>
              <a:rPr dirty="0" sz="1150" spc="-60">
                <a:latin typeface="Arial"/>
                <a:cs typeface="Arial"/>
              </a:rPr>
              <a:t>Giving </a:t>
            </a:r>
            <a:r>
              <a:rPr dirty="0" sz="1150" spc="-50">
                <a:latin typeface="Arial"/>
                <a:cs typeface="Arial"/>
              </a:rPr>
              <a:t>small </a:t>
            </a:r>
            <a:r>
              <a:rPr dirty="0" sz="1150" spc="-30">
                <a:latin typeface="Arial"/>
                <a:cs typeface="Arial"/>
              </a:rPr>
              <a:t>gifts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go </a:t>
            </a:r>
            <a:r>
              <a:rPr dirty="0" sz="1150" spc="-25">
                <a:latin typeface="Arial"/>
                <a:cs typeface="Arial"/>
              </a:rPr>
              <a:t>in</a:t>
            </a:r>
            <a:endParaRPr sz="1150">
              <a:latin typeface="Arial"/>
              <a:cs typeface="Arial"/>
            </a:endParaRPr>
          </a:p>
          <a:p>
            <a:pPr marL="698500">
              <a:lnSpc>
                <a:spcPts val="1355"/>
              </a:lnSpc>
            </a:pPr>
            <a:r>
              <a:rPr dirty="0" sz="1150">
                <a:latin typeface="Times New Roman"/>
                <a:cs typeface="Times New Roman"/>
              </a:rPr>
              <a:t>.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ts val="1370"/>
              </a:lnSpc>
            </a:pPr>
            <a:r>
              <a:rPr dirty="0" sz="1150" spc="-90" b="1">
                <a:latin typeface="Arial"/>
                <a:cs typeface="Arial"/>
              </a:rPr>
              <a:t>Presenting and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Demonstrating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">
                <a:latin typeface="Arial"/>
                <a:cs typeface="Arial"/>
              </a:rPr>
              <a:t>full </a:t>
            </a:r>
            <a:r>
              <a:rPr dirty="0" sz="1150" spc="-40">
                <a:latin typeface="Arial"/>
                <a:cs typeface="Arial"/>
              </a:rPr>
              <a:t>explanation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product, its </a:t>
            </a:r>
            <a:r>
              <a:rPr dirty="0" sz="1150" spc="-40">
                <a:latin typeface="Arial"/>
                <a:cs typeface="Arial"/>
              </a:rPr>
              <a:t>features,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80">
                <a:latin typeface="Arial"/>
                <a:cs typeface="Arial"/>
              </a:rPr>
              <a:t>uses, </a:t>
            </a:r>
            <a:r>
              <a:rPr dirty="0" sz="1150" spc="-35">
                <a:latin typeface="Arial"/>
                <a:cs typeface="Arial"/>
              </a:rPr>
              <a:t>linking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35">
                <a:latin typeface="Arial"/>
                <a:cs typeface="Arial"/>
              </a:rPr>
              <a:t>benefits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5">
                <a:latin typeface="Arial"/>
                <a:cs typeface="Arial"/>
              </a:rPr>
              <a:t>prospect's </a:t>
            </a:r>
            <a:r>
              <a:rPr dirty="0" sz="1150" spc="-65">
                <a:latin typeface="Arial"/>
                <a:cs typeface="Arial"/>
              </a:rPr>
              <a:t>needs. </a:t>
            </a:r>
            <a:r>
              <a:rPr dirty="0" sz="1150" spc="-75">
                <a:latin typeface="Arial"/>
                <a:cs typeface="Arial"/>
              </a:rPr>
              <a:t>Salesperson </a:t>
            </a:r>
            <a:r>
              <a:rPr dirty="0" sz="1150" spc="-25">
                <a:latin typeface="Arial"/>
                <a:cs typeface="Arial"/>
              </a:rPr>
              <a:t>might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1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necessary </a:t>
            </a:r>
            <a:r>
              <a:rPr dirty="0" sz="1150" spc="-45">
                <a:latin typeface="Arial"/>
                <a:cs typeface="Arial"/>
              </a:rPr>
              <a:t>things </a:t>
            </a:r>
            <a:r>
              <a:rPr dirty="0" sz="1150" spc="-30">
                <a:latin typeface="Arial"/>
                <a:cs typeface="Arial"/>
              </a:rPr>
              <a:t>before starting </a:t>
            </a:r>
            <a:r>
              <a:rPr dirty="0" sz="1150" spc="-15">
                <a:latin typeface="Arial"/>
                <a:cs typeface="Arial"/>
              </a:rPr>
              <a:t>the  </a:t>
            </a:r>
            <a:r>
              <a:rPr dirty="0" sz="1150" spc="-30">
                <a:latin typeface="Arial"/>
                <a:cs typeface="Arial"/>
              </a:rPr>
              <a:t>presentation like </a:t>
            </a:r>
            <a:r>
              <a:rPr dirty="0" sz="1150" spc="-45">
                <a:latin typeface="Arial"/>
                <a:cs typeface="Arial"/>
              </a:rPr>
              <a:t>brochures, calculators, </a:t>
            </a:r>
            <a:r>
              <a:rPr dirty="0" sz="1150" spc="-50">
                <a:latin typeface="Arial"/>
                <a:cs typeface="Arial"/>
              </a:rPr>
              <a:t>pen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charts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160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82" y="891035"/>
            <a:ext cx="5513705" cy="8202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6985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34</a:t>
            </a:r>
            <a:endParaRPr sz="17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750" spc="-310" b="1">
                <a:latin typeface="Arial"/>
                <a:cs typeface="Arial"/>
              </a:rPr>
              <a:t>SALES </a:t>
            </a:r>
            <a:r>
              <a:rPr dirty="0" sz="1750" spc="-270" b="1">
                <a:latin typeface="Arial"/>
                <a:cs typeface="Arial"/>
              </a:rPr>
              <a:t> </a:t>
            </a:r>
            <a:r>
              <a:rPr dirty="0" sz="1750" spc="-150" b="1">
                <a:latin typeface="Arial"/>
                <a:cs typeface="Arial"/>
              </a:rPr>
              <a:t>PROMOTION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90" b="1">
                <a:latin typeface="Arial"/>
                <a:cs typeface="Arial"/>
              </a:rPr>
              <a:t>How </a:t>
            </a:r>
            <a:r>
              <a:rPr dirty="0" sz="1350" spc="-50" b="1">
                <a:latin typeface="Arial"/>
                <a:cs typeface="Arial"/>
              </a:rPr>
              <a:t>to </a:t>
            </a:r>
            <a:r>
              <a:rPr dirty="0" sz="1350" spc="-65" b="1">
                <a:latin typeface="Arial"/>
                <a:cs typeface="Arial"/>
              </a:rPr>
              <a:t>start </a:t>
            </a:r>
            <a:r>
              <a:rPr dirty="0" sz="1350" spc="-140" b="1">
                <a:latin typeface="Arial"/>
                <a:cs typeface="Arial"/>
              </a:rPr>
              <a:t>Sales</a:t>
            </a:r>
            <a:r>
              <a:rPr dirty="0" sz="1350" spc="-65" b="1">
                <a:latin typeface="Arial"/>
                <a:cs typeface="Arial"/>
              </a:rPr>
              <a:t> </a:t>
            </a:r>
            <a:r>
              <a:rPr dirty="0" sz="1350" spc="-85" b="1">
                <a:latin typeface="Arial"/>
                <a:cs typeface="Arial"/>
              </a:rPr>
              <a:t>Presentation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75" b="1">
                <a:latin typeface="Arial"/>
                <a:cs typeface="Arial"/>
              </a:rPr>
              <a:t>Presentation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105" b="1">
                <a:latin typeface="Arial"/>
                <a:cs typeface="Arial"/>
              </a:rPr>
              <a:t>Stage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1728470">
              <a:lnSpc>
                <a:spcPct val="101699"/>
              </a:lnSpc>
              <a:spcBef>
                <a:spcPts val="5"/>
              </a:spcBef>
            </a:pP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50">
                <a:latin typeface="Arial"/>
                <a:cs typeface="Arial"/>
              </a:rPr>
              <a:t>approaching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buyer </a:t>
            </a:r>
            <a:r>
              <a:rPr dirty="0" sz="1150" spc="-85">
                <a:latin typeface="Arial"/>
                <a:cs typeface="Arial"/>
              </a:rPr>
              <a:t>sales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45">
                <a:latin typeface="Arial"/>
                <a:cs typeface="Arial"/>
              </a:rPr>
              <a:t>reviews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situation.  </a:t>
            </a:r>
            <a:r>
              <a:rPr dirty="0" sz="1150" spc="15">
                <a:latin typeface="Arial"/>
                <a:cs typeface="Arial"/>
              </a:rPr>
              <a:t>It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includes: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80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35">
                <a:latin typeface="Arial"/>
                <a:cs typeface="Arial"/>
              </a:rPr>
              <a:t> Furniture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40">
                <a:latin typeface="Arial"/>
                <a:cs typeface="Arial"/>
              </a:rPr>
              <a:t>Wall</a:t>
            </a:r>
            <a:r>
              <a:rPr dirty="0" sz="1150" spc="-60">
                <a:latin typeface="Arial"/>
                <a:cs typeface="Arial"/>
              </a:rPr>
              <a:t> hanging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80">
                <a:latin typeface="Arial"/>
                <a:cs typeface="Arial"/>
              </a:rPr>
              <a:t>Type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40">
                <a:latin typeface="Arial"/>
                <a:cs typeface="Arial"/>
              </a:rPr>
              <a:t> curtains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65">
                <a:latin typeface="Arial"/>
                <a:cs typeface="Arial"/>
              </a:rPr>
              <a:t>Personal</a:t>
            </a:r>
            <a:r>
              <a:rPr dirty="0" sz="1150" spc="-75">
                <a:latin typeface="Arial"/>
                <a:cs typeface="Arial"/>
              </a:rPr>
              <a:t> Taste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Symbol"/>
              <a:buChar char=""/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50">
                <a:latin typeface="Arial"/>
                <a:cs typeface="Arial"/>
              </a:rPr>
              <a:t>these </a:t>
            </a:r>
            <a:r>
              <a:rPr dirty="0" sz="1150" spc="-45">
                <a:latin typeface="Arial"/>
                <a:cs typeface="Arial"/>
              </a:rPr>
              <a:t>things </a:t>
            </a:r>
            <a:r>
              <a:rPr dirty="0" sz="1150" spc="-35">
                <a:latin typeface="Arial"/>
                <a:cs typeface="Arial"/>
              </a:rPr>
              <a:t>help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5">
                <a:latin typeface="Arial"/>
                <a:cs typeface="Arial"/>
              </a:rPr>
              <a:t>sales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start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conversation </a:t>
            </a:r>
            <a:r>
              <a:rPr dirty="0" sz="1150" spc="-55">
                <a:latin typeface="Arial"/>
                <a:cs typeface="Arial"/>
              </a:rPr>
              <a:t>and he </a:t>
            </a:r>
            <a:r>
              <a:rPr dirty="0" sz="1150" spc="-70">
                <a:latin typeface="Arial"/>
                <a:cs typeface="Arial"/>
              </a:rPr>
              <a:t>can  </a:t>
            </a:r>
            <a:r>
              <a:rPr dirty="0" sz="1150" spc="-45">
                <a:latin typeface="Arial"/>
                <a:cs typeface="Arial"/>
              </a:rPr>
              <a:t>develop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image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taste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likings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buyer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environment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45">
                <a:latin typeface="Arial"/>
                <a:cs typeface="Arial"/>
              </a:rPr>
              <a:t>surroundings.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90" b="1">
                <a:latin typeface="Arial"/>
                <a:cs typeface="Arial"/>
              </a:rPr>
              <a:t>How </a:t>
            </a:r>
            <a:r>
              <a:rPr dirty="0" sz="1350" spc="-50" b="1">
                <a:latin typeface="Arial"/>
                <a:cs typeface="Arial"/>
              </a:rPr>
              <a:t>to </a:t>
            </a:r>
            <a:r>
              <a:rPr dirty="0" sz="1350" spc="-65" b="1">
                <a:latin typeface="Arial"/>
                <a:cs typeface="Arial"/>
              </a:rPr>
              <a:t>start </a:t>
            </a:r>
            <a:r>
              <a:rPr dirty="0" sz="1350" spc="-55" b="1">
                <a:latin typeface="Arial"/>
                <a:cs typeface="Arial"/>
              </a:rPr>
              <a:t>the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00" b="1">
                <a:latin typeface="Arial"/>
                <a:cs typeface="Arial"/>
              </a:rPr>
              <a:t>conversation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90">
                <a:latin typeface="Arial"/>
                <a:cs typeface="Arial"/>
              </a:rPr>
              <a:t>Ask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question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order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seek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undivided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attention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buyer.</a:t>
            </a:r>
            <a:endParaRPr sz="1150">
              <a:latin typeface="Arial"/>
              <a:cs typeface="Arial"/>
            </a:endParaRPr>
          </a:p>
          <a:p>
            <a:pPr marL="469900" indent="-229870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case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appointment </a:t>
            </a:r>
            <a:r>
              <a:rPr dirty="0" sz="1150" spc="-20">
                <a:latin typeface="Arial"/>
                <a:cs typeface="Arial"/>
              </a:rPr>
              <a:t>direct </a:t>
            </a:r>
            <a:r>
              <a:rPr dirty="0" sz="1150" spc="-45">
                <a:latin typeface="Arial"/>
                <a:cs typeface="Arial"/>
              </a:rPr>
              <a:t>conversation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started.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45">
                <a:latin typeface="Arial"/>
                <a:cs typeface="Arial"/>
              </a:rPr>
              <a:t>Avoid </a:t>
            </a:r>
            <a:r>
              <a:rPr dirty="0" sz="1150" spc="-50">
                <a:latin typeface="Arial"/>
                <a:cs typeface="Arial"/>
              </a:rPr>
              <a:t>unpleasant </a:t>
            </a:r>
            <a:r>
              <a:rPr dirty="0" sz="1150" spc="-35">
                <a:latin typeface="Arial"/>
                <a:cs typeface="Arial"/>
              </a:rPr>
              <a:t>event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start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discussion.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algn="just" marL="240665">
              <a:lnSpc>
                <a:spcPct val="100000"/>
              </a:lnSpc>
            </a:pPr>
            <a:r>
              <a:rPr dirty="0" sz="1150" spc="-45" b="1">
                <a:latin typeface="Arial"/>
                <a:cs typeface="Arial"/>
              </a:rPr>
              <a:t>a. </a:t>
            </a:r>
            <a:r>
              <a:rPr dirty="0" sz="1150" spc="-55" b="1">
                <a:latin typeface="Arial"/>
                <a:cs typeface="Arial"/>
              </a:rPr>
              <a:t>Interest</a:t>
            </a:r>
            <a:r>
              <a:rPr dirty="0" sz="1150" spc="-235" b="1">
                <a:latin typeface="Arial"/>
                <a:cs typeface="Arial"/>
              </a:rPr>
              <a:t> </a:t>
            </a:r>
            <a:r>
              <a:rPr dirty="0" sz="1150" spc="-100" b="1">
                <a:latin typeface="Arial"/>
                <a:cs typeface="Arial"/>
              </a:rPr>
              <a:t>Stage:</a:t>
            </a:r>
            <a:endParaRPr sz="1150">
              <a:latin typeface="Arial"/>
              <a:cs typeface="Arial"/>
            </a:endParaRPr>
          </a:p>
          <a:p>
            <a:pPr marL="240665" marR="112522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Sales</a:t>
            </a:r>
            <a:r>
              <a:rPr dirty="0" sz="1150" spc="-50">
                <a:latin typeface="Arial"/>
                <a:cs typeface="Arial"/>
              </a:rPr>
              <a:t> person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will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try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create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interest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customer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product.  Interest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customer </a:t>
            </a:r>
            <a:r>
              <a:rPr dirty="0" sz="1150" spc="-75">
                <a:latin typeface="Arial"/>
                <a:cs typeface="Arial"/>
              </a:rPr>
              <a:t>can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be: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65">
                <a:latin typeface="Arial"/>
                <a:cs typeface="Arial"/>
              </a:rPr>
              <a:t>Price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105">
                <a:latin typeface="Arial"/>
                <a:cs typeface="Arial"/>
              </a:rPr>
              <a:t>Sales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Services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55">
                <a:latin typeface="Arial"/>
                <a:cs typeface="Arial"/>
              </a:rPr>
              <a:t>Guarantee and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Warrantee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algn="just" marL="469900" indent="-229235">
              <a:lnSpc>
                <a:spcPct val="100000"/>
              </a:lnSpc>
              <a:buAutoNum type="alphaLcPeriod" startAt="2"/>
              <a:tabLst>
                <a:tab pos="469900" algn="l"/>
              </a:tabLst>
            </a:pPr>
            <a:r>
              <a:rPr dirty="0" sz="1150" spc="-75" b="1">
                <a:latin typeface="Arial"/>
                <a:cs typeface="Arial"/>
              </a:rPr>
              <a:t>Objection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100" b="1">
                <a:latin typeface="Arial"/>
                <a:cs typeface="Arial"/>
              </a:rPr>
              <a:t>Stage:</a:t>
            </a:r>
            <a:endParaRPr sz="1150">
              <a:latin typeface="Arial"/>
              <a:cs typeface="Arial"/>
            </a:endParaRPr>
          </a:p>
          <a:p>
            <a:pPr algn="just" marL="240665" marR="571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65">
                <a:latin typeface="Arial"/>
                <a:cs typeface="Arial"/>
              </a:rPr>
              <a:t>stage </a:t>
            </a:r>
            <a:r>
              <a:rPr dirty="0" sz="1150" spc="-85">
                <a:latin typeface="Arial"/>
                <a:cs typeface="Arial"/>
              </a:rPr>
              <a:t>sales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5">
                <a:latin typeface="Arial"/>
                <a:cs typeface="Arial"/>
              </a:rPr>
              <a:t>try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create </a:t>
            </a:r>
            <a:r>
              <a:rPr dirty="0" sz="1150" spc="-50">
                <a:latin typeface="Arial"/>
                <a:cs typeface="Arial"/>
              </a:rPr>
              <a:t>desire </a:t>
            </a:r>
            <a:r>
              <a:rPr dirty="0" sz="1150" spc="-25">
                <a:latin typeface="Arial"/>
                <a:cs typeface="Arial"/>
              </a:rPr>
              <a:t>in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customer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buy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product.  </a:t>
            </a:r>
            <a:r>
              <a:rPr dirty="0" sz="1150" spc="-55">
                <a:latin typeface="Arial"/>
                <a:cs typeface="Arial"/>
              </a:rPr>
              <a:t>Customer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will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start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raising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35">
                <a:latin typeface="Arial"/>
                <a:cs typeface="Arial"/>
              </a:rPr>
              <a:t> objections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questions.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If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buyer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starts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3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take </a:t>
            </a:r>
            <a:r>
              <a:rPr dirty="0" sz="1150" spc="-20">
                <a:latin typeface="Arial"/>
                <a:cs typeface="Arial"/>
              </a:rPr>
              <a:t>the  interest in </a:t>
            </a:r>
            <a:r>
              <a:rPr dirty="0" sz="1150" spc="-70">
                <a:latin typeface="Arial"/>
                <a:cs typeface="Arial"/>
              </a:rPr>
              <a:t>asking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questions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 spc="-65">
                <a:latin typeface="Arial"/>
                <a:cs typeface="Arial"/>
              </a:rPr>
              <a:t>salesperson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0">
                <a:latin typeface="Arial"/>
                <a:cs typeface="Arial"/>
              </a:rPr>
              <a:t>convinced  </a:t>
            </a:r>
            <a:r>
              <a:rPr dirty="0" sz="1150" spc="-30">
                <a:latin typeface="Arial"/>
                <a:cs typeface="Arial"/>
              </a:rPr>
              <a:t>him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buying. </a:t>
            </a:r>
            <a:r>
              <a:rPr dirty="0" sz="1150" spc="-105">
                <a:latin typeface="Arial"/>
                <a:cs typeface="Arial"/>
              </a:rPr>
              <a:t>Sales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0">
                <a:latin typeface="Arial"/>
                <a:cs typeface="Arial"/>
              </a:rPr>
              <a:t>handle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questions raised by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buyer.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469900" indent="-229235">
              <a:lnSpc>
                <a:spcPct val="100000"/>
              </a:lnSpc>
              <a:buAutoNum type="alphaLcPeriod" startAt="3"/>
              <a:tabLst>
                <a:tab pos="469900" algn="l"/>
              </a:tabLst>
            </a:pPr>
            <a:r>
              <a:rPr dirty="0" sz="1150" spc="-120" b="1">
                <a:latin typeface="Arial"/>
                <a:cs typeface="Arial"/>
              </a:rPr>
              <a:t>Closing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stage:</a:t>
            </a:r>
            <a:endParaRPr sz="1150">
              <a:latin typeface="Arial"/>
              <a:cs typeface="Arial"/>
            </a:endParaRPr>
          </a:p>
          <a:p>
            <a:pPr algn="just" marL="240665">
              <a:lnSpc>
                <a:spcPct val="100000"/>
              </a:lnSpc>
              <a:spcBef>
                <a:spcPts val="25"/>
              </a:spcBef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65">
                <a:latin typeface="Arial"/>
                <a:cs typeface="Arial"/>
              </a:rPr>
              <a:t>stage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booked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agreement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65">
                <a:latin typeface="Arial"/>
                <a:cs typeface="Arial"/>
              </a:rPr>
              <a:t>signed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seller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buyer.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502920" indent="-262890">
              <a:lnSpc>
                <a:spcPct val="100000"/>
              </a:lnSpc>
              <a:buAutoNum type="alphaLcPeriod" startAt="4"/>
              <a:tabLst>
                <a:tab pos="503555" algn="l"/>
              </a:tabLst>
            </a:pPr>
            <a:r>
              <a:rPr dirty="0" sz="1150" spc="-80" b="1">
                <a:latin typeface="Arial"/>
                <a:cs typeface="Arial"/>
              </a:rPr>
              <a:t>Follow </a:t>
            </a:r>
            <a:r>
              <a:rPr dirty="0" sz="1150" spc="-85" b="1">
                <a:latin typeface="Arial"/>
                <a:cs typeface="Arial"/>
              </a:rPr>
              <a:t>up</a:t>
            </a:r>
            <a:r>
              <a:rPr dirty="0" sz="1150" spc="-50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stage:</a:t>
            </a:r>
            <a:endParaRPr sz="1150">
              <a:latin typeface="Arial"/>
              <a:cs typeface="Arial"/>
            </a:endParaRPr>
          </a:p>
          <a:p>
            <a:pPr algn="just" marL="240665" marR="571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65">
                <a:latin typeface="Arial"/>
                <a:cs typeface="Arial"/>
              </a:rPr>
              <a:t>stage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5">
                <a:latin typeface="Arial"/>
                <a:cs typeface="Arial"/>
              </a:rPr>
              <a:t>fulfilled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0">
                <a:latin typeface="Arial"/>
                <a:cs typeface="Arial"/>
              </a:rPr>
              <a:t>are being </a:t>
            </a:r>
            <a:r>
              <a:rPr dirty="0" sz="1150" spc="-20">
                <a:latin typeface="Arial"/>
                <a:cs typeface="Arial"/>
              </a:rPr>
              <a:t>distributed </a:t>
            </a:r>
            <a:r>
              <a:rPr dirty="0" sz="1150" spc="-50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5">
                <a:latin typeface="Arial"/>
                <a:cs typeface="Arial"/>
              </a:rPr>
              <a:t>agreement.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161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6" y="1070867"/>
            <a:ext cx="5514975" cy="6862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stages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Attention, </a:t>
            </a:r>
            <a:r>
              <a:rPr dirty="0" sz="1150" spc="-30">
                <a:latin typeface="Arial"/>
                <a:cs typeface="Arial"/>
              </a:rPr>
              <a:t>Interest, </a:t>
            </a:r>
            <a:r>
              <a:rPr dirty="0" sz="1150" spc="-65">
                <a:latin typeface="Arial"/>
                <a:cs typeface="Arial"/>
              </a:rPr>
              <a:t>Desire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Act </a:t>
            </a:r>
            <a:r>
              <a:rPr dirty="0" sz="1150" spc="-75">
                <a:latin typeface="Arial"/>
                <a:cs typeface="Arial"/>
              </a:rPr>
              <a:t>(AIDA)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60">
                <a:latin typeface="Arial"/>
                <a:cs typeface="Arial"/>
              </a:rPr>
              <a:t>been </a:t>
            </a:r>
            <a:r>
              <a:rPr dirty="0" sz="1150" spc="-50">
                <a:latin typeface="Arial"/>
                <a:cs typeface="Arial"/>
              </a:rPr>
              <a:t>covered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way.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95" b="1">
                <a:latin typeface="Arial"/>
                <a:cs typeface="Arial"/>
              </a:rPr>
              <a:t>Skeptic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105" b="1">
                <a:latin typeface="Arial"/>
                <a:cs typeface="Arial"/>
              </a:rPr>
              <a:t>Customers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35">
                <a:latin typeface="Arial"/>
                <a:cs typeface="Arial"/>
              </a:rPr>
              <a:t>refers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doubtful </a:t>
            </a:r>
            <a:r>
              <a:rPr dirty="0" sz="1150" spc="-40">
                <a:latin typeface="Arial"/>
                <a:cs typeface="Arial"/>
              </a:rPr>
              <a:t>behavior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customer </a:t>
            </a:r>
            <a:r>
              <a:rPr dirty="0" sz="1150" spc="-75">
                <a:latin typeface="Arial"/>
                <a:cs typeface="Arial"/>
              </a:rPr>
              <a:t>because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deception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40">
                <a:latin typeface="Arial"/>
                <a:cs typeface="Arial"/>
              </a:rPr>
              <a:t>seller </a:t>
            </a:r>
            <a:r>
              <a:rPr dirty="0" sz="1150" spc="-10">
                <a:latin typeface="Arial"/>
                <a:cs typeface="Arial"/>
              </a:rPr>
              <a:t>in 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past.  </a:t>
            </a:r>
            <a:r>
              <a:rPr dirty="0" sz="1150" spc="-75">
                <a:latin typeface="Arial"/>
                <a:cs typeface="Arial"/>
              </a:rPr>
              <a:t>Salesperson </a:t>
            </a:r>
            <a:r>
              <a:rPr dirty="0" sz="1150" spc="-45">
                <a:latin typeface="Arial"/>
                <a:cs typeface="Arial"/>
              </a:rPr>
              <a:t>should  </a:t>
            </a:r>
            <a:r>
              <a:rPr dirty="0" sz="1150" spc="5">
                <a:latin typeface="Arial"/>
                <a:cs typeface="Arial"/>
              </a:rPr>
              <a:t>try 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understand 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0">
                <a:latin typeface="Arial"/>
                <a:cs typeface="Arial"/>
              </a:rPr>
              <a:t>problems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50">
                <a:latin typeface="Arial"/>
                <a:cs typeface="Arial"/>
              </a:rPr>
              <a:t>customers  </a:t>
            </a:r>
            <a:r>
              <a:rPr dirty="0" sz="1150" spc="-40">
                <a:latin typeface="Arial"/>
                <a:cs typeface="Arial"/>
              </a:rPr>
              <a:t>sympathetically.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90" b="1">
                <a:latin typeface="Arial"/>
                <a:cs typeface="Arial"/>
              </a:rPr>
              <a:t>Innovations </a:t>
            </a:r>
            <a:r>
              <a:rPr dirty="0" sz="1350" spc="-75" b="1">
                <a:latin typeface="Arial"/>
                <a:cs typeface="Arial"/>
              </a:rPr>
              <a:t>in</a:t>
            </a:r>
            <a:r>
              <a:rPr dirty="0" sz="1350" spc="-65" b="1">
                <a:latin typeface="Arial"/>
                <a:cs typeface="Arial"/>
              </a:rPr>
              <a:t> </a:t>
            </a:r>
            <a:r>
              <a:rPr dirty="0" sz="1350" spc="-140" b="1">
                <a:latin typeface="Arial"/>
                <a:cs typeface="Arial"/>
              </a:rPr>
              <a:t>Sales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75" b="1">
                <a:latin typeface="Arial"/>
                <a:cs typeface="Arial"/>
              </a:rPr>
              <a:t>Tele </a:t>
            </a:r>
            <a:r>
              <a:rPr dirty="0" sz="1150" spc="-60" b="1">
                <a:latin typeface="Arial"/>
                <a:cs typeface="Arial"/>
              </a:rPr>
              <a:t>Marketing-</a:t>
            </a:r>
            <a:r>
              <a:rPr dirty="0" sz="1150" spc="-60">
                <a:latin typeface="Arial"/>
                <a:cs typeface="Arial"/>
              </a:rPr>
              <a:t>Tele </a:t>
            </a:r>
            <a:r>
              <a:rPr dirty="0" sz="1150" spc="-30">
                <a:latin typeface="Arial"/>
                <a:cs typeface="Arial"/>
              </a:rPr>
              <a:t>Marketing </a:t>
            </a:r>
            <a:r>
              <a:rPr dirty="0" sz="1150" spc="-55">
                <a:latin typeface="Arial"/>
                <a:cs typeface="Arial"/>
              </a:rPr>
              <a:t>helps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receive </a:t>
            </a:r>
            <a:r>
              <a:rPr dirty="0" sz="1150" spc="-40">
                <a:latin typeface="Arial"/>
                <a:cs typeface="Arial"/>
              </a:rPr>
              <a:t>quicker </a:t>
            </a:r>
            <a:r>
              <a:rPr dirty="0" sz="1150" spc="-65">
                <a:latin typeface="Arial"/>
                <a:cs typeface="Arial"/>
              </a:rPr>
              <a:t>response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avoid long </a:t>
            </a:r>
            <a:r>
              <a:rPr dirty="0" sz="1150" spc="-55">
                <a:latin typeface="Arial"/>
                <a:cs typeface="Arial"/>
              </a:rPr>
              <a:t>distances.  </a:t>
            </a:r>
            <a:r>
              <a:rPr dirty="0" sz="1150" spc="-65">
                <a:latin typeface="Arial"/>
                <a:cs typeface="Arial"/>
              </a:rPr>
              <a:t>Extensive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30">
                <a:latin typeface="Arial"/>
                <a:cs typeface="Arial"/>
              </a:rPr>
              <a:t>method all </a:t>
            </a:r>
            <a:r>
              <a:rPr dirty="0" sz="1150" spc="-35">
                <a:latin typeface="Arial"/>
                <a:cs typeface="Arial"/>
              </a:rPr>
              <a:t>over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world </a:t>
            </a:r>
            <a:r>
              <a:rPr dirty="0" sz="1150" spc="-30">
                <a:latin typeface="Arial"/>
                <a:cs typeface="Arial"/>
              </a:rPr>
              <a:t>now, </a:t>
            </a:r>
            <a:r>
              <a:rPr dirty="0" sz="1150" spc="-40">
                <a:latin typeface="Arial"/>
                <a:cs typeface="Arial"/>
              </a:rPr>
              <a:t>including </a:t>
            </a:r>
            <a:r>
              <a:rPr dirty="0" sz="1150" spc="-65">
                <a:latin typeface="Arial"/>
                <a:cs typeface="Arial"/>
              </a:rPr>
              <a:t>Pakistan </a:t>
            </a:r>
            <a:r>
              <a:rPr dirty="0" sz="1150" spc="-114">
                <a:latin typeface="Arial"/>
                <a:cs typeface="Arial"/>
              </a:rPr>
              <a:t>as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well.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240" b="1">
                <a:latin typeface="Arial"/>
                <a:cs typeface="Arial"/>
              </a:rPr>
              <a:t>SALES</a:t>
            </a:r>
            <a:r>
              <a:rPr dirty="0" sz="1350" spc="-204" b="1">
                <a:latin typeface="Arial"/>
                <a:cs typeface="Arial"/>
              </a:rPr>
              <a:t> </a:t>
            </a:r>
            <a:r>
              <a:rPr dirty="0" sz="1350" spc="-114" b="1">
                <a:latin typeface="Arial"/>
                <a:cs typeface="Arial"/>
              </a:rPr>
              <a:t>PROMOTION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35">
                <a:latin typeface="Arial"/>
                <a:cs typeface="Arial"/>
              </a:rPr>
              <a:t>Short-term </a:t>
            </a:r>
            <a:r>
              <a:rPr dirty="0" sz="1150" spc="-20">
                <a:latin typeface="Arial"/>
                <a:cs typeface="Arial"/>
              </a:rPr>
              <a:t>promotional activity </a:t>
            </a:r>
            <a:r>
              <a:rPr dirty="0" sz="1150" spc="-60">
                <a:latin typeface="Arial"/>
                <a:cs typeface="Arial"/>
              </a:rPr>
              <a:t>designed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stimulate </a:t>
            </a:r>
            <a:r>
              <a:rPr dirty="0" sz="1150" spc="-50">
                <a:latin typeface="Arial"/>
                <a:cs typeface="Arial"/>
              </a:rPr>
              <a:t>consumer buying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cooperation 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5">
                <a:latin typeface="Arial"/>
                <a:cs typeface="Arial"/>
              </a:rPr>
              <a:t>distributors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85">
                <a:latin typeface="Arial"/>
                <a:cs typeface="Arial"/>
              </a:rPr>
              <a:t>sales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agents.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14" b="1">
                <a:latin typeface="Arial"/>
                <a:cs typeface="Arial"/>
              </a:rPr>
              <a:t>Techniques </a:t>
            </a:r>
            <a:r>
              <a:rPr dirty="0" sz="1350" spc="-55" b="1">
                <a:latin typeface="Arial"/>
                <a:cs typeface="Arial"/>
              </a:rPr>
              <a:t>for </a:t>
            </a:r>
            <a:r>
              <a:rPr dirty="0" sz="1350" spc="-140" b="1">
                <a:latin typeface="Arial"/>
                <a:cs typeface="Arial"/>
              </a:rPr>
              <a:t>Sales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80" b="1">
                <a:latin typeface="Arial"/>
                <a:cs typeface="Arial"/>
              </a:rPr>
              <a:t>promotion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75" b="1">
                <a:latin typeface="Arial"/>
                <a:cs typeface="Arial"/>
              </a:rPr>
              <a:t>Arrangement </a:t>
            </a:r>
            <a:r>
              <a:rPr dirty="0" sz="1150" spc="-50" b="1">
                <a:latin typeface="Arial"/>
                <a:cs typeface="Arial"/>
              </a:rPr>
              <a:t>for </a:t>
            </a:r>
            <a:r>
              <a:rPr dirty="0" sz="1150" spc="-75" b="1">
                <a:latin typeface="Arial"/>
                <a:cs typeface="Arial"/>
              </a:rPr>
              <a:t>a</a:t>
            </a:r>
            <a:r>
              <a:rPr dirty="0" sz="1150" spc="-140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contest</a:t>
            </a:r>
            <a:endParaRPr sz="1150">
              <a:latin typeface="Arial"/>
              <a:cs typeface="Arial"/>
            </a:endParaRPr>
          </a:p>
          <a:p>
            <a:pPr algn="just" marL="927100" marR="6985">
              <a:lnSpc>
                <a:spcPts val="1400"/>
              </a:lnSpc>
              <a:spcBef>
                <a:spcPts val="45"/>
              </a:spcBef>
            </a:pPr>
            <a:r>
              <a:rPr dirty="0" sz="1150" spc="-60">
                <a:latin typeface="Arial"/>
                <a:cs typeface="Arial"/>
              </a:rPr>
              <a:t>Customers, </a:t>
            </a:r>
            <a:r>
              <a:rPr dirty="0" sz="1150" spc="-25">
                <a:latin typeface="Arial"/>
                <a:cs typeface="Arial"/>
              </a:rPr>
              <a:t>distributors,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80">
                <a:latin typeface="Arial"/>
                <a:cs typeface="Arial"/>
              </a:rPr>
              <a:t>sales </a:t>
            </a:r>
            <a:r>
              <a:rPr dirty="0" sz="1150" spc="-60">
                <a:latin typeface="Arial"/>
                <a:cs typeface="Arial"/>
              </a:rPr>
              <a:t>reps may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50">
                <a:latin typeface="Arial"/>
                <a:cs typeface="Arial"/>
              </a:rPr>
              <a:t>be </a:t>
            </a:r>
            <a:r>
              <a:rPr dirty="0" sz="1150" spc="-55">
                <a:latin typeface="Arial"/>
                <a:cs typeface="Arial"/>
              </a:rPr>
              <a:t>persuaded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increase  </a:t>
            </a:r>
            <a:r>
              <a:rPr dirty="0" sz="1150" spc="-80">
                <a:latin typeface="Arial"/>
                <a:cs typeface="Arial"/>
              </a:rPr>
              <a:t>sales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contests.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100" b="1">
                <a:latin typeface="Arial"/>
                <a:cs typeface="Arial"/>
              </a:rPr>
              <a:t>Tradeshows</a:t>
            </a:r>
            <a:endParaRPr sz="1150">
              <a:latin typeface="Arial"/>
              <a:cs typeface="Arial"/>
            </a:endParaRPr>
          </a:p>
          <a:p>
            <a:pPr algn="just" marL="927100" marR="8255">
              <a:lnSpc>
                <a:spcPts val="1400"/>
              </a:lnSpc>
              <a:spcBef>
                <a:spcPts val="40"/>
              </a:spcBef>
            </a:pPr>
            <a:r>
              <a:rPr dirty="0" sz="1150" spc="-70">
                <a:latin typeface="Arial"/>
                <a:cs typeface="Arial"/>
              </a:rPr>
              <a:t>Trade </a:t>
            </a:r>
            <a:r>
              <a:rPr dirty="0" sz="1150" spc="-50">
                <a:latin typeface="Arial"/>
                <a:cs typeface="Arial"/>
              </a:rPr>
              <a:t>show </a:t>
            </a:r>
            <a:r>
              <a:rPr dirty="0" sz="1150" spc="-35">
                <a:latin typeface="Arial"/>
                <a:cs typeface="Arial"/>
              </a:rPr>
              <a:t>exhibits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distributing </a:t>
            </a:r>
            <a:r>
              <a:rPr dirty="0" sz="1150" spc="-25">
                <a:latin typeface="Arial"/>
                <a:cs typeface="Arial"/>
              </a:rPr>
              <a:t>free </a:t>
            </a:r>
            <a:r>
              <a:rPr dirty="0" sz="1150" spc="-70">
                <a:latin typeface="Arial"/>
                <a:cs typeface="Arial"/>
              </a:rPr>
              <a:t>samples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publishing </a:t>
            </a:r>
            <a:r>
              <a:rPr dirty="0" sz="1150" spc="-20">
                <a:latin typeface="Arial"/>
                <a:cs typeface="Arial"/>
              </a:rPr>
              <a:t>promotional  </a:t>
            </a:r>
            <a:r>
              <a:rPr dirty="0" sz="1150" spc="-35">
                <a:latin typeface="Arial"/>
                <a:cs typeface="Arial"/>
              </a:rPr>
              <a:t>booklets.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80" b="1">
                <a:latin typeface="Arial"/>
                <a:cs typeface="Arial"/>
              </a:rPr>
              <a:t>Point-of-purchase </a:t>
            </a:r>
            <a:r>
              <a:rPr dirty="0" sz="1150" spc="-95" b="1">
                <a:latin typeface="Arial"/>
                <a:cs typeface="Arial"/>
              </a:rPr>
              <a:t>also </a:t>
            </a:r>
            <a:r>
              <a:rPr dirty="0" sz="1150" spc="-80" b="1">
                <a:latin typeface="Arial"/>
                <a:cs typeface="Arial"/>
              </a:rPr>
              <a:t>called</a:t>
            </a:r>
            <a:r>
              <a:rPr dirty="0" sz="1150" spc="-1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Point-of-Sales</a:t>
            </a:r>
            <a:endParaRPr sz="1150">
              <a:latin typeface="Arial"/>
              <a:cs typeface="Arial"/>
            </a:endParaRPr>
          </a:p>
          <a:p>
            <a:pPr algn="just" marL="927100" marR="6985">
              <a:lnSpc>
                <a:spcPts val="1400"/>
              </a:lnSpc>
              <a:spcBef>
                <a:spcPts val="45"/>
              </a:spcBef>
            </a:pPr>
            <a:r>
              <a:rPr dirty="0" sz="1150" spc="-35">
                <a:latin typeface="Arial"/>
                <a:cs typeface="Arial"/>
              </a:rPr>
              <a:t>Point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purchase </a:t>
            </a:r>
            <a:r>
              <a:rPr dirty="0" sz="1150" spc="-114">
                <a:latin typeface="Arial"/>
                <a:cs typeface="Arial"/>
              </a:rPr>
              <a:t>(POP)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Point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85">
                <a:latin typeface="Arial"/>
                <a:cs typeface="Arial"/>
              </a:rPr>
              <a:t>sales </a:t>
            </a:r>
            <a:r>
              <a:rPr dirty="0" sz="1150" spc="-130">
                <a:latin typeface="Arial"/>
                <a:cs typeface="Arial"/>
              </a:rPr>
              <a:t>(POS) </a:t>
            </a:r>
            <a:r>
              <a:rPr dirty="0" sz="1150" spc="-60">
                <a:latin typeface="Arial"/>
                <a:cs typeface="Arial"/>
              </a:rPr>
              <a:t>displays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70">
                <a:latin typeface="Arial"/>
                <a:cs typeface="Arial"/>
              </a:rPr>
              <a:t>devices used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50">
                <a:latin typeface="Arial"/>
                <a:cs typeface="Arial"/>
              </a:rPr>
              <a:t>show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way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5">
                <a:latin typeface="Arial"/>
                <a:cs typeface="Arial"/>
              </a:rPr>
              <a:t>stimulates immediate </a:t>
            </a:r>
            <a:r>
              <a:rPr dirty="0" sz="1150" spc="-70">
                <a:latin typeface="Arial"/>
                <a:cs typeface="Arial"/>
              </a:rPr>
              <a:t>sales.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5">
                <a:latin typeface="Arial"/>
                <a:cs typeface="Arial"/>
              </a:rPr>
              <a:t>end-  </a:t>
            </a:r>
            <a:r>
              <a:rPr dirty="0" sz="1150" spc="-40">
                <a:latin typeface="Arial"/>
                <a:cs typeface="Arial"/>
              </a:rPr>
              <a:t>of-aisle </a:t>
            </a:r>
            <a:r>
              <a:rPr dirty="0" sz="1150" spc="-50">
                <a:latin typeface="Arial"/>
                <a:cs typeface="Arial"/>
              </a:rPr>
              <a:t>display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supermarket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computerized </a:t>
            </a:r>
            <a:r>
              <a:rPr dirty="0" sz="1150" spc="-35">
                <a:latin typeface="Arial"/>
                <a:cs typeface="Arial"/>
              </a:rPr>
              <a:t>kitchen </a:t>
            </a:r>
            <a:r>
              <a:rPr dirty="0" sz="1150" spc="-65">
                <a:latin typeface="Arial"/>
                <a:cs typeface="Arial"/>
              </a:rPr>
              <a:t>design </a:t>
            </a:r>
            <a:r>
              <a:rPr dirty="0" sz="1150" spc="-70">
                <a:latin typeface="Arial"/>
                <a:cs typeface="Arial"/>
              </a:rPr>
              <a:t>systems 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cabinets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0">
                <a:latin typeface="Arial"/>
                <a:cs typeface="Arial"/>
              </a:rPr>
              <a:t>building-supply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stores.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60" b="1">
                <a:latin typeface="Arial"/>
                <a:cs typeface="Arial"/>
              </a:rPr>
              <a:t>PUBLICITY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45">
                <a:latin typeface="Arial"/>
                <a:cs typeface="Arial"/>
              </a:rPr>
              <a:t>unpaid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promotion </a:t>
            </a:r>
            <a:r>
              <a:rPr dirty="0" sz="1150" spc="-25">
                <a:latin typeface="Arial"/>
                <a:cs typeface="Arial"/>
              </a:rPr>
              <a:t>through </a:t>
            </a:r>
            <a:r>
              <a:rPr dirty="0" sz="1150" spc="-100">
                <a:latin typeface="Arial"/>
                <a:cs typeface="Arial"/>
              </a:rPr>
              <a:t>mass </a:t>
            </a:r>
            <a:r>
              <a:rPr dirty="0" sz="1150" spc="-50">
                <a:latin typeface="Arial"/>
                <a:cs typeface="Arial"/>
              </a:rPr>
              <a:t>media </a:t>
            </a:r>
            <a:r>
              <a:rPr dirty="0" sz="1150" spc="-30">
                <a:latin typeface="Arial"/>
                <a:cs typeface="Arial"/>
              </a:rPr>
              <a:t>like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130">
                <a:latin typeface="Arial"/>
                <a:cs typeface="Arial"/>
              </a:rPr>
              <a:t>TV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news </a:t>
            </a:r>
            <a:r>
              <a:rPr dirty="0" sz="1150" spc="-45">
                <a:latin typeface="Arial"/>
                <a:cs typeface="Arial"/>
              </a:rPr>
              <a:t>paper.</a:t>
            </a:r>
            <a:endParaRPr sz="115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Publicity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free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but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you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have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little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no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control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content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delivery.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00">
                <a:latin typeface="Arial"/>
                <a:cs typeface="Arial"/>
              </a:rPr>
              <a:t>Be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aware,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there 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15">
                <a:latin typeface="Arial"/>
                <a:cs typeface="Arial"/>
              </a:rPr>
              <a:t>both </a:t>
            </a:r>
            <a:r>
              <a:rPr dirty="0" sz="1150" spc="-55">
                <a:latin typeface="Arial"/>
                <a:cs typeface="Arial"/>
              </a:rPr>
              <a:t>good and bad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publicity.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162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5610" cy="27279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5" b="1">
                <a:latin typeface="Arial"/>
                <a:cs typeface="Arial"/>
              </a:rPr>
              <a:t>PUBLIC</a:t>
            </a:r>
            <a:r>
              <a:rPr dirty="0" sz="1350" spc="-90" b="1">
                <a:latin typeface="Arial"/>
                <a:cs typeface="Arial"/>
              </a:rPr>
              <a:t> </a:t>
            </a:r>
            <a:r>
              <a:rPr dirty="0" sz="1350" spc="-170" b="1">
                <a:latin typeface="Arial"/>
                <a:cs typeface="Arial"/>
              </a:rPr>
              <a:t>RELATIONS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8255">
              <a:lnSpc>
                <a:spcPct val="101699"/>
              </a:lnSpc>
            </a:pPr>
            <a:r>
              <a:rPr dirty="0" sz="1150" spc="-50">
                <a:latin typeface="Arial"/>
                <a:cs typeface="Arial"/>
              </a:rPr>
              <a:t>Company-influenced </a:t>
            </a:r>
            <a:r>
              <a:rPr dirty="0" sz="1150" spc="-20">
                <a:latin typeface="Arial"/>
                <a:cs typeface="Arial"/>
              </a:rPr>
              <a:t>publicity </a:t>
            </a:r>
            <a:r>
              <a:rPr dirty="0" sz="1150" spc="-30">
                <a:latin typeface="Arial"/>
                <a:cs typeface="Arial"/>
              </a:rPr>
              <a:t>directed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35">
                <a:latin typeface="Arial"/>
                <a:cs typeface="Arial"/>
              </a:rPr>
              <a:t>building </a:t>
            </a:r>
            <a:r>
              <a:rPr dirty="0" sz="1150" spc="-25">
                <a:latin typeface="Arial"/>
                <a:cs typeface="Arial"/>
              </a:rPr>
              <a:t>goodwill </a:t>
            </a:r>
            <a:r>
              <a:rPr dirty="0" sz="1150" spc="-35">
                <a:latin typeface="Arial"/>
                <a:cs typeface="Arial"/>
              </a:rPr>
              <a:t>between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15">
                <a:latin typeface="Arial"/>
                <a:cs typeface="Arial"/>
              </a:rPr>
              <a:t>potential </a:t>
            </a:r>
            <a:r>
              <a:rPr dirty="0" sz="1150" spc="-50">
                <a:latin typeface="Arial"/>
                <a:cs typeface="Arial"/>
              </a:rPr>
              <a:t>customers. </a:t>
            </a:r>
            <a:r>
              <a:rPr dirty="0" sz="1150" spc="-65">
                <a:latin typeface="Arial"/>
                <a:cs typeface="Arial"/>
              </a:rPr>
              <a:t>Smart </a:t>
            </a:r>
            <a:r>
              <a:rPr dirty="0" sz="1150" spc="-60">
                <a:latin typeface="Arial"/>
                <a:cs typeface="Arial"/>
              </a:rPr>
              <a:t>companies </a:t>
            </a:r>
            <a:r>
              <a:rPr dirty="0" sz="1150" spc="-35">
                <a:latin typeface="Arial"/>
                <a:cs typeface="Arial"/>
              </a:rPr>
              <a:t>know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55">
                <a:latin typeface="Arial"/>
                <a:cs typeface="Arial"/>
              </a:rPr>
              <a:t>need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maintain </a:t>
            </a:r>
            <a:r>
              <a:rPr dirty="0" sz="1150" spc="-35">
                <a:latin typeface="Arial"/>
                <a:cs typeface="Arial"/>
              </a:rPr>
              <a:t>positive </a:t>
            </a:r>
            <a:r>
              <a:rPr dirty="0" sz="1150" spc="-30">
                <a:latin typeface="Arial"/>
                <a:cs typeface="Arial"/>
              </a:rPr>
              <a:t>relations </a:t>
            </a:r>
            <a:r>
              <a:rPr dirty="0" sz="1150" spc="5">
                <a:latin typeface="Arial"/>
                <a:cs typeface="Arial"/>
              </a:rPr>
              <a:t>with 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40">
                <a:latin typeface="Arial"/>
                <a:cs typeface="Arial"/>
              </a:rPr>
              <a:t>communities, </a:t>
            </a:r>
            <a:r>
              <a:rPr dirty="0" sz="1150" spc="-45">
                <a:latin typeface="Arial"/>
                <a:cs typeface="Arial"/>
              </a:rPr>
              <a:t>investors, </a:t>
            </a:r>
            <a:r>
              <a:rPr dirty="0" sz="1150" spc="-30">
                <a:latin typeface="Arial"/>
                <a:cs typeface="Arial"/>
              </a:rPr>
              <a:t>industry </a:t>
            </a:r>
            <a:r>
              <a:rPr dirty="0" sz="1150" spc="-55">
                <a:latin typeface="Arial"/>
                <a:cs typeface="Arial"/>
              </a:rPr>
              <a:t>analysts, </a:t>
            </a:r>
            <a:r>
              <a:rPr dirty="0" sz="1150" spc="-40">
                <a:latin typeface="Arial"/>
                <a:cs typeface="Arial"/>
              </a:rPr>
              <a:t>government </a:t>
            </a:r>
            <a:r>
              <a:rPr dirty="0" sz="1150" spc="-70">
                <a:latin typeface="Arial"/>
                <a:cs typeface="Arial"/>
              </a:rPr>
              <a:t>agencies,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news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media.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75">
                <a:latin typeface="Arial"/>
                <a:cs typeface="Arial"/>
              </a:rPr>
              <a:t>Companies </a:t>
            </a:r>
            <a:r>
              <a:rPr dirty="0" sz="1150" spc="-80">
                <a:latin typeface="Arial"/>
                <a:cs typeface="Arial"/>
              </a:rPr>
              <a:t>seek </a:t>
            </a:r>
            <a:r>
              <a:rPr dirty="0" sz="1150" spc="-40">
                <a:latin typeface="Arial"/>
                <a:cs typeface="Arial"/>
              </a:rPr>
              <a:t>favorable </a:t>
            </a:r>
            <a:r>
              <a:rPr dirty="0" sz="1150" spc="-25">
                <a:latin typeface="Arial"/>
                <a:cs typeface="Arial"/>
              </a:rPr>
              <a:t>publicity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create </a:t>
            </a:r>
            <a:r>
              <a:rPr dirty="0" sz="1150" spc="-20">
                <a:latin typeface="Arial"/>
                <a:cs typeface="Arial"/>
              </a:rPr>
              <a:t>interest in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35">
                <a:latin typeface="Arial"/>
                <a:cs typeface="Arial"/>
              </a:rPr>
              <a:t>products. </a:t>
            </a:r>
            <a:r>
              <a:rPr dirty="0" sz="1150" spc="-75">
                <a:latin typeface="Arial"/>
                <a:cs typeface="Arial"/>
              </a:rPr>
              <a:t>Companies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50">
                <a:latin typeface="Arial"/>
                <a:cs typeface="Arial"/>
              </a:rPr>
              <a:t>good </a:t>
            </a:r>
            <a:r>
              <a:rPr dirty="0" sz="1150" spc="-35">
                <a:latin typeface="Arial"/>
                <a:cs typeface="Arial"/>
              </a:rPr>
              <a:t>public </a:t>
            </a:r>
            <a:r>
              <a:rPr dirty="0" sz="1150" spc="-60">
                <a:latin typeface="Arial"/>
                <a:cs typeface="Arial"/>
              </a:rPr>
              <a:t>image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more </a:t>
            </a:r>
            <a:r>
              <a:rPr dirty="0" sz="1150" spc="-20">
                <a:latin typeface="Arial"/>
                <a:cs typeface="Arial"/>
              </a:rPr>
              <a:t>attractive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investors. </a:t>
            </a:r>
            <a:r>
              <a:rPr dirty="0" sz="1150" spc="-100">
                <a:latin typeface="Arial"/>
                <a:cs typeface="Arial"/>
              </a:rPr>
              <a:t>Press </a:t>
            </a:r>
            <a:r>
              <a:rPr dirty="0" sz="1150" spc="-35">
                <a:latin typeface="Arial"/>
                <a:cs typeface="Arial"/>
              </a:rPr>
              <a:t>relations </a:t>
            </a:r>
            <a:r>
              <a:rPr dirty="0" sz="1150" spc="-20">
                <a:latin typeface="Arial"/>
                <a:cs typeface="Arial"/>
              </a:rPr>
              <a:t>refer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45">
                <a:latin typeface="Arial"/>
                <a:cs typeface="Arial"/>
              </a:rPr>
              <a:t>communicating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30">
                <a:latin typeface="Arial"/>
                <a:cs typeface="Arial"/>
              </a:rPr>
              <a:t>reporters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editors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60">
                <a:latin typeface="Arial"/>
                <a:cs typeface="Arial"/>
              </a:rPr>
              <a:t>newspapers, </a:t>
            </a:r>
            <a:r>
              <a:rPr dirty="0" sz="1150" spc="-70">
                <a:latin typeface="Arial"/>
                <a:cs typeface="Arial"/>
              </a:rPr>
              <a:t>magazines,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radio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35">
                <a:latin typeface="Arial"/>
                <a:cs typeface="Arial"/>
              </a:rPr>
              <a:t>television networks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stations.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75">
                <a:latin typeface="Arial"/>
                <a:cs typeface="Arial"/>
              </a:rPr>
              <a:t>News </a:t>
            </a:r>
            <a:r>
              <a:rPr dirty="0" sz="1150" spc="-70">
                <a:latin typeface="Arial"/>
                <a:cs typeface="Arial"/>
              </a:rPr>
              <a:t>releases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15">
                <a:latin typeface="Arial"/>
                <a:cs typeface="Arial"/>
              </a:rPr>
              <a:t>brief </a:t>
            </a:r>
            <a:r>
              <a:rPr dirty="0" sz="1150" spc="-40">
                <a:latin typeface="Arial"/>
                <a:cs typeface="Arial"/>
              </a:rPr>
              <a:t>statements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0">
                <a:latin typeface="Arial"/>
                <a:cs typeface="Arial"/>
              </a:rPr>
              <a:t>video </a:t>
            </a:r>
            <a:r>
              <a:rPr dirty="0" sz="1150" spc="-55">
                <a:latin typeface="Arial"/>
                <a:cs typeface="Arial"/>
              </a:rPr>
              <a:t>programs </a:t>
            </a:r>
            <a:r>
              <a:rPr dirty="0" sz="1150" spc="-60">
                <a:latin typeface="Arial"/>
                <a:cs typeface="Arial"/>
              </a:rPr>
              <a:t>released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press </a:t>
            </a:r>
            <a:r>
              <a:rPr dirty="0" sz="1150" spc="-50">
                <a:latin typeface="Arial"/>
                <a:cs typeface="Arial"/>
              </a:rPr>
              <a:t>announcing 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35">
                <a:latin typeface="Arial"/>
                <a:cs typeface="Arial"/>
              </a:rPr>
              <a:t>products, </a:t>
            </a:r>
            <a:r>
              <a:rPr dirty="0" sz="1150" spc="-55">
                <a:latin typeface="Arial"/>
                <a:cs typeface="Arial"/>
              </a:rPr>
              <a:t>management </a:t>
            </a:r>
            <a:r>
              <a:rPr dirty="0" sz="1150" spc="-75">
                <a:latin typeface="Arial"/>
                <a:cs typeface="Arial"/>
              </a:rPr>
              <a:t>changes, </a:t>
            </a:r>
            <a:r>
              <a:rPr dirty="0" sz="1150" spc="-85">
                <a:latin typeface="Arial"/>
                <a:cs typeface="Arial"/>
              </a:rPr>
              <a:t>sales </a:t>
            </a:r>
            <a:r>
              <a:rPr dirty="0" sz="1150" spc="-40">
                <a:latin typeface="Arial"/>
                <a:cs typeface="Arial"/>
              </a:rPr>
              <a:t>performance,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other potential </a:t>
            </a:r>
            <a:r>
              <a:rPr dirty="0" sz="1150" spc="-60">
                <a:latin typeface="Arial"/>
                <a:cs typeface="Arial"/>
              </a:rPr>
              <a:t>news </a:t>
            </a:r>
            <a:r>
              <a:rPr dirty="0" sz="1150" spc="-30">
                <a:latin typeface="Arial"/>
                <a:cs typeface="Arial"/>
              </a:rPr>
              <a:t>items; 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50">
                <a:latin typeface="Arial"/>
                <a:cs typeface="Arial"/>
              </a:rPr>
              <a:t>called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press </a:t>
            </a:r>
            <a:r>
              <a:rPr dirty="0" sz="1150" spc="-60">
                <a:latin typeface="Arial"/>
                <a:cs typeface="Arial"/>
              </a:rPr>
              <a:t>release. </a:t>
            </a:r>
            <a:r>
              <a:rPr dirty="0" sz="1150" spc="-75">
                <a:latin typeface="Arial"/>
                <a:cs typeface="Arial"/>
              </a:rPr>
              <a:t>News </a:t>
            </a:r>
            <a:r>
              <a:rPr dirty="0" sz="1150" spc="-55">
                <a:latin typeface="Arial"/>
                <a:cs typeface="Arial"/>
              </a:rPr>
              <a:t>conferences </a:t>
            </a:r>
            <a:r>
              <a:rPr dirty="0" sz="1150" spc="-50">
                <a:latin typeface="Arial"/>
                <a:cs typeface="Arial"/>
              </a:rPr>
              <a:t>are gatherings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media </a:t>
            </a:r>
            <a:r>
              <a:rPr dirty="0" sz="1150" spc="-40">
                <a:latin typeface="Arial"/>
                <a:cs typeface="Arial"/>
              </a:rPr>
              <a:t>representatives </a:t>
            </a:r>
            <a:r>
              <a:rPr dirty="0" sz="1150" spc="-15">
                <a:latin typeface="Arial"/>
                <a:cs typeface="Arial"/>
              </a:rPr>
              <a:t>at 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0">
                <a:latin typeface="Arial"/>
                <a:cs typeface="Arial"/>
              </a:rPr>
              <a:t>companies </a:t>
            </a:r>
            <a:r>
              <a:rPr dirty="0" sz="1150" spc="-55">
                <a:latin typeface="Arial"/>
                <a:cs typeface="Arial"/>
              </a:rPr>
              <a:t>announce </a:t>
            </a:r>
            <a:r>
              <a:rPr dirty="0" sz="1150" spc="-45">
                <a:latin typeface="Arial"/>
                <a:cs typeface="Arial"/>
              </a:rPr>
              <a:t>new </a:t>
            </a:r>
            <a:r>
              <a:rPr dirty="0" sz="1150" spc="-15">
                <a:latin typeface="Arial"/>
                <a:cs typeface="Arial"/>
              </a:rPr>
              <a:t>information;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5">
                <a:latin typeface="Arial"/>
                <a:cs typeface="Arial"/>
              </a:rPr>
              <a:t>press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briefing.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163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73" y="891035"/>
            <a:ext cx="5513070" cy="6660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715">
              <a:lnSpc>
                <a:spcPct val="100000"/>
              </a:lnSpc>
              <a:spcBef>
                <a:spcPts val="95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55" b="1">
                <a:latin typeface="Arial"/>
                <a:cs typeface="Arial"/>
              </a:rPr>
              <a:t> </a:t>
            </a:r>
            <a:r>
              <a:rPr dirty="0" sz="1850" spc="-95" b="1">
                <a:latin typeface="Arial"/>
                <a:cs typeface="Arial"/>
              </a:rPr>
              <a:t>35</a:t>
            </a:r>
            <a:endParaRPr sz="1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850" spc="-245" b="1">
                <a:latin typeface="Arial"/>
                <a:cs typeface="Arial"/>
              </a:rPr>
              <a:t>THE</a:t>
            </a:r>
            <a:r>
              <a:rPr dirty="0" sz="1850" spc="-100" b="1">
                <a:latin typeface="Arial"/>
                <a:cs typeface="Arial"/>
              </a:rPr>
              <a:t> </a:t>
            </a:r>
            <a:r>
              <a:rPr dirty="0" sz="1850" spc="-195" b="1">
                <a:latin typeface="Arial"/>
                <a:cs typeface="Arial"/>
              </a:rPr>
              <a:t>PRODUCTIVITY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45" b="1">
                <a:latin typeface="Arial"/>
                <a:cs typeface="Arial"/>
              </a:rPr>
              <a:t>PRODUCTION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5715">
              <a:lnSpc>
                <a:spcPct val="101699"/>
              </a:lnSpc>
            </a:pPr>
            <a:r>
              <a:rPr dirty="0" sz="1150" spc="-60">
                <a:latin typeface="Arial"/>
                <a:cs typeface="Arial"/>
              </a:rPr>
              <a:t>Conversion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raw material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35">
                <a:latin typeface="Arial"/>
                <a:cs typeface="Arial"/>
              </a:rPr>
              <a:t>finished </a:t>
            </a:r>
            <a:r>
              <a:rPr dirty="0" sz="1150" spc="-60">
                <a:latin typeface="Arial"/>
                <a:cs typeface="Arial"/>
              </a:rPr>
              <a:t>goods. </a:t>
            </a:r>
            <a:r>
              <a:rPr dirty="0" sz="1150" spc="-50">
                <a:latin typeface="Arial"/>
                <a:cs typeface="Arial"/>
              </a:rPr>
              <a:t>adding </a:t>
            </a:r>
            <a:r>
              <a:rPr dirty="0" sz="1150" spc="-55">
                <a:latin typeface="Arial"/>
                <a:cs typeface="Arial"/>
              </a:rPr>
              <a:t>value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raw </a:t>
            </a:r>
            <a:r>
              <a:rPr dirty="0" sz="1150" spc="-25">
                <a:latin typeface="Arial"/>
                <a:cs typeface="Arial"/>
              </a:rPr>
              <a:t>material, </a:t>
            </a:r>
            <a:r>
              <a:rPr dirty="0" sz="1150" spc="-60">
                <a:latin typeface="Arial"/>
                <a:cs typeface="Arial"/>
              </a:rPr>
              <a:t>processing </a:t>
            </a:r>
            <a:r>
              <a:rPr dirty="0" sz="1150" spc="30">
                <a:latin typeface="Arial"/>
                <a:cs typeface="Arial"/>
              </a:rPr>
              <a:t>it  </a:t>
            </a:r>
            <a:r>
              <a:rPr dirty="0" sz="1150" spc="-55">
                <a:latin typeface="Arial"/>
                <a:cs typeface="Arial"/>
              </a:rPr>
              <a:t>and making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new useful </a:t>
            </a:r>
            <a:r>
              <a:rPr dirty="0" sz="1150" spc="-25">
                <a:latin typeface="Arial"/>
                <a:cs typeface="Arial"/>
              </a:rPr>
              <a:t>product.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50">
                <a:latin typeface="Arial"/>
                <a:cs typeface="Arial"/>
              </a:rPr>
              <a:t>includes </a:t>
            </a:r>
            <a:r>
              <a:rPr dirty="0" sz="1150" spc="-15">
                <a:latin typeface="Arial"/>
                <a:cs typeface="Arial"/>
              </a:rPr>
              <a:t>input,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processes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0">
                <a:latin typeface="Arial"/>
                <a:cs typeface="Arial"/>
              </a:rPr>
              <a:t>output.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30" b="1">
                <a:latin typeface="Arial"/>
                <a:cs typeface="Arial"/>
              </a:rPr>
              <a:t>UTILITY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20">
                <a:latin typeface="Arial"/>
                <a:cs typeface="Arial"/>
              </a:rPr>
              <a:t>Ability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satisfy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need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35" b="1">
                <a:latin typeface="Arial"/>
                <a:cs typeface="Arial"/>
              </a:rPr>
              <a:t>Forms </a:t>
            </a:r>
            <a:r>
              <a:rPr dirty="0" sz="1350" spc="-60" b="1">
                <a:latin typeface="Arial"/>
                <a:cs typeface="Arial"/>
              </a:rPr>
              <a:t>of</a:t>
            </a:r>
            <a:r>
              <a:rPr dirty="0" sz="1350" spc="-30" b="1">
                <a:latin typeface="Arial"/>
                <a:cs typeface="Arial"/>
              </a:rPr>
              <a:t> </a:t>
            </a:r>
            <a:r>
              <a:rPr dirty="0" sz="1350" spc="-50" b="1">
                <a:latin typeface="Arial"/>
                <a:cs typeface="Arial"/>
              </a:rPr>
              <a:t>Utility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buFont typeface="Arial"/>
              <a:buAutoNum type="alphaLcPeriod"/>
              <a:tabLst>
                <a:tab pos="927735" algn="l"/>
              </a:tabLst>
            </a:pPr>
            <a:r>
              <a:rPr dirty="0" sz="1150" spc="-80" b="1">
                <a:latin typeface="Arial"/>
                <a:cs typeface="Arial"/>
              </a:rPr>
              <a:t>Time </a:t>
            </a:r>
            <a:r>
              <a:rPr dirty="0" sz="1150" spc="-45" b="1">
                <a:latin typeface="Arial"/>
                <a:cs typeface="Arial"/>
              </a:rPr>
              <a:t>Utility: </a:t>
            </a:r>
            <a:r>
              <a:rPr dirty="0" sz="1150" spc="-40">
                <a:latin typeface="Arial"/>
                <a:cs typeface="Arial"/>
              </a:rPr>
              <a:t>Getting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40">
                <a:latin typeface="Arial"/>
                <a:cs typeface="Arial"/>
              </a:rPr>
              <a:t>when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required.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lphaLcPeriod"/>
            </a:pPr>
            <a:endParaRPr sz="1200">
              <a:latin typeface="Arial"/>
              <a:cs typeface="Arial"/>
            </a:endParaRPr>
          </a:p>
          <a:p>
            <a:pPr algn="just" marL="927100" marR="5080" indent="-228600">
              <a:lnSpc>
                <a:spcPct val="101699"/>
              </a:lnSpc>
              <a:buFont typeface="Arial"/>
              <a:buAutoNum type="alphaLcPeriod"/>
              <a:tabLst>
                <a:tab pos="927735" algn="l"/>
              </a:tabLst>
            </a:pPr>
            <a:r>
              <a:rPr dirty="0" sz="1150" spc="-100" b="1">
                <a:latin typeface="Arial"/>
                <a:cs typeface="Arial"/>
              </a:rPr>
              <a:t>Place </a:t>
            </a:r>
            <a:r>
              <a:rPr dirty="0" sz="1150" spc="-40" b="1">
                <a:latin typeface="Arial"/>
                <a:cs typeface="Arial"/>
              </a:rPr>
              <a:t>Utility: </a:t>
            </a:r>
            <a:r>
              <a:rPr dirty="0" sz="1150" spc="-45">
                <a:latin typeface="Arial"/>
                <a:cs typeface="Arial"/>
              </a:rPr>
              <a:t>Product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manufactured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55">
                <a:latin typeface="Arial"/>
                <a:cs typeface="Arial"/>
              </a:rPr>
              <a:t>place and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sold </a:t>
            </a:r>
            <a:r>
              <a:rPr dirty="0" sz="1150" spc="-10">
                <a:latin typeface="Arial"/>
                <a:cs typeface="Arial"/>
              </a:rPr>
              <a:t>at </a:t>
            </a:r>
            <a:r>
              <a:rPr dirty="0" sz="1150" spc="-30">
                <a:latin typeface="Arial"/>
                <a:cs typeface="Arial"/>
              </a:rPr>
              <a:t>another  </a:t>
            </a:r>
            <a:r>
              <a:rPr dirty="0" sz="1150" spc="-55">
                <a:latin typeface="Arial"/>
                <a:cs typeface="Arial"/>
              </a:rPr>
              <a:t>place. </a:t>
            </a:r>
            <a:r>
              <a:rPr dirty="0" sz="1150" spc="-5">
                <a:latin typeface="Arial"/>
                <a:cs typeface="Arial"/>
              </a:rPr>
              <a:t>Utility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70">
                <a:latin typeface="Arial"/>
                <a:cs typeface="Arial"/>
              </a:rPr>
              <a:t>increases </a:t>
            </a:r>
            <a:r>
              <a:rPr dirty="0" sz="1150" spc="-5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15">
                <a:latin typeface="Arial"/>
                <a:cs typeface="Arial"/>
              </a:rPr>
              <a:t>mobility. </a:t>
            </a: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60">
                <a:latin typeface="Arial"/>
                <a:cs typeface="Arial"/>
              </a:rPr>
              <a:t>made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20">
                <a:latin typeface="Arial"/>
                <a:cs typeface="Arial"/>
              </a:rPr>
              <a:t>city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5">
                <a:latin typeface="Arial"/>
                <a:cs typeface="Arial"/>
              </a:rPr>
              <a:t>transported </a:t>
            </a:r>
            <a:r>
              <a:rPr dirty="0" sz="1150" spc="2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20">
                <a:latin typeface="Arial"/>
                <a:cs typeface="Arial"/>
              </a:rPr>
              <a:t>city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70">
                <a:latin typeface="Arial"/>
                <a:cs typeface="Arial"/>
              </a:rPr>
              <a:t>sale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25">
                <a:latin typeface="Arial"/>
                <a:cs typeface="Arial"/>
              </a:rPr>
              <a:t>then </a:t>
            </a:r>
            <a:r>
              <a:rPr dirty="0" sz="1150" spc="-70">
                <a:latin typeface="Arial"/>
                <a:cs typeface="Arial"/>
              </a:rPr>
              <a:t>use, </a:t>
            </a:r>
            <a:r>
              <a:rPr dirty="0" sz="1150" spc="-25">
                <a:latin typeface="Arial"/>
                <a:cs typeface="Arial"/>
              </a:rPr>
              <a:t>then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 said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5">
                <a:latin typeface="Arial"/>
                <a:cs typeface="Arial"/>
              </a:rPr>
              <a:t>utility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5">
                <a:latin typeface="Arial"/>
                <a:cs typeface="Arial"/>
              </a:rPr>
              <a:t>been increased.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lphaLcPeriod"/>
            </a:pPr>
            <a:endParaRPr sz="1200">
              <a:latin typeface="Arial"/>
              <a:cs typeface="Arial"/>
            </a:endParaRPr>
          </a:p>
          <a:p>
            <a:pPr algn="just" marL="927100" marR="6350" indent="-228600">
              <a:lnSpc>
                <a:spcPct val="101699"/>
              </a:lnSpc>
              <a:buFont typeface="Arial"/>
              <a:buAutoNum type="alphaLcPeriod"/>
              <a:tabLst>
                <a:tab pos="927735" algn="l"/>
              </a:tabLst>
            </a:pPr>
            <a:r>
              <a:rPr dirty="0" sz="1150" spc="-100" b="1">
                <a:latin typeface="Arial"/>
                <a:cs typeface="Arial"/>
              </a:rPr>
              <a:t>Form </a:t>
            </a:r>
            <a:r>
              <a:rPr dirty="0" sz="1150" spc="-40" b="1">
                <a:latin typeface="Arial"/>
                <a:cs typeface="Arial"/>
              </a:rPr>
              <a:t>Utility</a:t>
            </a:r>
            <a:r>
              <a:rPr dirty="0" sz="1150" spc="-40">
                <a:latin typeface="Arial"/>
                <a:cs typeface="Arial"/>
              </a:rPr>
              <a:t>: </a:t>
            </a:r>
            <a:r>
              <a:rPr dirty="0" sz="1150" spc="-80">
                <a:latin typeface="Arial"/>
                <a:cs typeface="Arial"/>
              </a:rPr>
              <a:t>Changing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then </a:t>
            </a:r>
            <a:r>
              <a:rPr dirty="0" sz="1150" spc="-35">
                <a:latin typeface="Arial"/>
                <a:cs typeface="Arial"/>
              </a:rPr>
              <a:t>converting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5">
                <a:latin typeface="Arial"/>
                <a:cs typeface="Arial"/>
              </a:rPr>
              <a:t>into 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45">
                <a:latin typeface="Arial"/>
                <a:cs typeface="Arial"/>
              </a:rPr>
              <a:t>useful </a:t>
            </a:r>
            <a:r>
              <a:rPr dirty="0" sz="1150" spc="-25">
                <a:latin typeface="Arial"/>
                <a:cs typeface="Arial"/>
              </a:rPr>
              <a:t>product.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80" b="1">
                <a:latin typeface="Arial"/>
                <a:cs typeface="Arial"/>
              </a:rPr>
              <a:t>Operation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00" b="1">
                <a:latin typeface="Arial"/>
                <a:cs typeface="Arial"/>
              </a:rPr>
              <a:t>planning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5715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Operations </a:t>
            </a:r>
            <a:r>
              <a:rPr dirty="0" sz="1150" spc="-60">
                <a:latin typeface="Arial"/>
                <a:cs typeface="Arial"/>
              </a:rPr>
              <a:t>Managers </a:t>
            </a:r>
            <a:r>
              <a:rPr dirty="0" sz="1150" spc="-65">
                <a:latin typeface="Arial"/>
                <a:cs typeface="Arial"/>
              </a:rPr>
              <a:t>decides </a:t>
            </a:r>
            <a:r>
              <a:rPr dirty="0" sz="1150" spc="-30">
                <a:latin typeface="Arial"/>
                <a:cs typeface="Arial"/>
              </a:rPr>
              <a:t>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-50">
                <a:latin typeface="Arial"/>
                <a:cs typeface="Arial"/>
              </a:rPr>
              <a:t>capacity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organization. </a:t>
            </a:r>
            <a:r>
              <a:rPr dirty="0" sz="1150" spc="-60">
                <a:latin typeface="Arial"/>
                <a:cs typeface="Arial"/>
              </a:rPr>
              <a:t>And  </a:t>
            </a:r>
            <a:r>
              <a:rPr dirty="0" sz="1150" spc="-30">
                <a:latin typeface="Arial"/>
                <a:cs typeface="Arial"/>
              </a:rPr>
              <a:t>appropriate </a:t>
            </a:r>
            <a:r>
              <a:rPr dirty="0" sz="1150" spc="-25">
                <a:latin typeface="Arial"/>
                <a:cs typeface="Arial"/>
              </a:rPr>
              <a:t>location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10" b="1">
                <a:latin typeface="Arial"/>
                <a:cs typeface="Arial"/>
              </a:rPr>
              <a:t>Capacity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10" b="1">
                <a:latin typeface="Arial"/>
                <a:cs typeface="Arial"/>
              </a:rPr>
              <a:t>Planning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 marL="45720">
              <a:lnSpc>
                <a:spcPct val="100000"/>
              </a:lnSpc>
            </a:pPr>
            <a:r>
              <a:rPr dirty="0" sz="1150" spc="-35">
                <a:latin typeface="Arial"/>
                <a:cs typeface="Arial"/>
              </a:rPr>
              <a:t>Optimum </a:t>
            </a:r>
            <a:r>
              <a:rPr dirty="0" sz="1150" spc="-40">
                <a:latin typeface="Arial"/>
                <a:cs typeface="Arial"/>
              </a:rPr>
              <a:t>level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-55">
                <a:latin typeface="Arial"/>
                <a:cs typeface="Arial"/>
              </a:rPr>
              <a:t>needed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200" b="1">
                <a:latin typeface="Arial"/>
                <a:cs typeface="Arial"/>
              </a:rPr>
              <a:t>FACTORS </a:t>
            </a:r>
            <a:r>
              <a:rPr dirty="0" sz="1350" spc="-195" b="1">
                <a:latin typeface="Arial"/>
                <a:cs typeface="Arial"/>
              </a:rPr>
              <a:t>FOR </a:t>
            </a:r>
            <a:r>
              <a:rPr dirty="0" sz="1350" spc="-155" b="1">
                <a:latin typeface="Arial"/>
                <a:cs typeface="Arial"/>
              </a:rPr>
              <a:t>LOCATION </a:t>
            </a:r>
            <a:r>
              <a:rPr dirty="0" sz="1350" spc="-175" b="1">
                <a:latin typeface="Arial"/>
                <a:cs typeface="Arial"/>
              </a:rPr>
              <a:t>OF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50" b="1">
                <a:latin typeface="Arial"/>
                <a:cs typeface="Arial"/>
              </a:rPr>
              <a:t>INDUSTRY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164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58905" y="7724648"/>
            <a:ext cx="129539" cy="379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5">
                <a:latin typeface="Arial"/>
                <a:cs typeface="Arial"/>
              </a:rPr>
              <a:t>i.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>
                <a:latin typeface="Arial"/>
                <a:cs typeface="Arial"/>
              </a:rPr>
              <a:t>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6113" y="7724648"/>
            <a:ext cx="2979420" cy="109283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1236980">
              <a:lnSpc>
                <a:spcPct val="101699"/>
              </a:lnSpc>
              <a:spcBef>
                <a:spcPts val="75"/>
              </a:spcBef>
            </a:pPr>
            <a:r>
              <a:rPr dirty="0" sz="1150" spc="-30">
                <a:latin typeface="Arial"/>
                <a:cs typeface="Arial"/>
              </a:rPr>
              <a:t>Availability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skilled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workers  </a:t>
            </a:r>
            <a:r>
              <a:rPr dirty="0" sz="1150" spc="-30">
                <a:latin typeface="Arial"/>
                <a:cs typeface="Arial"/>
              </a:rPr>
              <a:t>Availability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infrastructure</a:t>
            </a:r>
            <a:endParaRPr sz="115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241300" algn="l"/>
              </a:tabLst>
            </a:pPr>
            <a:r>
              <a:rPr dirty="0" sz="1150" spc="-55">
                <a:latin typeface="Arial"/>
                <a:cs typeface="Arial"/>
              </a:rPr>
              <a:t>Includes </a:t>
            </a:r>
            <a:r>
              <a:rPr dirty="0" sz="1150" spc="-25">
                <a:latin typeface="Arial"/>
                <a:cs typeface="Arial"/>
              </a:rPr>
              <a:t>electricity, </a:t>
            </a:r>
            <a:r>
              <a:rPr dirty="0" sz="1150" spc="-90">
                <a:latin typeface="Arial"/>
                <a:cs typeface="Arial"/>
              </a:rPr>
              <a:t>gas, </a:t>
            </a:r>
            <a:r>
              <a:rPr dirty="0" sz="1150" spc="-20">
                <a:latin typeface="Arial"/>
                <a:cs typeface="Arial"/>
              </a:rPr>
              <a:t>water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telephone.</a:t>
            </a:r>
            <a:endParaRPr sz="1150">
              <a:latin typeface="Arial"/>
              <a:cs typeface="Arial"/>
            </a:endParaRPr>
          </a:p>
          <a:p>
            <a:pPr marL="12700" marR="560705">
              <a:lnSpc>
                <a:spcPct val="101699"/>
              </a:lnSpc>
              <a:buAutoNum type="alphaLcPeriod"/>
              <a:tabLst>
                <a:tab pos="241300" algn="l"/>
              </a:tabLst>
            </a:pPr>
            <a:r>
              <a:rPr dirty="0" sz="1150" spc="-105">
                <a:latin typeface="Arial"/>
                <a:cs typeface="Arial"/>
              </a:rPr>
              <a:t>Access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road </a:t>
            </a:r>
            <a:r>
              <a:rPr dirty="0" sz="1150" spc="-20">
                <a:latin typeface="Arial"/>
                <a:cs typeface="Arial"/>
              </a:rPr>
              <a:t>transport </a:t>
            </a:r>
            <a:r>
              <a:rPr dirty="0" sz="1150" spc="-60">
                <a:latin typeface="Arial"/>
                <a:cs typeface="Arial"/>
              </a:rPr>
              <a:t>and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railway  </a:t>
            </a:r>
            <a:r>
              <a:rPr dirty="0" sz="1150" spc="-30">
                <a:latin typeface="Arial"/>
                <a:cs typeface="Arial"/>
              </a:rPr>
              <a:t>Availability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raw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material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50">
                <a:latin typeface="Arial"/>
                <a:cs typeface="Arial"/>
              </a:rPr>
              <a:t>Climatic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Condition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8905" y="8437880"/>
            <a:ext cx="163195" cy="3797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 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65">
                <a:latin typeface="Arial"/>
                <a:cs typeface="Arial"/>
              </a:rPr>
              <a:t>v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413639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60" b="1">
                <a:latin typeface="Arial"/>
                <a:cs typeface="Arial"/>
              </a:rPr>
              <a:t>FACILITIES </a:t>
            </a:r>
            <a:r>
              <a:rPr dirty="0" sz="1350" spc="-145" b="1">
                <a:latin typeface="Arial"/>
                <a:cs typeface="Arial"/>
              </a:rPr>
              <a:t>TO </a:t>
            </a:r>
            <a:r>
              <a:rPr dirty="0" sz="1350" spc="-235" b="1">
                <a:latin typeface="Arial"/>
                <a:cs typeface="Arial"/>
              </a:rPr>
              <a:t>BE </a:t>
            </a:r>
            <a:r>
              <a:rPr dirty="0" sz="1350" spc="-155" b="1">
                <a:latin typeface="Arial"/>
                <a:cs typeface="Arial"/>
              </a:rPr>
              <a:t>ORGANIZED </a:t>
            </a:r>
            <a:r>
              <a:rPr dirty="0" sz="1350" spc="-195" b="1">
                <a:latin typeface="Arial"/>
                <a:cs typeface="Arial"/>
              </a:rPr>
              <a:t>FOR </a:t>
            </a:r>
            <a:r>
              <a:rPr dirty="0" sz="1350" spc="-145" b="1">
                <a:latin typeface="Arial"/>
                <a:cs typeface="Arial"/>
              </a:rPr>
              <a:t>PRODUCTION</a:t>
            </a:r>
            <a:r>
              <a:rPr dirty="0" sz="1350" spc="-100" b="1">
                <a:latin typeface="Arial"/>
                <a:cs typeface="Arial"/>
              </a:rPr>
              <a:t> </a:t>
            </a:r>
            <a:r>
              <a:rPr dirty="0" sz="1350" spc="-225" b="1">
                <a:latin typeface="Arial"/>
                <a:cs typeface="Arial"/>
              </a:rPr>
              <a:t>PROCESS</a:t>
            </a:r>
            <a:endParaRPr sz="135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165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58903" y="1270511"/>
            <a:ext cx="10160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35" b="1">
                <a:latin typeface="Arial"/>
                <a:cs typeface="Arial"/>
              </a:rPr>
              <a:t>i</a:t>
            </a:r>
            <a:r>
              <a:rPr dirty="0" sz="1150" spc="-15" b="1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6109" y="1270511"/>
            <a:ext cx="4826635" cy="556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80" b="1">
                <a:latin typeface="Arial"/>
                <a:cs typeface="Arial"/>
              </a:rPr>
              <a:t>Productive</a:t>
            </a:r>
            <a:r>
              <a:rPr dirty="0" sz="1150" spc="-65" b="1">
                <a:latin typeface="Arial"/>
                <a:cs typeface="Arial"/>
              </a:rPr>
              <a:t> facilities</a:t>
            </a:r>
            <a:endParaRPr sz="1150">
              <a:latin typeface="Arial"/>
              <a:cs typeface="Arial"/>
            </a:endParaRPr>
          </a:p>
          <a:p>
            <a:pPr marL="241300" marR="5080">
              <a:lnSpc>
                <a:spcPct val="100899"/>
              </a:lnSpc>
              <a:spcBef>
                <a:spcPts val="10"/>
              </a:spcBef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50">
                <a:latin typeface="Arial"/>
                <a:cs typeface="Arial"/>
              </a:rPr>
              <a:t>includes </a:t>
            </a:r>
            <a:r>
              <a:rPr dirty="0" sz="1150" spc="-30">
                <a:latin typeface="Arial"/>
                <a:cs typeface="Arial"/>
              </a:rPr>
              <a:t>units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plants </a:t>
            </a:r>
            <a:r>
              <a:rPr dirty="0" sz="1150" spc="-35">
                <a:latin typeface="Arial"/>
                <a:cs typeface="Arial"/>
              </a:rPr>
              <a:t>which contain </a:t>
            </a:r>
            <a:r>
              <a:rPr dirty="0" sz="1150" spc="-70">
                <a:latin typeface="Arial"/>
                <a:cs typeface="Arial"/>
              </a:rPr>
              <a:t>assembly </a:t>
            </a:r>
            <a:r>
              <a:rPr dirty="0" sz="1150" spc="-50">
                <a:latin typeface="Arial"/>
                <a:cs typeface="Arial"/>
              </a:rPr>
              <a:t>lines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machines </a:t>
            </a:r>
            <a:r>
              <a:rPr dirty="0" sz="1150" spc="-25">
                <a:latin typeface="Arial"/>
                <a:cs typeface="Arial"/>
              </a:rPr>
              <a:t>in  order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convert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raw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material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into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finished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products.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8904" y="1982218"/>
            <a:ext cx="1377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35" b="1">
                <a:latin typeface="Arial"/>
                <a:cs typeface="Arial"/>
              </a:rPr>
              <a:t>ii</a:t>
            </a:r>
            <a:r>
              <a:rPr dirty="0" sz="1150" spc="-15" b="1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6109" y="1982218"/>
            <a:ext cx="4826635" cy="55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85" b="1">
                <a:latin typeface="Arial"/>
                <a:cs typeface="Arial"/>
              </a:rPr>
              <a:t>Non </a:t>
            </a:r>
            <a:r>
              <a:rPr dirty="0" sz="1150" spc="-75" b="1">
                <a:latin typeface="Arial"/>
                <a:cs typeface="Arial"/>
              </a:rPr>
              <a:t>productive</a:t>
            </a:r>
            <a:r>
              <a:rPr dirty="0" sz="1150" spc="-45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facilities</a:t>
            </a:r>
            <a:endParaRPr sz="1150">
              <a:latin typeface="Arial"/>
              <a:cs typeface="Arial"/>
            </a:endParaRPr>
          </a:p>
          <a:p>
            <a:pPr marL="241300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Process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25">
                <a:latin typeface="Arial"/>
                <a:cs typeface="Arial"/>
              </a:rPr>
              <a:t>directly </a:t>
            </a:r>
            <a:r>
              <a:rPr dirty="0" sz="1150" spc="-40">
                <a:latin typeface="Arial"/>
                <a:cs typeface="Arial"/>
              </a:rPr>
              <a:t>involved </a:t>
            </a:r>
            <a:r>
              <a:rPr dirty="0" sz="1150" spc="-20">
                <a:latin typeface="Arial"/>
                <a:cs typeface="Arial"/>
              </a:rPr>
              <a:t>in the production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 spc="-10">
                <a:latin typeface="Arial"/>
                <a:cs typeface="Arial"/>
              </a:rPr>
              <a:t>but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related 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production,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0">
                <a:latin typeface="Arial"/>
                <a:cs typeface="Arial"/>
              </a:rPr>
              <a:t> example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storing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raw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material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8903" y="2695451"/>
            <a:ext cx="17335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35" b="1">
                <a:latin typeface="Arial"/>
                <a:cs typeface="Arial"/>
              </a:rPr>
              <a:t>ii</a:t>
            </a:r>
            <a:r>
              <a:rPr dirty="0" sz="1150" spc="-50" b="1">
                <a:latin typeface="Arial"/>
                <a:cs typeface="Arial"/>
              </a:rPr>
              <a:t>i</a:t>
            </a:r>
            <a:r>
              <a:rPr dirty="0" sz="1150" spc="-15" b="1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6109" y="2695451"/>
            <a:ext cx="4826635" cy="55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85" b="1">
                <a:latin typeface="Arial"/>
                <a:cs typeface="Arial"/>
              </a:rPr>
              <a:t>Support</a:t>
            </a:r>
            <a:r>
              <a:rPr dirty="0" sz="1150" spc="-65" b="1">
                <a:latin typeface="Arial"/>
                <a:cs typeface="Arial"/>
              </a:rPr>
              <a:t> facilities</a:t>
            </a:r>
            <a:endParaRPr sz="1150">
              <a:latin typeface="Arial"/>
              <a:cs typeface="Arial"/>
            </a:endParaRPr>
          </a:p>
          <a:p>
            <a:pPr marL="241300" marR="5080">
              <a:lnSpc>
                <a:spcPct val="101699"/>
              </a:lnSpc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50">
                <a:latin typeface="Arial"/>
                <a:cs typeface="Arial"/>
              </a:rPr>
              <a:t>includes </a:t>
            </a:r>
            <a:r>
              <a:rPr dirty="0" sz="1150" spc="-35">
                <a:latin typeface="Arial"/>
                <a:cs typeface="Arial"/>
              </a:rPr>
              <a:t>departments </a:t>
            </a:r>
            <a:r>
              <a:rPr dirty="0" sz="1150" spc="-30">
                <a:latin typeface="Arial"/>
                <a:cs typeface="Arial"/>
              </a:rPr>
              <a:t>like </a:t>
            </a:r>
            <a:r>
              <a:rPr dirty="0" sz="1150" spc="-50">
                <a:latin typeface="Arial"/>
                <a:cs typeface="Arial"/>
              </a:rPr>
              <a:t>management, </a:t>
            </a:r>
            <a:r>
              <a:rPr dirty="0" sz="1150" spc="-55">
                <a:latin typeface="Arial"/>
                <a:cs typeface="Arial"/>
              </a:rPr>
              <a:t>purchasing, </a:t>
            </a:r>
            <a:r>
              <a:rPr dirty="0" sz="1150" spc="-45">
                <a:latin typeface="Arial"/>
                <a:cs typeface="Arial"/>
              </a:rPr>
              <a:t>finance, </a:t>
            </a:r>
            <a:r>
              <a:rPr dirty="0" sz="1150" spc="-50">
                <a:latin typeface="Arial"/>
                <a:cs typeface="Arial"/>
              </a:rPr>
              <a:t>human  resource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others which </a:t>
            </a:r>
            <a:r>
              <a:rPr dirty="0" sz="1150" spc="-30">
                <a:latin typeface="Arial"/>
                <a:cs typeface="Arial"/>
              </a:rPr>
              <a:t>support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run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factory.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30313" y="3408682"/>
            <a:ext cx="2449195" cy="6083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0" b="1">
                <a:latin typeface="Arial"/>
                <a:cs typeface="Arial"/>
              </a:rPr>
              <a:t>LAYOUT</a:t>
            </a:r>
            <a:r>
              <a:rPr dirty="0" sz="1350" spc="-65" b="1">
                <a:latin typeface="Arial"/>
                <a:cs typeface="Arial"/>
              </a:rPr>
              <a:t> </a:t>
            </a:r>
            <a:r>
              <a:rPr dirty="0" sz="1350" spc="-175" b="1">
                <a:latin typeface="Arial"/>
                <a:cs typeface="Arial"/>
              </a:rPr>
              <a:t>PLAN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25">
                <a:latin typeface="Arial"/>
                <a:cs typeface="Arial"/>
              </a:rPr>
              <a:t>Internal </a:t>
            </a:r>
            <a:r>
              <a:rPr dirty="0" sz="1150" spc="-40">
                <a:latin typeface="Arial"/>
                <a:cs typeface="Arial"/>
              </a:rPr>
              <a:t>arrangement </a:t>
            </a:r>
            <a:r>
              <a:rPr dirty="0" sz="1150" spc="-20">
                <a:latin typeface="Arial"/>
                <a:cs typeface="Arial"/>
              </a:rPr>
              <a:t>in the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8916" y="4172206"/>
            <a:ext cx="16319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5">
                <a:latin typeface="Arial"/>
                <a:cs typeface="Arial"/>
              </a:rPr>
              <a:t>i.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0">
                <a:latin typeface="Arial"/>
                <a:cs typeface="Arial"/>
              </a:rPr>
              <a:t>ii.  </a:t>
            </a:r>
            <a:r>
              <a:rPr dirty="0" sz="1150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 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65">
                <a:latin typeface="Arial"/>
                <a:cs typeface="Arial"/>
              </a:rPr>
              <a:t>v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16121" y="4172206"/>
            <a:ext cx="1466215" cy="7359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55">
                <a:latin typeface="Arial"/>
                <a:cs typeface="Arial"/>
              </a:rPr>
              <a:t>Placement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machinery  </a:t>
            </a:r>
            <a:r>
              <a:rPr dirty="0" sz="1150" spc="-30">
                <a:latin typeface="Arial"/>
                <a:cs typeface="Arial"/>
              </a:rPr>
              <a:t>Movement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people  </a:t>
            </a:r>
            <a:r>
              <a:rPr dirty="0" sz="1150" spc="-30">
                <a:latin typeface="Arial"/>
                <a:cs typeface="Arial"/>
              </a:rPr>
              <a:t>Water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storage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50">
                <a:latin typeface="Arial"/>
                <a:cs typeface="Arial"/>
              </a:rPr>
              <a:t>Entry end </a:t>
            </a:r>
            <a:r>
              <a:rPr dirty="0" sz="1150" spc="-20">
                <a:latin typeface="Arial"/>
                <a:cs typeface="Arial"/>
              </a:rPr>
              <a:t>exit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point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30315" y="5063745"/>
            <a:ext cx="2891155" cy="22136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10" b="1">
                <a:latin typeface="Arial"/>
                <a:cs typeface="Arial"/>
              </a:rPr>
              <a:t>Layout </a:t>
            </a:r>
            <a:r>
              <a:rPr dirty="0" sz="1350" spc="-125" b="1">
                <a:latin typeface="Arial"/>
                <a:cs typeface="Arial"/>
              </a:rPr>
              <a:t>Designing</a:t>
            </a:r>
            <a:r>
              <a:rPr dirty="0" sz="1350" spc="-35" b="1">
                <a:latin typeface="Arial"/>
                <a:cs typeface="Arial"/>
              </a:rPr>
              <a:t> </a:t>
            </a:r>
            <a:r>
              <a:rPr dirty="0" sz="1350" spc="-100" b="1">
                <a:latin typeface="Arial"/>
                <a:cs typeface="Arial"/>
              </a:rPr>
              <a:t>Options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50">
              <a:latin typeface="Arial"/>
              <a:cs typeface="Arial"/>
            </a:endParaRPr>
          </a:p>
          <a:p>
            <a:pPr marL="698500" indent="-457834">
              <a:lnSpc>
                <a:spcPct val="100000"/>
              </a:lnSpc>
              <a:buAutoNum type="romanLcPeriod"/>
              <a:tabLst>
                <a:tab pos="697865" algn="l"/>
                <a:tab pos="699135" algn="l"/>
              </a:tabLst>
            </a:pPr>
            <a:r>
              <a:rPr dirty="0" sz="1150" spc="-60">
                <a:latin typeface="Arial"/>
                <a:cs typeface="Arial"/>
              </a:rPr>
              <a:t>Considering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</a:t>
            </a:r>
            <a:endParaRPr sz="1150">
              <a:latin typeface="Arial"/>
              <a:cs typeface="Arial"/>
            </a:endParaRPr>
          </a:p>
          <a:p>
            <a:pPr marL="698500" indent="-457834">
              <a:lnSpc>
                <a:spcPct val="100000"/>
              </a:lnSpc>
              <a:spcBef>
                <a:spcPts val="25"/>
              </a:spcBef>
              <a:buAutoNum type="romanLcPeriod"/>
              <a:tabLst>
                <a:tab pos="697865" algn="l"/>
                <a:tab pos="699135" algn="l"/>
              </a:tabLst>
            </a:pPr>
            <a:r>
              <a:rPr dirty="0" sz="1150" spc="-90">
                <a:latin typeface="Arial"/>
                <a:cs typeface="Arial"/>
              </a:rPr>
              <a:t>Processes </a:t>
            </a:r>
            <a:r>
              <a:rPr dirty="0" sz="1150" spc="-40">
                <a:latin typeface="Arial"/>
                <a:cs typeface="Arial"/>
              </a:rPr>
              <a:t>involved </a:t>
            </a:r>
            <a:r>
              <a:rPr dirty="0" sz="1150" spc="-20">
                <a:latin typeface="Arial"/>
                <a:cs typeface="Arial"/>
              </a:rPr>
              <a:t>in the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production</a:t>
            </a:r>
            <a:endParaRPr sz="1150">
              <a:latin typeface="Arial"/>
              <a:cs typeface="Arial"/>
            </a:endParaRPr>
          </a:p>
          <a:p>
            <a:pPr marL="698500" indent="-457834">
              <a:lnSpc>
                <a:spcPct val="100000"/>
              </a:lnSpc>
              <a:spcBef>
                <a:spcPts val="25"/>
              </a:spcBef>
              <a:buAutoNum type="romanLcPeriod"/>
              <a:tabLst>
                <a:tab pos="697865" algn="l"/>
                <a:tab pos="699135" algn="l"/>
              </a:tabLst>
            </a:pPr>
            <a:r>
              <a:rPr dirty="0" sz="1150" spc="-50">
                <a:latin typeface="Arial"/>
                <a:cs typeface="Arial"/>
              </a:rPr>
              <a:t>Cellular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Layout</a:t>
            </a:r>
            <a:endParaRPr sz="1150">
              <a:latin typeface="Arial"/>
              <a:cs typeface="Arial"/>
            </a:endParaRPr>
          </a:p>
          <a:p>
            <a:pPr marL="698500" indent="-457834">
              <a:lnSpc>
                <a:spcPct val="100000"/>
              </a:lnSpc>
              <a:spcBef>
                <a:spcPts val="25"/>
              </a:spcBef>
              <a:buAutoNum type="romanLcPeriod"/>
              <a:tabLst>
                <a:tab pos="697865" algn="l"/>
                <a:tab pos="699135" algn="l"/>
              </a:tabLst>
            </a:pPr>
            <a:r>
              <a:rPr dirty="0" sz="1150" spc="-45">
                <a:latin typeface="Arial"/>
                <a:cs typeface="Arial"/>
              </a:rPr>
              <a:t>Product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layout</a:t>
            </a:r>
            <a:endParaRPr sz="1150">
              <a:latin typeface="Arial"/>
              <a:cs typeface="Arial"/>
            </a:endParaRPr>
          </a:p>
          <a:p>
            <a:pPr marL="698500" indent="-457834">
              <a:lnSpc>
                <a:spcPct val="100000"/>
              </a:lnSpc>
              <a:spcBef>
                <a:spcPts val="25"/>
              </a:spcBef>
              <a:buAutoNum type="romanLcPeriod"/>
              <a:tabLst>
                <a:tab pos="697865" algn="l"/>
                <a:tab pos="699135" algn="l"/>
              </a:tabLst>
            </a:pPr>
            <a:r>
              <a:rPr dirty="0" sz="1150" spc="-55">
                <a:latin typeface="Arial"/>
                <a:cs typeface="Arial"/>
              </a:rPr>
              <a:t>Placement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Layout</a:t>
            </a:r>
            <a:endParaRPr sz="1150">
              <a:latin typeface="Arial"/>
              <a:cs typeface="Arial"/>
            </a:endParaRPr>
          </a:p>
          <a:p>
            <a:pPr marL="698500" indent="-457834">
              <a:lnSpc>
                <a:spcPct val="100000"/>
              </a:lnSpc>
              <a:spcBef>
                <a:spcPts val="20"/>
              </a:spcBef>
              <a:buAutoNum type="romanLcPeriod"/>
              <a:tabLst>
                <a:tab pos="697865" algn="l"/>
                <a:tab pos="699135" algn="l"/>
              </a:tabLst>
            </a:pPr>
            <a:r>
              <a:rPr dirty="0" sz="1150" spc="-55">
                <a:latin typeface="Arial"/>
                <a:cs typeface="Arial"/>
              </a:rPr>
              <a:t>Flexible Layout</a:t>
            </a:r>
            <a:endParaRPr sz="1150">
              <a:latin typeface="Arial"/>
              <a:cs typeface="Arial"/>
            </a:endParaRPr>
          </a:p>
          <a:p>
            <a:pPr marL="698500" indent="-457834">
              <a:lnSpc>
                <a:spcPct val="100000"/>
              </a:lnSpc>
              <a:spcBef>
                <a:spcPts val="25"/>
              </a:spcBef>
              <a:buAutoNum type="romanLcPeriod"/>
              <a:tabLst>
                <a:tab pos="697865" algn="l"/>
                <a:tab pos="699135" algn="l"/>
              </a:tabLst>
            </a:pPr>
            <a:r>
              <a:rPr dirty="0" sz="1150" spc="-35">
                <a:latin typeface="Arial"/>
                <a:cs typeface="Arial"/>
              </a:rPr>
              <a:t>Other </a:t>
            </a:r>
            <a:r>
              <a:rPr dirty="0" sz="1150" spc="-65">
                <a:latin typeface="Arial"/>
                <a:cs typeface="Arial"/>
              </a:rPr>
              <a:t>Layouts (U-shaped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layout)</a:t>
            </a:r>
            <a:endParaRPr sz="1150">
              <a:latin typeface="Arial"/>
              <a:cs typeface="Arial"/>
            </a:endParaRPr>
          </a:p>
          <a:p>
            <a:pPr marL="698500" indent="-457834">
              <a:lnSpc>
                <a:spcPct val="100000"/>
              </a:lnSpc>
              <a:spcBef>
                <a:spcPts val="25"/>
              </a:spcBef>
              <a:buAutoNum type="romanLcPeriod"/>
              <a:tabLst>
                <a:tab pos="697865" algn="l"/>
                <a:tab pos="699135" algn="l"/>
              </a:tabLst>
            </a:pPr>
            <a:r>
              <a:rPr dirty="0" sz="1150" spc="-45">
                <a:latin typeface="Arial"/>
                <a:cs typeface="Arial"/>
              </a:rPr>
              <a:t>Straight </a:t>
            </a:r>
            <a:r>
              <a:rPr dirty="0" sz="1150" spc="-30">
                <a:latin typeface="Arial"/>
                <a:cs typeface="Arial"/>
              </a:rPr>
              <a:t>line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layout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45" b="1">
                <a:latin typeface="Arial"/>
                <a:cs typeface="Arial"/>
              </a:rPr>
              <a:t>Reasons </a:t>
            </a:r>
            <a:r>
              <a:rPr dirty="0" sz="1350" spc="-55" b="1">
                <a:latin typeface="Arial"/>
                <a:cs typeface="Arial"/>
              </a:rPr>
              <a:t>for </a:t>
            </a:r>
            <a:r>
              <a:rPr dirty="0" sz="1350" spc="-120" b="1">
                <a:latin typeface="Arial"/>
                <a:cs typeface="Arial"/>
              </a:rPr>
              <a:t>designing </a:t>
            </a:r>
            <a:r>
              <a:rPr dirty="0" sz="1350" spc="-85" b="1">
                <a:latin typeface="Arial"/>
                <a:cs typeface="Arial"/>
              </a:rPr>
              <a:t>a</a:t>
            </a:r>
            <a:r>
              <a:rPr dirty="0" sz="1350" spc="-5" b="1">
                <a:latin typeface="Arial"/>
                <a:cs typeface="Arial"/>
              </a:rPr>
              <a:t> </a:t>
            </a:r>
            <a:r>
              <a:rPr dirty="0" sz="1350" spc="-70" b="1">
                <a:latin typeface="Arial"/>
                <a:cs typeface="Arial"/>
              </a:rPr>
              <a:t>layout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8921" y="7422897"/>
            <a:ext cx="163195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5">
                <a:latin typeface="Arial"/>
                <a:cs typeface="Arial"/>
              </a:rPr>
              <a:t>i.</a:t>
            </a:r>
            <a:endParaRPr sz="115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0">
                <a:latin typeface="Arial"/>
                <a:cs typeface="Arial"/>
              </a:rPr>
              <a:t>ii.  </a:t>
            </a:r>
            <a:r>
              <a:rPr dirty="0" sz="1150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 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65">
                <a:latin typeface="Arial"/>
                <a:cs typeface="Arial"/>
              </a:rPr>
              <a:t>v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16127" y="7422897"/>
            <a:ext cx="1304925" cy="7359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increase </a:t>
            </a:r>
            <a:r>
              <a:rPr dirty="0" sz="1150" spc="-35">
                <a:latin typeface="Arial"/>
                <a:cs typeface="Arial"/>
              </a:rPr>
              <a:t>efficiency  </a:t>
            </a: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reduce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cost</a:t>
            </a:r>
            <a:endParaRPr sz="1150">
              <a:latin typeface="Arial"/>
              <a:cs typeface="Arial"/>
            </a:endParaRPr>
          </a:p>
          <a:p>
            <a:pPr marL="12700" marR="186055">
              <a:lnSpc>
                <a:spcPct val="101699"/>
              </a:lnSpc>
              <a:spcBef>
                <a:spcPts val="5"/>
              </a:spcBef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avoid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accidents  </a:t>
            </a:r>
            <a:r>
              <a:rPr dirty="0" sz="1150" spc="-45">
                <a:latin typeface="Arial"/>
                <a:cs typeface="Arial"/>
              </a:rPr>
              <a:t>Avoid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delays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3" y="891035"/>
            <a:ext cx="5513705" cy="7743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6985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36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750" spc="-250" b="1">
                <a:latin typeface="Arial"/>
                <a:cs typeface="Arial"/>
              </a:rPr>
              <a:t>TOOLS </a:t>
            </a:r>
            <a:r>
              <a:rPr dirty="0" sz="1750" spc="-240" b="1">
                <a:latin typeface="Arial"/>
                <a:cs typeface="Arial"/>
              </a:rPr>
              <a:t>FOR </a:t>
            </a:r>
            <a:r>
              <a:rPr dirty="0" sz="1750" spc="-190" b="1">
                <a:latin typeface="Arial"/>
                <a:cs typeface="Arial"/>
              </a:rPr>
              <a:t>PRODUCTION</a:t>
            </a:r>
            <a:r>
              <a:rPr dirty="0" sz="1750" spc="-280" b="1">
                <a:latin typeface="Arial"/>
                <a:cs typeface="Arial"/>
              </a:rPr>
              <a:t> </a:t>
            </a:r>
            <a:r>
              <a:rPr dirty="0" sz="1750" spc="-175" b="1">
                <a:latin typeface="Arial"/>
                <a:cs typeface="Arial"/>
              </a:rPr>
              <a:t>PLANNING</a:t>
            </a:r>
            <a:endParaRPr sz="17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750"/>
              </a:spcBef>
            </a:pPr>
            <a:r>
              <a:rPr dirty="0" sz="1350" spc="-150" b="1">
                <a:latin typeface="Arial"/>
                <a:cs typeface="Arial"/>
              </a:rPr>
              <a:t>GANTT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85" b="1">
                <a:latin typeface="Arial"/>
                <a:cs typeface="Arial"/>
              </a:rPr>
              <a:t>CHART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35">
                <a:latin typeface="Arial"/>
                <a:cs typeface="Arial"/>
              </a:rPr>
              <a:t>Gantt </a:t>
            </a:r>
            <a:r>
              <a:rPr dirty="0" sz="1150" spc="-45">
                <a:latin typeface="Arial"/>
                <a:cs typeface="Arial"/>
              </a:rPr>
              <a:t>charts </a:t>
            </a:r>
            <a:r>
              <a:rPr dirty="0" sz="1150" spc="-50">
                <a:latin typeface="Arial"/>
                <a:cs typeface="Arial"/>
              </a:rPr>
              <a:t>are visual </a:t>
            </a:r>
            <a:r>
              <a:rPr dirty="0" sz="1150" spc="-70">
                <a:latin typeface="Arial"/>
                <a:cs typeface="Arial"/>
              </a:rPr>
              <a:t>aids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useful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loading </a:t>
            </a:r>
            <a:r>
              <a:rPr dirty="0" sz="1150" spc="-55">
                <a:latin typeface="Arial"/>
                <a:cs typeface="Arial"/>
              </a:rPr>
              <a:t>and scheduling.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name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derived 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 spc="-55">
                <a:latin typeface="Arial"/>
                <a:cs typeface="Arial"/>
              </a:rPr>
              <a:t>Henry </a:t>
            </a:r>
            <a:r>
              <a:rPr dirty="0" sz="1150" spc="-35">
                <a:latin typeface="Arial"/>
                <a:cs typeface="Arial"/>
              </a:rPr>
              <a:t>Gantt,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45">
                <a:latin typeface="Arial"/>
                <a:cs typeface="Arial"/>
              </a:rPr>
              <a:t>developed </a:t>
            </a:r>
            <a:r>
              <a:rPr dirty="0" sz="1150" spc="-25">
                <a:latin typeface="Arial"/>
                <a:cs typeface="Arial"/>
              </a:rPr>
              <a:t>them </a:t>
            </a:r>
            <a:r>
              <a:rPr dirty="0" sz="1150" spc="-20">
                <a:latin typeface="Arial"/>
                <a:cs typeface="Arial"/>
              </a:rPr>
              <a:t>in the late </a:t>
            </a:r>
            <a:r>
              <a:rPr dirty="0" sz="1150" spc="-65">
                <a:latin typeface="Arial"/>
                <a:cs typeface="Arial"/>
              </a:rPr>
              <a:t>1800s.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chart </a:t>
            </a:r>
            <a:r>
              <a:rPr dirty="0" sz="1150" spc="-65">
                <a:latin typeface="Arial"/>
                <a:cs typeface="Arial"/>
              </a:rPr>
              <a:t>shows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5">
                <a:latin typeface="Arial"/>
                <a:cs typeface="Arial"/>
              </a:rPr>
              <a:t>use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55">
                <a:latin typeface="Arial"/>
                <a:cs typeface="Arial"/>
              </a:rPr>
              <a:t>resources, </a:t>
            </a:r>
            <a:r>
              <a:rPr dirty="0" sz="1150" spc="-70">
                <a:latin typeface="Arial"/>
                <a:cs typeface="Arial"/>
              </a:rPr>
              <a:t>such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work </a:t>
            </a:r>
            <a:r>
              <a:rPr dirty="0" sz="1150" spc="-50">
                <a:latin typeface="Arial"/>
                <a:cs typeface="Arial"/>
              </a:rPr>
              <a:t>centers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labor.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When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0">
                <a:latin typeface="Arial"/>
                <a:cs typeface="Arial"/>
              </a:rPr>
              <a:t>loading, </a:t>
            </a:r>
            <a:r>
              <a:rPr dirty="0" sz="1150" spc="-35">
                <a:latin typeface="Arial"/>
                <a:cs typeface="Arial"/>
              </a:rPr>
              <a:t>Gantt </a:t>
            </a:r>
            <a:r>
              <a:rPr dirty="0" sz="1150" spc="-45">
                <a:latin typeface="Arial"/>
                <a:cs typeface="Arial"/>
              </a:rPr>
              <a:t>charts </a:t>
            </a:r>
            <a:r>
              <a:rPr dirty="0" sz="1150" spc="-50">
                <a:latin typeface="Arial"/>
                <a:cs typeface="Arial"/>
              </a:rPr>
              <a:t>show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loading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idle </a:t>
            </a:r>
            <a:r>
              <a:rPr dirty="0" sz="1150" spc="-35">
                <a:latin typeface="Arial"/>
                <a:cs typeface="Arial"/>
              </a:rPr>
              <a:t>times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several </a:t>
            </a:r>
            <a:r>
              <a:rPr dirty="0" sz="1150" spc="-35">
                <a:latin typeface="Arial"/>
                <a:cs typeface="Arial"/>
              </a:rPr>
              <a:t>departments,  </a:t>
            </a:r>
            <a:r>
              <a:rPr dirty="0" sz="1150" spc="-60">
                <a:latin typeface="Arial"/>
                <a:cs typeface="Arial"/>
              </a:rPr>
              <a:t>machines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facilities. </a:t>
            </a:r>
            <a:r>
              <a:rPr dirty="0" sz="1150" spc="-80">
                <a:latin typeface="Arial"/>
                <a:cs typeface="Arial"/>
              </a:rPr>
              <a:t>They </a:t>
            </a:r>
            <a:r>
              <a:rPr dirty="0" sz="1150" spc="-50">
                <a:latin typeface="Arial"/>
                <a:cs typeface="Arial"/>
              </a:rPr>
              <a:t>display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relative </a:t>
            </a:r>
            <a:r>
              <a:rPr dirty="0" sz="1150" spc="-40">
                <a:latin typeface="Arial"/>
                <a:cs typeface="Arial"/>
              </a:rPr>
              <a:t>workloads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manager  </a:t>
            </a:r>
            <a:r>
              <a:rPr dirty="0" sz="1150" spc="-55">
                <a:latin typeface="Arial"/>
                <a:cs typeface="Arial"/>
              </a:rPr>
              <a:t>knows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40">
                <a:latin typeface="Arial"/>
                <a:cs typeface="Arial"/>
              </a:rPr>
              <a:t>adjustments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appropriate. </a:t>
            </a: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20">
                <a:latin typeface="Arial"/>
                <a:cs typeface="Arial"/>
              </a:rPr>
              <a:t>work </a:t>
            </a:r>
            <a:r>
              <a:rPr dirty="0" sz="1150" spc="-35">
                <a:latin typeface="Arial"/>
                <a:cs typeface="Arial"/>
              </a:rPr>
              <a:t>center </a:t>
            </a:r>
            <a:r>
              <a:rPr dirty="0" sz="1150" spc="-70">
                <a:latin typeface="Arial"/>
                <a:cs typeface="Arial"/>
              </a:rPr>
              <a:t>becomes  </a:t>
            </a:r>
            <a:r>
              <a:rPr dirty="0" sz="1150" spc="-45">
                <a:latin typeface="Arial"/>
                <a:cs typeface="Arial"/>
              </a:rPr>
              <a:t>overloaded </a:t>
            </a:r>
            <a:r>
              <a:rPr dirty="0" sz="1150" spc="-55">
                <a:latin typeface="Arial"/>
                <a:cs typeface="Arial"/>
              </a:rPr>
              <a:t>employees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low-load </a:t>
            </a:r>
            <a:r>
              <a:rPr dirty="0" sz="1150" spc="-35">
                <a:latin typeface="Arial"/>
                <a:cs typeface="Arial"/>
              </a:rPr>
              <a:t>center </a:t>
            </a:r>
            <a:r>
              <a:rPr dirty="0" sz="1150" spc="-75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0">
                <a:latin typeface="Arial"/>
                <a:cs typeface="Arial"/>
              </a:rPr>
              <a:t>transferred </a:t>
            </a:r>
            <a:r>
              <a:rPr dirty="0" sz="1150" spc="-25">
                <a:latin typeface="Arial"/>
                <a:cs typeface="Arial"/>
              </a:rPr>
              <a:t>temporarily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increase 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workforce.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241300" marR="2955290" indent="-228600">
              <a:lnSpc>
                <a:spcPct val="101699"/>
              </a:lnSpc>
              <a:spcBef>
                <a:spcPts val="5"/>
              </a:spcBef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short </a:t>
            </a:r>
            <a:r>
              <a:rPr dirty="0" sz="1150" spc="-30">
                <a:latin typeface="Arial"/>
                <a:cs typeface="Arial"/>
              </a:rPr>
              <a:t>this chart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following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purposes 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30">
                <a:latin typeface="Arial"/>
                <a:cs typeface="Arial"/>
              </a:rPr>
              <a:t>chart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scheduling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purposes.</a:t>
            </a:r>
            <a:endParaRPr sz="1150">
              <a:latin typeface="Arial"/>
              <a:cs typeface="Arial"/>
            </a:endParaRPr>
          </a:p>
          <a:p>
            <a:pPr algn="just" marL="241300" marR="1184275">
              <a:lnSpc>
                <a:spcPct val="101699"/>
              </a:lnSpc>
            </a:pPr>
            <a:r>
              <a:rPr dirty="0" sz="1150" spc="-75">
                <a:latin typeface="Arial"/>
                <a:cs typeface="Arial"/>
              </a:rPr>
              <a:t>Bar </a:t>
            </a:r>
            <a:r>
              <a:rPr dirty="0" sz="1150" spc="-45">
                <a:latin typeface="Arial"/>
                <a:cs typeface="Arial"/>
              </a:rPr>
              <a:t>charts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drawn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60">
                <a:latin typeface="Arial"/>
                <a:cs typeface="Arial"/>
              </a:rPr>
              <a:t>schedule. </a:t>
            </a:r>
            <a:r>
              <a:rPr dirty="0" sz="1150" spc="-105">
                <a:latin typeface="Arial"/>
                <a:cs typeface="Arial"/>
              </a:rPr>
              <a:t>Each </a:t>
            </a:r>
            <a:r>
              <a:rPr dirty="0" sz="1150" spc="-40">
                <a:latin typeface="Arial"/>
                <a:cs typeface="Arial"/>
              </a:rPr>
              <a:t>bar </a:t>
            </a:r>
            <a:r>
              <a:rPr dirty="0" sz="1150" spc="-65">
                <a:latin typeface="Arial"/>
                <a:cs typeface="Arial"/>
              </a:rPr>
              <a:t>describes an </a:t>
            </a:r>
            <a:r>
              <a:rPr dirty="0" sz="1150" spc="-25">
                <a:latin typeface="Arial"/>
                <a:cs typeface="Arial"/>
              </a:rPr>
              <a:t>activity.  </a:t>
            </a:r>
            <a:r>
              <a:rPr dirty="0" sz="1150" spc="-80">
                <a:latin typeface="Arial"/>
                <a:cs typeface="Arial"/>
              </a:rPr>
              <a:t>This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chart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will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help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know,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which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activity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should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start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at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what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time.  </a:t>
            </a:r>
            <a:r>
              <a:rPr dirty="0" sz="1150" spc="-60">
                <a:latin typeface="Arial"/>
                <a:cs typeface="Arial"/>
              </a:rPr>
              <a:t>Comparison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planning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40">
                <a:latin typeface="Arial"/>
                <a:cs typeface="Arial"/>
              </a:rPr>
              <a:t>actual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output.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200" b="1">
                <a:latin typeface="Arial"/>
                <a:cs typeface="Arial"/>
              </a:rPr>
              <a:t>PERT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65" b="1">
                <a:latin typeface="Arial"/>
                <a:cs typeface="Arial"/>
              </a:rPr>
              <a:t>NETWORK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5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185">
                <a:latin typeface="Arial"/>
                <a:cs typeface="Arial"/>
              </a:rPr>
              <a:t>PERT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stands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60">
                <a:latin typeface="Arial"/>
                <a:cs typeface="Arial"/>
              </a:rPr>
              <a:t>Program </a:t>
            </a:r>
            <a:r>
              <a:rPr dirty="0" sz="1150" spc="-50">
                <a:latin typeface="Arial"/>
                <a:cs typeface="Arial"/>
              </a:rPr>
              <a:t>Evaluation </a:t>
            </a:r>
            <a:r>
              <a:rPr dirty="0" sz="1150" spc="-70">
                <a:latin typeface="Arial"/>
                <a:cs typeface="Arial"/>
              </a:rPr>
              <a:t>Review </a:t>
            </a:r>
            <a:r>
              <a:rPr dirty="0" sz="1150" spc="-55">
                <a:latin typeface="Arial"/>
                <a:cs typeface="Arial"/>
              </a:rPr>
              <a:t>Technique,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75">
                <a:latin typeface="Arial"/>
                <a:cs typeface="Arial"/>
              </a:rPr>
              <a:t>was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methodology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75">
                <a:latin typeface="Arial"/>
                <a:cs typeface="Arial"/>
              </a:rPr>
              <a:t>was  </a:t>
            </a:r>
            <a:r>
              <a:rPr dirty="0" sz="1150" spc="-45">
                <a:latin typeface="Arial"/>
                <a:cs typeface="Arial"/>
              </a:rPr>
              <a:t>developed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100">
                <a:latin typeface="Arial"/>
                <a:cs typeface="Arial"/>
              </a:rPr>
              <a:t>U.S. </a:t>
            </a:r>
            <a:r>
              <a:rPr dirty="0" sz="1150" spc="-75">
                <a:latin typeface="Arial"/>
                <a:cs typeface="Arial"/>
              </a:rPr>
              <a:t>Navy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0">
                <a:latin typeface="Arial"/>
                <a:cs typeface="Arial"/>
              </a:rPr>
              <a:t>1950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75">
                <a:latin typeface="Arial"/>
                <a:cs typeface="Arial"/>
              </a:rPr>
              <a:t>manage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Polaris </a:t>
            </a:r>
            <a:r>
              <a:rPr dirty="0" sz="1150" spc="-50">
                <a:latin typeface="Arial"/>
                <a:cs typeface="Arial"/>
              </a:rPr>
              <a:t>submarine missile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program.</a:t>
            </a:r>
            <a:endParaRPr sz="115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commonly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construction. </a:t>
            </a:r>
            <a:r>
              <a:rPr dirty="0" sz="1150" spc="-40">
                <a:latin typeface="Arial"/>
                <a:cs typeface="Arial"/>
              </a:rPr>
              <a:t>Pert </a:t>
            </a:r>
            <a:r>
              <a:rPr dirty="0" sz="1150" spc="-20">
                <a:latin typeface="Arial"/>
                <a:cs typeface="Arial"/>
              </a:rPr>
              <a:t>network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0">
                <a:latin typeface="Arial"/>
                <a:cs typeface="Arial"/>
              </a:rPr>
              <a:t>flow </a:t>
            </a:r>
            <a:r>
              <a:rPr dirty="0" sz="1150" spc="-30">
                <a:latin typeface="Arial"/>
                <a:cs typeface="Arial"/>
              </a:rPr>
              <a:t>chart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70">
                <a:latin typeface="Arial"/>
                <a:cs typeface="Arial"/>
              </a:rPr>
              <a:t>shows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sequence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activities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required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complete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project </a:t>
            </a:r>
            <a:r>
              <a:rPr dirty="0" sz="1150" spc="-55">
                <a:latin typeface="Arial"/>
                <a:cs typeface="Arial"/>
              </a:rPr>
              <a:t>along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15">
                <a:latin typeface="Arial"/>
                <a:cs typeface="Arial"/>
              </a:rPr>
              <a:t>time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0">
                <a:latin typeface="Arial"/>
                <a:cs typeface="Arial"/>
              </a:rPr>
              <a:t>cost </a:t>
            </a:r>
            <a:r>
              <a:rPr dirty="0" sz="1150" spc="-60">
                <a:latin typeface="Arial"/>
                <a:cs typeface="Arial"/>
              </a:rPr>
              <a:t>associated </a:t>
            </a:r>
            <a:r>
              <a:rPr dirty="0" sz="1150" spc="5">
                <a:latin typeface="Arial"/>
                <a:cs typeface="Arial"/>
              </a:rPr>
              <a:t>with  </a:t>
            </a:r>
            <a:r>
              <a:rPr dirty="0" sz="1150" spc="-65">
                <a:latin typeface="Arial"/>
                <a:cs typeface="Arial"/>
              </a:rPr>
              <a:t>each.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5">
                <a:latin typeface="Arial"/>
                <a:cs typeface="Arial"/>
              </a:rPr>
              <a:t>Major </a:t>
            </a:r>
            <a:r>
              <a:rPr dirty="0" sz="1150" spc="-30">
                <a:latin typeface="Arial"/>
                <a:cs typeface="Arial"/>
              </a:rPr>
              <a:t>difference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Gantt </a:t>
            </a:r>
            <a:r>
              <a:rPr dirty="0" sz="1150" spc="-55">
                <a:latin typeface="Arial"/>
                <a:cs typeface="Arial"/>
              </a:rPr>
              <a:t>Chart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40">
                <a:latin typeface="Arial"/>
                <a:cs typeface="Arial"/>
              </a:rPr>
              <a:t>Pert </a:t>
            </a:r>
            <a:r>
              <a:rPr dirty="0" sz="1150" spc="-50">
                <a:latin typeface="Arial"/>
                <a:cs typeface="Arial"/>
              </a:rPr>
              <a:t>is,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Gantt </a:t>
            </a:r>
            <a:r>
              <a:rPr dirty="0" sz="1150" spc="-30">
                <a:latin typeface="Arial"/>
                <a:cs typeface="Arial"/>
              </a:rPr>
              <a:t>chart </a:t>
            </a:r>
            <a:r>
              <a:rPr dirty="0" sz="1150" spc="-40">
                <a:latin typeface="Arial"/>
                <a:cs typeface="Arial"/>
              </a:rPr>
              <a:t>we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55">
                <a:latin typeface="Arial"/>
                <a:cs typeface="Arial"/>
              </a:rPr>
              <a:t>bars, </a:t>
            </a:r>
            <a:r>
              <a:rPr dirty="0" sz="1150" spc="-45">
                <a:latin typeface="Arial"/>
                <a:cs typeface="Arial"/>
              </a:rPr>
              <a:t>here </a:t>
            </a:r>
            <a:r>
              <a:rPr dirty="0" sz="1150" spc="-40">
                <a:latin typeface="Arial"/>
                <a:cs typeface="Arial"/>
              </a:rPr>
              <a:t>we </a:t>
            </a:r>
            <a:r>
              <a:rPr dirty="0" sz="1150" spc="-5">
                <a:latin typeface="Arial"/>
                <a:cs typeface="Arial"/>
              </a:rPr>
              <a:t>don’t </a:t>
            </a:r>
            <a:r>
              <a:rPr dirty="0" sz="1150" spc="-65">
                <a:latin typeface="Arial"/>
                <a:cs typeface="Arial"/>
              </a:rPr>
              <a:t>have  bars </a:t>
            </a:r>
            <a:r>
              <a:rPr dirty="0" sz="1150" spc="-45">
                <a:latin typeface="Arial"/>
                <a:cs typeface="Arial"/>
              </a:rPr>
              <a:t>here </a:t>
            </a:r>
            <a:r>
              <a:rPr dirty="0" sz="1150" spc="-40">
                <a:latin typeface="Arial"/>
                <a:cs typeface="Arial"/>
              </a:rPr>
              <a:t>we </a:t>
            </a:r>
            <a:r>
              <a:rPr dirty="0" sz="1150" spc="-65">
                <a:latin typeface="Arial"/>
                <a:cs typeface="Arial"/>
              </a:rPr>
              <a:t>have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diagrams.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60">
                <a:latin typeface="Arial"/>
                <a:cs typeface="Arial"/>
              </a:rPr>
              <a:t>Components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85">
                <a:latin typeface="Arial"/>
                <a:cs typeface="Arial"/>
              </a:rPr>
              <a:t>PERT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Chart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40">
                <a:latin typeface="Arial"/>
                <a:cs typeface="Arial"/>
              </a:rPr>
              <a:t>Pert </a:t>
            </a:r>
            <a:r>
              <a:rPr dirty="0" sz="1150" spc="-30">
                <a:latin typeface="Arial"/>
                <a:cs typeface="Arial"/>
              </a:rPr>
              <a:t>chart </a:t>
            </a:r>
            <a:r>
              <a:rPr dirty="0" sz="1150" spc="-35">
                <a:latin typeface="Arial"/>
                <a:cs typeface="Arial"/>
              </a:rPr>
              <a:t>provide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details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05" b="1">
                <a:latin typeface="Arial"/>
                <a:cs typeface="Arial"/>
              </a:rPr>
              <a:t>Events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85">
                <a:latin typeface="Arial"/>
                <a:cs typeface="Arial"/>
              </a:rPr>
              <a:t>Show </a:t>
            </a:r>
            <a:r>
              <a:rPr dirty="0" sz="1150" spc="-50">
                <a:latin typeface="Arial"/>
                <a:cs typeface="Arial"/>
              </a:rPr>
              <a:t>end </a:t>
            </a:r>
            <a:r>
              <a:rPr dirty="0" sz="1150" spc="-30">
                <a:latin typeface="Arial"/>
                <a:cs typeface="Arial"/>
              </a:rPr>
              <a:t>points </a:t>
            </a:r>
            <a:r>
              <a:rPr dirty="0" sz="1150" spc="-35">
                <a:latin typeface="Arial"/>
                <a:cs typeface="Arial"/>
              </a:rPr>
              <a:t>where </a:t>
            </a:r>
            <a:r>
              <a:rPr dirty="0" sz="1150" spc="-45">
                <a:latin typeface="Arial"/>
                <a:cs typeface="Arial"/>
              </a:rPr>
              <a:t>we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reach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75" b="1">
                <a:latin typeface="Arial"/>
                <a:cs typeface="Arial"/>
              </a:rPr>
              <a:t>Activities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45">
                <a:latin typeface="Arial"/>
                <a:cs typeface="Arial"/>
              </a:rPr>
              <a:t>Include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complete </a:t>
            </a:r>
            <a:r>
              <a:rPr dirty="0" sz="1150" spc="-65">
                <a:latin typeface="Arial"/>
                <a:cs typeface="Arial"/>
              </a:rPr>
              <a:t>any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project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166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2529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20" b="1">
                <a:latin typeface="Arial"/>
                <a:cs typeface="Arial"/>
              </a:rPr>
              <a:t>Slack</a:t>
            </a:r>
            <a:r>
              <a:rPr dirty="0" sz="1150" spc="-60" b="1">
                <a:latin typeface="Arial"/>
                <a:cs typeface="Arial"/>
              </a:rPr>
              <a:t> </a:t>
            </a:r>
            <a:r>
              <a:rPr dirty="0" sz="1150" spc="-45" b="1">
                <a:latin typeface="Arial"/>
                <a:cs typeface="Arial"/>
              </a:rPr>
              <a:t>time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60">
                <a:latin typeface="Arial"/>
                <a:cs typeface="Arial"/>
              </a:rPr>
              <a:t>Represent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delay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75">
                <a:latin typeface="Arial"/>
                <a:cs typeface="Arial"/>
              </a:rPr>
              <a:t>each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activity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75" b="1">
                <a:latin typeface="Arial"/>
                <a:cs typeface="Arial"/>
              </a:rPr>
              <a:t>Critical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60" b="1">
                <a:latin typeface="Arial"/>
                <a:cs typeface="Arial"/>
              </a:rPr>
              <a:t>path</a:t>
            </a:r>
            <a:endParaRPr sz="1150">
              <a:latin typeface="Arial"/>
              <a:cs typeface="Arial"/>
            </a:endParaRPr>
          </a:p>
          <a:p>
            <a:pPr marL="12700" marR="10922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Pert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chart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used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determine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critical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path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each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activity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15">
                <a:latin typeface="Arial"/>
                <a:cs typeface="Arial"/>
              </a:rPr>
              <a:t>&amp;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determine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maximum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time  </a:t>
            </a:r>
            <a:r>
              <a:rPr dirty="0" sz="1150" spc="-60">
                <a:latin typeface="Arial"/>
                <a:cs typeface="Arial"/>
              </a:rPr>
              <a:t>consumed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70">
                <a:latin typeface="Arial"/>
                <a:cs typeface="Arial"/>
              </a:rPr>
              <a:t>each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project.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210" b="1">
                <a:latin typeface="Arial"/>
                <a:cs typeface="Arial"/>
              </a:rPr>
              <a:t>CHALLENGES </a:t>
            </a:r>
            <a:r>
              <a:rPr dirty="0" sz="1350" spc="-195" b="1">
                <a:latin typeface="Arial"/>
                <a:cs typeface="Arial"/>
              </a:rPr>
              <a:t>FOR </a:t>
            </a:r>
            <a:r>
              <a:rPr dirty="0" sz="1350" spc="-145" b="1">
                <a:latin typeface="Arial"/>
                <a:cs typeface="Arial"/>
              </a:rPr>
              <a:t>MATERIAL</a:t>
            </a:r>
            <a:r>
              <a:rPr dirty="0" sz="1350" spc="-170" b="1">
                <a:latin typeface="Arial"/>
                <a:cs typeface="Arial"/>
              </a:rPr>
              <a:t> </a:t>
            </a:r>
            <a:r>
              <a:rPr dirty="0" sz="1350" spc="-125" b="1">
                <a:latin typeface="Arial"/>
                <a:cs typeface="Arial"/>
              </a:rPr>
              <a:t>MANAGEMENT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  <a:tabLst>
                <a:tab pos="697865" algn="l"/>
              </a:tabLst>
            </a:pPr>
            <a:r>
              <a:rPr dirty="0" sz="1150" spc="-25" b="1">
                <a:latin typeface="Arial"/>
                <a:cs typeface="Arial"/>
              </a:rPr>
              <a:t>i.</a:t>
            </a:r>
            <a:r>
              <a:rPr dirty="0" sz="1150" spc="-25">
                <a:latin typeface="Times New Roman"/>
                <a:cs typeface="Times New Roman"/>
              </a:rPr>
              <a:t>	</a:t>
            </a:r>
            <a:r>
              <a:rPr dirty="0" sz="1150" spc="-85" b="1">
                <a:latin typeface="Arial"/>
                <a:cs typeface="Arial"/>
              </a:rPr>
              <a:t>Flow </a:t>
            </a:r>
            <a:r>
              <a:rPr dirty="0" sz="1150" spc="-50" b="1">
                <a:latin typeface="Arial"/>
                <a:cs typeface="Arial"/>
              </a:rPr>
              <a:t>of</a:t>
            </a:r>
            <a:r>
              <a:rPr dirty="0" sz="1150" spc="-35" b="1">
                <a:latin typeface="Arial"/>
                <a:cs typeface="Arial"/>
              </a:rPr>
              <a:t> </a:t>
            </a:r>
            <a:r>
              <a:rPr dirty="0" sz="1150" spc="-55" b="1">
                <a:latin typeface="Arial"/>
                <a:cs typeface="Arial"/>
              </a:rPr>
              <a:t>material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6985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55">
                <a:latin typeface="Arial"/>
                <a:cs typeface="Arial"/>
              </a:rPr>
              <a:t>Flow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material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10">
                <a:latin typeface="Arial"/>
                <a:cs typeface="Arial"/>
              </a:rPr>
              <a:t>important </a:t>
            </a:r>
            <a:r>
              <a:rPr dirty="0" sz="1150" spc="-20">
                <a:latin typeface="Arial"/>
                <a:cs typeface="Arial"/>
              </a:rPr>
              <a:t>factor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95">
                <a:latin typeface="Arial"/>
                <a:cs typeface="Arial"/>
              </a:rPr>
              <a:t>success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competitiveness. </a:t>
            </a:r>
            <a:r>
              <a:rPr dirty="0" sz="1150" spc="15">
                <a:latin typeface="Arial"/>
                <a:cs typeface="Arial"/>
              </a:rPr>
              <a:t>It  </a:t>
            </a:r>
            <a:r>
              <a:rPr dirty="0" sz="1150" spc="-50">
                <a:latin typeface="Arial"/>
                <a:cs typeface="Arial"/>
              </a:rPr>
              <a:t>involves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-45">
                <a:latin typeface="Arial"/>
                <a:cs typeface="Arial"/>
              </a:rPr>
              <a:t>planning, </a:t>
            </a:r>
            <a:r>
              <a:rPr dirty="0" sz="1150" spc="-55">
                <a:latin typeface="Arial"/>
                <a:cs typeface="Arial"/>
              </a:rPr>
              <a:t>purchasing, </a:t>
            </a:r>
            <a:r>
              <a:rPr dirty="0" sz="1150" spc="-60">
                <a:latin typeface="Arial"/>
                <a:cs typeface="Arial"/>
              </a:rPr>
              <a:t>Just-In-Time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inventory  </a:t>
            </a:r>
            <a:r>
              <a:rPr dirty="0" sz="1150" spc="-50">
                <a:latin typeface="Arial"/>
                <a:cs typeface="Arial"/>
              </a:rPr>
              <a:t>management.</a:t>
            </a:r>
            <a:endParaRPr sz="115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167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58900" y="3577846"/>
            <a:ext cx="1377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35" b="1">
                <a:latin typeface="Arial"/>
                <a:cs typeface="Arial"/>
              </a:rPr>
              <a:t>ii</a:t>
            </a:r>
            <a:r>
              <a:rPr dirty="0" sz="1150" spc="-15" b="1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6100" y="3577846"/>
            <a:ext cx="98679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75" b="1">
                <a:latin typeface="Arial"/>
                <a:cs typeface="Arial"/>
              </a:rPr>
              <a:t>Standardization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0300" y="3934462"/>
            <a:ext cx="5513705" cy="944244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697865" marR="5080">
              <a:lnSpc>
                <a:spcPct val="101299"/>
              </a:lnSpc>
              <a:spcBef>
                <a:spcPts val="8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standard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document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5">
                <a:latin typeface="Arial"/>
                <a:cs typeface="Arial"/>
              </a:rPr>
              <a:t>establishes </a:t>
            </a:r>
            <a:r>
              <a:rPr dirty="0" sz="1150" spc="-20">
                <a:latin typeface="Arial"/>
                <a:cs typeface="Arial"/>
              </a:rPr>
              <a:t>uniform </a:t>
            </a:r>
            <a:r>
              <a:rPr dirty="0" sz="1150" spc="-50">
                <a:latin typeface="Arial"/>
                <a:cs typeface="Arial"/>
              </a:rPr>
              <a:t>engineering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0">
                <a:latin typeface="Arial"/>
                <a:cs typeface="Arial"/>
              </a:rPr>
              <a:t>technical  </a:t>
            </a:r>
            <a:r>
              <a:rPr dirty="0" sz="1150" spc="-45">
                <a:latin typeface="Arial"/>
                <a:cs typeface="Arial"/>
              </a:rPr>
              <a:t>specifications, </a:t>
            </a:r>
            <a:r>
              <a:rPr dirty="0" sz="1150" spc="-20">
                <a:latin typeface="Arial"/>
                <a:cs typeface="Arial"/>
              </a:rPr>
              <a:t>criteria, </a:t>
            </a:r>
            <a:r>
              <a:rPr dirty="0" sz="1150" spc="-40">
                <a:latin typeface="Arial"/>
                <a:cs typeface="Arial"/>
              </a:rPr>
              <a:t>methods, </a:t>
            </a:r>
            <a:r>
              <a:rPr dirty="0" sz="1150" spc="-70">
                <a:latin typeface="Arial"/>
                <a:cs typeface="Arial"/>
              </a:rPr>
              <a:t>processes,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5">
                <a:latin typeface="Arial"/>
                <a:cs typeface="Arial"/>
              </a:rPr>
              <a:t>practices. </a:t>
            </a:r>
            <a:r>
              <a:rPr dirty="0" sz="1150" spc="-90">
                <a:latin typeface="Arial"/>
                <a:cs typeface="Arial"/>
              </a:rPr>
              <a:t>Thus </a:t>
            </a:r>
            <a:r>
              <a:rPr dirty="0" sz="1150" spc="-45">
                <a:latin typeface="Arial"/>
                <a:cs typeface="Arial"/>
              </a:rPr>
              <a:t>Standardization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developing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agreeing </a:t>
            </a:r>
            <a:r>
              <a:rPr dirty="0" sz="1150" spc="-40">
                <a:latin typeface="Arial"/>
                <a:cs typeface="Arial"/>
              </a:rPr>
              <a:t>upon </a:t>
            </a:r>
            <a:r>
              <a:rPr dirty="0" sz="1150" spc="-35">
                <a:latin typeface="Arial"/>
                <a:cs typeface="Arial"/>
              </a:rPr>
              <a:t>technical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standards.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14" b="1">
                <a:latin typeface="Arial"/>
                <a:cs typeface="Arial"/>
              </a:rPr>
              <a:t>Areas </a:t>
            </a:r>
            <a:r>
              <a:rPr dirty="0" sz="1350" spc="-55" b="1">
                <a:latin typeface="Arial"/>
                <a:cs typeface="Arial"/>
              </a:rPr>
              <a:t>for </a:t>
            </a:r>
            <a:r>
              <a:rPr dirty="0" sz="1350" spc="-45" b="1">
                <a:latin typeface="Arial"/>
                <a:cs typeface="Arial"/>
              </a:rPr>
              <a:t>Material</a:t>
            </a:r>
            <a:r>
              <a:rPr dirty="0" sz="1350" spc="-60" b="1">
                <a:latin typeface="Arial"/>
                <a:cs typeface="Arial"/>
              </a:rPr>
              <a:t> </a:t>
            </a:r>
            <a:r>
              <a:rPr dirty="0" sz="1350" spc="-75" b="1">
                <a:latin typeface="Arial"/>
                <a:cs typeface="Arial"/>
              </a:rPr>
              <a:t>Management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8900" y="5034789"/>
            <a:ext cx="10160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35" b="1">
                <a:latin typeface="Arial"/>
                <a:cs typeface="Arial"/>
              </a:rPr>
              <a:t>i</a:t>
            </a:r>
            <a:r>
              <a:rPr dirty="0" sz="1150" spc="-15" b="1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6100" y="5034789"/>
            <a:ext cx="4826635" cy="1627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75" b="1">
                <a:latin typeface="Arial"/>
                <a:cs typeface="Arial"/>
              </a:rPr>
              <a:t>Transportation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55">
                <a:latin typeface="Arial"/>
                <a:cs typeface="Arial"/>
              </a:rPr>
              <a:t>How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15">
                <a:latin typeface="Arial"/>
                <a:cs typeface="Arial"/>
              </a:rPr>
              <a:t>&amp;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through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which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medium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materials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will</a:t>
            </a:r>
            <a:r>
              <a:rPr dirty="0" sz="1150" spc="-55">
                <a:latin typeface="Arial"/>
                <a:cs typeface="Arial"/>
              </a:rPr>
              <a:t> be</a:t>
            </a:r>
            <a:r>
              <a:rPr dirty="0" sz="1150" spc="-50">
                <a:latin typeface="Arial"/>
                <a:cs typeface="Arial"/>
              </a:rPr>
              <a:t> received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form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95" b="1">
                <a:latin typeface="Arial"/>
                <a:cs typeface="Arial"/>
              </a:rPr>
              <a:t>Storage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5">
                <a:latin typeface="Arial"/>
                <a:cs typeface="Arial"/>
              </a:rPr>
              <a:t>manners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70">
                <a:latin typeface="Arial"/>
                <a:cs typeface="Arial"/>
              </a:rPr>
              <a:t>sequence </a:t>
            </a:r>
            <a:r>
              <a:rPr dirty="0" sz="1150" spc="-40">
                <a:latin typeface="Arial"/>
                <a:cs typeface="Arial"/>
              </a:rPr>
              <a:t>materials </a:t>
            </a:r>
            <a:r>
              <a:rPr dirty="0" sz="1150">
                <a:latin typeface="Arial"/>
                <a:cs typeface="Arial"/>
              </a:rPr>
              <a:t>will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5">
                <a:latin typeface="Arial"/>
                <a:cs typeface="Arial"/>
              </a:rPr>
              <a:t>stored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105" b="1">
                <a:latin typeface="Arial"/>
                <a:cs typeface="Arial"/>
              </a:rPr>
              <a:t>Record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100" b="1">
                <a:latin typeface="Arial"/>
                <a:cs typeface="Arial"/>
              </a:rPr>
              <a:t>Keeping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How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record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5">
                <a:latin typeface="Arial"/>
                <a:cs typeface="Arial"/>
              </a:rPr>
              <a:t>maintained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materials </a:t>
            </a:r>
            <a:r>
              <a:rPr dirty="0" sz="1150" spc="-50">
                <a:latin typeface="Arial"/>
                <a:cs typeface="Arial"/>
              </a:rPr>
              <a:t>available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35">
                <a:latin typeface="Arial"/>
                <a:cs typeface="Arial"/>
              </a:rPr>
              <a:t>stored  </a:t>
            </a:r>
            <a:r>
              <a:rPr dirty="0" sz="1150" spc="-15">
                <a:latin typeface="Arial"/>
                <a:cs typeface="Arial"/>
              </a:rPr>
              <a:t>form.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65" b="1">
                <a:latin typeface="Arial"/>
                <a:cs typeface="Arial"/>
              </a:rPr>
              <a:t>Inventory </a:t>
            </a:r>
            <a:r>
              <a:rPr dirty="0" sz="1150" spc="-75" b="1">
                <a:latin typeface="Arial"/>
                <a:cs typeface="Arial"/>
              </a:rPr>
              <a:t>control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5">
                <a:latin typeface="Arial"/>
                <a:cs typeface="Arial"/>
              </a:rPr>
              <a:t>further </a:t>
            </a:r>
            <a:r>
              <a:rPr dirty="0" sz="1150" spc="-60">
                <a:latin typeface="Arial"/>
                <a:cs typeface="Arial"/>
              </a:rPr>
              <a:t>covers </a:t>
            </a:r>
            <a:r>
              <a:rPr dirty="0" sz="1150" spc="5">
                <a:latin typeface="Arial"/>
                <a:cs typeface="Arial"/>
              </a:rPr>
              <a:t>two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parts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8902" y="5391405"/>
            <a:ext cx="1377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35" b="1">
                <a:latin typeface="Arial"/>
                <a:cs typeface="Arial"/>
              </a:rPr>
              <a:t>ii</a:t>
            </a:r>
            <a:r>
              <a:rPr dirty="0" sz="1150" spc="-15" b="1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8902" y="5748021"/>
            <a:ext cx="17335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35" b="1">
                <a:latin typeface="Arial"/>
                <a:cs typeface="Arial"/>
              </a:rPr>
              <a:t>ii</a:t>
            </a:r>
            <a:r>
              <a:rPr dirty="0" sz="1150" spc="-50" b="1">
                <a:latin typeface="Arial"/>
                <a:cs typeface="Arial"/>
              </a:rPr>
              <a:t>i</a:t>
            </a:r>
            <a:r>
              <a:rPr dirty="0" sz="1150" spc="-15" b="1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58901" y="6282945"/>
            <a:ext cx="17018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35" b="1">
                <a:latin typeface="Arial"/>
                <a:cs typeface="Arial"/>
              </a:rPr>
              <a:t>i</a:t>
            </a:r>
            <a:r>
              <a:rPr dirty="0" sz="1150" spc="-105" b="1">
                <a:latin typeface="Arial"/>
                <a:cs typeface="Arial"/>
              </a:rPr>
              <a:t>v</a:t>
            </a:r>
            <a:r>
              <a:rPr dirty="0" sz="1150" spc="-15" b="1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44700" y="6639561"/>
            <a:ext cx="137160" cy="55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5">
                <a:latin typeface="Arial"/>
                <a:cs typeface="Arial"/>
              </a:rPr>
              <a:t>1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55">
                <a:latin typeface="Arial"/>
                <a:cs typeface="Arial"/>
              </a:rPr>
              <a:t>2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55">
                <a:latin typeface="Arial"/>
                <a:cs typeface="Arial"/>
              </a:rPr>
              <a:t>3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01899" y="6639561"/>
            <a:ext cx="1242060" cy="558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227965">
              <a:lnSpc>
                <a:spcPct val="101699"/>
              </a:lnSpc>
              <a:spcBef>
                <a:spcPts val="75"/>
              </a:spcBef>
            </a:pPr>
            <a:r>
              <a:rPr dirty="0" sz="1150" spc="-30">
                <a:latin typeface="Arial"/>
                <a:cs typeface="Arial"/>
              </a:rPr>
              <a:t>Quantity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Control  </a:t>
            </a:r>
            <a:r>
              <a:rPr dirty="0" sz="1150" spc="-80">
                <a:latin typeface="Arial"/>
                <a:cs typeface="Arial"/>
              </a:rPr>
              <a:t>Cost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Control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hand </a:t>
            </a:r>
            <a:r>
              <a:rPr dirty="0" sz="1150" spc="-45">
                <a:latin typeface="Arial"/>
                <a:cs typeface="Arial"/>
              </a:rPr>
              <a:t>stock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details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30299" y="7352793"/>
            <a:ext cx="138811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30" b="1">
                <a:latin typeface="Arial"/>
                <a:cs typeface="Arial"/>
              </a:rPr>
              <a:t>Costing </a:t>
            </a:r>
            <a:r>
              <a:rPr dirty="0" sz="1350" spc="-60" b="1">
                <a:latin typeface="Arial"/>
                <a:cs typeface="Arial"/>
              </a:rPr>
              <a:t>of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40" b="1">
                <a:latin typeface="Arial"/>
                <a:cs typeface="Arial"/>
              </a:rPr>
              <a:t>Material</a:t>
            </a:r>
            <a:endParaRPr sz="1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58900" y="7770369"/>
            <a:ext cx="10160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35" b="1">
                <a:latin typeface="Arial"/>
                <a:cs typeface="Arial"/>
              </a:rPr>
              <a:t>i</a:t>
            </a:r>
            <a:r>
              <a:rPr dirty="0" sz="1150" spc="-15" b="1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16100" y="7770369"/>
            <a:ext cx="4825365" cy="55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30" b="1">
                <a:latin typeface="Arial"/>
                <a:cs typeface="Arial"/>
              </a:rPr>
              <a:t>LIFO </a:t>
            </a:r>
            <a:r>
              <a:rPr dirty="0" sz="1150" spc="-70" b="1">
                <a:latin typeface="Arial"/>
                <a:cs typeface="Arial"/>
              </a:rPr>
              <a:t>– </a:t>
            </a:r>
            <a:r>
              <a:rPr dirty="0" sz="1150" spc="-114" b="1">
                <a:latin typeface="Arial"/>
                <a:cs typeface="Arial"/>
              </a:rPr>
              <a:t>Last </a:t>
            </a:r>
            <a:r>
              <a:rPr dirty="0" sz="1150" spc="-60" b="1">
                <a:latin typeface="Arial"/>
                <a:cs typeface="Arial"/>
              </a:rPr>
              <a:t>in </a:t>
            </a:r>
            <a:r>
              <a:rPr dirty="0" sz="1150" spc="-90" b="1">
                <a:latin typeface="Arial"/>
                <a:cs typeface="Arial"/>
              </a:rPr>
              <a:t>First</a:t>
            </a:r>
            <a:r>
              <a:rPr dirty="0" sz="1150" spc="60" b="1">
                <a:latin typeface="Arial"/>
                <a:cs typeface="Arial"/>
              </a:rPr>
              <a:t> </a:t>
            </a:r>
            <a:r>
              <a:rPr dirty="0" sz="1150" spc="-55" b="1">
                <a:latin typeface="Arial"/>
                <a:cs typeface="Arial"/>
              </a:rPr>
              <a:t>out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25">
                <a:latin typeface="Arial"/>
                <a:cs typeface="Arial"/>
              </a:rPr>
              <a:t>method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most </a:t>
            </a:r>
            <a:r>
              <a:rPr dirty="0" sz="1150" spc="-30">
                <a:latin typeface="Arial"/>
                <a:cs typeface="Arial"/>
              </a:rPr>
              <a:t>recently </a:t>
            </a:r>
            <a:r>
              <a:rPr dirty="0" sz="1150" spc="-60">
                <a:latin typeface="Arial"/>
                <a:cs typeface="Arial"/>
              </a:rPr>
              <a:t>purchased </a:t>
            </a:r>
            <a:r>
              <a:rPr dirty="0" sz="1150" spc="-30">
                <a:latin typeface="Arial"/>
                <a:cs typeface="Arial"/>
              </a:rPr>
              <a:t>units </a:t>
            </a:r>
            <a:r>
              <a:rPr dirty="0" sz="1150" spc="-50">
                <a:latin typeface="Arial"/>
                <a:cs typeface="Arial"/>
              </a:rPr>
              <a:t>are sold </a:t>
            </a:r>
            <a:r>
              <a:rPr dirty="0" sz="1150" spc="-5">
                <a:latin typeface="Arial"/>
                <a:cs typeface="Arial"/>
              </a:rPr>
              <a:t>first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25">
                <a:latin typeface="Arial"/>
                <a:cs typeface="Arial"/>
              </a:rPr>
              <a:t>older </a:t>
            </a:r>
            <a:r>
              <a:rPr dirty="0" sz="1150" spc="-30">
                <a:latin typeface="Arial"/>
                <a:cs typeface="Arial"/>
              </a:rPr>
              <a:t>units </a:t>
            </a:r>
            <a:r>
              <a:rPr dirty="0" sz="1150" spc="-35">
                <a:latin typeface="Arial"/>
                <a:cs typeface="Arial"/>
              </a:rPr>
              <a:t>remain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inventory.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58901" y="8483600"/>
            <a:ext cx="1377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35" b="1">
                <a:latin typeface="Arial"/>
                <a:cs typeface="Arial"/>
              </a:rPr>
              <a:t>ii</a:t>
            </a:r>
            <a:r>
              <a:rPr dirty="0" sz="1150" spc="-15" b="1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16100" y="8483600"/>
            <a:ext cx="4826635" cy="55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20" b="1">
                <a:latin typeface="Arial"/>
                <a:cs typeface="Arial"/>
              </a:rPr>
              <a:t>FIFO </a:t>
            </a:r>
            <a:r>
              <a:rPr dirty="0" sz="1150" spc="-70" b="1">
                <a:latin typeface="Arial"/>
                <a:cs typeface="Arial"/>
              </a:rPr>
              <a:t>– </a:t>
            </a:r>
            <a:r>
              <a:rPr dirty="0" sz="1150" spc="-85" b="1">
                <a:latin typeface="Arial"/>
                <a:cs typeface="Arial"/>
              </a:rPr>
              <a:t>First </a:t>
            </a:r>
            <a:r>
              <a:rPr dirty="0" sz="1150" spc="-70" b="1">
                <a:latin typeface="Arial"/>
                <a:cs typeface="Arial"/>
              </a:rPr>
              <a:t>in </a:t>
            </a:r>
            <a:r>
              <a:rPr dirty="0" sz="1150" spc="-90" b="1">
                <a:latin typeface="Arial"/>
                <a:cs typeface="Arial"/>
              </a:rPr>
              <a:t>First</a:t>
            </a:r>
            <a:r>
              <a:rPr dirty="0" sz="1150" spc="40" b="1">
                <a:latin typeface="Arial"/>
                <a:cs typeface="Arial"/>
              </a:rPr>
              <a:t> </a:t>
            </a:r>
            <a:r>
              <a:rPr dirty="0" sz="1150" spc="-55" b="1">
                <a:latin typeface="Arial"/>
                <a:cs typeface="Arial"/>
              </a:rPr>
              <a:t>out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25">
                <a:latin typeface="Arial"/>
                <a:cs typeface="Arial"/>
              </a:rPr>
              <a:t>method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oldest </a:t>
            </a:r>
            <a:r>
              <a:rPr dirty="0" sz="1150" spc="-60">
                <a:latin typeface="Arial"/>
                <a:cs typeface="Arial"/>
              </a:rPr>
              <a:t>purchase </a:t>
            </a:r>
            <a:r>
              <a:rPr dirty="0" sz="1150" spc="-65">
                <a:latin typeface="Arial"/>
                <a:cs typeface="Arial"/>
              </a:rPr>
              <a:t>costs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transferred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cost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goods  </a:t>
            </a:r>
            <a:r>
              <a:rPr dirty="0" sz="1150" spc="-45">
                <a:latin typeface="Arial"/>
                <a:cs typeface="Arial"/>
              </a:rPr>
              <a:t>sold, </a:t>
            </a:r>
            <a:r>
              <a:rPr dirty="0" sz="1150" spc="-25">
                <a:latin typeface="Arial"/>
                <a:cs typeface="Arial"/>
              </a:rPr>
              <a:t>while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most recent </a:t>
            </a:r>
            <a:r>
              <a:rPr dirty="0" sz="1150" spc="-65">
                <a:latin typeface="Arial"/>
                <a:cs typeface="Arial"/>
              </a:rPr>
              <a:t>costs </a:t>
            </a:r>
            <a:r>
              <a:rPr dirty="0" sz="1150" spc="-40">
                <a:latin typeface="Arial"/>
                <a:cs typeface="Arial"/>
              </a:rPr>
              <a:t>remain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inventory.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358899" y="892559"/>
            <a:ext cx="17335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35" b="1">
                <a:latin typeface="Arial"/>
                <a:cs typeface="Arial"/>
              </a:rPr>
              <a:t>ii</a:t>
            </a:r>
            <a:r>
              <a:rPr dirty="0" sz="1150" spc="-50" b="1">
                <a:latin typeface="Arial"/>
                <a:cs typeface="Arial"/>
              </a:rPr>
              <a:t>i</a:t>
            </a:r>
            <a:r>
              <a:rPr dirty="0" sz="1150" spc="-15" b="1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168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16098" y="892559"/>
            <a:ext cx="4550410" cy="379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95" b="1">
                <a:latin typeface="Arial"/>
                <a:cs typeface="Arial"/>
              </a:rPr>
              <a:t>Average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105" b="1">
                <a:latin typeface="Arial"/>
                <a:cs typeface="Arial"/>
              </a:rPr>
              <a:t>cost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70">
                <a:latin typeface="Arial"/>
                <a:cs typeface="Arial"/>
              </a:rPr>
              <a:t>Average </a:t>
            </a:r>
            <a:r>
              <a:rPr dirty="0" sz="1150" spc="-50">
                <a:latin typeface="Arial"/>
                <a:cs typeface="Arial"/>
              </a:rPr>
              <a:t>cost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equal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>
                <a:latin typeface="Arial"/>
                <a:cs typeface="Arial"/>
              </a:rPr>
              <a:t>total </a:t>
            </a:r>
            <a:r>
              <a:rPr dirty="0" sz="1150" spc="-50">
                <a:latin typeface="Arial"/>
                <a:cs typeface="Arial"/>
              </a:rPr>
              <a:t>cost </a:t>
            </a:r>
            <a:r>
              <a:rPr dirty="0" sz="1150" spc="-35">
                <a:latin typeface="Arial"/>
                <a:cs typeface="Arial"/>
              </a:rPr>
              <a:t>divided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number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45">
                <a:latin typeface="Arial"/>
                <a:cs typeface="Arial"/>
              </a:rPr>
              <a:t>produced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0298" y="1427483"/>
            <a:ext cx="5511165" cy="1154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65" b="1">
                <a:latin typeface="Arial"/>
                <a:cs typeface="Arial"/>
              </a:rPr>
              <a:t>PURCHASING</a:t>
            </a:r>
            <a:r>
              <a:rPr dirty="0" sz="1350" spc="-65" b="1">
                <a:latin typeface="Arial"/>
                <a:cs typeface="Arial"/>
              </a:rPr>
              <a:t> </a:t>
            </a:r>
            <a:r>
              <a:rPr dirty="0" sz="1350" spc="-229" b="1">
                <a:latin typeface="Arial"/>
                <a:cs typeface="Arial"/>
              </a:rPr>
              <a:t>PROCESS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70">
                <a:latin typeface="Arial"/>
                <a:cs typeface="Arial"/>
              </a:rPr>
              <a:t>Purchasing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 spc="-25">
                <a:latin typeface="Arial"/>
                <a:cs typeface="Arial"/>
              </a:rPr>
              <a:t>through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40">
                <a:latin typeface="Arial"/>
                <a:cs typeface="Arial"/>
              </a:rPr>
              <a:t>materials </a:t>
            </a:r>
            <a:r>
              <a:rPr dirty="0" sz="1150" spc="-50">
                <a:latin typeface="Arial"/>
                <a:cs typeface="Arial"/>
              </a:rPr>
              <a:t>are selected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bring </a:t>
            </a:r>
            <a:r>
              <a:rPr dirty="0" sz="1150" spc="-10">
                <a:latin typeface="Arial"/>
                <a:cs typeface="Arial"/>
              </a:rPr>
              <a:t>in 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firm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perform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all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production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operations.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25" b="1">
                <a:latin typeface="Arial"/>
                <a:cs typeface="Arial"/>
              </a:rPr>
              <a:t>Steps </a:t>
            </a:r>
            <a:r>
              <a:rPr dirty="0" sz="1350" spc="-75" b="1">
                <a:latin typeface="Arial"/>
                <a:cs typeface="Arial"/>
              </a:rPr>
              <a:t>in </a:t>
            </a:r>
            <a:r>
              <a:rPr dirty="0" sz="1350" spc="-120" b="1">
                <a:latin typeface="Arial"/>
                <a:cs typeface="Arial"/>
              </a:rPr>
              <a:t>purchasing</a:t>
            </a:r>
            <a:r>
              <a:rPr dirty="0" sz="1350" spc="-35" b="1">
                <a:latin typeface="Arial"/>
                <a:cs typeface="Arial"/>
              </a:rPr>
              <a:t> </a:t>
            </a:r>
            <a:r>
              <a:rPr dirty="0" sz="1350" spc="-135" b="1">
                <a:latin typeface="Arial"/>
                <a:cs typeface="Arial"/>
              </a:rPr>
              <a:t>process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8903" y="2738123"/>
            <a:ext cx="194945" cy="1269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5">
                <a:latin typeface="Arial"/>
                <a:cs typeface="Arial"/>
              </a:rPr>
              <a:t>i.</a:t>
            </a:r>
            <a:endParaRPr sz="1150">
              <a:latin typeface="Arial"/>
              <a:cs typeface="Arial"/>
            </a:endParaRPr>
          </a:p>
          <a:p>
            <a:pPr algn="just" marL="12700" marR="36830">
              <a:lnSpc>
                <a:spcPct val="101299"/>
              </a:lnSpc>
              <a:spcBef>
                <a:spcPts val="5"/>
              </a:spcBef>
            </a:pPr>
            <a:r>
              <a:rPr dirty="0" sz="1150" spc="-10">
                <a:latin typeface="Arial"/>
                <a:cs typeface="Arial"/>
              </a:rPr>
              <a:t>ii.  </a:t>
            </a:r>
            <a:r>
              <a:rPr dirty="0" sz="1150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 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65">
                <a:latin typeface="Arial"/>
                <a:cs typeface="Arial"/>
              </a:rPr>
              <a:t>v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45">
                <a:latin typeface="Arial"/>
                <a:cs typeface="Arial"/>
              </a:rPr>
              <a:t>v.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30">
                <a:latin typeface="Arial"/>
                <a:cs typeface="Arial"/>
              </a:rPr>
              <a:t>vi.  </a:t>
            </a:r>
            <a:r>
              <a:rPr dirty="0" sz="1150" spc="-65">
                <a:latin typeface="Arial"/>
                <a:cs typeface="Arial"/>
              </a:rPr>
              <a:t>v</a:t>
            </a:r>
            <a:r>
              <a:rPr dirty="0" sz="1150">
                <a:latin typeface="Arial"/>
                <a:cs typeface="Arial"/>
              </a:rPr>
              <a:t>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16102" y="2738123"/>
            <a:ext cx="2267585" cy="12693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778510">
              <a:lnSpc>
                <a:spcPct val="101699"/>
              </a:lnSpc>
              <a:spcBef>
                <a:spcPts val="75"/>
              </a:spcBef>
            </a:pPr>
            <a:r>
              <a:rPr dirty="0" sz="1150" spc="-70">
                <a:latin typeface="Arial"/>
                <a:cs typeface="Arial"/>
              </a:rPr>
              <a:t>Select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right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suppliers  </a:t>
            </a:r>
            <a:r>
              <a:rPr dirty="0" sz="1150" spc="-65">
                <a:latin typeface="Arial"/>
                <a:cs typeface="Arial"/>
              </a:rPr>
              <a:t>Evaluate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suppliers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ts val="1400"/>
              </a:lnSpc>
              <a:spcBef>
                <a:spcPts val="45"/>
              </a:spcBef>
            </a:pPr>
            <a:r>
              <a:rPr dirty="0" sz="1150" spc="-65">
                <a:latin typeface="Arial"/>
                <a:cs typeface="Arial"/>
              </a:rPr>
              <a:t>Evaluate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capacity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each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supplier  </a:t>
            </a:r>
            <a:r>
              <a:rPr dirty="0" sz="1150" spc="-50">
                <a:latin typeface="Arial"/>
                <a:cs typeface="Arial"/>
              </a:rPr>
              <a:t>Short </a:t>
            </a:r>
            <a:r>
              <a:rPr dirty="0" sz="1150" spc="-15">
                <a:latin typeface="Arial"/>
                <a:cs typeface="Arial"/>
              </a:rPr>
              <a:t>list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appropriate </a:t>
            </a:r>
            <a:r>
              <a:rPr dirty="0" sz="1150" spc="-40">
                <a:latin typeface="Arial"/>
                <a:cs typeface="Arial"/>
              </a:rPr>
              <a:t>supplier  </a:t>
            </a:r>
            <a:r>
              <a:rPr dirty="0" sz="1150" spc="-30">
                <a:latin typeface="Arial"/>
                <a:cs typeface="Arial"/>
              </a:rPr>
              <a:t>Negotiation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7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prices</a:t>
            </a:r>
            <a:endParaRPr sz="1150">
              <a:latin typeface="Arial"/>
              <a:cs typeface="Arial"/>
            </a:endParaRPr>
          </a:p>
          <a:p>
            <a:pPr marL="12700" marR="130175">
              <a:lnSpc>
                <a:spcPts val="1400"/>
              </a:lnSpc>
              <a:spcBef>
                <a:spcPts val="10"/>
              </a:spcBef>
            </a:pPr>
            <a:r>
              <a:rPr dirty="0" sz="1150" spc="-40">
                <a:latin typeface="Arial"/>
                <a:cs typeface="Arial"/>
              </a:rPr>
              <a:t>Start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supply </a:t>
            </a:r>
            <a:r>
              <a:rPr dirty="0" sz="1150" spc="-40">
                <a:latin typeface="Arial"/>
                <a:cs typeface="Arial"/>
              </a:rPr>
              <a:t>transactions  </a:t>
            </a:r>
            <a:r>
              <a:rPr dirty="0" sz="1150" spc="-25">
                <a:latin typeface="Arial"/>
                <a:cs typeface="Arial"/>
              </a:rPr>
              <a:t>Maintain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long </a:t>
            </a:r>
            <a:r>
              <a:rPr dirty="0" sz="1150" spc="-10">
                <a:latin typeface="Arial"/>
                <a:cs typeface="Arial"/>
              </a:rPr>
              <a:t>term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relationship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0303" y="4163062"/>
            <a:ext cx="5514340" cy="27501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14" b="1">
                <a:latin typeface="Arial"/>
                <a:cs typeface="Arial"/>
              </a:rPr>
              <a:t>JUST-IN-TIME</a:t>
            </a:r>
            <a:r>
              <a:rPr dirty="0" sz="1350" spc="-70" b="1">
                <a:latin typeface="Arial"/>
                <a:cs typeface="Arial"/>
              </a:rPr>
              <a:t> </a:t>
            </a:r>
            <a:r>
              <a:rPr dirty="0" sz="1350" spc="-110" b="1">
                <a:latin typeface="Arial"/>
                <a:cs typeface="Arial"/>
              </a:rPr>
              <a:t>(JIT)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get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materials </a:t>
            </a:r>
            <a:r>
              <a:rPr dirty="0" sz="1150" spc="-45">
                <a:latin typeface="Arial"/>
                <a:cs typeface="Arial"/>
              </a:rPr>
              <a:t>exactly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time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demand. </a:t>
            </a: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60">
                <a:latin typeface="Arial"/>
                <a:cs typeface="Arial"/>
              </a:rPr>
              <a:t>mechanism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15">
                <a:latin typeface="Arial"/>
                <a:cs typeface="Arial"/>
              </a:rPr>
              <a:t>well  </a:t>
            </a:r>
            <a:r>
              <a:rPr dirty="0" sz="1150" spc="-35">
                <a:latin typeface="Arial"/>
                <a:cs typeface="Arial"/>
              </a:rPr>
              <a:t>maintained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only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when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our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supplier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have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our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full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inventory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details.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30">
                <a:latin typeface="Arial"/>
                <a:cs typeface="Arial"/>
              </a:rPr>
              <a:t>JIT </a:t>
            </a:r>
            <a:r>
              <a:rPr dirty="0" sz="1150" spc="-55">
                <a:latin typeface="Arial"/>
                <a:cs typeface="Arial"/>
              </a:rPr>
              <a:t>concepts </a:t>
            </a:r>
            <a:r>
              <a:rPr dirty="0" sz="1150" spc="-65">
                <a:latin typeface="Arial"/>
                <a:cs typeface="Arial"/>
              </a:rPr>
              <a:t>always </a:t>
            </a:r>
            <a:r>
              <a:rPr dirty="0" sz="1150" spc="-25">
                <a:latin typeface="Arial"/>
                <a:cs typeface="Arial"/>
              </a:rPr>
              <a:t>work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view; </a:t>
            </a:r>
            <a:r>
              <a:rPr dirty="0" sz="1150" spc="-45">
                <a:latin typeface="Arial"/>
                <a:cs typeface="Arial"/>
              </a:rPr>
              <a:t>we </a:t>
            </a:r>
            <a:r>
              <a:rPr dirty="0" sz="1150" spc="-50">
                <a:latin typeface="Arial"/>
                <a:cs typeface="Arial"/>
              </a:rPr>
              <a:t>much </a:t>
            </a:r>
            <a:r>
              <a:rPr dirty="0" sz="1150" spc="-70">
                <a:latin typeface="Arial"/>
                <a:cs typeface="Arial"/>
              </a:rPr>
              <a:t>have </a:t>
            </a:r>
            <a:r>
              <a:rPr dirty="0" sz="1150" spc="-35">
                <a:latin typeface="Arial"/>
                <a:cs typeface="Arial"/>
              </a:rPr>
              <a:t>reliable </a:t>
            </a:r>
            <a:r>
              <a:rPr dirty="0" sz="1150" spc="-50">
                <a:latin typeface="Arial"/>
                <a:cs typeface="Arial"/>
              </a:rPr>
              <a:t>suppliers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sufficient </a:t>
            </a:r>
            <a:r>
              <a:rPr dirty="0" sz="1150" spc="-50">
                <a:latin typeface="Arial"/>
                <a:cs typeface="Arial"/>
              </a:rPr>
              <a:t>No. </a:t>
            </a:r>
            <a:r>
              <a:rPr dirty="0" sz="1150" spc="-20">
                <a:latin typeface="Arial"/>
                <a:cs typeface="Arial"/>
              </a:rPr>
              <a:t>in 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serve </a:t>
            </a:r>
            <a:r>
              <a:rPr dirty="0" sz="1150" spc="-85">
                <a:latin typeface="Arial"/>
                <a:cs typeface="Arial"/>
              </a:rPr>
              <a:t>us </a:t>
            </a:r>
            <a:r>
              <a:rPr dirty="0" sz="1150" spc="-20">
                <a:latin typeface="Arial"/>
                <a:cs typeface="Arial"/>
              </a:rPr>
              <a:t>timely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best </a:t>
            </a:r>
            <a:r>
              <a:rPr dirty="0" sz="1150" spc="-55">
                <a:latin typeface="Arial"/>
                <a:cs typeface="Arial"/>
              </a:rPr>
              <a:t>manners. When </a:t>
            </a:r>
            <a:r>
              <a:rPr dirty="0" sz="1150" spc="-40">
                <a:latin typeface="Arial"/>
                <a:cs typeface="Arial"/>
              </a:rPr>
              <a:t>we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30">
                <a:latin typeface="Arial"/>
                <a:cs typeface="Arial"/>
              </a:rPr>
              <a:t>minimum </a:t>
            </a:r>
            <a:r>
              <a:rPr dirty="0" sz="1150" spc="-55">
                <a:latin typeface="Arial"/>
                <a:cs typeface="Arial"/>
              </a:rPr>
              <a:t>No.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orders </a:t>
            </a:r>
            <a:r>
              <a:rPr dirty="0" sz="1150" spc="-20">
                <a:latin typeface="Arial"/>
                <a:cs typeface="Arial"/>
              </a:rPr>
              <a:t>in our  </a:t>
            </a:r>
            <a:r>
              <a:rPr dirty="0" sz="1150" spc="-50">
                <a:latin typeface="Arial"/>
                <a:cs typeface="Arial"/>
              </a:rPr>
              <a:t>hand, </a:t>
            </a:r>
            <a:r>
              <a:rPr dirty="0" sz="1150" spc="-30">
                <a:latin typeface="Arial"/>
                <a:cs typeface="Arial"/>
              </a:rPr>
              <a:t>required </a:t>
            </a:r>
            <a:r>
              <a:rPr dirty="0" sz="1150" spc="-40">
                <a:latin typeface="Arial"/>
                <a:cs typeface="Arial"/>
              </a:rPr>
              <a:t>materials </a:t>
            </a:r>
            <a:r>
              <a:rPr dirty="0" sz="1150" spc="-50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5">
                <a:latin typeface="Arial"/>
                <a:cs typeface="Arial"/>
              </a:rPr>
              <a:t>provided </a:t>
            </a:r>
            <a:r>
              <a:rPr dirty="0" sz="1150" spc="-85">
                <a:latin typeface="Arial"/>
                <a:cs typeface="Arial"/>
              </a:rPr>
              <a:t>us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immediately.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0">
                <a:latin typeface="Arial"/>
                <a:cs typeface="Arial"/>
              </a:rPr>
              <a:t>This </a:t>
            </a:r>
            <a:r>
              <a:rPr dirty="0" sz="1150" spc="-70">
                <a:latin typeface="Arial"/>
                <a:cs typeface="Arial"/>
              </a:rPr>
              <a:t>process can </a:t>
            </a:r>
            <a:r>
              <a:rPr dirty="0" sz="1150" spc="-20">
                <a:latin typeface="Arial"/>
                <a:cs typeface="Arial"/>
              </a:rPr>
              <a:t>work </a:t>
            </a:r>
            <a:r>
              <a:rPr dirty="0" sz="1150" spc="-50">
                <a:latin typeface="Arial"/>
                <a:cs typeface="Arial"/>
              </a:rPr>
              <a:t>very </a:t>
            </a:r>
            <a:r>
              <a:rPr dirty="0" sz="1150" spc="-20">
                <a:latin typeface="Arial"/>
                <a:cs typeface="Arial"/>
              </a:rPr>
              <a:t>well,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55">
                <a:latin typeface="Arial"/>
                <a:cs typeface="Arial"/>
              </a:rPr>
              <a:t>deep </a:t>
            </a:r>
            <a:r>
              <a:rPr dirty="0" sz="1150" spc="-45">
                <a:latin typeface="Arial"/>
                <a:cs typeface="Arial"/>
              </a:rPr>
              <a:t>confidence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35">
                <a:latin typeface="Arial"/>
                <a:cs typeface="Arial"/>
              </a:rPr>
              <a:t>between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-5">
                <a:latin typeface="Arial"/>
                <a:cs typeface="Arial"/>
              </a:rPr>
              <a:t>unit </a:t>
            </a:r>
            <a:r>
              <a:rPr dirty="0" sz="1150" spc="15">
                <a:latin typeface="Arial"/>
                <a:cs typeface="Arial"/>
              </a:rPr>
              <a:t>&amp;  </a:t>
            </a:r>
            <a:r>
              <a:rPr dirty="0" sz="1150" spc="-45">
                <a:latin typeface="Arial"/>
                <a:cs typeface="Arial"/>
              </a:rPr>
              <a:t>suppliers.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result,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-5">
                <a:latin typeface="Arial"/>
                <a:cs typeface="Arial"/>
              </a:rPr>
              <a:t>unit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35">
                <a:latin typeface="Arial"/>
                <a:cs typeface="Arial"/>
              </a:rPr>
              <a:t>provide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00">
                <a:latin typeface="Arial"/>
                <a:cs typeface="Arial"/>
              </a:rPr>
              <a:t>access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suppliers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view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inventory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30">
                <a:latin typeface="Arial"/>
                <a:cs typeface="Arial"/>
              </a:rPr>
              <a:t>raw </a:t>
            </a:r>
            <a:r>
              <a:rPr dirty="0" sz="1150" spc="-40">
                <a:latin typeface="Arial"/>
                <a:cs typeface="Arial"/>
              </a:rPr>
              <a:t>materials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40">
                <a:latin typeface="Arial"/>
                <a:cs typeface="Arial"/>
              </a:rPr>
              <a:t>supplier </a:t>
            </a:r>
            <a:r>
              <a:rPr dirty="0" sz="1150" spc="-75">
                <a:latin typeface="Arial"/>
                <a:cs typeface="Arial"/>
              </a:rPr>
              <a:t>can </a:t>
            </a:r>
            <a:r>
              <a:rPr dirty="0" sz="1150" spc="-50">
                <a:latin typeface="Arial"/>
                <a:cs typeface="Arial"/>
              </a:rPr>
              <a:t>supply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required </a:t>
            </a:r>
            <a:r>
              <a:rPr dirty="0" sz="1150" spc="-40">
                <a:latin typeface="Arial"/>
                <a:cs typeface="Arial"/>
              </a:rPr>
              <a:t>materials when  </a:t>
            </a:r>
            <a:r>
              <a:rPr dirty="0" sz="1150" spc="-25">
                <a:latin typeface="Arial"/>
                <a:cs typeface="Arial"/>
              </a:rPr>
              <a:t>inventory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just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30">
                <a:latin typeface="Arial"/>
                <a:cs typeface="Arial"/>
              </a:rPr>
              <a:t>minimum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level.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95" b="1">
                <a:latin typeface="Arial"/>
                <a:cs typeface="Arial"/>
              </a:rPr>
              <a:t>Benefits </a:t>
            </a:r>
            <a:r>
              <a:rPr dirty="0" sz="1350" spc="-65" b="1">
                <a:latin typeface="Arial"/>
                <a:cs typeface="Arial"/>
              </a:rPr>
              <a:t>of</a:t>
            </a:r>
            <a:r>
              <a:rPr dirty="0" sz="1350" spc="-50" b="1">
                <a:latin typeface="Arial"/>
                <a:cs typeface="Arial"/>
              </a:rPr>
              <a:t> </a:t>
            </a:r>
            <a:r>
              <a:rPr dirty="0" sz="1350" spc="-165" b="1">
                <a:latin typeface="Arial"/>
                <a:cs typeface="Arial"/>
              </a:rPr>
              <a:t>JIT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8903" y="7067805"/>
            <a:ext cx="163195" cy="55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5">
                <a:latin typeface="Arial"/>
                <a:cs typeface="Arial"/>
              </a:rPr>
              <a:t>i.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10">
                <a:latin typeface="Arial"/>
                <a:cs typeface="Arial"/>
              </a:rPr>
              <a:t>ii.  </a:t>
            </a:r>
            <a:r>
              <a:rPr dirty="0" sz="1150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16102" y="7067805"/>
            <a:ext cx="2071370" cy="558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0">
                <a:latin typeface="Arial"/>
                <a:cs typeface="Arial"/>
              </a:rPr>
              <a:t>avoids </a:t>
            </a:r>
            <a:r>
              <a:rPr dirty="0" sz="1150" spc="-25">
                <a:latin typeface="Arial"/>
                <a:cs typeface="Arial"/>
              </a:rPr>
              <a:t>production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delays</a:t>
            </a:r>
            <a:endParaRPr sz="115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Mange </a:t>
            </a:r>
            <a:r>
              <a:rPr dirty="0" sz="1150" spc="-85">
                <a:latin typeface="Arial"/>
                <a:cs typeface="Arial"/>
              </a:rPr>
              <a:t>cash </a:t>
            </a:r>
            <a:r>
              <a:rPr dirty="0" sz="1150" spc="-35">
                <a:latin typeface="Arial"/>
                <a:cs typeface="Arial"/>
              </a:rPr>
              <a:t>flows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best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manners 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45">
                <a:latin typeface="Arial"/>
                <a:cs typeface="Arial"/>
              </a:rPr>
              <a:t>avoid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uncertainties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0303" y="7770369"/>
            <a:ext cx="5512435" cy="1123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90" b="1">
                <a:latin typeface="Arial"/>
                <a:cs typeface="Arial"/>
              </a:rPr>
              <a:t>Application </a:t>
            </a:r>
            <a:r>
              <a:rPr dirty="0" sz="1350" spc="-60" b="1">
                <a:latin typeface="Arial"/>
                <a:cs typeface="Arial"/>
              </a:rPr>
              <a:t>of </a:t>
            </a:r>
            <a:r>
              <a:rPr dirty="0" sz="1350" spc="-165" b="1">
                <a:latin typeface="Arial"/>
                <a:cs typeface="Arial"/>
              </a:rPr>
              <a:t>JIT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469265" marR="5080" indent="-228600">
              <a:lnSpc>
                <a:spcPct val="101699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150" spc="-50" b="1">
                <a:latin typeface="Arial"/>
                <a:cs typeface="Arial"/>
              </a:rPr>
              <a:t>In </a:t>
            </a:r>
            <a:r>
              <a:rPr dirty="0" sz="1150" spc="-60" b="1">
                <a:latin typeface="Arial"/>
                <a:cs typeface="Arial"/>
              </a:rPr>
              <a:t>production</a:t>
            </a:r>
            <a:r>
              <a:rPr dirty="0" sz="1150" spc="-60">
                <a:latin typeface="Arial"/>
                <a:cs typeface="Arial"/>
              </a:rPr>
              <a:t>-it </a:t>
            </a:r>
            <a:r>
              <a:rPr dirty="0" sz="1150" spc="-75">
                <a:latin typeface="Arial"/>
                <a:cs typeface="Arial"/>
              </a:rPr>
              <a:t>manage </a:t>
            </a:r>
            <a:r>
              <a:rPr dirty="0" sz="1150" spc="-40">
                <a:latin typeface="Arial"/>
                <a:cs typeface="Arial"/>
              </a:rPr>
              <a:t>continuous </a:t>
            </a:r>
            <a:r>
              <a:rPr dirty="0" sz="1150" spc="-50">
                <a:latin typeface="Arial"/>
                <a:cs typeface="Arial"/>
              </a:rPr>
              <a:t>supply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raw </a:t>
            </a:r>
            <a:r>
              <a:rPr dirty="0" sz="1150" spc="-25">
                <a:latin typeface="Arial"/>
                <a:cs typeface="Arial"/>
              </a:rPr>
              <a:t>material </a:t>
            </a:r>
            <a:r>
              <a:rPr dirty="0" sz="1150" spc="-35">
                <a:latin typeface="Arial"/>
                <a:cs typeface="Arial"/>
              </a:rPr>
              <a:t>which bring </a:t>
            </a:r>
            <a:r>
              <a:rPr dirty="0" sz="1150" spc="-20">
                <a:latin typeface="Arial"/>
                <a:cs typeface="Arial"/>
              </a:rPr>
              <a:t>continuity in  </a:t>
            </a:r>
            <a:r>
              <a:rPr dirty="0" sz="1150" spc="-35">
                <a:latin typeface="Arial"/>
                <a:cs typeface="Arial"/>
              </a:rPr>
              <a:t>operations</a:t>
            </a:r>
            <a:endParaRPr sz="1150">
              <a:latin typeface="Arial"/>
              <a:cs typeface="Arial"/>
            </a:endParaRPr>
          </a:p>
          <a:p>
            <a:pPr marL="469265" marR="5080" indent="-228600">
              <a:lnSpc>
                <a:spcPts val="1400"/>
              </a:lnSpc>
              <a:spcBef>
                <a:spcPts val="45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50" spc="-50" b="1">
                <a:latin typeface="Arial"/>
                <a:cs typeface="Arial"/>
              </a:rPr>
              <a:t>In </a:t>
            </a:r>
            <a:r>
              <a:rPr dirty="0" sz="1150" spc="-45" b="1">
                <a:latin typeface="Arial"/>
                <a:cs typeface="Arial"/>
              </a:rPr>
              <a:t>Marketing-</a:t>
            </a:r>
            <a:r>
              <a:rPr dirty="0" sz="1150" spc="-45">
                <a:latin typeface="Arial"/>
                <a:cs typeface="Arial"/>
              </a:rPr>
              <a:t>if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5">
                <a:latin typeface="Arial"/>
                <a:cs typeface="Arial"/>
              </a:rPr>
              <a:t>well </a:t>
            </a:r>
            <a:r>
              <a:rPr dirty="0" sz="1150" spc="-65">
                <a:latin typeface="Arial"/>
                <a:cs typeface="Arial"/>
              </a:rPr>
              <a:t>managed, </a:t>
            </a:r>
            <a:r>
              <a:rPr dirty="0" sz="1150" spc="-85">
                <a:latin typeface="Arial"/>
                <a:cs typeface="Arial"/>
              </a:rPr>
              <a:t>sales </a:t>
            </a:r>
            <a:r>
              <a:rPr dirty="0" sz="1150" spc="-60">
                <a:latin typeface="Arial"/>
                <a:cs typeface="Arial"/>
              </a:rPr>
              <a:t>persons </a:t>
            </a:r>
            <a:r>
              <a:rPr dirty="0" sz="1150" spc="-50">
                <a:latin typeface="Arial"/>
                <a:cs typeface="Arial"/>
              </a:rPr>
              <a:t>are able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finalize </a:t>
            </a:r>
            <a:r>
              <a:rPr dirty="0" sz="1150" spc="-85">
                <a:latin typeface="Arial"/>
                <a:cs typeface="Arial"/>
              </a:rPr>
              <a:t>sales  </a:t>
            </a:r>
            <a:r>
              <a:rPr dirty="0" sz="1150" spc="-65">
                <a:latin typeface="Arial"/>
                <a:cs typeface="Arial"/>
              </a:rPr>
              <a:t>deals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30">
                <a:latin typeface="Arial"/>
                <a:cs typeface="Arial"/>
              </a:rPr>
              <a:t>minimum </a:t>
            </a:r>
            <a:r>
              <a:rPr dirty="0" sz="1150" spc="-50">
                <a:latin typeface="Arial"/>
                <a:cs typeface="Arial"/>
              </a:rPr>
              <a:t>lead </a:t>
            </a:r>
            <a:r>
              <a:rPr dirty="0" sz="1150" spc="-35">
                <a:latin typeface="Arial"/>
                <a:cs typeface="Arial"/>
              </a:rPr>
              <a:t>times which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65">
                <a:latin typeface="Arial"/>
                <a:cs typeface="Arial"/>
              </a:rPr>
              <a:t>serve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5">
                <a:latin typeface="Arial"/>
                <a:cs typeface="Arial"/>
              </a:rPr>
              <a:t>competitive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edge.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4340" cy="18688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65" b="1">
                <a:latin typeface="Arial"/>
                <a:cs typeface="Arial"/>
              </a:rPr>
              <a:t>JUST-IN-CASE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conventional </a:t>
            </a:r>
            <a:r>
              <a:rPr dirty="0" sz="1150" spc="-45">
                <a:latin typeface="Arial"/>
                <a:cs typeface="Arial"/>
              </a:rPr>
              <a:t>concept works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contrasts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5">
                <a:latin typeface="Arial"/>
                <a:cs typeface="Arial"/>
              </a:rPr>
              <a:t>JIT. </a:t>
            </a:r>
            <a:r>
              <a:rPr dirty="0" sz="1150" spc="-35">
                <a:latin typeface="Arial"/>
                <a:cs typeface="Arial"/>
              </a:rPr>
              <a:t>While working </a:t>
            </a:r>
            <a:r>
              <a:rPr dirty="0" sz="1150" spc="-25">
                <a:latin typeface="Arial"/>
                <a:cs typeface="Arial"/>
              </a:rPr>
              <a:t>through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45">
                <a:latin typeface="Arial"/>
                <a:cs typeface="Arial"/>
              </a:rPr>
              <a:t>concept,  </a:t>
            </a:r>
            <a:r>
              <a:rPr dirty="0" sz="1150" spc="-25">
                <a:latin typeface="Arial"/>
                <a:cs typeface="Arial"/>
              </a:rPr>
              <a:t>firms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40">
                <a:latin typeface="Arial"/>
                <a:cs typeface="Arial"/>
              </a:rPr>
              <a:t>get </a:t>
            </a:r>
            <a:r>
              <a:rPr dirty="0" sz="1150" spc="-50">
                <a:latin typeface="Arial"/>
                <a:cs typeface="Arial"/>
              </a:rPr>
              <a:t>good suppliers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30">
                <a:latin typeface="Arial"/>
                <a:cs typeface="Arial"/>
              </a:rPr>
              <a:t>required, </a:t>
            </a:r>
            <a:r>
              <a:rPr dirty="0" sz="1150" spc="-60">
                <a:latin typeface="Arial"/>
                <a:cs typeface="Arial"/>
              </a:rPr>
              <a:t>may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40">
                <a:latin typeface="Arial"/>
                <a:cs typeface="Arial"/>
              </a:rPr>
              <a:t>get </a:t>
            </a:r>
            <a:r>
              <a:rPr dirty="0" sz="1150" spc="-25">
                <a:latin typeface="Arial"/>
                <a:cs typeface="Arial"/>
              </a:rPr>
              <a:t>quality raw </a:t>
            </a:r>
            <a:r>
              <a:rPr dirty="0" sz="1150" spc="-40">
                <a:latin typeface="Arial"/>
                <a:cs typeface="Arial"/>
              </a:rPr>
              <a:t>materials </a:t>
            </a:r>
            <a:r>
              <a:rPr dirty="0" sz="1150" spc="-110">
                <a:latin typeface="Arial"/>
                <a:cs typeface="Arial"/>
              </a:rPr>
              <a:t>as 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30">
                <a:latin typeface="Arial"/>
                <a:cs typeface="Arial"/>
              </a:rPr>
              <a:t>required,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25">
                <a:latin typeface="Arial"/>
                <a:cs typeface="Arial"/>
              </a:rPr>
              <a:t>firms </a:t>
            </a:r>
            <a:r>
              <a:rPr dirty="0" sz="1150" spc="-55">
                <a:latin typeface="Arial"/>
                <a:cs typeface="Arial"/>
              </a:rPr>
              <a:t>keep </a:t>
            </a:r>
            <a:r>
              <a:rPr dirty="0" sz="1150" spc="-65">
                <a:latin typeface="Arial"/>
                <a:cs typeface="Arial"/>
              </a:rPr>
              <a:t>stocks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30">
                <a:latin typeface="Arial"/>
                <a:cs typeface="Arial"/>
              </a:rPr>
              <a:t>raw </a:t>
            </a:r>
            <a:r>
              <a:rPr dirty="0" sz="1150" spc="-40">
                <a:latin typeface="Arial"/>
                <a:cs typeface="Arial"/>
              </a:rPr>
              <a:t>materials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big </a:t>
            </a:r>
            <a:r>
              <a:rPr dirty="0" sz="1150" spc="-60">
                <a:latin typeface="Arial"/>
                <a:cs typeface="Arial"/>
              </a:rPr>
              <a:t>disadvantage 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65">
                <a:latin typeface="Arial"/>
                <a:cs typeface="Arial"/>
              </a:rPr>
              <a:t>huge </a:t>
            </a:r>
            <a:r>
              <a:rPr dirty="0" sz="1150" spc="-55">
                <a:latin typeface="Arial"/>
                <a:cs typeface="Arial"/>
              </a:rPr>
              <a:t>finances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>
                <a:latin typeface="Arial"/>
                <a:cs typeface="Arial"/>
              </a:rPr>
              <a:t>firm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45">
                <a:latin typeface="Arial"/>
                <a:cs typeface="Arial"/>
              </a:rPr>
              <a:t>blocked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stocks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15">
                <a:latin typeface="Arial"/>
                <a:cs typeface="Arial"/>
              </a:rPr>
              <a:t>well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45">
                <a:latin typeface="Arial"/>
                <a:cs typeface="Arial"/>
              </a:rPr>
              <a:t>handling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60">
                <a:latin typeface="Arial"/>
                <a:cs typeface="Arial"/>
              </a:rPr>
              <a:t>stocks may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0">
                <a:latin typeface="Arial"/>
                <a:cs typeface="Arial"/>
              </a:rPr>
              <a:t>another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issue.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9525">
              <a:lnSpc>
                <a:spcPct val="101699"/>
              </a:lnSpc>
            </a:pPr>
            <a:r>
              <a:rPr dirty="0" sz="1150" spc="-140">
                <a:latin typeface="Arial"/>
                <a:cs typeface="Arial"/>
              </a:rPr>
              <a:t>So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0">
                <a:latin typeface="Arial"/>
                <a:cs typeface="Arial"/>
              </a:rPr>
              <a:t>today’s </a:t>
            </a:r>
            <a:r>
              <a:rPr dirty="0" sz="1150" spc="-45">
                <a:latin typeface="Arial"/>
                <a:cs typeface="Arial"/>
              </a:rPr>
              <a:t>organizations, </a:t>
            </a:r>
            <a:r>
              <a:rPr dirty="0" sz="1150" spc="-130">
                <a:latin typeface="Arial"/>
                <a:cs typeface="Arial"/>
              </a:rPr>
              <a:t>JIT </a:t>
            </a:r>
            <a:r>
              <a:rPr dirty="0" sz="1150" spc="-40">
                <a:latin typeface="Arial"/>
                <a:cs typeface="Arial"/>
              </a:rPr>
              <a:t>concept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developing </a:t>
            </a:r>
            <a:r>
              <a:rPr dirty="0" sz="1150" spc="-65">
                <a:latin typeface="Arial"/>
                <a:cs typeface="Arial"/>
              </a:rPr>
              <a:t>day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65">
                <a:latin typeface="Arial"/>
                <a:cs typeface="Arial"/>
              </a:rPr>
              <a:t>day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35">
                <a:latin typeface="Arial"/>
                <a:cs typeface="Arial"/>
              </a:rPr>
              <a:t>almost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>
                <a:latin typeface="Arial"/>
                <a:cs typeface="Arial"/>
              </a:rPr>
              <a:t>firm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25">
                <a:latin typeface="Arial"/>
                <a:cs typeface="Arial"/>
              </a:rPr>
              <a:t>trying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get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55">
                <a:latin typeface="Arial"/>
                <a:cs typeface="Arial"/>
              </a:rPr>
              <a:t>good </a:t>
            </a:r>
            <a:r>
              <a:rPr dirty="0" sz="1150" spc="-50">
                <a:latin typeface="Arial"/>
                <a:cs typeface="Arial"/>
              </a:rPr>
              <a:t>suppliers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work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130">
                <a:latin typeface="Arial"/>
                <a:cs typeface="Arial"/>
              </a:rPr>
              <a:t>JIT </a:t>
            </a:r>
            <a:r>
              <a:rPr dirty="0" sz="1150" spc="-45">
                <a:latin typeface="Arial"/>
                <a:cs typeface="Arial"/>
              </a:rPr>
              <a:t>concept.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169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08932" y="891035"/>
            <a:ext cx="4232910" cy="83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37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229" b="1">
                <a:latin typeface="Arial"/>
                <a:cs typeface="Arial"/>
              </a:rPr>
              <a:t>TOTAL </a:t>
            </a:r>
            <a:r>
              <a:rPr dirty="0" sz="1750" spc="-190" b="1">
                <a:latin typeface="Arial"/>
                <a:cs typeface="Arial"/>
              </a:rPr>
              <a:t>QUALITY</a:t>
            </a:r>
            <a:r>
              <a:rPr dirty="0" sz="1750" spc="-210" b="1">
                <a:latin typeface="Arial"/>
                <a:cs typeface="Arial"/>
              </a:rPr>
              <a:t> </a:t>
            </a:r>
            <a:r>
              <a:rPr dirty="0" sz="1750" spc="-160" b="1">
                <a:latin typeface="Arial"/>
                <a:cs typeface="Arial"/>
              </a:rPr>
              <a:t>MANAGEMENT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170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250" y="1977647"/>
            <a:ext cx="5514975" cy="644652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advice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00">
                <a:latin typeface="Arial"/>
                <a:cs typeface="Arial"/>
              </a:rPr>
              <a:t>U.S.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35">
                <a:latin typeface="Arial"/>
                <a:cs typeface="Arial"/>
              </a:rPr>
              <a:t>consultant </a:t>
            </a:r>
            <a:r>
              <a:rPr dirty="0" sz="1150" spc="-50">
                <a:latin typeface="Arial"/>
                <a:cs typeface="Arial"/>
              </a:rPr>
              <a:t>W. </a:t>
            </a:r>
            <a:r>
              <a:rPr dirty="0" sz="1150" spc="-75">
                <a:latin typeface="Arial"/>
                <a:cs typeface="Arial"/>
              </a:rPr>
              <a:t>Edwards </a:t>
            </a:r>
            <a:r>
              <a:rPr dirty="0" sz="1150" spc="-60">
                <a:latin typeface="Arial"/>
                <a:cs typeface="Arial"/>
              </a:rPr>
              <a:t>Deming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 spc="-80">
                <a:latin typeface="Arial"/>
                <a:cs typeface="Arial"/>
              </a:rPr>
              <a:t>was </a:t>
            </a:r>
            <a:r>
              <a:rPr dirty="0" sz="1150" spc="-55">
                <a:latin typeface="Arial"/>
                <a:cs typeface="Arial"/>
              </a:rPr>
              <a:t>heeded </a:t>
            </a:r>
            <a:r>
              <a:rPr dirty="0" sz="1150" spc="-30">
                <a:latin typeface="Arial"/>
                <a:cs typeface="Arial"/>
              </a:rPr>
              <a:t>more  widely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5">
                <a:latin typeface="Arial"/>
                <a:cs typeface="Arial"/>
              </a:rPr>
              <a:t>Japan </a:t>
            </a:r>
            <a:r>
              <a:rPr dirty="0" sz="1150" spc="-30">
                <a:latin typeface="Arial"/>
                <a:cs typeface="Arial"/>
              </a:rPr>
              <a:t>than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45">
                <a:latin typeface="Arial"/>
                <a:cs typeface="Arial"/>
              </a:rPr>
              <a:t>home </a:t>
            </a:r>
            <a:r>
              <a:rPr dirty="0" sz="1150" spc="-5">
                <a:latin typeface="Arial"/>
                <a:cs typeface="Arial"/>
              </a:rPr>
              <a:t>until </a:t>
            </a:r>
            <a:r>
              <a:rPr dirty="0" sz="1150" spc="-35">
                <a:latin typeface="Arial"/>
                <a:cs typeface="Arial"/>
              </a:rPr>
              <a:t>recently. </a:t>
            </a:r>
            <a:r>
              <a:rPr dirty="0" sz="1150" spc="-45">
                <a:latin typeface="Arial"/>
                <a:cs typeface="Arial"/>
              </a:rPr>
              <a:t>Now </a:t>
            </a:r>
            <a:r>
              <a:rPr dirty="0" sz="1150" spc="-100">
                <a:latin typeface="Arial"/>
                <a:cs typeface="Arial"/>
              </a:rPr>
              <a:t>U.S. </a:t>
            </a:r>
            <a:r>
              <a:rPr dirty="0" sz="1150" spc="-60">
                <a:latin typeface="Arial"/>
                <a:cs typeface="Arial"/>
              </a:rPr>
              <a:t>companies </a:t>
            </a:r>
            <a:r>
              <a:rPr dirty="0" sz="1150" spc="-50">
                <a:latin typeface="Arial"/>
                <a:cs typeface="Arial"/>
              </a:rPr>
              <a:t>are increasingly </a:t>
            </a:r>
            <a:r>
              <a:rPr dirty="0" sz="1150" spc="-40">
                <a:latin typeface="Arial"/>
                <a:cs typeface="Arial"/>
              </a:rPr>
              <a:t>customer  </a:t>
            </a:r>
            <a:r>
              <a:rPr dirty="0" sz="1150" spc="-35">
                <a:latin typeface="Arial"/>
                <a:cs typeface="Arial"/>
              </a:rPr>
              <a:t>driven, </a:t>
            </a:r>
            <a:r>
              <a:rPr dirty="0" sz="1150" spc="-25">
                <a:latin typeface="Arial"/>
                <a:cs typeface="Arial"/>
              </a:rPr>
              <a:t>quality initiatives </a:t>
            </a:r>
            <a:r>
              <a:rPr dirty="0" sz="1150" spc="-40">
                <a:latin typeface="Arial"/>
                <a:cs typeface="Arial"/>
              </a:rPr>
              <a:t>exist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55">
                <a:latin typeface="Arial"/>
                <a:cs typeface="Arial"/>
              </a:rPr>
              <a:t>levels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corporation,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55">
                <a:latin typeface="Arial"/>
                <a:cs typeface="Arial"/>
              </a:rPr>
              <a:t>measurements </a:t>
            </a:r>
            <a:r>
              <a:rPr dirty="0" sz="1150" spc="-50">
                <a:latin typeface="Arial"/>
                <a:cs typeface="Arial"/>
              </a:rPr>
              <a:t>are 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document </a:t>
            </a:r>
            <a:r>
              <a:rPr dirty="0" sz="1150" spc="-60">
                <a:latin typeface="Arial"/>
                <a:cs typeface="Arial"/>
              </a:rPr>
              <a:t>progress </a:t>
            </a:r>
            <a:r>
              <a:rPr dirty="0" sz="1150" spc="-35">
                <a:latin typeface="Arial"/>
                <a:cs typeface="Arial"/>
              </a:rPr>
              <a:t>objective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identify </a:t>
            </a:r>
            <a:r>
              <a:rPr dirty="0" sz="1150" spc="-75">
                <a:latin typeface="Arial"/>
                <a:cs typeface="Arial"/>
              </a:rPr>
              <a:t>areas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improvement. </a:t>
            </a:r>
            <a:r>
              <a:rPr dirty="0" sz="1150" spc="-55">
                <a:latin typeface="Arial"/>
                <a:cs typeface="Arial"/>
              </a:rPr>
              <a:t>Rather </a:t>
            </a:r>
            <a:r>
              <a:rPr dirty="0" sz="1150" spc="-30">
                <a:latin typeface="Arial"/>
                <a:cs typeface="Arial"/>
              </a:rPr>
              <a:t>than  </a:t>
            </a:r>
            <a:r>
              <a:rPr dirty="0" sz="1150" spc="-55">
                <a:latin typeface="Arial"/>
                <a:cs typeface="Arial"/>
              </a:rPr>
              <a:t>occasional,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 spc="-15">
                <a:latin typeface="Arial"/>
                <a:cs typeface="Arial"/>
              </a:rPr>
              <a:t>efforts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now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continuous.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5" b="1">
                <a:latin typeface="Arial"/>
                <a:cs typeface="Arial"/>
              </a:rPr>
              <a:t>MANAGING</a:t>
            </a:r>
            <a:r>
              <a:rPr dirty="0" sz="1350" spc="-10" b="1">
                <a:latin typeface="Arial"/>
                <a:cs typeface="Arial"/>
              </a:rPr>
              <a:t> </a:t>
            </a:r>
            <a:r>
              <a:rPr dirty="0" sz="1350" spc="-5" b="1">
                <a:latin typeface="Arial"/>
                <a:cs typeface="Arial"/>
              </a:rPr>
              <a:t>QUALITY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250" spc="-70" b="1">
                <a:latin typeface="Arial"/>
                <a:cs typeface="Arial"/>
              </a:rPr>
              <a:t>Total Quality </a:t>
            </a:r>
            <a:r>
              <a:rPr dirty="0" sz="1250" spc="-75" b="1">
                <a:latin typeface="Arial"/>
                <a:cs typeface="Arial"/>
              </a:rPr>
              <a:t>Management </a:t>
            </a:r>
            <a:r>
              <a:rPr dirty="0" sz="1250" spc="-60" b="1">
                <a:latin typeface="Arial"/>
                <a:cs typeface="Arial"/>
              </a:rPr>
              <a:t>(TQM) (or </a:t>
            </a:r>
            <a:r>
              <a:rPr dirty="0" sz="1250" spc="-70" b="1">
                <a:latin typeface="Arial"/>
                <a:cs typeface="Arial"/>
              </a:rPr>
              <a:t>Quality</a:t>
            </a:r>
            <a:r>
              <a:rPr dirty="0" sz="1250" spc="-30" b="1">
                <a:latin typeface="Arial"/>
                <a:cs typeface="Arial"/>
              </a:rPr>
              <a:t> </a:t>
            </a:r>
            <a:r>
              <a:rPr dirty="0" sz="1250" spc="-114" b="1">
                <a:latin typeface="Arial"/>
                <a:cs typeface="Arial"/>
              </a:rPr>
              <a:t>Assurance)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sum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 activities </a:t>
            </a:r>
            <a:r>
              <a:rPr dirty="0" sz="1150" spc="-40">
                <a:latin typeface="Arial"/>
                <a:cs typeface="Arial"/>
              </a:rPr>
              <a:t>involved </a:t>
            </a:r>
            <a:r>
              <a:rPr dirty="0" sz="1150" spc="-1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getting high-quality </a:t>
            </a:r>
            <a:r>
              <a:rPr dirty="0" sz="1150" spc="-35">
                <a:latin typeface="Arial"/>
                <a:cs typeface="Arial"/>
              </a:rPr>
              <a:t>products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marketplace.  </a:t>
            </a:r>
            <a:r>
              <a:rPr dirty="0" sz="1150" spc="-55">
                <a:latin typeface="Arial"/>
                <a:cs typeface="Arial"/>
              </a:rPr>
              <a:t>Customer focus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starting </a:t>
            </a:r>
            <a:r>
              <a:rPr dirty="0" sz="1150" spc="-10">
                <a:latin typeface="Arial"/>
                <a:cs typeface="Arial"/>
              </a:rPr>
              <a:t>point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includes </a:t>
            </a:r>
            <a:r>
              <a:rPr dirty="0" sz="1150" spc="-40">
                <a:latin typeface="Arial"/>
                <a:cs typeface="Arial"/>
              </a:rPr>
              <a:t>methods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determining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50">
                <a:latin typeface="Arial"/>
                <a:cs typeface="Arial"/>
              </a:rPr>
              <a:t>customers  </a:t>
            </a:r>
            <a:r>
              <a:rPr dirty="0" sz="1150" spc="-25">
                <a:latin typeface="Arial"/>
                <a:cs typeface="Arial"/>
              </a:rPr>
              <a:t>want, then </a:t>
            </a:r>
            <a:r>
              <a:rPr dirty="0" sz="1150" spc="-70">
                <a:latin typeface="Arial"/>
                <a:cs typeface="Arial"/>
              </a:rPr>
              <a:t>causing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company’s </a:t>
            </a:r>
            <a:r>
              <a:rPr dirty="0" sz="1150" spc="-30">
                <a:latin typeface="Arial"/>
                <a:cs typeface="Arial"/>
              </a:rPr>
              <a:t>activities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0">
                <a:latin typeface="Arial"/>
                <a:cs typeface="Arial"/>
              </a:rPr>
              <a:t>directed </a:t>
            </a:r>
            <a:r>
              <a:rPr dirty="0" sz="1150" spc="-15">
                <a:latin typeface="Arial"/>
                <a:cs typeface="Arial"/>
              </a:rPr>
              <a:t>toward fulfilling  </a:t>
            </a:r>
            <a:r>
              <a:rPr dirty="0" sz="1150" spc="-40">
                <a:latin typeface="Arial"/>
                <a:cs typeface="Arial"/>
              </a:rPr>
              <a:t>those </a:t>
            </a:r>
            <a:r>
              <a:rPr dirty="0" sz="1150" spc="-75">
                <a:latin typeface="Arial"/>
                <a:cs typeface="Arial"/>
              </a:rPr>
              <a:t>needs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creating customer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satisfaction.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50" spc="-80" b="1">
                <a:latin typeface="Arial"/>
                <a:cs typeface="Arial"/>
              </a:rPr>
              <a:t>Productivity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30">
                <a:latin typeface="Arial"/>
                <a:cs typeface="Arial"/>
              </a:rPr>
              <a:t>Productivity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measure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effective </a:t>
            </a:r>
            <a:r>
              <a:rPr dirty="0" sz="1150" spc="-85">
                <a:latin typeface="Arial"/>
                <a:cs typeface="Arial"/>
              </a:rPr>
              <a:t>use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organization’s </a:t>
            </a:r>
            <a:r>
              <a:rPr dirty="0" sz="1150" spc="-60">
                <a:latin typeface="Arial"/>
                <a:cs typeface="Arial"/>
              </a:rPr>
              <a:t>resources.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35" b="1">
                <a:latin typeface="Arial"/>
                <a:cs typeface="Arial"/>
              </a:rPr>
              <a:t>PLANNING </a:t>
            </a:r>
            <a:r>
              <a:rPr dirty="0" sz="1350" spc="-195" b="1">
                <a:latin typeface="Arial"/>
                <a:cs typeface="Arial"/>
              </a:rPr>
              <a:t>FOR</a:t>
            </a:r>
            <a:r>
              <a:rPr dirty="0" sz="1350" spc="-185" b="1">
                <a:latin typeface="Arial"/>
                <a:cs typeface="Arial"/>
              </a:rPr>
              <a:t> </a:t>
            </a:r>
            <a:r>
              <a:rPr dirty="0" sz="1350" spc="-145" b="1">
                <a:latin typeface="Arial"/>
                <a:cs typeface="Arial"/>
              </a:rPr>
              <a:t>QUALITY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9525">
              <a:lnSpc>
                <a:spcPct val="101699"/>
              </a:lnSpc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achieve </a:t>
            </a:r>
            <a:r>
              <a:rPr dirty="0" sz="1150" spc="-45">
                <a:latin typeface="Arial"/>
                <a:cs typeface="Arial"/>
              </a:rPr>
              <a:t>high </a:t>
            </a:r>
            <a:r>
              <a:rPr dirty="0" sz="1150" spc="-25">
                <a:latin typeface="Arial"/>
                <a:cs typeface="Arial"/>
              </a:rPr>
              <a:t>quality,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45">
                <a:latin typeface="Arial"/>
                <a:cs typeface="Arial"/>
              </a:rPr>
              <a:t>plan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-75">
                <a:latin typeface="Arial"/>
                <a:cs typeface="Arial"/>
              </a:rPr>
              <a:t>processes </a:t>
            </a:r>
            <a:r>
              <a:rPr dirty="0" sz="1150" spc="-40">
                <a:latin typeface="Arial"/>
                <a:cs typeface="Arial"/>
              </a:rPr>
              <a:t>(including </a:t>
            </a:r>
            <a:r>
              <a:rPr dirty="0" sz="1150" spc="-30">
                <a:latin typeface="Arial"/>
                <a:cs typeface="Arial"/>
              </a:rPr>
              <a:t>equipment,  </a:t>
            </a:r>
            <a:r>
              <a:rPr dirty="0" sz="1150" spc="-40">
                <a:latin typeface="Arial"/>
                <a:cs typeface="Arial"/>
              </a:rPr>
              <a:t>methods, </a:t>
            </a:r>
            <a:r>
              <a:rPr dirty="0" sz="1150" spc="-25">
                <a:latin typeface="Arial"/>
                <a:cs typeface="Arial"/>
              </a:rPr>
              <a:t>worker </a:t>
            </a:r>
            <a:r>
              <a:rPr dirty="0" sz="1150" spc="-50">
                <a:latin typeface="Arial"/>
                <a:cs typeface="Arial"/>
              </a:rPr>
              <a:t>skills,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materials).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812800" indent="-229235">
              <a:lnSpc>
                <a:spcPct val="100000"/>
              </a:lnSpc>
              <a:buAutoNum type="arabicParenR"/>
              <a:tabLst>
                <a:tab pos="813435" algn="l"/>
              </a:tabLst>
            </a:pPr>
            <a:r>
              <a:rPr dirty="0" sz="1150" spc="-85" b="1">
                <a:latin typeface="Arial"/>
                <a:cs typeface="Arial"/>
              </a:rPr>
              <a:t>Performance </a:t>
            </a:r>
            <a:r>
              <a:rPr dirty="0" sz="1150" spc="-65" b="1">
                <a:latin typeface="Arial"/>
                <a:cs typeface="Arial"/>
              </a:rPr>
              <a:t>Quality: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performance features </a:t>
            </a:r>
            <a:r>
              <a:rPr dirty="0" sz="1150" spc="-20">
                <a:latin typeface="Arial"/>
                <a:cs typeface="Arial"/>
              </a:rPr>
              <a:t>offered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AutoNum type="arabicParenR"/>
            </a:pPr>
            <a:endParaRPr sz="1200">
              <a:latin typeface="Arial"/>
              <a:cs typeface="Arial"/>
            </a:endParaRPr>
          </a:p>
          <a:p>
            <a:pPr marL="812800" indent="-229235">
              <a:lnSpc>
                <a:spcPct val="100000"/>
              </a:lnSpc>
              <a:buAutoNum type="arabicParenR"/>
              <a:tabLst>
                <a:tab pos="813435" algn="l"/>
              </a:tabLst>
            </a:pPr>
            <a:r>
              <a:rPr dirty="0" sz="1150" spc="-60" b="1">
                <a:latin typeface="Arial"/>
                <a:cs typeface="Arial"/>
              </a:rPr>
              <a:t>Quality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60" b="1">
                <a:latin typeface="Arial"/>
                <a:cs typeface="Arial"/>
              </a:rPr>
              <a:t>Reliability</a:t>
            </a:r>
            <a:r>
              <a:rPr dirty="0" sz="1050" spc="-60">
                <a:latin typeface="Arial"/>
                <a:cs typeface="Arial"/>
              </a:rPr>
              <a:t>: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consistency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product’s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quality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from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unit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unit.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95" b="1">
                <a:latin typeface="Arial"/>
                <a:cs typeface="Arial"/>
              </a:rPr>
              <a:t>Organizing </a:t>
            </a:r>
            <a:r>
              <a:rPr dirty="0" sz="1150" spc="-50" b="1">
                <a:latin typeface="Arial"/>
                <a:cs typeface="Arial"/>
              </a:rPr>
              <a:t>for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Quality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8890">
              <a:lnSpc>
                <a:spcPct val="101699"/>
              </a:lnSpc>
              <a:spcBef>
                <a:spcPts val="5"/>
              </a:spcBef>
            </a:pPr>
            <a:r>
              <a:rPr dirty="0" sz="1150" spc="-40">
                <a:latin typeface="Arial"/>
                <a:cs typeface="Arial"/>
              </a:rPr>
              <a:t>Although </a:t>
            </a:r>
            <a:r>
              <a:rPr dirty="0" sz="1150" spc="-50">
                <a:latin typeface="Arial"/>
                <a:cs typeface="Arial"/>
              </a:rPr>
              <a:t>everyone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30">
                <a:latin typeface="Arial"/>
                <a:cs typeface="Arial"/>
              </a:rPr>
              <a:t>contributes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product quality, </a:t>
            </a:r>
            <a:r>
              <a:rPr dirty="0" sz="1150" spc="-35">
                <a:latin typeface="Arial"/>
                <a:cs typeface="Arial"/>
              </a:rPr>
              <a:t>responsibility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specific  </a:t>
            </a:r>
            <a:r>
              <a:rPr dirty="0" sz="1150" spc="-70">
                <a:latin typeface="Arial"/>
                <a:cs typeface="Arial"/>
              </a:rPr>
              <a:t>aspects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total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quality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management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often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assigned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specific </a:t>
            </a:r>
            <a:r>
              <a:rPr dirty="0" sz="1150" spc="-35">
                <a:latin typeface="Arial"/>
                <a:cs typeface="Arial"/>
              </a:rPr>
              <a:t>departments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jobs.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60" b="1">
                <a:latin typeface="Arial"/>
                <a:cs typeface="Arial"/>
              </a:rPr>
              <a:t>Quality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8890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Directing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20">
                <a:latin typeface="Arial"/>
                <a:cs typeface="Arial"/>
              </a:rPr>
              <a:t>motivate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 spc="-20">
                <a:latin typeface="Arial"/>
                <a:cs typeface="Arial"/>
              </a:rPr>
              <a:t>throughout </a:t>
            </a:r>
            <a:r>
              <a:rPr dirty="0" sz="1150" spc="-15">
                <a:latin typeface="Arial"/>
                <a:cs typeface="Arial"/>
              </a:rPr>
              <a:t>the 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achieve </a:t>
            </a:r>
            <a:r>
              <a:rPr dirty="0" sz="1150" spc="-25">
                <a:latin typeface="Arial"/>
                <a:cs typeface="Arial"/>
              </a:rPr>
              <a:t>quality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goals.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440056" y="786081"/>
            <a:ext cx="2782956" cy="26525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30299" y="3923794"/>
            <a:ext cx="5513705" cy="3623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80" b="1">
                <a:latin typeface="Arial"/>
                <a:cs typeface="Arial"/>
              </a:rPr>
              <a:t>Inspection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40">
                <a:latin typeface="Arial"/>
                <a:cs typeface="Arial"/>
              </a:rPr>
              <a:t>Inspection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10">
                <a:latin typeface="Arial"/>
                <a:cs typeface="Arial"/>
              </a:rPr>
              <a:t>important </a:t>
            </a:r>
            <a:r>
              <a:rPr dirty="0" sz="1150" spc="-40">
                <a:latin typeface="Arial"/>
                <a:cs typeface="Arial"/>
              </a:rPr>
              <a:t>strategy, </a:t>
            </a:r>
            <a:r>
              <a:rPr dirty="0" sz="1150" spc="-20">
                <a:latin typeface="Arial"/>
                <a:cs typeface="Arial"/>
              </a:rPr>
              <a:t>in its </a:t>
            </a:r>
            <a:r>
              <a:rPr dirty="0" sz="1150" spc="-40">
                <a:latin typeface="Arial"/>
                <a:cs typeface="Arial"/>
              </a:rPr>
              <a:t>simplest </a:t>
            </a:r>
            <a:r>
              <a:rPr dirty="0" sz="1150" spc="-15">
                <a:latin typeface="Arial"/>
                <a:cs typeface="Arial"/>
              </a:rPr>
              <a:t>form, </a:t>
            </a:r>
            <a:r>
              <a:rPr dirty="0" sz="1150" spc="-65">
                <a:latin typeface="Arial"/>
                <a:cs typeface="Arial"/>
              </a:rPr>
              <a:t>is any </a:t>
            </a:r>
            <a:r>
              <a:rPr dirty="0" sz="1150" spc="-25">
                <a:latin typeface="Arial"/>
                <a:cs typeface="Arial"/>
              </a:rPr>
              <a:t>method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5">
                <a:latin typeface="Arial"/>
                <a:cs typeface="Arial"/>
              </a:rPr>
              <a:t>device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0">
                <a:latin typeface="Arial"/>
                <a:cs typeface="Arial"/>
              </a:rPr>
              <a:t>tactics  </a:t>
            </a:r>
            <a:r>
              <a:rPr dirty="0" sz="1150" spc="-70">
                <a:latin typeface="Arial"/>
                <a:cs typeface="Arial"/>
              </a:rPr>
              <a:t>used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minimize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defects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products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services</a:t>
            </a:r>
            <a:r>
              <a:rPr dirty="0" sz="1150" spc="-50">
                <a:latin typeface="Arial"/>
                <a:cs typeface="Arial"/>
              </a:rPr>
              <a:t> being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offered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customers.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45" b="1">
                <a:latin typeface="Arial"/>
                <a:cs typeface="Arial"/>
              </a:rPr>
              <a:t>QUALITY </a:t>
            </a:r>
            <a:r>
              <a:rPr dirty="0" sz="1350" spc="-185" b="1">
                <a:latin typeface="Arial"/>
                <a:cs typeface="Arial"/>
              </a:rPr>
              <a:t>CONTROL </a:t>
            </a:r>
            <a:r>
              <a:rPr dirty="0" sz="1350" spc="-190" b="1">
                <a:latin typeface="Arial"/>
                <a:cs typeface="Arial"/>
              </a:rPr>
              <a:t>VS </a:t>
            </a:r>
            <a:r>
              <a:rPr dirty="0" sz="1350" spc="-150" b="1">
                <a:latin typeface="Arial"/>
                <a:cs typeface="Arial"/>
              </a:rPr>
              <a:t>QUALITY</a:t>
            </a:r>
            <a:r>
              <a:rPr dirty="0" sz="1350" spc="-130" b="1">
                <a:latin typeface="Arial"/>
                <a:cs typeface="Arial"/>
              </a:rPr>
              <a:t> </a:t>
            </a:r>
            <a:r>
              <a:rPr dirty="0" sz="1350" spc="-200" b="1">
                <a:latin typeface="Arial"/>
                <a:cs typeface="Arial"/>
              </a:rPr>
              <a:t>ASSURANCE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60" b="1">
                <a:latin typeface="Arial"/>
                <a:cs typeface="Arial"/>
              </a:rPr>
              <a:t>Quality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Control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35">
                <a:latin typeface="Arial"/>
                <a:cs typeface="Arial"/>
              </a:rPr>
              <a:t>Quality </a:t>
            </a:r>
            <a:r>
              <a:rPr dirty="0" sz="1150" spc="-15">
                <a:latin typeface="Arial"/>
                <a:cs typeface="Arial"/>
              </a:rPr>
              <a:t>control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concerned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conformance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5">
                <a:latin typeface="Arial"/>
                <a:cs typeface="Arial"/>
              </a:rPr>
              <a:t>process.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prime </a:t>
            </a:r>
            <a:r>
              <a:rPr dirty="0" sz="1150" spc="-50">
                <a:latin typeface="Arial"/>
                <a:cs typeface="Arial"/>
              </a:rPr>
              <a:t>purpose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 spc="-15">
                <a:latin typeface="Arial"/>
                <a:cs typeface="Arial"/>
              </a:rPr>
              <a:t>control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5">
                <a:latin typeface="Arial"/>
                <a:cs typeface="Arial"/>
              </a:rPr>
              <a:t>assure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processes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performing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50">
                <a:latin typeface="Arial"/>
                <a:cs typeface="Arial"/>
              </a:rPr>
              <a:t>acceptable </a:t>
            </a:r>
            <a:r>
              <a:rPr dirty="0" sz="1150" spc="-45">
                <a:latin typeface="Arial"/>
                <a:cs typeface="Arial"/>
              </a:rPr>
              <a:t>manner.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60" b="1">
                <a:latin typeface="Arial"/>
                <a:cs typeface="Arial"/>
              </a:rPr>
              <a:t>Quality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114" b="1">
                <a:latin typeface="Arial"/>
                <a:cs typeface="Arial"/>
              </a:rPr>
              <a:t>Assurance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45">
                <a:latin typeface="Arial"/>
                <a:cs typeface="Arial"/>
              </a:rPr>
              <a:t>actions </a:t>
            </a:r>
            <a:r>
              <a:rPr dirty="0" sz="1150" spc="-40">
                <a:latin typeface="Arial"/>
                <a:cs typeface="Arial"/>
              </a:rPr>
              <a:t>taken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ensure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5">
                <a:latin typeface="Arial"/>
                <a:cs typeface="Arial"/>
              </a:rPr>
              <a:t>standards and </a:t>
            </a:r>
            <a:r>
              <a:rPr dirty="0" sz="1150" spc="-50">
                <a:latin typeface="Arial"/>
                <a:cs typeface="Arial"/>
              </a:rPr>
              <a:t>procedures are </a:t>
            </a:r>
            <a:r>
              <a:rPr dirty="0" sz="1150" spc="-45">
                <a:latin typeface="Arial"/>
                <a:cs typeface="Arial"/>
              </a:rPr>
              <a:t>adhered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delivered  products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70">
                <a:latin typeface="Arial"/>
                <a:cs typeface="Arial"/>
              </a:rPr>
              <a:t>services </a:t>
            </a:r>
            <a:r>
              <a:rPr dirty="0" sz="1150" spc="-30">
                <a:latin typeface="Arial"/>
                <a:cs typeface="Arial"/>
              </a:rPr>
              <a:t>meet </a:t>
            </a:r>
            <a:r>
              <a:rPr dirty="0" sz="1150" spc="-40">
                <a:latin typeface="Arial"/>
                <a:cs typeface="Arial"/>
              </a:rPr>
              <a:t>performance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requirements.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35">
                <a:latin typeface="Arial"/>
                <a:cs typeface="Arial"/>
              </a:rPr>
              <a:t>Quality </a:t>
            </a:r>
            <a:r>
              <a:rPr dirty="0" sz="1150" spc="-75">
                <a:latin typeface="Arial"/>
                <a:cs typeface="Arial"/>
              </a:rPr>
              <a:t>assurance </a:t>
            </a:r>
            <a:r>
              <a:rPr dirty="0" sz="1150" spc="-45">
                <a:latin typeface="Arial"/>
                <a:cs typeface="Arial"/>
              </a:rPr>
              <a:t>defines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standards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0">
                <a:latin typeface="Arial"/>
                <a:cs typeface="Arial"/>
              </a:rPr>
              <a:t>followed in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meet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customer  </a:t>
            </a:r>
            <a:r>
              <a:rPr dirty="0" sz="1150" spc="-35">
                <a:latin typeface="Arial"/>
                <a:cs typeface="Arial"/>
              </a:rPr>
              <a:t>requirements </a:t>
            </a:r>
            <a:r>
              <a:rPr dirty="0" sz="1150" spc="-55">
                <a:latin typeface="Arial"/>
                <a:cs typeface="Arial"/>
              </a:rPr>
              <a:t>whereas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 spc="-15">
                <a:latin typeface="Arial"/>
                <a:cs typeface="Arial"/>
              </a:rPr>
              <a:t>control </a:t>
            </a:r>
            <a:r>
              <a:rPr dirty="0" sz="1150" spc="-65">
                <a:latin typeface="Arial"/>
                <a:cs typeface="Arial"/>
              </a:rPr>
              <a:t>ensures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0">
                <a:latin typeface="Arial"/>
                <a:cs typeface="Arial"/>
              </a:rPr>
              <a:t>these </a:t>
            </a:r>
            <a:r>
              <a:rPr dirty="0" sz="1150" spc="-35">
                <a:latin typeface="Arial"/>
                <a:cs typeface="Arial"/>
              </a:rPr>
              <a:t>defined </a:t>
            </a:r>
            <a:r>
              <a:rPr dirty="0" sz="1150" spc="-55">
                <a:latin typeface="Arial"/>
                <a:cs typeface="Arial"/>
              </a:rPr>
              <a:t>standards </a:t>
            </a:r>
            <a:r>
              <a:rPr dirty="0" sz="1150" spc="-45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followed </a:t>
            </a:r>
            <a:r>
              <a:rPr dirty="0" sz="1150" spc="-15">
                <a:latin typeface="Arial"/>
                <a:cs typeface="Arial"/>
              </a:rPr>
              <a:t>at  </a:t>
            </a:r>
            <a:r>
              <a:rPr dirty="0" sz="1150" spc="-50">
                <a:latin typeface="Arial"/>
                <a:cs typeface="Arial"/>
              </a:rPr>
              <a:t>every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step.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171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57325" y="952500"/>
            <a:ext cx="2458748" cy="24574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358935" y="3407158"/>
            <a:ext cx="5285105" cy="56432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20" b="1">
                <a:latin typeface="Arial"/>
                <a:cs typeface="Arial"/>
              </a:rPr>
              <a:t>PROMINENT </a:t>
            </a:r>
            <a:r>
              <a:rPr dirty="0" sz="1350" spc="-200" b="1">
                <a:latin typeface="Arial"/>
                <a:cs typeface="Arial"/>
              </a:rPr>
              <a:t>FEATURES </a:t>
            </a:r>
            <a:r>
              <a:rPr dirty="0" sz="1350" spc="-175" b="1">
                <a:latin typeface="Arial"/>
                <a:cs typeface="Arial"/>
              </a:rPr>
              <a:t>OF </a:t>
            </a:r>
            <a:r>
              <a:rPr dirty="0" sz="1350" spc="-120" b="1">
                <a:latin typeface="Arial"/>
                <a:cs typeface="Arial"/>
              </a:rPr>
              <a:t>DR. </a:t>
            </a:r>
            <a:r>
              <a:rPr dirty="0" sz="1350" spc="-95" b="1">
                <a:latin typeface="Arial"/>
                <a:cs typeface="Arial"/>
              </a:rPr>
              <a:t>DEMMING’S </a:t>
            </a:r>
            <a:r>
              <a:rPr dirty="0" sz="1350" spc="-70" b="1">
                <a:latin typeface="Arial"/>
                <a:cs typeface="Arial"/>
              </a:rPr>
              <a:t>14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45" b="1">
                <a:latin typeface="Arial"/>
                <a:cs typeface="Arial"/>
              </a:rPr>
              <a:t>POINTS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50">
                <a:latin typeface="Arial"/>
                <a:cs typeface="Arial"/>
              </a:rPr>
              <a:t>Globally </a:t>
            </a:r>
            <a:r>
              <a:rPr dirty="0" sz="1150" spc="-45">
                <a:latin typeface="Arial"/>
                <a:cs typeface="Arial"/>
              </a:rPr>
              <a:t>organizations </a:t>
            </a:r>
            <a:r>
              <a:rPr dirty="0" sz="1150" spc="-55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adopting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concept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 spc="-75">
                <a:latin typeface="Arial"/>
                <a:cs typeface="Arial"/>
              </a:rPr>
              <a:t>assurance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avoid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inspection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 spc="-20">
                <a:latin typeface="Arial"/>
                <a:cs typeface="Arial"/>
              </a:rPr>
              <a:t>control, </a:t>
            </a:r>
            <a:r>
              <a:rPr dirty="0" sz="1150" spc="-1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50">
                <a:latin typeface="Arial"/>
                <a:cs typeface="Arial"/>
              </a:rPr>
              <a:t>way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55">
                <a:latin typeface="Arial"/>
                <a:cs typeface="Arial"/>
              </a:rPr>
              <a:t>focus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5">
                <a:latin typeface="Arial"/>
                <a:cs typeface="Arial"/>
              </a:rPr>
              <a:t>quality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input, 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 spc="-65">
                <a:latin typeface="Arial"/>
                <a:cs typeface="Arial"/>
              </a:rPr>
              <a:t>process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 spc="-10">
                <a:latin typeface="Arial"/>
                <a:cs typeface="Arial"/>
              </a:rPr>
              <a:t>output.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best </a:t>
            </a:r>
            <a:r>
              <a:rPr dirty="0" sz="1150" spc="-60">
                <a:latin typeface="Arial"/>
                <a:cs typeface="Arial"/>
              </a:rPr>
              <a:t>companies </a:t>
            </a:r>
            <a:r>
              <a:rPr dirty="0" sz="1150" spc="-70">
                <a:latin typeface="Arial"/>
                <a:cs typeface="Arial"/>
              </a:rPr>
              <a:t>emphasize </a:t>
            </a:r>
            <a:r>
              <a:rPr dirty="0" sz="1150" spc="-60">
                <a:latin typeface="Arial"/>
                <a:cs typeface="Arial"/>
              </a:rPr>
              <a:t>designing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>
                <a:latin typeface="Arial"/>
                <a:cs typeface="Arial"/>
              </a:rPr>
              <a:t>into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process, </a:t>
            </a:r>
            <a:r>
              <a:rPr dirty="0" sz="1150" spc="-30">
                <a:latin typeface="Arial"/>
                <a:cs typeface="Arial"/>
              </a:rPr>
              <a:t>thereby </a:t>
            </a:r>
            <a:r>
              <a:rPr dirty="0" sz="1150" spc="-35">
                <a:latin typeface="Arial"/>
                <a:cs typeface="Arial"/>
              </a:rPr>
              <a:t>greatly </a:t>
            </a:r>
            <a:r>
              <a:rPr dirty="0" sz="1150" spc="-45">
                <a:latin typeface="Arial"/>
                <a:cs typeface="Arial"/>
              </a:rPr>
              <a:t>reducing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need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5">
                <a:latin typeface="Arial"/>
                <a:cs typeface="Arial"/>
              </a:rPr>
              <a:t>inspection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15">
                <a:latin typeface="Arial"/>
                <a:cs typeface="Arial"/>
              </a:rPr>
              <a:t>control efforts.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45">
                <a:latin typeface="Arial"/>
                <a:cs typeface="Arial"/>
              </a:rPr>
              <a:t>you  </a:t>
            </a:r>
            <a:r>
              <a:rPr dirty="0" sz="1150" spc="-25">
                <a:latin typeface="Arial"/>
                <a:cs typeface="Arial"/>
              </a:rPr>
              <a:t>might </a:t>
            </a:r>
            <a:r>
              <a:rPr dirty="0" sz="1150" spc="-45">
                <a:latin typeface="Arial"/>
                <a:cs typeface="Arial"/>
              </a:rPr>
              <a:t>expect,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45">
                <a:latin typeface="Arial"/>
                <a:cs typeface="Arial"/>
              </a:rPr>
              <a:t>organizations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75">
                <a:latin typeface="Arial"/>
                <a:cs typeface="Arial"/>
              </a:rPr>
              <a:t>stages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this evolutionary  </a:t>
            </a:r>
            <a:r>
              <a:rPr dirty="0" sz="1150" spc="-65">
                <a:latin typeface="Arial"/>
                <a:cs typeface="Arial"/>
              </a:rPr>
              <a:t>process.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least </a:t>
            </a:r>
            <a:r>
              <a:rPr dirty="0" sz="1150" spc="-55">
                <a:latin typeface="Arial"/>
                <a:cs typeface="Arial"/>
              </a:rPr>
              <a:t>progressive </a:t>
            </a:r>
            <a:r>
              <a:rPr dirty="0" sz="1150" spc="-30">
                <a:latin typeface="Arial"/>
                <a:cs typeface="Arial"/>
              </a:rPr>
              <a:t>rely </a:t>
            </a:r>
            <a:r>
              <a:rPr dirty="0" sz="1150" spc="-45">
                <a:latin typeface="Arial"/>
                <a:cs typeface="Arial"/>
              </a:rPr>
              <a:t>heavily </a:t>
            </a:r>
            <a:r>
              <a:rPr dirty="0" sz="1150" spc="-35">
                <a:latin typeface="Arial"/>
                <a:cs typeface="Arial"/>
              </a:rPr>
              <a:t>on inspection. </a:t>
            </a:r>
            <a:r>
              <a:rPr dirty="0" sz="1150" spc="-40">
                <a:latin typeface="Arial"/>
                <a:cs typeface="Arial"/>
              </a:rPr>
              <a:t>Many </a:t>
            </a:r>
            <a:r>
              <a:rPr dirty="0" sz="1150" spc="-60">
                <a:latin typeface="Arial"/>
                <a:cs typeface="Arial"/>
              </a:rPr>
              <a:t>occupy </a:t>
            </a:r>
            <a:r>
              <a:rPr dirty="0" sz="1150" spc="-30">
                <a:latin typeface="Arial"/>
                <a:cs typeface="Arial"/>
              </a:rPr>
              <a:t>middle </a:t>
            </a:r>
            <a:r>
              <a:rPr dirty="0" sz="1150" spc="-40">
                <a:latin typeface="Arial"/>
                <a:cs typeface="Arial"/>
              </a:rPr>
              <a:t>ground 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0">
                <a:latin typeface="Arial"/>
                <a:cs typeface="Arial"/>
              </a:rPr>
              <a:t>involves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40">
                <a:latin typeface="Arial"/>
                <a:cs typeface="Arial"/>
              </a:rPr>
              <a:t>inspection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large deal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 spc="-20">
                <a:latin typeface="Arial"/>
                <a:cs typeface="Arial"/>
              </a:rPr>
              <a:t>control.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most </a:t>
            </a:r>
            <a:r>
              <a:rPr dirty="0" sz="1150" spc="-55">
                <a:latin typeface="Arial"/>
                <a:cs typeface="Arial"/>
              </a:rPr>
              <a:t>progressive 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60">
                <a:latin typeface="Arial"/>
                <a:cs typeface="Arial"/>
              </a:rPr>
              <a:t>achieved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25">
                <a:latin typeface="Arial"/>
                <a:cs typeface="Arial"/>
              </a:rPr>
              <a:t>inherent </a:t>
            </a:r>
            <a:r>
              <a:rPr dirty="0" sz="1150" spc="-40">
                <a:latin typeface="Arial"/>
                <a:cs typeface="Arial"/>
              </a:rPr>
              <a:t>level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5">
                <a:latin typeface="Arial"/>
                <a:cs typeface="Arial"/>
              </a:rPr>
              <a:t>is </a:t>
            </a:r>
            <a:r>
              <a:rPr dirty="0" sz="1150" spc="-25">
                <a:latin typeface="Arial"/>
                <a:cs typeface="Arial"/>
              </a:rPr>
              <a:t>sufficiently </a:t>
            </a:r>
            <a:r>
              <a:rPr dirty="0" sz="1150" spc="-45">
                <a:latin typeface="Arial"/>
                <a:cs typeface="Arial"/>
              </a:rPr>
              <a:t>high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5">
                <a:latin typeface="Arial"/>
                <a:cs typeface="Arial"/>
              </a:rPr>
              <a:t>they </a:t>
            </a:r>
            <a:r>
              <a:rPr dirty="0" sz="1150" spc="-45">
                <a:latin typeface="Arial"/>
                <a:cs typeface="Arial"/>
              </a:rPr>
              <a:t>avoid  </a:t>
            </a:r>
            <a:r>
              <a:rPr dirty="0" sz="1150" spc="-50">
                <a:latin typeface="Arial"/>
                <a:cs typeface="Arial"/>
              </a:rPr>
              <a:t>wholesale </a:t>
            </a:r>
            <a:r>
              <a:rPr dirty="0" sz="1150" spc="-40">
                <a:latin typeface="Arial"/>
                <a:cs typeface="Arial"/>
              </a:rPr>
              <a:t>inspection </a:t>
            </a:r>
            <a:r>
              <a:rPr dirty="0" sz="1150" spc="-35">
                <a:latin typeface="Arial"/>
                <a:cs typeface="Arial"/>
              </a:rPr>
              <a:t>activities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 spc="-20">
                <a:latin typeface="Arial"/>
                <a:cs typeface="Arial"/>
              </a:rPr>
              <a:t>control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activities.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35">
                <a:latin typeface="Arial"/>
                <a:cs typeface="Arial"/>
              </a:rPr>
              <a:t>Prior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increased </a:t>
            </a:r>
            <a:r>
              <a:rPr dirty="0" sz="1150" spc="-40">
                <a:latin typeface="Arial"/>
                <a:cs typeface="Arial"/>
              </a:rPr>
              <a:t>level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Japanese </a:t>
            </a:r>
            <a:r>
              <a:rPr dirty="0" sz="1150" spc="-20">
                <a:latin typeface="Arial"/>
                <a:cs typeface="Arial"/>
              </a:rPr>
              <a:t>competition in the </a:t>
            </a:r>
            <a:r>
              <a:rPr dirty="0" sz="1150" spc="-100">
                <a:latin typeface="Arial"/>
                <a:cs typeface="Arial"/>
              </a:rPr>
              <a:t>U.S. </a:t>
            </a:r>
            <a:r>
              <a:rPr dirty="0" sz="1150" spc="-45">
                <a:latin typeface="Arial"/>
                <a:cs typeface="Arial"/>
              </a:rPr>
              <a:t>marketplace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70">
                <a:latin typeface="Arial"/>
                <a:cs typeface="Arial"/>
              </a:rPr>
              <a:t>1970s 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1980s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-10">
                <a:latin typeface="Arial"/>
                <a:cs typeface="Arial"/>
              </a:rPr>
              <a:t>often </a:t>
            </a:r>
            <a:r>
              <a:rPr dirty="0" sz="1150" spc="-25">
                <a:latin typeface="Arial"/>
                <a:cs typeface="Arial"/>
              </a:rPr>
              <a:t>got </a:t>
            </a:r>
            <a:r>
              <a:rPr dirty="0" sz="1150" spc="-80">
                <a:latin typeface="Arial"/>
                <a:cs typeface="Arial"/>
              </a:rPr>
              <a:t>less </a:t>
            </a:r>
            <a:r>
              <a:rPr dirty="0" sz="1150" spc="-30">
                <a:latin typeface="Arial"/>
                <a:cs typeface="Arial"/>
              </a:rPr>
              <a:t>than they </a:t>
            </a:r>
            <a:r>
              <a:rPr dirty="0" sz="1150" spc="-45">
                <a:latin typeface="Arial"/>
                <a:cs typeface="Arial"/>
              </a:rPr>
              <a:t>paid </a:t>
            </a:r>
            <a:r>
              <a:rPr dirty="0" sz="1150" spc="5">
                <a:latin typeface="Arial"/>
                <a:cs typeface="Arial"/>
              </a:rPr>
              <a:t>for with </a:t>
            </a:r>
            <a:r>
              <a:rPr dirty="0" sz="1150" spc="-80">
                <a:latin typeface="Arial"/>
                <a:cs typeface="Arial"/>
              </a:rPr>
              <a:t>U.S-made </a:t>
            </a:r>
            <a:r>
              <a:rPr dirty="0" sz="1150" spc="-35">
                <a:latin typeface="Arial"/>
                <a:cs typeface="Arial"/>
              </a:rPr>
              <a:t>products; </a:t>
            </a:r>
            <a:r>
              <a:rPr dirty="0" sz="1150" spc="-25">
                <a:latin typeface="Arial"/>
                <a:cs typeface="Arial"/>
              </a:rPr>
              <a:t>quality  </a:t>
            </a:r>
            <a:r>
              <a:rPr dirty="0" sz="1150" spc="-75">
                <a:latin typeface="Arial"/>
                <a:cs typeface="Arial"/>
              </a:rPr>
              <a:t>was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35">
                <a:latin typeface="Arial"/>
                <a:cs typeface="Arial"/>
              </a:rPr>
              <a:t>uppermost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50">
                <a:latin typeface="Arial"/>
                <a:cs typeface="Arial"/>
              </a:rPr>
              <a:t>minds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00">
                <a:latin typeface="Arial"/>
                <a:cs typeface="Arial"/>
              </a:rPr>
              <a:t>U.S. </a:t>
            </a:r>
            <a:r>
              <a:rPr dirty="0" sz="1150" spc="-75">
                <a:latin typeface="Arial"/>
                <a:cs typeface="Arial"/>
              </a:rPr>
              <a:t>business </a:t>
            </a:r>
            <a:r>
              <a:rPr dirty="0" sz="1150" spc="-45">
                <a:latin typeface="Arial"/>
                <a:cs typeface="Arial"/>
              </a:rPr>
              <a:t>organizations. </a:t>
            </a:r>
            <a:r>
              <a:rPr dirty="0" sz="1150" spc="-75">
                <a:latin typeface="Arial"/>
                <a:cs typeface="Arial"/>
              </a:rPr>
              <a:t>Perhaps </a:t>
            </a:r>
            <a:r>
              <a:rPr dirty="0" sz="1150" spc="-95">
                <a:latin typeface="Arial"/>
                <a:cs typeface="Arial"/>
              </a:rPr>
              <a:t>Japanese  </a:t>
            </a:r>
            <a:r>
              <a:rPr dirty="0" sz="1150" spc="-40">
                <a:latin typeface="Arial"/>
                <a:cs typeface="Arial"/>
              </a:rPr>
              <a:t>captured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significant </a:t>
            </a:r>
            <a:r>
              <a:rPr dirty="0" sz="1150" spc="-65">
                <a:latin typeface="Arial"/>
                <a:cs typeface="Arial"/>
              </a:rPr>
              <a:t>share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00">
                <a:latin typeface="Arial"/>
                <a:cs typeface="Arial"/>
              </a:rPr>
              <a:t>U.S.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market.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65">
                <a:latin typeface="Arial"/>
                <a:cs typeface="Arial"/>
              </a:rPr>
              <a:t>Deming </a:t>
            </a:r>
            <a:r>
              <a:rPr dirty="0" sz="1150" spc="-80">
                <a:latin typeface="Arial"/>
                <a:cs typeface="Arial"/>
              </a:rPr>
              <a:t>was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senior guru.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statistics </a:t>
            </a:r>
            <a:r>
              <a:rPr dirty="0" sz="1150" spc="-45">
                <a:latin typeface="Arial"/>
                <a:cs typeface="Arial"/>
              </a:rPr>
              <a:t>professor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55">
                <a:latin typeface="Arial"/>
                <a:cs typeface="Arial"/>
              </a:rPr>
              <a:t>New </a:t>
            </a:r>
            <a:r>
              <a:rPr dirty="0" sz="1150" spc="-70">
                <a:latin typeface="Arial"/>
                <a:cs typeface="Arial"/>
              </a:rPr>
              <a:t>York </a:t>
            </a:r>
            <a:r>
              <a:rPr dirty="0" sz="1150" spc="-40">
                <a:latin typeface="Arial"/>
                <a:cs typeface="Arial"/>
              </a:rPr>
              <a:t>University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65">
                <a:latin typeface="Arial"/>
                <a:cs typeface="Arial"/>
              </a:rPr>
              <a:t>1940s, 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15">
                <a:latin typeface="Arial"/>
                <a:cs typeface="Arial"/>
              </a:rPr>
              <a:t>went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95">
                <a:latin typeface="Arial"/>
                <a:cs typeface="Arial"/>
              </a:rPr>
              <a:t>Japan </a:t>
            </a: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25">
                <a:latin typeface="Arial"/>
                <a:cs typeface="Arial"/>
              </a:rPr>
              <a:t>World </a:t>
            </a:r>
            <a:r>
              <a:rPr dirty="0" sz="1150" spc="-50">
                <a:latin typeface="Arial"/>
                <a:cs typeface="Arial"/>
              </a:rPr>
              <a:t>War </a:t>
            </a:r>
            <a:r>
              <a:rPr dirty="0" sz="1150" spc="-35">
                <a:latin typeface="Arial"/>
                <a:cs typeface="Arial"/>
              </a:rPr>
              <a:t>II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assist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90">
                <a:latin typeface="Arial"/>
                <a:cs typeface="Arial"/>
              </a:rPr>
              <a:t>Japanese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improving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20">
                <a:latin typeface="Arial"/>
                <a:cs typeface="Arial"/>
              </a:rPr>
              <a:t>productivity. </a:t>
            </a:r>
            <a:r>
              <a:rPr dirty="0" sz="1150" spc="-65">
                <a:latin typeface="Arial"/>
                <a:cs typeface="Arial"/>
              </a:rPr>
              <a:t>Deming </a:t>
            </a:r>
            <a:r>
              <a:rPr dirty="0" sz="1150" spc="-40">
                <a:latin typeface="Arial"/>
                <a:cs typeface="Arial"/>
              </a:rPr>
              <a:t>compiled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famous </a:t>
            </a:r>
            <a:r>
              <a:rPr dirty="0" sz="1150" spc="-15">
                <a:latin typeface="Arial"/>
                <a:cs typeface="Arial"/>
              </a:rPr>
              <a:t>list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14 </a:t>
            </a:r>
            <a:r>
              <a:rPr dirty="0" sz="1150" spc="-30">
                <a:latin typeface="Arial"/>
                <a:cs typeface="Arial"/>
              </a:rPr>
              <a:t>points </a:t>
            </a:r>
            <a:r>
              <a:rPr dirty="0" sz="1150" spc="-55">
                <a:latin typeface="Arial"/>
                <a:cs typeface="Arial"/>
              </a:rPr>
              <a:t>he </a:t>
            </a:r>
            <a:r>
              <a:rPr dirty="0" sz="1150" spc="-45">
                <a:latin typeface="Arial"/>
                <a:cs typeface="Arial"/>
              </a:rPr>
              <a:t>believed </a:t>
            </a:r>
            <a:r>
              <a:rPr dirty="0" sz="1150" spc="-35">
                <a:latin typeface="Arial"/>
                <a:cs typeface="Arial"/>
              </a:rPr>
              <a:t>were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30">
                <a:latin typeface="Arial"/>
                <a:cs typeface="Arial"/>
              </a:rPr>
              <a:t>prescription </a:t>
            </a:r>
            <a:r>
              <a:rPr dirty="0" sz="1150" spc="-55">
                <a:latin typeface="Arial"/>
                <a:cs typeface="Arial"/>
              </a:rPr>
              <a:t>needed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achieve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5">
                <a:latin typeface="Arial"/>
                <a:cs typeface="Arial"/>
              </a:rPr>
              <a:t>an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organization.</a:t>
            </a:r>
            <a:endParaRPr sz="11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25"/>
              </a:spcBef>
            </a:pPr>
            <a:r>
              <a:rPr dirty="0" sz="1150" spc="-95">
                <a:latin typeface="Arial"/>
                <a:cs typeface="Arial"/>
              </a:rPr>
              <a:t>Some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them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75">
                <a:latin typeface="Arial"/>
                <a:cs typeface="Arial"/>
              </a:rPr>
              <a:t>discussed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here:</a:t>
            </a:r>
            <a:endParaRPr sz="11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55">
                <a:latin typeface="Arial"/>
                <a:cs typeface="Arial"/>
              </a:rPr>
              <a:t>Organizations </a:t>
            </a:r>
            <a:r>
              <a:rPr dirty="0" sz="1150" spc="-45">
                <a:latin typeface="Arial"/>
                <a:cs typeface="Arial"/>
              </a:rPr>
              <a:t>should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adopt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philosophy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quality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rather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than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quantity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50">
                <a:latin typeface="Arial"/>
                <a:cs typeface="Arial"/>
              </a:rPr>
              <a:t>Training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continuous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system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50">
                <a:latin typeface="Arial"/>
                <a:cs typeface="Arial"/>
              </a:rPr>
              <a:t>Training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key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achieve </a:t>
            </a:r>
            <a:r>
              <a:rPr dirty="0" sz="1150" spc="-40">
                <a:latin typeface="Arial"/>
                <a:cs typeface="Arial"/>
              </a:rPr>
              <a:t>Total </a:t>
            </a:r>
            <a:r>
              <a:rPr dirty="0" sz="1150" spc="-35">
                <a:latin typeface="Arial"/>
                <a:cs typeface="Arial"/>
              </a:rPr>
              <a:t>Quality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Management</a:t>
            </a:r>
            <a:endParaRPr sz="11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25">
                <a:latin typeface="Arial"/>
                <a:cs typeface="Arial"/>
              </a:rPr>
              <a:t>Modern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techniques</a:t>
            </a:r>
            <a:r>
              <a:rPr dirty="0" sz="1150" spc="-50">
                <a:latin typeface="Arial"/>
                <a:cs typeface="Arial"/>
              </a:rPr>
              <a:t> should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used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train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staff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</a:t>
            </a:r>
            <a:endParaRPr sz="11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45">
                <a:latin typeface="Arial"/>
                <a:cs typeface="Arial"/>
              </a:rPr>
              <a:t>Workers </a:t>
            </a:r>
            <a:r>
              <a:rPr dirty="0" sz="1150" spc="-50">
                <a:latin typeface="Arial"/>
                <a:cs typeface="Arial"/>
              </a:rPr>
              <a:t>should </a:t>
            </a:r>
            <a:r>
              <a:rPr dirty="0" sz="1150" spc="-35">
                <a:latin typeface="Arial"/>
                <a:cs typeface="Arial"/>
              </a:rPr>
              <a:t>bring </a:t>
            </a:r>
            <a:r>
              <a:rPr dirty="0" sz="1150" spc="-40">
                <a:latin typeface="Arial"/>
                <a:cs typeface="Arial"/>
              </a:rPr>
              <a:t>creative </a:t>
            </a:r>
            <a:r>
              <a:rPr dirty="0" sz="1150" spc="-65">
                <a:latin typeface="Arial"/>
                <a:cs typeface="Arial"/>
              </a:rPr>
              <a:t>ideas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improve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</a:t>
            </a:r>
            <a:endParaRPr sz="11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15">
                <a:latin typeface="Arial"/>
                <a:cs typeface="Arial"/>
              </a:rPr>
              <a:t>It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very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important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assure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workers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new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ideas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will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encouraged</a:t>
            </a:r>
            <a:endParaRPr sz="11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40">
                <a:latin typeface="Arial"/>
                <a:cs typeface="Arial"/>
              </a:rPr>
              <a:t>Statistical methods </a:t>
            </a:r>
            <a:r>
              <a:rPr dirty="0" sz="1150" spc="-50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measure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quality</a:t>
            </a:r>
            <a:endParaRPr sz="11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50">
                <a:latin typeface="Arial"/>
                <a:cs typeface="Arial"/>
              </a:rPr>
              <a:t>Barriers </a:t>
            </a:r>
            <a:r>
              <a:rPr dirty="0" sz="1150" spc="-35">
                <a:latin typeface="Arial"/>
                <a:cs typeface="Arial"/>
              </a:rPr>
              <a:t>between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35">
                <a:latin typeface="Arial"/>
                <a:cs typeface="Arial"/>
              </a:rPr>
              <a:t>departments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removed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172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17652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80" b="1">
                <a:latin typeface="Arial"/>
                <a:cs typeface="Arial"/>
              </a:rPr>
              <a:t>HUMAN </a:t>
            </a:r>
            <a:r>
              <a:rPr dirty="0" sz="1350" spc="-215" b="1">
                <a:latin typeface="Arial"/>
                <a:cs typeface="Arial"/>
              </a:rPr>
              <a:t>RESOURCE </a:t>
            </a:r>
            <a:r>
              <a:rPr dirty="0" sz="1350" spc="-125" b="1">
                <a:latin typeface="Arial"/>
                <a:cs typeface="Arial"/>
              </a:rPr>
              <a:t>MANAGEMENT </a:t>
            </a:r>
            <a:r>
              <a:rPr dirty="0" sz="1350" spc="-190" b="1">
                <a:latin typeface="Arial"/>
                <a:cs typeface="Arial"/>
              </a:rPr>
              <a:t>FOR </a:t>
            </a:r>
            <a:r>
              <a:rPr dirty="0" sz="1350" spc="-180" b="1">
                <a:latin typeface="Arial"/>
                <a:cs typeface="Arial"/>
              </a:rPr>
              <a:t>TOTAL </a:t>
            </a:r>
            <a:r>
              <a:rPr dirty="0" sz="1350" spc="-145" b="1">
                <a:latin typeface="Arial"/>
                <a:cs typeface="Arial"/>
              </a:rPr>
              <a:t>QUALITY</a:t>
            </a:r>
            <a:r>
              <a:rPr dirty="0" sz="1350" spc="-190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MANAGEMENT</a:t>
            </a:r>
            <a:endParaRPr sz="135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173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87479" y="1255271"/>
            <a:ext cx="9588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4685" y="1255271"/>
            <a:ext cx="4598035" cy="558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55">
                <a:latin typeface="Arial"/>
                <a:cs typeface="Arial"/>
              </a:rPr>
              <a:t>Selection </a:t>
            </a:r>
            <a:r>
              <a:rPr dirty="0" sz="1150" spc="-60">
                <a:latin typeface="Arial"/>
                <a:cs typeface="Arial"/>
              </a:rPr>
              <a:t>stage: </a:t>
            </a:r>
            <a:r>
              <a:rPr dirty="0" sz="1150" spc="-50">
                <a:latin typeface="Arial"/>
                <a:cs typeface="Arial"/>
              </a:rPr>
              <a:t>Organization </a:t>
            </a:r>
            <a:r>
              <a:rPr dirty="0" sz="1150" spc="-60">
                <a:latin typeface="Arial"/>
                <a:cs typeface="Arial"/>
              </a:rPr>
              <a:t>manager </a:t>
            </a:r>
            <a:r>
              <a:rPr dirty="0" sz="1150" spc="-35">
                <a:latin typeface="Arial"/>
                <a:cs typeface="Arial"/>
              </a:rPr>
              <a:t>must </a:t>
            </a:r>
            <a:r>
              <a:rPr dirty="0" sz="1150" spc="-60">
                <a:latin typeface="Arial"/>
                <a:cs typeface="Arial"/>
              </a:rPr>
              <a:t>make </a:t>
            </a:r>
            <a:r>
              <a:rPr dirty="0" sz="1150" spc="-55">
                <a:latin typeface="Arial"/>
                <a:cs typeface="Arial"/>
              </a:rPr>
              <a:t>sure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 spc="-45">
                <a:latin typeface="Arial"/>
                <a:cs typeface="Arial"/>
              </a:rPr>
              <a:t>people  </a:t>
            </a:r>
            <a:r>
              <a:rPr dirty="0" sz="1150" spc="-50">
                <a:latin typeface="Arial"/>
                <a:cs typeface="Arial"/>
              </a:rPr>
              <a:t>are selected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40">
                <a:latin typeface="Arial"/>
                <a:cs typeface="Arial"/>
              </a:rPr>
              <a:t>organization. </a:t>
            </a:r>
            <a:r>
              <a:rPr dirty="0" sz="1150" spc="-35">
                <a:latin typeface="Arial"/>
                <a:cs typeface="Arial"/>
              </a:rPr>
              <a:t>Quality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0">
                <a:latin typeface="Arial"/>
                <a:cs typeface="Arial"/>
              </a:rPr>
              <a:t>those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55">
                <a:latin typeface="Arial"/>
                <a:cs typeface="Arial"/>
              </a:rPr>
              <a:t>focus </a:t>
            </a:r>
            <a:r>
              <a:rPr dirty="0" sz="1150" spc="-35">
                <a:latin typeface="Arial"/>
                <a:cs typeface="Arial"/>
              </a:rPr>
              <a:t>on 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 spc="-20">
                <a:latin typeface="Arial"/>
                <a:cs typeface="Arial"/>
              </a:rPr>
              <a:t>rather </a:t>
            </a:r>
            <a:r>
              <a:rPr dirty="0" sz="1150" spc="-30">
                <a:latin typeface="Arial"/>
                <a:cs typeface="Arial"/>
              </a:rPr>
              <a:t>than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quantity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87479" y="1968503"/>
            <a:ext cx="129539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7480" y="2325118"/>
            <a:ext cx="1631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44685" y="1968503"/>
            <a:ext cx="4596765" cy="558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165">
                <a:latin typeface="Arial"/>
                <a:cs typeface="Arial"/>
              </a:rPr>
              <a:t>HR </a:t>
            </a:r>
            <a:r>
              <a:rPr dirty="0" sz="1150" spc="-60">
                <a:latin typeface="Arial"/>
                <a:cs typeface="Arial"/>
              </a:rPr>
              <a:t>manager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90">
                <a:latin typeface="Arial"/>
                <a:cs typeface="Arial"/>
              </a:rPr>
              <a:t>see </a:t>
            </a:r>
            <a:r>
              <a:rPr dirty="0" sz="1150" spc="-25">
                <a:latin typeface="Arial"/>
                <a:cs typeface="Arial"/>
              </a:rPr>
              <a:t>whether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5">
                <a:latin typeface="Arial"/>
                <a:cs typeface="Arial"/>
              </a:rPr>
              <a:t>particular </a:t>
            </a:r>
            <a:r>
              <a:rPr dirty="0" sz="1150" spc="-45">
                <a:latin typeface="Arial"/>
                <a:cs typeface="Arial"/>
              </a:rPr>
              <a:t>person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10">
                <a:latin typeface="Arial"/>
                <a:cs typeface="Arial"/>
              </a:rPr>
              <a:t>attitude </a:t>
            </a:r>
            <a:r>
              <a:rPr dirty="0" sz="1150" spc="-30">
                <a:latin typeface="Arial"/>
                <a:cs typeface="Arial"/>
              </a:rPr>
              <a:t>required 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not.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Attitudes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include: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150" spc="-70">
                <a:latin typeface="Arial"/>
                <a:cs typeface="Arial"/>
              </a:rPr>
              <a:t>Being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flexible</a:t>
            </a:r>
            <a:endParaRPr sz="1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1841" y="2503427"/>
            <a:ext cx="5190490" cy="34105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33755" indent="-229235">
              <a:lnSpc>
                <a:spcPct val="100000"/>
              </a:lnSpc>
              <a:spcBef>
                <a:spcPts val="100"/>
              </a:spcBef>
              <a:buFont typeface="Courier New"/>
              <a:buChar char="o"/>
              <a:tabLst>
                <a:tab pos="833755" algn="l"/>
                <a:tab pos="834390" algn="l"/>
              </a:tabLst>
            </a:pPr>
            <a:r>
              <a:rPr dirty="0" sz="1150" spc="-70">
                <a:latin typeface="Arial"/>
                <a:cs typeface="Arial"/>
              </a:rPr>
              <a:t>Being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acceptable</a:t>
            </a:r>
            <a:endParaRPr sz="1150">
              <a:latin typeface="Arial"/>
              <a:cs typeface="Arial"/>
            </a:endParaRPr>
          </a:p>
          <a:p>
            <a:pPr marL="833755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833755" algn="l"/>
                <a:tab pos="834390" algn="l"/>
              </a:tabLst>
            </a:pPr>
            <a:r>
              <a:rPr dirty="0" sz="1150" spc="-35">
                <a:latin typeface="Arial"/>
                <a:cs typeface="Arial"/>
              </a:rPr>
              <a:t>Quality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Conscious</a:t>
            </a:r>
            <a:endParaRPr sz="1150">
              <a:latin typeface="Arial"/>
              <a:cs typeface="Arial"/>
            </a:endParaRPr>
          </a:p>
          <a:p>
            <a:pPr marL="833755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833755" algn="l"/>
                <a:tab pos="834390" algn="l"/>
              </a:tabLst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25">
                <a:latin typeface="Arial"/>
                <a:cs typeface="Arial"/>
              </a:rPr>
              <a:t>work </a:t>
            </a:r>
            <a:r>
              <a:rPr dirty="0" sz="1150" spc="-20">
                <a:latin typeface="Arial"/>
                <a:cs typeface="Arial"/>
              </a:rPr>
              <a:t>in the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team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376555" indent="-364490">
              <a:lnSpc>
                <a:spcPct val="100000"/>
              </a:lnSpc>
              <a:buAutoNum type="romanLcPeriod" startAt="4"/>
              <a:tabLst>
                <a:tab pos="376555" algn="l"/>
                <a:tab pos="377190" algn="l"/>
              </a:tabLst>
            </a:pPr>
            <a:r>
              <a:rPr dirty="0" sz="1150" spc="-50">
                <a:latin typeface="Arial"/>
                <a:cs typeface="Arial"/>
              </a:rPr>
              <a:t>Training </a:t>
            </a:r>
            <a:r>
              <a:rPr dirty="0" sz="1150" spc="-80">
                <a:latin typeface="Arial"/>
                <a:cs typeface="Arial"/>
              </a:rPr>
              <a:t>Stage: </a:t>
            </a:r>
            <a:r>
              <a:rPr dirty="0" sz="1150" spc="-165">
                <a:latin typeface="Arial"/>
                <a:cs typeface="Arial"/>
              </a:rPr>
              <a:t>HR </a:t>
            </a:r>
            <a:r>
              <a:rPr dirty="0" sz="1150" spc="-60">
                <a:latin typeface="Arial"/>
                <a:cs typeface="Arial"/>
              </a:rPr>
              <a:t>manager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10">
                <a:latin typeface="Arial"/>
                <a:cs typeface="Arial"/>
              </a:rPr>
              <a:t>train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15">
                <a:latin typeface="Arial"/>
                <a:cs typeface="Arial"/>
              </a:rPr>
              <a:t>filed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of:</a:t>
            </a:r>
            <a:endParaRPr sz="1150">
              <a:latin typeface="Arial"/>
              <a:cs typeface="Arial"/>
            </a:endParaRPr>
          </a:p>
          <a:p>
            <a:pPr lvl="1" marL="833755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833755" algn="l"/>
                <a:tab pos="834390" algn="l"/>
              </a:tabLst>
            </a:pPr>
            <a:r>
              <a:rPr dirty="0" sz="1150" spc="-35">
                <a:latin typeface="Arial"/>
                <a:cs typeface="Arial"/>
              </a:rPr>
              <a:t>Quality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Awareness</a:t>
            </a:r>
            <a:endParaRPr sz="1150">
              <a:latin typeface="Arial"/>
              <a:cs typeface="Arial"/>
            </a:endParaRPr>
          </a:p>
          <a:p>
            <a:pPr lvl="1" marL="833755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833755" algn="l"/>
                <a:tab pos="834390" algn="l"/>
              </a:tabLst>
            </a:pPr>
            <a:r>
              <a:rPr dirty="0" sz="1150" spc="-35">
                <a:latin typeface="Arial"/>
                <a:cs typeface="Arial"/>
              </a:rPr>
              <a:t>Quality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Achievement</a:t>
            </a:r>
            <a:endParaRPr sz="1150">
              <a:latin typeface="Arial"/>
              <a:cs typeface="Arial"/>
            </a:endParaRPr>
          </a:p>
          <a:p>
            <a:pPr lvl="1" marL="833755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833755" algn="l"/>
                <a:tab pos="834390" algn="l"/>
              </a:tabLst>
            </a:pPr>
            <a:r>
              <a:rPr dirty="0" sz="1150" spc="-40">
                <a:latin typeface="Arial"/>
                <a:cs typeface="Arial"/>
              </a:rPr>
              <a:t>Statistical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Techniques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Courier New"/>
              <a:buChar char="o"/>
            </a:pPr>
            <a:endParaRPr sz="1200">
              <a:latin typeface="Arial"/>
              <a:cs typeface="Arial"/>
            </a:endParaRPr>
          </a:p>
          <a:p>
            <a:pPr marL="376555" indent="-331470">
              <a:lnSpc>
                <a:spcPct val="100000"/>
              </a:lnSpc>
              <a:buAutoNum type="romanLcPeriod" startAt="4"/>
              <a:tabLst>
                <a:tab pos="376555" algn="l"/>
                <a:tab pos="377190" algn="l"/>
              </a:tabLst>
            </a:pPr>
            <a:r>
              <a:rPr dirty="0" sz="1150" spc="-45">
                <a:latin typeface="Arial"/>
                <a:cs typeface="Arial"/>
              </a:rPr>
              <a:t>Personality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Development</a:t>
            </a:r>
            <a:endParaRPr sz="1150">
              <a:latin typeface="Arial"/>
              <a:cs typeface="Arial"/>
            </a:endParaRPr>
          </a:p>
          <a:p>
            <a:pPr lvl="1" marL="833755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833755" algn="l"/>
                <a:tab pos="834390" algn="l"/>
              </a:tabLst>
            </a:pPr>
            <a:r>
              <a:rPr dirty="0" sz="1150" spc="-85">
                <a:latin typeface="Arial"/>
                <a:cs typeface="Arial"/>
              </a:rPr>
              <a:t>Team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leading</a:t>
            </a:r>
            <a:endParaRPr sz="1150">
              <a:latin typeface="Arial"/>
              <a:cs typeface="Arial"/>
            </a:endParaRPr>
          </a:p>
          <a:p>
            <a:pPr lvl="1" marL="833755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833755" algn="l"/>
                <a:tab pos="834390" algn="l"/>
              </a:tabLst>
            </a:pPr>
            <a:r>
              <a:rPr dirty="0" sz="1150" spc="-15">
                <a:latin typeface="Arial"/>
                <a:cs typeface="Arial"/>
              </a:rPr>
              <a:t>Mind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adjustment</a:t>
            </a:r>
            <a:endParaRPr sz="1150">
              <a:latin typeface="Arial"/>
              <a:cs typeface="Arial"/>
            </a:endParaRPr>
          </a:p>
          <a:p>
            <a:pPr lvl="1" marL="833755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833755" algn="l"/>
                <a:tab pos="834390" algn="l"/>
              </a:tabLst>
            </a:pPr>
            <a:r>
              <a:rPr dirty="0" sz="1150" spc="-80">
                <a:latin typeface="Arial"/>
                <a:cs typeface="Arial"/>
              </a:rPr>
              <a:t>Changing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paradigm</a:t>
            </a:r>
            <a:endParaRPr sz="1150">
              <a:latin typeface="Arial"/>
              <a:cs typeface="Arial"/>
            </a:endParaRPr>
          </a:p>
          <a:p>
            <a:pPr lvl="1" marL="833755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833755" algn="l"/>
                <a:tab pos="834390" algn="l"/>
              </a:tabLst>
            </a:pPr>
            <a:r>
              <a:rPr dirty="0" sz="1150" spc="-45">
                <a:latin typeface="Arial"/>
                <a:cs typeface="Arial"/>
              </a:rPr>
              <a:t>Avoiding </a:t>
            </a:r>
            <a:r>
              <a:rPr dirty="0" sz="1150" spc="-50">
                <a:latin typeface="Arial"/>
                <a:cs typeface="Arial"/>
              </a:rPr>
              <a:t>box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thinking</a:t>
            </a:r>
            <a:endParaRPr sz="1150">
              <a:latin typeface="Arial"/>
              <a:cs typeface="Arial"/>
            </a:endParaRPr>
          </a:p>
          <a:p>
            <a:pPr lvl="1" marL="833755" indent="-229235">
              <a:lnSpc>
                <a:spcPct val="100000"/>
              </a:lnSpc>
              <a:spcBef>
                <a:spcPts val="20"/>
              </a:spcBef>
              <a:buFont typeface="Courier New"/>
              <a:buChar char="o"/>
              <a:tabLst>
                <a:tab pos="833755" algn="l"/>
                <a:tab pos="834390" algn="l"/>
              </a:tabLst>
            </a:pPr>
            <a:r>
              <a:rPr dirty="0" sz="1150" spc="-55">
                <a:latin typeface="Arial"/>
                <a:cs typeface="Arial"/>
              </a:rPr>
              <a:t>Developing </a:t>
            </a:r>
            <a:r>
              <a:rPr dirty="0" sz="1150" spc="-40">
                <a:latin typeface="Arial"/>
                <a:cs typeface="Arial"/>
              </a:rPr>
              <a:t>creative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ideas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Courier New"/>
              <a:buChar char="o"/>
            </a:pPr>
            <a:endParaRPr sz="1200">
              <a:latin typeface="Arial"/>
              <a:cs typeface="Arial"/>
            </a:endParaRPr>
          </a:p>
          <a:p>
            <a:pPr marL="376555" marR="5080" indent="-364490">
              <a:lnSpc>
                <a:spcPct val="101699"/>
              </a:lnSpc>
              <a:buAutoNum type="romanLcPeriod" startAt="4"/>
              <a:tabLst>
                <a:tab pos="376555" algn="l"/>
                <a:tab pos="377190" algn="l"/>
              </a:tabLst>
            </a:pPr>
            <a:r>
              <a:rPr dirty="0" sz="1150" spc="-55">
                <a:latin typeface="Arial"/>
                <a:cs typeface="Arial"/>
              </a:rPr>
              <a:t>Compensation: </a:t>
            </a:r>
            <a:r>
              <a:rPr dirty="0" sz="1150" spc="-165">
                <a:latin typeface="Arial"/>
                <a:cs typeface="Arial"/>
              </a:rPr>
              <a:t>HR </a:t>
            </a:r>
            <a:r>
              <a:rPr dirty="0" sz="1150" spc="-65">
                <a:latin typeface="Arial"/>
                <a:cs typeface="Arial"/>
              </a:rPr>
              <a:t>manager </a:t>
            </a:r>
            <a:r>
              <a:rPr dirty="0" sz="1150" spc="-45">
                <a:latin typeface="Arial"/>
                <a:cs typeface="Arial"/>
              </a:rPr>
              <a:t>should develop </a:t>
            </a:r>
            <a:r>
              <a:rPr dirty="0" sz="1150" spc="-60">
                <a:latin typeface="Arial"/>
                <a:cs typeface="Arial"/>
              </a:rPr>
              <a:t>special </a:t>
            </a:r>
            <a:r>
              <a:rPr dirty="0" sz="1150" spc="-70">
                <a:latin typeface="Arial"/>
                <a:cs typeface="Arial"/>
              </a:rPr>
              <a:t>systems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5">
                <a:latin typeface="Arial"/>
                <a:cs typeface="Arial"/>
              </a:rPr>
              <a:t>compensation. 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These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include:</a:t>
            </a:r>
            <a:endParaRPr sz="1150">
              <a:latin typeface="Arial"/>
              <a:cs typeface="Arial"/>
            </a:endParaRPr>
          </a:p>
          <a:p>
            <a:pPr lvl="1" marL="833755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833755" algn="l"/>
                <a:tab pos="834390" algn="l"/>
              </a:tabLst>
            </a:pPr>
            <a:r>
              <a:rPr dirty="0" sz="1150" spc="-55">
                <a:latin typeface="Arial"/>
                <a:cs typeface="Arial"/>
              </a:rPr>
              <a:t>Compensation </a:t>
            </a:r>
            <a:r>
              <a:rPr dirty="0" sz="1150" spc="-25">
                <a:latin typeface="Arial"/>
                <a:cs typeface="Arial"/>
              </a:rPr>
              <a:t>would </a:t>
            </a:r>
            <a:r>
              <a:rPr dirty="0" sz="1150" spc="-55">
                <a:latin typeface="Arial"/>
                <a:cs typeface="Arial"/>
              </a:rPr>
              <a:t>be given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whole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group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18317" y="6069585"/>
            <a:ext cx="19494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65">
                <a:latin typeface="Arial"/>
                <a:cs typeface="Arial"/>
              </a:rPr>
              <a:t>v</a:t>
            </a:r>
            <a:r>
              <a:rPr dirty="0" sz="1150">
                <a:latin typeface="Arial"/>
                <a:cs typeface="Arial"/>
              </a:rPr>
              <a:t>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16087" y="6069585"/>
            <a:ext cx="2435225" cy="377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latin typeface="Arial"/>
                <a:cs typeface="Arial"/>
              </a:rPr>
              <a:t>Performance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Appraisal:</a:t>
            </a:r>
            <a:endParaRPr sz="11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10"/>
              </a:spcBef>
              <a:tabLst>
                <a:tab pos="469265" algn="l"/>
              </a:tabLst>
            </a:pPr>
            <a:r>
              <a:rPr dirty="0" sz="1150" spc="-5">
                <a:latin typeface="Courier New"/>
                <a:cs typeface="Courier New"/>
              </a:rPr>
              <a:t>o	</a:t>
            </a:r>
            <a:r>
              <a:rPr dirty="0" sz="1150" spc="-50">
                <a:latin typeface="Arial"/>
                <a:cs typeface="Arial"/>
              </a:rPr>
              <a:t>Collective </a:t>
            </a:r>
            <a:r>
              <a:rPr dirty="0" sz="1150" spc="-40">
                <a:latin typeface="Arial"/>
                <a:cs typeface="Arial"/>
              </a:rPr>
              <a:t>performance</a:t>
            </a:r>
            <a:r>
              <a:rPr dirty="0" sz="1150" spc="-55">
                <a:latin typeface="Arial"/>
                <a:cs typeface="Arial"/>
              </a:rPr>
              <a:t> appraisal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84789" y="6602985"/>
            <a:ext cx="22860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65">
                <a:latin typeface="Arial"/>
                <a:cs typeface="Arial"/>
              </a:rPr>
              <a:t>v</a:t>
            </a:r>
            <a:r>
              <a:rPr dirty="0" sz="1150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16088" y="6602985"/>
            <a:ext cx="2506980" cy="379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40">
                <a:latin typeface="Arial"/>
                <a:cs typeface="Arial"/>
              </a:rPr>
              <a:t>Statistical </a:t>
            </a:r>
            <a:r>
              <a:rPr dirty="0" sz="1150" spc="-90">
                <a:latin typeface="Arial"/>
                <a:cs typeface="Arial"/>
              </a:rPr>
              <a:t>Process </a:t>
            </a:r>
            <a:r>
              <a:rPr dirty="0" sz="1150" spc="-35">
                <a:latin typeface="Arial"/>
                <a:cs typeface="Arial"/>
              </a:rPr>
              <a:t>Control:</a:t>
            </a:r>
            <a:endParaRPr sz="1150">
              <a:latin typeface="Arial"/>
              <a:cs typeface="Arial"/>
            </a:endParaRPr>
          </a:p>
          <a:p>
            <a:pPr marL="697865">
              <a:lnSpc>
                <a:spcPct val="100000"/>
              </a:lnSpc>
              <a:spcBef>
                <a:spcPts val="25"/>
              </a:spcBef>
            </a:pPr>
            <a:r>
              <a:rPr dirty="0" sz="1150" spc="-70">
                <a:latin typeface="Arial"/>
                <a:cs typeface="Arial"/>
              </a:rPr>
              <a:t>Using </a:t>
            </a:r>
            <a:r>
              <a:rPr dirty="0" sz="1150" spc="-30">
                <a:latin typeface="Arial"/>
                <a:cs typeface="Arial"/>
              </a:rPr>
              <a:t>statistical </a:t>
            </a:r>
            <a:r>
              <a:rPr dirty="0" sz="1150" spc="-45">
                <a:latin typeface="Arial"/>
                <a:cs typeface="Arial"/>
              </a:rPr>
              <a:t>techniques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in:</a:t>
            </a:r>
            <a:endParaRPr sz="11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44690" y="6959601"/>
            <a:ext cx="1254760" cy="735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Courier New"/>
              <a:buChar char="o"/>
              <a:tabLst>
                <a:tab pos="240665" algn="l"/>
                <a:tab pos="241300" algn="l"/>
              </a:tabLst>
            </a:pPr>
            <a:r>
              <a:rPr dirty="0" sz="1150" spc="-60">
                <a:latin typeface="Arial"/>
                <a:cs typeface="Arial"/>
              </a:rPr>
              <a:t>Planning</a:t>
            </a:r>
            <a:endParaRPr sz="115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240665" algn="l"/>
                <a:tab pos="241300" algn="l"/>
              </a:tabLst>
            </a:pPr>
            <a:r>
              <a:rPr dirty="0" sz="1150" spc="-55">
                <a:latin typeface="Arial"/>
                <a:cs typeface="Arial"/>
              </a:rPr>
              <a:t>Execution</a:t>
            </a:r>
            <a:endParaRPr sz="115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240665" algn="l"/>
                <a:tab pos="241300" algn="l"/>
              </a:tabLst>
            </a:pPr>
            <a:r>
              <a:rPr dirty="0" sz="1150" spc="-50">
                <a:latin typeface="Arial"/>
                <a:cs typeface="Arial"/>
              </a:rPr>
              <a:t>Problem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analysis</a:t>
            </a:r>
            <a:endParaRPr sz="115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20"/>
              </a:spcBef>
              <a:buFont typeface="Courier New"/>
              <a:buChar char="o"/>
              <a:tabLst>
                <a:tab pos="240665" algn="l"/>
                <a:tab pos="241300" algn="l"/>
              </a:tabLst>
            </a:pPr>
            <a:r>
              <a:rPr dirty="0" sz="1150" spc="-35">
                <a:latin typeface="Arial"/>
                <a:cs typeface="Arial"/>
              </a:rPr>
              <a:t>Control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408932" y="891035"/>
            <a:ext cx="4232910" cy="83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38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229" b="1">
                <a:latin typeface="Arial"/>
                <a:cs typeface="Arial"/>
              </a:rPr>
              <a:t>TOTAL </a:t>
            </a:r>
            <a:r>
              <a:rPr dirty="0" sz="1750" spc="-190" b="1">
                <a:latin typeface="Arial"/>
                <a:cs typeface="Arial"/>
              </a:rPr>
              <a:t>QUALITY</a:t>
            </a:r>
            <a:r>
              <a:rPr dirty="0" sz="1750" spc="-210" b="1">
                <a:latin typeface="Arial"/>
                <a:cs typeface="Arial"/>
              </a:rPr>
              <a:t> </a:t>
            </a:r>
            <a:r>
              <a:rPr dirty="0" sz="1750" spc="-160" b="1">
                <a:latin typeface="Arial"/>
                <a:cs typeface="Arial"/>
              </a:rPr>
              <a:t>MANAGEMENT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174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275" y="1884683"/>
            <a:ext cx="4984115" cy="6387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20" b="1">
                <a:latin typeface="Arial"/>
                <a:cs typeface="Arial"/>
              </a:rPr>
              <a:t>Cost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60" b="1">
                <a:latin typeface="Arial"/>
                <a:cs typeface="Arial"/>
              </a:rPr>
              <a:t>quality: </a:t>
            </a:r>
            <a:r>
              <a:rPr dirty="0" sz="1150" spc="-80">
                <a:latin typeface="Arial"/>
                <a:cs typeface="Arial"/>
              </a:rPr>
              <a:t>Cost </a:t>
            </a:r>
            <a:r>
              <a:rPr dirty="0" sz="1150" spc="-45">
                <a:latin typeface="Arial"/>
                <a:cs typeface="Arial"/>
              </a:rPr>
              <a:t>paid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30">
                <a:latin typeface="Arial"/>
                <a:cs typeface="Arial"/>
              </a:rPr>
              <a:t>market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10">
                <a:latin typeface="Arial"/>
                <a:cs typeface="Arial"/>
              </a:rPr>
              <a:t>not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having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 spc="-35">
                <a:latin typeface="Arial"/>
                <a:cs typeface="Arial"/>
              </a:rPr>
              <a:t>products.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30" b="1">
                <a:latin typeface="Arial"/>
                <a:cs typeface="Arial"/>
              </a:rPr>
              <a:t>Types </a:t>
            </a:r>
            <a:r>
              <a:rPr dirty="0" sz="1350" spc="-65" b="1">
                <a:latin typeface="Arial"/>
                <a:cs typeface="Arial"/>
              </a:rPr>
              <a:t>of</a:t>
            </a:r>
            <a:r>
              <a:rPr dirty="0" sz="1350" spc="-15" b="1">
                <a:latin typeface="Arial"/>
                <a:cs typeface="Arial"/>
              </a:rPr>
              <a:t> </a:t>
            </a:r>
            <a:r>
              <a:rPr dirty="0" sz="1350" spc="-125" b="1">
                <a:latin typeface="Arial"/>
                <a:cs typeface="Arial"/>
              </a:rPr>
              <a:t>cost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  <a:spcBef>
                <a:spcPts val="5"/>
              </a:spcBef>
            </a:pPr>
            <a:r>
              <a:rPr dirty="0" sz="1150" spc="-80" b="1">
                <a:latin typeface="Arial"/>
                <a:cs typeface="Arial"/>
              </a:rPr>
              <a:t>External </a:t>
            </a:r>
            <a:r>
              <a:rPr dirty="0" sz="1150" spc="-75" b="1">
                <a:latin typeface="Arial"/>
                <a:cs typeface="Arial"/>
              </a:rPr>
              <a:t>Failure </a:t>
            </a:r>
            <a:r>
              <a:rPr dirty="0" sz="1150" spc="-125" b="1">
                <a:latin typeface="Arial"/>
                <a:cs typeface="Arial"/>
              </a:rPr>
              <a:t>Costs: </a:t>
            </a:r>
            <a:r>
              <a:rPr dirty="0" sz="1150" spc="-80">
                <a:latin typeface="Arial"/>
                <a:cs typeface="Arial"/>
              </a:rPr>
              <a:t>Cost </a:t>
            </a:r>
            <a:r>
              <a:rPr dirty="0" sz="1150" spc="-30">
                <a:latin typeface="Arial"/>
                <a:cs typeface="Arial"/>
              </a:rPr>
              <a:t>incurred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65">
                <a:latin typeface="Arial"/>
                <a:cs typeface="Arial"/>
              </a:rPr>
              <a:t>managing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problems </a:t>
            </a:r>
            <a:r>
              <a:rPr dirty="0" sz="1150" spc="-55">
                <a:latin typeface="Arial"/>
                <a:cs typeface="Arial"/>
              </a:rPr>
              <a:t>faced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selling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20">
                <a:latin typeface="Arial"/>
                <a:cs typeface="Arial"/>
              </a:rPr>
              <a:t>in the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market.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90" b="1">
                <a:latin typeface="Arial"/>
                <a:cs typeface="Arial"/>
              </a:rPr>
              <a:t>External </a:t>
            </a:r>
            <a:r>
              <a:rPr dirty="0" sz="1350" spc="-65" b="1">
                <a:latin typeface="Arial"/>
                <a:cs typeface="Arial"/>
              </a:rPr>
              <a:t>failure </a:t>
            </a:r>
            <a:r>
              <a:rPr dirty="0" sz="1350" spc="-145" b="1">
                <a:latin typeface="Arial"/>
                <a:cs typeface="Arial"/>
              </a:rPr>
              <a:t>costs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95" b="1">
                <a:latin typeface="Arial"/>
                <a:cs typeface="Arial"/>
              </a:rPr>
              <a:t>include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80">
                <a:latin typeface="Arial"/>
                <a:cs typeface="Arial"/>
              </a:rPr>
              <a:t>Cost </a:t>
            </a:r>
            <a:r>
              <a:rPr dirty="0" sz="1150" spc="-30">
                <a:latin typeface="Arial"/>
                <a:cs typeface="Arial"/>
              </a:rPr>
              <a:t>incurred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85">
                <a:latin typeface="Arial"/>
                <a:cs typeface="Arial"/>
              </a:rPr>
              <a:t>sales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return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65">
                <a:latin typeface="Arial"/>
                <a:cs typeface="Arial"/>
              </a:rPr>
              <a:t>Repair </a:t>
            </a:r>
            <a:r>
              <a:rPr dirty="0" sz="1150" spc="-45">
                <a:latin typeface="Arial"/>
                <a:cs typeface="Arial"/>
              </a:rPr>
              <a:t>cost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faulty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goods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0"/>
              </a:spcBef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55">
                <a:latin typeface="Arial"/>
                <a:cs typeface="Arial"/>
              </a:rPr>
              <a:t>Customer service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cost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65">
                <a:latin typeface="Arial"/>
                <a:cs typeface="Arial"/>
              </a:rPr>
              <a:t>Repair </a:t>
            </a:r>
            <a:r>
              <a:rPr dirty="0" sz="1150" spc="-35">
                <a:latin typeface="Arial"/>
                <a:cs typeface="Arial"/>
              </a:rPr>
              <a:t>cist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returned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goods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35">
                <a:latin typeface="Arial"/>
                <a:cs typeface="Arial"/>
              </a:rPr>
              <a:t>Investigation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defects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45">
                <a:latin typeface="Arial"/>
                <a:cs typeface="Arial"/>
              </a:rPr>
              <a:t>Product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recalls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10"/>
              </a:spcBef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45">
                <a:latin typeface="Arial"/>
                <a:cs typeface="Arial"/>
              </a:rPr>
              <a:t>Product </a:t>
            </a:r>
            <a:r>
              <a:rPr dirty="0" sz="1150" spc="-15">
                <a:latin typeface="Arial"/>
                <a:cs typeface="Arial"/>
              </a:rPr>
              <a:t>liability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suits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Courier New"/>
              <a:buChar char="o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50" b="1">
                <a:latin typeface="Arial"/>
                <a:cs typeface="Arial"/>
              </a:rPr>
              <a:t>Internal </a:t>
            </a:r>
            <a:r>
              <a:rPr dirty="0" sz="1150" spc="-75" b="1">
                <a:latin typeface="Arial"/>
                <a:cs typeface="Arial"/>
              </a:rPr>
              <a:t>Failure </a:t>
            </a:r>
            <a:r>
              <a:rPr dirty="0" sz="1150" spc="-125" b="1">
                <a:latin typeface="Arial"/>
                <a:cs typeface="Arial"/>
              </a:rPr>
              <a:t>Costs: </a:t>
            </a:r>
            <a:r>
              <a:rPr dirty="0" sz="1150" spc="-25">
                <a:latin typeface="Arial"/>
                <a:cs typeface="Arial"/>
              </a:rPr>
              <a:t>Internal failure </a:t>
            </a:r>
            <a:r>
              <a:rPr dirty="0" sz="1150" spc="-65">
                <a:latin typeface="Arial"/>
                <a:cs typeface="Arial"/>
              </a:rPr>
              <a:t>costs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paid </a:t>
            </a:r>
            <a:r>
              <a:rPr dirty="0" sz="1150" spc="-5">
                <a:latin typeface="Arial"/>
                <a:cs typeface="Arial"/>
              </a:rPr>
              <a:t>within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60" b="1">
                <a:latin typeface="Arial"/>
                <a:cs typeface="Arial"/>
              </a:rPr>
              <a:t>Internal </a:t>
            </a:r>
            <a:r>
              <a:rPr dirty="0" sz="1350" spc="-65" b="1">
                <a:latin typeface="Arial"/>
                <a:cs typeface="Arial"/>
              </a:rPr>
              <a:t>failure </a:t>
            </a:r>
            <a:r>
              <a:rPr dirty="0" sz="1350" spc="-145" b="1">
                <a:latin typeface="Arial"/>
                <a:cs typeface="Arial"/>
              </a:rPr>
              <a:t>costs</a:t>
            </a:r>
            <a:r>
              <a:rPr dirty="0" sz="1350" spc="-90" b="1">
                <a:latin typeface="Arial"/>
                <a:cs typeface="Arial"/>
              </a:rPr>
              <a:t> </a:t>
            </a:r>
            <a:r>
              <a:rPr dirty="0" sz="1350" spc="-95" b="1">
                <a:latin typeface="Arial"/>
                <a:cs typeface="Arial"/>
              </a:rPr>
              <a:t>include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80">
                <a:latin typeface="Arial"/>
                <a:cs typeface="Arial"/>
              </a:rPr>
              <a:t>Cost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scrap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80">
                <a:latin typeface="Arial"/>
                <a:cs typeface="Arial"/>
              </a:rPr>
              <a:t>Cost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re-work </a:t>
            </a:r>
            <a:r>
              <a:rPr dirty="0" sz="1150" spc="-35">
                <a:latin typeface="Arial"/>
                <a:cs typeface="Arial"/>
              </a:rPr>
              <a:t>on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80">
                <a:latin typeface="Arial"/>
                <a:cs typeface="Arial"/>
              </a:rPr>
              <a:t>Cost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inspection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re-work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0"/>
              </a:spcBef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80">
                <a:latin typeface="Arial"/>
                <a:cs typeface="Arial"/>
              </a:rPr>
              <a:t>Cost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45">
                <a:latin typeface="Arial"/>
                <a:cs typeface="Arial"/>
              </a:rPr>
              <a:t> downgrading</a:t>
            </a:r>
            <a:endParaRPr sz="1150">
              <a:latin typeface="Arial"/>
              <a:cs typeface="Arial"/>
            </a:endParaRPr>
          </a:p>
          <a:p>
            <a:pPr marL="1384300">
              <a:lnSpc>
                <a:spcPct val="100000"/>
              </a:lnSpc>
              <a:spcBef>
                <a:spcPts val="25"/>
              </a:spcBef>
            </a:pPr>
            <a:r>
              <a:rPr dirty="0" sz="1150" spc="-45">
                <a:latin typeface="Arial"/>
                <a:cs typeface="Arial"/>
              </a:rPr>
              <a:t>Product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graded </a:t>
            </a:r>
            <a:r>
              <a:rPr dirty="0" sz="1150" spc="-35">
                <a:latin typeface="Arial"/>
                <a:cs typeface="Arial"/>
              </a:rPr>
              <a:t>below </a:t>
            </a:r>
            <a:r>
              <a:rPr dirty="0" sz="1150" spc="-45">
                <a:latin typeface="Arial"/>
                <a:cs typeface="Arial"/>
              </a:rPr>
              <a:t>standard </a:t>
            </a:r>
            <a:r>
              <a:rPr dirty="0" sz="1150" spc="-50">
                <a:latin typeface="Arial"/>
                <a:cs typeface="Arial"/>
              </a:rPr>
              <a:t>due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0">
                <a:latin typeface="Arial"/>
                <a:cs typeface="Arial"/>
              </a:rPr>
              <a:t>some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fault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00" b="1">
                <a:latin typeface="Arial"/>
                <a:cs typeface="Arial"/>
              </a:rPr>
              <a:t>Appraisal</a:t>
            </a:r>
            <a:r>
              <a:rPr dirty="0" sz="1350" spc="-65" b="1">
                <a:latin typeface="Arial"/>
                <a:cs typeface="Arial"/>
              </a:rPr>
              <a:t> </a:t>
            </a:r>
            <a:r>
              <a:rPr dirty="0" sz="1350" spc="-145" b="1">
                <a:latin typeface="Arial"/>
                <a:cs typeface="Arial"/>
              </a:rPr>
              <a:t>costs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</a:pPr>
            <a:r>
              <a:rPr dirty="0" sz="1150" spc="-55">
                <a:latin typeface="Arial"/>
                <a:cs typeface="Arial"/>
              </a:rPr>
              <a:t>Appraisal </a:t>
            </a:r>
            <a:r>
              <a:rPr dirty="0" sz="1150" spc="-65">
                <a:latin typeface="Arial"/>
                <a:cs typeface="Arial"/>
              </a:rPr>
              <a:t>costs </a:t>
            </a:r>
            <a:r>
              <a:rPr dirty="0" sz="1150" spc="-40">
                <a:latin typeface="Arial"/>
                <a:cs typeface="Arial"/>
              </a:rPr>
              <a:t>include </a:t>
            </a:r>
            <a:r>
              <a:rPr dirty="0" sz="1150" spc="-70">
                <a:latin typeface="Arial"/>
                <a:cs typeface="Arial"/>
              </a:rPr>
              <a:t>costs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of: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40">
                <a:latin typeface="Arial"/>
                <a:cs typeface="Arial"/>
              </a:rPr>
              <a:t>Inspection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45">
                <a:latin typeface="Arial"/>
                <a:cs typeface="Arial"/>
              </a:rPr>
              <a:t>Laboratory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Testing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45">
                <a:latin typeface="Arial"/>
                <a:cs typeface="Arial"/>
              </a:rPr>
              <a:t>Laboratory Equipment maintenance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Cost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0"/>
              </a:spcBef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40">
                <a:latin typeface="Arial"/>
                <a:cs typeface="Arial"/>
              </a:rPr>
              <a:t>Calibration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Testing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Equipment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464810" cy="51695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85" b="1">
                <a:latin typeface="Arial"/>
                <a:cs typeface="Arial"/>
              </a:rPr>
              <a:t>Prevention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40" b="1">
                <a:latin typeface="Arial"/>
                <a:cs typeface="Arial"/>
              </a:rPr>
              <a:t>Cost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80">
                <a:latin typeface="Arial"/>
                <a:cs typeface="Arial"/>
              </a:rPr>
              <a:t>Cost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making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preventive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network.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45">
                <a:latin typeface="Arial"/>
                <a:cs typeface="Arial"/>
              </a:rPr>
              <a:t>Managerial </a:t>
            </a:r>
            <a:r>
              <a:rPr dirty="0" sz="1150" spc="-35">
                <a:latin typeface="Arial"/>
                <a:cs typeface="Arial"/>
              </a:rPr>
              <a:t>Work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quality</a:t>
            </a:r>
            <a:endParaRPr sz="115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  <a:spcBef>
                <a:spcPts val="20"/>
              </a:spcBef>
            </a:pPr>
            <a:r>
              <a:rPr dirty="0" sz="1150" spc="15">
                <a:latin typeface="Arial"/>
                <a:cs typeface="Arial"/>
              </a:rPr>
              <a:t>It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includes:</a:t>
            </a:r>
            <a:endParaRPr sz="1150">
              <a:latin typeface="Arial"/>
              <a:cs typeface="Arial"/>
            </a:endParaRPr>
          </a:p>
          <a:p>
            <a:pPr lvl="1" marL="1384300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1384935" algn="l"/>
              </a:tabLst>
            </a:pPr>
            <a:r>
              <a:rPr dirty="0" sz="1150" spc="-35">
                <a:latin typeface="Arial"/>
                <a:cs typeface="Arial"/>
              </a:rPr>
              <a:t>Quality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Planning</a:t>
            </a:r>
            <a:endParaRPr sz="1150">
              <a:latin typeface="Arial"/>
              <a:cs typeface="Arial"/>
            </a:endParaRPr>
          </a:p>
          <a:p>
            <a:pPr lvl="1" marL="1384300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1384935" algn="l"/>
              </a:tabLst>
            </a:pPr>
            <a:r>
              <a:rPr dirty="0" sz="1150" spc="-40">
                <a:latin typeface="Arial"/>
                <a:cs typeface="Arial"/>
              </a:rPr>
              <a:t>Training-it’s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60">
                <a:latin typeface="Arial"/>
                <a:cs typeface="Arial"/>
              </a:rPr>
              <a:t>expensive area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40">
                <a:latin typeface="Arial"/>
                <a:cs typeface="Arial"/>
              </a:rPr>
              <a:t>requires continuous </a:t>
            </a:r>
            <a:r>
              <a:rPr dirty="0" sz="1150" spc="-60">
                <a:latin typeface="Arial"/>
                <a:cs typeface="Arial"/>
              </a:rPr>
              <a:t>spending </a:t>
            </a:r>
            <a:r>
              <a:rPr dirty="0" sz="1150" spc="-35">
                <a:latin typeface="Arial"/>
                <a:cs typeface="Arial"/>
              </a:rPr>
              <a:t>on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it.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80">
                <a:latin typeface="Arial"/>
                <a:cs typeface="Arial"/>
              </a:rPr>
              <a:t>Cost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 spc="-30">
                <a:latin typeface="Arial"/>
                <a:cs typeface="Arial"/>
              </a:rPr>
              <a:t>improvement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Process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90">
                <a:latin typeface="Arial"/>
                <a:cs typeface="Arial"/>
              </a:rPr>
              <a:t>Costs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60">
                <a:latin typeface="Arial"/>
                <a:cs typeface="Arial"/>
              </a:rPr>
              <a:t>using </a:t>
            </a:r>
            <a:r>
              <a:rPr dirty="0" sz="1150" spc="-30">
                <a:latin typeface="Arial"/>
                <a:cs typeface="Arial"/>
              </a:rPr>
              <a:t>statistical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Methods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0"/>
              </a:spcBef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80">
                <a:latin typeface="Arial"/>
                <a:cs typeface="Arial"/>
              </a:rPr>
              <a:t>Cost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5">
                <a:latin typeface="Arial"/>
                <a:cs typeface="Arial"/>
              </a:rPr>
              <a:t>maintenance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machinery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equipment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etc</a:t>
            </a:r>
            <a:endParaRPr sz="1150">
              <a:latin typeface="Arial"/>
              <a:cs typeface="Arial"/>
            </a:endParaRPr>
          </a:p>
          <a:p>
            <a:pPr marL="927100" indent="-229870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80">
                <a:latin typeface="Arial"/>
                <a:cs typeface="Arial"/>
              </a:rPr>
              <a:t>Cost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hiring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experts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Courier New"/>
              <a:buChar char="o"/>
            </a:pPr>
            <a:endParaRPr sz="1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40" b="1">
                <a:latin typeface="Arial"/>
                <a:cs typeface="Arial"/>
              </a:rPr>
              <a:t>ISO </a:t>
            </a:r>
            <a:r>
              <a:rPr dirty="0" sz="1350" spc="-75" b="1">
                <a:latin typeface="Arial"/>
                <a:cs typeface="Arial"/>
              </a:rPr>
              <a:t>2000: </a:t>
            </a:r>
            <a:r>
              <a:rPr dirty="0" sz="1350" spc="-70" b="1">
                <a:latin typeface="Arial"/>
                <a:cs typeface="Arial"/>
              </a:rPr>
              <a:t>9000 </a:t>
            </a:r>
            <a:r>
              <a:rPr dirty="0" sz="1350" spc="-80" b="1">
                <a:latin typeface="Arial"/>
                <a:cs typeface="Arial"/>
              </a:rPr>
              <a:t>Certification</a:t>
            </a:r>
            <a:r>
              <a:rPr dirty="0" sz="1350" spc="-5" b="1">
                <a:latin typeface="Arial"/>
                <a:cs typeface="Arial"/>
              </a:rPr>
              <a:t> </a:t>
            </a:r>
            <a:r>
              <a:rPr dirty="0" sz="1350" spc="-110" b="1">
                <a:latin typeface="Arial"/>
                <a:cs typeface="Arial"/>
              </a:rPr>
              <a:t>programs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12700" marR="7620">
              <a:lnSpc>
                <a:spcPct val="101699"/>
              </a:lnSpc>
              <a:spcBef>
                <a:spcPts val="5"/>
              </a:spcBef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standardized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45">
                <a:latin typeface="Arial"/>
                <a:cs typeface="Arial"/>
              </a:rPr>
              <a:t>provides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set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systems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organization</a:t>
            </a:r>
            <a:r>
              <a:rPr dirty="0" sz="1150" spc="-40" b="1">
                <a:latin typeface="Arial"/>
                <a:cs typeface="Arial"/>
              </a:rPr>
              <a:t>. </a:t>
            </a:r>
            <a:r>
              <a:rPr dirty="0" sz="1150" spc="-140">
                <a:latin typeface="Arial"/>
                <a:cs typeface="Arial"/>
              </a:rPr>
              <a:t>ISO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20">
                <a:latin typeface="Arial"/>
                <a:cs typeface="Arial"/>
              </a:rPr>
              <a:t>certification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70">
                <a:latin typeface="Arial"/>
                <a:cs typeface="Arial"/>
              </a:rPr>
              <a:t>shows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following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65">
                <a:latin typeface="Arial"/>
                <a:cs typeface="Arial"/>
              </a:rPr>
              <a:t>system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-25">
                <a:latin typeface="Arial"/>
                <a:cs typeface="Arial"/>
              </a:rPr>
              <a:t>might  </a:t>
            </a:r>
            <a:r>
              <a:rPr dirty="0" sz="1150" spc="-50">
                <a:latin typeface="Arial"/>
                <a:cs typeface="Arial"/>
              </a:rPr>
              <a:t>lead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25">
                <a:latin typeface="Arial"/>
                <a:cs typeface="Arial"/>
              </a:rPr>
              <a:t>quality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40" b="1">
                <a:latin typeface="Arial"/>
                <a:cs typeface="Arial"/>
              </a:rPr>
              <a:t>ISO</a:t>
            </a:r>
            <a:r>
              <a:rPr dirty="0" sz="1350" spc="-70" b="1">
                <a:latin typeface="Arial"/>
                <a:cs typeface="Arial"/>
              </a:rPr>
              <a:t> 14000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261620">
              <a:lnSpc>
                <a:spcPct val="101699"/>
              </a:lnSpc>
            </a:pPr>
            <a:r>
              <a:rPr dirty="0" sz="1150" spc="15">
                <a:latin typeface="Arial"/>
                <a:cs typeface="Arial"/>
              </a:rPr>
              <a:t>It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60">
                <a:latin typeface="Arial"/>
                <a:cs typeface="Arial"/>
              </a:rPr>
              <a:t> system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certifies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protecting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environment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called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40">
                <a:latin typeface="Arial"/>
                <a:cs typeface="Arial"/>
              </a:rPr>
              <a:t>ISO  </a:t>
            </a:r>
            <a:r>
              <a:rPr dirty="0" sz="1150" spc="-60">
                <a:latin typeface="Arial"/>
                <a:cs typeface="Arial"/>
              </a:rPr>
              <a:t>14000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65">
                <a:latin typeface="Arial"/>
                <a:cs typeface="Arial"/>
              </a:rPr>
              <a:t>system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1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environment.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926465" algn="l"/>
                <a:tab pos="927735" algn="l"/>
              </a:tabLst>
            </a:pPr>
            <a:r>
              <a:rPr dirty="0" sz="1150" spc="-55">
                <a:latin typeface="Arial"/>
                <a:cs typeface="Arial"/>
              </a:rPr>
              <a:t>Organizations </a:t>
            </a:r>
            <a:r>
              <a:rPr dirty="0" sz="1150" spc="-50">
                <a:latin typeface="Arial"/>
                <a:cs typeface="Arial"/>
              </a:rPr>
              <a:t>are responsible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environment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80" b="1">
                <a:latin typeface="Arial"/>
                <a:cs typeface="Arial"/>
              </a:rPr>
              <a:t>Value </a:t>
            </a:r>
            <a:r>
              <a:rPr dirty="0" sz="1350" spc="-120" b="1">
                <a:latin typeface="Arial"/>
                <a:cs typeface="Arial"/>
              </a:rPr>
              <a:t>Chain</a:t>
            </a:r>
            <a:r>
              <a:rPr dirty="0" sz="1350" spc="-85" b="1">
                <a:latin typeface="Arial"/>
                <a:cs typeface="Arial"/>
              </a:rPr>
              <a:t> </a:t>
            </a:r>
            <a:r>
              <a:rPr dirty="0" sz="1350" spc="-75" b="1">
                <a:latin typeface="Arial"/>
                <a:cs typeface="Arial"/>
              </a:rPr>
              <a:t>Management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35">
                <a:latin typeface="Arial"/>
                <a:cs typeface="Arial"/>
              </a:rPr>
              <a:t>activities </a:t>
            </a:r>
            <a:r>
              <a:rPr dirty="0" sz="1150" spc="-25">
                <a:latin typeface="Arial"/>
                <a:cs typeface="Arial"/>
              </a:rPr>
              <a:t>performed </a:t>
            </a:r>
            <a:r>
              <a:rPr dirty="0" sz="1150" spc="-55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working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chain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produce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valued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175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999934" y="889511"/>
            <a:ext cx="3642360" cy="742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39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750" spc="-195" b="1">
                <a:latin typeface="Arial"/>
                <a:cs typeface="Arial"/>
              </a:rPr>
              <a:t>BENCHMARKING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176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271" y="1790195"/>
            <a:ext cx="5514340" cy="66782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7620">
              <a:lnSpc>
                <a:spcPct val="101699"/>
              </a:lnSpc>
              <a:spcBef>
                <a:spcPts val="75"/>
              </a:spcBef>
            </a:pPr>
            <a:r>
              <a:rPr dirty="0" sz="1150" spc="-85">
                <a:latin typeface="Arial"/>
                <a:cs typeface="Arial"/>
              </a:rPr>
              <a:t>Process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35">
                <a:latin typeface="Arial"/>
                <a:cs typeface="Arial"/>
              </a:rPr>
              <a:t>implements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best </a:t>
            </a:r>
            <a:r>
              <a:rPr dirty="0" sz="1150" spc="-50">
                <a:latin typeface="Arial"/>
                <a:cs typeface="Arial"/>
              </a:rPr>
              <a:t>practices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30">
                <a:latin typeface="Arial"/>
                <a:cs typeface="Arial"/>
              </a:rPr>
              <a:t>own </a:t>
            </a:r>
            <a:r>
              <a:rPr dirty="0" sz="1150" spc="-50">
                <a:latin typeface="Arial"/>
                <a:cs typeface="Arial"/>
              </a:rPr>
              <a:t>past </a:t>
            </a:r>
            <a:r>
              <a:rPr dirty="0" sz="1150" spc="-40">
                <a:latin typeface="Arial"/>
                <a:cs typeface="Arial"/>
              </a:rPr>
              <a:t>performance 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those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60">
                <a:latin typeface="Arial"/>
                <a:cs typeface="Arial"/>
              </a:rPr>
              <a:t> companies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improve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own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products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50" b="1">
                <a:latin typeface="Arial"/>
                <a:cs typeface="Arial"/>
              </a:rPr>
              <a:t>Internal </a:t>
            </a:r>
            <a:r>
              <a:rPr dirty="0" sz="1150" spc="-90" b="1">
                <a:latin typeface="Arial"/>
                <a:cs typeface="Arial"/>
              </a:rPr>
              <a:t>benchmarking: </a:t>
            </a:r>
            <a:r>
              <a:rPr dirty="0" sz="1150" spc="-105">
                <a:latin typeface="Arial"/>
                <a:cs typeface="Arial"/>
              </a:rPr>
              <a:t>Uses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firm’s </a:t>
            </a:r>
            <a:r>
              <a:rPr dirty="0" sz="1150" spc="-25">
                <a:latin typeface="Arial"/>
                <a:cs typeface="Arial"/>
              </a:rPr>
              <a:t>own </a:t>
            </a:r>
            <a:r>
              <a:rPr dirty="0" sz="1150" spc="-40">
                <a:latin typeface="Arial"/>
                <a:cs typeface="Arial"/>
              </a:rPr>
              <a:t>performance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evaluate </a:t>
            </a:r>
            <a:r>
              <a:rPr dirty="0" sz="1150" spc="-60">
                <a:latin typeface="Arial"/>
                <a:cs typeface="Arial"/>
              </a:rPr>
              <a:t>progress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set  </a:t>
            </a:r>
            <a:r>
              <a:rPr dirty="0" sz="1150" spc="-60">
                <a:latin typeface="Arial"/>
                <a:cs typeface="Arial"/>
              </a:rPr>
              <a:t>goals;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5080" indent="33020">
              <a:lnSpc>
                <a:spcPct val="101699"/>
              </a:lnSpc>
            </a:pPr>
            <a:r>
              <a:rPr dirty="0" sz="1150" spc="-80" b="1">
                <a:latin typeface="Arial"/>
                <a:cs typeface="Arial"/>
              </a:rPr>
              <a:t>External </a:t>
            </a:r>
            <a:r>
              <a:rPr dirty="0" sz="1150" spc="-90" b="1">
                <a:latin typeface="Arial"/>
                <a:cs typeface="Arial"/>
              </a:rPr>
              <a:t>benchmarking: </a:t>
            </a:r>
            <a:r>
              <a:rPr dirty="0" sz="1150" spc="-65">
                <a:latin typeface="Arial"/>
                <a:cs typeface="Arial"/>
              </a:rPr>
              <a:t>begins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critical </a:t>
            </a:r>
            <a:r>
              <a:rPr dirty="0" sz="1150" spc="-35">
                <a:latin typeface="Arial"/>
                <a:cs typeface="Arial"/>
              </a:rPr>
              <a:t>review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competitors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5">
                <a:latin typeface="Arial"/>
                <a:cs typeface="Arial"/>
              </a:rPr>
              <a:t>even </a:t>
            </a:r>
            <a:r>
              <a:rPr dirty="0" sz="1150" spc="-60">
                <a:latin typeface="Arial"/>
                <a:cs typeface="Arial"/>
              </a:rPr>
              <a:t>companies </a:t>
            </a:r>
            <a:r>
              <a:rPr dirty="0" sz="1150" spc="-20">
                <a:latin typeface="Arial"/>
                <a:cs typeface="Arial"/>
              </a:rPr>
              <a:t>in 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75">
                <a:latin typeface="Arial"/>
                <a:cs typeface="Arial"/>
              </a:rPr>
              <a:t>businesses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determine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20">
                <a:latin typeface="Arial"/>
                <a:cs typeface="Arial"/>
              </a:rPr>
              <a:t>“best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practices.”</a:t>
            </a:r>
            <a:endParaRPr sz="1150">
              <a:latin typeface="Arial"/>
              <a:cs typeface="Arial"/>
            </a:endParaRPr>
          </a:p>
          <a:p>
            <a:pPr marL="12700" marR="6350">
              <a:lnSpc>
                <a:spcPts val="2810"/>
              </a:lnSpc>
              <a:spcBef>
                <a:spcPts val="320"/>
              </a:spcBef>
            </a:pPr>
            <a:r>
              <a:rPr dirty="0" sz="1150" spc="-70">
                <a:latin typeface="Arial"/>
                <a:cs typeface="Arial"/>
              </a:rPr>
              <a:t>We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0">
                <a:latin typeface="Arial"/>
                <a:cs typeface="Arial"/>
              </a:rPr>
              <a:t>comparison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best </a:t>
            </a:r>
            <a:r>
              <a:rPr dirty="0" sz="1150" spc="-50">
                <a:latin typeface="Arial"/>
                <a:cs typeface="Arial"/>
              </a:rPr>
              <a:t>practices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45">
                <a:latin typeface="Arial"/>
                <a:cs typeface="Arial"/>
              </a:rPr>
              <a:t>organizations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our </a:t>
            </a:r>
            <a:r>
              <a:rPr dirty="0" sz="1150" spc="-40">
                <a:latin typeface="Arial"/>
                <a:cs typeface="Arial"/>
              </a:rPr>
              <a:t>organization.  </a:t>
            </a:r>
            <a:r>
              <a:rPr dirty="0" sz="1150" spc="-70">
                <a:latin typeface="Arial"/>
                <a:cs typeface="Arial"/>
              </a:rPr>
              <a:t>Compare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products, </a:t>
            </a:r>
            <a:r>
              <a:rPr dirty="0" sz="1150" spc="-70">
                <a:latin typeface="Arial"/>
                <a:cs typeface="Arial"/>
              </a:rPr>
              <a:t>processes, </a:t>
            </a:r>
            <a:r>
              <a:rPr dirty="0" sz="1150" spc="-35">
                <a:latin typeface="Arial"/>
                <a:cs typeface="Arial"/>
              </a:rPr>
              <a:t>instruments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culture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one.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00">
              <a:latin typeface="Arial"/>
              <a:cs typeface="Arial"/>
            </a:endParaRPr>
          </a:p>
          <a:p>
            <a:pPr marL="12700" marR="6350">
              <a:lnSpc>
                <a:spcPct val="101699"/>
              </a:lnSpc>
              <a:tabLst>
                <a:tab pos="1337945" algn="l"/>
              </a:tabLst>
            </a:pPr>
            <a:r>
              <a:rPr dirty="0" sz="1150" spc="-90" b="1">
                <a:latin typeface="Arial"/>
                <a:cs typeface="Arial"/>
              </a:rPr>
              <a:t>Zero  </a:t>
            </a:r>
            <a:r>
              <a:rPr dirty="0" sz="1150" spc="-85" b="1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Defect </a:t>
            </a:r>
            <a:r>
              <a:rPr dirty="0" sz="1150" spc="114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Level:</a:t>
            </a:r>
            <a:r>
              <a:rPr dirty="0" sz="1150" spc="-95">
                <a:latin typeface="Times New Roman"/>
                <a:cs typeface="Times New Roman"/>
              </a:rPr>
              <a:t>	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65">
                <a:latin typeface="Arial"/>
                <a:cs typeface="Arial"/>
              </a:rPr>
              <a:t>stage </a:t>
            </a:r>
            <a:r>
              <a:rPr dirty="0" sz="1150" spc="-35">
                <a:latin typeface="Arial"/>
                <a:cs typeface="Arial"/>
              </a:rPr>
              <a:t>where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no </a:t>
            </a:r>
            <a:r>
              <a:rPr dirty="0" sz="1150" spc="-30">
                <a:latin typeface="Arial"/>
                <a:cs typeface="Arial"/>
              </a:rPr>
              <a:t>defect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product, </a:t>
            </a:r>
            <a:r>
              <a:rPr dirty="0" sz="1150" spc="-65">
                <a:latin typeface="Arial"/>
                <a:cs typeface="Arial"/>
              </a:rPr>
              <a:t>process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40">
                <a:latin typeface="Arial"/>
                <a:cs typeface="Arial"/>
              </a:rPr>
              <a:t>organization.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55" b="1">
                <a:latin typeface="Arial"/>
                <a:cs typeface="Arial"/>
              </a:rPr>
              <a:t>CONSIDERATIONS </a:t>
            </a:r>
            <a:r>
              <a:rPr dirty="0" sz="1350" spc="-55" b="1">
                <a:latin typeface="Arial"/>
                <a:cs typeface="Arial"/>
              </a:rPr>
              <a:t>IN</a:t>
            </a:r>
            <a:r>
              <a:rPr dirty="0" sz="1350" spc="-229" b="1">
                <a:latin typeface="Arial"/>
                <a:cs typeface="Arial"/>
              </a:rPr>
              <a:t> </a:t>
            </a:r>
            <a:r>
              <a:rPr dirty="0" sz="1350" spc="-150" b="1">
                <a:latin typeface="Arial"/>
                <a:cs typeface="Arial"/>
              </a:rPr>
              <a:t>BENCHMARKING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dirty="0" sz="1350" spc="-65" b="1">
                <a:latin typeface="Arial"/>
                <a:cs typeface="Arial"/>
              </a:rPr>
              <a:t>Identification </a:t>
            </a:r>
            <a:r>
              <a:rPr dirty="0" sz="1350" spc="-60" b="1">
                <a:latin typeface="Arial"/>
                <a:cs typeface="Arial"/>
              </a:rPr>
              <a:t>of </a:t>
            </a:r>
            <a:r>
              <a:rPr dirty="0" sz="1350" spc="-140" b="1">
                <a:latin typeface="Arial"/>
                <a:cs typeface="Arial"/>
              </a:rPr>
              <a:t>processes </a:t>
            </a:r>
            <a:r>
              <a:rPr dirty="0" sz="1350" spc="-45" b="1">
                <a:latin typeface="Arial"/>
                <a:cs typeface="Arial"/>
              </a:rPr>
              <a:t>to </a:t>
            </a:r>
            <a:r>
              <a:rPr dirty="0" sz="1350" spc="-90" b="1">
                <a:latin typeface="Arial"/>
                <a:cs typeface="Arial"/>
              </a:rPr>
              <a:t>be</a:t>
            </a:r>
            <a:r>
              <a:rPr dirty="0" sz="1350" spc="-65" b="1">
                <a:latin typeface="Arial"/>
                <a:cs typeface="Arial"/>
              </a:rPr>
              <a:t> </a:t>
            </a:r>
            <a:r>
              <a:rPr dirty="0" sz="1350" spc="-100" b="1">
                <a:latin typeface="Arial"/>
                <a:cs typeface="Arial"/>
              </a:rPr>
              <a:t>benchmarked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AutoNum type="arabicPeriod"/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AutoNum type="arabicPeriod"/>
            </a:pPr>
            <a:endParaRPr sz="1100">
              <a:latin typeface="Arial"/>
              <a:cs typeface="Arial"/>
            </a:endParaRPr>
          </a:p>
          <a:p>
            <a:pPr lvl="1" marL="927100" marR="36195" indent="-228600">
              <a:lnSpc>
                <a:spcPct val="101699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100" b="1">
                <a:latin typeface="Arial"/>
                <a:cs typeface="Arial"/>
              </a:rPr>
              <a:t>Sale </a:t>
            </a:r>
            <a:r>
              <a:rPr dirty="0" sz="1150" spc="-80" b="1">
                <a:latin typeface="Arial"/>
                <a:cs typeface="Arial"/>
              </a:rPr>
              <a:t>forecasting: </a:t>
            </a:r>
            <a:r>
              <a:rPr dirty="0" sz="1150" spc="-70">
                <a:latin typeface="Arial"/>
                <a:cs typeface="Arial"/>
              </a:rPr>
              <a:t>We can </a:t>
            </a:r>
            <a:r>
              <a:rPr dirty="0" sz="1150" spc="-55">
                <a:latin typeface="Arial"/>
                <a:cs typeface="Arial"/>
              </a:rPr>
              <a:t>bench </a:t>
            </a:r>
            <a:r>
              <a:rPr dirty="0" sz="1150" spc="-45">
                <a:latin typeface="Arial"/>
                <a:cs typeface="Arial"/>
              </a:rPr>
              <a:t>mark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-45">
                <a:latin typeface="Arial"/>
                <a:cs typeface="Arial"/>
              </a:rPr>
              <a:t>booking </a:t>
            </a:r>
            <a:r>
              <a:rPr dirty="0" sz="1150" spc="-65">
                <a:latin typeface="Arial"/>
                <a:cs typeface="Arial"/>
              </a:rPr>
              <a:t>process, </a:t>
            </a:r>
            <a:r>
              <a:rPr dirty="0" sz="1150" spc="-60">
                <a:latin typeface="Arial"/>
                <a:cs typeface="Arial"/>
              </a:rPr>
              <a:t>e.g.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-40">
                <a:latin typeface="Arial"/>
                <a:cs typeface="Arial"/>
              </a:rPr>
              <a:t>taking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-35">
                <a:latin typeface="Arial"/>
                <a:cs typeface="Arial"/>
              </a:rPr>
              <a:t>delivery </a:t>
            </a:r>
            <a:r>
              <a:rPr dirty="0" sz="1150" spc="-10">
                <a:latin typeface="Arial"/>
                <a:cs typeface="Arial"/>
              </a:rPr>
              <a:t>time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organization. </a:t>
            </a:r>
            <a:r>
              <a:rPr dirty="0" sz="1150" spc="-70">
                <a:latin typeface="Arial"/>
                <a:cs typeface="Arial"/>
              </a:rPr>
              <a:t>We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40">
                <a:latin typeface="Arial"/>
                <a:cs typeface="Arial"/>
              </a:rPr>
              <a:t>minimize 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10">
                <a:latin typeface="Arial"/>
                <a:cs typeface="Arial"/>
              </a:rPr>
              <a:t>time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75">
                <a:latin typeface="Arial"/>
                <a:cs typeface="Arial"/>
              </a:rPr>
              <a:t>sale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customer.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lvl="1" marL="927100" marR="166370" indent="-228600">
              <a:lnSpc>
                <a:spcPct val="101699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95" b="1">
                <a:latin typeface="Arial"/>
                <a:cs typeface="Arial"/>
              </a:rPr>
              <a:t>Pricing: </a:t>
            </a:r>
            <a:r>
              <a:rPr dirty="0" sz="1150" spc="-45">
                <a:latin typeface="Arial"/>
                <a:cs typeface="Arial"/>
              </a:rPr>
              <a:t>Which </a:t>
            </a:r>
            <a:r>
              <a:rPr dirty="0" sz="1150" spc="-35">
                <a:latin typeface="Arial"/>
                <a:cs typeface="Arial"/>
              </a:rPr>
              <a:t>pricing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-70">
                <a:latin typeface="Arial"/>
                <a:cs typeface="Arial"/>
              </a:rPr>
              <a:t>is used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50">
                <a:latin typeface="Arial"/>
                <a:cs typeface="Arial"/>
              </a:rPr>
              <a:t>organizations? </a:t>
            </a:r>
            <a:r>
              <a:rPr dirty="0" sz="1150" spc="-35">
                <a:latin typeface="Arial"/>
                <a:cs typeface="Arial"/>
              </a:rPr>
              <a:t>What </a:t>
            </a:r>
            <a:r>
              <a:rPr dirty="0" sz="1150" spc="-45">
                <a:latin typeface="Arial"/>
                <a:cs typeface="Arial"/>
              </a:rPr>
              <a:t>should 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pricing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mechanism?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lvl="1" marL="927100" marR="10795" indent="-229235">
              <a:lnSpc>
                <a:spcPct val="101699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75" b="1">
                <a:latin typeface="Arial"/>
                <a:cs typeface="Arial"/>
              </a:rPr>
              <a:t>Distributions: </a:t>
            </a:r>
            <a:r>
              <a:rPr dirty="0" sz="1150" spc="-50">
                <a:latin typeface="Arial"/>
                <a:cs typeface="Arial"/>
              </a:rPr>
              <a:t>Organization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40">
                <a:latin typeface="Arial"/>
                <a:cs typeface="Arial"/>
              </a:rPr>
              <a:t>match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distribution </a:t>
            </a:r>
            <a:r>
              <a:rPr dirty="0" sz="1150" spc="-55">
                <a:latin typeface="Arial"/>
                <a:cs typeface="Arial"/>
              </a:rPr>
              <a:t>channel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15">
                <a:latin typeface="Arial"/>
                <a:cs typeface="Arial"/>
              </a:rPr>
              <a:t>other  </a:t>
            </a:r>
            <a:r>
              <a:rPr dirty="0" sz="1150" spc="-40">
                <a:latin typeface="Arial"/>
                <a:cs typeface="Arial"/>
              </a:rPr>
              <a:t>organization. </a:t>
            </a:r>
            <a:r>
              <a:rPr dirty="0" sz="1150" spc="-55">
                <a:latin typeface="Arial"/>
                <a:cs typeface="Arial"/>
              </a:rPr>
              <a:t>How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50">
                <a:latin typeface="Arial"/>
                <a:cs typeface="Arial"/>
              </a:rPr>
              <a:t>reduce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delivery </a:t>
            </a:r>
            <a:r>
              <a:rPr dirty="0" sz="1150" spc="-10">
                <a:latin typeface="Arial"/>
                <a:cs typeface="Arial"/>
              </a:rPr>
              <a:t>time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products?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lvl="1" marL="927100" marR="121285" indent="-228600">
              <a:lnSpc>
                <a:spcPct val="101699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110" b="1">
                <a:latin typeface="Arial"/>
                <a:cs typeface="Arial"/>
              </a:rPr>
              <a:t>To </a:t>
            </a:r>
            <a:r>
              <a:rPr dirty="0" sz="1150" spc="-65" b="1">
                <a:latin typeface="Arial"/>
                <a:cs typeface="Arial"/>
              </a:rPr>
              <a:t>maintain </a:t>
            </a:r>
            <a:r>
              <a:rPr dirty="0" sz="1150" spc="-70" b="1">
                <a:latin typeface="Arial"/>
                <a:cs typeface="Arial"/>
              </a:rPr>
              <a:t>financial record. </a:t>
            </a:r>
            <a:r>
              <a:rPr dirty="0" sz="1150" spc="-75">
                <a:latin typeface="Arial"/>
                <a:cs typeface="Arial"/>
              </a:rPr>
              <a:t>Record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0">
                <a:latin typeface="Arial"/>
                <a:cs typeface="Arial"/>
              </a:rPr>
              <a:t>properly </a:t>
            </a:r>
            <a:r>
              <a:rPr dirty="0" sz="1150" spc="-35">
                <a:latin typeface="Arial"/>
                <a:cs typeface="Arial"/>
              </a:rPr>
              <a:t>maintained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5">
                <a:latin typeface="Arial"/>
                <a:cs typeface="Arial"/>
              </a:rPr>
              <a:t>soft  </a:t>
            </a:r>
            <a:r>
              <a:rPr dirty="0" sz="1150" spc="-40">
                <a:latin typeface="Arial"/>
                <a:cs typeface="Arial"/>
              </a:rPr>
              <a:t>data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well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40">
                <a:latin typeface="Arial"/>
                <a:cs typeface="Arial"/>
              </a:rPr>
              <a:t>hard </a:t>
            </a:r>
            <a:r>
              <a:rPr dirty="0" sz="1150" spc="-50">
                <a:latin typeface="Arial"/>
                <a:cs typeface="Arial"/>
              </a:rPr>
              <a:t>copy. </a:t>
            </a: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75">
                <a:latin typeface="Arial"/>
                <a:cs typeface="Arial"/>
              </a:rPr>
              <a:t>back </a:t>
            </a:r>
            <a:r>
              <a:rPr dirty="0" sz="1150" spc="-40">
                <a:latin typeface="Arial"/>
                <a:cs typeface="Arial"/>
              </a:rPr>
              <a:t>up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0">
                <a:latin typeface="Arial"/>
                <a:cs typeface="Arial"/>
              </a:rPr>
              <a:t>data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50">
                <a:latin typeface="Arial"/>
                <a:cs typeface="Arial"/>
              </a:rPr>
              <a:t>various  </a:t>
            </a:r>
            <a:r>
              <a:rPr dirty="0" sz="1150" spc="-65">
                <a:latin typeface="Arial"/>
                <a:cs typeface="Arial"/>
              </a:rPr>
              <a:t>places.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lvl="1" marL="927100" marR="48260" indent="-228600">
              <a:lnSpc>
                <a:spcPct val="101699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100" b="1">
                <a:latin typeface="Arial"/>
                <a:cs typeface="Arial"/>
              </a:rPr>
              <a:t>Technology: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45">
                <a:latin typeface="Arial"/>
                <a:cs typeface="Arial"/>
              </a:rPr>
              <a:t>technology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most </a:t>
            </a:r>
            <a:r>
              <a:rPr dirty="0" sz="1150" spc="-15">
                <a:latin typeface="Arial"/>
                <a:cs typeface="Arial"/>
              </a:rPr>
              <a:t>efficient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result oriented? </a:t>
            </a:r>
            <a:r>
              <a:rPr dirty="0" sz="1150" spc="-80">
                <a:latin typeface="Arial"/>
                <a:cs typeface="Arial"/>
              </a:rPr>
              <a:t>Is </a:t>
            </a:r>
            <a:r>
              <a:rPr dirty="0" sz="1150" spc="30">
                <a:latin typeface="Arial"/>
                <a:cs typeface="Arial"/>
              </a:rPr>
              <a:t>it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local 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0">
                <a:latin typeface="Arial"/>
                <a:cs typeface="Arial"/>
              </a:rPr>
              <a:t>imported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technology?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30261" y="435359"/>
            <a:ext cx="2594610" cy="104584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45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469265" algn="l"/>
              </a:tabLst>
            </a:pPr>
            <a:r>
              <a:rPr dirty="0" sz="1350" spc="-45" b="1">
                <a:latin typeface="Arial"/>
                <a:cs typeface="Arial"/>
              </a:rPr>
              <a:t>2.</a:t>
            </a:r>
            <a:r>
              <a:rPr dirty="0" sz="1350" spc="-45">
                <a:latin typeface="Times New Roman"/>
                <a:cs typeface="Times New Roman"/>
              </a:rPr>
              <a:t>	</a:t>
            </a:r>
            <a:r>
              <a:rPr dirty="0" sz="1350" spc="-225" b="1">
                <a:latin typeface="Arial"/>
                <a:cs typeface="Arial"/>
              </a:rPr>
              <a:t>KEY </a:t>
            </a:r>
            <a:r>
              <a:rPr dirty="0" sz="1350" spc="-185" b="1">
                <a:latin typeface="Arial"/>
                <a:cs typeface="Arial"/>
              </a:rPr>
              <a:t>VARIABLES </a:t>
            </a:r>
            <a:r>
              <a:rPr dirty="0" sz="1350" spc="-55" b="1">
                <a:latin typeface="Arial"/>
                <a:cs typeface="Arial"/>
              </a:rPr>
              <a:t>IN </a:t>
            </a:r>
            <a:r>
              <a:rPr dirty="0" sz="1350" spc="-155" b="1">
                <a:latin typeface="Arial"/>
                <a:cs typeface="Arial"/>
              </a:rPr>
              <a:t>A</a:t>
            </a:r>
            <a:r>
              <a:rPr dirty="0" sz="1350" spc="-220" b="1">
                <a:latin typeface="Arial"/>
                <a:cs typeface="Arial"/>
              </a:rPr>
              <a:t> </a:t>
            </a:r>
            <a:r>
              <a:rPr dirty="0" sz="1350" spc="-225" b="1">
                <a:latin typeface="Arial"/>
                <a:cs typeface="Arial"/>
              </a:rPr>
              <a:t>PROCESS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85" b="1">
                <a:latin typeface="Arial"/>
                <a:cs typeface="Arial"/>
              </a:rPr>
              <a:t>Product: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177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30264" y="1635051"/>
            <a:ext cx="5506720" cy="31394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1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35">
                <a:latin typeface="Arial"/>
                <a:cs typeface="Arial"/>
              </a:rPr>
              <a:t>What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shape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product?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55">
                <a:latin typeface="Arial"/>
                <a:cs typeface="Arial"/>
              </a:rPr>
              <a:t>Color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110">
                <a:latin typeface="Arial"/>
                <a:cs typeface="Arial"/>
              </a:rPr>
              <a:t>Size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35">
                <a:latin typeface="Arial"/>
                <a:cs typeface="Arial"/>
              </a:rPr>
              <a:t>Weight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Symbol"/>
              <a:buChar char="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95" b="1">
                <a:latin typeface="Arial"/>
                <a:cs typeface="Arial"/>
              </a:rPr>
              <a:t>Selling </a:t>
            </a:r>
            <a:r>
              <a:rPr dirty="0" sz="1150" spc="-90" b="1">
                <a:latin typeface="Arial"/>
                <a:cs typeface="Arial"/>
              </a:rPr>
              <a:t>and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spc="-55" b="1">
                <a:latin typeface="Arial"/>
                <a:cs typeface="Arial"/>
              </a:rPr>
              <a:t>Marketing: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110" b="1">
                <a:latin typeface="Arial"/>
                <a:cs typeface="Arial"/>
              </a:rPr>
              <a:t>Cost: </a:t>
            </a:r>
            <a:r>
              <a:rPr dirty="0" sz="1150" spc="-30">
                <a:latin typeface="Arial"/>
                <a:cs typeface="Arial"/>
              </a:rPr>
              <a:t>Promotion </a:t>
            </a:r>
            <a:r>
              <a:rPr dirty="0" sz="1150" spc="-50">
                <a:latin typeface="Arial"/>
                <a:cs typeface="Arial"/>
              </a:rPr>
              <a:t>cost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30">
                <a:latin typeface="Arial"/>
                <a:cs typeface="Arial"/>
              </a:rPr>
              <a:t>competitors, </a:t>
            </a:r>
            <a:r>
              <a:rPr dirty="0" sz="1150" spc="-60">
                <a:latin typeface="Arial"/>
                <a:cs typeface="Arial"/>
              </a:rPr>
              <a:t>How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85">
                <a:latin typeface="Arial"/>
                <a:cs typeface="Arial"/>
              </a:rPr>
              <a:t>save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cost?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55" b="1">
                <a:latin typeface="Arial"/>
                <a:cs typeface="Arial"/>
              </a:rPr>
              <a:t>Identification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80" b="1">
                <a:latin typeface="Arial"/>
                <a:cs typeface="Arial"/>
              </a:rPr>
              <a:t>unsatisfied </a:t>
            </a:r>
            <a:r>
              <a:rPr dirty="0" sz="1150" spc="-75" b="1">
                <a:latin typeface="Arial"/>
                <a:cs typeface="Arial"/>
              </a:rPr>
              <a:t>need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customers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75" b="1">
                <a:latin typeface="Arial"/>
                <a:cs typeface="Arial"/>
              </a:rPr>
              <a:t>Productivity: </a:t>
            </a:r>
            <a:r>
              <a:rPr dirty="0" sz="1150" spc="-55">
                <a:latin typeface="Arial"/>
                <a:cs typeface="Arial"/>
              </a:rPr>
              <a:t>How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60">
                <a:latin typeface="Arial"/>
                <a:cs typeface="Arial"/>
              </a:rPr>
              <a:t>increase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productivity.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40" b="1">
                <a:latin typeface="Arial"/>
                <a:cs typeface="Arial"/>
              </a:rPr>
              <a:t>Mixture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75" b="1">
                <a:latin typeface="Arial"/>
                <a:cs typeface="Arial"/>
              </a:rPr>
              <a:t>ingredients: </a:t>
            </a:r>
            <a:r>
              <a:rPr dirty="0" sz="1150" spc="-35">
                <a:latin typeface="Arial"/>
                <a:cs typeface="Arial"/>
              </a:rPr>
              <a:t>What </a:t>
            </a:r>
            <a:r>
              <a:rPr dirty="0" sz="1150" spc="-40">
                <a:latin typeface="Arial"/>
                <a:cs typeface="Arial"/>
              </a:rPr>
              <a:t>ingredients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0">
                <a:latin typeface="Arial"/>
                <a:cs typeface="Arial"/>
              </a:rPr>
              <a:t>customer </a:t>
            </a:r>
            <a:r>
              <a:rPr dirty="0" sz="1150" spc="-70">
                <a:latin typeface="Arial"/>
                <a:cs typeface="Arial"/>
              </a:rPr>
              <a:t>can</a:t>
            </a:r>
            <a:r>
              <a:rPr dirty="0" sz="1150" spc="-21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satisfy?</a:t>
            </a:r>
            <a:endParaRPr sz="1150">
              <a:latin typeface="Arial"/>
              <a:cs typeface="Arial"/>
            </a:endParaRPr>
          </a:p>
          <a:p>
            <a:pPr marL="469265" marR="262890" indent="-228600">
              <a:lnSpc>
                <a:spcPct val="101299"/>
              </a:lnSpc>
              <a:spcBef>
                <a:spcPts val="6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90" b="1">
                <a:latin typeface="Arial"/>
                <a:cs typeface="Arial"/>
              </a:rPr>
              <a:t>Timeliness: </a:t>
            </a:r>
            <a:r>
              <a:rPr dirty="0" sz="1150" spc="-90">
                <a:latin typeface="Arial"/>
                <a:cs typeface="Arial"/>
              </a:rPr>
              <a:t>Reduce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time </a:t>
            </a:r>
            <a:r>
              <a:rPr dirty="0" sz="1150" spc="-70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fast </a:t>
            </a:r>
            <a:r>
              <a:rPr dirty="0" sz="1150" spc="-25">
                <a:latin typeface="Arial"/>
                <a:cs typeface="Arial"/>
              </a:rPr>
              <a:t>food </a:t>
            </a:r>
            <a:r>
              <a:rPr dirty="0" sz="1150" spc="-35">
                <a:latin typeface="Arial"/>
                <a:cs typeface="Arial"/>
              </a:rPr>
              <a:t>restaurant,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 duration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order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taking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order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delivery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time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bench </a:t>
            </a:r>
            <a:r>
              <a:rPr dirty="0" sz="1150" spc="-45">
                <a:latin typeface="Arial"/>
                <a:cs typeface="Arial"/>
              </a:rPr>
              <a:t>mark those </a:t>
            </a:r>
            <a:r>
              <a:rPr dirty="0" sz="1150" spc="-35">
                <a:latin typeface="Arial"/>
                <a:cs typeface="Arial"/>
              </a:rPr>
              <a:t>restaurant  </a:t>
            </a:r>
            <a:r>
              <a:rPr dirty="0" sz="1150" spc="-55">
                <a:latin typeface="Arial"/>
                <a:cs typeface="Arial"/>
              </a:rPr>
              <a:t>whose </a:t>
            </a:r>
            <a:r>
              <a:rPr dirty="0" sz="1150" spc="-35">
                <a:latin typeface="Arial"/>
                <a:cs typeface="Arial"/>
              </a:rPr>
              <a:t>delivery </a:t>
            </a:r>
            <a:r>
              <a:rPr dirty="0" sz="1150" spc="-10">
                <a:latin typeface="Arial"/>
                <a:cs typeface="Arial"/>
              </a:rPr>
              <a:t>time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85">
                <a:latin typeface="Arial"/>
                <a:cs typeface="Arial"/>
              </a:rPr>
              <a:t>less </a:t>
            </a:r>
            <a:r>
              <a:rPr dirty="0" sz="1150" spc="-30">
                <a:latin typeface="Arial"/>
                <a:cs typeface="Arial"/>
              </a:rPr>
              <a:t>than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others.</a:t>
            </a:r>
            <a:endParaRPr sz="11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50" b="1">
                <a:latin typeface="Arial"/>
                <a:cs typeface="Arial"/>
              </a:rPr>
              <a:t>Differentiation of </a:t>
            </a:r>
            <a:r>
              <a:rPr dirty="0" sz="1150" spc="-90" b="1">
                <a:latin typeface="Arial"/>
                <a:cs typeface="Arial"/>
              </a:rPr>
              <a:t>products: </a:t>
            </a: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60">
                <a:latin typeface="Arial"/>
                <a:cs typeface="Arial"/>
              </a:rPr>
              <a:t>uniqueness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product.</a:t>
            </a:r>
            <a:endParaRPr sz="1150">
              <a:latin typeface="Arial"/>
              <a:cs typeface="Arial"/>
            </a:endParaRPr>
          </a:p>
          <a:p>
            <a:pPr marL="469265" marR="5080" indent="-229235">
              <a:lnSpc>
                <a:spcPct val="100899"/>
              </a:lnSpc>
              <a:spcBef>
                <a:spcPts val="7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85" b="1">
                <a:latin typeface="Arial"/>
                <a:cs typeface="Arial"/>
              </a:rPr>
              <a:t>Performance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80" b="1">
                <a:latin typeface="Arial"/>
                <a:cs typeface="Arial"/>
              </a:rPr>
              <a:t>product: </a:t>
            </a:r>
            <a:r>
              <a:rPr dirty="0" sz="1150" spc="-50">
                <a:latin typeface="Arial"/>
                <a:cs typeface="Arial"/>
              </a:rPr>
              <a:t>Performance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50">
                <a:latin typeface="Arial"/>
                <a:cs typeface="Arial"/>
              </a:rPr>
              <a:t>should </a:t>
            </a:r>
            <a:r>
              <a:rPr dirty="0" sz="1150" spc="-55">
                <a:latin typeface="Arial"/>
                <a:cs typeface="Arial"/>
              </a:rPr>
              <a:t>be according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customer’s  </a:t>
            </a:r>
            <a:r>
              <a:rPr dirty="0" sz="1150" spc="-35">
                <a:latin typeface="Arial"/>
                <a:cs typeface="Arial"/>
              </a:rPr>
              <a:t>satisfaction.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15">
                <a:latin typeface="Arial"/>
                <a:cs typeface="Arial"/>
              </a:rPr>
              <a:t>It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should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good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word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mouth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your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0294" y="4928110"/>
            <a:ext cx="15875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70" b="1">
                <a:latin typeface="Arial"/>
                <a:cs typeface="Arial"/>
              </a:rPr>
              <a:t>3</a:t>
            </a:r>
            <a:r>
              <a:rPr dirty="0" sz="1350" spc="-15" b="1"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87493" y="4928110"/>
            <a:ext cx="253936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25" b="1">
                <a:latin typeface="Arial"/>
                <a:cs typeface="Arial"/>
              </a:rPr>
              <a:t>IDENTIFICATION </a:t>
            </a:r>
            <a:r>
              <a:rPr dirty="0" sz="1350" spc="-175" b="1">
                <a:latin typeface="Arial"/>
                <a:cs typeface="Arial"/>
              </a:rPr>
              <a:t>OF </a:t>
            </a:r>
            <a:r>
              <a:rPr dirty="0" sz="1350" spc="-180" b="1">
                <a:latin typeface="Arial"/>
                <a:cs typeface="Arial"/>
              </a:rPr>
              <a:t>THE </a:t>
            </a:r>
            <a:r>
              <a:rPr dirty="0" sz="1350" spc="-225" b="1">
                <a:latin typeface="Arial"/>
                <a:cs typeface="Arial"/>
              </a:rPr>
              <a:t>BEST</a:t>
            </a:r>
            <a:r>
              <a:rPr dirty="0" sz="1350" spc="-210" b="1">
                <a:latin typeface="Arial"/>
                <a:cs typeface="Arial"/>
              </a:rPr>
              <a:t> </a:t>
            </a:r>
            <a:r>
              <a:rPr dirty="0" sz="1350" spc="-175" b="1">
                <a:latin typeface="Arial"/>
                <a:cs typeface="Arial"/>
              </a:rPr>
              <a:t>PLAN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8852" y="5316730"/>
            <a:ext cx="5259705" cy="340614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80"/>
              </a:spcBef>
            </a:pP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bench </a:t>
            </a:r>
            <a:r>
              <a:rPr dirty="0" sz="1150" spc="-45">
                <a:latin typeface="Arial"/>
                <a:cs typeface="Arial"/>
              </a:rPr>
              <a:t>marking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15">
                <a:latin typeface="Arial"/>
                <a:cs typeface="Arial"/>
              </a:rPr>
              <a:t>identify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best plan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0">
                <a:latin typeface="Arial"/>
                <a:cs typeface="Arial"/>
              </a:rPr>
              <a:t>practices </a:t>
            </a:r>
            <a:r>
              <a:rPr dirty="0" sz="1150" spc="-15">
                <a:latin typeface="Arial"/>
                <a:cs typeface="Arial"/>
              </a:rPr>
              <a:t>from </a:t>
            </a:r>
            <a:r>
              <a:rPr dirty="0" sz="1150" spc="-10">
                <a:latin typeface="Arial"/>
                <a:cs typeface="Arial"/>
              </a:rPr>
              <a:t>different  </a:t>
            </a:r>
            <a:r>
              <a:rPr dirty="0" sz="1150" spc="-45">
                <a:latin typeface="Arial"/>
                <a:cs typeface="Arial"/>
              </a:rPr>
              <a:t>organizations. </a:t>
            </a: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60">
                <a:latin typeface="Arial"/>
                <a:cs typeface="Arial"/>
              </a:rPr>
              <a:t>example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mobile </a:t>
            </a:r>
            <a:r>
              <a:rPr dirty="0" sz="1150" spc="-55">
                <a:latin typeface="Arial"/>
                <a:cs typeface="Arial"/>
              </a:rPr>
              <a:t>phones,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60">
                <a:latin typeface="Arial"/>
                <a:cs typeface="Arial"/>
              </a:rPr>
              <a:t>companies </a:t>
            </a:r>
            <a:r>
              <a:rPr dirty="0" sz="1150" spc="-45">
                <a:latin typeface="Arial"/>
                <a:cs typeface="Arial"/>
              </a:rPr>
              <a:t>phone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10">
                <a:latin typeface="Arial"/>
                <a:cs typeface="Arial"/>
              </a:rPr>
              <a:t>better </a:t>
            </a:r>
            <a:r>
              <a:rPr dirty="0" sz="1150" spc="-20">
                <a:latin typeface="Arial"/>
                <a:cs typeface="Arial"/>
              </a:rPr>
              <a:t>battery  </a:t>
            </a:r>
            <a:r>
              <a:rPr dirty="0" sz="1150" spc="-25">
                <a:latin typeface="Arial"/>
                <a:cs typeface="Arial"/>
              </a:rPr>
              <a:t>timing, </a:t>
            </a:r>
            <a:r>
              <a:rPr dirty="0" sz="1150" spc="-90">
                <a:latin typeface="Arial"/>
                <a:cs typeface="Arial"/>
              </a:rPr>
              <a:t>Second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5">
                <a:latin typeface="Arial"/>
                <a:cs typeface="Arial"/>
              </a:rPr>
              <a:t>good </a:t>
            </a:r>
            <a:r>
              <a:rPr dirty="0" sz="1150" spc="-60">
                <a:latin typeface="Arial"/>
                <a:cs typeface="Arial"/>
              </a:rPr>
              <a:t>design, </a:t>
            </a:r>
            <a:r>
              <a:rPr dirty="0" sz="1150">
                <a:latin typeface="Arial"/>
                <a:cs typeface="Arial"/>
              </a:rPr>
              <a:t>third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5">
                <a:latin typeface="Arial"/>
                <a:cs typeface="Arial"/>
              </a:rPr>
              <a:t>good </a:t>
            </a:r>
            <a:r>
              <a:rPr dirty="0" sz="1150" spc="-50">
                <a:latin typeface="Arial"/>
                <a:cs typeface="Arial"/>
              </a:rPr>
              <a:t>display </a:t>
            </a:r>
            <a:r>
              <a:rPr dirty="0" sz="1150" spc="-60">
                <a:latin typeface="Arial"/>
                <a:cs typeface="Arial"/>
              </a:rPr>
              <a:t>screen, </a:t>
            </a:r>
            <a:r>
              <a:rPr dirty="0" sz="1150" spc="-5">
                <a:latin typeface="Arial"/>
                <a:cs typeface="Arial"/>
              </a:rPr>
              <a:t>fourth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15">
                <a:latin typeface="Arial"/>
                <a:cs typeface="Arial"/>
              </a:rPr>
              <a:t>light  </a:t>
            </a:r>
            <a:r>
              <a:rPr dirty="0" sz="1150" spc="-35">
                <a:latin typeface="Arial"/>
                <a:cs typeface="Arial"/>
              </a:rPr>
              <a:t>weighted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good </a:t>
            </a:r>
            <a:r>
              <a:rPr dirty="0" sz="1150" spc="-25">
                <a:latin typeface="Arial"/>
                <a:cs typeface="Arial"/>
              </a:rPr>
              <a:t>result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camera.</a:t>
            </a:r>
            <a:endParaRPr sz="1150">
              <a:latin typeface="Arial"/>
              <a:cs typeface="Arial"/>
            </a:endParaRPr>
          </a:p>
          <a:p>
            <a:pPr marL="12700" marR="224790">
              <a:lnSpc>
                <a:spcPct val="203500"/>
              </a:lnSpc>
            </a:pPr>
            <a:r>
              <a:rPr dirty="0" sz="1150" spc="-30">
                <a:latin typeface="Arial"/>
                <a:cs typeface="Arial"/>
              </a:rPr>
              <a:t>Another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example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food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restaurant,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which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one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is</a:t>
            </a:r>
            <a:r>
              <a:rPr dirty="0" sz="1150" spc="-45">
                <a:latin typeface="Arial"/>
                <a:cs typeface="Arial"/>
              </a:rPr>
              <a:t> best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restaurant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following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things  </a:t>
            </a:r>
            <a:r>
              <a:rPr dirty="0" sz="1150" spc="-80">
                <a:latin typeface="Arial"/>
                <a:cs typeface="Arial"/>
              </a:rPr>
              <a:t>Services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65">
                <a:latin typeface="Arial"/>
                <a:cs typeface="Arial"/>
              </a:rPr>
              <a:t>Parking</a:t>
            </a:r>
            <a:endParaRPr sz="1150">
              <a:latin typeface="Arial"/>
              <a:cs typeface="Arial"/>
            </a:endParaRPr>
          </a:p>
          <a:p>
            <a:pPr marL="12700" marR="4251960">
              <a:lnSpc>
                <a:spcPct val="203500"/>
              </a:lnSpc>
            </a:pPr>
            <a:r>
              <a:rPr dirty="0" sz="1150" spc="-40">
                <a:latin typeface="Arial"/>
                <a:cs typeface="Arial"/>
              </a:rPr>
              <a:t>Variety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dishes  </a:t>
            </a:r>
            <a:r>
              <a:rPr dirty="0" sz="1150" spc="-10">
                <a:latin typeface="Arial"/>
                <a:cs typeface="Arial"/>
              </a:rPr>
              <a:t>Interior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45">
                <a:latin typeface="Arial"/>
                <a:cs typeface="Arial"/>
              </a:rPr>
              <a:t>Cutlery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481965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Organizations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65">
                <a:latin typeface="Arial"/>
                <a:cs typeface="Arial"/>
              </a:rPr>
              <a:t>choose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best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15">
                <a:latin typeface="Arial"/>
                <a:cs typeface="Arial"/>
              </a:rPr>
              <a:t>from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45">
                <a:latin typeface="Arial"/>
                <a:cs typeface="Arial"/>
              </a:rPr>
              <a:t>one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implement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your  </a:t>
            </a:r>
            <a:r>
              <a:rPr dirty="0" sz="1150" spc="-40">
                <a:latin typeface="Arial"/>
                <a:cs typeface="Arial"/>
              </a:rPr>
              <a:t>organization.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30299" y="435359"/>
            <a:ext cx="3425825" cy="6883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5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469265" algn="l"/>
              </a:tabLst>
            </a:pPr>
            <a:r>
              <a:rPr dirty="0" sz="1350" spc="-45" b="1">
                <a:latin typeface="Arial"/>
                <a:cs typeface="Arial"/>
              </a:rPr>
              <a:t>4.</a:t>
            </a:r>
            <a:r>
              <a:rPr dirty="0" sz="1350" spc="-45">
                <a:latin typeface="Times New Roman"/>
                <a:cs typeface="Times New Roman"/>
              </a:rPr>
              <a:t>	</a:t>
            </a:r>
            <a:r>
              <a:rPr dirty="0" sz="1350" spc="-145" b="1">
                <a:latin typeface="Arial"/>
                <a:cs typeface="Arial"/>
              </a:rPr>
              <a:t>MEASUREMENT </a:t>
            </a:r>
            <a:r>
              <a:rPr dirty="0" sz="1350" spc="-180" b="1">
                <a:latin typeface="Arial"/>
                <a:cs typeface="Arial"/>
              </a:rPr>
              <a:t>OF </a:t>
            </a:r>
            <a:r>
              <a:rPr dirty="0" sz="1350" spc="-100" b="1">
                <a:latin typeface="Arial"/>
                <a:cs typeface="Arial"/>
              </a:rPr>
              <a:t>OWN</a:t>
            </a:r>
            <a:r>
              <a:rPr dirty="0" sz="1350" spc="-110" b="1">
                <a:latin typeface="Arial"/>
                <a:cs typeface="Arial"/>
              </a:rPr>
              <a:t> </a:t>
            </a:r>
            <a:r>
              <a:rPr dirty="0" sz="1350" spc="-175" b="1">
                <a:latin typeface="Arial"/>
                <a:cs typeface="Arial"/>
              </a:rPr>
              <a:t>PERFORMANCE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178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58903" y="1279655"/>
            <a:ext cx="5071745" cy="233807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50">
                <a:latin typeface="Arial"/>
                <a:cs typeface="Arial"/>
              </a:rPr>
              <a:t>Organization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65">
                <a:latin typeface="Arial"/>
                <a:cs typeface="Arial"/>
              </a:rPr>
              <a:t>measure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own </a:t>
            </a:r>
            <a:r>
              <a:rPr dirty="0" sz="1150" spc="-40">
                <a:latin typeface="Arial"/>
                <a:cs typeface="Arial"/>
              </a:rPr>
              <a:t>performance </a:t>
            </a:r>
            <a:r>
              <a:rPr dirty="0" sz="1150" spc="-55">
                <a:latin typeface="Arial"/>
                <a:cs typeface="Arial"/>
              </a:rPr>
              <a:t>and keep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mind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15">
                <a:latin typeface="Arial"/>
                <a:cs typeface="Arial"/>
              </a:rPr>
              <a:t>important  </a:t>
            </a:r>
            <a:r>
              <a:rPr dirty="0" sz="1150" spc="-25">
                <a:latin typeface="Arial"/>
                <a:cs typeface="Arial"/>
              </a:rPr>
              <a:t>thing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not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find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only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one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55">
                <a:latin typeface="Arial"/>
                <a:cs typeface="Arial"/>
              </a:rPr>
              <a:t> bench </a:t>
            </a:r>
            <a:r>
              <a:rPr dirty="0" sz="1150" spc="-45">
                <a:latin typeface="Arial"/>
                <a:cs typeface="Arial"/>
              </a:rPr>
              <a:t>marking.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Choose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different  </a:t>
            </a:r>
            <a:r>
              <a:rPr dirty="0" sz="1150" spc="-55">
                <a:latin typeface="Arial"/>
                <a:cs typeface="Arial"/>
              </a:rPr>
              <a:t>variables </a:t>
            </a:r>
            <a:r>
              <a:rPr dirty="0" sz="1150" spc="-10">
                <a:latin typeface="Arial"/>
                <a:cs typeface="Arial"/>
              </a:rPr>
              <a:t>from different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organization.</a:t>
            </a:r>
            <a:endParaRPr sz="1150">
              <a:latin typeface="Arial"/>
              <a:cs typeface="Arial"/>
            </a:endParaRPr>
          </a:p>
          <a:p>
            <a:pPr marL="12700" marR="2221865">
              <a:lnSpc>
                <a:spcPct val="202599"/>
              </a:lnSpc>
              <a:spcBef>
                <a:spcPts val="15"/>
              </a:spcBef>
            </a:pP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 </a:t>
            </a:r>
            <a:r>
              <a:rPr dirty="0" sz="1150" spc="-30">
                <a:latin typeface="Arial"/>
                <a:cs typeface="Arial"/>
              </a:rPr>
              <a:t>Air line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45">
                <a:latin typeface="Arial"/>
                <a:cs typeface="Arial"/>
              </a:rPr>
              <a:t>should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measure:-  </a:t>
            </a:r>
            <a:r>
              <a:rPr dirty="0" sz="1150" spc="-55">
                <a:latin typeface="Arial"/>
                <a:cs typeface="Arial"/>
              </a:rPr>
              <a:t>Handling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luggage</a:t>
            </a:r>
            <a:endParaRPr sz="1150">
              <a:latin typeface="Arial"/>
              <a:cs typeface="Arial"/>
            </a:endParaRPr>
          </a:p>
          <a:p>
            <a:pPr marL="12700" marR="3107055">
              <a:lnSpc>
                <a:spcPct val="203500"/>
              </a:lnSpc>
            </a:pPr>
            <a:r>
              <a:rPr dirty="0" sz="1150" spc="-30">
                <a:latin typeface="Arial"/>
                <a:cs typeface="Arial"/>
              </a:rPr>
              <a:t>Comfort </a:t>
            </a:r>
            <a:r>
              <a:rPr dirty="0" sz="1150" spc="-50">
                <a:latin typeface="Arial"/>
                <a:cs typeface="Arial"/>
              </a:rPr>
              <a:t>wise </a:t>
            </a:r>
            <a:r>
              <a:rPr dirty="0" sz="1150" spc="5">
                <a:latin typeface="Arial"/>
                <a:cs typeface="Arial"/>
              </a:rPr>
              <a:t>with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0">
                <a:latin typeface="Arial"/>
                <a:cs typeface="Arial"/>
              </a:rPr>
              <a:t>air </a:t>
            </a:r>
            <a:r>
              <a:rPr dirty="0" sz="1150" spc="-50">
                <a:latin typeface="Arial"/>
                <a:cs typeface="Arial"/>
              </a:rPr>
              <a:t>lines  </a:t>
            </a:r>
            <a:r>
              <a:rPr dirty="0" sz="1150" spc="-65">
                <a:latin typeface="Arial"/>
                <a:cs typeface="Arial"/>
              </a:rPr>
              <a:t>Safety </a:t>
            </a:r>
            <a:r>
              <a:rPr dirty="0" sz="1150" spc="-35">
                <a:latin typeface="Arial"/>
                <a:cs typeface="Arial"/>
              </a:rPr>
              <a:t>record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65">
                <a:latin typeface="Arial"/>
                <a:cs typeface="Arial"/>
              </a:rPr>
              <a:t>Time </a:t>
            </a:r>
            <a:r>
              <a:rPr dirty="0" sz="1150" spc="-45">
                <a:latin typeface="Arial"/>
                <a:cs typeface="Arial"/>
              </a:rPr>
              <a:t>lines: </a:t>
            </a:r>
            <a:r>
              <a:rPr dirty="0" sz="1150" spc="-85">
                <a:latin typeface="Arial"/>
                <a:cs typeface="Arial"/>
              </a:rPr>
              <a:t>less </a:t>
            </a:r>
            <a:r>
              <a:rPr dirty="0" sz="1150" spc="-15">
                <a:latin typeface="Arial"/>
                <a:cs typeface="Arial"/>
              </a:rPr>
              <a:t>time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60">
                <a:latin typeface="Arial"/>
                <a:cs typeface="Arial"/>
              </a:rPr>
              <a:t>place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other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0303" y="3771394"/>
            <a:ext cx="15875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70" b="1">
                <a:latin typeface="Arial"/>
                <a:cs typeface="Arial"/>
              </a:rPr>
              <a:t>5</a:t>
            </a:r>
            <a:r>
              <a:rPr dirty="0" sz="1350" spc="-15" b="1">
                <a:latin typeface="Arial"/>
                <a:cs typeface="Arial"/>
              </a:rPr>
              <a:t>.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87502" y="3771394"/>
            <a:ext cx="20574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40" b="1">
                <a:latin typeface="Arial"/>
                <a:cs typeface="Arial"/>
              </a:rPr>
              <a:t>ACTION </a:t>
            </a:r>
            <a:r>
              <a:rPr dirty="0" sz="1350" spc="-145" b="1">
                <a:latin typeface="Arial"/>
                <a:cs typeface="Arial"/>
              </a:rPr>
              <a:t>TO </a:t>
            </a:r>
            <a:r>
              <a:rPr dirty="0" sz="1350" spc="-170" b="1">
                <a:latin typeface="Arial"/>
                <a:cs typeface="Arial"/>
              </a:rPr>
              <a:t>BRIDGE </a:t>
            </a:r>
            <a:r>
              <a:rPr dirty="0" sz="1350" spc="-180" b="1">
                <a:latin typeface="Arial"/>
                <a:cs typeface="Arial"/>
              </a:rPr>
              <a:t>THE</a:t>
            </a:r>
            <a:r>
              <a:rPr dirty="0" sz="1350" spc="-95" b="1">
                <a:latin typeface="Arial"/>
                <a:cs typeface="Arial"/>
              </a:rPr>
              <a:t> </a:t>
            </a:r>
            <a:r>
              <a:rPr dirty="0" sz="1350" spc="-180" b="1">
                <a:latin typeface="Arial"/>
                <a:cs typeface="Arial"/>
              </a:rPr>
              <a:t>GAP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8906" y="4160014"/>
            <a:ext cx="5285105" cy="305117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20">
                <a:latin typeface="Arial"/>
                <a:cs typeface="Arial"/>
              </a:rPr>
              <a:t>Identify the </a:t>
            </a:r>
            <a:r>
              <a:rPr dirty="0" sz="1150" spc="-80">
                <a:latin typeface="Arial"/>
                <a:cs typeface="Arial"/>
              </a:rPr>
              <a:t>gap </a:t>
            </a:r>
            <a:r>
              <a:rPr dirty="0" sz="1150" spc="-35">
                <a:latin typeface="Arial"/>
                <a:cs typeface="Arial"/>
              </a:rPr>
              <a:t>where we </a:t>
            </a:r>
            <a:r>
              <a:rPr dirty="0" sz="1150" spc="-50">
                <a:latin typeface="Arial"/>
                <a:cs typeface="Arial"/>
              </a:rPr>
              <a:t>are lacking, </a:t>
            </a:r>
            <a:r>
              <a:rPr dirty="0" sz="1150" spc="-35">
                <a:latin typeface="Arial"/>
                <a:cs typeface="Arial"/>
              </a:rPr>
              <a:t>where </a:t>
            </a:r>
            <a:r>
              <a:rPr dirty="0" sz="1150" spc="-20">
                <a:latin typeface="Arial"/>
                <a:cs typeface="Arial"/>
              </a:rPr>
              <a:t>our </a:t>
            </a:r>
            <a:r>
              <a:rPr dirty="0" sz="1150" spc="-40">
                <a:latin typeface="Arial"/>
                <a:cs typeface="Arial"/>
              </a:rPr>
              <a:t>performance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5">
                <a:latin typeface="Arial"/>
                <a:cs typeface="Arial"/>
              </a:rPr>
              <a:t>low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how </a:t>
            </a:r>
            <a:r>
              <a:rPr dirty="0" sz="1150" spc="-45">
                <a:latin typeface="Arial"/>
                <a:cs typeface="Arial"/>
              </a:rPr>
              <a:t>we </a:t>
            </a:r>
            <a:r>
              <a:rPr dirty="0" sz="1150" spc="-70">
                <a:latin typeface="Arial"/>
                <a:cs typeface="Arial"/>
              </a:rPr>
              <a:t>can  </a:t>
            </a:r>
            <a:r>
              <a:rPr dirty="0" sz="1150" spc="-35">
                <a:latin typeface="Arial"/>
                <a:cs typeface="Arial"/>
              </a:rPr>
              <a:t>improve </a:t>
            </a:r>
            <a:r>
              <a:rPr dirty="0" sz="1150" spc="-20">
                <a:latin typeface="Arial"/>
                <a:cs typeface="Arial"/>
              </a:rPr>
              <a:t>our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performance.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8890">
              <a:lnSpc>
                <a:spcPct val="101699"/>
              </a:lnSpc>
            </a:pPr>
            <a:r>
              <a:rPr dirty="0" sz="1150" spc="-50">
                <a:latin typeface="Arial"/>
                <a:cs typeface="Arial"/>
              </a:rPr>
              <a:t>Organization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70">
                <a:latin typeface="Arial"/>
                <a:cs typeface="Arial"/>
              </a:rPr>
              <a:t>go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benchmarking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20">
                <a:latin typeface="Arial"/>
                <a:cs typeface="Arial"/>
              </a:rPr>
              <a:t>competition in the  </a:t>
            </a:r>
            <a:r>
              <a:rPr dirty="0" sz="1150" spc="-30">
                <a:latin typeface="Arial"/>
                <a:cs typeface="Arial"/>
              </a:rPr>
              <a:t>market.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60">
                <a:latin typeface="Arial"/>
                <a:cs typeface="Arial"/>
              </a:rPr>
              <a:t>Benchmarking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50">
                <a:latin typeface="Arial"/>
                <a:cs typeface="Arial"/>
              </a:rPr>
              <a:t>done </a:t>
            </a:r>
            <a:r>
              <a:rPr dirty="0" sz="1150" spc="5">
                <a:latin typeface="Arial"/>
                <a:cs typeface="Arial"/>
              </a:rPr>
              <a:t>for two </a:t>
            </a:r>
            <a:r>
              <a:rPr dirty="0" sz="1150" spc="-20">
                <a:latin typeface="Arial"/>
                <a:cs typeface="Arial"/>
              </a:rPr>
              <a:t>entirely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5">
                <a:latin typeface="Arial"/>
                <a:cs typeface="Arial"/>
              </a:rPr>
              <a:t>organizations. </a:t>
            </a:r>
            <a:r>
              <a:rPr dirty="0" sz="1150" spc="-65">
                <a:latin typeface="Arial"/>
                <a:cs typeface="Arial"/>
              </a:rPr>
              <a:t>For  </a:t>
            </a:r>
            <a:r>
              <a:rPr dirty="0" sz="1150" spc="-55">
                <a:latin typeface="Arial"/>
                <a:cs typeface="Arial"/>
              </a:rPr>
              <a:t>example </a:t>
            </a:r>
            <a:r>
              <a:rPr dirty="0" sz="1150" spc="-65">
                <a:latin typeface="Arial"/>
                <a:cs typeface="Arial"/>
              </a:rPr>
              <a:t>Bicycle </a:t>
            </a:r>
            <a:r>
              <a:rPr dirty="0" sz="1150" spc="-35">
                <a:latin typeface="Arial"/>
                <a:cs typeface="Arial"/>
              </a:rPr>
              <a:t>manufacturing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50">
                <a:latin typeface="Arial"/>
                <a:cs typeface="Arial"/>
              </a:rPr>
              <a:t>compare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45">
                <a:latin typeface="Arial"/>
                <a:cs typeface="Arial"/>
              </a:rPr>
              <a:t>paper  </a:t>
            </a:r>
            <a:r>
              <a:rPr dirty="0" sz="1150" spc="-35">
                <a:latin typeface="Arial"/>
                <a:cs typeface="Arial"/>
              </a:rPr>
              <a:t>manufacturing  </a:t>
            </a:r>
            <a:r>
              <a:rPr dirty="0" sz="1150" spc="-55">
                <a:latin typeface="Arial"/>
                <a:cs typeface="Arial"/>
              </a:rPr>
              <a:t>company. </a:t>
            </a:r>
            <a:r>
              <a:rPr dirty="0" sz="1150" spc="-35">
                <a:latin typeface="Arial"/>
                <a:cs typeface="Arial"/>
              </a:rPr>
              <a:t>What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method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complaint </a:t>
            </a:r>
            <a:r>
              <a:rPr dirty="0" sz="1150" spc="-45">
                <a:latin typeface="Arial"/>
                <a:cs typeface="Arial"/>
              </a:rPr>
              <a:t>handling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how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45">
                <a:latin typeface="Arial"/>
                <a:cs typeface="Arial"/>
              </a:rPr>
              <a:t>best  satisfy </a:t>
            </a:r>
            <a:r>
              <a:rPr dirty="0" sz="1150" spc="-20">
                <a:latin typeface="Arial"/>
                <a:cs typeface="Arial"/>
              </a:rPr>
              <a:t>his/her </a:t>
            </a:r>
            <a:r>
              <a:rPr dirty="0" sz="1150" spc="-50">
                <a:latin typeface="Arial"/>
                <a:cs typeface="Arial"/>
              </a:rPr>
              <a:t>customers. </a:t>
            </a:r>
            <a:r>
              <a:rPr dirty="0" sz="1150" spc="-35">
                <a:latin typeface="Arial"/>
                <a:cs typeface="Arial"/>
              </a:rPr>
              <a:t>What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payment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method?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50">
                <a:latin typeface="Arial"/>
                <a:cs typeface="Arial"/>
              </a:rPr>
              <a:t>Organization </a:t>
            </a:r>
            <a:r>
              <a:rPr dirty="0" sz="1150" spc="-45">
                <a:latin typeface="Arial"/>
                <a:cs typeface="Arial"/>
              </a:rPr>
              <a:t>should </a:t>
            </a:r>
            <a:r>
              <a:rPr dirty="0" sz="1150" spc="-50">
                <a:latin typeface="Arial"/>
                <a:cs typeface="Arial"/>
              </a:rPr>
              <a:t>benchmark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75">
                <a:latin typeface="Arial"/>
                <a:cs typeface="Arial"/>
              </a:rPr>
              <a:t>processes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products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best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20">
                <a:latin typeface="Arial"/>
                <a:cs typeface="Arial"/>
              </a:rPr>
              <a:t>in 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75">
                <a:latin typeface="Arial"/>
                <a:cs typeface="Arial"/>
              </a:rPr>
              <a:t>class. </a:t>
            </a:r>
            <a:r>
              <a:rPr dirty="0" sz="1150" spc="-55">
                <a:latin typeface="Arial"/>
                <a:cs typeface="Arial"/>
              </a:rPr>
              <a:t>Never </a:t>
            </a:r>
            <a:r>
              <a:rPr dirty="0" sz="1150" spc="-50">
                <a:latin typeface="Arial"/>
                <a:cs typeface="Arial"/>
              </a:rPr>
              <a:t>benchmarking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those </a:t>
            </a:r>
            <a:r>
              <a:rPr dirty="0" sz="1150" spc="-50">
                <a:latin typeface="Arial"/>
                <a:cs typeface="Arial"/>
              </a:rPr>
              <a:t>organizations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55">
                <a:latin typeface="Arial"/>
                <a:cs typeface="Arial"/>
              </a:rPr>
              <a:t>good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any </a:t>
            </a:r>
            <a:r>
              <a:rPr dirty="0" sz="1150" spc="-65">
                <a:latin typeface="Arial"/>
                <a:cs typeface="Arial"/>
              </a:rPr>
              <a:t>process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60">
                <a:latin typeface="Arial"/>
                <a:cs typeface="Arial"/>
              </a:rPr>
              <a:t>Benchmarking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5">
                <a:latin typeface="Arial"/>
                <a:cs typeface="Arial"/>
              </a:rPr>
              <a:t>personality development. </a:t>
            </a: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best </a:t>
            </a:r>
            <a:r>
              <a:rPr dirty="0" sz="1150" spc="-20">
                <a:latin typeface="Arial"/>
                <a:cs typeface="Arial"/>
              </a:rPr>
              <a:t>in  attitude? </a:t>
            </a:r>
            <a:r>
              <a:rPr dirty="0" sz="1150" spc="-50">
                <a:latin typeface="Arial"/>
                <a:cs typeface="Arial"/>
              </a:rPr>
              <a:t>Who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best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study? </a:t>
            </a:r>
            <a:r>
              <a:rPr dirty="0" sz="1150" spc="-45">
                <a:latin typeface="Arial"/>
                <a:cs typeface="Arial"/>
              </a:rPr>
              <a:t>Who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most obedient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60">
                <a:latin typeface="Arial"/>
                <a:cs typeface="Arial"/>
              </a:rPr>
              <a:t>elders? </a:t>
            </a:r>
            <a:r>
              <a:rPr dirty="0" sz="1150" spc="-65">
                <a:latin typeface="Arial"/>
                <a:cs typeface="Arial"/>
              </a:rPr>
              <a:t>We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60">
                <a:latin typeface="Arial"/>
                <a:cs typeface="Arial"/>
              </a:rPr>
              <a:t>make  key </a:t>
            </a:r>
            <a:r>
              <a:rPr dirty="0" sz="1150" spc="-55">
                <a:latin typeface="Arial"/>
                <a:cs typeface="Arial"/>
              </a:rPr>
              <a:t>variables and </a:t>
            </a:r>
            <a:r>
              <a:rPr dirty="0" sz="1150" spc="-65">
                <a:latin typeface="Arial"/>
                <a:cs typeface="Arial"/>
              </a:rPr>
              <a:t>make </a:t>
            </a:r>
            <a:r>
              <a:rPr dirty="0" sz="1150" spc="-25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list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identify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lacking </a:t>
            </a:r>
            <a:r>
              <a:rPr dirty="0" sz="1150" spc="-20">
                <a:latin typeface="Arial"/>
                <a:cs typeface="Arial"/>
              </a:rPr>
              <a:t>in our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personality.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123685" y="889511"/>
            <a:ext cx="3518535" cy="742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40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750" spc="-135" b="1">
                <a:latin typeface="Arial"/>
                <a:cs typeface="Arial"/>
              </a:rPr>
              <a:t>COMMUNICATION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179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260" y="1790195"/>
            <a:ext cx="5513705" cy="704088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65">
                <a:latin typeface="Arial"/>
                <a:cs typeface="Arial"/>
              </a:rPr>
              <a:t>Transmission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55">
                <a:latin typeface="Arial"/>
                <a:cs typeface="Arial"/>
              </a:rPr>
              <a:t>place,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another </a:t>
            </a:r>
            <a:r>
              <a:rPr dirty="0" sz="1150" spc="-55">
                <a:latin typeface="Arial"/>
                <a:cs typeface="Arial"/>
              </a:rPr>
              <a:t>place, 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78435">
              <a:lnSpc>
                <a:spcPct val="100000"/>
              </a:lnSpc>
            </a:pPr>
            <a:r>
              <a:rPr dirty="0" sz="1150" spc="-40">
                <a:latin typeface="Arial"/>
                <a:cs typeface="Arial"/>
              </a:rPr>
              <a:t>“Communication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blood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organization”.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Communication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 spc="-40">
                <a:latin typeface="Arial"/>
                <a:cs typeface="Arial"/>
              </a:rPr>
              <a:t>whereby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60">
                <a:latin typeface="Arial"/>
                <a:cs typeface="Arial"/>
              </a:rPr>
              <a:t>enclosed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80">
                <a:latin typeface="Arial"/>
                <a:cs typeface="Arial"/>
              </a:rPr>
              <a:t>package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channeled  and </a:t>
            </a:r>
            <a:r>
              <a:rPr dirty="0" sz="1150" spc="-25">
                <a:latin typeface="Arial"/>
                <a:cs typeface="Arial"/>
              </a:rPr>
              <a:t>imparted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sender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receiver </a:t>
            </a:r>
            <a:r>
              <a:rPr dirty="0" sz="1150" spc="-50">
                <a:latin typeface="Arial"/>
                <a:cs typeface="Arial"/>
              </a:rPr>
              <a:t>via </a:t>
            </a:r>
            <a:r>
              <a:rPr dirty="0" sz="1150" spc="-75">
                <a:latin typeface="Arial"/>
                <a:cs typeface="Arial"/>
              </a:rPr>
              <a:t>some </a:t>
            </a:r>
            <a:r>
              <a:rPr dirty="0" sz="1150" spc="-40">
                <a:latin typeface="Arial"/>
                <a:cs typeface="Arial"/>
              </a:rPr>
              <a:t>medium.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receiver </a:t>
            </a:r>
            <a:r>
              <a:rPr dirty="0" sz="1150" spc="-25">
                <a:latin typeface="Arial"/>
                <a:cs typeface="Arial"/>
              </a:rPr>
              <a:t>then </a:t>
            </a:r>
            <a:r>
              <a:rPr dirty="0" sz="1150" spc="-65">
                <a:latin typeface="Arial"/>
                <a:cs typeface="Arial"/>
              </a:rPr>
              <a:t>decodes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90">
                <a:latin typeface="Arial"/>
                <a:cs typeface="Arial"/>
              </a:rPr>
              <a:t>message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5">
                <a:latin typeface="Arial"/>
                <a:cs typeface="Arial"/>
              </a:rPr>
              <a:t>gives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sender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feedback.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00" b="1">
                <a:latin typeface="Arial"/>
                <a:cs typeface="Arial"/>
              </a:rPr>
              <a:t>Flow </a:t>
            </a:r>
            <a:r>
              <a:rPr dirty="0" sz="1350" spc="-65" b="1">
                <a:latin typeface="Arial"/>
                <a:cs typeface="Arial"/>
              </a:rPr>
              <a:t>of </a:t>
            </a:r>
            <a:r>
              <a:rPr dirty="0" sz="1350" spc="-105" b="1">
                <a:latin typeface="Arial"/>
                <a:cs typeface="Arial"/>
              </a:rPr>
              <a:t>Communication </a:t>
            </a:r>
            <a:r>
              <a:rPr dirty="0" sz="1350" spc="-55" b="1">
                <a:latin typeface="Arial"/>
                <a:cs typeface="Arial"/>
              </a:rPr>
              <a:t>within the</a:t>
            </a:r>
            <a:r>
              <a:rPr dirty="0" sz="1350" spc="-35" b="1">
                <a:latin typeface="Arial"/>
                <a:cs typeface="Arial"/>
              </a:rPr>
              <a:t> </a:t>
            </a:r>
            <a:r>
              <a:rPr dirty="0" sz="1350" spc="-90" b="1">
                <a:latin typeface="Arial"/>
                <a:cs typeface="Arial"/>
              </a:rPr>
              <a:t>organization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469900" marR="84455" indent="-228600">
              <a:lnSpc>
                <a:spcPct val="101699"/>
              </a:lnSpc>
              <a:buFont typeface="Wingdings"/>
              <a:buChar char=""/>
              <a:tabLst>
                <a:tab pos="470534" algn="l"/>
              </a:tabLst>
            </a:pPr>
            <a:r>
              <a:rPr dirty="0" sz="1150" spc="-70" b="1">
                <a:latin typeface="Arial"/>
                <a:cs typeface="Arial"/>
              </a:rPr>
              <a:t>Upward </a:t>
            </a:r>
            <a:r>
              <a:rPr dirty="0" sz="1150" spc="-90" b="1">
                <a:latin typeface="Arial"/>
                <a:cs typeface="Arial"/>
              </a:rPr>
              <a:t>Communication: </a:t>
            </a:r>
            <a:r>
              <a:rPr dirty="0" sz="1150" spc="-55">
                <a:latin typeface="Arial"/>
                <a:cs typeface="Arial"/>
              </a:rPr>
              <a:t>Flow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communication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5">
                <a:latin typeface="Arial"/>
                <a:cs typeface="Arial"/>
              </a:rPr>
              <a:t>bottom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top. </a:t>
            </a:r>
            <a:r>
              <a:rPr dirty="0" sz="1150" spc="-70">
                <a:latin typeface="Arial"/>
                <a:cs typeface="Arial"/>
              </a:rPr>
              <a:t>For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example 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30">
                <a:latin typeface="Arial"/>
                <a:cs typeface="Arial"/>
              </a:rPr>
              <a:t>labor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5">
                <a:latin typeface="Arial"/>
                <a:cs typeface="Arial"/>
              </a:rPr>
              <a:t>supervisors </a:t>
            </a:r>
            <a:r>
              <a:rPr dirty="0" sz="1150" spc="-45">
                <a:latin typeface="Arial"/>
                <a:cs typeface="Arial"/>
              </a:rPr>
              <a:t>communicate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10">
                <a:latin typeface="Arial"/>
                <a:cs typeface="Arial"/>
              </a:rPr>
              <a:t>his/ </a:t>
            </a:r>
            <a:r>
              <a:rPr dirty="0" sz="1150" spc="-35">
                <a:latin typeface="Arial"/>
                <a:cs typeface="Arial"/>
              </a:rPr>
              <a:t>her </a:t>
            </a:r>
            <a:r>
              <a:rPr dirty="0" sz="1150" spc="-60">
                <a:latin typeface="Arial"/>
                <a:cs typeface="Arial"/>
              </a:rPr>
              <a:t>manager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5">
                <a:latin typeface="Arial"/>
                <a:cs typeface="Arial"/>
              </a:rPr>
              <a:t>top </a:t>
            </a:r>
            <a:r>
              <a:rPr dirty="0" sz="1150" spc="-40">
                <a:latin typeface="Arial"/>
                <a:cs typeface="Arial"/>
              </a:rPr>
              <a:t>level  </a:t>
            </a:r>
            <a:r>
              <a:rPr dirty="0" sz="1150" spc="-50">
                <a:latin typeface="Arial"/>
                <a:cs typeface="Arial"/>
              </a:rPr>
              <a:t>management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5">
                <a:latin typeface="Arial"/>
                <a:cs typeface="Arial"/>
              </a:rPr>
              <a:t>any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organization.</a:t>
            </a:r>
            <a:endParaRPr sz="1150">
              <a:latin typeface="Arial"/>
              <a:cs typeface="Arial"/>
            </a:endParaRPr>
          </a:p>
          <a:p>
            <a:pPr marL="469900" marR="280035" indent="-228600">
              <a:lnSpc>
                <a:spcPct val="101699"/>
              </a:lnSpc>
              <a:buFont typeface="Wingdings"/>
              <a:buChar char=""/>
              <a:tabLst>
                <a:tab pos="470534" algn="l"/>
              </a:tabLst>
            </a:pPr>
            <a:r>
              <a:rPr dirty="0" sz="1150" spc="-70" b="1">
                <a:latin typeface="Arial"/>
                <a:cs typeface="Arial"/>
              </a:rPr>
              <a:t>Downward </a:t>
            </a:r>
            <a:r>
              <a:rPr dirty="0" sz="1150" spc="-90" b="1">
                <a:latin typeface="Arial"/>
                <a:cs typeface="Arial"/>
              </a:rPr>
              <a:t>Communication: </a:t>
            </a:r>
            <a:r>
              <a:rPr dirty="0" sz="1150" spc="-60">
                <a:latin typeface="Arial"/>
                <a:cs typeface="Arial"/>
              </a:rPr>
              <a:t>Flow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communication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5">
                <a:latin typeface="Arial"/>
                <a:cs typeface="Arial"/>
              </a:rPr>
              <a:t>top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0">
                <a:latin typeface="Arial"/>
                <a:cs typeface="Arial"/>
              </a:rPr>
              <a:t>bottom.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When  </a:t>
            </a:r>
            <a:r>
              <a:rPr dirty="0" sz="1150" spc="-190">
                <a:latin typeface="Arial"/>
                <a:cs typeface="Arial"/>
              </a:rPr>
              <a:t>CEO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top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level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management </a:t>
            </a:r>
            <a:r>
              <a:rPr dirty="0" sz="1150" spc="-45">
                <a:latin typeface="Arial"/>
                <a:cs typeface="Arial"/>
              </a:rPr>
              <a:t>communicate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with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employees.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har char="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95" b="1">
                <a:latin typeface="Arial"/>
                <a:cs typeface="Arial"/>
              </a:rPr>
              <a:t>Hierarchy </a:t>
            </a:r>
            <a:r>
              <a:rPr dirty="0" sz="1350" spc="-60" b="1">
                <a:latin typeface="Arial"/>
                <a:cs typeface="Arial"/>
              </a:rPr>
              <a:t>of</a:t>
            </a:r>
            <a:r>
              <a:rPr dirty="0" sz="1350" spc="-65" b="1">
                <a:latin typeface="Arial"/>
                <a:cs typeface="Arial"/>
              </a:rPr>
              <a:t> </a:t>
            </a:r>
            <a:r>
              <a:rPr dirty="0" sz="1350" spc="-75" b="1">
                <a:latin typeface="Arial"/>
                <a:cs typeface="Arial"/>
              </a:rPr>
              <a:t>Management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Wingdings"/>
              <a:buChar char=""/>
              <a:tabLst>
                <a:tab pos="470534" algn="l"/>
              </a:tabLst>
            </a:pPr>
            <a:r>
              <a:rPr dirty="0" sz="1350" spc="-120" b="1">
                <a:latin typeface="Arial"/>
                <a:cs typeface="Arial"/>
              </a:rPr>
              <a:t>Top</a:t>
            </a:r>
            <a:r>
              <a:rPr dirty="0" sz="1350" spc="-85" b="1">
                <a:latin typeface="Arial"/>
                <a:cs typeface="Arial"/>
              </a:rPr>
              <a:t> </a:t>
            </a:r>
            <a:r>
              <a:rPr dirty="0" sz="1350" spc="-75" b="1">
                <a:latin typeface="Arial"/>
                <a:cs typeface="Arial"/>
              </a:rPr>
              <a:t>Management</a:t>
            </a:r>
            <a:endParaRPr sz="13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0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60">
                <a:latin typeface="Arial"/>
                <a:cs typeface="Arial"/>
              </a:rPr>
              <a:t>Chief Executive, Managing </a:t>
            </a:r>
            <a:r>
              <a:rPr dirty="0" sz="1150" spc="-30">
                <a:latin typeface="Arial"/>
                <a:cs typeface="Arial"/>
              </a:rPr>
              <a:t>Director, </a:t>
            </a:r>
            <a:r>
              <a:rPr dirty="0" sz="1150" spc="-60">
                <a:latin typeface="Arial"/>
                <a:cs typeface="Arial"/>
              </a:rPr>
              <a:t>Board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Directors.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470534" algn="l"/>
              </a:tabLst>
            </a:pPr>
            <a:r>
              <a:rPr dirty="0" sz="1350" spc="-55" b="1">
                <a:latin typeface="Arial"/>
                <a:cs typeface="Arial"/>
              </a:rPr>
              <a:t>Middle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75" b="1">
                <a:latin typeface="Arial"/>
                <a:cs typeface="Arial"/>
              </a:rPr>
              <a:t>Management</a:t>
            </a:r>
            <a:endParaRPr sz="13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0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40">
                <a:latin typeface="Arial"/>
                <a:cs typeface="Arial"/>
              </a:rPr>
              <a:t>Directors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Senior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Managers.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30"/>
              </a:spcBef>
              <a:buFont typeface="Wingdings"/>
              <a:buChar char=""/>
              <a:tabLst>
                <a:tab pos="470534" algn="l"/>
              </a:tabLst>
            </a:pPr>
            <a:r>
              <a:rPr dirty="0" sz="1350" spc="-105" b="1">
                <a:latin typeface="Arial"/>
                <a:cs typeface="Arial"/>
              </a:rPr>
              <a:t>Lower</a:t>
            </a:r>
            <a:r>
              <a:rPr dirty="0" sz="1350" spc="-95" b="1">
                <a:latin typeface="Arial"/>
                <a:cs typeface="Arial"/>
              </a:rPr>
              <a:t> </a:t>
            </a:r>
            <a:r>
              <a:rPr dirty="0" sz="1350" spc="-75" b="1">
                <a:latin typeface="Arial"/>
                <a:cs typeface="Arial"/>
              </a:rPr>
              <a:t>Management</a:t>
            </a:r>
            <a:endParaRPr sz="13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30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45">
                <a:latin typeface="Arial"/>
                <a:cs typeface="Arial"/>
              </a:rPr>
              <a:t>Officers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Executives.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90" b="1">
                <a:latin typeface="Arial"/>
                <a:cs typeface="Arial"/>
              </a:rPr>
              <a:t>External </a:t>
            </a:r>
            <a:r>
              <a:rPr dirty="0" sz="1350" spc="-114" b="1">
                <a:latin typeface="Arial"/>
                <a:cs typeface="Arial"/>
              </a:rPr>
              <a:t>vs. </a:t>
            </a:r>
            <a:r>
              <a:rPr dirty="0" sz="1350" spc="-60" b="1">
                <a:latin typeface="Arial"/>
                <a:cs typeface="Arial"/>
              </a:rPr>
              <a:t>Internal</a:t>
            </a:r>
            <a:r>
              <a:rPr dirty="0" sz="1350" spc="-10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Communication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Wingdings"/>
              <a:buChar char=""/>
              <a:tabLst>
                <a:tab pos="470534" algn="l"/>
              </a:tabLst>
            </a:pPr>
            <a:r>
              <a:rPr dirty="0" sz="1150" spc="-50" b="1">
                <a:latin typeface="Arial"/>
                <a:cs typeface="Arial"/>
              </a:rPr>
              <a:t>Internal </a:t>
            </a:r>
            <a:r>
              <a:rPr dirty="0" sz="1150" spc="-90" b="1">
                <a:latin typeface="Arial"/>
                <a:cs typeface="Arial"/>
              </a:rPr>
              <a:t>Communication: </a:t>
            </a:r>
            <a:r>
              <a:rPr dirty="0" sz="1150" spc="-35" b="1">
                <a:latin typeface="Arial"/>
                <a:cs typeface="Arial"/>
              </a:rPr>
              <a:t>- </a:t>
            </a:r>
            <a:r>
              <a:rPr dirty="0" sz="1150" spc="-45">
                <a:latin typeface="Arial"/>
                <a:cs typeface="Arial"/>
              </a:rPr>
              <a:t>Communication </a:t>
            </a:r>
            <a:r>
              <a:rPr dirty="0" sz="1150" spc="-5">
                <a:latin typeface="Arial"/>
                <a:cs typeface="Arial"/>
              </a:rPr>
              <a:t>within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470534" algn="l"/>
              </a:tabLst>
            </a:pPr>
            <a:r>
              <a:rPr dirty="0" sz="1150" spc="-80" b="1">
                <a:latin typeface="Arial"/>
                <a:cs typeface="Arial"/>
              </a:rPr>
              <a:t>External </a:t>
            </a:r>
            <a:r>
              <a:rPr dirty="0" sz="1150" spc="-90" b="1">
                <a:latin typeface="Arial"/>
                <a:cs typeface="Arial"/>
              </a:rPr>
              <a:t>Communication: </a:t>
            </a:r>
            <a:r>
              <a:rPr dirty="0" sz="1150" spc="-35" b="1">
                <a:latin typeface="Arial"/>
                <a:cs typeface="Arial"/>
              </a:rPr>
              <a:t>- </a:t>
            </a:r>
            <a:r>
              <a:rPr dirty="0" sz="1150" spc="-45">
                <a:latin typeface="Arial"/>
                <a:cs typeface="Arial"/>
              </a:rPr>
              <a:t>Communication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outside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bodies.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50" spc="-170" b="1">
                <a:latin typeface="Arial"/>
                <a:cs typeface="Arial"/>
              </a:rPr>
              <a:t>Process </a:t>
            </a:r>
            <a:r>
              <a:rPr dirty="0" sz="1550" spc="-75" b="1">
                <a:latin typeface="Arial"/>
                <a:cs typeface="Arial"/>
              </a:rPr>
              <a:t>of</a:t>
            </a:r>
            <a:r>
              <a:rPr dirty="0" sz="1550" spc="-254" b="1">
                <a:latin typeface="Arial"/>
                <a:cs typeface="Arial"/>
              </a:rPr>
              <a:t> </a:t>
            </a:r>
            <a:r>
              <a:rPr dirty="0" sz="1550" spc="-120" b="1">
                <a:latin typeface="Arial"/>
                <a:cs typeface="Arial"/>
              </a:rPr>
              <a:t>Communication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60">
                <a:latin typeface="Arial"/>
                <a:cs typeface="Arial"/>
              </a:rPr>
              <a:t>Two </a:t>
            </a:r>
            <a:r>
              <a:rPr dirty="0" sz="1150" spc="-35">
                <a:latin typeface="Arial"/>
                <a:cs typeface="Arial"/>
              </a:rPr>
              <a:t>parties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0">
                <a:latin typeface="Arial"/>
                <a:cs typeface="Arial"/>
              </a:rPr>
              <a:t>communication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are:</a:t>
            </a:r>
            <a:endParaRPr sz="1150">
              <a:latin typeface="Arial"/>
              <a:cs typeface="Arial"/>
            </a:endParaRPr>
          </a:p>
          <a:p>
            <a:pPr marL="698500" marR="4295140">
              <a:lnSpc>
                <a:spcPct val="203500"/>
              </a:lnSpc>
            </a:pPr>
            <a:r>
              <a:rPr dirty="0" sz="1150" spc="-75">
                <a:latin typeface="Arial"/>
                <a:cs typeface="Arial"/>
              </a:rPr>
              <a:t>Sender  </a:t>
            </a:r>
            <a:r>
              <a:rPr dirty="0" sz="1150" spc="-215">
                <a:latin typeface="Arial"/>
                <a:cs typeface="Arial"/>
              </a:rPr>
              <a:t>R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 spc="-85">
                <a:latin typeface="Arial"/>
                <a:cs typeface="Arial"/>
              </a:rPr>
              <a:t>c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>
                <a:latin typeface="Arial"/>
                <a:cs typeface="Arial"/>
              </a:rPr>
              <a:t>i</a:t>
            </a:r>
            <a:r>
              <a:rPr dirty="0" sz="1150" spc="-65">
                <a:latin typeface="Arial"/>
                <a:cs typeface="Arial"/>
              </a:rPr>
              <a:t>v</a:t>
            </a:r>
            <a:r>
              <a:rPr dirty="0" sz="1150" spc="-70">
                <a:latin typeface="Arial"/>
                <a:cs typeface="Arial"/>
              </a:rPr>
              <a:t>e</a:t>
            </a:r>
            <a:r>
              <a:rPr dirty="0" sz="1150" spc="15">
                <a:latin typeface="Arial"/>
                <a:cs typeface="Arial"/>
              </a:rPr>
              <a:t>r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344" y="892559"/>
            <a:ext cx="5513705" cy="8130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indent="-229235">
              <a:lnSpc>
                <a:spcPct val="100000"/>
              </a:lnSpc>
              <a:spcBef>
                <a:spcPts val="100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50" spc="-75">
                <a:latin typeface="Arial"/>
                <a:cs typeface="Arial"/>
              </a:rPr>
              <a:t>Sender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communicates.</a:t>
            </a:r>
            <a:endParaRPr sz="11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50" spc="-70">
                <a:latin typeface="Arial"/>
                <a:cs typeface="Arial"/>
              </a:rPr>
              <a:t>Receiver 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60">
                <a:latin typeface="Arial"/>
                <a:cs typeface="Arial"/>
              </a:rPr>
              <a:t>receives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10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message.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har char=""/>
            </a:pPr>
            <a:endParaRPr sz="12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</a:pPr>
            <a:r>
              <a:rPr dirty="0" sz="1350" spc="-135" b="1">
                <a:latin typeface="Arial"/>
                <a:cs typeface="Arial"/>
              </a:rPr>
              <a:t>Encoding </a:t>
            </a:r>
            <a:r>
              <a:rPr dirty="0" sz="1350" spc="-114" b="1">
                <a:latin typeface="Arial"/>
                <a:cs typeface="Arial"/>
              </a:rPr>
              <a:t>Vs.</a:t>
            </a:r>
            <a:r>
              <a:rPr dirty="0" sz="1350" spc="-10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Decoding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150" spc="-114" b="1">
                <a:latin typeface="Arial"/>
                <a:cs typeface="Arial"/>
              </a:rPr>
              <a:t>Encoding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60">
                <a:latin typeface="Arial"/>
                <a:cs typeface="Arial"/>
              </a:rPr>
              <a:t>Conversion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message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45">
                <a:latin typeface="Arial"/>
                <a:cs typeface="Arial"/>
              </a:rPr>
              <a:t>understandable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form.</a:t>
            </a:r>
            <a:endParaRPr sz="1150">
              <a:latin typeface="Arial"/>
              <a:cs typeface="Arial"/>
            </a:endParaRPr>
          </a:p>
          <a:p>
            <a:pPr lvl="1"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75">
                <a:latin typeface="Arial"/>
                <a:cs typeface="Arial"/>
              </a:rPr>
              <a:t>Sender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called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encoder.</a:t>
            </a:r>
            <a:endParaRPr sz="11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50" spc="-100" b="1">
                <a:latin typeface="Arial"/>
                <a:cs typeface="Arial"/>
              </a:rPr>
              <a:t>Decoding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20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60">
                <a:latin typeface="Arial"/>
                <a:cs typeface="Arial"/>
              </a:rPr>
              <a:t>Giving </a:t>
            </a:r>
            <a:r>
              <a:rPr dirty="0" sz="1150" spc="-65">
                <a:latin typeface="Arial"/>
                <a:cs typeface="Arial"/>
              </a:rPr>
              <a:t>meanings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message.</a:t>
            </a:r>
            <a:endParaRPr sz="115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100" algn="l"/>
              </a:tabLst>
            </a:pPr>
            <a:r>
              <a:rPr dirty="0" sz="1150" spc="-70">
                <a:latin typeface="Arial"/>
                <a:cs typeface="Arial"/>
              </a:rPr>
              <a:t>Receiver is </a:t>
            </a:r>
            <a:r>
              <a:rPr dirty="0" sz="1150" spc="-50">
                <a:latin typeface="Arial"/>
                <a:cs typeface="Arial"/>
              </a:rPr>
              <a:t>called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decoder.</a:t>
            </a:r>
            <a:endParaRPr sz="1150">
              <a:latin typeface="Arial"/>
              <a:cs typeface="Arial"/>
            </a:endParaRPr>
          </a:p>
          <a:p>
            <a:pPr marL="469900" marR="271145" indent="-228600">
              <a:lnSpc>
                <a:spcPct val="101699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150" spc="-45">
                <a:latin typeface="Arial"/>
                <a:cs typeface="Arial"/>
              </a:rPr>
              <a:t>Effective </a:t>
            </a:r>
            <a:r>
              <a:rPr dirty="0" sz="1150" spc="-40">
                <a:latin typeface="Arial"/>
                <a:cs typeface="Arial"/>
              </a:rPr>
              <a:t>communication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40">
                <a:latin typeface="Arial"/>
                <a:cs typeface="Arial"/>
              </a:rPr>
              <a:t>take </a:t>
            </a:r>
            <a:r>
              <a:rPr dirty="0" sz="1150" spc="-60">
                <a:latin typeface="Arial"/>
                <a:cs typeface="Arial"/>
              </a:rPr>
              <a:t>place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35">
                <a:latin typeface="Arial"/>
                <a:cs typeface="Arial"/>
              </a:rPr>
              <a:t>climate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encoder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decoder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35">
                <a:latin typeface="Arial"/>
                <a:cs typeface="Arial"/>
              </a:rPr>
              <a:t>similar.</a:t>
            </a:r>
            <a:endParaRPr sz="11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50" spc="-85">
                <a:latin typeface="Arial"/>
                <a:cs typeface="Arial"/>
              </a:rPr>
              <a:t>Jargons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words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particular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profession.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har char=""/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350" spc="-200" b="1">
                <a:latin typeface="Arial"/>
                <a:cs typeface="Arial"/>
              </a:rPr>
              <a:t>VERBAL </a:t>
            </a:r>
            <a:r>
              <a:rPr dirty="0" sz="1350" spc="-185" b="1">
                <a:latin typeface="Arial"/>
                <a:cs typeface="Arial"/>
              </a:rPr>
              <a:t>VS </a:t>
            </a:r>
            <a:r>
              <a:rPr dirty="0" sz="1350" spc="-105" b="1">
                <a:latin typeface="Arial"/>
                <a:cs typeface="Arial"/>
              </a:rPr>
              <a:t>NON </a:t>
            </a:r>
            <a:r>
              <a:rPr dirty="0" sz="1350" spc="-200" b="1">
                <a:latin typeface="Arial"/>
                <a:cs typeface="Arial"/>
              </a:rPr>
              <a:t>VERBAL</a:t>
            </a:r>
            <a:r>
              <a:rPr dirty="0" sz="1350" spc="-180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COMMUNICATION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SzPct val="85185"/>
              <a:buFont typeface="Wingdings"/>
              <a:buChar char=""/>
              <a:tabLst>
                <a:tab pos="469900" algn="l"/>
              </a:tabLst>
            </a:pPr>
            <a:r>
              <a:rPr dirty="0" sz="1350" spc="-80" b="1">
                <a:latin typeface="Arial"/>
                <a:cs typeface="Arial"/>
              </a:rPr>
              <a:t>Verbal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Communication: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har char=""/>
            </a:pPr>
            <a:endParaRPr sz="1200">
              <a:latin typeface="Arial"/>
              <a:cs typeface="Arial"/>
            </a:endParaRPr>
          </a:p>
          <a:p>
            <a:pPr marL="241300" marR="109855">
              <a:lnSpc>
                <a:spcPct val="101699"/>
              </a:lnSpc>
            </a:pPr>
            <a:r>
              <a:rPr dirty="0" sz="1150" spc="-5">
                <a:latin typeface="Arial"/>
                <a:cs typeface="Arial"/>
              </a:rPr>
              <a:t>Written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5">
                <a:latin typeface="Arial"/>
                <a:cs typeface="Arial"/>
              </a:rPr>
              <a:t>oral </a:t>
            </a:r>
            <a:r>
              <a:rPr dirty="0" sz="1150" spc="-40">
                <a:latin typeface="Arial"/>
                <a:cs typeface="Arial"/>
              </a:rPr>
              <a:t>communication,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basis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communication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the interaction </a:t>
            </a:r>
            <a:r>
              <a:rPr dirty="0" sz="1150" spc="-35">
                <a:latin typeface="Arial"/>
                <a:cs typeface="Arial"/>
              </a:rPr>
              <a:t>between  </a:t>
            </a:r>
            <a:r>
              <a:rPr dirty="0" sz="1150" spc="-40">
                <a:latin typeface="Arial"/>
                <a:cs typeface="Arial"/>
              </a:rPr>
              <a:t>people. </a:t>
            </a:r>
            <a:r>
              <a:rPr dirty="0" sz="1150" spc="-50">
                <a:latin typeface="Arial"/>
                <a:cs typeface="Arial"/>
              </a:rPr>
              <a:t>Verbal </a:t>
            </a:r>
            <a:r>
              <a:rPr dirty="0" sz="1150" spc="-40">
                <a:latin typeface="Arial"/>
                <a:cs typeface="Arial"/>
              </a:rPr>
              <a:t>communication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one way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communicate</a:t>
            </a:r>
            <a:r>
              <a:rPr dirty="0" sz="1150" spc="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face-to-face.</a:t>
            </a:r>
            <a:endParaRPr sz="11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25"/>
              </a:spcBef>
            </a:pPr>
            <a:r>
              <a:rPr dirty="0" sz="1150" spc="-95">
                <a:latin typeface="Arial"/>
                <a:cs typeface="Arial"/>
              </a:rPr>
              <a:t>Some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key </a:t>
            </a:r>
            <a:r>
              <a:rPr dirty="0" sz="1150" spc="-50">
                <a:latin typeface="Arial"/>
                <a:cs typeface="Arial"/>
              </a:rPr>
              <a:t>components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verbal communication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55">
                <a:latin typeface="Arial"/>
                <a:cs typeface="Arial"/>
              </a:rPr>
              <a:t>sound, </a:t>
            </a:r>
            <a:r>
              <a:rPr dirty="0" sz="1150" spc="-40">
                <a:latin typeface="Arial"/>
                <a:cs typeface="Arial"/>
              </a:rPr>
              <a:t>words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language.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350" spc="-95" b="1">
                <a:latin typeface="Arial"/>
                <a:cs typeface="Arial"/>
              </a:rPr>
              <a:t>Non </a:t>
            </a:r>
            <a:r>
              <a:rPr dirty="0" sz="1350" spc="-80" b="1">
                <a:latin typeface="Arial"/>
                <a:cs typeface="Arial"/>
              </a:rPr>
              <a:t>verbal</a:t>
            </a:r>
            <a:r>
              <a:rPr dirty="0" sz="1350" spc="-55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Communication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00">
                <a:latin typeface="Arial"/>
                <a:cs typeface="Arial"/>
              </a:rPr>
              <a:t>Sources </a:t>
            </a:r>
            <a:r>
              <a:rPr dirty="0" sz="1350" spc="5">
                <a:latin typeface="Arial"/>
                <a:cs typeface="Arial"/>
              </a:rPr>
              <a:t>for </a:t>
            </a:r>
            <a:r>
              <a:rPr dirty="0" sz="1350" spc="-45">
                <a:latin typeface="Arial"/>
                <a:cs typeface="Arial"/>
              </a:rPr>
              <a:t>non </a:t>
            </a:r>
            <a:r>
              <a:rPr dirty="0" sz="1350" spc="-50">
                <a:latin typeface="Arial"/>
                <a:cs typeface="Arial"/>
              </a:rPr>
              <a:t>verbal </a:t>
            </a:r>
            <a:r>
              <a:rPr dirty="0" sz="1350" spc="-45">
                <a:latin typeface="Arial"/>
                <a:cs typeface="Arial"/>
              </a:rPr>
              <a:t>communication </a:t>
            </a:r>
            <a:r>
              <a:rPr dirty="0" sz="1350" spc="-85">
                <a:latin typeface="Arial"/>
                <a:cs typeface="Arial"/>
              </a:rPr>
              <a:t>can</a:t>
            </a:r>
            <a:r>
              <a:rPr dirty="0" sz="1350" spc="-220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be: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 indent="-635">
              <a:lnSpc>
                <a:spcPct val="101600"/>
              </a:lnSpc>
              <a:spcBef>
                <a:spcPts val="5"/>
              </a:spcBef>
            </a:pPr>
            <a:r>
              <a:rPr dirty="0" sz="1350" spc="-70">
                <a:latin typeface="Arial"/>
                <a:cs typeface="Arial"/>
              </a:rPr>
              <a:t>Appearance: </a:t>
            </a:r>
            <a:r>
              <a:rPr dirty="0" sz="1150" spc="-60">
                <a:latin typeface="Arial"/>
                <a:cs typeface="Arial"/>
              </a:rPr>
              <a:t>Appearance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surrounding. </a:t>
            </a:r>
            <a:r>
              <a:rPr dirty="0" sz="1150" spc="-95">
                <a:latin typeface="Arial"/>
                <a:cs typeface="Arial"/>
              </a:rPr>
              <a:t>E.g.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 spc="-40">
                <a:latin typeface="Arial"/>
                <a:cs typeface="Arial"/>
              </a:rPr>
              <a:t>we </a:t>
            </a:r>
            <a:r>
              <a:rPr dirty="0" sz="1150" spc="-50">
                <a:latin typeface="Arial"/>
                <a:cs typeface="Arial"/>
              </a:rPr>
              <a:t>receive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5">
                <a:latin typeface="Arial"/>
                <a:cs typeface="Arial"/>
              </a:rPr>
              <a:t>letter,  </a:t>
            </a:r>
            <a:r>
              <a:rPr dirty="0" sz="1150" spc="-60">
                <a:latin typeface="Arial"/>
                <a:cs typeface="Arial"/>
              </a:rPr>
              <a:t>appearance </a:t>
            </a:r>
            <a:r>
              <a:rPr dirty="0" sz="1150">
                <a:latin typeface="Arial"/>
                <a:cs typeface="Arial"/>
              </a:rPr>
              <a:t>of letter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0">
                <a:latin typeface="Arial"/>
                <a:cs typeface="Arial"/>
              </a:rPr>
              <a:t>show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35">
                <a:latin typeface="Arial"/>
                <a:cs typeface="Arial"/>
              </a:rPr>
              <a:t>where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50">
                <a:latin typeface="Arial"/>
                <a:cs typeface="Arial"/>
              </a:rPr>
              <a:t>come. </a:t>
            </a: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>
                <a:latin typeface="Arial"/>
                <a:cs typeface="Arial"/>
              </a:rPr>
              <a:t>letter </a:t>
            </a:r>
            <a:r>
              <a:rPr dirty="0" sz="1150" spc="-55">
                <a:latin typeface="Arial"/>
                <a:cs typeface="Arial"/>
              </a:rPr>
              <a:t>come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65">
                <a:latin typeface="Arial"/>
                <a:cs typeface="Arial"/>
              </a:rPr>
              <a:t>any  </a:t>
            </a:r>
            <a:r>
              <a:rPr dirty="0" sz="1150" spc="-40">
                <a:latin typeface="Arial"/>
                <a:cs typeface="Arial"/>
              </a:rPr>
              <a:t>organization, we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0">
                <a:latin typeface="Arial"/>
                <a:cs typeface="Arial"/>
              </a:rPr>
              <a:t>judge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5">
                <a:latin typeface="Arial"/>
                <a:cs typeface="Arial"/>
              </a:rPr>
              <a:t>letter </a:t>
            </a:r>
            <a:r>
              <a:rPr dirty="0" sz="1150" spc="-55">
                <a:latin typeface="Arial"/>
                <a:cs typeface="Arial"/>
              </a:rPr>
              <a:t>head. </a:t>
            </a:r>
            <a:r>
              <a:rPr dirty="0" sz="1150" spc="-65">
                <a:latin typeface="Arial"/>
                <a:cs typeface="Arial"/>
              </a:rPr>
              <a:t>We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0">
                <a:latin typeface="Arial"/>
                <a:cs typeface="Arial"/>
              </a:rPr>
              <a:t>judge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45">
                <a:latin typeface="Arial"/>
                <a:cs typeface="Arial"/>
              </a:rPr>
              <a:t>things </a:t>
            </a:r>
            <a:r>
              <a:rPr dirty="0" sz="1150" spc="-5">
                <a:latin typeface="Arial"/>
                <a:cs typeface="Arial"/>
              </a:rPr>
              <a:t>from </a:t>
            </a:r>
            <a:r>
              <a:rPr dirty="0" sz="1150" spc="-60">
                <a:latin typeface="Arial"/>
                <a:cs typeface="Arial"/>
              </a:rPr>
              <a:t>appearance 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individuals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15">
                <a:latin typeface="Arial"/>
                <a:cs typeface="Arial"/>
              </a:rPr>
              <a:t>well </a:t>
            </a:r>
            <a:r>
              <a:rPr dirty="0" sz="1150" spc="-40">
                <a:latin typeface="Arial"/>
                <a:cs typeface="Arial"/>
              </a:rPr>
              <a:t>including </a:t>
            </a:r>
            <a:r>
              <a:rPr dirty="0" sz="1150" spc="-75">
                <a:latin typeface="Arial"/>
                <a:cs typeface="Arial"/>
              </a:rPr>
              <a:t>age, </a:t>
            </a:r>
            <a:r>
              <a:rPr dirty="0" sz="1150" spc="-45">
                <a:latin typeface="Arial"/>
                <a:cs typeface="Arial"/>
              </a:rPr>
              <a:t>profession, </a:t>
            </a:r>
            <a:r>
              <a:rPr dirty="0" sz="1150" spc="-40">
                <a:latin typeface="Arial"/>
                <a:cs typeface="Arial"/>
              </a:rPr>
              <a:t>education, </a:t>
            </a:r>
            <a:r>
              <a:rPr dirty="0" sz="1150" spc="-25">
                <a:latin typeface="Arial"/>
                <a:cs typeface="Arial"/>
              </a:rPr>
              <a:t>nationality, </a:t>
            </a:r>
            <a:r>
              <a:rPr dirty="0" sz="1150" spc="-55">
                <a:latin typeface="Arial"/>
                <a:cs typeface="Arial"/>
              </a:rPr>
              <a:t>face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individual,  mood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individual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12700" marR="105410">
              <a:lnSpc>
                <a:spcPct val="101200"/>
              </a:lnSpc>
            </a:pPr>
            <a:r>
              <a:rPr dirty="0" sz="1350" spc="-70">
                <a:latin typeface="Arial"/>
                <a:cs typeface="Arial"/>
              </a:rPr>
              <a:t>Colors: </a:t>
            </a:r>
            <a:r>
              <a:rPr dirty="0" sz="1150" spc="-70">
                <a:latin typeface="Arial"/>
                <a:cs typeface="Arial"/>
              </a:rPr>
              <a:t>Colors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35">
                <a:latin typeface="Arial"/>
                <a:cs typeface="Arial"/>
              </a:rPr>
              <a:t>indicate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non </a:t>
            </a:r>
            <a:r>
              <a:rPr dirty="0" sz="1150" spc="-40">
                <a:latin typeface="Arial"/>
                <a:cs typeface="Arial"/>
              </a:rPr>
              <a:t>verbal communication. </a:t>
            </a: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 </a:t>
            </a:r>
            <a:r>
              <a:rPr dirty="0" sz="1150" spc="-30">
                <a:latin typeface="Arial"/>
                <a:cs typeface="Arial"/>
              </a:rPr>
              <a:t>red </a:t>
            </a:r>
            <a:r>
              <a:rPr dirty="0" sz="1150" spc="-15">
                <a:latin typeface="Arial"/>
                <a:cs typeface="Arial"/>
              </a:rPr>
              <a:t>light at </a:t>
            </a:r>
            <a:r>
              <a:rPr dirty="0" sz="1150" spc="-60">
                <a:latin typeface="Arial"/>
                <a:cs typeface="Arial"/>
              </a:rPr>
              <a:t>signal 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stop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vehicles. </a:t>
            </a:r>
            <a:r>
              <a:rPr dirty="0" sz="1150" spc="-70">
                <a:latin typeface="Arial"/>
                <a:cs typeface="Arial"/>
              </a:rPr>
              <a:t>Colors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80">
                <a:latin typeface="Arial"/>
                <a:cs typeface="Arial"/>
              </a:rPr>
              <a:t>dresses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35">
                <a:latin typeface="Arial"/>
                <a:cs typeface="Arial"/>
              </a:rPr>
              <a:t>indicate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45">
                <a:latin typeface="Arial"/>
                <a:cs typeface="Arial"/>
              </a:rPr>
              <a:t>things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about.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499"/>
              </a:lnSpc>
            </a:pPr>
            <a:r>
              <a:rPr dirty="0" sz="1350" spc="-90">
                <a:latin typeface="Arial"/>
                <a:cs typeface="Arial"/>
              </a:rPr>
              <a:t>Sounds: </a:t>
            </a:r>
            <a:r>
              <a:rPr dirty="0" sz="1150" spc="-80">
                <a:latin typeface="Arial"/>
                <a:cs typeface="Arial"/>
              </a:rPr>
              <a:t>Sound </a:t>
            </a:r>
            <a:r>
              <a:rPr dirty="0" sz="1150" spc="-65">
                <a:latin typeface="Arial"/>
                <a:cs typeface="Arial"/>
              </a:rPr>
              <a:t>is also </a:t>
            </a:r>
            <a:r>
              <a:rPr dirty="0" sz="1150" spc="-35">
                <a:latin typeface="Arial"/>
                <a:cs typeface="Arial"/>
              </a:rPr>
              <a:t>non </a:t>
            </a:r>
            <a:r>
              <a:rPr dirty="0" sz="1150" spc="-40">
                <a:latin typeface="Arial"/>
                <a:cs typeface="Arial"/>
              </a:rPr>
              <a:t>verbal </a:t>
            </a:r>
            <a:r>
              <a:rPr dirty="0" sz="1150" spc="-35">
                <a:latin typeface="Arial"/>
                <a:cs typeface="Arial"/>
              </a:rPr>
              <a:t>communication. </a:t>
            </a: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 voice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machine </a:t>
            </a:r>
            <a:r>
              <a:rPr dirty="0" sz="1150" spc="-20">
                <a:latin typeface="Arial"/>
                <a:cs typeface="Arial"/>
              </a:rPr>
              <a:t>in 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50">
                <a:latin typeface="Arial"/>
                <a:cs typeface="Arial"/>
              </a:rPr>
              <a:t>show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5">
                <a:latin typeface="Arial"/>
                <a:cs typeface="Arial"/>
              </a:rPr>
              <a:t>machine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running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work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progress. </a:t>
            </a:r>
            <a:r>
              <a:rPr dirty="0" sz="1150" spc="-45">
                <a:latin typeface="Arial"/>
                <a:cs typeface="Arial"/>
              </a:rPr>
              <a:t>Drop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key </a:t>
            </a:r>
            <a:r>
              <a:rPr dirty="0" sz="1150" spc="-35">
                <a:latin typeface="Arial"/>
                <a:cs typeface="Arial"/>
              </a:rPr>
              <a:t>ring </a:t>
            </a:r>
            <a:r>
              <a:rPr dirty="0" sz="1150" spc="-10">
                <a:latin typeface="Arial"/>
                <a:cs typeface="Arial"/>
              </a:rPr>
              <a:t>from  </a:t>
            </a:r>
            <a:r>
              <a:rPr dirty="0" sz="1150" spc="-20">
                <a:latin typeface="Arial"/>
                <a:cs typeface="Arial"/>
              </a:rPr>
              <a:t>our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pocket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create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voice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intimate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us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keys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have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been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fallen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from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our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pocket.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499"/>
              </a:lnSpc>
            </a:pPr>
            <a:r>
              <a:rPr dirty="0" sz="1350" spc="-70">
                <a:latin typeface="Arial"/>
                <a:cs typeface="Arial"/>
              </a:rPr>
              <a:t>Smell: </a:t>
            </a:r>
            <a:r>
              <a:rPr dirty="0" sz="1150" spc="-70">
                <a:latin typeface="Arial"/>
                <a:cs typeface="Arial"/>
              </a:rPr>
              <a:t>Smell is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source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non </a:t>
            </a:r>
            <a:r>
              <a:rPr dirty="0" sz="1150" spc="-40">
                <a:latin typeface="Arial"/>
                <a:cs typeface="Arial"/>
              </a:rPr>
              <a:t>verbal communication. In </a:t>
            </a:r>
            <a:r>
              <a:rPr dirty="0" sz="1150" spc="-30">
                <a:latin typeface="Arial"/>
                <a:cs typeface="Arial"/>
              </a:rPr>
              <a:t>industry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 spc="-20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0">
                <a:latin typeface="Arial"/>
                <a:cs typeface="Arial"/>
              </a:rPr>
              <a:t>fire </a:t>
            </a:r>
            <a:r>
              <a:rPr dirty="0" sz="1150" spc="-65">
                <a:latin typeface="Arial"/>
                <a:cs typeface="Arial"/>
              </a:rPr>
              <a:t>any  </a:t>
            </a:r>
            <a:r>
              <a:rPr dirty="0" sz="1150" spc="-35">
                <a:latin typeface="Arial"/>
                <a:cs typeface="Arial"/>
              </a:rPr>
              <a:t>where </a:t>
            </a:r>
            <a:r>
              <a:rPr dirty="0" sz="1150" spc="-30">
                <a:latin typeface="Arial"/>
                <a:cs typeface="Arial"/>
              </a:rPr>
              <a:t>than </a:t>
            </a:r>
            <a:r>
              <a:rPr dirty="0" sz="1150" spc="-40">
                <a:latin typeface="Arial"/>
                <a:cs typeface="Arial"/>
              </a:rPr>
              <a:t>we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0">
                <a:latin typeface="Arial"/>
                <a:cs typeface="Arial"/>
              </a:rPr>
              <a:t>judge by </a:t>
            </a:r>
            <a:r>
              <a:rPr dirty="0" sz="1150" spc="-45">
                <a:latin typeface="Arial"/>
                <a:cs typeface="Arial"/>
              </a:rPr>
              <a:t>smell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25">
                <a:latin typeface="Arial"/>
                <a:cs typeface="Arial"/>
              </a:rPr>
              <a:t>thing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burning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40">
                <a:latin typeface="Arial"/>
                <a:cs typeface="Arial"/>
              </a:rPr>
              <a:t>take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appropriate  action. </a:t>
            </a:r>
            <a:r>
              <a:rPr dirty="0" sz="1150" spc="-70">
                <a:latin typeface="Arial"/>
                <a:cs typeface="Arial"/>
              </a:rPr>
              <a:t>We can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50">
                <a:latin typeface="Arial"/>
                <a:cs typeface="Arial"/>
              </a:rPr>
              <a:t>judge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acids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chemicals </a:t>
            </a:r>
            <a:r>
              <a:rPr dirty="0" sz="1150" spc="-55">
                <a:latin typeface="Arial"/>
                <a:cs typeface="Arial"/>
              </a:rPr>
              <a:t>by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smelling.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180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474335" cy="189738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44450">
              <a:lnSpc>
                <a:spcPct val="101200"/>
              </a:lnSpc>
              <a:spcBef>
                <a:spcPts val="85"/>
              </a:spcBef>
            </a:pPr>
            <a:r>
              <a:rPr dirty="0" sz="1350" spc="-70">
                <a:latin typeface="Arial"/>
                <a:cs typeface="Arial"/>
              </a:rPr>
              <a:t>Touch: </a:t>
            </a:r>
            <a:r>
              <a:rPr dirty="0" sz="1350" spc="-40">
                <a:latin typeface="Arial"/>
                <a:cs typeface="Arial"/>
              </a:rPr>
              <a:t>- </a:t>
            </a:r>
            <a:r>
              <a:rPr dirty="0" sz="1150" spc="-70">
                <a:latin typeface="Arial"/>
                <a:cs typeface="Arial"/>
              </a:rPr>
              <a:t>Touch </a:t>
            </a:r>
            <a:r>
              <a:rPr dirty="0" sz="1150" spc="-65">
                <a:latin typeface="Arial"/>
                <a:cs typeface="Arial"/>
              </a:rPr>
              <a:t>is also </a:t>
            </a:r>
            <a:r>
              <a:rPr dirty="0" sz="1150" spc="-60">
                <a:latin typeface="Arial"/>
                <a:cs typeface="Arial"/>
              </a:rPr>
              <a:t>source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non </a:t>
            </a:r>
            <a:r>
              <a:rPr dirty="0" sz="1150" spc="-40">
                <a:latin typeface="Arial"/>
                <a:cs typeface="Arial"/>
              </a:rPr>
              <a:t>verbal communication. </a:t>
            </a:r>
            <a:r>
              <a:rPr dirty="0" sz="1150" spc="-65">
                <a:latin typeface="Arial"/>
                <a:cs typeface="Arial"/>
              </a:rPr>
              <a:t>We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0">
                <a:latin typeface="Arial"/>
                <a:cs typeface="Arial"/>
              </a:rPr>
              <a:t>judge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25">
                <a:latin typeface="Arial"/>
                <a:cs typeface="Arial"/>
              </a:rPr>
              <a:t>object 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5">
                <a:latin typeface="Arial"/>
                <a:cs typeface="Arial"/>
              </a:rPr>
              <a:t>touching </a:t>
            </a:r>
            <a:r>
              <a:rPr dirty="0" sz="1150" spc="-25">
                <a:latin typeface="Arial"/>
                <a:cs typeface="Arial"/>
              </a:rPr>
              <a:t>them. </a:t>
            </a:r>
            <a:r>
              <a:rPr dirty="0" sz="1150" spc="-45">
                <a:latin typeface="Arial"/>
                <a:cs typeface="Arial"/>
              </a:rPr>
              <a:t>Blind </a:t>
            </a:r>
            <a:r>
              <a:rPr dirty="0" sz="1150" spc="-40">
                <a:latin typeface="Arial"/>
                <a:cs typeface="Arial"/>
              </a:rPr>
              <a:t>people </a:t>
            </a:r>
            <a:r>
              <a:rPr dirty="0" sz="1150" spc="-50">
                <a:latin typeface="Arial"/>
                <a:cs typeface="Arial"/>
              </a:rPr>
              <a:t>judge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40">
                <a:latin typeface="Arial"/>
                <a:cs typeface="Arial"/>
              </a:rPr>
              <a:t>things </a:t>
            </a:r>
            <a:r>
              <a:rPr dirty="0" sz="1150" spc="-50">
                <a:latin typeface="Arial"/>
                <a:cs typeface="Arial"/>
              </a:rPr>
              <a:t>by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touching.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5080" indent="-635">
              <a:lnSpc>
                <a:spcPct val="101600"/>
              </a:lnSpc>
            </a:pPr>
            <a:r>
              <a:rPr dirty="0" sz="1350" spc="-75">
                <a:latin typeface="Arial"/>
                <a:cs typeface="Arial"/>
              </a:rPr>
              <a:t>Silence: </a:t>
            </a:r>
            <a:r>
              <a:rPr dirty="0" sz="1350" spc="-40">
                <a:latin typeface="Arial"/>
                <a:cs typeface="Arial"/>
              </a:rPr>
              <a:t>- </a:t>
            </a:r>
            <a:r>
              <a:rPr dirty="0" sz="1150" spc="-75">
                <a:latin typeface="Arial"/>
                <a:cs typeface="Arial"/>
              </a:rPr>
              <a:t>Silence </a:t>
            </a:r>
            <a:r>
              <a:rPr dirty="0" sz="1150" spc="-65">
                <a:latin typeface="Arial"/>
                <a:cs typeface="Arial"/>
              </a:rPr>
              <a:t>is also </a:t>
            </a:r>
            <a:r>
              <a:rPr dirty="0" sz="1150" spc="-55">
                <a:latin typeface="Arial"/>
                <a:cs typeface="Arial"/>
              </a:rPr>
              <a:t>source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non </a:t>
            </a:r>
            <a:r>
              <a:rPr dirty="0" sz="1150" spc="-40">
                <a:latin typeface="Arial"/>
                <a:cs typeface="Arial"/>
              </a:rPr>
              <a:t>verbal communication. </a:t>
            </a: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 </a:t>
            </a:r>
            <a:r>
              <a:rPr dirty="0" sz="1150" spc="-50">
                <a:latin typeface="Arial"/>
                <a:cs typeface="Arial"/>
              </a:rPr>
              <a:t>Organization  </a:t>
            </a:r>
            <a:r>
              <a:rPr dirty="0" sz="1150" spc="-45">
                <a:latin typeface="Arial"/>
                <a:cs typeface="Arial"/>
              </a:rPr>
              <a:t>hires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employee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5">
                <a:latin typeface="Arial"/>
                <a:cs typeface="Arial"/>
              </a:rPr>
              <a:t>gives </a:t>
            </a:r>
            <a:r>
              <a:rPr dirty="0" sz="1150" spc="-50">
                <a:latin typeface="Arial"/>
                <a:cs typeface="Arial"/>
              </a:rPr>
              <a:t>specific </a:t>
            </a:r>
            <a:r>
              <a:rPr dirty="0" sz="1150" spc="-35">
                <a:latin typeface="Arial"/>
                <a:cs typeface="Arial"/>
              </a:rPr>
              <a:t>date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joining </a:t>
            </a:r>
            <a:r>
              <a:rPr dirty="0" sz="1150" spc="-10">
                <a:latin typeface="Arial"/>
                <a:cs typeface="Arial"/>
              </a:rPr>
              <a:t>but </a:t>
            </a:r>
            <a:r>
              <a:rPr dirty="0" sz="1150" spc="-50">
                <a:latin typeface="Arial"/>
                <a:cs typeface="Arial"/>
              </a:rPr>
              <a:t>employee </a:t>
            </a:r>
            <a:r>
              <a:rPr dirty="0" sz="1150" spc="-70">
                <a:latin typeface="Arial"/>
                <a:cs typeface="Arial"/>
              </a:rPr>
              <a:t>does </a:t>
            </a:r>
            <a:r>
              <a:rPr dirty="0" sz="1150" spc="-10">
                <a:latin typeface="Arial"/>
                <a:cs typeface="Arial"/>
              </a:rPr>
              <a:t>not </a:t>
            </a:r>
            <a:r>
              <a:rPr dirty="0" sz="1150" spc="-15">
                <a:latin typeface="Arial"/>
                <a:cs typeface="Arial"/>
              </a:rPr>
              <a:t>join </a:t>
            </a:r>
            <a:r>
              <a:rPr dirty="0" sz="1150" spc="15">
                <a:latin typeface="Arial"/>
                <a:cs typeface="Arial"/>
              </a:rPr>
              <a:t>till </a:t>
            </a:r>
            <a:r>
              <a:rPr dirty="0" sz="1150" spc="-55">
                <a:latin typeface="Arial"/>
                <a:cs typeface="Arial"/>
              </a:rPr>
              <a:t>given  </a:t>
            </a:r>
            <a:r>
              <a:rPr dirty="0" sz="1150" spc="-35">
                <a:latin typeface="Arial"/>
                <a:cs typeface="Arial"/>
              </a:rPr>
              <a:t>date.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This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silence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creates </a:t>
            </a:r>
            <a:r>
              <a:rPr dirty="0" sz="1150" spc="5">
                <a:latin typeface="Arial"/>
                <a:cs typeface="Arial"/>
              </a:rPr>
              <a:t>two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meaning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mind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either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he/she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5">
                <a:latin typeface="Arial"/>
                <a:cs typeface="Arial"/>
              </a:rPr>
              <a:t>not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interested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this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job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not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received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our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letter.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12700" marR="46355">
              <a:lnSpc>
                <a:spcPct val="101200"/>
              </a:lnSpc>
            </a:pPr>
            <a:r>
              <a:rPr dirty="0" sz="1350" spc="-80">
                <a:latin typeface="Arial"/>
                <a:cs typeface="Arial"/>
              </a:rPr>
              <a:t>Body </a:t>
            </a:r>
            <a:r>
              <a:rPr dirty="0" sz="1350" spc="-70">
                <a:latin typeface="Arial"/>
                <a:cs typeface="Arial"/>
              </a:rPr>
              <a:t>language: </a:t>
            </a:r>
            <a:r>
              <a:rPr dirty="0" sz="1350" spc="-40">
                <a:latin typeface="Arial"/>
                <a:cs typeface="Arial"/>
              </a:rPr>
              <a:t>- </a:t>
            </a:r>
            <a:r>
              <a:rPr dirty="0" sz="1150" spc="-70">
                <a:latin typeface="Arial"/>
                <a:cs typeface="Arial"/>
              </a:rPr>
              <a:t>Body language </a:t>
            </a:r>
            <a:r>
              <a:rPr dirty="0" sz="1150" spc="-65">
                <a:latin typeface="Arial"/>
                <a:cs typeface="Arial"/>
              </a:rPr>
              <a:t>is also </a:t>
            </a:r>
            <a:r>
              <a:rPr dirty="0" sz="1150" spc="-35">
                <a:latin typeface="Arial"/>
                <a:cs typeface="Arial"/>
              </a:rPr>
              <a:t>non </a:t>
            </a:r>
            <a:r>
              <a:rPr dirty="0" sz="1150" spc="-45">
                <a:latin typeface="Arial"/>
                <a:cs typeface="Arial"/>
              </a:rPr>
              <a:t>verbal </a:t>
            </a:r>
            <a:r>
              <a:rPr dirty="0" sz="1150" spc="-35">
                <a:latin typeface="Arial"/>
                <a:cs typeface="Arial"/>
              </a:rPr>
              <a:t>communication. </a:t>
            </a:r>
            <a:r>
              <a:rPr dirty="0" sz="1150" spc="-70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 </a:t>
            </a:r>
            <a:r>
              <a:rPr dirty="0" sz="1150" spc="-50">
                <a:latin typeface="Arial"/>
                <a:cs typeface="Arial"/>
              </a:rPr>
              <a:t>gesture,  </a:t>
            </a:r>
            <a:r>
              <a:rPr dirty="0" sz="1150" spc="-35">
                <a:latin typeface="Arial"/>
                <a:cs typeface="Arial"/>
              </a:rPr>
              <a:t>posture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etc.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Biting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nail,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sitting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at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edge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chair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shows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discomfort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181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70" y="889511"/>
            <a:ext cx="5513705" cy="6539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6985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41</a:t>
            </a:r>
            <a:endParaRPr sz="17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dirty="0" sz="1750" spc="-204" b="1">
                <a:latin typeface="Arial"/>
                <a:cs typeface="Arial"/>
              </a:rPr>
              <a:t>NON-VERBAL</a:t>
            </a:r>
            <a:r>
              <a:rPr dirty="0" sz="1750" spc="-90" b="1">
                <a:latin typeface="Arial"/>
                <a:cs typeface="Arial"/>
              </a:rPr>
              <a:t> </a:t>
            </a:r>
            <a:r>
              <a:rPr dirty="0" sz="1750" spc="-135" b="1">
                <a:latin typeface="Arial"/>
                <a:cs typeface="Arial"/>
              </a:rPr>
              <a:t>COMMUNICATION</a:t>
            </a:r>
            <a:endParaRPr sz="1750">
              <a:latin typeface="Arial"/>
              <a:cs typeface="Arial"/>
            </a:endParaRPr>
          </a:p>
          <a:p>
            <a:pPr algn="just" marL="12700" marR="6985" indent="36195">
              <a:lnSpc>
                <a:spcPct val="101699"/>
              </a:lnSpc>
              <a:spcBef>
                <a:spcPts val="1430"/>
              </a:spcBef>
            </a:pPr>
            <a:r>
              <a:rPr dirty="0" sz="1150" spc="-45">
                <a:latin typeface="Times New Roman"/>
                <a:cs typeface="Times New Roman"/>
              </a:rPr>
              <a:t>“</a:t>
            </a:r>
            <a:r>
              <a:rPr dirty="0" sz="1150" spc="-45">
                <a:latin typeface="Arial"/>
                <a:cs typeface="Arial"/>
              </a:rPr>
              <a:t>Nonverbal </a:t>
            </a:r>
            <a:r>
              <a:rPr dirty="0" sz="1150" spc="-35">
                <a:latin typeface="Arial"/>
                <a:cs typeface="Arial"/>
              </a:rPr>
              <a:t>communication </a:t>
            </a:r>
            <a:r>
              <a:rPr dirty="0" sz="1150" spc="-50">
                <a:latin typeface="Arial"/>
                <a:cs typeface="Arial"/>
              </a:rPr>
              <a:t>involves </a:t>
            </a:r>
            <a:r>
              <a:rPr dirty="0" sz="1150" spc="-40">
                <a:latin typeface="Arial"/>
                <a:cs typeface="Arial"/>
              </a:rPr>
              <a:t>those non-verbal </a:t>
            </a:r>
            <a:r>
              <a:rPr dirty="0" sz="1150" spc="-20">
                <a:latin typeface="Arial"/>
                <a:cs typeface="Arial"/>
              </a:rPr>
              <a:t>stimuli in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35">
                <a:latin typeface="Arial"/>
                <a:cs typeface="Arial"/>
              </a:rPr>
              <a:t>communication </a:t>
            </a:r>
            <a:r>
              <a:rPr dirty="0" sz="1150" spc="-5">
                <a:latin typeface="Arial"/>
                <a:cs typeface="Arial"/>
              </a:rPr>
              <a:t>that 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generated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15">
                <a:latin typeface="Arial"/>
                <a:cs typeface="Arial"/>
              </a:rPr>
              <a:t>both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source </a:t>
            </a:r>
            <a:r>
              <a:rPr dirty="0" sz="1150" spc="-45">
                <a:latin typeface="Arial"/>
                <a:cs typeface="Arial"/>
              </a:rPr>
              <a:t>[speaker] </a:t>
            </a:r>
            <a:r>
              <a:rPr dirty="0" sz="1150" spc="-55">
                <a:latin typeface="Arial"/>
                <a:cs typeface="Arial"/>
              </a:rPr>
              <a:t>and his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her environment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65">
                <a:latin typeface="Arial"/>
                <a:cs typeface="Arial"/>
              </a:rPr>
              <a:t>have  </a:t>
            </a:r>
            <a:r>
              <a:rPr dirty="0" sz="1150" spc="-15">
                <a:latin typeface="Arial"/>
                <a:cs typeface="Arial"/>
              </a:rPr>
              <a:t>potential </a:t>
            </a:r>
            <a:r>
              <a:rPr dirty="0" sz="1150" spc="-90">
                <a:latin typeface="Arial"/>
                <a:cs typeface="Arial"/>
              </a:rPr>
              <a:t>message </a:t>
            </a:r>
            <a:r>
              <a:rPr dirty="0" sz="1150" spc="-55">
                <a:latin typeface="Arial"/>
                <a:cs typeface="Arial"/>
              </a:rPr>
              <a:t>value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source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5">
                <a:latin typeface="Arial"/>
                <a:cs typeface="Arial"/>
              </a:rPr>
              <a:t>receiver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[listener]”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65">
                <a:latin typeface="Arial"/>
                <a:cs typeface="Arial"/>
              </a:rPr>
              <a:t>Basically </a:t>
            </a:r>
            <a:r>
              <a:rPr dirty="0" sz="1150" spc="-60">
                <a:latin typeface="Arial"/>
                <a:cs typeface="Arial"/>
              </a:rPr>
              <a:t>sending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receiving </a:t>
            </a:r>
            <a:r>
              <a:rPr dirty="0" sz="1150" spc="-95">
                <a:latin typeface="Arial"/>
                <a:cs typeface="Arial"/>
              </a:rPr>
              <a:t>messages </a:t>
            </a:r>
            <a:r>
              <a:rPr dirty="0" sz="1150" spc="-65">
                <a:latin typeface="Arial"/>
                <a:cs typeface="Arial"/>
              </a:rPr>
              <a:t>occurs </a:t>
            </a:r>
            <a:r>
              <a:rPr dirty="0" sz="1150" spc="-25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variety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5">
                <a:latin typeface="Arial"/>
                <a:cs typeface="Arial"/>
              </a:rPr>
              <a:t>ways </a:t>
            </a:r>
            <a:r>
              <a:rPr dirty="0" sz="1150">
                <a:latin typeface="Arial"/>
                <a:cs typeface="Arial"/>
              </a:rPr>
              <a:t>without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40">
                <a:latin typeface="Arial"/>
                <a:cs typeface="Arial"/>
              </a:rPr>
              <a:t>verbal </a:t>
            </a:r>
            <a:r>
              <a:rPr dirty="0" sz="1150" spc="-70">
                <a:latin typeface="Arial"/>
                <a:cs typeface="Arial"/>
              </a:rPr>
              <a:t>codes </a:t>
            </a:r>
            <a:r>
              <a:rPr dirty="0" sz="1150" spc="-40">
                <a:latin typeface="Arial"/>
                <a:cs typeface="Arial"/>
              </a:rPr>
              <a:t>(words).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15">
                <a:latin typeface="Arial"/>
                <a:cs typeface="Arial"/>
              </a:rPr>
              <a:t>both intentional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unintentional. </a:t>
            </a:r>
            <a:r>
              <a:rPr dirty="0" sz="1150" spc="-15">
                <a:latin typeface="Arial"/>
                <a:cs typeface="Arial"/>
              </a:rPr>
              <a:t>Most </a:t>
            </a:r>
            <a:r>
              <a:rPr dirty="0" sz="1150" spc="-70">
                <a:latin typeface="Arial"/>
                <a:cs typeface="Arial"/>
              </a:rPr>
              <a:t>speakers </a:t>
            </a:r>
            <a:r>
              <a:rPr dirty="0" sz="1150" spc="120">
                <a:latin typeface="Arial"/>
                <a:cs typeface="Arial"/>
              </a:rPr>
              <a:t>/ </a:t>
            </a:r>
            <a:r>
              <a:rPr dirty="0" sz="1150" spc="-40">
                <a:latin typeface="Arial"/>
                <a:cs typeface="Arial"/>
              </a:rPr>
              <a:t>listeners </a:t>
            </a:r>
            <a:r>
              <a:rPr dirty="0" sz="1150" spc="-50">
                <a:latin typeface="Arial"/>
                <a:cs typeface="Arial"/>
              </a:rPr>
              <a:t>are 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65">
                <a:latin typeface="Arial"/>
                <a:cs typeface="Arial"/>
              </a:rPr>
              <a:t>conscious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0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this.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40" b="1">
                <a:latin typeface="Arial"/>
                <a:cs typeface="Arial"/>
              </a:rPr>
              <a:t>Sources </a:t>
            </a:r>
            <a:r>
              <a:rPr dirty="0" sz="1350" spc="-65" b="1">
                <a:latin typeface="Arial"/>
                <a:cs typeface="Arial"/>
              </a:rPr>
              <a:t>of </a:t>
            </a:r>
            <a:r>
              <a:rPr dirty="0" sz="1350" spc="-85" b="1">
                <a:latin typeface="Arial"/>
                <a:cs typeface="Arial"/>
              </a:rPr>
              <a:t>Non-verbal </a:t>
            </a:r>
            <a:r>
              <a:rPr dirty="0" sz="1350" spc="-100" b="1">
                <a:latin typeface="Arial"/>
                <a:cs typeface="Arial"/>
              </a:rPr>
              <a:t>communication </a:t>
            </a:r>
            <a:r>
              <a:rPr dirty="0" sz="1350" spc="-130" b="1">
                <a:latin typeface="Arial"/>
                <a:cs typeface="Arial"/>
              </a:rPr>
              <a:t>can</a:t>
            </a:r>
            <a:r>
              <a:rPr dirty="0" sz="1350" spc="45" b="1">
                <a:latin typeface="Arial"/>
                <a:cs typeface="Arial"/>
              </a:rPr>
              <a:t> </a:t>
            </a:r>
            <a:r>
              <a:rPr dirty="0" sz="1350" spc="-85" b="1">
                <a:latin typeface="Arial"/>
                <a:cs typeface="Arial"/>
              </a:rPr>
              <a:t>be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114" b="1">
                <a:latin typeface="Arial"/>
                <a:cs typeface="Arial"/>
              </a:rPr>
              <a:t>Body </a:t>
            </a:r>
            <a:r>
              <a:rPr dirty="0" sz="1150" spc="-110" b="1">
                <a:latin typeface="Arial"/>
                <a:cs typeface="Arial"/>
              </a:rPr>
              <a:t>Language: </a:t>
            </a:r>
            <a:r>
              <a:rPr dirty="0" sz="1150" spc="-70">
                <a:latin typeface="Arial"/>
                <a:cs typeface="Arial"/>
              </a:rPr>
              <a:t>Body </a:t>
            </a:r>
            <a:r>
              <a:rPr dirty="0" sz="1150" spc="-65">
                <a:latin typeface="Arial"/>
                <a:cs typeface="Arial"/>
              </a:rPr>
              <a:t>language is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35">
                <a:latin typeface="Arial"/>
                <a:cs typeface="Arial"/>
              </a:rPr>
              <a:t>during </a:t>
            </a:r>
            <a:r>
              <a:rPr dirty="0" sz="1150" spc="-55">
                <a:latin typeface="Arial"/>
                <a:cs typeface="Arial"/>
              </a:rPr>
              <a:t>face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face </a:t>
            </a:r>
            <a:r>
              <a:rPr dirty="0" sz="1150" spc="-35">
                <a:latin typeface="Arial"/>
                <a:cs typeface="Arial"/>
              </a:rPr>
              <a:t>communication. </a:t>
            </a:r>
            <a:r>
              <a:rPr dirty="0" sz="1150" spc="-65">
                <a:latin typeface="Arial"/>
                <a:cs typeface="Arial"/>
              </a:rPr>
              <a:t>Simple </a:t>
            </a:r>
            <a:r>
              <a:rPr dirty="0" sz="1150" spc="-40">
                <a:latin typeface="Arial"/>
                <a:cs typeface="Arial"/>
              </a:rPr>
              <a:t>body  </a:t>
            </a:r>
            <a:r>
              <a:rPr dirty="0" sz="1150" spc="-70">
                <a:latin typeface="Arial"/>
                <a:cs typeface="Arial"/>
              </a:rPr>
              <a:t>language </a:t>
            </a:r>
            <a:r>
              <a:rPr dirty="0" sz="1150" spc="-60">
                <a:latin typeface="Arial"/>
                <a:cs typeface="Arial"/>
              </a:rPr>
              <a:t>convey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35">
                <a:latin typeface="Arial"/>
                <a:cs typeface="Arial"/>
              </a:rPr>
              <a:t>times </a:t>
            </a:r>
            <a:r>
              <a:rPr dirty="0" sz="1150" spc="-45">
                <a:latin typeface="Arial"/>
                <a:cs typeface="Arial"/>
              </a:rPr>
              <a:t>very </a:t>
            </a:r>
            <a:r>
              <a:rPr dirty="0" sz="1150" spc="-55">
                <a:latin typeface="Arial"/>
                <a:cs typeface="Arial"/>
              </a:rPr>
              <a:t>deep </a:t>
            </a:r>
            <a:r>
              <a:rPr dirty="0" sz="1150" spc="-90">
                <a:latin typeface="Arial"/>
                <a:cs typeface="Arial"/>
              </a:rPr>
              <a:t>messages, </a:t>
            </a:r>
            <a:r>
              <a:rPr dirty="0" sz="1150" spc="-50">
                <a:latin typeface="Arial"/>
                <a:cs typeface="Arial"/>
              </a:rPr>
              <a:t>common </a:t>
            </a:r>
            <a:r>
              <a:rPr dirty="0" sz="1150" spc="-65">
                <a:latin typeface="Arial"/>
                <a:cs typeface="Arial"/>
              </a:rPr>
              <a:t>examples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body </a:t>
            </a:r>
            <a:r>
              <a:rPr dirty="0" sz="1150" spc="-70">
                <a:latin typeface="Arial"/>
                <a:cs typeface="Arial"/>
              </a:rPr>
              <a:t>language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75">
                <a:latin typeface="Arial"/>
                <a:cs typeface="Arial"/>
              </a:rPr>
              <a:t>seen </a:t>
            </a:r>
            <a:r>
              <a:rPr dirty="0" sz="1150" spc="-50">
                <a:latin typeface="Arial"/>
                <a:cs typeface="Arial"/>
              </a:rPr>
              <a:t>by players. </a:t>
            </a:r>
            <a:r>
              <a:rPr dirty="0" sz="1150" spc="-80">
                <a:latin typeface="Arial"/>
                <a:cs typeface="Arial"/>
              </a:rPr>
              <a:t>They </a:t>
            </a:r>
            <a:r>
              <a:rPr dirty="0" sz="1150" spc="-55">
                <a:latin typeface="Arial"/>
                <a:cs typeface="Arial"/>
              </a:rPr>
              <a:t>show </a:t>
            </a:r>
            <a:r>
              <a:rPr dirty="0" sz="1150" spc="-40">
                <a:latin typeface="Arial"/>
                <a:cs typeface="Arial"/>
              </a:rPr>
              <a:t>almost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20">
                <a:latin typeface="Arial"/>
                <a:cs typeface="Arial"/>
              </a:rPr>
              <a:t>sort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gestures </a:t>
            </a:r>
            <a:r>
              <a:rPr dirty="0" sz="1150" spc="-20">
                <a:latin typeface="Arial"/>
                <a:cs typeface="Arial"/>
              </a:rPr>
              <a:t>just </a:t>
            </a:r>
            <a:r>
              <a:rPr dirty="0" sz="1150" spc="-25">
                <a:latin typeface="Arial"/>
                <a:cs typeface="Arial"/>
              </a:rPr>
              <a:t>through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40">
                <a:latin typeface="Arial"/>
                <a:cs typeface="Arial"/>
              </a:rPr>
              <a:t>body </a:t>
            </a:r>
            <a:r>
              <a:rPr dirty="0" sz="1150" spc="-65">
                <a:latin typeface="Arial"/>
                <a:cs typeface="Arial"/>
              </a:rPr>
              <a:t>language.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05" b="1">
                <a:latin typeface="Arial"/>
                <a:cs typeface="Arial"/>
              </a:rPr>
              <a:t>COMMUNICATION</a:t>
            </a:r>
            <a:r>
              <a:rPr dirty="0" sz="1350" spc="-85" b="1">
                <a:latin typeface="Arial"/>
                <a:cs typeface="Arial"/>
              </a:rPr>
              <a:t> </a:t>
            </a:r>
            <a:r>
              <a:rPr dirty="0" sz="1350" spc="-190" b="1">
                <a:latin typeface="Arial"/>
                <a:cs typeface="Arial"/>
              </a:rPr>
              <a:t>CHANNELS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75">
                <a:latin typeface="Arial"/>
                <a:cs typeface="Arial"/>
              </a:rPr>
              <a:t>Channel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5" b="1">
                <a:latin typeface="Arial"/>
                <a:cs typeface="Arial"/>
              </a:rPr>
              <a:t>Carrier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0">
                <a:latin typeface="Arial"/>
                <a:cs typeface="Arial"/>
              </a:rPr>
              <a:t>carries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90">
                <a:latin typeface="Arial"/>
                <a:cs typeface="Arial"/>
              </a:rPr>
              <a:t>message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55">
                <a:latin typeface="Arial"/>
                <a:cs typeface="Arial"/>
              </a:rPr>
              <a:t>sender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receiver. </a:t>
            </a:r>
            <a:r>
              <a:rPr dirty="0" sz="1150" spc="-55">
                <a:latin typeface="Arial"/>
                <a:cs typeface="Arial"/>
              </a:rPr>
              <a:t>Selection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channel  </a:t>
            </a:r>
            <a:r>
              <a:rPr dirty="0" sz="1150" spc="-65">
                <a:latin typeface="Arial"/>
                <a:cs typeface="Arial"/>
              </a:rPr>
              <a:t>always depends </a:t>
            </a:r>
            <a:r>
              <a:rPr dirty="0" sz="1150" spc="-40">
                <a:latin typeface="Arial"/>
                <a:cs typeface="Arial"/>
              </a:rPr>
              <a:t>upon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situation,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55">
                <a:latin typeface="Arial"/>
                <a:cs typeface="Arial"/>
              </a:rPr>
              <a:t>channel </a:t>
            </a:r>
            <a:r>
              <a:rPr dirty="0" sz="1150" spc="5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30">
                <a:latin typeface="Arial"/>
                <a:cs typeface="Arial"/>
              </a:rPr>
              <a:t>appropriate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25">
                <a:latin typeface="Arial"/>
                <a:cs typeface="Arial"/>
              </a:rPr>
              <a:t>situation </a:t>
            </a:r>
            <a:r>
              <a:rPr dirty="0" sz="1150" spc="-65">
                <a:latin typeface="Arial"/>
                <a:cs typeface="Arial"/>
              </a:rPr>
              <a:t>is  always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decided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by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sender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discretion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both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sender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5">
                <a:latin typeface="Arial"/>
                <a:cs typeface="Arial"/>
              </a:rPr>
              <a:t>&amp;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receiver.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95" b="1">
                <a:latin typeface="Arial"/>
                <a:cs typeface="Arial"/>
              </a:rPr>
              <a:t>Channel </a:t>
            </a:r>
            <a:r>
              <a:rPr dirty="0" sz="1150" spc="-110" b="1">
                <a:latin typeface="Arial"/>
                <a:cs typeface="Arial"/>
              </a:rPr>
              <a:t>can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be: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buFont typeface="Wingdings"/>
              <a:buChar char=""/>
              <a:tabLst>
                <a:tab pos="927735" algn="l"/>
              </a:tabLst>
            </a:pPr>
            <a:r>
              <a:rPr dirty="0" sz="1150" spc="-30">
                <a:latin typeface="Arial"/>
                <a:cs typeface="Arial"/>
              </a:rPr>
              <a:t>Letter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55">
                <a:latin typeface="Arial"/>
                <a:cs typeface="Arial"/>
              </a:rPr>
              <a:t>Telephone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114">
                <a:latin typeface="Arial"/>
                <a:cs typeface="Arial"/>
              </a:rPr>
              <a:t>Fax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735" algn="l"/>
              </a:tabLst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person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50">
                <a:latin typeface="Arial"/>
                <a:cs typeface="Arial"/>
              </a:rPr>
              <a:t>carries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90">
                <a:latin typeface="Arial"/>
                <a:cs typeface="Arial"/>
              </a:rPr>
              <a:t>message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15">
                <a:latin typeface="Arial"/>
                <a:cs typeface="Arial"/>
              </a:rPr>
              <a:t>other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person.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00" b="1">
                <a:latin typeface="Arial"/>
                <a:cs typeface="Arial"/>
              </a:rPr>
              <a:t>Flow </a:t>
            </a:r>
            <a:r>
              <a:rPr dirty="0" sz="1350" spc="-65" b="1">
                <a:latin typeface="Arial"/>
                <a:cs typeface="Arial"/>
              </a:rPr>
              <a:t>of</a:t>
            </a:r>
            <a:r>
              <a:rPr dirty="0" sz="1350" spc="-55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Communication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75">
                <a:latin typeface="Arial"/>
                <a:cs typeface="Arial"/>
              </a:rPr>
              <a:t>Sender </a:t>
            </a:r>
            <a:r>
              <a:rPr dirty="0" sz="1150" spc="-80">
                <a:latin typeface="Arial"/>
                <a:cs typeface="Arial"/>
              </a:rPr>
              <a:t>sends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95">
                <a:latin typeface="Arial"/>
                <a:cs typeface="Arial"/>
              </a:rPr>
              <a:t>message </a:t>
            </a:r>
            <a:r>
              <a:rPr dirty="0" sz="1150" spc="-25">
                <a:latin typeface="Arial"/>
                <a:cs typeface="Arial"/>
              </a:rPr>
              <a:t>through </a:t>
            </a:r>
            <a:r>
              <a:rPr dirty="0" sz="1150" spc="-50">
                <a:latin typeface="Arial"/>
                <a:cs typeface="Arial"/>
              </a:rPr>
              <a:t>channel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receiver </a:t>
            </a:r>
            <a:r>
              <a:rPr dirty="0" sz="1150" spc="-60">
                <a:latin typeface="Arial"/>
                <a:cs typeface="Arial"/>
              </a:rPr>
              <a:t>receives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85">
                <a:latin typeface="Arial"/>
                <a:cs typeface="Arial"/>
              </a:rPr>
              <a:t>message. </a:t>
            </a: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70">
                <a:latin typeface="Arial"/>
                <a:cs typeface="Arial"/>
              </a:rPr>
              <a:t>is  </a:t>
            </a:r>
            <a:r>
              <a:rPr dirty="0" sz="1150" spc="-35">
                <a:latin typeface="Arial"/>
                <a:cs typeface="Arial"/>
              </a:rPr>
              <a:t>communication between </a:t>
            </a:r>
            <a:r>
              <a:rPr dirty="0" sz="1150" spc="5">
                <a:latin typeface="Arial"/>
                <a:cs typeface="Arial"/>
              </a:rPr>
              <a:t>two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parties.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182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71600" y="914400"/>
            <a:ext cx="5480304" cy="4273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30303" y="5344161"/>
            <a:ext cx="5513705" cy="36487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90" b="1">
                <a:latin typeface="Arial"/>
                <a:cs typeface="Arial"/>
              </a:rPr>
              <a:t>Noise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65">
                <a:latin typeface="Arial"/>
                <a:cs typeface="Arial"/>
              </a:rPr>
              <a:t>occurs </a:t>
            </a:r>
            <a:r>
              <a:rPr dirty="0" sz="1150" spc="-35">
                <a:latin typeface="Arial"/>
                <a:cs typeface="Arial"/>
              </a:rPr>
              <a:t>during communication.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40">
                <a:latin typeface="Arial"/>
                <a:cs typeface="Arial"/>
              </a:rPr>
              <a:t>those </a:t>
            </a:r>
            <a:r>
              <a:rPr dirty="0" sz="1150" spc="-35">
                <a:latin typeface="Arial"/>
                <a:cs typeface="Arial"/>
              </a:rPr>
              <a:t>factors which </a:t>
            </a:r>
            <a:r>
              <a:rPr dirty="0" sz="1150" spc="-25">
                <a:latin typeface="Arial"/>
                <a:cs typeface="Arial"/>
              </a:rPr>
              <a:t>affect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communication  </a:t>
            </a:r>
            <a:r>
              <a:rPr dirty="0" sz="1150" spc="-70">
                <a:latin typeface="Arial"/>
                <a:cs typeface="Arial"/>
              </a:rPr>
              <a:t>process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50">
                <a:latin typeface="Arial"/>
                <a:cs typeface="Arial"/>
              </a:rPr>
              <a:t>noise. </a:t>
            </a:r>
            <a:r>
              <a:rPr dirty="0" sz="1150" spc="-65">
                <a:latin typeface="Arial"/>
                <a:cs typeface="Arial"/>
              </a:rPr>
              <a:t>Noise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70">
                <a:latin typeface="Arial"/>
                <a:cs typeface="Arial"/>
              </a:rPr>
              <a:t>stage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25">
                <a:latin typeface="Arial"/>
                <a:cs typeface="Arial"/>
              </a:rPr>
              <a:t>affect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whole </a:t>
            </a:r>
            <a:r>
              <a:rPr dirty="0" sz="1150" spc="-35">
                <a:latin typeface="Arial"/>
                <a:cs typeface="Arial"/>
              </a:rPr>
              <a:t>communication  </a:t>
            </a:r>
            <a:r>
              <a:rPr dirty="0" sz="1150" spc="-65">
                <a:latin typeface="Arial"/>
                <a:cs typeface="Arial"/>
              </a:rPr>
              <a:t>process.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215" b="1">
                <a:latin typeface="Arial"/>
                <a:cs typeface="Arial"/>
              </a:rPr>
              <a:t>LETTER </a:t>
            </a:r>
            <a:r>
              <a:rPr dirty="0" sz="1350" spc="-185" b="1">
                <a:latin typeface="Arial"/>
                <a:cs typeface="Arial"/>
              </a:rPr>
              <a:t>VS</a:t>
            </a:r>
            <a:r>
              <a:rPr dirty="0" sz="1350" spc="-105" b="1">
                <a:latin typeface="Arial"/>
                <a:cs typeface="Arial"/>
              </a:rPr>
              <a:t> </a:t>
            </a:r>
            <a:r>
              <a:rPr dirty="0" sz="1350" spc="-90" b="1">
                <a:latin typeface="Arial"/>
                <a:cs typeface="Arial"/>
              </a:rPr>
              <a:t>MEMORANDUM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150" spc="-30">
                <a:latin typeface="Arial"/>
                <a:cs typeface="Arial"/>
              </a:rPr>
              <a:t>Letter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>
                <a:latin typeface="Arial"/>
                <a:cs typeface="Arial"/>
              </a:rPr>
              <a:t>written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communication </a:t>
            </a:r>
            <a:r>
              <a:rPr dirty="0" sz="1150" spc="-35">
                <a:latin typeface="Arial"/>
                <a:cs typeface="Arial"/>
              </a:rPr>
              <a:t>outside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organization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marL="469900" marR="6985" indent="-228600">
              <a:lnSpc>
                <a:spcPct val="101699"/>
              </a:lnSpc>
              <a:buFont typeface="Wingdings"/>
              <a:buChar char=""/>
              <a:tabLst>
                <a:tab pos="469900" algn="l"/>
              </a:tabLst>
            </a:pPr>
            <a:r>
              <a:rPr dirty="0" sz="1150" spc="-35">
                <a:latin typeface="Arial"/>
                <a:cs typeface="Arial"/>
              </a:rPr>
              <a:t>Memorandum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>
                <a:latin typeface="Arial"/>
                <a:cs typeface="Arial"/>
              </a:rPr>
              <a:t>written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5">
                <a:latin typeface="Arial"/>
                <a:cs typeface="Arial"/>
              </a:rPr>
              <a:t>communication </a:t>
            </a:r>
            <a:r>
              <a:rPr dirty="0" sz="1150" spc="-45">
                <a:latin typeface="Arial"/>
                <a:cs typeface="Arial"/>
              </a:rPr>
              <a:t>inside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organization. </a:t>
            </a:r>
            <a:r>
              <a:rPr dirty="0" sz="1150" spc="-25">
                <a:latin typeface="Arial"/>
                <a:cs typeface="Arial"/>
              </a:rPr>
              <a:t>Informal  </a:t>
            </a:r>
            <a:r>
              <a:rPr dirty="0" sz="1150" spc="-70">
                <a:latin typeface="Arial"/>
                <a:cs typeface="Arial"/>
              </a:rPr>
              <a:t>language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memorandum.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30" b="1">
                <a:latin typeface="Arial"/>
                <a:cs typeface="Arial"/>
              </a:rPr>
              <a:t>Types </a:t>
            </a:r>
            <a:r>
              <a:rPr dirty="0" sz="1350" spc="-65" b="1">
                <a:latin typeface="Arial"/>
                <a:cs typeface="Arial"/>
              </a:rPr>
              <a:t>of</a:t>
            </a:r>
            <a:r>
              <a:rPr dirty="0" sz="1350" spc="-25" b="1">
                <a:latin typeface="Arial"/>
                <a:cs typeface="Arial"/>
              </a:rPr>
              <a:t> </a:t>
            </a:r>
            <a:r>
              <a:rPr dirty="0" sz="1350" spc="-90" b="1">
                <a:latin typeface="Arial"/>
                <a:cs typeface="Arial"/>
              </a:rPr>
              <a:t>Letters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65" b="1">
                <a:latin typeface="Arial"/>
                <a:cs typeface="Arial"/>
              </a:rPr>
              <a:t>Inquiry </a:t>
            </a:r>
            <a:r>
              <a:rPr dirty="0" sz="1150" spc="-40" b="1">
                <a:latin typeface="Arial"/>
                <a:cs typeface="Arial"/>
              </a:rPr>
              <a:t>letter: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type,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45">
                <a:latin typeface="Arial"/>
                <a:cs typeface="Arial"/>
              </a:rPr>
              <a:t>collects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information. </a:t>
            </a: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example, purchasing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10">
                <a:latin typeface="Arial"/>
                <a:cs typeface="Arial"/>
              </a:rPr>
              <a:t>furniture, </a:t>
            </a:r>
            <a:r>
              <a:rPr dirty="0" sz="1150" spc="-30">
                <a:latin typeface="Arial"/>
                <a:cs typeface="Arial"/>
              </a:rPr>
              <a:t>about raw material, </a:t>
            </a:r>
            <a:r>
              <a:rPr dirty="0" sz="1150" spc="-20">
                <a:latin typeface="Arial"/>
                <a:cs typeface="Arial"/>
              </a:rPr>
              <a:t>transportation </a:t>
            </a:r>
            <a:r>
              <a:rPr dirty="0" sz="1150" spc="-45">
                <a:latin typeface="Arial"/>
                <a:cs typeface="Arial"/>
              </a:rPr>
              <a:t>cost </a:t>
            </a:r>
            <a:r>
              <a:rPr dirty="0" sz="1150" spc="-10">
                <a:latin typeface="Arial"/>
                <a:cs typeface="Arial"/>
              </a:rPr>
              <a:t>from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25">
                <a:latin typeface="Arial"/>
                <a:cs typeface="Arial"/>
              </a:rPr>
              <a:t>transporter.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95" b="1">
                <a:latin typeface="Arial"/>
                <a:cs typeface="Arial"/>
              </a:rPr>
              <a:t>Reply </a:t>
            </a:r>
            <a:r>
              <a:rPr dirty="0" sz="1150" spc="-40" b="1">
                <a:latin typeface="Arial"/>
                <a:cs typeface="Arial"/>
              </a:rPr>
              <a:t>to </a:t>
            </a:r>
            <a:r>
              <a:rPr dirty="0" sz="1150" spc="-45" b="1">
                <a:latin typeface="Arial"/>
                <a:cs typeface="Arial"/>
              </a:rPr>
              <a:t>the </a:t>
            </a:r>
            <a:r>
              <a:rPr dirty="0" sz="1150" spc="-70" b="1">
                <a:latin typeface="Arial"/>
                <a:cs typeface="Arial"/>
              </a:rPr>
              <a:t>inquiry </a:t>
            </a:r>
            <a:r>
              <a:rPr dirty="0" sz="1150" spc="-40" b="1">
                <a:latin typeface="Arial"/>
                <a:cs typeface="Arial"/>
              </a:rPr>
              <a:t>letter: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type,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75">
                <a:latin typeface="Arial"/>
                <a:cs typeface="Arial"/>
              </a:rPr>
              <a:t>gives </a:t>
            </a:r>
            <a:r>
              <a:rPr dirty="0" sz="1150" spc="-20">
                <a:latin typeface="Arial"/>
                <a:cs typeface="Arial"/>
              </a:rPr>
              <a:t>the information. </a:t>
            </a:r>
            <a:r>
              <a:rPr dirty="0" sz="1150" spc="-60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example,  </a:t>
            </a:r>
            <a:r>
              <a:rPr dirty="0" sz="1150" spc="-60">
                <a:latin typeface="Arial"/>
                <a:cs typeface="Arial"/>
              </a:rPr>
              <a:t>give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information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customer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about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product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cost,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Method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delivery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etc.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70" b="1">
                <a:latin typeface="Arial"/>
                <a:cs typeface="Arial"/>
              </a:rPr>
              <a:t>Order </a:t>
            </a:r>
            <a:r>
              <a:rPr dirty="0" sz="1150" spc="-40" b="1">
                <a:latin typeface="Arial"/>
                <a:cs typeface="Arial"/>
              </a:rPr>
              <a:t>letter: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type,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70">
                <a:latin typeface="Arial"/>
                <a:cs typeface="Arial"/>
              </a:rPr>
              <a:t>places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order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purchasing</a:t>
            </a:r>
            <a:r>
              <a:rPr dirty="0" sz="1150" spc="-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something.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183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89" y="892559"/>
            <a:ext cx="5512435" cy="606425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715">
              <a:lnSpc>
                <a:spcPct val="101699"/>
              </a:lnSpc>
              <a:spcBef>
                <a:spcPts val="75"/>
              </a:spcBef>
            </a:pPr>
            <a:r>
              <a:rPr dirty="0" sz="1150" spc="-80" b="1">
                <a:latin typeface="Arial"/>
                <a:cs typeface="Arial"/>
              </a:rPr>
              <a:t>Complaint </a:t>
            </a:r>
            <a:r>
              <a:rPr dirty="0" sz="1150" spc="-40" b="1">
                <a:latin typeface="Arial"/>
                <a:cs typeface="Arial"/>
              </a:rPr>
              <a:t>latter: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25">
                <a:latin typeface="Arial"/>
                <a:cs typeface="Arial"/>
              </a:rPr>
              <a:t>type,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30">
                <a:latin typeface="Arial"/>
                <a:cs typeface="Arial"/>
              </a:rPr>
              <a:t>complaint about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already </a:t>
            </a:r>
            <a:r>
              <a:rPr dirty="0" sz="1150" spc="-55">
                <a:latin typeface="Arial"/>
                <a:cs typeface="Arial"/>
              </a:rPr>
              <a:t>purchased </a:t>
            </a:r>
            <a:r>
              <a:rPr dirty="0" sz="1150" spc="-40">
                <a:latin typeface="Arial"/>
                <a:cs typeface="Arial"/>
              </a:rPr>
              <a:t>products 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45">
                <a:latin typeface="Arial"/>
                <a:cs typeface="Arial"/>
              </a:rPr>
              <a:t>acquired </a:t>
            </a:r>
            <a:r>
              <a:rPr dirty="0" sz="1150" spc="-65">
                <a:latin typeface="Arial"/>
                <a:cs typeface="Arial"/>
              </a:rPr>
              <a:t>services. For </a:t>
            </a:r>
            <a:r>
              <a:rPr dirty="0" sz="1150" spc="-55">
                <a:latin typeface="Arial"/>
                <a:cs typeface="Arial"/>
              </a:rPr>
              <a:t>example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 spc="-30">
                <a:latin typeface="Arial"/>
                <a:cs typeface="Arial"/>
              </a:rPr>
              <a:t>problem </a:t>
            </a:r>
            <a:r>
              <a:rPr dirty="0" sz="1150" spc="-5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product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etc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75" b="1">
                <a:latin typeface="Arial"/>
                <a:cs typeface="Arial"/>
              </a:rPr>
              <a:t>Adjustment </a:t>
            </a:r>
            <a:r>
              <a:rPr dirty="0" sz="1150" spc="-40" b="1">
                <a:latin typeface="Arial"/>
                <a:cs typeface="Arial"/>
              </a:rPr>
              <a:t>letter: </a:t>
            </a:r>
            <a:r>
              <a:rPr dirty="0" sz="1150" spc="-40">
                <a:latin typeface="Arial"/>
                <a:cs typeface="Arial"/>
              </a:rPr>
              <a:t>In </a:t>
            </a:r>
            <a:r>
              <a:rPr dirty="0" sz="1150" spc="-25">
                <a:latin typeface="Arial"/>
                <a:cs typeface="Arial"/>
              </a:rPr>
              <a:t>this </a:t>
            </a:r>
            <a:r>
              <a:rPr dirty="0" sz="1150" spc="-30">
                <a:latin typeface="Arial"/>
                <a:cs typeface="Arial"/>
              </a:rPr>
              <a:t>type,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85">
                <a:latin typeface="Arial"/>
                <a:cs typeface="Arial"/>
              </a:rPr>
              <a:t>sends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>
                <a:latin typeface="Arial"/>
                <a:cs typeface="Arial"/>
              </a:rPr>
              <a:t>letter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5">
                <a:latin typeface="Arial"/>
                <a:cs typeface="Arial"/>
              </a:rPr>
              <a:t>adjustment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accounts.  </a:t>
            </a: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example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60">
                <a:latin typeface="Arial"/>
                <a:cs typeface="Arial"/>
              </a:rPr>
              <a:t>purchased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furniture from </a:t>
            </a:r>
            <a:r>
              <a:rPr dirty="0" sz="1150" spc="-155">
                <a:latin typeface="Arial"/>
                <a:cs typeface="Arial"/>
              </a:rPr>
              <a:t>ABC </a:t>
            </a:r>
            <a:r>
              <a:rPr dirty="0" sz="1150" spc="-75">
                <a:latin typeface="Arial"/>
                <a:cs typeface="Arial"/>
              </a:rPr>
              <a:t>Company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payment </a:t>
            </a:r>
            <a:r>
              <a:rPr dirty="0" sz="1150" spc="-85">
                <a:latin typeface="Arial"/>
                <a:cs typeface="Arial"/>
              </a:rPr>
              <a:t>has  </a:t>
            </a:r>
            <a:r>
              <a:rPr dirty="0" sz="1150" spc="-45">
                <a:latin typeface="Arial"/>
                <a:cs typeface="Arial"/>
              </a:rPr>
              <a:t>done. But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some </a:t>
            </a:r>
            <a:r>
              <a:rPr dirty="0" sz="1150" spc="-10">
                <a:latin typeface="Arial"/>
                <a:cs typeface="Arial"/>
              </a:rPr>
              <a:t>furniture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">
                <a:latin typeface="Arial"/>
                <a:cs typeface="Arial"/>
              </a:rPr>
              <a:t>not </a:t>
            </a:r>
            <a:r>
              <a:rPr dirty="0" sz="1150" spc="-50">
                <a:latin typeface="Arial"/>
                <a:cs typeface="Arial"/>
              </a:rPr>
              <a:t>good </a:t>
            </a:r>
            <a:r>
              <a:rPr dirty="0" sz="1150" spc="-25">
                <a:latin typeface="Arial"/>
                <a:cs typeface="Arial"/>
              </a:rPr>
              <a:t>than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80">
                <a:latin typeface="Arial"/>
                <a:cs typeface="Arial"/>
              </a:rPr>
              <a:t>sends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>
                <a:latin typeface="Arial"/>
                <a:cs typeface="Arial"/>
              </a:rPr>
              <a:t>letter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55">
                <a:latin typeface="Arial"/>
                <a:cs typeface="Arial"/>
              </a:rPr>
              <a:t>ABC  </a:t>
            </a:r>
            <a:r>
              <a:rPr dirty="0" sz="1150" spc="-75">
                <a:latin typeface="Arial"/>
                <a:cs typeface="Arial"/>
              </a:rPr>
              <a:t>Company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adjustment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dues/payment.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10" b="1">
                <a:latin typeface="Arial"/>
                <a:cs typeface="Arial"/>
              </a:rPr>
              <a:t>INFORMATION </a:t>
            </a:r>
            <a:r>
              <a:rPr dirty="0" sz="1350" spc="-185" b="1">
                <a:latin typeface="Arial"/>
                <a:cs typeface="Arial"/>
              </a:rPr>
              <a:t>SYSTEM</a:t>
            </a:r>
            <a:r>
              <a:rPr dirty="0" sz="1350" spc="-25" b="1">
                <a:latin typeface="Arial"/>
                <a:cs typeface="Arial"/>
              </a:rPr>
              <a:t> </a:t>
            </a:r>
            <a:r>
              <a:rPr dirty="0" sz="1350" spc="-90" b="1">
                <a:latin typeface="Arial"/>
                <a:cs typeface="Arial"/>
              </a:rPr>
              <a:t>(IS)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50">
                <a:latin typeface="Arial"/>
                <a:cs typeface="Arial"/>
              </a:rPr>
              <a:t>Gather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40">
                <a:latin typeface="Arial"/>
                <a:cs typeface="Arial"/>
              </a:rPr>
              <a:t>arrangement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5">
                <a:latin typeface="Arial"/>
                <a:cs typeface="Arial"/>
              </a:rPr>
              <a:t>into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0">
                <a:latin typeface="Arial"/>
                <a:cs typeface="Arial"/>
              </a:rPr>
              <a:t>form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32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decision </a:t>
            </a:r>
            <a:r>
              <a:rPr dirty="0" sz="1150" spc="-55">
                <a:latin typeface="Arial"/>
                <a:cs typeface="Arial"/>
              </a:rPr>
              <a:t>making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purposes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70" b="1">
                <a:latin typeface="Arial"/>
                <a:cs typeface="Arial"/>
              </a:rPr>
              <a:t>Information</a:t>
            </a:r>
            <a:r>
              <a:rPr dirty="0" sz="1350" spc="-75" b="1">
                <a:latin typeface="Arial"/>
                <a:cs typeface="Arial"/>
              </a:rPr>
              <a:t> Management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45">
                <a:latin typeface="Arial"/>
                <a:cs typeface="Arial"/>
              </a:rPr>
              <a:t>Arrangement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information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into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form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which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is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useful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management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90" b="1">
                <a:latin typeface="Arial"/>
                <a:cs typeface="Arial"/>
              </a:rPr>
              <a:t>Duties </a:t>
            </a:r>
            <a:r>
              <a:rPr dirty="0" sz="1350" spc="-60" b="1">
                <a:latin typeface="Arial"/>
                <a:cs typeface="Arial"/>
              </a:rPr>
              <a:t>of </a:t>
            </a:r>
            <a:r>
              <a:rPr dirty="0" sz="1350" spc="-70" b="1">
                <a:latin typeface="Arial"/>
                <a:cs typeface="Arial"/>
              </a:rPr>
              <a:t>Information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80" b="1">
                <a:latin typeface="Arial"/>
                <a:cs typeface="Arial"/>
              </a:rPr>
              <a:t>Manager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20">
                <a:latin typeface="Arial"/>
                <a:cs typeface="Arial"/>
              </a:rPr>
              <a:t>Information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gathering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20">
                <a:latin typeface="Arial"/>
                <a:cs typeface="Arial"/>
              </a:rPr>
              <a:t>Information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organizing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20">
                <a:latin typeface="Arial"/>
                <a:cs typeface="Arial"/>
              </a:rPr>
              <a:t>Information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distribution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14" b="1">
                <a:latin typeface="Arial"/>
                <a:cs typeface="Arial"/>
              </a:rPr>
              <a:t>Users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60" b="1">
                <a:latin typeface="Arial"/>
                <a:cs typeface="Arial"/>
              </a:rPr>
              <a:t>Information: </a:t>
            </a: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20">
                <a:latin typeface="Arial"/>
                <a:cs typeface="Arial"/>
              </a:rPr>
              <a:t>following </a:t>
            </a:r>
            <a:r>
              <a:rPr dirty="0" sz="1150" spc="-70">
                <a:latin typeface="Arial"/>
                <a:cs typeface="Arial"/>
              </a:rPr>
              <a:t>users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5">
                <a:latin typeface="Arial"/>
                <a:cs typeface="Arial"/>
              </a:rPr>
              <a:t>an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organization.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lvl="1" marL="698500" indent="-229235">
              <a:lnSpc>
                <a:spcPct val="100000"/>
              </a:lnSpc>
              <a:buAutoNum type="arabicPeriod"/>
              <a:tabLst>
                <a:tab pos="699135" algn="l"/>
              </a:tabLst>
            </a:pPr>
            <a:r>
              <a:rPr dirty="0" sz="1150" spc="-80">
                <a:latin typeface="Arial"/>
                <a:cs typeface="Arial"/>
              </a:rPr>
              <a:t>Head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manufacturing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department</a:t>
            </a:r>
            <a:endParaRPr sz="1150">
              <a:latin typeface="Arial"/>
              <a:cs typeface="Arial"/>
            </a:endParaRPr>
          </a:p>
          <a:p>
            <a:pPr lvl="1" marL="698500" indent="-22923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699135" algn="l"/>
              </a:tabLst>
            </a:pPr>
            <a:r>
              <a:rPr dirty="0" sz="1150" spc="-30">
                <a:latin typeface="Arial"/>
                <a:cs typeface="Arial"/>
              </a:rPr>
              <a:t>Marketing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people</a:t>
            </a:r>
            <a:endParaRPr sz="1150">
              <a:latin typeface="Arial"/>
              <a:cs typeface="Arial"/>
            </a:endParaRPr>
          </a:p>
          <a:p>
            <a:pPr lvl="1" marL="698500" indent="-229235">
              <a:lnSpc>
                <a:spcPct val="100000"/>
              </a:lnSpc>
              <a:spcBef>
                <a:spcPts val="25"/>
              </a:spcBef>
              <a:buAutoNum type="arabicPeriod"/>
              <a:tabLst>
                <a:tab pos="699135" algn="l"/>
              </a:tabLst>
            </a:pPr>
            <a:r>
              <a:rPr dirty="0" sz="1150" spc="-60">
                <a:latin typeface="Arial"/>
                <a:cs typeface="Arial"/>
              </a:rPr>
              <a:t>Planning </a:t>
            </a:r>
            <a:r>
              <a:rPr dirty="0" sz="1150" spc="-45">
                <a:latin typeface="Arial"/>
                <a:cs typeface="Arial"/>
              </a:rPr>
              <a:t>people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70" b="1">
                <a:latin typeface="Arial"/>
                <a:cs typeface="Arial"/>
              </a:rPr>
              <a:t>Data </a:t>
            </a:r>
            <a:r>
              <a:rPr dirty="0" sz="1350" spc="-114" b="1">
                <a:latin typeface="Arial"/>
                <a:cs typeface="Arial"/>
              </a:rPr>
              <a:t>vs.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70" b="1">
                <a:latin typeface="Arial"/>
                <a:cs typeface="Arial"/>
              </a:rPr>
              <a:t>Information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60">
                <a:latin typeface="Arial"/>
                <a:cs typeface="Arial"/>
              </a:rPr>
              <a:t>Data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raw </a:t>
            </a:r>
            <a:r>
              <a:rPr dirty="0" sz="1150" spc="-45">
                <a:latin typeface="Arial"/>
                <a:cs typeface="Arial"/>
              </a:rPr>
              <a:t>figures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facts.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35">
                <a:latin typeface="Arial"/>
                <a:cs typeface="Arial"/>
              </a:rPr>
              <a:t>Meaningful </a:t>
            </a:r>
            <a:r>
              <a:rPr dirty="0" sz="1150" spc="-75">
                <a:latin typeface="Arial"/>
                <a:cs typeface="Arial"/>
              </a:rPr>
              <a:t>shape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data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called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information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184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1035"/>
            <a:ext cx="5512435" cy="2906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90" b="1">
                <a:latin typeface="Arial"/>
                <a:cs typeface="Arial"/>
              </a:rPr>
              <a:t>Why </a:t>
            </a:r>
            <a:r>
              <a:rPr dirty="0" sz="1350" spc="-70" b="1">
                <a:latin typeface="Arial"/>
                <a:cs typeface="Arial"/>
              </a:rPr>
              <a:t>Information </a:t>
            </a:r>
            <a:r>
              <a:rPr dirty="0" sz="1350" spc="-125" b="1">
                <a:latin typeface="Arial"/>
                <a:cs typeface="Arial"/>
              </a:rPr>
              <a:t>System </a:t>
            </a:r>
            <a:r>
              <a:rPr dirty="0" sz="1350" spc="-130" b="1">
                <a:latin typeface="Arial"/>
                <a:cs typeface="Arial"/>
              </a:rPr>
              <a:t>is </a:t>
            </a:r>
            <a:r>
              <a:rPr dirty="0" sz="1350" spc="-65" b="1">
                <a:latin typeface="Arial"/>
                <a:cs typeface="Arial"/>
              </a:rPr>
              <a:t>important </a:t>
            </a:r>
            <a:r>
              <a:rPr dirty="0" sz="1350" spc="-80" b="1">
                <a:latin typeface="Arial"/>
                <a:cs typeface="Arial"/>
              </a:rPr>
              <a:t>in </a:t>
            </a:r>
            <a:r>
              <a:rPr dirty="0" sz="1350" spc="-55" b="1">
                <a:latin typeface="Arial"/>
                <a:cs typeface="Arial"/>
              </a:rPr>
              <a:t>the</a:t>
            </a:r>
            <a:r>
              <a:rPr dirty="0" sz="1350" spc="60" b="1">
                <a:latin typeface="Arial"/>
                <a:cs typeface="Arial"/>
              </a:rPr>
              <a:t> </a:t>
            </a:r>
            <a:r>
              <a:rPr dirty="0" sz="1350" spc="-100" b="1">
                <a:latin typeface="Arial"/>
                <a:cs typeface="Arial"/>
              </a:rPr>
              <a:t>Organization?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buAutoNum type="alphaLcPeriod"/>
              <a:tabLst>
                <a:tab pos="469900" algn="l"/>
              </a:tabLst>
            </a:pPr>
            <a:r>
              <a:rPr dirty="0" sz="1150" spc="-45">
                <a:latin typeface="Arial"/>
                <a:cs typeface="Arial"/>
              </a:rPr>
              <a:t>Frequent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information.</a:t>
            </a:r>
            <a:endParaRPr sz="11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469900" algn="l"/>
              </a:tabLst>
            </a:pPr>
            <a:r>
              <a:rPr dirty="0" sz="1150" spc="-55">
                <a:latin typeface="Arial"/>
                <a:cs typeface="Arial"/>
              </a:rPr>
              <a:t>New </a:t>
            </a:r>
            <a:r>
              <a:rPr dirty="0" sz="1150" spc="-40">
                <a:latin typeface="Arial"/>
                <a:cs typeface="Arial"/>
              </a:rPr>
              <a:t>technology.</a:t>
            </a:r>
            <a:endParaRPr sz="11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469265" algn="l"/>
                <a:tab pos="469900" algn="l"/>
              </a:tabLst>
            </a:pPr>
            <a:r>
              <a:rPr dirty="0" sz="1150" spc="-55">
                <a:latin typeface="Arial"/>
                <a:cs typeface="Arial"/>
              </a:rPr>
              <a:t>New </a:t>
            </a:r>
            <a:r>
              <a:rPr dirty="0" sz="1150" spc="-35">
                <a:latin typeface="Arial"/>
                <a:cs typeface="Arial"/>
              </a:rPr>
              <a:t>innovations, </a:t>
            </a:r>
            <a:r>
              <a:rPr dirty="0" sz="1150" spc="-75">
                <a:latin typeface="Arial"/>
                <a:cs typeface="Arial"/>
              </a:rPr>
              <a:t>processes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methods.</a:t>
            </a:r>
            <a:endParaRPr sz="11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469900" algn="l"/>
              </a:tabLst>
            </a:pPr>
            <a:r>
              <a:rPr dirty="0" sz="1150" spc="-55">
                <a:latin typeface="Arial"/>
                <a:cs typeface="Arial"/>
              </a:rPr>
              <a:t>New </a:t>
            </a:r>
            <a:r>
              <a:rPr dirty="0" sz="1150" spc="-35">
                <a:latin typeface="Arial"/>
                <a:cs typeface="Arial"/>
              </a:rPr>
              <a:t>communication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devices: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AutoNum type="alphaLcPeriod"/>
            </a:pPr>
            <a:endParaRPr sz="1200">
              <a:latin typeface="Arial"/>
              <a:cs typeface="Arial"/>
            </a:endParaRPr>
          </a:p>
          <a:p>
            <a:pPr lvl="1" marL="926465" indent="-229235">
              <a:lnSpc>
                <a:spcPct val="100000"/>
              </a:lnSpc>
              <a:buFont typeface="Courier New"/>
              <a:buChar char="o"/>
              <a:tabLst>
                <a:tab pos="926465" algn="l"/>
                <a:tab pos="927100" algn="l"/>
              </a:tabLst>
            </a:pPr>
            <a:r>
              <a:rPr dirty="0" sz="1150" spc="-55">
                <a:latin typeface="Arial"/>
                <a:cs typeface="Arial"/>
              </a:rPr>
              <a:t>Telephone</a:t>
            </a:r>
            <a:endParaRPr sz="1150">
              <a:latin typeface="Arial"/>
              <a:cs typeface="Arial"/>
            </a:endParaRPr>
          </a:p>
          <a:p>
            <a:pPr lvl="1" marL="926465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926465" algn="l"/>
                <a:tab pos="927100" algn="l"/>
              </a:tabLst>
            </a:pPr>
            <a:r>
              <a:rPr dirty="0" sz="1150" spc="-30">
                <a:latin typeface="Arial"/>
                <a:cs typeface="Arial"/>
              </a:rPr>
              <a:t>Intercom</a:t>
            </a:r>
            <a:endParaRPr sz="1150">
              <a:latin typeface="Arial"/>
              <a:cs typeface="Arial"/>
            </a:endParaRPr>
          </a:p>
          <a:p>
            <a:pPr lvl="1" marL="926465" indent="-229235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926465" algn="l"/>
                <a:tab pos="927100" algn="l"/>
              </a:tabLst>
            </a:pPr>
            <a:r>
              <a:rPr dirty="0" sz="1150" spc="-55">
                <a:latin typeface="Arial"/>
                <a:cs typeface="Arial"/>
              </a:rPr>
              <a:t>Video </a:t>
            </a:r>
            <a:r>
              <a:rPr dirty="0" sz="1150" spc="-45">
                <a:latin typeface="Arial"/>
                <a:cs typeface="Arial"/>
              </a:rPr>
              <a:t>conferencing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Courier New"/>
              <a:buChar char="o"/>
            </a:pPr>
            <a:endParaRPr sz="120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buAutoNum type="alphaLcPeriod"/>
              <a:tabLst>
                <a:tab pos="469900" algn="l"/>
              </a:tabLst>
            </a:pPr>
            <a:r>
              <a:rPr dirty="0" sz="1150" spc="-35">
                <a:latin typeface="Arial"/>
                <a:cs typeface="Arial"/>
              </a:rPr>
              <a:t>Digital </a:t>
            </a:r>
            <a:r>
              <a:rPr dirty="0" sz="1150" spc="-70">
                <a:latin typeface="Arial"/>
                <a:cs typeface="Arial"/>
              </a:rPr>
              <a:t>business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system</a:t>
            </a:r>
            <a:endParaRPr sz="11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469265" algn="l"/>
                <a:tab pos="469900" algn="l"/>
              </a:tabLst>
            </a:pPr>
            <a:r>
              <a:rPr dirty="0" sz="1150" spc="-60">
                <a:latin typeface="Arial"/>
                <a:cs typeface="Arial"/>
              </a:rPr>
              <a:t>Data </a:t>
            </a:r>
            <a:r>
              <a:rPr dirty="0" sz="1150" spc="-35">
                <a:latin typeface="Arial"/>
                <a:cs typeface="Arial"/>
              </a:rPr>
              <a:t>communication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network: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AutoNum type="alphaLcPeriod"/>
            </a:pPr>
            <a:endParaRPr sz="1200">
              <a:latin typeface="Arial"/>
              <a:cs typeface="Arial"/>
            </a:endParaRPr>
          </a:p>
          <a:p>
            <a:pPr lvl="1" marL="926465" marR="5080" indent="-228600">
              <a:lnSpc>
                <a:spcPct val="101699"/>
              </a:lnSpc>
              <a:buFont typeface="Courier New"/>
              <a:buChar char="o"/>
              <a:tabLst>
                <a:tab pos="926465" algn="l"/>
                <a:tab pos="927100" algn="l"/>
              </a:tabLst>
            </a:pPr>
            <a:r>
              <a:rPr dirty="0" sz="1150" spc="-55">
                <a:latin typeface="Arial"/>
                <a:cs typeface="Arial"/>
              </a:rPr>
              <a:t>Global </a:t>
            </a:r>
            <a:r>
              <a:rPr dirty="0" sz="1150" spc="-20">
                <a:latin typeface="Arial"/>
                <a:cs typeface="Arial"/>
              </a:rPr>
              <a:t>network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receiving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0">
                <a:latin typeface="Arial"/>
                <a:cs typeface="Arial"/>
              </a:rPr>
              <a:t>sending </a:t>
            </a:r>
            <a:r>
              <a:rPr dirty="0" sz="1150" spc="-15">
                <a:latin typeface="Arial"/>
                <a:cs typeface="Arial"/>
              </a:rPr>
              <a:t>the information </a:t>
            </a:r>
            <a:r>
              <a:rPr dirty="0" sz="1150" spc="-40">
                <a:latin typeface="Arial"/>
                <a:cs typeface="Arial"/>
              </a:rPr>
              <a:t>globally, quickly 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economically</a:t>
            </a:r>
            <a:r>
              <a:rPr dirty="0" sz="1150" spc="-40" b="1">
                <a:latin typeface="Times New Roman"/>
                <a:cs typeface="Times New Roman"/>
              </a:rPr>
              <a:t>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185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659137" y="891035"/>
            <a:ext cx="4982845" cy="1106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42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50">
              <a:latin typeface="Arial"/>
              <a:cs typeface="Arial"/>
            </a:endParaRPr>
          </a:p>
          <a:p>
            <a:pPr marL="1493520" marR="534035" indent="-1481455">
              <a:lnSpc>
                <a:spcPct val="101699"/>
              </a:lnSpc>
            </a:pPr>
            <a:r>
              <a:rPr dirty="0" sz="1750" spc="-195" b="1">
                <a:latin typeface="Arial"/>
                <a:cs typeface="Arial"/>
              </a:rPr>
              <a:t>APPLICATION </a:t>
            </a:r>
            <a:r>
              <a:rPr dirty="0" sz="1750" spc="-220" b="1">
                <a:latin typeface="Arial"/>
                <a:cs typeface="Arial"/>
              </a:rPr>
              <a:t>OF </a:t>
            </a:r>
            <a:r>
              <a:rPr dirty="0" sz="1750" spc="-140" b="1">
                <a:latin typeface="Arial"/>
                <a:cs typeface="Arial"/>
              </a:rPr>
              <a:t>INFORMATION </a:t>
            </a:r>
            <a:r>
              <a:rPr dirty="0" sz="1750" spc="-235" b="1">
                <a:latin typeface="Arial"/>
                <a:cs typeface="Arial"/>
              </a:rPr>
              <a:t>SYSTEM </a:t>
            </a:r>
            <a:r>
              <a:rPr dirty="0" sz="1750" spc="-70" b="1">
                <a:latin typeface="Arial"/>
                <a:cs typeface="Arial"/>
              </a:rPr>
              <a:t>IN </a:t>
            </a:r>
            <a:r>
              <a:rPr dirty="0" sz="1750" spc="-229" b="1">
                <a:latin typeface="Arial"/>
                <a:cs typeface="Arial"/>
              </a:rPr>
              <a:t>THE  </a:t>
            </a:r>
            <a:r>
              <a:rPr dirty="0" sz="1750" spc="-170" b="1">
                <a:latin typeface="Arial"/>
                <a:cs typeface="Arial"/>
              </a:rPr>
              <a:t>ORGANIZATION</a:t>
            </a:r>
            <a:endParaRPr sz="175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186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73168" y="2155955"/>
            <a:ext cx="405892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65" b="1">
                <a:latin typeface="Arial"/>
                <a:cs typeface="Arial"/>
              </a:rPr>
              <a:t>New </a:t>
            </a:r>
            <a:r>
              <a:rPr dirty="0" sz="1150" spc="-85" b="1">
                <a:latin typeface="Arial"/>
                <a:cs typeface="Arial"/>
              </a:rPr>
              <a:t>Options </a:t>
            </a:r>
            <a:r>
              <a:rPr dirty="0" sz="1150" spc="-50" b="1">
                <a:latin typeface="Arial"/>
                <a:cs typeface="Arial"/>
              </a:rPr>
              <a:t>for </a:t>
            </a:r>
            <a:r>
              <a:rPr dirty="0" sz="1150" spc="-75" b="1">
                <a:latin typeface="Arial"/>
                <a:cs typeface="Arial"/>
              </a:rPr>
              <a:t>Organizational </a:t>
            </a:r>
            <a:r>
              <a:rPr dirty="0" sz="1150" spc="-100" b="1">
                <a:latin typeface="Arial"/>
                <a:cs typeface="Arial"/>
              </a:rPr>
              <a:t>Design: </a:t>
            </a:r>
            <a:r>
              <a:rPr dirty="0" sz="1150" spc="-90" b="1">
                <a:latin typeface="Arial"/>
                <a:cs typeface="Arial"/>
              </a:rPr>
              <a:t>The </a:t>
            </a:r>
            <a:r>
              <a:rPr dirty="0" sz="1150" spc="-65" b="1">
                <a:latin typeface="Arial"/>
                <a:cs typeface="Arial"/>
              </a:rPr>
              <a:t>Networked</a:t>
            </a:r>
            <a:r>
              <a:rPr dirty="0" sz="1150" spc="4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Enterprise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6115" y="3580894"/>
            <a:ext cx="1631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7647" y="2511047"/>
            <a:ext cx="4507230" cy="341058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376555" marR="5080" indent="-299085">
              <a:lnSpc>
                <a:spcPct val="101699"/>
              </a:lnSpc>
              <a:spcBef>
                <a:spcPts val="75"/>
              </a:spcBef>
              <a:buFont typeface="Arial"/>
              <a:buAutoNum type="romanLcPeriod"/>
              <a:tabLst>
                <a:tab pos="377190" algn="l"/>
              </a:tabLst>
            </a:pPr>
            <a:r>
              <a:rPr dirty="0" sz="1150" spc="-90" b="1">
                <a:latin typeface="Arial"/>
                <a:cs typeface="Arial"/>
              </a:rPr>
              <a:t>Leaner </a:t>
            </a:r>
            <a:r>
              <a:rPr dirty="0" sz="1150" spc="-65" b="1">
                <a:latin typeface="Arial"/>
                <a:cs typeface="Arial"/>
              </a:rPr>
              <a:t>Organizations</a:t>
            </a:r>
            <a:r>
              <a:rPr dirty="0" sz="1150" spc="-65">
                <a:latin typeface="Arial"/>
                <a:cs typeface="Arial"/>
              </a:rPr>
              <a:t>—Networked </a:t>
            </a:r>
            <a:r>
              <a:rPr dirty="0" sz="1150" spc="-25">
                <a:latin typeface="Arial"/>
                <a:cs typeface="Arial"/>
              </a:rPr>
              <a:t>firms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accomplish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20">
                <a:latin typeface="Arial"/>
                <a:cs typeface="Arial"/>
              </a:rPr>
              <a:t>work 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20">
                <a:latin typeface="Arial"/>
                <a:cs typeface="Arial"/>
              </a:rPr>
              <a:t>fewer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resources.</a:t>
            </a:r>
            <a:endParaRPr sz="1150">
              <a:latin typeface="Arial"/>
              <a:cs typeface="Arial"/>
            </a:endParaRPr>
          </a:p>
          <a:p>
            <a:pPr algn="just" marL="376555" marR="6985" indent="-332740">
              <a:lnSpc>
                <a:spcPct val="101699"/>
              </a:lnSpc>
              <a:spcBef>
                <a:spcPts val="5"/>
              </a:spcBef>
              <a:buFont typeface="Arial"/>
              <a:buAutoNum type="romanLcPeriod"/>
              <a:tabLst>
                <a:tab pos="377190" algn="l"/>
              </a:tabLst>
            </a:pPr>
            <a:r>
              <a:rPr dirty="0" sz="1150" spc="-35" b="1">
                <a:latin typeface="Arial"/>
                <a:cs typeface="Arial"/>
              </a:rPr>
              <a:t>More </a:t>
            </a:r>
            <a:r>
              <a:rPr dirty="0" sz="1150" spc="-80" b="1">
                <a:latin typeface="Arial"/>
                <a:cs typeface="Arial"/>
              </a:rPr>
              <a:t>Flexible </a:t>
            </a:r>
            <a:r>
              <a:rPr dirty="0" sz="1150" spc="-65" b="1">
                <a:latin typeface="Arial"/>
                <a:cs typeface="Arial"/>
              </a:rPr>
              <a:t>Operations</a:t>
            </a:r>
            <a:r>
              <a:rPr dirty="0" sz="1150" spc="-65">
                <a:latin typeface="Arial"/>
                <a:cs typeface="Arial"/>
              </a:rPr>
              <a:t>—Electronic </a:t>
            </a:r>
            <a:r>
              <a:rPr dirty="0" sz="1150" spc="-35">
                <a:latin typeface="Arial"/>
                <a:cs typeface="Arial"/>
              </a:rPr>
              <a:t>networks </a:t>
            </a:r>
            <a:r>
              <a:rPr dirty="0" sz="1150" spc="-30">
                <a:latin typeface="Arial"/>
                <a:cs typeface="Arial"/>
              </a:rPr>
              <a:t>allow </a:t>
            </a:r>
            <a:r>
              <a:rPr dirty="0" sz="1150" spc="-80">
                <a:latin typeface="Arial"/>
                <a:cs typeface="Arial"/>
              </a:rPr>
              <a:t>businesses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5">
                <a:latin typeface="Arial"/>
                <a:cs typeface="Arial"/>
              </a:rPr>
              <a:t>offer </a:t>
            </a:r>
            <a:r>
              <a:rPr dirty="0" sz="1150" spc="-50">
                <a:latin typeface="Arial"/>
                <a:cs typeface="Arial"/>
              </a:rPr>
              <a:t>customers </a:t>
            </a:r>
            <a:r>
              <a:rPr dirty="0" sz="1150" spc="-35">
                <a:latin typeface="Arial"/>
                <a:cs typeface="Arial"/>
              </a:rPr>
              <a:t>greater </a:t>
            </a:r>
            <a:r>
              <a:rPr dirty="0" sz="1150" spc="-30">
                <a:latin typeface="Arial"/>
                <a:cs typeface="Arial"/>
              </a:rPr>
              <a:t>variety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faster </a:t>
            </a:r>
            <a:r>
              <a:rPr dirty="0" sz="1150" spc="-35">
                <a:latin typeface="Arial"/>
                <a:cs typeface="Arial"/>
              </a:rPr>
              <a:t>delivery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cycles.</a:t>
            </a:r>
            <a:endParaRPr sz="1150">
              <a:latin typeface="Arial"/>
              <a:cs typeface="Arial"/>
            </a:endParaRPr>
          </a:p>
          <a:p>
            <a:pPr algn="just" lvl="1" marL="833755" marR="6350" indent="-228600">
              <a:lnSpc>
                <a:spcPct val="101699"/>
              </a:lnSpc>
              <a:buFont typeface="Arial"/>
              <a:buAutoNum type="arabicPeriod"/>
              <a:tabLst>
                <a:tab pos="834390" algn="l"/>
              </a:tabLst>
            </a:pPr>
            <a:r>
              <a:rPr dirty="0" sz="1150" spc="-75" b="1">
                <a:latin typeface="Arial"/>
                <a:cs typeface="Arial"/>
              </a:rPr>
              <a:t>Mass-customization</a:t>
            </a:r>
            <a:r>
              <a:rPr dirty="0" sz="1150" spc="-75">
                <a:latin typeface="Arial"/>
                <a:cs typeface="Arial"/>
              </a:rPr>
              <a:t>—Flexible </a:t>
            </a:r>
            <a:r>
              <a:rPr dirty="0" sz="1150" spc="-25">
                <a:latin typeface="Arial"/>
                <a:cs typeface="Arial"/>
              </a:rPr>
              <a:t>production </a:t>
            </a:r>
            <a:r>
              <a:rPr dirty="0" sz="1150" spc="-65">
                <a:latin typeface="Arial"/>
                <a:cs typeface="Arial"/>
              </a:rPr>
              <a:t>process </a:t>
            </a:r>
            <a:r>
              <a:rPr dirty="0" sz="1150" spc="-5">
                <a:latin typeface="Arial"/>
                <a:cs typeface="Arial"/>
              </a:rPr>
              <a:t>that  </a:t>
            </a:r>
            <a:r>
              <a:rPr dirty="0" sz="1150" spc="-55">
                <a:latin typeface="Arial"/>
                <a:cs typeface="Arial"/>
              </a:rPr>
              <a:t>generates </a:t>
            </a:r>
            <a:r>
              <a:rPr dirty="0" sz="1150" spc="-50">
                <a:latin typeface="Arial"/>
                <a:cs typeface="Arial"/>
              </a:rPr>
              <a:t>customized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high </a:t>
            </a:r>
            <a:r>
              <a:rPr dirty="0" sz="1150" spc="-55">
                <a:latin typeface="Arial"/>
                <a:cs typeface="Arial"/>
              </a:rPr>
              <a:t>volumes </a:t>
            </a:r>
            <a:r>
              <a:rPr dirty="0" sz="1150" spc="-15">
                <a:latin typeface="Arial"/>
                <a:cs typeface="Arial"/>
              </a:rPr>
              <a:t>at low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cost</a:t>
            </a:r>
            <a:endParaRPr sz="1150">
              <a:latin typeface="Arial"/>
              <a:cs typeface="Arial"/>
            </a:endParaRPr>
          </a:p>
          <a:p>
            <a:pPr algn="just" marL="376555" marR="5080">
              <a:lnSpc>
                <a:spcPct val="101699"/>
              </a:lnSpc>
            </a:pPr>
            <a:r>
              <a:rPr dirty="0" sz="1150" spc="-90" b="1">
                <a:latin typeface="Arial"/>
                <a:cs typeface="Arial"/>
              </a:rPr>
              <a:t>Increased </a:t>
            </a:r>
            <a:r>
              <a:rPr dirty="0" sz="1150" spc="-70" b="1">
                <a:latin typeface="Arial"/>
                <a:cs typeface="Arial"/>
              </a:rPr>
              <a:t>Collaboration</a:t>
            </a:r>
            <a:r>
              <a:rPr dirty="0" sz="1150" spc="-70">
                <a:latin typeface="Arial"/>
                <a:cs typeface="Arial"/>
              </a:rPr>
              <a:t>: </a:t>
            </a:r>
            <a:r>
              <a:rPr dirty="0" sz="1150" spc="-35">
                <a:latin typeface="Arial"/>
                <a:cs typeface="Arial"/>
              </a:rPr>
              <a:t>Networked </a:t>
            </a:r>
            <a:r>
              <a:rPr dirty="0" sz="1150" spc="-75">
                <a:latin typeface="Arial"/>
                <a:cs typeface="Arial"/>
              </a:rPr>
              <a:t>systems </a:t>
            </a:r>
            <a:r>
              <a:rPr dirty="0" sz="1150" spc="-65">
                <a:latin typeface="Arial"/>
                <a:cs typeface="Arial"/>
              </a:rPr>
              <a:t>make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55">
                <a:latin typeface="Arial"/>
                <a:cs typeface="Arial"/>
              </a:rPr>
              <a:t>cheaper and  easier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work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together.</a:t>
            </a:r>
            <a:endParaRPr sz="1150">
              <a:latin typeface="Arial"/>
              <a:cs typeface="Arial"/>
            </a:endParaRPr>
          </a:p>
          <a:p>
            <a:pPr algn="just" marL="833755" marR="6350" indent="-228600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1.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70" b="1">
                <a:latin typeface="Arial"/>
                <a:cs typeface="Arial"/>
              </a:rPr>
              <a:t>Networking </a:t>
            </a:r>
            <a:r>
              <a:rPr dirty="0" sz="1150" spc="-85" b="1">
                <a:latin typeface="Arial"/>
                <a:cs typeface="Arial"/>
              </a:rPr>
              <a:t>and </a:t>
            </a:r>
            <a:r>
              <a:rPr dirty="0" sz="1150" spc="-45" b="1">
                <a:latin typeface="Arial"/>
                <a:cs typeface="Arial"/>
              </a:rPr>
              <a:t>the </a:t>
            </a:r>
            <a:r>
              <a:rPr dirty="0" sz="1150" spc="-55" b="1">
                <a:latin typeface="Arial"/>
                <a:cs typeface="Arial"/>
              </a:rPr>
              <a:t>Virtual </a:t>
            </a:r>
            <a:r>
              <a:rPr dirty="0" sz="1150" spc="-95" b="1">
                <a:latin typeface="Arial"/>
                <a:cs typeface="Arial"/>
              </a:rPr>
              <a:t>Company</a:t>
            </a:r>
            <a:r>
              <a:rPr dirty="0" sz="1150" spc="-95">
                <a:latin typeface="Arial"/>
                <a:cs typeface="Arial"/>
              </a:rPr>
              <a:t>: </a:t>
            </a:r>
            <a:r>
              <a:rPr dirty="0" sz="1150" spc="-35">
                <a:latin typeface="Arial"/>
                <a:cs typeface="Arial"/>
              </a:rPr>
              <a:t>Networked </a:t>
            </a:r>
            <a:r>
              <a:rPr dirty="0" sz="1150" spc="-70">
                <a:latin typeface="Arial"/>
                <a:cs typeface="Arial"/>
              </a:rPr>
              <a:t>systems  can </a:t>
            </a:r>
            <a:r>
              <a:rPr dirty="0" sz="1150" spc="-60">
                <a:latin typeface="Arial"/>
                <a:cs typeface="Arial"/>
              </a:rPr>
              <a:t>also </a:t>
            </a:r>
            <a:r>
              <a:rPr dirty="0" sz="1150" spc="-35">
                <a:latin typeface="Arial"/>
                <a:cs typeface="Arial"/>
              </a:rPr>
              <a:t>improve </a:t>
            </a:r>
            <a:r>
              <a:rPr dirty="0" sz="1150" spc="-30">
                <a:latin typeface="Arial"/>
                <a:cs typeface="Arial"/>
              </a:rPr>
              <a:t>collaboration </a:t>
            </a:r>
            <a:r>
              <a:rPr dirty="0" sz="1150" spc="-35">
                <a:latin typeface="Arial"/>
                <a:cs typeface="Arial"/>
              </a:rPr>
              <a:t>between </a:t>
            </a:r>
            <a:r>
              <a:rPr dirty="0" sz="1150" spc="-50">
                <a:latin typeface="Arial"/>
                <a:cs typeface="Arial"/>
              </a:rPr>
              <a:t>organizations  </a:t>
            </a:r>
            <a:r>
              <a:rPr dirty="0" sz="1150" spc="-25">
                <a:latin typeface="Arial"/>
                <a:cs typeface="Arial"/>
              </a:rPr>
              <a:t>through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so-called </a:t>
            </a:r>
            <a:r>
              <a:rPr dirty="0" sz="1150" spc="-15">
                <a:latin typeface="Arial"/>
                <a:cs typeface="Arial"/>
              </a:rPr>
              <a:t>virtual</a:t>
            </a:r>
            <a:r>
              <a:rPr dirty="0" sz="1150" spc="-14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 algn="just" marL="376555" marR="5080" indent="-364490">
              <a:lnSpc>
                <a:spcPct val="101699"/>
              </a:lnSpc>
              <a:buFont typeface="Arial"/>
              <a:buAutoNum type="romanLcPeriod" startAt="4"/>
              <a:tabLst>
                <a:tab pos="377190" algn="l"/>
              </a:tabLst>
            </a:pPr>
            <a:r>
              <a:rPr dirty="0" sz="1150" spc="-65" b="1">
                <a:latin typeface="Arial"/>
                <a:cs typeface="Arial"/>
              </a:rPr>
              <a:t>Greater </a:t>
            </a:r>
            <a:r>
              <a:rPr dirty="0" sz="1150" spc="-80" b="1">
                <a:latin typeface="Arial"/>
                <a:cs typeface="Arial"/>
              </a:rPr>
              <a:t>Independence </a:t>
            </a:r>
            <a:r>
              <a:rPr dirty="0" sz="1150" spc="-60" b="1">
                <a:latin typeface="Arial"/>
                <a:cs typeface="Arial"/>
              </a:rPr>
              <a:t>of </a:t>
            </a:r>
            <a:r>
              <a:rPr dirty="0" sz="1150" spc="-105" b="1">
                <a:latin typeface="Arial"/>
                <a:cs typeface="Arial"/>
              </a:rPr>
              <a:t>Company </a:t>
            </a:r>
            <a:r>
              <a:rPr dirty="0" sz="1150" spc="-85" b="1">
                <a:latin typeface="Arial"/>
                <a:cs typeface="Arial"/>
              </a:rPr>
              <a:t>and </a:t>
            </a:r>
            <a:r>
              <a:rPr dirty="0" sz="1150" spc="-75" b="1">
                <a:latin typeface="Arial"/>
                <a:cs typeface="Arial"/>
              </a:rPr>
              <a:t>Workplace</a:t>
            </a:r>
            <a:r>
              <a:rPr dirty="0" sz="1150" spc="-75">
                <a:latin typeface="Arial"/>
                <a:cs typeface="Arial"/>
              </a:rPr>
              <a:t>: </a:t>
            </a:r>
            <a:r>
              <a:rPr dirty="0" sz="1150" spc="-70">
                <a:latin typeface="Arial"/>
                <a:cs typeface="Arial"/>
              </a:rPr>
              <a:t>Employees </a:t>
            </a:r>
            <a:r>
              <a:rPr dirty="0" sz="1150" spc="-40">
                <a:latin typeface="Arial"/>
                <a:cs typeface="Arial"/>
              </a:rPr>
              <a:t>no  longer </a:t>
            </a:r>
            <a:r>
              <a:rPr dirty="0" sz="1150" spc="-55">
                <a:latin typeface="Arial"/>
                <a:cs typeface="Arial"/>
              </a:rPr>
              <a:t>need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work </a:t>
            </a:r>
            <a:r>
              <a:rPr dirty="0" sz="1150" spc="-30">
                <a:latin typeface="Arial"/>
                <a:cs typeface="Arial"/>
              </a:rPr>
              <a:t>only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office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factory, </a:t>
            </a:r>
            <a:r>
              <a:rPr dirty="0" sz="1150" spc="-20">
                <a:latin typeface="Arial"/>
                <a:cs typeface="Arial"/>
              </a:rPr>
              <a:t>nor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  </a:t>
            </a:r>
            <a:r>
              <a:rPr dirty="0" sz="1150" spc="-55">
                <a:latin typeface="Arial"/>
                <a:cs typeface="Arial"/>
              </a:rPr>
              <a:t>company’s </a:t>
            </a:r>
            <a:r>
              <a:rPr dirty="0" sz="1150" spc="-35">
                <a:latin typeface="Arial"/>
                <a:cs typeface="Arial"/>
              </a:rPr>
              <a:t>operations </a:t>
            </a:r>
            <a:r>
              <a:rPr dirty="0" sz="1150" spc="-25">
                <a:latin typeface="Arial"/>
                <a:cs typeface="Arial"/>
              </a:rPr>
              <a:t>performed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30">
                <a:latin typeface="Arial"/>
                <a:cs typeface="Arial"/>
              </a:rPr>
              <a:t>location. </a:t>
            </a:r>
            <a:r>
              <a:rPr dirty="0" sz="1150" spc="-55">
                <a:latin typeface="Arial"/>
                <a:cs typeface="Arial"/>
              </a:rPr>
              <a:t>Geographically  </a:t>
            </a:r>
            <a:r>
              <a:rPr dirty="0" sz="1150" spc="-50">
                <a:latin typeface="Arial"/>
                <a:cs typeface="Arial"/>
              </a:rPr>
              <a:t>separate </a:t>
            </a:r>
            <a:r>
              <a:rPr dirty="0" sz="1150" spc="-75">
                <a:latin typeface="Arial"/>
                <a:cs typeface="Arial"/>
              </a:rPr>
              <a:t>processes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10">
                <a:latin typeface="Arial"/>
                <a:cs typeface="Arial"/>
              </a:rPr>
              <a:t>tightly </a:t>
            </a:r>
            <a:r>
              <a:rPr dirty="0" sz="1150" spc="-35">
                <a:latin typeface="Arial"/>
                <a:cs typeface="Arial"/>
              </a:rPr>
              <a:t>coordinated </a:t>
            </a:r>
            <a:r>
              <a:rPr dirty="0" sz="1150" spc="-50">
                <a:latin typeface="Arial"/>
                <a:cs typeface="Arial"/>
              </a:rPr>
              <a:t>via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networking.</a:t>
            </a:r>
            <a:endParaRPr sz="1150">
              <a:latin typeface="Arial"/>
              <a:cs typeface="Arial"/>
            </a:endParaRPr>
          </a:p>
          <a:p>
            <a:pPr algn="just" marL="376555" marR="6985" indent="-330835">
              <a:lnSpc>
                <a:spcPct val="101699"/>
              </a:lnSpc>
              <a:buFont typeface="Arial"/>
              <a:buAutoNum type="romanLcPeriod" startAt="4"/>
              <a:tabLst>
                <a:tab pos="377190" algn="l"/>
              </a:tabLst>
            </a:pPr>
            <a:r>
              <a:rPr dirty="0" sz="1150" spc="-70" b="1">
                <a:latin typeface="Arial"/>
                <a:cs typeface="Arial"/>
              </a:rPr>
              <a:t>Improved </a:t>
            </a:r>
            <a:r>
              <a:rPr dirty="0" sz="1150" spc="-65" b="1">
                <a:latin typeface="Arial"/>
                <a:cs typeface="Arial"/>
              </a:rPr>
              <a:t>Management </a:t>
            </a:r>
            <a:r>
              <a:rPr dirty="0" sz="1150" spc="-114" b="1">
                <a:latin typeface="Arial"/>
                <a:cs typeface="Arial"/>
              </a:rPr>
              <a:t>Processes</a:t>
            </a:r>
            <a:r>
              <a:rPr dirty="0" sz="1150" spc="-114">
                <a:latin typeface="Arial"/>
                <a:cs typeface="Arial"/>
              </a:rPr>
              <a:t>: </a:t>
            </a:r>
            <a:r>
              <a:rPr dirty="0" sz="1150" spc="-90">
                <a:latin typeface="Arial"/>
                <a:cs typeface="Arial"/>
              </a:rPr>
              <a:t>Because </a:t>
            </a:r>
            <a:r>
              <a:rPr dirty="0" sz="1150" spc="-45">
                <a:latin typeface="Arial"/>
                <a:cs typeface="Arial"/>
              </a:rPr>
              <a:t>instantaneous 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70">
                <a:latin typeface="Arial"/>
                <a:cs typeface="Arial"/>
              </a:rPr>
              <a:t>accessible </a:t>
            </a:r>
            <a:r>
              <a:rPr dirty="0" sz="1150" spc="-25">
                <a:latin typeface="Arial"/>
                <a:cs typeface="Arial"/>
              </a:rPr>
              <a:t>in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convenient </a:t>
            </a:r>
            <a:r>
              <a:rPr dirty="0" sz="1150" spc="-60">
                <a:latin typeface="Arial"/>
                <a:cs typeface="Arial"/>
              </a:rPr>
              <a:t>usable </a:t>
            </a:r>
            <a:r>
              <a:rPr dirty="0" sz="1150" spc="-10">
                <a:latin typeface="Arial"/>
                <a:cs typeface="Arial"/>
              </a:rPr>
              <a:t>format, </a:t>
            </a:r>
            <a:r>
              <a:rPr dirty="0" sz="1150" spc="-30">
                <a:latin typeface="Arial"/>
                <a:cs typeface="Arial"/>
              </a:rPr>
              <a:t>more </a:t>
            </a:r>
            <a:r>
              <a:rPr dirty="0" sz="1150" spc="-35">
                <a:latin typeface="Arial"/>
                <a:cs typeface="Arial"/>
              </a:rPr>
              <a:t>upper 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20">
                <a:latin typeface="Arial"/>
                <a:cs typeface="Arial"/>
              </a:rPr>
              <a:t>routinely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5">
                <a:latin typeface="Arial"/>
                <a:cs typeface="Arial"/>
              </a:rPr>
              <a:t>planning,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leading,  </a:t>
            </a:r>
            <a:r>
              <a:rPr dirty="0" sz="1150" spc="-30">
                <a:latin typeface="Arial"/>
                <a:cs typeface="Arial"/>
              </a:rPr>
              <a:t>directing,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25">
                <a:latin typeface="Arial"/>
                <a:cs typeface="Arial"/>
              </a:rPr>
              <a:t>controlling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operations.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0267" y="6244845"/>
            <a:ext cx="5513070" cy="2612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95" b="1">
                <a:latin typeface="Arial"/>
                <a:cs typeface="Arial"/>
              </a:rPr>
              <a:t>Enterprise </a:t>
            </a:r>
            <a:r>
              <a:rPr dirty="0" sz="1350" spc="-130" b="1">
                <a:latin typeface="Arial"/>
                <a:cs typeface="Arial"/>
              </a:rPr>
              <a:t>Resource </a:t>
            </a:r>
            <a:r>
              <a:rPr dirty="0" sz="1350" spc="-110" b="1">
                <a:latin typeface="Arial"/>
                <a:cs typeface="Arial"/>
              </a:rPr>
              <a:t>Planning</a:t>
            </a:r>
            <a:r>
              <a:rPr dirty="0" sz="1350" spc="25" b="1">
                <a:latin typeface="Arial"/>
                <a:cs typeface="Arial"/>
              </a:rPr>
              <a:t> </a:t>
            </a:r>
            <a:r>
              <a:rPr dirty="0" sz="1350" spc="-145" b="1">
                <a:latin typeface="Arial"/>
                <a:cs typeface="Arial"/>
              </a:rPr>
              <a:t>(ERP)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161290">
              <a:lnSpc>
                <a:spcPct val="152200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65">
                <a:latin typeface="Arial"/>
                <a:cs typeface="Arial"/>
              </a:rPr>
              <a:t>system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5">
                <a:latin typeface="Arial"/>
                <a:cs typeface="Arial"/>
              </a:rPr>
              <a:t>helps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5">
                <a:latin typeface="Arial"/>
                <a:cs typeface="Arial"/>
              </a:rPr>
              <a:t>planning </a:t>
            </a:r>
            <a:r>
              <a:rPr dirty="0" sz="1150" spc="-20">
                <a:latin typeface="Arial"/>
                <a:cs typeface="Arial"/>
              </a:rPr>
              <a:t>its </a:t>
            </a:r>
            <a:r>
              <a:rPr dirty="0" sz="1150" spc="-60">
                <a:latin typeface="Arial"/>
                <a:cs typeface="Arial"/>
              </a:rPr>
              <a:t>resources using </a:t>
            </a:r>
            <a:r>
              <a:rPr dirty="0" sz="1150" spc="-40">
                <a:latin typeface="Arial"/>
                <a:cs typeface="Arial"/>
              </a:rPr>
              <a:t>computerized </a:t>
            </a:r>
            <a:r>
              <a:rPr dirty="0" sz="1150" spc="-55">
                <a:latin typeface="Arial"/>
                <a:cs typeface="Arial"/>
              </a:rPr>
              <a:t>system.  </a:t>
            </a:r>
            <a:r>
              <a:rPr dirty="0" sz="1150" spc="-85">
                <a:latin typeface="Arial"/>
                <a:cs typeface="Arial"/>
              </a:rPr>
              <a:t>Resources </a:t>
            </a:r>
            <a:r>
              <a:rPr dirty="0" sz="1150" spc="-70">
                <a:latin typeface="Arial"/>
                <a:cs typeface="Arial"/>
              </a:rPr>
              <a:t>can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be: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4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60">
                <a:latin typeface="Arial"/>
                <a:cs typeface="Arial"/>
              </a:rPr>
              <a:t>Financial resources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30">
                <a:latin typeface="Arial"/>
                <a:cs typeface="Arial"/>
              </a:rPr>
              <a:t>Administrative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resources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30" b="1">
                <a:latin typeface="Arial"/>
                <a:cs typeface="Arial"/>
              </a:rPr>
              <a:t>Types </a:t>
            </a:r>
            <a:r>
              <a:rPr dirty="0" sz="1350" spc="-65" b="1">
                <a:latin typeface="Arial"/>
                <a:cs typeface="Arial"/>
              </a:rPr>
              <a:t>of </a:t>
            </a:r>
            <a:r>
              <a:rPr dirty="0" sz="1350" spc="-70" b="1">
                <a:latin typeface="Arial"/>
                <a:cs typeface="Arial"/>
              </a:rPr>
              <a:t>Information</a:t>
            </a:r>
            <a:r>
              <a:rPr dirty="0" sz="1350" spc="-30" b="1">
                <a:latin typeface="Arial"/>
                <a:cs typeface="Arial"/>
              </a:rPr>
              <a:t> </a:t>
            </a:r>
            <a:r>
              <a:rPr dirty="0" sz="1350" spc="-140" b="1">
                <a:latin typeface="Arial"/>
                <a:cs typeface="Arial"/>
              </a:rPr>
              <a:t>Systems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Organizations </a:t>
            </a:r>
            <a:r>
              <a:rPr dirty="0" sz="1150" spc="-50">
                <a:latin typeface="Arial"/>
                <a:cs typeface="Arial"/>
              </a:rPr>
              <a:t>depend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5">
                <a:latin typeface="Arial"/>
                <a:cs typeface="Arial"/>
              </a:rPr>
              <a:t>quality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make </a:t>
            </a:r>
            <a:r>
              <a:rPr dirty="0" sz="1150" spc="-55">
                <a:latin typeface="Arial"/>
                <a:cs typeface="Arial"/>
              </a:rPr>
              <a:t>good </a:t>
            </a:r>
            <a:r>
              <a:rPr dirty="0" sz="1150" spc="-60">
                <a:latin typeface="Arial"/>
                <a:cs typeface="Arial"/>
              </a:rPr>
              <a:t>decisions and </a:t>
            </a:r>
            <a:r>
              <a:rPr dirty="0" sz="1150" spc="-35">
                <a:latin typeface="Arial"/>
                <a:cs typeface="Arial"/>
              </a:rPr>
              <a:t>help </a:t>
            </a:r>
            <a:r>
              <a:rPr dirty="0" sz="1150" spc="-20">
                <a:latin typeface="Arial"/>
                <a:cs typeface="Arial"/>
              </a:rPr>
              <a:t>them 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accomplish</a:t>
            </a:r>
            <a:r>
              <a:rPr dirty="0" sz="1150" spc="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their</a:t>
            </a:r>
            <a:r>
              <a:rPr dirty="0" sz="1150" spc="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goals.</a:t>
            </a:r>
            <a:r>
              <a:rPr dirty="0" sz="1150" spc="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To</a:t>
            </a:r>
            <a:r>
              <a:rPr dirty="0" sz="1150" spc="1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design</a:t>
            </a:r>
            <a:r>
              <a:rPr dirty="0" sz="1150" spc="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2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develop</a:t>
            </a:r>
            <a:r>
              <a:rPr dirty="0" sz="1150" spc="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good</a:t>
            </a:r>
            <a:r>
              <a:rPr dirty="0" sz="1150" spc="1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information</a:t>
            </a:r>
            <a:r>
              <a:rPr dirty="0" sz="1150" spc="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systems,</a:t>
            </a:r>
            <a:r>
              <a:rPr dirty="0" sz="1150" spc="1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companies</a:t>
            </a:r>
            <a:r>
              <a:rPr dirty="0" sz="1150" spc="1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hire</a:t>
            </a:r>
            <a:r>
              <a:rPr dirty="0" sz="1150" spc="20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21" y="892559"/>
            <a:ext cx="5513705" cy="801624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30">
                <a:latin typeface="Arial"/>
                <a:cs typeface="Arial"/>
              </a:rPr>
              <a:t>top-level </a:t>
            </a:r>
            <a:r>
              <a:rPr dirty="0" sz="1150" spc="-60">
                <a:latin typeface="Arial"/>
                <a:cs typeface="Arial"/>
              </a:rPr>
              <a:t>manager </a:t>
            </a:r>
            <a:r>
              <a:rPr dirty="0" sz="1150" spc="-35">
                <a:latin typeface="Arial"/>
                <a:cs typeface="Arial"/>
              </a:rPr>
              <a:t>known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05">
                <a:latin typeface="Arial"/>
                <a:cs typeface="Arial"/>
              </a:rPr>
              <a:t>CIO. A </a:t>
            </a:r>
            <a:r>
              <a:rPr dirty="0" sz="1150" spc="-60">
                <a:latin typeface="Arial"/>
                <a:cs typeface="Arial"/>
              </a:rPr>
              <a:t>Chief </a:t>
            </a:r>
            <a:r>
              <a:rPr dirty="0" sz="1150" spc="-20">
                <a:latin typeface="Arial"/>
                <a:cs typeface="Arial"/>
              </a:rPr>
              <a:t>Information </a:t>
            </a:r>
            <a:r>
              <a:rPr dirty="0" sz="1150" spc="-30">
                <a:latin typeface="Arial"/>
                <a:cs typeface="Arial"/>
              </a:rPr>
              <a:t>Officer </a:t>
            </a:r>
            <a:r>
              <a:rPr dirty="0" sz="1150" spc="-95">
                <a:latin typeface="Arial"/>
                <a:cs typeface="Arial"/>
              </a:rPr>
              <a:t>(CIO)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strategic-level  </a:t>
            </a:r>
            <a:r>
              <a:rPr dirty="0" sz="1150" spc="-60">
                <a:latin typeface="Arial"/>
                <a:cs typeface="Arial"/>
              </a:rPr>
              <a:t>manager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70">
                <a:latin typeface="Arial"/>
                <a:cs typeface="Arial"/>
              </a:rPr>
              <a:t>oversees </a:t>
            </a:r>
            <a:r>
              <a:rPr dirty="0" sz="1150" spc="-2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company’s </a:t>
            </a:r>
            <a:r>
              <a:rPr dirty="0" sz="1150" spc="-15">
                <a:latin typeface="Arial"/>
                <a:cs typeface="Arial"/>
              </a:rPr>
              <a:t>information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systems.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90">
                <a:latin typeface="Arial"/>
                <a:cs typeface="Arial"/>
              </a:rPr>
              <a:t>Types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55">
                <a:latin typeface="Arial"/>
                <a:cs typeface="Arial"/>
              </a:rPr>
              <a:t>levels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Information </a:t>
            </a:r>
            <a:r>
              <a:rPr dirty="0" sz="1150" spc="-90">
                <a:latin typeface="Arial"/>
                <a:cs typeface="Arial"/>
              </a:rPr>
              <a:t>Systems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70">
                <a:latin typeface="Arial"/>
                <a:cs typeface="Arial"/>
              </a:rPr>
              <a:t>can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be: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20">
                <a:latin typeface="Arial"/>
                <a:cs typeface="Arial"/>
              </a:rPr>
              <a:t>Information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10">
                <a:latin typeface="Arial"/>
                <a:cs typeface="Arial"/>
              </a:rPr>
              <a:t>top</a:t>
            </a:r>
            <a:r>
              <a:rPr dirty="0" sz="1150" spc="-17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management.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35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20">
                <a:latin typeface="Arial"/>
                <a:cs typeface="Arial"/>
              </a:rPr>
              <a:t>Information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5">
                <a:latin typeface="Arial"/>
                <a:cs typeface="Arial"/>
              </a:rPr>
              <a:t>middle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management.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740"/>
              </a:spcBef>
              <a:buFont typeface="Symbol"/>
              <a:buChar char=""/>
              <a:tabLst>
                <a:tab pos="469900" algn="l"/>
                <a:tab pos="470534" algn="l"/>
              </a:tabLst>
            </a:pPr>
            <a:r>
              <a:rPr dirty="0" sz="1150" spc="-20">
                <a:latin typeface="Arial"/>
                <a:cs typeface="Arial"/>
              </a:rPr>
              <a:t>Information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lower</a:t>
            </a:r>
            <a:r>
              <a:rPr dirty="0" sz="1150" spc="-18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management.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70" b="1">
                <a:latin typeface="Arial"/>
                <a:cs typeface="Arial"/>
              </a:rPr>
              <a:t>Information </a:t>
            </a:r>
            <a:r>
              <a:rPr dirty="0" sz="1350" spc="-120" b="1">
                <a:latin typeface="Arial"/>
                <a:cs typeface="Arial"/>
              </a:rPr>
              <a:t>system </a:t>
            </a:r>
            <a:r>
              <a:rPr dirty="0" sz="1350" spc="-60" b="1">
                <a:latin typeface="Arial"/>
                <a:cs typeface="Arial"/>
              </a:rPr>
              <a:t>for</a:t>
            </a:r>
            <a:r>
              <a:rPr dirty="0" sz="1350" spc="-30" b="1">
                <a:latin typeface="Arial"/>
                <a:cs typeface="Arial"/>
              </a:rPr>
              <a:t> </a:t>
            </a:r>
            <a:r>
              <a:rPr dirty="0" sz="1350" spc="-85" b="1">
                <a:latin typeface="Arial"/>
                <a:cs typeface="Arial"/>
              </a:rPr>
              <a:t>Departments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 algn="just" marL="12700" marR="7620">
              <a:lnSpc>
                <a:spcPct val="100899"/>
              </a:lnSpc>
            </a:pPr>
            <a:r>
              <a:rPr dirty="0" sz="1150" spc="-70">
                <a:latin typeface="Arial"/>
                <a:cs typeface="Arial"/>
              </a:rPr>
              <a:t>Separate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60">
                <a:latin typeface="Arial"/>
                <a:cs typeface="Arial"/>
              </a:rPr>
              <a:t>designed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25">
                <a:latin typeface="Arial"/>
                <a:cs typeface="Arial"/>
              </a:rPr>
              <a:t>department while </a:t>
            </a:r>
            <a:r>
              <a:rPr dirty="0" sz="1150" spc="-55">
                <a:latin typeface="Arial"/>
                <a:cs typeface="Arial"/>
              </a:rPr>
              <a:t>keeping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view  </a:t>
            </a:r>
            <a:r>
              <a:rPr dirty="0" sz="1150" spc="-65">
                <a:latin typeface="Arial"/>
                <a:cs typeface="Arial"/>
              </a:rPr>
              <a:t>demands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35">
                <a:latin typeface="Arial"/>
                <a:cs typeface="Arial"/>
              </a:rPr>
              <a:t>requirements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each</a:t>
            </a:r>
            <a:r>
              <a:rPr dirty="0" sz="1150" spc="-22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department.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10" b="1">
                <a:latin typeface="Arial"/>
                <a:cs typeface="Arial"/>
              </a:rPr>
              <a:t>Knowledge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95" b="1">
                <a:latin typeface="Arial"/>
                <a:cs typeface="Arial"/>
              </a:rPr>
              <a:t>Workers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715">
              <a:lnSpc>
                <a:spcPct val="101699"/>
              </a:lnSpc>
            </a:pPr>
            <a:r>
              <a:rPr dirty="0" sz="1150" spc="-70">
                <a:latin typeface="Arial"/>
                <a:cs typeface="Arial"/>
              </a:rPr>
              <a:t>An </a:t>
            </a:r>
            <a:r>
              <a:rPr dirty="0" sz="1150" spc="-50">
                <a:latin typeface="Arial"/>
                <a:cs typeface="Arial"/>
              </a:rPr>
              <a:t>increasingly </a:t>
            </a:r>
            <a:r>
              <a:rPr dirty="0" sz="1150" spc="-15">
                <a:latin typeface="Arial"/>
                <a:cs typeface="Arial"/>
              </a:rPr>
              <a:t>important </a:t>
            </a:r>
            <a:r>
              <a:rPr dirty="0" sz="1150" spc="-40">
                <a:latin typeface="Arial"/>
                <a:cs typeface="Arial"/>
              </a:rPr>
              <a:t>group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 spc="-30">
                <a:latin typeface="Arial"/>
                <a:cs typeface="Arial"/>
              </a:rPr>
              <a:t>who </a:t>
            </a:r>
            <a:r>
              <a:rPr dirty="0" sz="1150" spc="-75">
                <a:latin typeface="Arial"/>
                <a:cs typeface="Arial"/>
              </a:rPr>
              <a:t>use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knowledge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30">
                <a:latin typeface="Arial"/>
                <a:cs typeface="Arial"/>
              </a:rPr>
              <a:t>raw </a:t>
            </a:r>
            <a:r>
              <a:rPr dirty="0" sz="1150" spc="-40">
                <a:latin typeface="Arial"/>
                <a:cs typeface="Arial"/>
              </a:rPr>
              <a:t>materials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25">
                <a:latin typeface="Arial"/>
                <a:cs typeface="Arial"/>
              </a:rPr>
              <a:t>work,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who rely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40">
                <a:latin typeface="Arial"/>
                <a:cs typeface="Arial"/>
              </a:rPr>
              <a:t>technology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design </a:t>
            </a:r>
            <a:r>
              <a:rPr dirty="0" sz="1150" spc="-40">
                <a:latin typeface="Arial"/>
                <a:cs typeface="Arial"/>
              </a:rPr>
              <a:t>new products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75">
                <a:latin typeface="Arial"/>
                <a:cs typeface="Arial"/>
              </a:rPr>
              <a:t>business  </a:t>
            </a:r>
            <a:r>
              <a:rPr dirty="0" sz="1150" spc="-70">
                <a:latin typeface="Arial"/>
                <a:cs typeface="Arial"/>
              </a:rPr>
              <a:t>systems </a:t>
            </a:r>
            <a:r>
              <a:rPr dirty="0" sz="1150" spc="-55">
                <a:latin typeface="Arial"/>
                <a:cs typeface="Arial"/>
              </a:rPr>
              <a:t>(e.g. engineers, </a:t>
            </a:r>
            <a:r>
              <a:rPr dirty="0" sz="1150" spc="-45">
                <a:latin typeface="Arial"/>
                <a:cs typeface="Arial"/>
              </a:rPr>
              <a:t>scientists, </a:t>
            </a:r>
            <a:r>
              <a:rPr dirty="0" sz="1150" spc="-30">
                <a:latin typeface="Arial"/>
                <a:cs typeface="Arial"/>
              </a:rPr>
              <a:t>computer </a:t>
            </a:r>
            <a:r>
              <a:rPr dirty="0" sz="1150" spc="-45">
                <a:latin typeface="Arial"/>
                <a:cs typeface="Arial"/>
              </a:rPr>
              <a:t>programmers,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etc.).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50" spc="-125" b="1">
                <a:latin typeface="Arial"/>
                <a:cs typeface="Arial"/>
              </a:rPr>
              <a:t>Considerations </a:t>
            </a:r>
            <a:r>
              <a:rPr dirty="0" sz="1550" spc="-75" b="1">
                <a:latin typeface="Arial"/>
                <a:cs typeface="Arial"/>
              </a:rPr>
              <a:t>of </a:t>
            </a:r>
            <a:r>
              <a:rPr dirty="0" sz="1550" spc="-155" b="1">
                <a:latin typeface="Arial"/>
                <a:cs typeface="Arial"/>
              </a:rPr>
              <a:t>Users </a:t>
            </a:r>
            <a:r>
              <a:rPr dirty="0" sz="1550" spc="-70" b="1">
                <a:latin typeface="Arial"/>
                <a:cs typeface="Arial"/>
              </a:rPr>
              <a:t>for </a:t>
            </a:r>
            <a:r>
              <a:rPr dirty="0" sz="1550" spc="-75" b="1">
                <a:latin typeface="Arial"/>
                <a:cs typeface="Arial"/>
              </a:rPr>
              <a:t>Information</a:t>
            </a:r>
            <a:r>
              <a:rPr dirty="0" sz="1550" spc="15" b="1">
                <a:latin typeface="Arial"/>
                <a:cs typeface="Arial"/>
              </a:rPr>
              <a:t> </a:t>
            </a:r>
            <a:r>
              <a:rPr dirty="0" sz="1550" spc="-145" b="1">
                <a:latin typeface="Arial"/>
                <a:cs typeface="Arial"/>
              </a:rPr>
              <a:t>System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00"/>
              </a:lnSpc>
            </a:pPr>
            <a:r>
              <a:rPr dirty="0" sz="1350" spc="-95" b="1">
                <a:latin typeface="Arial"/>
                <a:cs typeface="Arial"/>
              </a:rPr>
              <a:t>Managers </a:t>
            </a:r>
            <a:r>
              <a:rPr dirty="0" sz="1350" spc="-35" b="1">
                <a:latin typeface="Arial"/>
                <a:cs typeface="Arial"/>
              </a:rPr>
              <a:t>at </a:t>
            </a:r>
            <a:r>
              <a:rPr dirty="0" sz="1350" spc="-60" b="1">
                <a:latin typeface="Arial"/>
                <a:cs typeface="Arial"/>
              </a:rPr>
              <a:t>Different </a:t>
            </a:r>
            <a:r>
              <a:rPr dirty="0" sz="1350" spc="-114" b="1">
                <a:latin typeface="Arial"/>
                <a:cs typeface="Arial"/>
              </a:rPr>
              <a:t>Levels</a:t>
            </a:r>
            <a:r>
              <a:rPr dirty="0" sz="1350" spc="-114">
                <a:latin typeface="Arial"/>
                <a:cs typeface="Arial"/>
              </a:rPr>
              <a:t>: </a:t>
            </a:r>
            <a:r>
              <a:rPr dirty="0" sz="1150" spc="-40">
                <a:latin typeface="Arial"/>
                <a:cs typeface="Arial"/>
              </a:rPr>
              <a:t>First-line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55">
                <a:latin typeface="Arial"/>
                <a:cs typeface="Arial"/>
              </a:rPr>
              <a:t>need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day-to-day  details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35">
                <a:latin typeface="Arial"/>
                <a:cs typeface="Arial"/>
              </a:rPr>
              <a:t>departments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5">
                <a:latin typeface="Arial"/>
                <a:cs typeface="Arial"/>
              </a:rPr>
              <a:t>projects. </a:t>
            </a:r>
            <a:r>
              <a:rPr dirty="0" sz="1150" spc="-20">
                <a:latin typeface="Arial"/>
                <a:cs typeface="Arial"/>
              </a:rPr>
              <a:t>Middle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55">
                <a:latin typeface="Arial"/>
                <a:cs typeface="Arial"/>
              </a:rPr>
              <a:t>need </a:t>
            </a:r>
            <a:r>
              <a:rPr dirty="0" sz="1150" spc="-60">
                <a:latin typeface="Arial"/>
                <a:cs typeface="Arial"/>
              </a:rPr>
              <a:t>summaries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5">
                <a:latin typeface="Arial"/>
                <a:cs typeface="Arial"/>
              </a:rPr>
              <a:t>analyses 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setting </a:t>
            </a:r>
            <a:r>
              <a:rPr dirty="0" sz="1150" spc="-25">
                <a:latin typeface="Arial"/>
                <a:cs typeface="Arial"/>
              </a:rPr>
              <a:t>intermediate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long-range </a:t>
            </a:r>
            <a:r>
              <a:rPr dirty="0" sz="1150" spc="-70">
                <a:latin typeface="Arial"/>
                <a:cs typeface="Arial"/>
              </a:rPr>
              <a:t>goals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">
                <a:latin typeface="Arial"/>
                <a:cs typeface="Arial"/>
              </a:rPr>
              <a:t>their </a:t>
            </a:r>
            <a:r>
              <a:rPr dirty="0" sz="1150" spc="-35">
                <a:latin typeface="Arial"/>
                <a:cs typeface="Arial"/>
              </a:rPr>
              <a:t>departments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30">
                <a:latin typeface="Arial"/>
                <a:cs typeface="Arial"/>
              </a:rPr>
              <a:t>projects.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5">
                <a:latin typeface="Arial"/>
                <a:cs typeface="Arial"/>
              </a:rPr>
              <a:t>top  </a:t>
            </a:r>
            <a:r>
              <a:rPr dirty="0" sz="1150" spc="-70">
                <a:latin typeface="Arial"/>
                <a:cs typeface="Arial"/>
              </a:rPr>
              <a:t>managers </a:t>
            </a:r>
            <a:r>
              <a:rPr dirty="0" sz="1150" spc="-55">
                <a:latin typeface="Arial"/>
                <a:cs typeface="Arial"/>
              </a:rPr>
              <a:t>need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35">
                <a:latin typeface="Arial"/>
                <a:cs typeface="Arial"/>
              </a:rPr>
              <a:t>on broader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35">
                <a:latin typeface="Arial"/>
                <a:cs typeface="Arial"/>
              </a:rPr>
              <a:t>trends,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overall </a:t>
            </a:r>
            <a:r>
              <a:rPr dirty="0" sz="1150" spc="-55">
                <a:latin typeface="Arial"/>
                <a:cs typeface="Arial"/>
              </a:rPr>
              <a:t>company  </a:t>
            </a:r>
            <a:r>
              <a:rPr dirty="0" sz="1150" spc="-40">
                <a:latin typeface="Arial"/>
                <a:cs typeface="Arial"/>
              </a:rPr>
              <a:t>performance.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499"/>
              </a:lnSpc>
            </a:pPr>
            <a:r>
              <a:rPr dirty="0" sz="1350" spc="-100" b="1">
                <a:latin typeface="Arial"/>
                <a:cs typeface="Arial"/>
              </a:rPr>
              <a:t>Functional </a:t>
            </a:r>
            <a:r>
              <a:rPr dirty="0" sz="1350" spc="-114" b="1">
                <a:latin typeface="Arial"/>
                <a:cs typeface="Arial"/>
              </a:rPr>
              <a:t>Areas </a:t>
            </a:r>
            <a:r>
              <a:rPr dirty="0" sz="1350" spc="-100" b="1">
                <a:latin typeface="Arial"/>
                <a:cs typeface="Arial"/>
              </a:rPr>
              <a:t>and </a:t>
            </a:r>
            <a:r>
              <a:rPr dirty="0" sz="1350" spc="-150" b="1">
                <a:latin typeface="Arial"/>
                <a:cs typeface="Arial"/>
              </a:rPr>
              <a:t>Business </a:t>
            </a:r>
            <a:r>
              <a:rPr dirty="0" sz="1350" spc="-135" b="1">
                <a:latin typeface="Arial"/>
                <a:cs typeface="Arial"/>
              </a:rPr>
              <a:t>Processes</a:t>
            </a:r>
            <a:r>
              <a:rPr dirty="0" sz="1350" spc="-135">
                <a:latin typeface="Arial"/>
                <a:cs typeface="Arial"/>
              </a:rPr>
              <a:t>: </a:t>
            </a:r>
            <a:r>
              <a:rPr dirty="0" sz="1150" spc="-105">
                <a:latin typeface="Arial"/>
                <a:cs typeface="Arial"/>
              </a:rPr>
              <a:t>Each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0">
                <a:latin typeface="Arial"/>
                <a:cs typeface="Arial"/>
              </a:rPr>
              <a:t>area </a:t>
            </a:r>
            <a:r>
              <a:rPr dirty="0" sz="1150" spc="-55">
                <a:latin typeface="Arial"/>
                <a:cs typeface="Arial"/>
              </a:rPr>
              <a:t>(e.g. </a:t>
            </a:r>
            <a:r>
              <a:rPr dirty="0" sz="1150" spc="-35">
                <a:latin typeface="Arial"/>
                <a:cs typeface="Arial"/>
              </a:rPr>
              <a:t>marketing,  </a:t>
            </a:r>
            <a:r>
              <a:rPr dirty="0" sz="1150" spc="-45">
                <a:latin typeface="Arial"/>
                <a:cs typeface="Arial"/>
              </a:rPr>
              <a:t>finance)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30">
                <a:latin typeface="Arial"/>
                <a:cs typeface="Arial"/>
              </a:rPr>
              <a:t>own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35">
                <a:latin typeface="Arial"/>
                <a:cs typeface="Arial"/>
              </a:rPr>
              <a:t>requirements,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70">
                <a:latin typeface="Arial"/>
                <a:cs typeface="Arial"/>
              </a:rPr>
              <a:t>each business process </a:t>
            </a:r>
            <a:r>
              <a:rPr dirty="0" sz="1150" spc="-55">
                <a:latin typeface="Arial"/>
                <a:cs typeface="Arial"/>
              </a:rPr>
              <a:t>(e.g. </a:t>
            </a:r>
            <a:r>
              <a:rPr dirty="0" sz="1150" spc="-40">
                <a:latin typeface="Arial"/>
                <a:cs typeface="Arial"/>
              </a:rPr>
              <a:t>strategic  </a:t>
            </a:r>
            <a:r>
              <a:rPr dirty="0" sz="1150" spc="-45">
                <a:latin typeface="Arial"/>
                <a:cs typeface="Arial"/>
              </a:rPr>
              <a:t>planning, </a:t>
            </a:r>
            <a:r>
              <a:rPr dirty="0" sz="1150" spc="-25">
                <a:latin typeface="Arial"/>
                <a:cs typeface="Arial"/>
              </a:rPr>
              <a:t>product </a:t>
            </a:r>
            <a:r>
              <a:rPr dirty="0" sz="1150" spc="-35">
                <a:latin typeface="Arial"/>
                <a:cs typeface="Arial"/>
              </a:rPr>
              <a:t>development) </a:t>
            </a:r>
            <a:r>
              <a:rPr dirty="0" sz="1150" spc="-65">
                <a:latin typeface="Arial"/>
                <a:cs typeface="Arial"/>
              </a:rPr>
              <a:t>also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 spc="-50">
                <a:latin typeface="Arial"/>
                <a:cs typeface="Arial"/>
              </a:rPr>
              <a:t>specific </a:t>
            </a:r>
            <a:r>
              <a:rPr dirty="0" sz="1150" spc="-15">
                <a:latin typeface="Arial"/>
                <a:cs typeface="Arial"/>
              </a:rPr>
              <a:t>information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needs.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75" b="1">
                <a:latin typeface="Arial"/>
                <a:cs typeface="Arial"/>
              </a:rPr>
              <a:t>Management </a:t>
            </a:r>
            <a:r>
              <a:rPr dirty="0" sz="1350" spc="-70" b="1">
                <a:latin typeface="Arial"/>
                <a:cs typeface="Arial"/>
              </a:rPr>
              <a:t>Information </a:t>
            </a:r>
            <a:r>
              <a:rPr dirty="0" sz="1350" spc="-125" b="1">
                <a:latin typeface="Arial"/>
                <a:cs typeface="Arial"/>
              </a:rPr>
              <a:t>System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60" b="1">
                <a:latin typeface="Arial"/>
                <a:cs typeface="Arial"/>
              </a:rPr>
              <a:t>(MIS)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65">
                <a:latin typeface="Arial"/>
                <a:cs typeface="Arial"/>
              </a:rPr>
              <a:t>system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5">
                <a:latin typeface="Arial"/>
                <a:cs typeface="Arial"/>
              </a:rPr>
              <a:t>helps management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decision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making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150" spc="-85">
                <a:latin typeface="Arial"/>
                <a:cs typeface="Arial"/>
              </a:rPr>
              <a:t>MIS </a:t>
            </a:r>
            <a:r>
              <a:rPr dirty="0" sz="1150" spc="-45">
                <a:latin typeface="Arial"/>
                <a:cs typeface="Arial"/>
              </a:rPr>
              <a:t>provides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50">
                <a:latin typeface="Arial"/>
                <a:cs typeface="Arial"/>
              </a:rPr>
              <a:t>regarding decision </a:t>
            </a:r>
            <a:r>
              <a:rPr dirty="0" sz="1150" spc="-55">
                <a:latin typeface="Arial"/>
                <a:cs typeface="Arial"/>
              </a:rPr>
              <a:t>making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management.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14" b="1">
                <a:latin typeface="Arial"/>
                <a:cs typeface="Arial"/>
              </a:rPr>
              <a:t>Decision </a:t>
            </a:r>
            <a:r>
              <a:rPr dirty="0" sz="1350" spc="-105" b="1">
                <a:latin typeface="Arial"/>
                <a:cs typeface="Arial"/>
              </a:rPr>
              <a:t>Support </a:t>
            </a:r>
            <a:r>
              <a:rPr dirty="0" sz="1350" spc="-135" b="1">
                <a:latin typeface="Arial"/>
                <a:cs typeface="Arial"/>
              </a:rPr>
              <a:t>System</a:t>
            </a:r>
            <a:r>
              <a:rPr dirty="0" sz="1350" spc="5" b="1">
                <a:latin typeface="Arial"/>
                <a:cs typeface="Arial"/>
              </a:rPr>
              <a:t> </a:t>
            </a:r>
            <a:r>
              <a:rPr dirty="0" sz="1350" spc="-145" b="1">
                <a:latin typeface="Arial"/>
                <a:cs typeface="Arial"/>
              </a:rPr>
              <a:t>(DSS)</a:t>
            </a:r>
            <a:endParaRPr sz="135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  <a:spcBef>
                <a:spcPts val="695"/>
              </a:spcBef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45">
                <a:latin typeface="Arial"/>
                <a:cs typeface="Arial"/>
              </a:rPr>
              <a:t>supports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decision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management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60">
                <a:latin typeface="Arial"/>
                <a:cs typeface="Arial"/>
              </a:rPr>
              <a:t>Decision </a:t>
            </a:r>
            <a:r>
              <a:rPr dirty="0" sz="1150" spc="-30">
                <a:latin typeface="Arial"/>
                <a:cs typeface="Arial"/>
              </a:rPr>
              <a:t>support </a:t>
            </a:r>
            <a:r>
              <a:rPr dirty="0" sz="1150" spc="-55">
                <a:latin typeface="Arial"/>
                <a:cs typeface="Arial"/>
              </a:rPr>
              <a:t>system.  Pool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gathered </a:t>
            </a: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50">
                <a:latin typeface="Arial"/>
                <a:cs typeface="Arial"/>
              </a:rPr>
              <a:t>various </a:t>
            </a:r>
            <a:r>
              <a:rPr dirty="0" sz="1150" spc="-20">
                <a:latin typeface="Arial"/>
                <a:cs typeface="Arial"/>
              </a:rPr>
              <a:t>internal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35">
                <a:latin typeface="Arial"/>
                <a:cs typeface="Arial"/>
              </a:rPr>
              <a:t>external </a:t>
            </a:r>
            <a:r>
              <a:rPr dirty="0" sz="1150" spc="-60">
                <a:latin typeface="Arial"/>
                <a:cs typeface="Arial"/>
              </a:rPr>
              <a:t>researchers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60">
                <a:latin typeface="Arial"/>
                <a:cs typeface="Arial"/>
              </a:rPr>
              <a:t>system  </a:t>
            </a:r>
            <a:r>
              <a:rPr dirty="0" sz="1150" spc="-45">
                <a:latin typeface="Arial"/>
                <a:cs typeface="Arial"/>
              </a:rPr>
              <a:t>provides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proper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form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65">
                <a:latin typeface="Arial"/>
                <a:cs typeface="Arial"/>
              </a:rPr>
              <a:t> make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this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information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functional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decision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making.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187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070" cy="46634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14" b="1">
                <a:latin typeface="Arial"/>
                <a:cs typeface="Arial"/>
              </a:rPr>
              <a:t>Executive </a:t>
            </a:r>
            <a:r>
              <a:rPr dirty="0" sz="1350" spc="-105" b="1">
                <a:latin typeface="Arial"/>
                <a:cs typeface="Arial"/>
              </a:rPr>
              <a:t>Support </a:t>
            </a:r>
            <a:r>
              <a:rPr dirty="0" sz="1350" spc="-135" b="1">
                <a:latin typeface="Arial"/>
                <a:cs typeface="Arial"/>
              </a:rPr>
              <a:t>System </a:t>
            </a:r>
            <a:r>
              <a:rPr dirty="0" sz="1350" spc="-170" b="1">
                <a:latin typeface="Arial"/>
                <a:cs typeface="Arial"/>
              </a:rPr>
              <a:t>(ESS) </a:t>
            </a:r>
            <a:r>
              <a:rPr dirty="0" sz="1350" spc="-185" b="1">
                <a:latin typeface="Arial"/>
                <a:cs typeface="Arial"/>
              </a:rPr>
              <a:t>OR </a:t>
            </a:r>
            <a:r>
              <a:rPr dirty="0" sz="1350" spc="-114" b="1">
                <a:latin typeface="Arial"/>
                <a:cs typeface="Arial"/>
              </a:rPr>
              <a:t>Executive Decision </a:t>
            </a:r>
            <a:r>
              <a:rPr dirty="0" sz="1350" spc="-135" b="1">
                <a:latin typeface="Arial"/>
                <a:cs typeface="Arial"/>
              </a:rPr>
              <a:t>System</a:t>
            </a:r>
            <a:r>
              <a:rPr dirty="0" sz="1350" spc="5" b="1">
                <a:latin typeface="Arial"/>
                <a:cs typeface="Arial"/>
              </a:rPr>
              <a:t> </a:t>
            </a:r>
            <a:r>
              <a:rPr dirty="0" sz="1350" spc="-145" b="1">
                <a:latin typeface="Arial"/>
                <a:cs typeface="Arial"/>
              </a:rPr>
              <a:t>(EDS)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75">
                <a:latin typeface="Arial"/>
                <a:cs typeface="Arial"/>
              </a:rPr>
              <a:t>system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50">
                <a:latin typeface="Arial"/>
                <a:cs typeface="Arial"/>
              </a:rPr>
              <a:t>provides </a:t>
            </a:r>
            <a:r>
              <a:rPr dirty="0" sz="1150" spc="-20">
                <a:latin typeface="Arial"/>
                <a:cs typeface="Arial"/>
              </a:rPr>
              <a:t>information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executives </a:t>
            </a:r>
            <a:r>
              <a:rPr dirty="0" sz="1150" spc="-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decision </a:t>
            </a:r>
            <a:r>
              <a:rPr dirty="0" sz="1150" spc="-55">
                <a:latin typeface="Arial"/>
                <a:cs typeface="Arial"/>
              </a:rPr>
              <a:t>making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called </a:t>
            </a:r>
            <a:r>
              <a:rPr dirty="0" sz="1150" spc="-65">
                <a:latin typeface="Arial"/>
                <a:cs typeface="Arial"/>
              </a:rPr>
              <a:t>Executive  </a:t>
            </a:r>
            <a:r>
              <a:rPr dirty="0" sz="1150" spc="-45">
                <a:latin typeface="Arial"/>
                <a:cs typeface="Arial"/>
              </a:rPr>
              <a:t>Support </a:t>
            </a:r>
            <a:r>
              <a:rPr dirty="0" sz="1150" spc="-80">
                <a:latin typeface="Arial"/>
                <a:cs typeface="Arial"/>
              </a:rPr>
              <a:t>System. </a:t>
            </a:r>
            <a:r>
              <a:rPr dirty="0" sz="1150" spc="-90">
                <a:latin typeface="Arial"/>
                <a:cs typeface="Arial"/>
              </a:rPr>
              <a:t>Since </a:t>
            </a:r>
            <a:r>
              <a:rPr dirty="0" sz="1150" spc="-60">
                <a:latin typeface="Arial"/>
                <a:cs typeface="Arial"/>
              </a:rPr>
              <a:t>executives </a:t>
            </a:r>
            <a:r>
              <a:rPr dirty="0" sz="1150" spc="-75">
                <a:latin typeface="Arial"/>
                <a:cs typeface="Arial"/>
              </a:rPr>
              <a:t>have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take decision </a:t>
            </a:r>
            <a:r>
              <a:rPr dirty="0" sz="1150" spc="-20">
                <a:latin typeface="Arial"/>
                <a:cs typeface="Arial"/>
              </a:rPr>
              <a:t>at </a:t>
            </a:r>
            <a:r>
              <a:rPr dirty="0" sz="1150" spc="-40">
                <a:latin typeface="Arial"/>
                <a:cs typeface="Arial"/>
              </a:rPr>
              <a:t>broader </a:t>
            </a:r>
            <a:r>
              <a:rPr dirty="0" sz="1150" spc="-55">
                <a:latin typeface="Arial"/>
                <a:cs typeface="Arial"/>
              </a:rPr>
              <a:t>levels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30">
                <a:latin typeface="Arial"/>
                <a:cs typeface="Arial"/>
              </a:rPr>
              <a:t>this </a:t>
            </a:r>
            <a:r>
              <a:rPr dirty="0" sz="1150" spc="-60">
                <a:latin typeface="Arial"/>
                <a:cs typeface="Arial"/>
              </a:rPr>
              <a:t>special  </a:t>
            </a:r>
            <a:r>
              <a:rPr dirty="0" sz="1150" spc="-70">
                <a:latin typeface="Arial"/>
                <a:cs typeface="Arial"/>
              </a:rPr>
              <a:t>system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designed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for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them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provide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very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valid,</a:t>
            </a:r>
            <a:r>
              <a:rPr dirty="0" sz="1150" spc="-55">
                <a:latin typeface="Arial"/>
                <a:cs typeface="Arial"/>
              </a:rPr>
              <a:t> accurate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5">
                <a:latin typeface="Arial"/>
                <a:cs typeface="Arial"/>
              </a:rPr>
              <a:t>&amp;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timely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information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for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top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level  </a:t>
            </a:r>
            <a:r>
              <a:rPr dirty="0" sz="1150" spc="-55">
                <a:latin typeface="Arial"/>
                <a:cs typeface="Arial"/>
              </a:rPr>
              <a:t>decisions.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55">
                <a:latin typeface="Arial"/>
                <a:cs typeface="Arial"/>
              </a:rPr>
              <a:t>Computer</a:t>
            </a:r>
            <a:r>
              <a:rPr dirty="0" sz="1350" spc="-85">
                <a:latin typeface="Arial"/>
                <a:cs typeface="Arial"/>
              </a:rPr>
              <a:t> </a:t>
            </a:r>
            <a:r>
              <a:rPr dirty="0" sz="1350" spc="-35">
                <a:latin typeface="Arial"/>
                <a:cs typeface="Arial"/>
              </a:rPr>
              <a:t>Network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Computers </a:t>
            </a:r>
            <a:r>
              <a:rPr dirty="0" sz="1150" spc="-35">
                <a:latin typeface="Arial"/>
                <a:cs typeface="Arial"/>
              </a:rPr>
              <a:t>linked </a:t>
            </a:r>
            <a:r>
              <a:rPr dirty="0" sz="1150" spc="-25">
                <a:latin typeface="Arial"/>
                <a:cs typeface="Arial"/>
              </a:rPr>
              <a:t>together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purpose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55">
                <a:latin typeface="Arial"/>
                <a:cs typeface="Arial"/>
              </a:rPr>
              <a:t>sharing </a:t>
            </a:r>
            <a:r>
              <a:rPr dirty="0" sz="1150" spc="-50">
                <a:latin typeface="Arial"/>
                <a:cs typeface="Arial"/>
              </a:rPr>
              <a:t>are called </a:t>
            </a:r>
            <a:r>
              <a:rPr dirty="0" sz="1150" spc="-30">
                <a:latin typeface="Arial"/>
                <a:cs typeface="Arial"/>
              </a:rPr>
              <a:t>computer  </a:t>
            </a:r>
            <a:r>
              <a:rPr dirty="0" sz="1150" spc="-20">
                <a:latin typeface="Arial"/>
                <a:cs typeface="Arial"/>
              </a:rPr>
              <a:t>network.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55" b="1">
                <a:latin typeface="Arial"/>
                <a:cs typeface="Arial"/>
              </a:rPr>
              <a:t>COMPONENTS </a:t>
            </a:r>
            <a:r>
              <a:rPr dirty="0" sz="1350" spc="-175" b="1">
                <a:latin typeface="Arial"/>
                <a:cs typeface="Arial"/>
              </a:rPr>
              <a:t>OF </a:t>
            </a:r>
            <a:r>
              <a:rPr dirty="0" sz="1350" spc="-120" b="1">
                <a:latin typeface="Arial"/>
                <a:cs typeface="Arial"/>
              </a:rPr>
              <a:t>INFORMATION</a:t>
            </a:r>
            <a:r>
              <a:rPr dirty="0" sz="1350" spc="-95" b="1">
                <a:latin typeface="Arial"/>
                <a:cs typeface="Arial"/>
              </a:rPr>
              <a:t> </a:t>
            </a:r>
            <a:r>
              <a:rPr dirty="0" sz="1350" spc="-190" b="1">
                <a:latin typeface="Arial"/>
                <a:cs typeface="Arial"/>
              </a:rPr>
              <a:t>SYSTEM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1150" spc="-55">
                <a:latin typeface="Arial"/>
                <a:cs typeface="Arial"/>
              </a:rPr>
              <a:t>Hardware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470534" algn="l"/>
              </a:tabLst>
            </a:pPr>
            <a:r>
              <a:rPr dirty="0" sz="1150" spc="-50">
                <a:latin typeface="Arial"/>
                <a:cs typeface="Arial"/>
              </a:rPr>
              <a:t>Software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469265" algn="l"/>
                <a:tab pos="470534" algn="l"/>
              </a:tabLst>
            </a:pPr>
            <a:r>
              <a:rPr dirty="0" sz="1150" spc="-55">
                <a:latin typeface="Arial"/>
                <a:cs typeface="Arial"/>
              </a:rPr>
              <a:t>Controls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10"/>
              </a:spcBef>
              <a:buAutoNum type="alphaLcPeriod"/>
              <a:tabLst>
                <a:tab pos="470534" algn="l"/>
              </a:tabLst>
            </a:pPr>
            <a:r>
              <a:rPr dirty="0" sz="1150" spc="-75">
                <a:latin typeface="Arial"/>
                <a:cs typeface="Arial"/>
              </a:rPr>
              <a:t>Database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470534" algn="l"/>
              </a:tabLst>
            </a:pPr>
            <a:r>
              <a:rPr dirty="0" sz="1150" spc="-70">
                <a:latin typeface="Arial"/>
                <a:cs typeface="Arial"/>
              </a:rPr>
              <a:t>People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469265" algn="l"/>
                <a:tab pos="470534" algn="l"/>
              </a:tabLst>
            </a:pPr>
            <a:r>
              <a:rPr dirty="0" sz="1150" spc="-55">
                <a:latin typeface="Arial"/>
                <a:cs typeface="Arial"/>
              </a:rPr>
              <a:t>Tele-communication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 sz="1350" spc="-50" b="1">
                <a:latin typeface="Arial"/>
                <a:cs typeface="Arial"/>
              </a:rPr>
              <a:t>a.</a:t>
            </a:r>
            <a:r>
              <a:rPr dirty="0" sz="1350" spc="60" b="1">
                <a:latin typeface="Arial"/>
                <a:cs typeface="Arial"/>
              </a:rPr>
              <a:t> </a:t>
            </a:r>
            <a:r>
              <a:rPr dirty="0" sz="1350" spc="-80" b="1">
                <a:latin typeface="Arial"/>
                <a:cs typeface="Arial"/>
              </a:rPr>
              <a:t>Hardware: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70">
                <a:latin typeface="Arial"/>
                <a:cs typeface="Arial"/>
              </a:rPr>
              <a:t>Physical </a:t>
            </a:r>
            <a:r>
              <a:rPr dirty="0" sz="1150" spc="-45">
                <a:latin typeface="Arial"/>
                <a:cs typeface="Arial"/>
              </a:rPr>
              <a:t>components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computer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system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188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36149" y="6959601"/>
            <a:ext cx="1631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69677" y="5711445"/>
            <a:ext cx="4473575" cy="2162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4805" indent="-299720">
              <a:lnSpc>
                <a:spcPct val="100000"/>
              </a:lnSpc>
              <a:spcBef>
                <a:spcPts val="100"/>
              </a:spcBef>
              <a:buFont typeface="Arial"/>
              <a:buAutoNum type="romanLcPeriod"/>
              <a:tabLst>
                <a:tab pos="344805" algn="l"/>
                <a:tab pos="345440" algn="l"/>
              </a:tabLst>
            </a:pPr>
            <a:r>
              <a:rPr dirty="0" sz="1150" spc="-60" b="1">
                <a:latin typeface="Arial"/>
                <a:cs typeface="Arial"/>
              </a:rPr>
              <a:t>Inputting</a:t>
            </a:r>
            <a:endParaRPr sz="1150">
              <a:latin typeface="Arial"/>
              <a:cs typeface="Arial"/>
            </a:endParaRPr>
          </a:p>
          <a:p>
            <a:pPr lvl="1" marL="802005" marR="5715" indent="-228600">
              <a:lnSpc>
                <a:spcPct val="101699"/>
              </a:lnSpc>
              <a:buFont typeface="Arial"/>
              <a:buAutoNum type="arabicPeriod"/>
              <a:tabLst>
                <a:tab pos="802640" algn="l"/>
              </a:tabLst>
            </a:pPr>
            <a:r>
              <a:rPr dirty="0" sz="1150" spc="-50" b="1">
                <a:latin typeface="Arial"/>
                <a:cs typeface="Arial"/>
              </a:rPr>
              <a:t>Input </a:t>
            </a:r>
            <a:r>
              <a:rPr dirty="0" sz="1150" spc="-80" b="1">
                <a:latin typeface="Arial"/>
                <a:cs typeface="Arial"/>
              </a:rPr>
              <a:t>Device</a:t>
            </a:r>
            <a:r>
              <a:rPr dirty="0" sz="1150" spc="-80">
                <a:latin typeface="Arial"/>
                <a:cs typeface="Arial"/>
              </a:rPr>
              <a:t>: </a:t>
            </a:r>
            <a:r>
              <a:rPr dirty="0" sz="1150" spc="-45">
                <a:latin typeface="Arial"/>
                <a:cs typeface="Arial"/>
              </a:rPr>
              <a:t>Part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computer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0">
                <a:latin typeface="Arial"/>
                <a:cs typeface="Arial"/>
              </a:rPr>
              <a:t>enters data  </a:t>
            </a:r>
            <a:r>
              <a:rPr dirty="0" sz="1150" spc="-5">
                <a:latin typeface="Arial"/>
                <a:cs typeface="Arial"/>
              </a:rPr>
              <a:t>into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it.</a:t>
            </a:r>
            <a:endParaRPr sz="1150">
              <a:latin typeface="Arial"/>
              <a:cs typeface="Arial"/>
            </a:endParaRPr>
          </a:p>
          <a:p>
            <a:pPr lvl="1" marL="802005" marR="5080" indent="-228600">
              <a:lnSpc>
                <a:spcPct val="101699"/>
              </a:lnSpc>
              <a:buFont typeface="Arial"/>
              <a:buAutoNum type="arabicPeriod"/>
              <a:tabLst>
                <a:tab pos="802640" algn="l"/>
              </a:tabLst>
            </a:pPr>
            <a:r>
              <a:rPr dirty="0" sz="1150" spc="-75" b="1">
                <a:latin typeface="Arial"/>
                <a:cs typeface="Arial"/>
              </a:rPr>
              <a:t>Central </a:t>
            </a:r>
            <a:r>
              <a:rPr dirty="0" sz="1150" spc="-120" b="1">
                <a:latin typeface="Arial"/>
                <a:cs typeface="Arial"/>
              </a:rPr>
              <a:t>Processing </a:t>
            </a:r>
            <a:r>
              <a:rPr dirty="0" sz="1150" spc="-50" b="1">
                <a:latin typeface="Arial"/>
                <a:cs typeface="Arial"/>
              </a:rPr>
              <a:t>Unit </a:t>
            </a:r>
            <a:r>
              <a:rPr dirty="0" sz="1150" spc="-100">
                <a:latin typeface="Arial"/>
                <a:cs typeface="Arial"/>
              </a:rPr>
              <a:t>(CPU): </a:t>
            </a:r>
            <a:r>
              <a:rPr dirty="0" sz="1150" spc="-45">
                <a:latin typeface="Arial"/>
                <a:cs typeface="Arial"/>
              </a:rPr>
              <a:t>Part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computer </a:t>
            </a:r>
            <a:r>
              <a:rPr dirty="0" sz="1150" spc="-60">
                <a:latin typeface="Arial"/>
                <a:cs typeface="Arial"/>
              </a:rPr>
              <a:t>system  </a:t>
            </a:r>
            <a:r>
              <a:rPr dirty="0" sz="1150" spc="-35">
                <a:latin typeface="Arial"/>
                <a:cs typeface="Arial"/>
              </a:rPr>
              <a:t>where </a:t>
            </a:r>
            <a:r>
              <a:rPr dirty="0" sz="1150" spc="-40">
                <a:latin typeface="Arial"/>
                <a:cs typeface="Arial"/>
              </a:rPr>
              <a:t>data </a:t>
            </a:r>
            <a:r>
              <a:rPr dirty="0" sz="1150" spc="-60">
                <a:latin typeface="Arial"/>
                <a:cs typeface="Arial"/>
              </a:rPr>
              <a:t>processing takes</a:t>
            </a:r>
            <a:r>
              <a:rPr dirty="0" sz="1150" spc="-9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place.</a:t>
            </a:r>
            <a:endParaRPr sz="1150">
              <a:latin typeface="Arial"/>
              <a:cs typeface="Arial"/>
            </a:endParaRPr>
          </a:p>
          <a:p>
            <a:pPr marL="344805" marR="5715" indent="-332740">
              <a:lnSpc>
                <a:spcPct val="101699"/>
              </a:lnSpc>
              <a:buFont typeface="Arial"/>
              <a:buAutoNum type="romanLcPeriod"/>
              <a:tabLst>
                <a:tab pos="344805" algn="l"/>
                <a:tab pos="345440" algn="l"/>
              </a:tabLst>
            </a:pPr>
            <a:r>
              <a:rPr dirty="0" sz="1150" spc="-40" b="1">
                <a:latin typeface="Arial"/>
                <a:cs typeface="Arial"/>
              </a:rPr>
              <a:t>Main </a:t>
            </a:r>
            <a:r>
              <a:rPr dirty="0" sz="1150" spc="-50" b="1">
                <a:latin typeface="Arial"/>
                <a:cs typeface="Arial"/>
              </a:rPr>
              <a:t>Memory</a:t>
            </a:r>
            <a:r>
              <a:rPr dirty="0" sz="1150" spc="-50">
                <a:latin typeface="Arial"/>
                <a:cs typeface="Arial"/>
              </a:rPr>
              <a:t>: </a:t>
            </a:r>
            <a:r>
              <a:rPr dirty="0" sz="1150" spc="-45">
                <a:latin typeface="Arial"/>
                <a:cs typeface="Arial"/>
              </a:rPr>
              <a:t>Part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computer </a:t>
            </a:r>
            <a:r>
              <a:rPr dirty="0" sz="1150" spc="-165">
                <a:latin typeface="Arial"/>
                <a:cs typeface="Arial"/>
              </a:rPr>
              <a:t>CPU </a:t>
            </a:r>
            <a:r>
              <a:rPr dirty="0" sz="1150" spc="-55">
                <a:latin typeface="Arial"/>
                <a:cs typeface="Arial"/>
              </a:rPr>
              <a:t>housing </a:t>
            </a:r>
            <a:r>
              <a:rPr dirty="0" sz="1150" spc="-35">
                <a:latin typeface="Arial"/>
                <a:cs typeface="Arial"/>
              </a:rPr>
              <a:t>memory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50">
                <a:latin typeface="Arial"/>
                <a:cs typeface="Arial"/>
              </a:rPr>
              <a:t>programs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needs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operate.</a:t>
            </a:r>
            <a:endParaRPr sz="1150">
              <a:latin typeface="Arial"/>
              <a:cs typeface="Arial"/>
            </a:endParaRPr>
          </a:p>
          <a:p>
            <a:pPr marL="344805">
              <a:lnSpc>
                <a:spcPct val="100000"/>
              </a:lnSpc>
              <a:spcBef>
                <a:spcPts val="25"/>
              </a:spcBef>
            </a:pPr>
            <a:r>
              <a:rPr dirty="0" sz="1150" spc="-105" b="1">
                <a:latin typeface="Arial"/>
                <a:cs typeface="Arial"/>
              </a:rPr>
              <a:t>Programs</a:t>
            </a:r>
            <a:endParaRPr sz="1150">
              <a:latin typeface="Arial"/>
              <a:cs typeface="Arial"/>
            </a:endParaRPr>
          </a:p>
          <a:p>
            <a:pPr lvl="1" marL="802005" marR="5715" indent="-228600">
              <a:lnSpc>
                <a:spcPct val="101699"/>
              </a:lnSpc>
              <a:buFont typeface="Arial"/>
              <a:buAutoNum type="arabicPeriod"/>
              <a:tabLst>
                <a:tab pos="802640" algn="l"/>
              </a:tabLst>
            </a:pPr>
            <a:r>
              <a:rPr dirty="0" sz="1150" spc="-85" b="1">
                <a:latin typeface="Arial"/>
                <a:cs typeface="Arial"/>
              </a:rPr>
              <a:t>Program</a:t>
            </a:r>
            <a:r>
              <a:rPr dirty="0" sz="1150" spc="-85">
                <a:latin typeface="Arial"/>
                <a:cs typeface="Arial"/>
              </a:rPr>
              <a:t>: Set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instructions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computer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perform  </a:t>
            </a:r>
            <a:r>
              <a:rPr dirty="0" sz="1150" spc="-45">
                <a:latin typeface="Arial"/>
                <a:cs typeface="Arial"/>
              </a:rPr>
              <a:t>specified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activities.</a:t>
            </a:r>
            <a:endParaRPr sz="1150">
              <a:latin typeface="Arial"/>
              <a:cs typeface="Arial"/>
            </a:endParaRPr>
          </a:p>
          <a:p>
            <a:pPr lvl="1" marL="802005" marR="6350" indent="-228600">
              <a:lnSpc>
                <a:spcPct val="101699"/>
              </a:lnSpc>
              <a:buFont typeface="Arial"/>
              <a:buAutoNum type="arabicPeriod"/>
              <a:tabLst>
                <a:tab pos="802640" algn="l"/>
              </a:tabLst>
            </a:pPr>
            <a:r>
              <a:rPr dirty="0" sz="1150" spc="-60" b="1">
                <a:latin typeface="Arial"/>
                <a:cs typeface="Arial"/>
              </a:rPr>
              <a:t>Output </a:t>
            </a:r>
            <a:r>
              <a:rPr dirty="0" sz="1150" spc="-80" b="1">
                <a:latin typeface="Arial"/>
                <a:cs typeface="Arial"/>
              </a:rPr>
              <a:t>Device</a:t>
            </a:r>
            <a:r>
              <a:rPr dirty="0" sz="1150" spc="-80">
                <a:latin typeface="Arial"/>
                <a:cs typeface="Arial"/>
              </a:rPr>
              <a:t>: </a:t>
            </a:r>
            <a:r>
              <a:rPr dirty="0" sz="1150" spc="-45">
                <a:latin typeface="Arial"/>
                <a:cs typeface="Arial"/>
              </a:rPr>
              <a:t>Part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computer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0">
                <a:latin typeface="Arial"/>
                <a:cs typeface="Arial"/>
              </a:rPr>
              <a:t>presents  </a:t>
            </a:r>
            <a:r>
              <a:rPr dirty="0" sz="1150" spc="-40">
                <a:latin typeface="Arial"/>
                <a:cs typeface="Arial"/>
              </a:rPr>
              <a:t>results, </a:t>
            </a:r>
            <a:r>
              <a:rPr dirty="0" sz="1150" spc="-20">
                <a:latin typeface="Arial"/>
                <a:cs typeface="Arial"/>
              </a:rPr>
              <a:t>either </a:t>
            </a:r>
            <a:r>
              <a:rPr dirty="0" sz="1150" spc="-45">
                <a:latin typeface="Arial"/>
                <a:cs typeface="Arial"/>
              </a:rPr>
              <a:t>visually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25">
                <a:latin typeface="Arial"/>
                <a:cs typeface="Arial"/>
              </a:rPr>
              <a:t>in </a:t>
            </a:r>
            <a:r>
              <a:rPr dirty="0" sz="1150" spc="-20">
                <a:latin typeface="Arial"/>
                <a:cs typeface="Arial"/>
              </a:rPr>
              <a:t>printed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form.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3" y="892559"/>
            <a:ext cx="2897505" cy="5886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5"/>
              </a:spcBef>
            </a:pPr>
            <a:r>
              <a:rPr dirty="0" sz="1350" spc="-55" b="1">
                <a:latin typeface="Arial"/>
                <a:cs typeface="Arial"/>
              </a:rPr>
              <a:t>b.</a:t>
            </a:r>
            <a:r>
              <a:rPr dirty="0" sz="1350" spc="5" b="1">
                <a:latin typeface="Arial"/>
                <a:cs typeface="Arial"/>
              </a:rPr>
              <a:t> </a:t>
            </a:r>
            <a:r>
              <a:rPr dirty="0" sz="1350" spc="-80" b="1">
                <a:latin typeface="Arial"/>
                <a:cs typeface="Arial"/>
              </a:rPr>
              <a:t>Software: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70">
                <a:latin typeface="Arial"/>
                <a:cs typeface="Arial"/>
              </a:rPr>
              <a:t>Programs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instruct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computer </a:t>
            </a:r>
            <a:r>
              <a:rPr dirty="0" sz="1150" spc="-20">
                <a:latin typeface="Arial"/>
                <a:cs typeface="Arial"/>
              </a:rPr>
              <a:t>in what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do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189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36152" y="2349503"/>
            <a:ext cx="1631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69670" y="1636271"/>
            <a:ext cx="4473575" cy="109283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44805" marR="5080" indent="-299085">
              <a:lnSpc>
                <a:spcPct val="101699"/>
              </a:lnSpc>
              <a:spcBef>
                <a:spcPts val="75"/>
              </a:spcBef>
              <a:buFont typeface="Arial"/>
              <a:buAutoNum type="romanLcPeriod"/>
              <a:tabLst>
                <a:tab pos="344805" algn="l"/>
                <a:tab pos="345440" algn="l"/>
              </a:tabLst>
            </a:pPr>
            <a:r>
              <a:rPr dirty="0" sz="1150" spc="-110" b="1">
                <a:latin typeface="Arial"/>
                <a:cs typeface="Arial"/>
              </a:rPr>
              <a:t>System </a:t>
            </a:r>
            <a:r>
              <a:rPr dirty="0" sz="1150" spc="-75" b="1">
                <a:latin typeface="Arial"/>
                <a:cs typeface="Arial"/>
              </a:rPr>
              <a:t>program</a:t>
            </a:r>
            <a:r>
              <a:rPr dirty="0" sz="1150" spc="-75">
                <a:latin typeface="Arial"/>
                <a:cs typeface="Arial"/>
              </a:rPr>
              <a:t>: </a:t>
            </a:r>
            <a:r>
              <a:rPr dirty="0" sz="1150" spc="-45">
                <a:latin typeface="Arial"/>
                <a:cs typeface="Arial"/>
              </a:rPr>
              <a:t>Software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0">
                <a:latin typeface="Arial"/>
                <a:cs typeface="Arial"/>
              </a:rPr>
              <a:t>tells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computer </a:t>
            </a:r>
            <a:r>
              <a:rPr dirty="0" sz="1150" spc="-20">
                <a:latin typeface="Arial"/>
                <a:cs typeface="Arial"/>
              </a:rPr>
              <a:t>what </a:t>
            </a:r>
            <a:r>
              <a:rPr dirty="0" sz="1150" spc="-60">
                <a:latin typeface="Arial"/>
                <a:cs typeface="Arial"/>
              </a:rPr>
              <a:t>resources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how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85">
                <a:latin typeface="Arial"/>
                <a:cs typeface="Arial"/>
              </a:rPr>
              <a:t>use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them.</a:t>
            </a:r>
            <a:endParaRPr sz="1150">
              <a:latin typeface="Arial"/>
              <a:cs typeface="Arial"/>
            </a:endParaRPr>
          </a:p>
          <a:p>
            <a:pPr marL="344805" marR="5715" indent="-332740">
              <a:lnSpc>
                <a:spcPct val="101699"/>
              </a:lnSpc>
              <a:spcBef>
                <a:spcPts val="5"/>
              </a:spcBef>
              <a:buFont typeface="Arial"/>
              <a:buAutoNum type="romanLcPeriod"/>
              <a:tabLst>
                <a:tab pos="344805" algn="l"/>
                <a:tab pos="345440" algn="l"/>
              </a:tabLst>
            </a:pPr>
            <a:r>
              <a:rPr dirty="0" sz="1150" spc="-75" b="1">
                <a:latin typeface="Arial"/>
                <a:cs typeface="Arial"/>
              </a:rPr>
              <a:t>Application program</a:t>
            </a:r>
            <a:r>
              <a:rPr dirty="0" sz="1150" spc="-75">
                <a:latin typeface="Arial"/>
                <a:cs typeface="Arial"/>
              </a:rPr>
              <a:t>: </a:t>
            </a:r>
            <a:r>
              <a:rPr dirty="0" sz="1150" spc="-45">
                <a:latin typeface="Arial"/>
                <a:cs typeface="Arial"/>
              </a:rPr>
              <a:t>Software </a:t>
            </a:r>
            <a:r>
              <a:rPr dirty="0" sz="1150" spc="-65">
                <a:latin typeface="Arial"/>
                <a:cs typeface="Arial"/>
              </a:rPr>
              <a:t>(such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35">
                <a:latin typeface="Arial"/>
                <a:cs typeface="Arial"/>
              </a:rPr>
              <a:t>Word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45">
                <a:latin typeface="Arial"/>
                <a:cs typeface="Arial"/>
              </a:rPr>
              <a:t>Windows) </a:t>
            </a:r>
            <a:r>
              <a:rPr dirty="0" sz="1150" spc="-5">
                <a:latin typeface="Arial"/>
                <a:cs typeface="Arial"/>
              </a:rPr>
              <a:t>that  </a:t>
            </a:r>
            <a:r>
              <a:rPr dirty="0" sz="1150" spc="-75">
                <a:latin typeface="Arial"/>
                <a:cs typeface="Arial"/>
              </a:rPr>
              <a:t>processes </a:t>
            </a:r>
            <a:r>
              <a:rPr dirty="0" sz="1150" spc="-40">
                <a:latin typeface="Arial"/>
                <a:cs typeface="Arial"/>
              </a:rPr>
              <a:t>data </a:t>
            </a:r>
            <a:r>
              <a:rPr dirty="0" sz="1150" spc="-55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user’s </a:t>
            </a:r>
            <a:r>
              <a:rPr dirty="0" sz="1150" spc="-60">
                <a:latin typeface="Arial"/>
                <a:cs typeface="Arial"/>
              </a:rPr>
              <a:t>special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needs</a:t>
            </a:r>
            <a:endParaRPr sz="1150">
              <a:latin typeface="Arial"/>
              <a:cs typeface="Arial"/>
            </a:endParaRPr>
          </a:p>
          <a:p>
            <a:pPr marL="344805" marR="5080">
              <a:lnSpc>
                <a:spcPct val="101699"/>
              </a:lnSpc>
            </a:pPr>
            <a:r>
              <a:rPr dirty="0" sz="1150" spc="-85" b="1">
                <a:latin typeface="Arial"/>
                <a:cs typeface="Arial"/>
              </a:rPr>
              <a:t>Graphical </a:t>
            </a:r>
            <a:r>
              <a:rPr dirty="0" sz="1150" spc="-95" b="1">
                <a:latin typeface="Arial"/>
                <a:cs typeface="Arial"/>
              </a:rPr>
              <a:t>User </a:t>
            </a:r>
            <a:r>
              <a:rPr dirty="0" sz="1150" spc="-55" b="1">
                <a:latin typeface="Arial"/>
                <a:cs typeface="Arial"/>
              </a:rPr>
              <a:t>Interface</a:t>
            </a:r>
            <a:r>
              <a:rPr dirty="0" sz="1150" spc="-55">
                <a:latin typeface="Arial"/>
                <a:cs typeface="Arial"/>
              </a:rPr>
              <a:t>: </a:t>
            </a:r>
            <a:r>
              <a:rPr dirty="0" sz="1150" spc="-45">
                <a:latin typeface="Arial"/>
                <a:cs typeface="Arial"/>
              </a:rPr>
              <a:t>Software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5">
                <a:latin typeface="Arial"/>
                <a:cs typeface="Arial"/>
              </a:rPr>
              <a:t>provides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visual display </a:t>
            </a:r>
            <a:r>
              <a:rPr dirty="0" sz="1150" spc="10">
                <a:latin typeface="Arial"/>
                <a:cs typeface="Arial"/>
              </a:rPr>
              <a:t>to  </a:t>
            </a:r>
            <a:r>
              <a:rPr dirty="0" sz="1150" spc="-35">
                <a:latin typeface="Arial"/>
                <a:cs typeface="Arial"/>
              </a:rPr>
              <a:t>help </a:t>
            </a:r>
            <a:r>
              <a:rPr dirty="0" sz="1150" spc="-70">
                <a:latin typeface="Arial"/>
                <a:cs typeface="Arial"/>
              </a:rPr>
              <a:t>users </a:t>
            </a:r>
            <a:r>
              <a:rPr dirty="0" sz="1150" spc="-50">
                <a:latin typeface="Arial"/>
                <a:cs typeface="Arial"/>
              </a:rPr>
              <a:t>select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applications.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0308" y="2881379"/>
            <a:ext cx="5514340" cy="47961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dirty="0" sz="1350" spc="-105" b="1">
                <a:latin typeface="Arial"/>
                <a:cs typeface="Arial"/>
              </a:rPr>
              <a:t>c.</a:t>
            </a:r>
            <a:r>
              <a:rPr dirty="0" sz="1350" spc="-70" b="1">
                <a:latin typeface="Arial"/>
                <a:cs typeface="Arial"/>
              </a:rPr>
              <a:t> </a:t>
            </a:r>
            <a:r>
              <a:rPr dirty="0" sz="1350" spc="-90" b="1">
                <a:latin typeface="Arial"/>
                <a:cs typeface="Arial"/>
              </a:rPr>
              <a:t>Control: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12700" marR="698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Ensures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operating </a:t>
            </a:r>
            <a:r>
              <a:rPr dirty="0" sz="1150" spc="-55">
                <a:latin typeface="Arial"/>
                <a:cs typeface="Arial"/>
              </a:rPr>
              <a:t>according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0">
                <a:latin typeface="Arial"/>
                <a:cs typeface="Arial"/>
              </a:rPr>
              <a:t>specific procedures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">
                <a:latin typeface="Arial"/>
                <a:cs typeface="Arial"/>
              </a:rPr>
              <a:t>within </a:t>
            </a:r>
            <a:r>
              <a:rPr dirty="0" sz="1150" spc="-50">
                <a:latin typeface="Arial"/>
                <a:cs typeface="Arial"/>
              </a:rPr>
              <a:t>specific  guidelines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384300" indent="-304165">
              <a:lnSpc>
                <a:spcPct val="100000"/>
              </a:lnSpc>
              <a:buAutoNum type="romanLcPeriod"/>
              <a:tabLst>
                <a:tab pos="1384935" algn="l"/>
              </a:tabLst>
            </a:pPr>
            <a:r>
              <a:rPr dirty="0" sz="1150" spc="-95" b="1">
                <a:latin typeface="Arial"/>
                <a:cs typeface="Arial"/>
              </a:rPr>
              <a:t>Problems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00" b="1">
                <a:latin typeface="Arial"/>
                <a:cs typeface="Arial"/>
              </a:rPr>
              <a:t>Privacy </a:t>
            </a:r>
            <a:r>
              <a:rPr dirty="0" sz="1150" spc="-85" b="1">
                <a:latin typeface="Arial"/>
                <a:cs typeface="Arial"/>
              </a:rPr>
              <a:t>and</a:t>
            </a:r>
            <a:r>
              <a:rPr dirty="0" sz="1150" spc="-30" b="1">
                <a:latin typeface="Arial"/>
                <a:cs typeface="Arial"/>
              </a:rPr>
              <a:t> </a:t>
            </a:r>
            <a:r>
              <a:rPr dirty="0" sz="1150" spc="-90" b="1">
                <a:latin typeface="Arial"/>
                <a:cs typeface="Arial"/>
              </a:rPr>
              <a:t>Security</a:t>
            </a:r>
            <a:endParaRPr sz="1150">
              <a:latin typeface="Arial"/>
              <a:cs typeface="Arial"/>
            </a:endParaRPr>
          </a:p>
          <a:p>
            <a:pPr algn="just" lvl="1" marL="1841500" marR="5080" indent="-228600">
              <a:lnSpc>
                <a:spcPct val="101699"/>
              </a:lnSpc>
              <a:buFont typeface="Arial"/>
              <a:buAutoNum type="arabicPeriod"/>
              <a:tabLst>
                <a:tab pos="1842135" algn="l"/>
              </a:tabLst>
            </a:pPr>
            <a:r>
              <a:rPr dirty="0" sz="1150" spc="-100" b="1">
                <a:latin typeface="Arial"/>
                <a:cs typeface="Arial"/>
              </a:rPr>
              <a:t>Privacy </a:t>
            </a:r>
            <a:r>
              <a:rPr dirty="0" sz="1150" spc="-50">
                <a:latin typeface="Arial"/>
                <a:cs typeface="Arial"/>
              </a:rPr>
              <a:t>invasion </a:t>
            </a:r>
            <a:r>
              <a:rPr dirty="0" sz="1150" spc="-60">
                <a:latin typeface="Arial"/>
                <a:cs typeface="Arial"/>
              </a:rPr>
              <a:t>occurs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25">
                <a:latin typeface="Arial"/>
                <a:cs typeface="Arial"/>
              </a:rPr>
              <a:t>intruders </a:t>
            </a:r>
            <a:r>
              <a:rPr dirty="0" sz="1150" spc="-60">
                <a:latin typeface="Arial"/>
                <a:cs typeface="Arial"/>
              </a:rPr>
              <a:t>(hackers) gain  </a:t>
            </a:r>
            <a:r>
              <a:rPr dirty="0" sz="1150" spc="-40">
                <a:latin typeface="Arial"/>
                <a:cs typeface="Arial"/>
              </a:rPr>
              <a:t>unauthorized </a:t>
            </a:r>
            <a:r>
              <a:rPr dirty="0" sz="1150" spc="-90">
                <a:latin typeface="Arial"/>
                <a:cs typeface="Arial"/>
              </a:rPr>
              <a:t>access, </a:t>
            </a:r>
            <a:r>
              <a:rPr dirty="0" sz="1150" spc="-20">
                <a:latin typeface="Arial"/>
                <a:cs typeface="Arial"/>
              </a:rPr>
              <a:t>either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steal </a:t>
            </a:r>
            <a:r>
              <a:rPr dirty="0" sz="1150" spc="-20">
                <a:latin typeface="Arial"/>
                <a:cs typeface="Arial"/>
              </a:rPr>
              <a:t>information, </a:t>
            </a:r>
            <a:r>
              <a:rPr dirty="0" sz="1150" spc="-45">
                <a:latin typeface="Arial"/>
                <a:cs typeface="Arial"/>
              </a:rPr>
              <a:t>money, </a:t>
            </a:r>
            <a:r>
              <a:rPr dirty="0" sz="1150" spc="-10">
                <a:latin typeface="Arial"/>
                <a:cs typeface="Arial"/>
              </a:rPr>
              <a:t>or  </a:t>
            </a:r>
            <a:r>
              <a:rPr dirty="0" sz="1150" spc="-20">
                <a:latin typeface="Arial"/>
                <a:cs typeface="Arial"/>
              </a:rPr>
              <a:t>property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tamper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with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data.</a:t>
            </a:r>
            <a:endParaRPr sz="1150">
              <a:latin typeface="Arial"/>
              <a:cs typeface="Arial"/>
            </a:endParaRPr>
          </a:p>
          <a:p>
            <a:pPr algn="just" lvl="1" marL="1841500" marR="5715" indent="-228600">
              <a:lnSpc>
                <a:spcPct val="101699"/>
              </a:lnSpc>
              <a:buFont typeface="Arial"/>
              <a:buAutoNum type="arabicPeriod"/>
              <a:tabLst>
                <a:tab pos="1842135" algn="l"/>
              </a:tabLst>
            </a:pPr>
            <a:r>
              <a:rPr dirty="0" sz="1150" spc="-90" b="1">
                <a:latin typeface="Arial"/>
                <a:cs typeface="Arial"/>
              </a:rPr>
              <a:t>Security </a:t>
            </a:r>
            <a:r>
              <a:rPr dirty="0" sz="1150" spc="-70">
                <a:latin typeface="Arial"/>
                <a:cs typeface="Arial"/>
              </a:rPr>
              <a:t>measures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15">
                <a:latin typeface="Arial"/>
                <a:cs typeface="Arial"/>
              </a:rPr>
              <a:t>protection </a:t>
            </a:r>
            <a:r>
              <a:rPr dirty="0" sz="1150" spc="-55">
                <a:latin typeface="Arial"/>
                <a:cs typeface="Arial"/>
              </a:rPr>
              <a:t>against </a:t>
            </a:r>
            <a:r>
              <a:rPr dirty="0" sz="1150" spc="-20">
                <a:latin typeface="Arial"/>
                <a:cs typeface="Arial"/>
              </a:rPr>
              <a:t>intrusion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35">
                <a:latin typeface="Arial"/>
                <a:cs typeface="Arial"/>
              </a:rPr>
              <a:t>constant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challenge.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50" b="1">
                <a:latin typeface="Arial"/>
                <a:cs typeface="Arial"/>
              </a:rPr>
              <a:t>ACCOUNTING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469900" marR="7620" indent="-228600">
              <a:lnSpc>
                <a:spcPct val="100899"/>
              </a:lnSpc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recording, </a:t>
            </a:r>
            <a:r>
              <a:rPr dirty="0" sz="1150" spc="-55">
                <a:latin typeface="Arial"/>
                <a:cs typeface="Arial"/>
              </a:rPr>
              <a:t>classifying, </a:t>
            </a:r>
            <a:r>
              <a:rPr dirty="0" sz="1150" spc="-60">
                <a:latin typeface="Arial"/>
                <a:cs typeface="Arial"/>
              </a:rPr>
              <a:t>analyzing, </a:t>
            </a:r>
            <a:r>
              <a:rPr dirty="0" sz="1150" spc="-55">
                <a:latin typeface="Arial"/>
                <a:cs typeface="Arial"/>
              </a:rPr>
              <a:t>summarizing and </a:t>
            </a:r>
            <a:r>
              <a:rPr dirty="0" sz="1150" spc="-25">
                <a:latin typeface="Arial"/>
                <a:cs typeface="Arial"/>
              </a:rPr>
              <a:t>reporting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terms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money.</a:t>
            </a:r>
            <a:endParaRPr sz="1150">
              <a:latin typeface="Arial"/>
              <a:cs typeface="Arial"/>
            </a:endParaRPr>
          </a:p>
          <a:p>
            <a:pPr marL="469900" marR="6350" indent="-228600">
              <a:lnSpc>
                <a:spcPct val="101699"/>
              </a:lnSpc>
              <a:spcBef>
                <a:spcPts val="75"/>
              </a:spcBef>
              <a:buFont typeface="Symbol"/>
              <a:buChar char=""/>
              <a:tabLst>
                <a:tab pos="469265" algn="l"/>
                <a:tab pos="470534" algn="l"/>
              </a:tabLst>
            </a:pPr>
            <a:r>
              <a:rPr dirty="0" sz="1150" spc="-70">
                <a:latin typeface="Arial"/>
                <a:cs typeface="Arial"/>
              </a:rPr>
              <a:t>Economic </a:t>
            </a:r>
            <a:r>
              <a:rPr dirty="0" sz="1150" spc="-20">
                <a:latin typeface="Arial"/>
                <a:cs typeface="Arial"/>
              </a:rPr>
              <a:t>Information: </a:t>
            </a:r>
            <a:r>
              <a:rPr dirty="0" sz="1150" spc="-80">
                <a:latin typeface="Arial"/>
                <a:cs typeface="Arial"/>
              </a:rPr>
              <a:t>Every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35">
                <a:latin typeface="Arial"/>
                <a:cs typeface="Arial"/>
              </a:rPr>
              <a:t>where monetary  </a:t>
            </a:r>
            <a:r>
              <a:rPr dirty="0" sz="1150" spc="-75">
                <a:latin typeface="Arial"/>
                <a:cs typeface="Arial"/>
              </a:rPr>
              <a:t>exchange </a:t>
            </a:r>
            <a:r>
              <a:rPr dirty="0" sz="1150" spc="-60">
                <a:latin typeface="Arial"/>
                <a:cs typeface="Arial"/>
              </a:rPr>
              <a:t>takes</a:t>
            </a:r>
            <a:r>
              <a:rPr dirty="0" sz="1150" spc="-4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place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90" b="1">
                <a:latin typeface="Arial"/>
                <a:cs typeface="Arial"/>
              </a:rPr>
              <a:t>General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14" b="1">
                <a:latin typeface="Arial"/>
                <a:cs typeface="Arial"/>
              </a:rPr>
              <a:t>Journal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45">
                <a:latin typeface="Arial"/>
                <a:cs typeface="Arial"/>
              </a:rPr>
              <a:t>book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general </a:t>
            </a:r>
            <a:r>
              <a:rPr dirty="0" sz="1150" spc="-30">
                <a:latin typeface="Arial"/>
                <a:cs typeface="Arial"/>
              </a:rPr>
              <a:t>nature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recorded.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25" b="1">
                <a:latin typeface="Arial"/>
                <a:cs typeface="Arial"/>
              </a:rPr>
              <a:t>Ledger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15">
                <a:latin typeface="Arial"/>
                <a:cs typeface="Arial"/>
              </a:rPr>
              <a:t>It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book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which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all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economic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information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is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recorded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category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wise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heading </a:t>
            </a:r>
            <a:r>
              <a:rPr dirty="0" sz="1150" spc="-45">
                <a:latin typeface="Arial"/>
                <a:cs typeface="Arial"/>
              </a:rPr>
              <a:t>wise.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239518" y="891035"/>
            <a:ext cx="3402329" cy="563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43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750" spc="-190" b="1">
                <a:latin typeface="Arial"/>
                <a:cs typeface="Arial"/>
              </a:rPr>
              <a:t>ACCOUNTING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190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273" y="1776479"/>
            <a:ext cx="5514340" cy="6545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0" b="1">
                <a:latin typeface="Arial"/>
                <a:cs typeface="Arial"/>
              </a:rPr>
              <a:t>Accounting </a:t>
            </a:r>
            <a:r>
              <a:rPr dirty="0" sz="1150" spc="-80" b="1">
                <a:latin typeface="Arial"/>
                <a:cs typeface="Arial"/>
              </a:rPr>
              <a:t>Period: </a:t>
            </a:r>
            <a:r>
              <a:rPr dirty="0" sz="1150" spc="-65">
                <a:latin typeface="Arial"/>
                <a:cs typeface="Arial"/>
              </a:rPr>
              <a:t>Time </a:t>
            </a:r>
            <a:r>
              <a:rPr dirty="0" sz="1150" spc="-75">
                <a:latin typeface="Arial"/>
                <a:cs typeface="Arial"/>
              </a:rPr>
              <a:t>span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0">
                <a:latin typeface="Arial"/>
                <a:cs typeface="Arial"/>
              </a:rPr>
              <a:t>accounts </a:t>
            </a:r>
            <a:r>
              <a:rPr dirty="0" sz="1150" spc="-55">
                <a:latin typeface="Arial"/>
                <a:cs typeface="Arial"/>
              </a:rPr>
              <a:t>are</a:t>
            </a:r>
            <a:r>
              <a:rPr dirty="0" sz="1150" spc="-3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terminated.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95" b="1">
                <a:latin typeface="Arial"/>
                <a:cs typeface="Arial"/>
              </a:rPr>
              <a:t>Summarizing: </a:t>
            </a:r>
            <a:r>
              <a:rPr dirty="0" sz="1150" spc="-70">
                <a:latin typeface="Arial"/>
                <a:cs typeface="Arial"/>
              </a:rPr>
              <a:t>Summary </a:t>
            </a:r>
            <a:r>
              <a:rPr dirty="0" sz="1150" spc="-1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60">
                <a:latin typeface="Arial"/>
                <a:cs typeface="Arial"/>
              </a:rPr>
              <a:t>revenues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95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expenses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80" b="1">
                <a:latin typeface="Arial"/>
                <a:cs typeface="Arial"/>
              </a:rPr>
              <a:t>Income </a:t>
            </a:r>
            <a:r>
              <a:rPr dirty="0" sz="1150" spc="-65" b="1">
                <a:latin typeface="Arial"/>
                <a:cs typeface="Arial"/>
              </a:rPr>
              <a:t>Statement: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statement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70">
                <a:latin typeface="Arial"/>
                <a:cs typeface="Arial"/>
              </a:rPr>
              <a:t>shows </a:t>
            </a:r>
            <a:r>
              <a:rPr dirty="0" sz="1150" spc="-25">
                <a:latin typeface="Arial"/>
                <a:cs typeface="Arial"/>
              </a:rPr>
              <a:t>the position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revenues and </a:t>
            </a:r>
            <a:r>
              <a:rPr dirty="0" sz="1150" spc="-80">
                <a:latin typeface="Arial"/>
                <a:cs typeface="Arial"/>
              </a:rPr>
              <a:t>expenses </a:t>
            </a:r>
            <a:r>
              <a:rPr dirty="0" sz="1150" spc="-10">
                <a:latin typeface="Arial"/>
                <a:cs typeface="Arial"/>
              </a:rPr>
              <a:t>or  </a:t>
            </a:r>
            <a:r>
              <a:rPr dirty="0" sz="1150" spc="5">
                <a:latin typeface="Arial"/>
                <a:cs typeface="Arial"/>
              </a:rPr>
              <a:t>profit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loss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60" b="1">
                <a:latin typeface="Arial"/>
                <a:cs typeface="Arial"/>
              </a:rPr>
              <a:t>Profit: </a:t>
            </a:r>
            <a:r>
              <a:rPr dirty="0" sz="1150" spc="-120">
                <a:latin typeface="Arial"/>
                <a:cs typeface="Arial"/>
              </a:rPr>
              <a:t>Excess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revenues </a:t>
            </a:r>
            <a:r>
              <a:rPr dirty="0" sz="1150" spc="-35">
                <a:latin typeface="Arial"/>
                <a:cs typeface="Arial"/>
              </a:rPr>
              <a:t>over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expenditures.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150" b="1">
                <a:latin typeface="Arial"/>
                <a:cs typeface="Arial"/>
              </a:rPr>
              <a:t>Loss: </a:t>
            </a:r>
            <a:r>
              <a:rPr dirty="0" sz="1150" spc="-120">
                <a:latin typeface="Arial"/>
                <a:cs typeface="Arial"/>
              </a:rPr>
              <a:t>Excess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expenditures </a:t>
            </a:r>
            <a:r>
              <a:rPr dirty="0" sz="1150" spc="-35">
                <a:latin typeface="Arial"/>
                <a:cs typeface="Arial"/>
              </a:rPr>
              <a:t>over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revenues.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150" spc="-95" b="1">
                <a:latin typeface="Arial"/>
                <a:cs typeface="Arial"/>
              </a:rPr>
              <a:t>Bookkeeping: </a:t>
            </a:r>
            <a:r>
              <a:rPr dirty="0" sz="1150" spc="-65">
                <a:latin typeface="Arial"/>
                <a:cs typeface="Arial"/>
              </a:rPr>
              <a:t>Recording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accounting </a:t>
            </a:r>
            <a:r>
              <a:rPr dirty="0" sz="1150" spc="-40">
                <a:latin typeface="Arial"/>
                <a:cs typeface="Arial"/>
              </a:rPr>
              <a:t>transactions.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just </a:t>
            </a:r>
            <a:r>
              <a:rPr dirty="0" sz="1150" spc="-45">
                <a:latin typeface="Arial"/>
                <a:cs typeface="Arial"/>
              </a:rPr>
              <a:t>one </a:t>
            </a:r>
            <a:r>
              <a:rPr dirty="0" sz="1150" spc="-75">
                <a:latin typeface="Arial"/>
                <a:cs typeface="Arial"/>
              </a:rPr>
              <a:t>phase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accounting.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20" b="1">
                <a:latin typeface="Arial"/>
                <a:cs typeface="Arial"/>
              </a:rPr>
              <a:t>Accounting </a:t>
            </a:r>
            <a:r>
              <a:rPr dirty="0" sz="1350" spc="-160" b="1">
                <a:latin typeface="Arial"/>
                <a:cs typeface="Arial"/>
              </a:rPr>
              <a:t>Vs </a:t>
            </a:r>
            <a:r>
              <a:rPr dirty="0" sz="1350" spc="-135" b="1">
                <a:latin typeface="Arial"/>
                <a:cs typeface="Arial"/>
              </a:rPr>
              <a:t>Book</a:t>
            </a:r>
            <a:r>
              <a:rPr dirty="0" sz="1350" spc="-165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Keeping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Wingdings"/>
              <a:buChar char=""/>
              <a:tabLst>
                <a:tab pos="470534" algn="l"/>
              </a:tabLst>
            </a:pPr>
            <a:r>
              <a:rPr dirty="0" sz="1150" spc="-65">
                <a:latin typeface="Arial"/>
                <a:cs typeface="Arial"/>
              </a:rPr>
              <a:t>Recording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60">
                <a:latin typeface="Arial"/>
                <a:cs typeface="Arial"/>
              </a:rPr>
              <a:t>books </a:t>
            </a:r>
            <a:r>
              <a:rPr dirty="0" sz="1150" spc="-70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called </a:t>
            </a:r>
            <a:r>
              <a:rPr dirty="0" sz="1150" spc="-40">
                <a:latin typeface="Arial"/>
                <a:cs typeface="Arial"/>
              </a:rPr>
              <a:t>book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keeping.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470534" algn="l"/>
              </a:tabLst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draw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picture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5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called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accounting.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150" b="1">
                <a:latin typeface="Arial"/>
                <a:cs typeface="Arial"/>
              </a:rPr>
              <a:t>ACCOUNTING </a:t>
            </a:r>
            <a:r>
              <a:rPr dirty="0" sz="1350" spc="-110" b="1">
                <a:latin typeface="Arial"/>
                <a:cs typeface="Arial"/>
              </a:rPr>
              <a:t>INFORMATION </a:t>
            </a:r>
            <a:r>
              <a:rPr dirty="0" sz="1350" spc="-180" b="1">
                <a:latin typeface="Arial"/>
                <a:cs typeface="Arial"/>
              </a:rPr>
              <a:t>SYSTEM</a:t>
            </a:r>
            <a:r>
              <a:rPr dirty="0" sz="1350" spc="-170" b="1">
                <a:latin typeface="Arial"/>
                <a:cs typeface="Arial"/>
              </a:rPr>
              <a:t> </a:t>
            </a:r>
            <a:r>
              <a:rPr dirty="0" sz="1350" spc="-105" b="1">
                <a:latin typeface="Arial"/>
                <a:cs typeface="Arial"/>
              </a:rPr>
              <a:t>(AIS)</a:t>
            </a:r>
            <a:endParaRPr sz="1350">
              <a:latin typeface="Arial"/>
              <a:cs typeface="Arial"/>
            </a:endParaRPr>
          </a:p>
          <a:p>
            <a:pPr algn="just" marL="12700" marR="7620">
              <a:lnSpc>
                <a:spcPts val="1400"/>
              </a:lnSpc>
              <a:spcBef>
                <a:spcPts val="50"/>
              </a:spcBef>
            </a:pPr>
            <a:r>
              <a:rPr dirty="0" sz="1150" spc="-65">
                <a:latin typeface="Arial"/>
                <a:cs typeface="Arial"/>
              </a:rPr>
              <a:t>Organized </a:t>
            </a:r>
            <a:r>
              <a:rPr dirty="0" sz="1150" spc="-75">
                <a:latin typeface="Arial"/>
                <a:cs typeface="Arial"/>
              </a:rPr>
              <a:t>means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0">
                <a:latin typeface="Arial"/>
                <a:cs typeface="Arial"/>
              </a:rPr>
              <a:t>which </a:t>
            </a:r>
            <a:r>
              <a:rPr dirty="0" sz="1150" spc="-35">
                <a:latin typeface="Arial"/>
                <a:cs typeface="Arial"/>
              </a:rPr>
              <a:t>financial </a:t>
            </a:r>
            <a:r>
              <a:rPr dirty="0" sz="1150" spc="-15">
                <a:latin typeface="Arial"/>
                <a:cs typeface="Arial"/>
              </a:rPr>
              <a:t>information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20">
                <a:latin typeface="Arial"/>
                <a:cs typeface="Arial"/>
              </a:rPr>
              <a:t>identified, </a:t>
            </a:r>
            <a:r>
              <a:rPr dirty="0" sz="1150" spc="-55">
                <a:latin typeface="Arial"/>
                <a:cs typeface="Arial"/>
              </a:rPr>
              <a:t>measured, </a:t>
            </a:r>
            <a:r>
              <a:rPr dirty="0" sz="1150" spc="-40">
                <a:latin typeface="Arial"/>
                <a:cs typeface="Arial"/>
              </a:rPr>
              <a:t>recorded,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30">
                <a:latin typeface="Arial"/>
                <a:cs typeface="Arial"/>
              </a:rPr>
              <a:t>retained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accounting </a:t>
            </a:r>
            <a:r>
              <a:rPr dirty="0" sz="1150" spc="-40">
                <a:latin typeface="Arial"/>
                <a:cs typeface="Arial"/>
              </a:rPr>
              <a:t>statements </a:t>
            </a:r>
            <a:r>
              <a:rPr dirty="0" sz="1150" spc="-55">
                <a:latin typeface="Arial"/>
                <a:cs typeface="Arial"/>
              </a:rPr>
              <a:t>and management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reports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30" b="1">
                <a:latin typeface="Arial"/>
                <a:cs typeface="Arial"/>
              </a:rPr>
              <a:t>Types </a:t>
            </a:r>
            <a:r>
              <a:rPr dirty="0" sz="1350" spc="-65" b="1">
                <a:latin typeface="Arial"/>
                <a:cs typeface="Arial"/>
              </a:rPr>
              <a:t>of</a:t>
            </a:r>
            <a:r>
              <a:rPr dirty="0" sz="1350" spc="-15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Accounting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Font typeface="Wingdings"/>
              <a:buChar char=""/>
              <a:tabLst>
                <a:tab pos="470534" algn="l"/>
              </a:tabLst>
            </a:pPr>
            <a:r>
              <a:rPr dirty="0" sz="1150" spc="-85" b="1">
                <a:latin typeface="Arial"/>
                <a:cs typeface="Arial"/>
              </a:rPr>
              <a:t>Financial </a:t>
            </a:r>
            <a:r>
              <a:rPr dirty="0" sz="1150" spc="-100" b="1">
                <a:latin typeface="Arial"/>
                <a:cs typeface="Arial"/>
              </a:rPr>
              <a:t>Accounting: </a:t>
            </a:r>
            <a:r>
              <a:rPr dirty="0" sz="1150" spc="-60">
                <a:latin typeface="Arial"/>
                <a:cs typeface="Arial"/>
              </a:rPr>
              <a:t>Financial </a:t>
            </a:r>
            <a:r>
              <a:rPr dirty="0" sz="1150" spc="-50">
                <a:latin typeface="Arial"/>
                <a:cs typeface="Arial"/>
              </a:rPr>
              <a:t>accounting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35">
                <a:latin typeface="Arial"/>
                <a:cs typeface="Arial"/>
              </a:rPr>
              <a:t>external</a:t>
            </a:r>
            <a:r>
              <a:rPr dirty="0" sz="1150" spc="1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users.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"/>
            </a:pP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5"/>
              </a:spcBef>
              <a:buFont typeface="Wingdings"/>
              <a:buChar char=""/>
              <a:tabLst>
                <a:tab pos="470534" algn="l"/>
              </a:tabLst>
            </a:pPr>
            <a:r>
              <a:rPr dirty="0" sz="1150" spc="-60" b="1">
                <a:latin typeface="Arial"/>
                <a:cs typeface="Arial"/>
              </a:rPr>
              <a:t>Managerial </a:t>
            </a:r>
            <a:r>
              <a:rPr dirty="0" sz="1150" spc="-100" b="1">
                <a:latin typeface="Arial"/>
                <a:cs typeface="Arial"/>
              </a:rPr>
              <a:t>Accounting: </a:t>
            </a:r>
            <a:r>
              <a:rPr dirty="0" sz="1150" spc="-45">
                <a:latin typeface="Arial"/>
                <a:cs typeface="Arial"/>
              </a:rPr>
              <a:t>Managerial </a:t>
            </a:r>
            <a:r>
              <a:rPr dirty="0" sz="1150" spc="-50">
                <a:latin typeface="Arial"/>
                <a:cs typeface="Arial"/>
              </a:rPr>
              <a:t>accounting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20">
                <a:latin typeface="Arial"/>
                <a:cs typeface="Arial"/>
              </a:rPr>
              <a:t>internal</a:t>
            </a:r>
            <a:r>
              <a:rPr dirty="0" sz="1150" spc="-30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users.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14">
                <a:latin typeface="Arial"/>
                <a:cs typeface="Arial"/>
              </a:rPr>
              <a:t>AUDITING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35">
                <a:latin typeface="Arial"/>
                <a:cs typeface="Arial"/>
              </a:rPr>
              <a:t>Auditing </a:t>
            </a:r>
            <a:r>
              <a:rPr dirty="0" sz="1150" spc="-65">
                <a:latin typeface="Arial"/>
                <a:cs typeface="Arial"/>
              </a:rPr>
              <a:t>is an </a:t>
            </a:r>
            <a:r>
              <a:rPr dirty="0" sz="1150" spc="-40">
                <a:latin typeface="Arial"/>
                <a:cs typeface="Arial"/>
              </a:rPr>
              <a:t>examination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records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reports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35">
                <a:latin typeface="Arial"/>
                <a:cs typeface="Arial"/>
              </a:rPr>
              <a:t>enterprise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45">
                <a:latin typeface="Arial"/>
                <a:cs typeface="Arial"/>
              </a:rPr>
              <a:t>accounting  </a:t>
            </a:r>
            <a:r>
              <a:rPr dirty="0" sz="1150" spc="-55">
                <a:latin typeface="Arial"/>
                <a:cs typeface="Arial"/>
              </a:rPr>
              <a:t>specialists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0">
                <a:latin typeface="Arial"/>
                <a:cs typeface="Arial"/>
              </a:rPr>
              <a:t>than </a:t>
            </a:r>
            <a:r>
              <a:rPr dirty="0" sz="1150" spc="-40">
                <a:latin typeface="Arial"/>
                <a:cs typeface="Arial"/>
              </a:rPr>
              <a:t>those </a:t>
            </a:r>
            <a:r>
              <a:rPr dirty="0" sz="1150" spc="-50">
                <a:latin typeface="Arial"/>
                <a:cs typeface="Arial"/>
              </a:rPr>
              <a:t>responsible </a:t>
            </a:r>
            <a:r>
              <a:rPr dirty="0" sz="1150" spc="5">
                <a:latin typeface="Arial"/>
                <a:cs typeface="Arial"/>
              </a:rPr>
              <a:t>for 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30">
                <a:latin typeface="Arial"/>
                <a:cs typeface="Arial"/>
              </a:rPr>
              <a:t>preparation. </a:t>
            </a:r>
            <a:r>
              <a:rPr dirty="0" sz="1150" spc="-55">
                <a:latin typeface="Arial"/>
                <a:cs typeface="Arial"/>
              </a:rPr>
              <a:t>Public </a:t>
            </a:r>
            <a:r>
              <a:rPr dirty="0" sz="1150" spc="-35">
                <a:latin typeface="Arial"/>
                <a:cs typeface="Arial"/>
              </a:rPr>
              <a:t>auditing </a:t>
            </a:r>
            <a:r>
              <a:rPr dirty="0" sz="1150" spc="-50">
                <a:latin typeface="Arial"/>
                <a:cs typeface="Arial"/>
              </a:rPr>
              <a:t>by  </a:t>
            </a:r>
            <a:r>
              <a:rPr dirty="0" sz="1150" spc="-35">
                <a:latin typeface="Arial"/>
                <a:cs typeface="Arial"/>
              </a:rPr>
              <a:t>independent </a:t>
            </a:r>
            <a:r>
              <a:rPr dirty="0" sz="1150" spc="-50">
                <a:latin typeface="Arial"/>
                <a:cs typeface="Arial"/>
              </a:rPr>
              <a:t>accountants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common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large </a:t>
            </a:r>
            <a:r>
              <a:rPr dirty="0" sz="1150" spc="-25">
                <a:latin typeface="Arial"/>
                <a:cs typeface="Arial"/>
              </a:rPr>
              <a:t>firms.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20">
                <a:latin typeface="Arial"/>
                <a:cs typeface="Arial"/>
              </a:rPr>
              <a:t>auditor </a:t>
            </a:r>
            <a:r>
              <a:rPr dirty="0" sz="1150" spc="-35">
                <a:latin typeface="Arial"/>
                <a:cs typeface="Arial"/>
              </a:rPr>
              <a:t>performs </a:t>
            </a:r>
            <a:r>
              <a:rPr dirty="0" sz="1150" spc="-40">
                <a:latin typeface="Arial"/>
                <a:cs typeface="Arial"/>
              </a:rPr>
              <a:t>tests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determine  </a:t>
            </a:r>
            <a:r>
              <a:rPr dirty="0" sz="1150" spc="-25">
                <a:latin typeface="Arial"/>
                <a:cs typeface="Arial"/>
              </a:rPr>
              <a:t>whether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firm's </a:t>
            </a:r>
            <a:r>
              <a:rPr dirty="0" sz="1150" spc="-40">
                <a:latin typeface="Arial"/>
                <a:cs typeface="Arial"/>
              </a:rPr>
              <a:t>statements </a:t>
            </a:r>
            <a:r>
              <a:rPr dirty="0" sz="1150" spc="-35">
                <a:latin typeface="Arial"/>
                <a:cs typeface="Arial"/>
              </a:rPr>
              <a:t>were </a:t>
            </a:r>
            <a:r>
              <a:rPr dirty="0" sz="1150" spc="-40">
                <a:latin typeface="Arial"/>
                <a:cs typeface="Arial"/>
              </a:rPr>
              <a:t>prepared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60">
                <a:latin typeface="Arial"/>
                <a:cs typeface="Arial"/>
              </a:rPr>
              <a:t>accordance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55">
                <a:latin typeface="Arial"/>
                <a:cs typeface="Arial"/>
              </a:rPr>
              <a:t>acceptable </a:t>
            </a:r>
            <a:r>
              <a:rPr dirty="0" sz="1150" spc="-45">
                <a:latin typeface="Arial"/>
                <a:cs typeface="Arial"/>
              </a:rPr>
              <a:t>accounting  </a:t>
            </a:r>
            <a:r>
              <a:rPr dirty="0" sz="1150" spc="-40">
                <a:latin typeface="Arial"/>
                <a:cs typeface="Arial"/>
              </a:rPr>
              <a:t>principles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that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they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fairly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present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its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financial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position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operating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results.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4083"/>
            <a:ext cx="5513705" cy="71615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10" b="1">
                <a:latin typeface="Arial"/>
                <a:cs typeface="Arial"/>
              </a:rPr>
              <a:t>Accounting </a:t>
            </a:r>
            <a:r>
              <a:rPr dirty="0" sz="1250" spc="-125" b="1">
                <a:latin typeface="Arial"/>
                <a:cs typeface="Arial"/>
              </a:rPr>
              <a:t>versus</a:t>
            </a:r>
            <a:r>
              <a:rPr dirty="0" sz="1250" spc="-20" b="1">
                <a:latin typeface="Arial"/>
                <a:cs typeface="Arial"/>
              </a:rPr>
              <a:t> </a:t>
            </a:r>
            <a:r>
              <a:rPr dirty="0" sz="1250" spc="-85" b="1">
                <a:latin typeface="Arial"/>
                <a:cs typeface="Arial"/>
              </a:rPr>
              <a:t>Auditing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50">
              <a:latin typeface="Arial"/>
              <a:cs typeface="Arial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50">
                <a:latin typeface="Arial"/>
                <a:cs typeface="Arial"/>
              </a:rPr>
              <a:t>Accounting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concerned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40">
                <a:latin typeface="Arial"/>
                <a:cs typeface="Arial"/>
              </a:rPr>
              <a:t>recording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accounting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information.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50" spc="-35">
                <a:latin typeface="Arial"/>
                <a:cs typeface="Arial"/>
              </a:rPr>
              <a:t>Auditing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0">
                <a:latin typeface="Arial"/>
                <a:cs typeface="Arial"/>
              </a:rPr>
              <a:t>concerned </a:t>
            </a:r>
            <a:r>
              <a:rPr dirty="0" sz="1150">
                <a:latin typeface="Arial"/>
                <a:cs typeface="Arial"/>
              </a:rPr>
              <a:t>with </a:t>
            </a:r>
            <a:r>
              <a:rPr dirty="0" sz="1150" spc="-40">
                <a:latin typeface="Arial"/>
                <a:cs typeface="Arial"/>
              </a:rPr>
              <a:t>examination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0">
                <a:latin typeface="Arial"/>
                <a:cs typeface="Arial"/>
              </a:rPr>
              <a:t>accounting</a:t>
            </a:r>
            <a:r>
              <a:rPr dirty="0" sz="1150" spc="-13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information.</a:t>
            </a:r>
            <a:endParaRPr sz="1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1150" spc="-180" b="1">
                <a:latin typeface="Arial"/>
                <a:cs typeface="Arial"/>
              </a:rPr>
              <a:t>TYPES </a:t>
            </a:r>
            <a:r>
              <a:rPr dirty="0" sz="1150" spc="-150" b="1">
                <a:latin typeface="Arial"/>
                <a:cs typeface="Arial"/>
              </a:rPr>
              <a:t>OF</a:t>
            </a:r>
            <a:r>
              <a:rPr dirty="0" sz="1150" spc="-95" b="1">
                <a:latin typeface="Arial"/>
                <a:cs typeface="Arial"/>
              </a:rPr>
              <a:t> </a:t>
            </a:r>
            <a:r>
              <a:rPr dirty="0" sz="1150" spc="-130" b="1">
                <a:latin typeface="Arial"/>
                <a:cs typeface="Arial"/>
              </a:rPr>
              <a:t>AUDITORS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65">
                <a:latin typeface="Arial"/>
                <a:cs typeface="Arial"/>
              </a:rPr>
              <a:t>There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>
                <a:latin typeface="Arial"/>
                <a:cs typeface="Arial"/>
              </a:rPr>
              <a:t>two </a:t>
            </a:r>
            <a:r>
              <a:rPr dirty="0" sz="1150" spc="-50">
                <a:latin typeface="Arial"/>
                <a:cs typeface="Arial"/>
              </a:rPr>
              <a:t>types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auditors: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AutoNum type="alphaLcPeriod"/>
              <a:tabLst>
                <a:tab pos="470534" algn="l"/>
              </a:tabLst>
            </a:pPr>
            <a:r>
              <a:rPr dirty="0" sz="1150" spc="-50" b="1">
                <a:latin typeface="Arial"/>
                <a:cs typeface="Arial"/>
              </a:rPr>
              <a:t>Internal</a:t>
            </a:r>
            <a:r>
              <a:rPr dirty="0" sz="1150" spc="-6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Auditors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AutoNum type="alphaLcPeriod"/>
            </a:pPr>
            <a:endParaRPr sz="1200">
              <a:latin typeface="Arial"/>
              <a:cs typeface="Arial"/>
            </a:endParaRPr>
          </a:p>
          <a:p>
            <a:pPr algn="just" marL="241300" marR="5080">
              <a:lnSpc>
                <a:spcPct val="101699"/>
              </a:lnSpc>
            </a:pPr>
            <a:r>
              <a:rPr dirty="0" sz="1150" spc="-25">
                <a:latin typeface="Arial"/>
                <a:cs typeface="Arial"/>
              </a:rPr>
              <a:t>Internal </a:t>
            </a:r>
            <a:r>
              <a:rPr dirty="0" sz="1150" spc="-35">
                <a:latin typeface="Arial"/>
                <a:cs typeface="Arial"/>
              </a:rPr>
              <a:t>auditors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55">
                <a:latin typeface="Arial"/>
                <a:cs typeface="Arial"/>
              </a:rPr>
              <a:t>employees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30">
                <a:latin typeface="Arial"/>
                <a:cs typeface="Arial"/>
              </a:rPr>
              <a:t>hired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14">
                <a:latin typeface="Arial"/>
                <a:cs typeface="Arial"/>
              </a:rPr>
              <a:t>assess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evaluate </a:t>
            </a:r>
            <a:r>
              <a:rPr dirty="0" sz="1150" spc="-25">
                <a:latin typeface="Arial"/>
                <a:cs typeface="Arial"/>
              </a:rPr>
              <a:t>its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20">
                <a:latin typeface="Arial"/>
                <a:cs typeface="Arial"/>
              </a:rPr>
              <a:t>internal control. </a:t>
            </a: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30">
                <a:latin typeface="Arial"/>
                <a:cs typeface="Arial"/>
              </a:rPr>
              <a:t>maintain </a:t>
            </a:r>
            <a:r>
              <a:rPr dirty="0" sz="1150" spc="-50">
                <a:latin typeface="Arial"/>
                <a:cs typeface="Arial"/>
              </a:rPr>
              <a:t>independence,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40">
                <a:latin typeface="Arial"/>
                <a:cs typeface="Arial"/>
              </a:rPr>
              <a:t>present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25">
                <a:latin typeface="Arial"/>
                <a:cs typeface="Arial"/>
              </a:rPr>
              <a:t>reports </a:t>
            </a:r>
            <a:r>
              <a:rPr dirty="0" sz="1150" spc="-20">
                <a:latin typeface="Arial"/>
                <a:cs typeface="Arial"/>
              </a:rPr>
              <a:t>directly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60">
                <a:latin typeface="Arial"/>
                <a:cs typeface="Arial"/>
              </a:rPr>
              <a:t>Board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Directors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0">
                <a:latin typeface="Arial"/>
                <a:cs typeface="Arial"/>
              </a:rPr>
              <a:t>Top </a:t>
            </a:r>
            <a:r>
              <a:rPr dirty="0" sz="1150" spc="-45">
                <a:latin typeface="Arial"/>
                <a:cs typeface="Arial"/>
              </a:rPr>
              <a:t>Management. </a:t>
            </a:r>
            <a:r>
              <a:rPr dirty="0" sz="1150" spc="-80">
                <a:latin typeface="Arial"/>
                <a:cs typeface="Arial"/>
              </a:rPr>
              <a:t>They </a:t>
            </a:r>
            <a:r>
              <a:rPr dirty="0" sz="1150" spc="-35">
                <a:latin typeface="Arial"/>
                <a:cs typeface="Arial"/>
              </a:rPr>
              <a:t>provide </a:t>
            </a:r>
            <a:r>
              <a:rPr dirty="0" sz="1150" spc="-25">
                <a:latin typeface="Arial"/>
                <a:cs typeface="Arial"/>
              </a:rPr>
              <a:t>functional operation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50">
                <a:latin typeface="Arial"/>
                <a:cs typeface="Arial"/>
              </a:rPr>
              <a:t>concern. </a:t>
            </a:r>
            <a:r>
              <a:rPr dirty="0" sz="1150" spc="-25">
                <a:latin typeface="Arial"/>
                <a:cs typeface="Arial"/>
              </a:rPr>
              <a:t>Internal </a:t>
            </a:r>
            <a:r>
              <a:rPr dirty="0" sz="1150" spc="-35">
                <a:latin typeface="Arial"/>
                <a:cs typeface="Arial"/>
              </a:rPr>
              <a:t>Auditors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60">
                <a:latin typeface="Arial"/>
                <a:cs typeface="Arial"/>
              </a:rPr>
              <a:t>employees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company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55">
                <a:latin typeface="Arial"/>
                <a:cs typeface="Arial"/>
              </a:rPr>
              <a:t>easily </a:t>
            </a:r>
            <a:r>
              <a:rPr dirty="0" sz="1150" spc="-15">
                <a:latin typeface="Arial"/>
                <a:cs typeface="Arial"/>
              </a:rPr>
              <a:t>find  </a:t>
            </a:r>
            <a:r>
              <a:rPr dirty="0" sz="1150" spc="-5">
                <a:latin typeface="Arial"/>
                <a:cs typeface="Arial"/>
              </a:rPr>
              <a:t>out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frauds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65">
                <a:latin typeface="Arial"/>
                <a:cs typeface="Arial"/>
              </a:rPr>
              <a:t>any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mis-happening.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AutoNum type="alphaLcPeriod" startAt="2"/>
              <a:tabLst>
                <a:tab pos="470534" algn="l"/>
              </a:tabLst>
            </a:pPr>
            <a:r>
              <a:rPr dirty="0" sz="1150" spc="-80" b="1">
                <a:latin typeface="Arial"/>
                <a:cs typeface="Arial"/>
              </a:rPr>
              <a:t>External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Auditors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241300" marR="5080">
              <a:lnSpc>
                <a:spcPct val="101699"/>
              </a:lnSpc>
            </a:pPr>
            <a:r>
              <a:rPr dirty="0" sz="1150" spc="-50">
                <a:latin typeface="Arial"/>
                <a:cs typeface="Arial"/>
              </a:rPr>
              <a:t>External </a:t>
            </a:r>
            <a:r>
              <a:rPr dirty="0" sz="1150" spc="-35">
                <a:latin typeface="Arial"/>
                <a:cs typeface="Arial"/>
              </a:rPr>
              <a:t>auditors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35">
                <a:latin typeface="Arial"/>
                <a:cs typeface="Arial"/>
              </a:rPr>
              <a:t>independent </a:t>
            </a:r>
            <a:r>
              <a:rPr dirty="0" sz="1150" spc="-20">
                <a:latin typeface="Arial"/>
                <a:cs typeface="Arial"/>
              </a:rPr>
              <a:t>staff </a:t>
            </a:r>
            <a:r>
              <a:rPr dirty="0" sz="1150" spc="-75">
                <a:latin typeface="Arial"/>
                <a:cs typeface="Arial"/>
              </a:rPr>
              <a:t>assigned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60">
                <a:latin typeface="Arial"/>
                <a:cs typeface="Arial"/>
              </a:rPr>
              <a:t>an </a:t>
            </a:r>
            <a:r>
              <a:rPr dirty="0" sz="1150" spc="-30">
                <a:latin typeface="Arial"/>
                <a:cs typeface="Arial"/>
              </a:rPr>
              <a:t>auditing </a:t>
            </a:r>
            <a:r>
              <a:rPr dirty="0" sz="1150">
                <a:latin typeface="Arial"/>
                <a:cs typeface="Arial"/>
              </a:rPr>
              <a:t>firm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110">
                <a:latin typeface="Arial"/>
                <a:cs typeface="Arial"/>
              </a:rPr>
              <a:t>assess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45">
                <a:latin typeface="Arial"/>
                <a:cs typeface="Arial"/>
              </a:rPr>
              <a:t>evaluate</a:t>
            </a:r>
            <a:r>
              <a:rPr dirty="0" sz="1150" spc="22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financial </a:t>
            </a:r>
            <a:r>
              <a:rPr dirty="0" sz="1150" spc="-40">
                <a:latin typeface="Arial"/>
                <a:cs typeface="Arial"/>
              </a:rPr>
              <a:t>statements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40">
                <a:latin typeface="Arial"/>
                <a:cs typeface="Arial"/>
              </a:rPr>
              <a:t>clients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15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perform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60">
                <a:latin typeface="Arial"/>
                <a:cs typeface="Arial"/>
              </a:rPr>
              <a:t>agreed </a:t>
            </a:r>
            <a:r>
              <a:rPr dirty="0" sz="1150" spc="-40">
                <a:latin typeface="Arial"/>
                <a:cs typeface="Arial"/>
              </a:rPr>
              <a:t>upon  </a:t>
            </a:r>
            <a:r>
              <a:rPr dirty="0" sz="1150" spc="-45">
                <a:latin typeface="Arial"/>
                <a:cs typeface="Arial"/>
              </a:rPr>
              <a:t>evaluations. </a:t>
            </a:r>
            <a:r>
              <a:rPr dirty="0" sz="1150" spc="-15">
                <a:latin typeface="Arial"/>
                <a:cs typeface="Arial"/>
              </a:rPr>
              <a:t>Most </a:t>
            </a:r>
            <a:r>
              <a:rPr dirty="0" sz="1150" spc="-35">
                <a:latin typeface="Arial"/>
                <a:cs typeface="Arial"/>
              </a:rPr>
              <a:t>external auditors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employed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45">
                <a:latin typeface="Arial"/>
                <a:cs typeface="Arial"/>
              </a:rPr>
              <a:t>accounting </a:t>
            </a:r>
            <a:r>
              <a:rPr dirty="0" sz="1150" spc="-25">
                <a:latin typeface="Arial"/>
                <a:cs typeface="Arial"/>
              </a:rPr>
              <a:t>firms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annual  </a:t>
            </a:r>
            <a:r>
              <a:rPr dirty="0" sz="1150" spc="-60">
                <a:latin typeface="Arial"/>
                <a:cs typeface="Arial"/>
              </a:rPr>
              <a:t>engagements.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80">
                <a:latin typeface="Arial"/>
                <a:cs typeface="Arial"/>
              </a:rPr>
              <a:t>They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are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called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upon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10">
                <a:latin typeface="Arial"/>
                <a:cs typeface="Arial"/>
              </a:rPr>
              <a:t>from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out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side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company.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215" b="1">
                <a:latin typeface="Arial"/>
                <a:cs typeface="Arial"/>
              </a:rPr>
              <a:t>USERS </a:t>
            </a:r>
            <a:r>
              <a:rPr dirty="0" sz="1350" spc="-175" b="1">
                <a:latin typeface="Arial"/>
                <a:cs typeface="Arial"/>
              </a:rPr>
              <a:t>OF </a:t>
            </a:r>
            <a:r>
              <a:rPr dirty="0" sz="1350" spc="-150" b="1">
                <a:latin typeface="Arial"/>
                <a:cs typeface="Arial"/>
              </a:rPr>
              <a:t>ACCOUNTING</a:t>
            </a:r>
            <a:r>
              <a:rPr dirty="0" sz="1350" spc="-180" b="1">
                <a:latin typeface="Arial"/>
                <a:cs typeface="Arial"/>
              </a:rPr>
              <a:t> </a:t>
            </a:r>
            <a:r>
              <a:rPr dirty="0" sz="1350" spc="-110" b="1">
                <a:latin typeface="Arial"/>
                <a:cs typeface="Arial"/>
              </a:rPr>
              <a:t>INFORMATION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Arial"/>
              <a:cs typeface="Arial"/>
            </a:endParaRPr>
          </a:p>
          <a:p>
            <a:pPr marL="195580" indent="-183515">
              <a:lnSpc>
                <a:spcPct val="100000"/>
              </a:lnSpc>
              <a:buFont typeface="Symbol"/>
              <a:buChar char=""/>
              <a:tabLst>
                <a:tab pos="196215" algn="l"/>
              </a:tabLst>
            </a:pPr>
            <a:r>
              <a:rPr dirty="0" sz="1150" spc="-130" b="1">
                <a:latin typeface="Arial"/>
                <a:cs typeface="Arial"/>
              </a:rPr>
              <a:t>Business </a:t>
            </a:r>
            <a:r>
              <a:rPr dirty="0" sz="1150" spc="-80" b="1">
                <a:latin typeface="Arial"/>
                <a:cs typeface="Arial"/>
              </a:rPr>
              <a:t>Managers </a:t>
            </a:r>
            <a:r>
              <a:rPr dirty="0" sz="1150" spc="-25" b="1">
                <a:latin typeface="Arial"/>
                <a:cs typeface="Arial"/>
              </a:rPr>
              <a:t>&amp;</a:t>
            </a:r>
            <a:r>
              <a:rPr dirty="0" sz="1150" spc="-170" b="1">
                <a:latin typeface="Arial"/>
                <a:cs typeface="Arial"/>
              </a:rPr>
              <a:t> </a:t>
            </a:r>
            <a:r>
              <a:rPr dirty="0" sz="1150" spc="-65" b="1">
                <a:latin typeface="Arial"/>
                <a:cs typeface="Arial"/>
              </a:rPr>
              <a:t>Management</a:t>
            </a:r>
            <a:endParaRPr sz="11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20"/>
              </a:spcBef>
            </a:pPr>
            <a:r>
              <a:rPr dirty="0" sz="1150" spc="-85">
                <a:latin typeface="Arial"/>
                <a:cs typeface="Arial"/>
              </a:rPr>
              <a:t>Set </a:t>
            </a:r>
            <a:r>
              <a:rPr dirty="0" sz="1150" spc="-65">
                <a:latin typeface="Arial"/>
                <a:cs typeface="Arial"/>
              </a:rPr>
              <a:t>goals, </a:t>
            </a:r>
            <a:r>
              <a:rPr dirty="0" sz="1150" spc="-45">
                <a:latin typeface="Arial"/>
                <a:cs typeface="Arial"/>
              </a:rPr>
              <a:t>develop </a:t>
            </a:r>
            <a:r>
              <a:rPr dirty="0" sz="1150" spc="-55">
                <a:latin typeface="Arial"/>
                <a:cs typeface="Arial"/>
              </a:rPr>
              <a:t>plans, </a:t>
            </a:r>
            <a:r>
              <a:rPr dirty="0" sz="1150" spc="-50">
                <a:latin typeface="Arial"/>
                <a:cs typeface="Arial"/>
              </a:rPr>
              <a:t>set budgets,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evaluate </a:t>
            </a:r>
            <a:r>
              <a:rPr dirty="0" sz="1150" spc="-10">
                <a:latin typeface="Arial"/>
                <a:cs typeface="Arial"/>
              </a:rPr>
              <a:t>future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prospects</a:t>
            </a:r>
            <a:endParaRPr sz="1150">
              <a:latin typeface="Arial"/>
              <a:cs typeface="Arial"/>
            </a:endParaRPr>
          </a:p>
          <a:p>
            <a:pPr marL="195580" indent="-183515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196215" algn="l"/>
              </a:tabLst>
            </a:pPr>
            <a:r>
              <a:rPr dirty="0" sz="1150" spc="-105" b="1">
                <a:latin typeface="Arial"/>
                <a:cs typeface="Arial"/>
              </a:rPr>
              <a:t>Employees </a:t>
            </a:r>
            <a:r>
              <a:rPr dirty="0" sz="1150" spc="-85" b="1">
                <a:latin typeface="Arial"/>
                <a:cs typeface="Arial"/>
              </a:rPr>
              <a:t>and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Unions</a:t>
            </a:r>
            <a:endParaRPr sz="11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10"/>
              </a:spcBef>
            </a:pPr>
            <a:r>
              <a:rPr dirty="0" sz="1150" spc="-60">
                <a:latin typeface="Arial"/>
                <a:cs typeface="Arial"/>
              </a:rPr>
              <a:t>Get </a:t>
            </a:r>
            <a:r>
              <a:rPr dirty="0" sz="1150" spc="-40">
                <a:latin typeface="Arial"/>
                <a:cs typeface="Arial"/>
              </a:rPr>
              <a:t>paid, </a:t>
            </a:r>
            <a:r>
              <a:rPr dirty="0" sz="1150" spc="-45">
                <a:latin typeface="Arial"/>
                <a:cs typeface="Arial"/>
              </a:rPr>
              <a:t>plan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receive</a:t>
            </a:r>
            <a:r>
              <a:rPr dirty="0" sz="1150" spc="-160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benefits</a:t>
            </a:r>
            <a:endParaRPr sz="1150">
              <a:latin typeface="Arial"/>
              <a:cs typeface="Arial"/>
            </a:endParaRPr>
          </a:p>
          <a:p>
            <a:pPr marL="195580" indent="-183515">
              <a:lnSpc>
                <a:spcPct val="100000"/>
              </a:lnSpc>
              <a:spcBef>
                <a:spcPts val="95"/>
              </a:spcBef>
              <a:buFont typeface="Symbol"/>
              <a:buChar char=""/>
              <a:tabLst>
                <a:tab pos="196215" algn="l"/>
              </a:tabLst>
            </a:pPr>
            <a:r>
              <a:rPr dirty="0" sz="1150" spc="-85" b="1">
                <a:latin typeface="Arial"/>
                <a:cs typeface="Arial"/>
              </a:rPr>
              <a:t>Investors and Creditors</a:t>
            </a:r>
            <a:r>
              <a:rPr dirty="0" sz="1150" spc="-20" b="1">
                <a:latin typeface="Arial"/>
                <a:cs typeface="Arial"/>
              </a:rPr>
              <a:t> </a:t>
            </a:r>
            <a:r>
              <a:rPr dirty="0" sz="1150" spc="-75" b="1">
                <a:latin typeface="Arial"/>
                <a:cs typeface="Arial"/>
              </a:rPr>
              <a:t>(Owners)</a:t>
            </a:r>
            <a:endParaRPr sz="1150">
              <a:latin typeface="Arial"/>
              <a:cs typeface="Arial"/>
            </a:endParaRPr>
          </a:p>
          <a:p>
            <a:pPr marL="241300" marR="5715">
              <a:lnSpc>
                <a:spcPts val="1400"/>
              </a:lnSpc>
              <a:spcBef>
                <a:spcPts val="45"/>
              </a:spcBef>
            </a:pPr>
            <a:r>
              <a:rPr dirty="0" sz="1150" spc="-50">
                <a:latin typeface="Arial"/>
                <a:cs typeface="Arial"/>
              </a:rPr>
              <a:t>Estimate </a:t>
            </a:r>
            <a:r>
              <a:rPr dirty="0" sz="1150" spc="-30">
                <a:latin typeface="Arial"/>
                <a:cs typeface="Arial"/>
              </a:rPr>
              <a:t>returns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stockholders,  </a:t>
            </a:r>
            <a:r>
              <a:rPr dirty="0" sz="1150" spc="-30">
                <a:latin typeface="Arial"/>
                <a:cs typeface="Arial"/>
              </a:rPr>
              <a:t>determine </a:t>
            </a:r>
            <a:r>
              <a:rPr dirty="0" sz="1150" spc="-55">
                <a:latin typeface="Arial"/>
                <a:cs typeface="Arial"/>
              </a:rPr>
              <a:t>company’s </a:t>
            </a:r>
            <a:r>
              <a:rPr dirty="0" sz="1150" spc="-20">
                <a:latin typeface="Arial"/>
                <a:cs typeface="Arial"/>
              </a:rPr>
              <a:t>growth  </a:t>
            </a:r>
            <a:r>
              <a:rPr dirty="0" sz="1150" spc="-50">
                <a:latin typeface="Arial"/>
                <a:cs typeface="Arial"/>
              </a:rPr>
              <a:t>prospects,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30">
                <a:latin typeface="Arial"/>
                <a:cs typeface="Arial"/>
              </a:rPr>
              <a:t>determine creditworthiness before </a:t>
            </a:r>
            <a:r>
              <a:rPr dirty="0" sz="1150" spc="-40">
                <a:latin typeface="Arial"/>
                <a:cs typeface="Arial"/>
              </a:rPr>
              <a:t>investing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15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lending</a:t>
            </a:r>
            <a:endParaRPr sz="1150">
              <a:latin typeface="Arial"/>
              <a:cs typeface="Arial"/>
            </a:endParaRPr>
          </a:p>
          <a:p>
            <a:pPr marL="195580" indent="-18351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196215" algn="l"/>
              </a:tabLst>
            </a:pPr>
            <a:r>
              <a:rPr dirty="0" sz="1150" spc="-125" b="1">
                <a:latin typeface="Arial"/>
                <a:cs typeface="Arial"/>
              </a:rPr>
              <a:t>Banks</a:t>
            </a:r>
            <a:endParaRPr sz="1150">
              <a:latin typeface="Arial"/>
              <a:cs typeface="Arial"/>
            </a:endParaRPr>
          </a:p>
          <a:p>
            <a:pPr marL="195580" marR="6350">
              <a:lnSpc>
                <a:spcPts val="1400"/>
              </a:lnSpc>
              <a:spcBef>
                <a:spcPts val="40"/>
              </a:spcBef>
            </a:pPr>
            <a:r>
              <a:rPr dirty="0" sz="1150" spc="-80">
                <a:latin typeface="Arial"/>
                <a:cs typeface="Arial"/>
              </a:rPr>
              <a:t>They </a:t>
            </a:r>
            <a:r>
              <a:rPr dirty="0" sz="1150" spc="-25">
                <a:latin typeface="Arial"/>
                <a:cs typeface="Arial"/>
              </a:rPr>
              <a:t>would </a:t>
            </a:r>
            <a:r>
              <a:rPr dirty="0" sz="1150" spc="-55">
                <a:latin typeface="Arial"/>
                <a:cs typeface="Arial"/>
              </a:rPr>
              <a:t>be </a:t>
            </a:r>
            <a:r>
              <a:rPr dirty="0" sz="1150" spc="-25">
                <a:latin typeface="Arial"/>
                <a:cs typeface="Arial"/>
              </a:rPr>
              <a:t>interested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company’s </a:t>
            </a:r>
            <a:r>
              <a:rPr dirty="0" sz="1150" spc="-35">
                <a:latin typeface="Arial"/>
                <a:cs typeface="Arial"/>
              </a:rPr>
              <a:t>financial conditions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25">
                <a:latin typeface="Arial"/>
                <a:cs typeface="Arial"/>
              </a:rPr>
              <a:t>would like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35">
                <a:latin typeface="Arial"/>
                <a:cs typeface="Arial"/>
              </a:rPr>
              <a:t>know 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60">
                <a:latin typeface="Arial"/>
                <a:cs typeface="Arial"/>
              </a:rPr>
              <a:t>loans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55">
                <a:latin typeface="Arial"/>
                <a:cs typeface="Arial"/>
              </a:rPr>
              <a:t>be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paid</a:t>
            </a:r>
            <a:endParaRPr sz="1150">
              <a:latin typeface="Arial"/>
              <a:cs typeface="Arial"/>
            </a:endParaRPr>
          </a:p>
          <a:p>
            <a:pPr marL="195580" indent="-183515">
              <a:lnSpc>
                <a:spcPct val="100000"/>
              </a:lnSpc>
              <a:spcBef>
                <a:spcPts val="50"/>
              </a:spcBef>
              <a:buFont typeface="Symbol"/>
              <a:buChar char=""/>
              <a:tabLst>
                <a:tab pos="196215" algn="l"/>
              </a:tabLst>
            </a:pPr>
            <a:r>
              <a:rPr dirty="0" sz="1150" spc="-110" b="1">
                <a:latin typeface="Arial"/>
                <a:cs typeface="Arial"/>
              </a:rPr>
              <a:t>Tax </a:t>
            </a:r>
            <a:r>
              <a:rPr dirty="0" sz="1150" spc="-70" b="1">
                <a:latin typeface="Arial"/>
                <a:cs typeface="Arial"/>
              </a:rPr>
              <a:t>Authorities</a:t>
            </a:r>
            <a:r>
              <a:rPr dirty="0" sz="1150" spc="-10" b="1">
                <a:latin typeface="Arial"/>
                <a:cs typeface="Arial"/>
              </a:rPr>
              <a:t> </a:t>
            </a:r>
            <a:r>
              <a:rPr dirty="0" sz="1150" spc="-100" b="1">
                <a:latin typeface="Arial"/>
                <a:cs typeface="Arial"/>
              </a:rPr>
              <a:t>(Banks)</a:t>
            </a:r>
            <a:endParaRPr sz="11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10"/>
              </a:spcBef>
            </a:pPr>
            <a:r>
              <a:rPr dirty="0" sz="1150" spc="-75">
                <a:latin typeface="Arial"/>
                <a:cs typeface="Arial"/>
              </a:rPr>
              <a:t>Plan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tax </a:t>
            </a:r>
            <a:r>
              <a:rPr dirty="0" sz="1150" spc="-25">
                <a:latin typeface="Arial"/>
                <a:cs typeface="Arial"/>
              </a:rPr>
              <a:t>inflows, </a:t>
            </a:r>
            <a:r>
              <a:rPr dirty="0" sz="1150" spc="-30">
                <a:latin typeface="Arial"/>
                <a:cs typeface="Arial"/>
              </a:rPr>
              <a:t>determine </a:t>
            </a:r>
            <a:r>
              <a:rPr dirty="0" sz="1150" spc="-40">
                <a:latin typeface="Arial"/>
                <a:cs typeface="Arial"/>
              </a:rPr>
              <a:t>tax </a:t>
            </a:r>
            <a:r>
              <a:rPr dirty="0" sz="1150" spc="-25">
                <a:latin typeface="Arial"/>
                <a:cs typeface="Arial"/>
              </a:rPr>
              <a:t>liabilities, </a:t>
            </a:r>
            <a:r>
              <a:rPr dirty="0" sz="1150" spc="-55">
                <a:latin typeface="Arial"/>
                <a:cs typeface="Arial"/>
              </a:rPr>
              <a:t>and ensure </a:t>
            </a:r>
            <a:r>
              <a:rPr dirty="0" sz="1150" spc="-25">
                <a:latin typeface="Arial"/>
                <a:cs typeface="Arial"/>
              </a:rPr>
              <a:t>proper </a:t>
            </a:r>
            <a:r>
              <a:rPr dirty="0" sz="1150" spc="-40">
                <a:latin typeface="Arial"/>
                <a:cs typeface="Arial"/>
              </a:rPr>
              <a:t>payment</a:t>
            </a:r>
            <a:endParaRPr sz="1150">
              <a:latin typeface="Arial"/>
              <a:cs typeface="Arial"/>
            </a:endParaRPr>
          </a:p>
          <a:p>
            <a:pPr marL="195580" indent="-183515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196215" algn="l"/>
              </a:tabLst>
            </a:pPr>
            <a:r>
              <a:rPr dirty="0" sz="1150" spc="-80" b="1">
                <a:latin typeface="Arial"/>
                <a:cs typeface="Arial"/>
              </a:rPr>
              <a:t>Government </a:t>
            </a:r>
            <a:r>
              <a:rPr dirty="0" sz="1150" spc="-85" b="1">
                <a:latin typeface="Arial"/>
                <a:cs typeface="Arial"/>
              </a:rPr>
              <a:t>Regulatory</a:t>
            </a:r>
            <a:r>
              <a:rPr dirty="0" sz="1150" spc="-55" b="1">
                <a:latin typeface="Arial"/>
                <a:cs typeface="Arial"/>
              </a:rPr>
              <a:t> </a:t>
            </a:r>
            <a:r>
              <a:rPr dirty="0" sz="1150" spc="-110" b="1">
                <a:latin typeface="Arial"/>
                <a:cs typeface="Arial"/>
              </a:rPr>
              <a:t>Agencies</a:t>
            </a:r>
            <a:endParaRPr sz="115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10"/>
              </a:spcBef>
            </a:pPr>
            <a:r>
              <a:rPr dirty="0" sz="1150" spc="-25">
                <a:latin typeface="Arial"/>
                <a:cs typeface="Arial"/>
              </a:rPr>
              <a:t>Fulfill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35">
                <a:latin typeface="Arial"/>
                <a:cs typeface="Arial"/>
              </a:rPr>
              <a:t>duties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citizens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191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12744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90" b="1">
                <a:latin typeface="Arial"/>
                <a:cs typeface="Arial"/>
              </a:rPr>
              <a:t>Generally </a:t>
            </a:r>
            <a:r>
              <a:rPr dirty="0" sz="1350" spc="-110" b="1">
                <a:latin typeface="Arial"/>
                <a:cs typeface="Arial"/>
              </a:rPr>
              <a:t>Accepted </a:t>
            </a:r>
            <a:r>
              <a:rPr dirty="0" sz="1350" spc="-120" b="1">
                <a:latin typeface="Arial"/>
                <a:cs typeface="Arial"/>
              </a:rPr>
              <a:t>Accounting </a:t>
            </a:r>
            <a:r>
              <a:rPr dirty="0" sz="1350" spc="-105" b="1">
                <a:latin typeface="Arial"/>
                <a:cs typeface="Arial"/>
              </a:rPr>
              <a:t>Principles</a:t>
            </a:r>
            <a:r>
              <a:rPr dirty="0" sz="1350" spc="60" b="1">
                <a:latin typeface="Arial"/>
                <a:cs typeface="Arial"/>
              </a:rPr>
              <a:t> </a:t>
            </a:r>
            <a:r>
              <a:rPr dirty="0" sz="1350" spc="-130" b="1">
                <a:latin typeface="Arial"/>
                <a:cs typeface="Arial"/>
              </a:rPr>
              <a:t>(GAAP)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55">
                <a:latin typeface="Arial"/>
                <a:cs typeface="Arial"/>
              </a:rPr>
              <a:t>accepted </a:t>
            </a:r>
            <a:r>
              <a:rPr dirty="0" sz="1150" spc="-45">
                <a:latin typeface="Arial"/>
                <a:cs typeface="Arial"/>
              </a:rPr>
              <a:t>rules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procedures governing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20">
                <a:latin typeface="Arial"/>
                <a:cs typeface="Arial"/>
              </a:rPr>
              <a:t>content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">
                <a:latin typeface="Arial"/>
                <a:cs typeface="Arial"/>
              </a:rPr>
              <a:t>form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financial  </a:t>
            </a:r>
            <a:r>
              <a:rPr dirty="0" sz="1150" spc="-25">
                <a:latin typeface="Arial"/>
                <a:cs typeface="Arial"/>
              </a:rPr>
              <a:t>reports </a:t>
            </a:r>
            <a:r>
              <a:rPr dirty="0" sz="1150" spc="-40">
                <a:latin typeface="Arial"/>
                <a:cs typeface="Arial"/>
              </a:rPr>
              <a:t>around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world. </a:t>
            </a:r>
            <a:r>
              <a:rPr dirty="0" sz="1150" spc="-65">
                <a:latin typeface="Arial"/>
                <a:cs typeface="Arial"/>
              </a:rPr>
              <a:t>Need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these </a:t>
            </a:r>
            <a:r>
              <a:rPr dirty="0" sz="1150" spc="-70">
                <a:latin typeface="Arial"/>
                <a:cs typeface="Arial"/>
              </a:rPr>
              <a:t>systems </a:t>
            </a:r>
            <a:r>
              <a:rPr dirty="0" sz="1150" spc="-35">
                <a:latin typeface="Arial"/>
                <a:cs typeface="Arial"/>
              </a:rPr>
              <a:t>were </a:t>
            </a:r>
            <a:r>
              <a:rPr dirty="0" sz="1150" spc="-55">
                <a:latin typeface="Arial"/>
                <a:cs typeface="Arial"/>
              </a:rPr>
              <a:t>raised </a:t>
            </a:r>
            <a:r>
              <a:rPr dirty="0" sz="1150" spc="-40">
                <a:latin typeface="Arial"/>
                <a:cs typeface="Arial"/>
              </a:rPr>
              <a:t>when </a:t>
            </a:r>
            <a:r>
              <a:rPr dirty="0" sz="1150" spc="-35">
                <a:latin typeface="Arial"/>
                <a:cs typeface="Arial"/>
              </a:rPr>
              <a:t>shuffling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financial  </a:t>
            </a:r>
            <a:r>
              <a:rPr dirty="0" sz="1150" spc="-20">
                <a:latin typeface="Arial"/>
                <a:cs typeface="Arial"/>
              </a:rPr>
              <a:t>staff </a:t>
            </a:r>
            <a:r>
              <a:rPr dirty="0" sz="1150" spc="-75">
                <a:latin typeface="Arial"/>
                <a:cs typeface="Arial"/>
              </a:rPr>
              <a:t>was </a:t>
            </a:r>
            <a:r>
              <a:rPr dirty="0" sz="1150" spc="-55">
                <a:latin typeface="Arial"/>
                <a:cs typeface="Arial"/>
              </a:rPr>
              <a:t>happening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55">
                <a:latin typeface="Arial"/>
                <a:cs typeface="Arial"/>
              </a:rPr>
              <a:t>teams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40">
                <a:latin typeface="Arial"/>
                <a:cs typeface="Arial"/>
              </a:rPr>
              <a:t>were </a:t>
            </a:r>
            <a:r>
              <a:rPr dirty="0" sz="1150" spc="-30">
                <a:latin typeface="Arial"/>
                <a:cs typeface="Arial"/>
              </a:rPr>
              <a:t>joining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existing </a:t>
            </a:r>
            <a:r>
              <a:rPr dirty="0" sz="1150" spc="-55">
                <a:latin typeface="Arial"/>
                <a:cs typeface="Arial"/>
              </a:rPr>
              <a:t>teams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5">
                <a:latin typeface="Arial"/>
                <a:cs typeface="Arial"/>
              </a:rPr>
              <a:t>was  </a:t>
            </a:r>
            <a:r>
              <a:rPr dirty="0" sz="1150" spc="-50">
                <a:latin typeface="Arial"/>
                <a:cs typeface="Arial"/>
              </a:rPr>
              <a:t>becoming </a:t>
            </a:r>
            <a:r>
              <a:rPr dirty="0" sz="1150" spc="-5">
                <a:latin typeface="Arial"/>
                <a:cs typeface="Arial"/>
              </a:rPr>
              <a:t>difficult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make </a:t>
            </a:r>
            <a:r>
              <a:rPr dirty="0" sz="1150" spc="-40">
                <a:latin typeface="Arial"/>
                <a:cs typeface="Arial"/>
              </a:rPr>
              <a:t>new </a:t>
            </a:r>
            <a:r>
              <a:rPr dirty="0" sz="1150" spc="-45">
                <a:latin typeface="Arial"/>
                <a:cs typeface="Arial"/>
              </a:rPr>
              <a:t>people </a:t>
            </a:r>
            <a:r>
              <a:rPr dirty="0" sz="1150" spc="-50">
                <a:latin typeface="Arial"/>
                <a:cs typeface="Arial"/>
              </a:rPr>
              <a:t>aware </a:t>
            </a:r>
            <a:r>
              <a:rPr dirty="0" sz="1150">
                <a:latin typeface="Arial"/>
                <a:cs typeface="Arial"/>
              </a:rPr>
              <a:t>with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60">
                <a:latin typeface="Arial"/>
                <a:cs typeface="Arial"/>
              </a:rPr>
              <a:t>aspect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previous </a:t>
            </a:r>
            <a:r>
              <a:rPr dirty="0" sz="1150" spc="-30">
                <a:latin typeface="Arial"/>
                <a:cs typeface="Arial"/>
              </a:rPr>
              <a:t>working </a:t>
            </a:r>
            <a:r>
              <a:rPr dirty="0" sz="1150" spc="-80">
                <a:latin typeface="Arial"/>
                <a:cs typeface="Arial"/>
              </a:rPr>
              <a:t>so  </a:t>
            </a:r>
            <a:r>
              <a:rPr dirty="0" sz="1150" spc="-50">
                <a:latin typeface="Arial"/>
                <a:cs typeface="Arial"/>
              </a:rPr>
              <a:t>these </a:t>
            </a:r>
            <a:r>
              <a:rPr dirty="0" sz="1150" spc="-70">
                <a:latin typeface="Arial"/>
                <a:cs typeface="Arial"/>
              </a:rPr>
              <a:t>systems </a:t>
            </a:r>
            <a:r>
              <a:rPr dirty="0" sz="1150" spc="-35">
                <a:latin typeface="Arial"/>
                <a:cs typeface="Arial"/>
              </a:rPr>
              <a:t>were</a:t>
            </a:r>
            <a:r>
              <a:rPr dirty="0" sz="1150" spc="-8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evolved.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192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218438" y="891035"/>
            <a:ext cx="4423410" cy="83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44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750" spc="-250" b="1">
                <a:latin typeface="Arial"/>
                <a:cs typeface="Arial"/>
              </a:rPr>
              <a:t>TOOLS </a:t>
            </a:r>
            <a:r>
              <a:rPr dirty="0" sz="1750" spc="-220" b="1">
                <a:latin typeface="Arial"/>
                <a:cs typeface="Arial"/>
              </a:rPr>
              <a:t>OF </a:t>
            </a:r>
            <a:r>
              <a:rPr dirty="0" sz="1750" spc="-229" b="1">
                <a:latin typeface="Arial"/>
                <a:cs typeface="Arial"/>
              </a:rPr>
              <a:t>THE </a:t>
            </a:r>
            <a:r>
              <a:rPr dirty="0" sz="1750" spc="-195" b="1">
                <a:latin typeface="Arial"/>
                <a:cs typeface="Arial"/>
              </a:rPr>
              <a:t>ACCOUNTING</a:t>
            </a:r>
            <a:r>
              <a:rPr dirty="0" sz="1750" spc="-170" b="1">
                <a:latin typeface="Arial"/>
                <a:cs typeface="Arial"/>
              </a:rPr>
              <a:t> </a:t>
            </a:r>
            <a:r>
              <a:rPr dirty="0" sz="1750" spc="-235" b="1">
                <a:latin typeface="Arial"/>
                <a:cs typeface="Arial"/>
              </a:rPr>
              <a:t>TRADE</a:t>
            </a:r>
            <a:endParaRPr sz="175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193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30260" y="2006603"/>
            <a:ext cx="5513070" cy="582358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thousands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years, </a:t>
            </a:r>
            <a:r>
              <a:rPr dirty="0" sz="1150" spc="-80">
                <a:latin typeface="Arial"/>
                <a:cs typeface="Arial"/>
              </a:rPr>
              <a:t>businesses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governments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25">
                <a:latin typeface="Arial"/>
                <a:cs typeface="Arial"/>
              </a:rPr>
              <a:t>kept </a:t>
            </a:r>
            <a:r>
              <a:rPr dirty="0" sz="1150" spc="-50">
                <a:latin typeface="Arial"/>
                <a:cs typeface="Arial"/>
              </a:rPr>
              <a:t>records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0">
                <a:latin typeface="Arial"/>
                <a:cs typeface="Arial"/>
              </a:rPr>
              <a:t>their  </a:t>
            </a:r>
            <a:r>
              <a:rPr dirty="0" sz="1150" spc="-40">
                <a:latin typeface="Arial"/>
                <a:cs typeface="Arial"/>
              </a:rPr>
              <a:t>transactions. </a:t>
            </a:r>
            <a:r>
              <a:rPr dirty="0" sz="1150" spc="-50">
                <a:latin typeface="Arial"/>
                <a:cs typeface="Arial"/>
              </a:rPr>
              <a:t>Accountants are guided by </a:t>
            </a:r>
            <a:r>
              <a:rPr dirty="0" sz="1150" spc="-20">
                <a:latin typeface="Arial"/>
                <a:cs typeface="Arial"/>
              </a:rPr>
              <a:t>three </a:t>
            </a:r>
            <a:r>
              <a:rPr dirty="0" sz="1150" spc="-35">
                <a:latin typeface="Arial"/>
                <a:cs typeface="Arial"/>
              </a:rPr>
              <a:t>fundamental principles: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accounting  </a:t>
            </a:r>
            <a:r>
              <a:rPr dirty="0" sz="1150" spc="-35">
                <a:latin typeface="Arial"/>
                <a:cs typeface="Arial"/>
              </a:rPr>
              <a:t>equation, </a:t>
            </a:r>
            <a:r>
              <a:rPr dirty="0" sz="1150" spc="-30">
                <a:latin typeface="Arial"/>
                <a:cs typeface="Arial"/>
              </a:rPr>
              <a:t>double-entry </a:t>
            </a:r>
            <a:r>
              <a:rPr dirty="0" sz="1150" spc="-45">
                <a:latin typeface="Arial"/>
                <a:cs typeface="Arial"/>
              </a:rPr>
              <a:t>accounting,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matching</a:t>
            </a:r>
            <a:r>
              <a:rPr dirty="0" sz="1150" spc="-1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principle.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10" b="1">
                <a:latin typeface="Arial"/>
                <a:cs typeface="Arial"/>
              </a:rPr>
              <a:t>The </a:t>
            </a:r>
            <a:r>
              <a:rPr dirty="0" sz="1350" spc="-120" b="1">
                <a:latin typeface="Arial"/>
                <a:cs typeface="Arial"/>
              </a:rPr>
              <a:t>Accounting</a:t>
            </a:r>
            <a:r>
              <a:rPr dirty="0" sz="1350" spc="-45" b="1">
                <a:latin typeface="Arial"/>
                <a:cs typeface="Arial"/>
              </a:rPr>
              <a:t> </a:t>
            </a:r>
            <a:r>
              <a:rPr dirty="0" sz="1350" spc="-100" b="1">
                <a:latin typeface="Arial"/>
                <a:cs typeface="Arial"/>
              </a:rPr>
              <a:t>Equation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50">
                <a:latin typeface="Arial"/>
                <a:cs typeface="Arial"/>
              </a:rPr>
              <a:t>Accountants </a:t>
            </a:r>
            <a:r>
              <a:rPr dirty="0" sz="1150" spc="-80">
                <a:latin typeface="Arial"/>
                <a:cs typeface="Arial"/>
              </a:rPr>
              <a:t>use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following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equation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balance</a:t>
            </a:r>
            <a:r>
              <a:rPr dirty="0" sz="1150" spc="-7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data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journals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ledgers: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50" spc="-135" b="1">
                <a:latin typeface="Arial"/>
                <a:cs typeface="Arial"/>
              </a:rPr>
              <a:t>Assets </a:t>
            </a:r>
            <a:r>
              <a:rPr dirty="0" sz="1250" spc="-110" b="1">
                <a:latin typeface="Arial"/>
                <a:cs typeface="Arial"/>
              </a:rPr>
              <a:t>= </a:t>
            </a:r>
            <a:r>
              <a:rPr dirty="0" sz="1250" spc="-80" b="1">
                <a:latin typeface="Arial"/>
                <a:cs typeface="Arial"/>
              </a:rPr>
              <a:t>Liabilities </a:t>
            </a:r>
            <a:r>
              <a:rPr dirty="0" sz="1250" spc="-110" b="1">
                <a:latin typeface="Arial"/>
                <a:cs typeface="Arial"/>
              </a:rPr>
              <a:t>+ </a:t>
            </a:r>
            <a:r>
              <a:rPr dirty="0" sz="1250" spc="-90" b="1">
                <a:latin typeface="Arial"/>
                <a:cs typeface="Arial"/>
              </a:rPr>
              <a:t>Owners’</a:t>
            </a:r>
            <a:r>
              <a:rPr dirty="0" sz="1250" spc="120" b="1">
                <a:latin typeface="Arial"/>
                <a:cs typeface="Arial"/>
              </a:rPr>
              <a:t> </a:t>
            </a:r>
            <a:r>
              <a:rPr dirty="0" sz="1250" spc="-95" b="1">
                <a:latin typeface="Arial"/>
                <a:cs typeface="Arial"/>
              </a:rPr>
              <a:t>Equity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225" b="1">
                <a:latin typeface="Arial"/>
                <a:cs typeface="Arial"/>
              </a:rPr>
              <a:t>ASSETS </a:t>
            </a:r>
            <a:r>
              <a:rPr dirty="0" sz="1350" spc="-125" b="1">
                <a:latin typeface="Arial"/>
                <a:cs typeface="Arial"/>
              </a:rPr>
              <a:t>AND</a:t>
            </a:r>
            <a:r>
              <a:rPr dirty="0" sz="1350" spc="-65" b="1">
                <a:latin typeface="Arial"/>
                <a:cs typeface="Arial"/>
              </a:rPr>
              <a:t> </a:t>
            </a:r>
            <a:r>
              <a:rPr dirty="0" sz="1350" spc="-150" b="1">
                <a:latin typeface="Arial"/>
                <a:cs typeface="Arial"/>
              </a:rPr>
              <a:t>LIABILITIES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105" b="1">
                <a:latin typeface="Arial"/>
                <a:cs typeface="Arial"/>
              </a:rPr>
              <a:t>Asset</a:t>
            </a:r>
            <a:r>
              <a:rPr dirty="0" sz="1050" spc="-105">
                <a:latin typeface="Arial"/>
                <a:cs typeface="Arial"/>
              </a:rPr>
              <a:t>—</a:t>
            </a:r>
            <a:r>
              <a:rPr dirty="0" sz="1150" spc="-105">
                <a:latin typeface="Arial"/>
                <a:cs typeface="Arial"/>
              </a:rPr>
              <a:t>any </a:t>
            </a:r>
            <a:r>
              <a:rPr dirty="0" sz="1150" spc="-50">
                <a:latin typeface="Arial"/>
                <a:cs typeface="Arial"/>
              </a:rPr>
              <a:t>economic </a:t>
            </a:r>
            <a:r>
              <a:rPr dirty="0" sz="1150" spc="-55">
                <a:latin typeface="Arial"/>
                <a:cs typeface="Arial"/>
              </a:rPr>
              <a:t>resource </a:t>
            </a:r>
            <a:r>
              <a:rPr dirty="0" sz="1150" spc="-50">
                <a:latin typeface="Arial"/>
                <a:cs typeface="Arial"/>
              </a:rPr>
              <a:t>expected </a:t>
            </a:r>
            <a:r>
              <a:rPr dirty="0" sz="1150" spc="5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benefit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firm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30">
                <a:latin typeface="Arial"/>
                <a:cs typeface="Arial"/>
              </a:rPr>
              <a:t>individual who </a:t>
            </a:r>
            <a:r>
              <a:rPr dirty="0" sz="1150" spc="-55">
                <a:latin typeface="Arial"/>
                <a:cs typeface="Arial"/>
              </a:rPr>
              <a:t>owns</a:t>
            </a:r>
            <a:r>
              <a:rPr dirty="0" sz="1150" spc="-21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it.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Arial"/>
              <a:cs typeface="Arial"/>
            </a:endParaRPr>
          </a:p>
          <a:p>
            <a:pPr marL="927100" marR="5080" indent="-228600">
              <a:lnSpc>
                <a:spcPct val="101099"/>
              </a:lnSpc>
              <a:buSzPct val="92000"/>
              <a:buFont typeface="Arial"/>
              <a:buAutoNum type="alphaLcPeriod"/>
              <a:tabLst>
                <a:tab pos="927735" algn="l"/>
              </a:tabLst>
            </a:pPr>
            <a:r>
              <a:rPr dirty="0" sz="1250" spc="-95" b="1">
                <a:latin typeface="Arial"/>
                <a:cs typeface="Arial"/>
              </a:rPr>
              <a:t>Tangible </a:t>
            </a:r>
            <a:r>
              <a:rPr dirty="0" sz="1250" spc="-125" b="1">
                <a:latin typeface="Arial"/>
                <a:cs typeface="Arial"/>
              </a:rPr>
              <a:t>Assist: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50">
                <a:latin typeface="Arial"/>
                <a:cs typeface="Arial"/>
              </a:rPr>
              <a:t>includes </a:t>
            </a:r>
            <a:r>
              <a:rPr dirty="0" sz="1150" spc="-105">
                <a:latin typeface="Arial"/>
                <a:cs typeface="Arial"/>
              </a:rPr>
              <a:t>Cash, </a:t>
            </a:r>
            <a:r>
              <a:rPr dirty="0" sz="1150" spc="-45">
                <a:latin typeface="Arial"/>
                <a:cs typeface="Arial"/>
              </a:rPr>
              <a:t>Building, </a:t>
            </a:r>
            <a:r>
              <a:rPr dirty="0" sz="1150" spc="-40">
                <a:latin typeface="Arial"/>
                <a:cs typeface="Arial"/>
              </a:rPr>
              <a:t>Automobiles, Machinery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25">
                <a:latin typeface="Arial"/>
                <a:cs typeface="Arial"/>
              </a:rPr>
              <a:t>raw  </a:t>
            </a:r>
            <a:r>
              <a:rPr dirty="0" sz="1150" spc="-30">
                <a:latin typeface="Arial"/>
                <a:cs typeface="Arial"/>
              </a:rPr>
              <a:t>Materials.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35"/>
              </a:spcBef>
              <a:buFont typeface="Arial"/>
              <a:buAutoNum type="alphaLcPeriod"/>
              <a:tabLst>
                <a:tab pos="927735" algn="l"/>
              </a:tabLst>
            </a:pPr>
            <a:r>
              <a:rPr dirty="0" sz="1250" spc="-70" b="1">
                <a:latin typeface="Arial"/>
                <a:cs typeface="Arial"/>
              </a:rPr>
              <a:t>Intangible </a:t>
            </a:r>
            <a:r>
              <a:rPr dirty="0" sz="1250" spc="-125" b="1">
                <a:latin typeface="Arial"/>
                <a:cs typeface="Arial"/>
              </a:rPr>
              <a:t>Assist: </a:t>
            </a:r>
            <a:r>
              <a:rPr dirty="0" sz="1250" spc="15">
                <a:latin typeface="Arial"/>
                <a:cs typeface="Arial"/>
              </a:rPr>
              <a:t>It </a:t>
            </a:r>
            <a:r>
              <a:rPr dirty="0" sz="1250" spc="-55">
                <a:latin typeface="Arial"/>
                <a:cs typeface="Arial"/>
              </a:rPr>
              <a:t>includes </a:t>
            </a:r>
            <a:r>
              <a:rPr dirty="0" sz="1250" spc="-65">
                <a:latin typeface="Arial"/>
                <a:cs typeface="Arial"/>
              </a:rPr>
              <a:t>copy </a:t>
            </a:r>
            <a:r>
              <a:rPr dirty="0" sz="1250" spc="-35">
                <a:latin typeface="Arial"/>
                <a:cs typeface="Arial"/>
              </a:rPr>
              <a:t>rights </a:t>
            </a:r>
            <a:r>
              <a:rPr dirty="0" sz="1250" spc="15">
                <a:latin typeface="Arial"/>
                <a:cs typeface="Arial"/>
              </a:rPr>
              <a:t>&amp; </a:t>
            </a:r>
            <a:r>
              <a:rPr dirty="0" sz="1250" spc="-60">
                <a:latin typeface="Arial"/>
                <a:cs typeface="Arial"/>
              </a:rPr>
              <a:t>good </a:t>
            </a:r>
            <a:r>
              <a:rPr dirty="0" sz="1250">
                <a:latin typeface="Arial"/>
                <a:cs typeface="Arial"/>
              </a:rPr>
              <a:t>will</a:t>
            </a:r>
            <a:r>
              <a:rPr dirty="0" sz="1250" spc="-175">
                <a:latin typeface="Arial"/>
                <a:cs typeface="Arial"/>
              </a:rPr>
              <a:t> </a:t>
            </a:r>
            <a:r>
              <a:rPr dirty="0" sz="1250" spc="-35">
                <a:latin typeface="Arial"/>
                <a:cs typeface="Arial"/>
              </a:rPr>
              <a:t>etc.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80">
                <a:latin typeface="Arial"/>
                <a:cs typeface="Arial"/>
              </a:rPr>
              <a:t>Assists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65">
                <a:latin typeface="Arial"/>
                <a:cs typeface="Arial"/>
              </a:rPr>
              <a:t>always </a:t>
            </a:r>
            <a:r>
              <a:rPr dirty="0" sz="1150" spc="-50">
                <a:latin typeface="Arial"/>
                <a:cs typeface="Arial"/>
              </a:rPr>
              <a:t>equal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5">
                <a:latin typeface="Arial"/>
                <a:cs typeface="Arial"/>
              </a:rPr>
              <a:t>liabilities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5">
                <a:latin typeface="Arial"/>
                <a:cs typeface="Arial"/>
              </a:rPr>
              <a:t>firm.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Arial"/>
              <a:cs typeface="Arial"/>
            </a:endParaRPr>
          </a:p>
          <a:p>
            <a:pPr algn="just" marL="12700" marR="5080">
              <a:lnSpc>
                <a:spcPct val="101499"/>
              </a:lnSpc>
              <a:spcBef>
                <a:spcPts val="5"/>
              </a:spcBef>
            </a:pPr>
            <a:r>
              <a:rPr dirty="0" sz="1350" spc="-65" b="1">
                <a:latin typeface="Arial"/>
                <a:cs typeface="Arial"/>
              </a:rPr>
              <a:t>Liability</a:t>
            </a:r>
            <a:r>
              <a:rPr dirty="0" sz="1050" spc="-65">
                <a:latin typeface="Arial"/>
                <a:cs typeface="Arial"/>
              </a:rPr>
              <a:t>—debt </a:t>
            </a:r>
            <a:r>
              <a:rPr dirty="0" sz="1050" spc="-35">
                <a:latin typeface="Arial"/>
                <a:cs typeface="Arial"/>
              </a:rPr>
              <a:t>owned </a:t>
            </a:r>
            <a:r>
              <a:rPr dirty="0" sz="1050" spc="-45">
                <a:latin typeface="Arial"/>
                <a:cs typeface="Arial"/>
              </a:rPr>
              <a:t>by </a:t>
            </a:r>
            <a:r>
              <a:rPr dirty="0" sz="1050" spc="-80">
                <a:latin typeface="Arial"/>
                <a:cs typeface="Arial"/>
              </a:rPr>
              <a:t>a </a:t>
            </a:r>
            <a:r>
              <a:rPr dirty="0" sz="1050">
                <a:latin typeface="Arial"/>
                <a:cs typeface="Arial"/>
              </a:rPr>
              <a:t>firm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60">
                <a:latin typeface="Arial"/>
                <a:cs typeface="Arial"/>
              </a:rPr>
              <a:t>an </a:t>
            </a:r>
            <a:r>
              <a:rPr dirty="0" sz="1050" spc="-35">
                <a:latin typeface="Arial"/>
                <a:cs typeface="Arial"/>
              </a:rPr>
              <a:t>outside organization </a:t>
            </a:r>
            <a:r>
              <a:rPr dirty="0" sz="1050" spc="-10">
                <a:latin typeface="Arial"/>
                <a:cs typeface="Arial"/>
              </a:rPr>
              <a:t>or </a:t>
            </a:r>
            <a:r>
              <a:rPr dirty="0" sz="1050" spc="-30">
                <a:latin typeface="Arial"/>
                <a:cs typeface="Arial"/>
              </a:rPr>
              <a:t>individual. </a:t>
            </a:r>
            <a:r>
              <a:rPr dirty="0" sz="1050" spc="-80">
                <a:latin typeface="Arial"/>
                <a:cs typeface="Arial"/>
              </a:rPr>
              <a:t>These </a:t>
            </a:r>
            <a:r>
              <a:rPr dirty="0" sz="1050" spc="-45">
                <a:latin typeface="Arial"/>
                <a:cs typeface="Arial"/>
              </a:rPr>
              <a:t>are </a:t>
            </a:r>
            <a:r>
              <a:rPr dirty="0" sz="1050" spc="-25">
                <a:latin typeface="Arial"/>
                <a:cs typeface="Arial"/>
              </a:rPr>
              <a:t>all </a:t>
            </a:r>
            <a:r>
              <a:rPr dirty="0" sz="1050" spc="-60">
                <a:latin typeface="Arial"/>
                <a:cs typeface="Arial"/>
              </a:rPr>
              <a:t>payables,  </a:t>
            </a:r>
            <a:r>
              <a:rPr dirty="0" sz="1050" spc="-55">
                <a:latin typeface="Arial"/>
                <a:cs typeface="Arial"/>
              </a:rPr>
              <a:t>claims </a:t>
            </a:r>
            <a:r>
              <a:rPr dirty="0" sz="1050" spc="-10">
                <a:latin typeface="Arial"/>
                <a:cs typeface="Arial"/>
              </a:rPr>
              <a:t>or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obligation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5">
                <a:latin typeface="Arial"/>
                <a:cs typeface="Arial"/>
              </a:rPr>
              <a:t>of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15">
                <a:latin typeface="Arial"/>
                <a:cs typeface="Arial"/>
              </a:rPr>
              <a:t>the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5">
                <a:latin typeface="Arial"/>
                <a:cs typeface="Arial"/>
              </a:rPr>
              <a:t>firm.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85">
                <a:latin typeface="Arial"/>
                <a:cs typeface="Arial"/>
              </a:rPr>
              <a:t>These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70">
                <a:latin typeface="Arial"/>
                <a:cs typeface="Arial"/>
              </a:rPr>
              <a:t>can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be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50">
                <a:latin typeface="Arial"/>
                <a:cs typeface="Arial"/>
              </a:rPr>
              <a:t>payable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to</a:t>
            </a:r>
            <a:r>
              <a:rPr dirty="0" sz="1050" spc="-65">
                <a:latin typeface="Arial"/>
                <a:cs typeface="Arial"/>
              </a:rPr>
              <a:t> </a:t>
            </a:r>
            <a:r>
              <a:rPr dirty="0" sz="1050" spc="-50">
                <a:latin typeface="Arial"/>
                <a:cs typeface="Arial"/>
              </a:rPr>
              <a:t>bank,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to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45">
                <a:latin typeface="Arial"/>
                <a:cs typeface="Arial"/>
              </a:rPr>
              <a:t>suppliers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-10">
                <a:latin typeface="Arial"/>
                <a:cs typeface="Arial"/>
              </a:rPr>
              <a:t>or</a:t>
            </a:r>
            <a:r>
              <a:rPr dirty="0" sz="1050" spc="-55">
                <a:latin typeface="Arial"/>
                <a:cs typeface="Arial"/>
              </a:rPr>
              <a:t> </a:t>
            </a:r>
            <a:r>
              <a:rPr dirty="0" sz="1050" spc="10">
                <a:latin typeface="Arial"/>
                <a:cs typeface="Arial"/>
              </a:rPr>
              <a:t>to</a:t>
            </a:r>
            <a:r>
              <a:rPr dirty="0" sz="1050" spc="-50">
                <a:latin typeface="Arial"/>
                <a:cs typeface="Arial"/>
              </a:rPr>
              <a:t> </a:t>
            </a:r>
            <a:r>
              <a:rPr dirty="0" sz="1050" spc="-15">
                <a:latin typeface="Arial"/>
                <a:cs typeface="Arial"/>
              </a:rPr>
              <a:t>other</a:t>
            </a:r>
            <a:r>
              <a:rPr dirty="0" sz="1050" spc="-45">
                <a:latin typeface="Arial"/>
                <a:cs typeface="Arial"/>
              </a:rPr>
              <a:t> </a:t>
            </a:r>
            <a:r>
              <a:rPr dirty="0" sz="1050" spc="-20">
                <a:latin typeface="Arial"/>
                <a:cs typeface="Arial"/>
              </a:rPr>
              <a:t>institutions.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40">
                <a:latin typeface="Arial"/>
                <a:cs typeface="Arial"/>
              </a:rPr>
              <a:t>Liabilities </a:t>
            </a:r>
            <a:r>
              <a:rPr dirty="0" sz="1350" spc="-60">
                <a:latin typeface="Arial"/>
                <a:cs typeface="Arial"/>
              </a:rPr>
              <a:t>are </a:t>
            </a:r>
            <a:r>
              <a:rPr dirty="0" sz="1350">
                <a:latin typeface="Arial"/>
                <a:cs typeface="Arial"/>
              </a:rPr>
              <a:t>of </a:t>
            </a:r>
            <a:r>
              <a:rPr dirty="0" sz="1350" spc="5">
                <a:latin typeface="Arial"/>
                <a:cs typeface="Arial"/>
              </a:rPr>
              <a:t>two</a:t>
            </a:r>
            <a:r>
              <a:rPr dirty="0" sz="1350" spc="-204">
                <a:latin typeface="Arial"/>
                <a:cs typeface="Arial"/>
              </a:rPr>
              <a:t> </a:t>
            </a:r>
            <a:r>
              <a:rPr dirty="0" sz="1350" spc="-50">
                <a:latin typeface="Arial"/>
                <a:cs typeface="Arial"/>
              </a:rPr>
              <a:t>types: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0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buFont typeface="Wingdings"/>
              <a:buChar char=""/>
              <a:tabLst>
                <a:tab pos="927100" algn="l"/>
                <a:tab pos="927735" algn="l"/>
              </a:tabLst>
            </a:pPr>
            <a:r>
              <a:rPr dirty="0" sz="1050" spc="-30">
                <a:latin typeface="Arial"/>
                <a:cs typeface="Arial"/>
              </a:rPr>
              <a:t>Liability towards</a:t>
            </a:r>
            <a:r>
              <a:rPr dirty="0" sz="1050" spc="-80">
                <a:latin typeface="Arial"/>
                <a:cs typeface="Arial"/>
              </a:rPr>
              <a:t> </a:t>
            </a:r>
            <a:r>
              <a:rPr dirty="0" sz="1050" spc="-25">
                <a:latin typeface="Arial"/>
                <a:cs typeface="Arial"/>
              </a:rPr>
              <a:t>owner</a:t>
            </a:r>
            <a:endParaRPr sz="10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927100" algn="l"/>
                <a:tab pos="927735" algn="l"/>
              </a:tabLst>
            </a:pPr>
            <a:r>
              <a:rPr dirty="0" sz="1050" spc="-30">
                <a:latin typeface="Arial"/>
                <a:cs typeface="Arial"/>
              </a:rPr>
              <a:t>Liability towards </a:t>
            </a:r>
            <a:r>
              <a:rPr dirty="0" sz="1050" spc="-15">
                <a:latin typeface="Arial"/>
                <a:cs typeface="Arial"/>
              </a:rPr>
              <a:t>other</a:t>
            </a:r>
            <a:r>
              <a:rPr dirty="0" sz="1050" spc="-110">
                <a:latin typeface="Arial"/>
                <a:cs typeface="Arial"/>
              </a:rPr>
              <a:t> </a:t>
            </a:r>
            <a:r>
              <a:rPr dirty="0" sz="1050" spc="-35">
                <a:latin typeface="Arial"/>
                <a:cs typeface="Arial"/>
              </a:rPr>
              <a:t>parties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Arial"/>
              <a:cs typeface="Arial"/>
            </a:endParaRPr>
          </a:p>
          <a:p>
            <a:pPr algn="just" marL="12700" marR="5080">
              <a:lnSpc>
                <a:spcPct val="101499"/>
              </a:lnSpc>
            </a:pPr>
            <a:r>
              <a:rPr dirty="0" sz="1350" spc="-90" b="1">
                <a:latin typeface="Arial"/>
                <a:cs typeface="Arial"/>
              </a:rPr>
              <a:t>Owners' </a:t>
            </a:r>
            <a:r>
              <a:rPr dirty="0" sz="1350" spc="-70" b="1">
                <a:latin typeface="Arial"/>
                <a:cs typeface="Arial"/>
              </a:rPr>
              <a:t>Equity</a:t>
            </a:r>
            <a:r>
              <a:rPr dirty="0" sz="1150" spc="-70">
                <a:latin typeface="Arial"/>
                <a:cs typeface="Arial"/>
              </a:rPr>
              <a:t>—amount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money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5">
                <a:latin typeface="Arial"/>
                <a:cs typeface="Arial"/>
              </a:rPr>
              <a:t>owners </a:t>
            </a:r>
            <a:r>
              <a:rPr dirty="0" sz="1150" spc="-25">
                <a:latin typeface="Arial"/>
                <a:cs typeface="Arial"/>
              </a:rPr>
              <a:t>would </a:t>
            </a:r>
            <a:r>
              <a:rPr dirty="0" sz="1150" spc="-50">
                <a:latin typeface="Arial"/>
                <a:cs typeface="Arial"/>
              </a:rPr>
              <a:t>receive </a:t>
            </a:r>
            <a:r>
              <a:rPr dirty="0" sz="1150" spc="15">
                <a:latin typeface="Arial"/>
                <a:cs typeface="Arial"/>
              </a:rPr>
              <a:t>if </a:t>
            </a:r>
            <a:r>
              <a:rPr dirty="0" sz="1150" spc="-30">
                <a:latin typeface="Arial"/>
                <a:cs typeface="Arial"/>
              </a:rPr>
              <a:t>they </a:t>
            </a:r>
            <a:r>
              <a:rPr dirty="0" sz="1150" spc="-50">
                <a:latin typeface="Arial"/>
                <a:cs typeface="Arial"/>
              </a:rPr>
              <a:t>sold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firm’s  </a:t>
            </a:r>
            <a:r>
              <a:rPr dirty="0" sz="1150" spc="-80">
                <a:latin typeface="Arial"/>
                <a:cs typeface="Arial"/>
              </a:rPr>
              <a:t>assets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paid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its liabilities. </a:t>
            </a: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0">
                <a:latin typeface="Arial"/>
                <a:cs typeface="Arial"/>
              </a:rPr>
              <a:t>consists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5">
                <a:latin typeface="Arial"/>
                <a:cs typeface="Arial"/>
              </a:rPr>
              <a:t>two </a:t>
            </a:r>
            <a:r>
              <a:rPr dirty="0" sz="1150" spc="-70">
                <a:latin typeface="Arial"/>
                <a:cs typeface="Arial"/>
              </a:rPr>
              <a:t>sources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capital: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amount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45">
                <a:latin typeface="Arial"/>
                <a:cs typeface="Arial"/>
              </a:rPr>
              <a:t>owners </a:t>
            </a:r>
            <a:r>
              <a:rPr dirty="0" sz="1150" spc="-30">
                <a:latin typeface="Arial"/>
                <a:cs typeface="Arial"/>
              </a:rPr>
              <a:t>originally </a:t>
            </a:r>
            <a:r>
              <a:rPr dirty="0" sz="1150" spc="-45">
                <a:latin typeface="Arial"/>
                <a:cs typeface="Arial"/>
              </a:rPr>
              <a:t>invested,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profits </a:t>
            </a:r>
            <a:r>
              <a:rPr dirty="0" sz="1150" spc="-50">
                <a:latin typeface="Arial"/>
                <a:cs typeface="Arial"/>
              </a:rPr>
              <a:t>earned by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reinvested </a:t>
            </a:r>
            <a:r>
              <a:rPr dirty="0" sz="1150" spc="-20">
                <a:latin typeface="Arial"/>
                <a:cs typeface="Arial"/>
              </a:rPr>
              <a:t>in the</a:t>
            </a:r>
            <a:r>
              <a:rPr dirty="0" sz="1150" spc="-24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company.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4340" cy="7931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95" b="1">
                <a:latin typeface="Arial"/>
                <a:cs typeface="Arial"/>
              </a:rPr>
              <a:t>Double-Entry</a:t>
            </a:r>
            <a:r>
              <a:rPr dirty="0" sz="1350" spc="-60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Accounting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6985">
              <a:lnSpc>
                <a:spcPct val="101699"/>
              </a:lnSpc>
            </a:pPr>
            <a:r>
              <a:rPr dirty="0" sz="1150" spc="-9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keep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accounting </a:t>
            </a:r>
            <a:r>
              <a:rPr dirty="0" sz="1150" spc="-30">
                <a:latin typeface="Arial"/>
                <a:cs typeface="Arial"/>
              </a:rPr>
              <a:t>equation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5">
                <a:latin typeface="Arial"/>
                <a:cs typeface="Arial"/>
              </a:rPr>
              <a:t>balance, </a:t>
            </a:r>
            <a:r>
              <a:rPr dirty="0" sz="1150" spc="-60">
                <a:latin typeface="Arial"/>
                <a:cs typeface="Arial"/>
              </a:rPr>
              <a:t>companies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system </a:t>
            </a:r>
            <a:r>
              <a:rPr dirty="0" sz="1150" spc="-50">
                <a:latin typeface="Arial"/>
                <a:cs typeface="Arial"/>
              </a:rPr>
              <a:t>developed by </a:t>
            </a:r>
            <a:r>
              <a:rPr dirty="0" sz="1150" spc="-85">
                <a:latin typeface="Arial"/>
                <a:cs typeface="Arial"/>
              </a:rPr>
              <a:t>Fra </a:t>
            </a:r>
            <a:r>
              <a:rPr dirty="0" sz="1150" spc="-95">
                <a:latin typeface="Arial"/>
                <a:cs typeface="Arial"/>
              </a:rPr>
              <a:t>Luca  </a:t>
            </a:r>
            <a:r>
              <a:rPr dirty="0" sz="1150" spc="-55">
                <a:latin typeface="Arial"/>
                <a:cs typeface="Arial"/>
              </a:rPr>
              <a:t>Pacioli,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30">
                <a:latin typeface="Arial"/>
                <a:cs typeface="Arial"/>
              </a:rPr>
              <a:t>Italian </a:t>
            </a:r>
            <a:r>
              <a:rPr dirty="0" sz="1150" spc="-40">
                <a:latin typeface="Arial"/>
                <a:cs typeface="Arial"/>
              </a:rPr>
              <a:t>monk,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1494. </a:t>
            </a:r>
            <a:r>
              <a:rPr dirty="0" sz="1150" spc="-40">
                <a:latin typeface="Arial"/>
                <a:cs typeface="Arial"/>
              </a:rPr>
              <a:t>Double-entry </a:t>
            </a:r>
            <a:r>
              <a:rPr dirty="0" sz="1150" spc="-45">
                <a:latin typeface="Arial"/>
                <a:cs typeface="Arial"/>
              </a:rPr>
              <a:t>accounting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way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0">
                <a:latin typeface="Arial"/>
                <a:cs typeface="Arial"/>
              </a:rPr>
              <a:t>recording </a:t>
            </a:r>
            <a:r>
              <a:rPr dirty="0" sz="1150" spc="-35">
                <a:latin typeface="Arial"/>
                <a:cs typeface="Arial"/>
              </a:rPr>
              <a:t>financial  </a:t>
            </a:r>
            <a:r>
              <a:rPr dirty="0" sz="1150" spc="-40">
                <a:latin typeface="Arial"/>
                <a:cs typeface="Arial"/>
              </a:rPr>
              <a:t>transactions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40">
                <a:latin typeface="Arial"/>
                <a:cs typeface="Arial"/>
              </a:rPr>
              <a:t>requires </a:t>
            </a:r>
            <a:r>
              <a:rPr dirty="0" sz="1150" spc="5">
                <a:latin typeface="Arial"/>
                <a:cs typeface="Arial"/>
              </a:rPr>
              <a:t>two </a:t>
            </a:r>
            <a:r>
              <a:rPr dirty="0" sz="1150" spc="-35">
                <a:latin typeface="Arial"/>
                <a:cs typeface="Arial"/>
              </a:rPr>
              <a:t>entries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35">
                <a:latin typeface="Arial"/>
                <a:cs typeface="Arial"/>
              </a:rPr>
              <a:t>transaction, </a:t>
            </a:r>
            <a:r>
              <a:rPr dirty="0" sz="1150" spc="-80">
                <a:latin typeface="Arial"/>
                <a:cs typeface="Arial"/>
              </a:rPr>
              <a:t>so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accounting</a:t>
            </a:r>
            <a:r>
              <a:rPr dirty="0" sz="1150" spc="-23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equation  </a:t>
            </a:r>
            <a:r>
              <a:rPr dirty="0" sz="1150" spc="-65">
                <a:latin typeface="Arial"/>
                <a:cs typeface="Arial"/>
              </a:rPr>
              <a:t>is always </a:t>
            </a:r>
            <a:r>
              <a:rPr dirty="0" sz="1150" spc="-30">
                <a:latin typeface="Arial"/>
                <a:cs typeface="Arial"/>
              </a:rPr>
              <a:t>kept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balance.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buAutoNum type="alphaLcPeriod"/>
              <a:tabLst>
                <a:tab pos="927735" algn="l"/>
              </a:tabLst>
            </a:pPr>
            <a:r>
              <a:rPr dirty="0" sz="1150" spc="-80">
                <a:latin typeface="Arial"/>
                <a:cs typeface="Arial"/>
              </a:rPr>
              <a:t>Every </a:t>
            </a:r>
            <a:r>
              <a:rPr dirty="0" sz="1150" spc="-35">
                <a:latin typeface="Arial"/>
                <a:cs typeface="Arial"/>
              </a:rPr>
              <a:t>transaction </a:t>
            </a:r>
            <a:r>
              <a:rPr dirty="0" sz="1150" spc="-85">
                <a:latin typeface="Arial"/>
                <a:cs typeface="Arial"/>
              </a:rPr>
              <a:t>has </a:t>
            </a:r>
            <a:r>
              <a:rPr dirty="0" sz="1150">
                <a:latin typeface="Arial"/>
                <a:cs typeface="Arial"/>
              </a:rPr>
              <a:t>two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35">
                <a:latin typeface="Arial"/>
                <a:cs typeface="Arial"/>
              </a:rPr>
              <a:t>effects: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AutoNum type="alphaLcPeriod"/>
            </a:pPr>
            <a:endParaRPr sz="1200">
              <a:latin typeface="Arial"/>
              <a:cs typeface="Arial"/>
            </a:endParaRPr>
          </a:p>
          <a:p>
            <a:pPr lvl="1" marL="1612900" indent="-22923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613535" algn="l"/>
              </a:tabLst>
            </a:pPr>
            <a:r>
              <a:rPr dirty="0" sz="1150" spc="-35">
                <a:latin typeface="Arial"/>
                <a:cs typeface="Arial"/>
              </a:rPr>
              <a:t>Debit</a:t>
            </a:r>
            <a:endParaRPr sz="1150">
              <a:latin typeface="Arial"/>
              <a:cs typeface="Arial"/>
            </a:endParaRPr>
          </a:p>
          <a:p>
            <a:pPr lvl="1" marL="1612900" indent="-229235">
              <a:lnSpc>
                <a:spcPct val="100000"/>
              </a:lnSpc>
              <a:spcBef>
                <a:spcPts val="20"/>
              </a:spcBef>
              <a:buAutoNum type="arabicPeriod"/>
              <a:tabLst>
                <a:tab pos="1613535" algn="l"/>
              </a:tabLst>
            </a:pPr>
            <a:r>
              <a:rPr dirty="0" sz="1150" spc="-45">
                <a:latin typeface="Arial"/>
                <a:cs typeface="Arial"/>
              </a:rPr>
              <a:t>Credit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5"/>
              </a:spcBef>
              <a:buAutoNum type="alphaLcPeriod"/>
              <a:tabLst>
                <a:tab pos="927735" algn="l"/>
              </a:tabLst>
            </a:pP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20">
                <a:latin typeface="Arial"/>
                <a:cs typeface="Arial"/>
              </a:rPr>
              <a:t>debit, </a:t>
            </a:r>
            <a:r>
              <a:rPr dirty="0" sz="1150" spc="-25">
                <a:latin typeface="Arial"/>
                <a:cs typeface="Arial"/>
              </a:rPr>
              <a:t>there </a:t>
            </a:r>
            <a:r>
              <a:rPr dirty="0" sz="1150" spc="-65">
                <a:latin typeface="Arial"/>
                <a:cs typeface="Arial"/>
              </a:rPr>
              <a:t>is always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credit.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0"/>
              </a:spcBef>
              <a:buAutoNum type="alphaLcPeriod"/>
              <a:tabLst>
                <a:tab pos="926465" algn="l"/>
                <a:tab pos="927735" algn="l"/>
              </a:tabLst>
            </a:pPr>
            <a:r>
              <a:rPr dirty="0" sz="1150" spc="-65">
                <a:latin typeface="Arial"/>
                <a:cs typeface="Arial"/>
              </a:rPr>
              <a:t>For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25">
                <a:latin typeface="Arial"/>
                <a:cs typeface="Arial"/>
              </a:rPr>
              <a:t>credit, there </a:t>
            </a:r>
            <a:r>
              <a:rPr dirty="0" sz="1150" spc="-65">
                <a:latin typeface="Arial"/>
                <a:cs typeface="Arial"/>
              </a:rPr>
              <a:t>is always </a:t>
            </a:r>
            <a:r>
              <a:rPr dirty="0" sz="1150" spc="-90">
                <a:latin typeface="Arial"/>
                <a:cs typeface="Arial"/>
              </a:rPr>
              <a:t>a</a:t>
            </a:r>
            <a:r>
              <a:rPr dirty="0" sz="1150" spc="-114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debit.</a:t>
            </a:r>
            <a:endParaRPr sz="1150">
              <a:latin typeface="Arial"/>
              <a:cs typeface="Arial"/>
            </a:endParaRPr>
          </a:p>
          <a:p>
            <a:pPr marL="927100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927735" algn="l"/>
              </a:tabLst>
            </a:pPr>
            <a:r>
              <a:rPr dirty="0" sz="1150" spc="-35">
                <a:latin typeface="Arial"/>
                <a:cs typeface="Arial"/>
              </a:rPr>
              <a:t>Debit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credit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65">
                <a:latin typeface="Arial"/>
                <a:cs typeface="Arial"/>
              </a:rPr>
              <a:t>always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equal.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40" b="1">
                <a:latin typeface="Arial"/>
                <a:cs typeface="Arial"/>
              </a:rPr>
              <a:t>FINANCIAL</a:t>
            </a:r>
            <a:r>
              <a:rPr dirty="0" sz="1350" spc="-65" b="1">
                <a:latin typeface="Arial"/>
                <a:cs typeface="Arial"/>
              </a:rPr>
              <a:t> </a:t>
            </a:r>
            <a:r>
              <a:rPr dirty="0" sz="1350" spc="-170" b="1">
                <a:latin typeface="Arial"/>
                <a:cs typeface="Arial"/>
              </a:rPr>
              <a:t>STATEMENTS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8890">
              <a:lnSpc>
                <a:spcPct val="101699"/>
              </a:lnSpc>
              <a:spcBef>
                <a:spcPts val="5"/>
              </a:spcBef>
            </a:pP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5">
                <a:latin typeface="Arial"/>
                <a:cs typeface="Arial"/>
              </a:rPr>
              <a:t>several </a:t>
            </a:r>
            <a:r>
              <a:rPr dirty="0" sz="1150" spc="-50">
                <a:latin typeface="Arial"/>
                <a:cs typeface="Arial"/>
              </a:rPr>
              <a:t>types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5">
                <a:latin typeface="Arial"/>
                <a:cs typeface="Arial"/>
              </a:rPr>
              <a:t>reports </a:t>
            </a:r>
            <a:r>
              <a:rPr dirty="0" sz="1150" spc="-55">
                <a:latin typeface="Arial"/>
                <a:cs typeface="Arial"/>
              </a:rPr>
              <a:t>summarizing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company’s </a:t>
            </a:r>
            <a:r>
              <a:rPr dirty="0" sz="1150" spc="-35">
                <a:latin typeface="Arial"/>
                <a:cs typeface="Arial"/>
              </a:rPr>
              <a:t>financial </a:t>
            </a:r>
            <a:r>
              <a:rPr dirty="0" sz="1150" spc="-45">
                <a:latin typeface="Arial"/>
                <a:cs typeface="Arial"/>
              </a:rPr>
              <a:t>status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5">
                <a:latin typeface="Arial"/>
                <a:cs typeface="Arial"/>
              </a:rPr>
              <a:t>aid </a:t>
            </a:r>
            <a:r>
              <a:rPr dirty="0" sz="1150" spc="-20">
                <a:latin typeface="Arial"/>
                <a:cs typeface="Arial"/>
              </a:rPr>
              <a:t>in   </a:t>
            </a:r>
            <a:r>
              <a:rPr dirty="0" sz="1150" spc="-50">
                <a:latin typeface="Arial"/>
                <a:cs typeface="Arial"/>
              </a:rPr>
              <a:t>managerial decision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making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buAutoNum type="arabicParenR"/>
              <a:tabLst>
                <a:tab pos="469900" algn="l"/>
              </a:tabLst>
            </a:pPr>
            <a:r>
              <a:rPr dirty="0" sz="1350" spc="-114" b="1">
                <a:latin typeface="Arial"/>
                <a:cs typeface="Arial"/>
              </a:rPr>
              <a:t>Balance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00" b="1">
                <a:latin typeface="Arial"/>
                <a:cs typeface="Arial"/>
              </a:rPr>
              <a:t>Sheet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arenR"/>
            </a:pPr>
            <a:endParaRPr sz="1200">
              <a:latin typeface="Arial"/>
              <a:cs typeface="Arial"/>
            </a:endParaRPr>
          </a:p>
          <a:p>
            <a:pPr algn="just" marL="194945" marR="7620">
              <a:lnSpc>
                <a:spcPct val="101699"/>
              </a:lnSpc>
            </a:pPr>
            <a:r>
              <a:rPr dirty="0" sz="1150" spc="-70">
                <a:latin typeface="Arial"/>
                <a:cs typeface="Arial"/>
              </a:rPr>
              <a:t>Also </a:t>
            </a:r>
            <a:r>
              <a:rPr dirty="0" sz="1150" spc="-35">
                <a:latin typeface="Arial"/>
                <a:cs typeface="Arial"/>
              </a:rPr>
              <a:t>known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statement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financial </a:t>
            </a:r>
            <a:r>
              <a:rPr dirty="0" sz="1150" spc="-25">
                <a:latin typeface="Arial"/>
                <a:cs typeface="Arial"/>
              </a:rPr>
              <a:t>position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kind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“snapshot </a:t>
            </a:r>
            <a:r>
              <a:rPr dirty="0" sz="1150" spc="35">
                <a:latin typeface="Arial"/>
                <a:cs typeface="Arial"/>
              </a:rPr>
              <a:t>“of </a:t>
            </a:r>
            <a:r>
              <a:rPr dirty="0" sz="1150" spc="-35">
                <a:latin typeface="Arial"/>
                <a:cs typeface="Arial"/>
              </a:rPr>
              <a:t>where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55">
                <a:latin typeface="Arial"/>
                <a:cs typeface="Arial"/>
              </a:rPr>
              <a:t>company </a:t>
            </a:r>
            <a:r>
              <a:rPr dirty="0" sz="1150" spc="-50">
                <a:latin typeface="Arial"/>
                <a:cs typeface="Arial"/>
              </a:rPr>
              <a:t>is, </a:t>
            </a:r>
            <a:r>
              <a:rPr dirty="0" sz="1150" spc="-35">
                <a:latin typeface="Arial"/>
                <a:cs typeface="Arial"/>
              </a:rPr>
              <a:t>financially </a:t>
            </a:r>
            <a:r>
              <a:rPr dirty="0" sz="1150" spc="-60">
                <a:latin typeface="Arial"/>
                <a:cs typeface="Arial"/>
              </a:rPr>
              <a:t>speaking,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30">
                <a:latin typeface="Arial"/>
                <a:cs typeface="Arial"/>
              </a:rPr>
              <a:t>moment </a:t>
            </a:r>
            <a:r>
              <a:rPr dirty="0" sz="1150" spc="-20">
                <a:latin typeface="Arial"/>
                <a:cs typeface="Arial"/>
              </a:rPr>
              <a:t>in</a:t>
            </a:r>
            <a:r>
              <a:rPr dirty="0" sz="1150" spc="-195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time.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algn="just" marL="194945" marR="5080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balance </a:t>
            </a:r>
            <a:r>
              <a:rPr dirty="0" sz="1150" spc="-50">
                <a:latin typeface="Arial"/>
                <a:cs typeface="Arial"/>
              </a:rPr>
              <a:t>sheet includes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elements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50">
                <a:latin typeface="Arial"/>
                <a:cs typeface="Arial"/>
              </a:rPr>
              <a:t>accounting </a:t>
            </a:r>
            <a:r>
              <a:rPr dirty="0" sz="1150" spc="-35">
                <a:latin typeface="Arial"/>
                <a:cs typeface="Arial"/>
              </a:rPr>
              <a:t>equation, </a:t>
            </a:r>
            <a:r>
              <a:rPr dirty="0" sz="1150" spc="-50">
                <a:latin typeface="Arial"/>
                <a:cs typeface="Arial"/>
              </a:rPr>
              <a:t>showing </a:t>
            </a:r>
            <a:r>
              <a:rPr dirty="0" sz="1150" spc="-20">
                <a:latin typeface="Arial"/>
                <a:cs typeface="Arial"/>
              </a:rPr>
              <a:t>the  </a:t>
            </a:r>
            <a:r>
              <a:rPr dirty="0" sz="1150" spc="-60">
                <a:latin typeface="Arial"/>
                <a:cs typeface="Arial"/>
              </a:rPr>
              <a:t>balance </a:t>
            </a:r>
            <a:r>
              <a:rPr dirty="0" sz="1150" spc="-35">
                <a:latin typeface="Arial"/>
                <a:cs typeface="Arial"/>
              </a:rPr>
              <a:t>between </a:t>
            </a:r>
            <a:r>
              <a:rPr dirty="0" sz="1150" spc="-85">
                <a:latin typeface="Arial"/>
                <a:cs typeface="Arial"/>
              </a:rPr>
              <a:t>assets </a:t>
            </a:r>
            <a:r>
              <a:rPr dirty="0" sz="1150" spc="-40">
                <a:latin typeface="Arial"/>
                <a:cs typeface="Arial"/>
              </a:rPr>
              <a:t>on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60">
                <a:latin typeface="Arial"/>
                <a:cs typeface="Arial"/>
              </a:rPr>
              <a:t>side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liabilities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owners’ </a:t>
            </a:r>
            <a:r>
              <a:rPr dirty="0" sz="1150" spc="-25">
                <a:latin typeface="Arial"/>
                <a:cs typeface="Arial"/>
              </a:rPr>
              <a:t>equity </a:t>
            </a:r>
            <a:r>
              <a:rPr dirty="0" sz="1150" spc="-35">
                <a:latin typeface="Arial"/>
                <a:cs typeface="Arial"/>
              </a:rPr>
              <a:t>on </a:t>
            </a:r>
            <a:r>
              <a:rPr dirty="0" sz="1150" spc="-20">
                <a:latin typeface="Arial"/>
                <a:cs typeface="Arial"/>
              </a:rPr>
              <a:t>the other. </a:t>
            </a:r>
            <a:r>
              <a:rPr dirty="0" sz="1150" spc="-80">
                <a:latin typeface="Arial"/>
                <a:cs typeface="Arial"/>
              </a:rPr>
              <a:t>Every  </a:t>
            </a:r>
            <a:r>
              <a:rPr dirty="0" sz="1150" spc="-55">
                <a:latin typeface="Arial"/>
                <a:cs typeface="Arial"/>
              </a:rPr>
              <a:t>company prepares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60">
                <a:latin typeface="Arial"/>
                <a:cs typeface="Arial"/>
              </a:rPr>
              <a:t>balance </a:t>
            </a:r>
            <a:r>
              <a:rPr dirty="0" sz="1150" spc="-50">
                <a:latin typeface="Arial"/>
                <a:cs typeface="Arial"/>
              </a:rPr>
              <a:t>sheet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45">
                <a:latin typeface="Arial"/>
                <a:cs typeface="Arial"/>
              </a:rPr>
              <a:t>least </a:t>
            </a:r>
            <a:r>
              <a:rPr dirty="0" sz="1150" spc="-55">
                <a:latin typeface="Arial"/>
                <a:cs typeface="Arial"/>
              </a:rPr>
              <a:t>once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year, </a:t>
            </a:r>
            <a:r>
              <a:rPr dirty="0" sz="1150" spc="-30">
                <a:latin typeface="Arial"/>
                <a:cs typeface="Arial"/>
              </a:rPr>
              <a:t>most </a:t>
            </a:r>
            <a:r>
              <a:rPr dirty="0" sz="1150" spc="-10">
                <a:latin typeface="Arial"/>
                <a:cs typeface="Arial"/>
              </a:rPr>
              <a:t>often </a:t>
            </a:r>
            <a:r>
              <a:rPr dirty="0" sz="1150" spc="-15">
                <a:latin typeface="Arial"/>
                <a:cs typeface="Arial"/>
              </a:rPr>
              <a:t>at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end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  </a:t>
            </a:r>
            <a:r>
              <a:rPr dirty="0" sz="1150" spc="-50">
                <a:latin typeface="Arial"/>
                <a:cs typeface="Arial"/>
              </a:rPr>
              <a:t>calendar year, </a:t>
            </a:r>
            <a:r>
              <a:rPr dirty="0" sz="1150" spc="-75">
                <a:latin typeface="Arial"/>
                <a:cs typeface="Arial"/>
              </a:rPr>
              <a:t>January </a:t>
            </a:r>
            <a:r>
              <a:rPr dirty="0" sz="1150" spc="-60">
                <a:latin typeface="Arial"/>
                <a:cs typeface="Arial"/>
              </a:rPr>
              <a:t>1 </a:t>
            </a:r>
            <a:r>
              <a:rPr dirty="0" sz="1150" spc="2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December </a:t>
            </a:r>
            <a:r>
              <a:rPr dirty="0" sz="1150" spc="-45">
                <a:latin typeface="Arial"/>
                <a:cs typeface="Arial"/>
              </a:rPr>
              <a:t>31.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50">
                <a:latin typeface="Arial"/>
                <a:cs typeface="Arial"/>
              </a:rPr>
              <a:t>fiscal year, </a:t>
            </a:r>
            <a:r>
              <a:rPr dirty="0" sz="1150" spc="-65">
                <a:latin typeface="Arial"/>
                <a:cs typeface="Arial"/>
              </a:rPr>
              <a:t>any </a:t>
            </a:r>
            <a:r>
              <a:rPr dirty="0" sz="1150" spc="-55">
                <a:latin typeface="Arial"/>
                <a:cs typeface="Arial"/>
              </a:rPr>
              <a:t>12 </a:t>
            </a:r>
            <a:r>
              <a:rPr dirty="0" sz="1150" spc="-50">
                <a:latin typeface="Arial"/>
                <a:cs typeface="Arial"/>
              </a:rPr>
              <a:t>consecutive </a:t>
            </a:r>
            <a:r>
              <a:rPr dirty="0" sz="1150" spc="-35">
                <a:latin typeface="Arial"/>
                <a:cs typeface="Arial"/>
              </a:rPr>
              <a:t>months, </a:t>
            </a:r>
            <a:r>
              <a:rPr dirty="0" sz="1150" spc="-65">
                <a:latin typeface="Arial"/>
                <a:cs typeface="Arial"/>
              </a:rPr>
              <a:t>is  </a:t>
            </a:r>
            <a:r>
              <a:rPr dirty="0" sz="1150" spc="-70">
                <a:latin typeface="Arial"/>
                <a:cs typeface="Arial"/>
              </a:rPr>
              <a:t>used </a:t>
            </a:r>
            <a:r>
              <a:rPr dirty="0" sz="1150" spc="-50">
                <a:latin typeface="Arial"/>
                <a:cs typeface="Arial"/>
              </a:rPr>
              <a:t>by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government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bodies.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5"/>
              </a:spcBef>
              <a:buAutoNum type="alphaLcPeriod"/>
              <a:tabLst>
                <a:tab pos="927100" algn="l"/>
              </a:tabLst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0">
                <a:latin typeface="Arial"/>
                <a:cs typeface="Arial"/>
              </a:rPr>
              <a:t>sheet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70">
                <a:latin typeface="Arial"/>
                <a:cs typeface="Arial"/>
              </a:rPr>
              <a:t>shows balances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85">
                <a:latin typeface="Arial"/>
                <a:cs typeface="Arial"/>
              </a:rPr>
              <a:t>assets </a:t>
            </a:r>
            <a:r>
              <a:rPr dirty="0" sz="1150" spc="-55">
                <a:latin typeface="Arial"/>
                <a:cs typeface="Arial"/>
              </a:rPr>
              <a:t>and</a:t>
            </a:r>
            <a:r>
              <a:rPr dirty="0" sz="1150" spc="-4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liabilities.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AutoNum type="alphaLcPeriod"/>
            </a:pPr>
            <a:endParaRPr sz="120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buAutoNum type="alphaLcPeriod"/>
              <a:tabLst>
                <a:tab pos="927100" algn="l"/>
              </a:tabLst>
            </a:pPr>
            <a:r>
              <a:rPr dirty="0" sz="1150" spc="-100" b="1">
                <a:latin typeface="Arial"/>
                <a:cs typeface="Arial"/>
              </a:rPr>
              <a:t>Balance </a:t>
            </a:r>
            <a:r>
              <a:rPr dirty="0" sz="1150" spc="-80" b="1">
                <a:latin typeface="Arial"/>
                <a:cs typeface="Arial"/>
              </a:rPr>
              <a:t>sheet</a:t>
            </a:r>
            <a:r>
              <a:rPr dirty="0" sz="1150" spc="-25" b="1">
                <a:latin typeface="Arial"/>
                <a:cs typeface="Arial"/>
              </a:rPr>
              <a:t> </a:t>
            </a:r>
            <a:r>
              <a:rPr dirty="0" sz="1150" spc="-95" b="1">
                <a:latin typeface="Arial"/>
                <a:cs typeface="Arial"/>
              </a:rPr>
              <a:t>includes: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AutoNum type="alphaLcPeriod"/>
            </a:pPr>
            <a:endParaRPr sz="1200">
              <a:latin typeface="Arial"/>
              <a:cs typeface="Arial"/>
            </a:endParaRPr>
          </a:p>
          <a:p>
            <a:pPr lvl="2" marL="1384300" indent="-229235">
              <a:lnSpc>
                <a:spcPct val="100000"/>
              </a:lnSpc>
              <a:buAutoNum type="alphaLcPeriod"/>
              <a:tabLst>
                <a:tab pos="1384935" algn="l"/>
              </a:tabLst>
            </a:pPr>
            <a:r>
              <a:rPr dirty="0" sz="1150" spc="-30">
                <a:latin typeface="Arial"/>
                <a:cs typeface="Arial"/>
              </a:rPr>
              <a:t>Title</a:t>
            </a:r>
            <a:endParaRPr sz="1150">
              <a:latin typeface="Arial"/>
              <a:cs typeface="Arial"/>
            </a:endParaRPr>
          </a:p>
          <a:p>
            <a:pPr lvl="3" marL="1841500" indent="-185420">
              <a:lnSpc>
                <a:spcPct val="100000"/>
              </a:lnSpc>
              <a:spcBef>
                <a:spcPts val="25"/>
              </a:spcBef>
              <a:buAutoNum type="romanLcPeriod"/>
              <a:tabLst>
                <a:tab pos="1842135" algn="l"/>
              </a:tabLst>
            </a:pPr>
            <a:r>
              <a:rPr dirty="0" sz="1150" spc="-70">
                <a:latin typeface="Arial"/>
                <a:cs typeface="Arial"/>
              </a:rPr>
              <a:t>Name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company</a:t>
            </a:r>
            <a:endParaRPr sz="1150">
              <a:latin typeface="Arial"/>
              <a:cs typeface="Arial"/>
            </a:endParaRPr>
          </a:p>
          <a:p>
            <a:pPr lvl="3" marL="1841500" indent="-219075">
              <a:lnSpc>
                <a:spcPct val="100000"/>
              </a:lnSpc>
              <a:spcBef>
                <a:spcPts val="20"/>
              </a:spcBef>
              <a:buAutoNum type="romanLcPeriod"/>
              <a:tabLst>
                <a:tab pos="1842135" algn="l"/>
              </a:tabLst>
            </a:pPr>
            <a:r>
              <a:rPr dirty="0" sz="1150" spc="-70">
                <a:latin typeface="Arial"/>
                <a:cs typeface="Arial"/>
              </a:rPr>
              <a:t>Name </a:t>
            </a:r>
            <a:r>
              <a:rPr dirty="0" sz="1150">
                <a:latin typeface="Arial"/>
                <a:cs typeface="Arial"/>
              </a:rPr>
              <a:t>of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statement</a:t>
            </a:r>
            <a:endParaRPr sz="1150">
              <a:latin typeface="Arial"/>
              <a:cs typeface="Arial"/>
            </a:endParaRPr>
          </a:p>
          <a:p>
            <a:pPr lvl="3" marL="1841500" indent="-252095">
              <a:lnSpc>
                <a:spcPct val="100000"/>
              </a:lnSpc>
              <a:spcBef>
                <a:spcPts val="25"/>
              </a:spcBef>
              <a:buAutoNum type="romanLcPeriod"/>
              <a:tabLst>
                <a:tab pos="1842135" algn="l"/>
              </a:tabLst>
            </a:pPr>
            <a:r>
              <a:rPr dirty="0" sz="1150" spc="-50">
                <a:latin typeface="Arial"/>
                <a:cs typeface="Arial"/>
              </a:rPr>
              <a:t>Period</a:t>
            </a:r>
            <a:endParaRPr sz="1150">
              <a:latin typeface="Arial"/>
              <a:cs typeface="Arial"/>
            </a:endParaRPr>
          </a:p>
          <a:p>
            <a:pPr lvl="2" marL="1384300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1384935" algn="l"/>
              </a:tabLst>
            </a:pPr>
            <a:r>
              <a:rPr dirty="0" sz="1150" spc="-75">
                <a:latin typeface="Arial"/>
                <a:cs typeface="Arial"/>
              </a:rPr>
              <a:t>Asset </a:t>
            </a:r>
            <a:r>
              <a:rPr dirty="0" sz="1150" spc="-60">
                <a:latin typeface="Arial"/>
                <a:cs typeface="Arial"/>
              </a:rPr>
              <a:t>side</a:t>
            </a:r>
            <a:endParaRPr sz="1150">
              <a:latin typeface="Arial"/>
              <a:cs typeface="Arial"/>
            </a:endParaRPr>
          </a:p>
          <a:p>
            <a:pPr lvl="2" marL="1384300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1383665" algn="l"/>
                <a:tab pos="1384935" algn="l"/>
              </a:tabLst>
            </a:pPr>
            <a:r>
              <a:rPr dirty="0" sz="1150" spc="-40">
                <a:latin typeface="Arial"/>
                <a:cs typeface="Arial"/>
              </a:rPr>
              <a:t>Liabilities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5">
                <a:latin typeface="Arial"/>
                <a:cs typeface="Arial"/>
              </a:rPr>
              <a:t>owner’s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equity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194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4611" y="2304288"/>
            <a:ext cx="7200900" cy="50291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195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3705" cy="38284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2405" indent="-180340">
              <a:lnSpc>
                <a:spcPct val="100000"/>
              </a:lnSpc>
              <a:spcBef>
                <a:spcPts val="105"/>
              </a:spcBef>
              <a:buAutoNum type="arabicParenR" startAt="2"/>
              <a:tabLst>
                <a:tab pos="193040" algn="l"/>
              </a:tabLst>
            </a:pPr>
            <a:r>
              <a:rPr dirty="0" sz="1350" spc="-80" b="1">
                <a:latin typeface="Arial"/>
                <a:cs typeface="Arial"/>
              </a:rPr>
              <a:t>Trial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14" b="1">
                <a:latin typeface="Arial"/>
                <a:cs typeface="Arial"/>
              </a:rPr>
              <a:t>Balance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AutoNum type="arabicParenR" startAt="2"/>
            </a:pPr>
            <a:endParaRPr sz="1200">
              <a:latin typeface="Arial"/>
              <a:cs typeface="Arial"/>
            </a:endParaRPr>
          </a:p>
          <a:p>
            <a:pPr algn="just" marL="12700" marR="6350">
              <a:lnSpc>
                <a:spcPct val="101699"/>
              </a:lnSpc>
            </a:pP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5">
                <a:latin typeface="Arial"/>
                <a:cs typeface="Arial"/>
              </a:rPr>
              <a:t>trial </a:t>
            </a:r>
            <a:r>
              <a:rPr dirty="0" sz="1150" spc="-60">
                <a:latin typeface="Arial"/>
                <a:cs typeface="Arial"/>
              </a:rPr>
              <a:t>balance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list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>
                <a:latin typeface="Arial"/>
                <a:cs typeface="Arial"/>
              </a:rPr>
              <a:t>total of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15">
                <a:latin typeface="Arial"/>
                <a:cs typeface="Arial"/>
              </a:rPr>
              <a:t>debit </a:t>
            </a:r>
            <a:r>
              <a:rPr dirty="0" sz="1150" spc="-60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credit </a:t>
            </a:r>
            <a:r>
              <a:rPr dirty="0" sz="1150" spc="-60">
                <a:latin typeface="Arial"/>
                <a:cs typeface="Arial"/>
              </a:rPr>
              <a:t>accounts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10">
                <a:latin typeface="Arial"/>
                <a:cs typeface="Arial"/>
              </a:rPr>
              <a:t>entity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5">
                <a:latin typeface="Arial"/>
                <a:cs typeface="Arial"/>
              </a:rPr>
              <a:t>given  </a:t>
            </a:r>
            <a:r>
              <a:rPr dirty="0" sz="1150" spc="-30">
                <a:latin typeface="Arial"/>
                <a:cs typeface="Arial"/>
              </a:rPr>
              <a:t>period </a:t>
            </a:r>
            <a:r>
              <a:rPr dirty="0" sz="1150" spc="-70">
                <a:latin typeface="Arial"/>
                <a:cs typeface="Arial"/>
              </a:rPr>
              <a:t>– </a:t>
            </a:r>
            <a:r>
              <a:rPr dirty="0" sz="1150" spc="-50">
                <a:latin typeface="Arial"/>
                <a:cs typeface="Arial"/>
              </a:rPr>
              <a:t>usually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0">
                <a:latin typeface="Arial"/>
                <a:cs typeface="Arial"/>
              </a:rPr>
              <a:t>month.</a:t>
            </a:r>
            <a:r>
              <a:rPr dirty="0" sz="1150" spc="275">
                <a:latin typeface="Arial"/>
                <a:cs typeface="Arial"/>
              </a:rPr>
              <a:t>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10">
                <a:latin typeface="Arial"/>
                <a:cs typeface="Arial"/>
              </a:rPr>
              <a:t>format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">
                <a:latin typeface="Arial"/>
                <a:cs typeface="Arial"/>
              </a:rPr>
              <a:t>trial </a:t>
            </a:r>
            <a:r>
              <a:rPr dirty="0" sz="1150" spc="-60">
                <a:latin typeface="Arial"/>
                <a:cs typeface="Arial"/>
              </a:rPr>
              <a:t>balance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two-column </a:t>
            </a:r>
            <a:r>
              <a:rPr dirty="0" sz="1150" spc="-65">
                <a:latin typeface="Arial"/>
                <a:cs typeface="Arial"/>
              </a:rPr>
              <a:t>schedule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30">
                <a:latin typeface="Arial"/>
                <a:cs typeface="Arial"/>
              </a:rPr>
              <a:t>all  </a:t>
            </a:r>
            <a:r>
              <a:rPr dirty="0" sz="1150" spc="-20">
                <a:latin typeface="Arial"/>
                <a:cs typeface="Arial"/>
              </a:rPr>
              <a:t>the debit </a:t>
            </a:r>
            <a:r>
              <a:rPr dirty="0" sz="1150" spc="-70">
                <a:latin typeface="Arial"/>
                <a:cs typeface="Arial"/>
              </a:rPr>
              <a:t>balances </a:t>
            </a:r>
            <a:r>
              <a:rPr dirty="0" sz="1150" spc="-30">
                <a:latin typeface="Arial"/>
                <a:cs typeface="Arial"/>
              </a:rPr>
              <a:t>listed </a:t>
            </a:r>
            <a:r>
              <a:rPr dirty="0" sz="1150" spc="-25">
                <a:latin typeface="Arial"/>
                <a:cs typeface="Arial"/>
              </a:rPr>
              <a:t>in </a:t>
            </a:r>
            <a:r>
              <a:rPr dirty="0" sz="1150" spc="-50">
                <a:latin typeface="Arial"/>
                <a:cs typeface="Arial"/>
              </a:rPr>
              <a:t>one </a:t>
            </a:r>
            <a:r>
              <a:rPr dirty="0" sz="1150" spc="-40">
                <a:latin typeface="Arial"/>
                <a:cs typeface="Arial"/>
              </a:rPr>
              <a:t>column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credit </a:t>
            </a:r>
            <a:r>
              <a:rPr dirty="0" sz="1150" spc="-70">
                <a:latin typeface="Arial"/>
                <a:cs typeface="Arial"/>
              </a:rPr>
              <a:t>balances </a:t>
            </a:r>
            <a:r>
              <a:rPr dirty="0" sz="1150" spc="-30">
                <a:latin typeface="Arial"/>
                <a:cs typeface="Arial"/>
              </a:rPr>
              <a:t>listed </a:t>
            </a:r>
            <a:r>
              <a:rPr dirty="0" sz="1150" spc="-20">
                <a:latin typeface="Arial"/>
                <a:cs typeface="Arial"/>
              </a:rPr>
              <a:t>in the other. </a:t>
            </a:r>
            <a:r>
              <a:rPr dirty="0" sz="1150" spc="-85">
                <a:latin typeface="Arial"/>
                <a:cs typeface="Arial"/>
              </a:rPr>
              <a:t>The  </a:t>
            </a:r>
            <a:r>
              <a:rPr dirty="0" sz="1150" spc="-5">
                <a:latin typeface="Arial"/>
                <a:cs typeface="Arial"/>
              </a:rPr>
              <a:t>trial </a:t>
            </a:r>
            <a:r>
              <a:rPr dirty="0" sz="1150" spc="-60">
                <a:latin typeface="Arial"/>
                <a:cs typeface="Arial"/>
              </a:rPr>
              <a:t>balance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0">
                <a:latin typeface="Arial"/>
                <a:cs typeface="Arial"/>
              </a:rPr>
              <a:t>prepared </a:t>
            </a: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transactions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period </a:t>
            </a:r>
            <a:r>
              <a:rPr dirty="0" sz="1150" spc="-65">
                <a:latin typeface="Arial"/>
                <a:cs typeface="Arial"/>
              </a:rPr>
              <a:t>have </a:t>
            </a:r>
            <a:r>
              <a:rPr dirty="0" sz="1150" spc="-55">
                <a:latin typeface="Arial"/>
                <a:cs typeface="Arial"/>
              </a:rPr>
              <a:t>been </a:t>
            </a:r>
            <a:r>
              <a:rPr dirty="0" sz="1150" spc="-35">
                <a:latin typeface="Arial"/>
                <a:cs typeface="Arial"/>
              </a:rPr>
              <a:t>journalized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40">
                <a:latin typeface="Arial"/>
                <a:cs typeface="Arial"/>
              </a:rPr>
              <a:t>posted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5">
                <a:latin typeface="Arial"/>
                <a:cs typeface="Arial"/>
              </a:rPr>
              <a:t>General</a:t>
            </a:r>
            <a:r>
              <a:rPr dirty="0" sz="1150" spc="-190">
                <a:latin typeface="Arial"/>
                <a:cs typeface="Arial"/>
              </a:rPr>
              <a:t> </a:t>
            </a:r>
            <a:r>
              <a:rPr dirty="0" sz="1150" spc="-70">
                <a:latin typeface="Arial"/>
                <a:cs typeface="Arial"/>
              </a:rPr>
              <a:t>Ledger.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1699"/>
              </a:lnSpc>
            </a:pPr>
            <a:r>
              <a:rPr dirty="0" sz="1150" spc="-100">
                <a:latin typeface="Arial"/>
                <a:cs typeface="Arial"/>
              </a:rPr>
              <a:t>Key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preparing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">
                <a:latin typeface="Arial"/>
                <a:cs typeface="Arial"/>
              </a:rPr>
              <a:t>trial </a:t>
            </a:r>
            <a:r>
              <a:rPr dirty="0" sz="1150" spc="-60">
                <a:latin typeface="Arial"/>
                <a:cs typeface="Arial"/>
              </a:rPr>
              <a:t>balance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55">
                <a:latin typeface="Arial"/>
                <a:cs typeface="Arial"/>
              </a:rPr>
              <a:t>making sure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30">
                <a:latin typeface="Arial"/>
                <a:cs typeface="Arial"/>
              </a:rPr>
              <a:t>all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account </a:t>
            </a:r>
            <a:r>
              <a:rPr dirty="0" sz="1150" spc="-70">
                <a:latin typeface="Arial"/>
                <a:cs typeface="Arial"/>
              </a:rPr>
              <a:t>balances </a:t>
            </a:r>
            <a:r>
              <a:rPr dirty="0" sz="1150" spc="-55">
                <a:latin typeface="Arial"/>
                <a:cs typeface="Arial"/>
              </a:rPr>
              <a:t>are </a:t>
            </a:r>
            <a:r>
              <a:rPr dirty="0" sz="1150" spc="-30">
                <a:latin typeface="Arial"/>
                <a:cs typeface="Arial"/>
              </a:rPr>
              <a:t>listed </a:t>
            </a:r>
            <a:r>
              <a:rPr dirty="0" sz="1150" spc="-35">
                <a:latin typeface="Arial"/>
                <a:cs typeface="Arial"/>
              </a:rPr>
              <a:t>under 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25">
                <a:latin typeface="Arial"/>
                <a:cs typeface="Arial"/>
              </a:rPr>
              <a:t>correct </a:t>
            </a:r>
            <a:r>
              <a:rPr dirty="0" sz="1150" spc="-40">
                <a:latin typeface="Arial"/>
                <a:cs typeface="Arial"/>
              </a:rPr>
              <a:t>column.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appropriate </a:t>
            </a:r>
            <a:r>
              <a:rPr dirty="0" sz="1150" spc="-50">
                <a:latin typeface="Arial"/>
                <a:cs typeface="Arial"/>
              </a:rPr>
              <a:t>columns are </a:t>
            </a:r>
            <a:r>
              <a:rPr dirty="0" sz="1150" spc="-114">
                <a:latin typeface="Arial"/>
                <a:cs typeface="Arial"/>
              </a:rPr>
              <a:t>as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follows:</a:t>
            </a:r>
            <a:endParaRPr sz="1150">
              <a:latin typeface="Arial"/>
              <a:cs typeface="Arial"/>
            </a:endParaRPr>
          </a:p>
          <a:p>
            <a:pPr marL="12700" marR="3943985">
              <a:lnSpc>
                <a:spcPct val="101699"/>
              </a:lnSpc>
            </a:pPr>
            <a:r>
              <a:rPr dirty="0" sz="1150" spc="-85">
                <a:latin typeface="Arial"/>
                <a:cs typeface="Arial"/>
              </a:rPr>
              <a:t>Assets </a:t>
            </a:r>
            <a:r>
              <a:rPr dirty="0" sz="1150" spc="-100">
                <a:latin typeface="Arial"/>
                <a:cs typeface="Arial"/>
              </a:rPr>
              <a:t>= </a:t>
            </a:r>
            <a:r>
              <a:rPr dirty="0" sz="1150" spc="-40">
                <a:latin typeface="Arial"/>
                <a:cs typeface="Arial"/>
              </a:rPr>
              <a:t>Debit </a:t>
            </a:r>
            <a:r>
              <a:rPr dirty="0" sz="1150" spc="-60">
                <a:latin typeface="Arial"/>
                <a:cs typeface="Arial"/>
              </a:rPr>
              <a:t>balance  </a:t>
            </a:r>
            <a:r>
              <a:rPr dirty="0" sz="1150" spc="-40">
                <a:latin typeface="Arial"/>
                <a:cs typeface="Arial"/>
              </a:rPr>
              <a:t>Liabilities </a:t>
            </a:r>
            <a:r>
              <a:rPr dirty="0" sz="1150" spc="-100">
                <a:latin typeface="Arial"/>
                <a:cs typeface="Arial"/>
              </a:rPr>
              <a:t>= </a:t>
            </a:r>
            <a:r>
              <a:rPr dirty="0" sz="1150" spc="-45">
                <a:latin typeface="Arial"/>
                <a:cs typeface="Arial"/>
              </a:rPr>
              <a:t>Credit </a:t>
            </a:r>
            <a:r>
              <a:rPr dirty="0" sz="1150" spc="-60">
                <a:latin typeface="Arial"/>
                <a:cs typeface="Arial"/>
              </a:rPr>
              <a:t>balance  </a:t>
            </a:r>
            <a:r>
              <a:rPr dirty="0" sz="1150" spc="-95">
                <a:latin typeface="Arial"/>
                <a:cs typeface="Arial"/>
              </a:rPr>
              <a:t>Expenses </a:t>
            </a:r>
            <a:r>
              <a:rPr dirty="0" sz="1150" spc="-100">
                <a:latin typeface="Arial"/>
                <a:cs typeface="Arial"/>
              </a:rPr>
              <a:t>= </a:t>
            </a:r>
            <a:r>
              <a:rPr dirty="0" sz="1150" spc="-35">
                <a:latin typeface="Arial"/>
                <a:cs typeface="Arial"/>
              </a:rPr>
              <a:t>Debit </a:t>
            </a:r>
            <a:r>
              <a:rPr dirty="0" sz="1150" spc="-75">
                <a:latin typeface="Arial"/>
                <a:cs typeface="Arial"/>
              </a:rPr>
              <a:t>Balance  </a:t>
            </a:r>
            <a:r>
              <a:rPr dirty="0" sz="1150" spc="-50">
                <a:latin typeface="Arial"/>
                <a:cs typeface="Arial"/>
              </a:rPr>
              <a:t>Equity </a:t>
            </a:r>
            <a:r>
              <a:rPr dirty="0" sz="1150" spc="-100">
                <a:latin typeface="Arial"/>
                <a:cs typeface="Arial"/>
              </a:rPr>
              <a:t>= </a:t>
            </a:r>
            <a:r>
              <a:rPr dirty="0" sz="1150" spc="-45">
                <a:latin typeface="Arial"/>
                <a:cs typeface="Arial"/>
              </a:rPr>
              <a:t>Credit </a:t>
            </a:r>
            <a:r>
              <a:rPr dirty="0" sz="1150" spc="-60">
                <a:latin typeface="Arial"/>
                <a:cs typeface="Arial"/>
              </a:rPr>
              <a:t>balance  </a:t>
            </a:r>
            <a:r>
              <a:rPr dirty="0" sz="1150" spc="-80">
                <a:latin typeface="Arial"/>
                <a:cs typeface="Arial"/>
              </a:rPr>
              <a:t>Revenue </a:t>
            </a:r>
            <a:r>
              <a:rPr dirty="0" sz="1150" spc="-100">
                <a:latin typeface="Arial"/>
                <a:cs typeface="Arial"/>
              </a:rPr>
              <a:t>= </a:t>
            </a:r>
            <a:r>
              <a:rPr dirty="0" sz="1150" spc="-45">
                <a:latin typeface="Arial"/>
                <a:cs typeface="Arial"/>
              </a:rPr>
              <a:t>Credit</a:t>
            </a:r>
            <a:r>
              <a:rPr dirty="0" sz="1150" spc="-30">
                <a:latin typeface="Arial"/>
                <a:cs typeface="Arial"/>
              </a:rPr>
              <a:t> </a:t>
            </a:r>
            <a:r>
              <a:rPr dirty="0" sz="1150" spc="-60">
                <a:latin typeface="Arial"/>
                <a:cs typeface="Arial"/>
              </a:rPr>
              <a:t>balance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75" b="1">
                <a:latin typeface="Arial"/>
                <a:cs typeface="Arial"/>
              </a:rPr>
              <a:t>Trial </a:t>
            </a:r>
            <a:r>
              <a:rPr dirty="0" sz="1350" spc="-114" b="1">
                <a:latin typeface="Arial"/>
                <a:cs typeface="Arial"/>
              </a:rPr>
              <a:t>Balance</a:t>
            </a:r>
            <a:r>
              <a:rPr dirty="0" sz="1350" spc="-80" b="1">
                <a:latin typeface="Arial"/>
                <a:cs typeface="Arial"/>
              </a:rPr>
              <a:t> </a:t>
            </a:r>
            <a:r>
              <a:rPr dirty="0" sz="1350" spc="-120" b="1">
                <a:latin typeface="Arial"/>
                <a:cs typeface="Arial"/>
              </a:rPr>
              <a:t>Errors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 lvl="1" marL="469900" indent="-229235">
              <a:lnSpc>
                <a:spcPct val="100000"/>
              </a:lnSpc>
              <a:buFont typeface="Wingdings"/>
              <a:buChar char=""/>
              <a:tabLst>
                <a:tab pos="470534" algn="l"/>
              </a:tabLst>
            </a:pPr>
            <a:r>
              <a:rPr dirty="0" sz="1150" spc="-80">
                <a:latin typeface="Arial"/>
                <a:cs typeface="Arial"/>
              </a:rPr>
              <a:t>Those </a:t>
            </a:r>
            <a:r>
              <a:rPr dirty="0" sz="1150" spc="-35">
                <a:latin typeface="Arial"/>
                <a:cs typeface="Arial"/>
              </a:rPr>
              <a:t>errors which </a:t>
            </a:r>
            <a:r>
              <a:rPr dirty="0" sz="1150">
                <a:latin typeface="Arial"/>
                <a:cs typeface="Arial"/>
              </a:rPr>
              <a:t>will </a:t>
            </a:r>
            <a:r>
              <a:rPr dirty="0" sz="1150" spc="-25">
                <a:latin typeface="Arial"/>
                <a:cs typeface="Arial"/>
              </a:rPr>
              <a:t>affect </a:t>
            </a:r>
            <a:r>
              <a:rPr dirty="0" sz="1150" spc="-20">
                <a:latin typeface="Arial"/>
                <a:cs typeface="Arial"/>
              </a:rPr>
              <a:t>debit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credit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side.</a:t>
            </a:r>
            <a:endParaRPr sz="1150">
              <a:latin typeface="Arial"/>
              <a:cs typeface="Arial"/>
            </a:endParaRPr>
          </a:p>
          <a:p>
            <a:pPr lvl="1" marL="469900" marR="8890" indent="-229235">
              <a:lnSpc>
                <a:spcPct val="101699"/>
              </a:lnSpc>
              <a:buFont typeface="Wingdings"/>
              <a:buChar char=""/>
              <a:tabLst>
                <a:tab pos="470534" algn="l"/>
              </a:tabLst>
            </a:pP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15">
                <a:latin typeface="Arial"/>
                <a:cs typeface="Arial"/>
              </a:rPr>
              <a:t>both </a:t>
            </a:r>
            <a:r>
              <a:rPr dirty="0" sz="1150" spc="-70">
                <a:latin typeface="Arial"/>
                <a:cs typeface="Arial"/>
              </a:rPr>
              <a:t>sides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5">
                <a:latin typeface="Arial"/>
                <a:cs typeface="Arial"/>
              </a:rPr>
              <a:t>trial </a:t>
            </a:r>
            <a:r>
              <a:rPr dirty="0" sz="1150" spc="-60">
                <a:latin typeface="Arial"/>
                <a:cs typeface="Arial"/>
              </a:rPr>
              <a:t>balance </a:t>
            </a:r>
            <a:r>
              <a:rPr dirty="0" sz="1150" spc="-50">
                <a:latin typeface="Arial"/>
                <a:cs typeface="Arial"/>
              </a:rPr>
              <a:t>are </a:t>
            </a:r>
            <a:r>
              <a:rPr dirty="0" sz="1150" spc="-45">
                <a:latin typeface="Arial"/>
                <a:cs typeface="Arial"/>
              </a:rPr>
              <a:t>equal, </a:t>
            </a:r>
            <a:r>
              <a:rPr dirty="0" sz="1150" spc="30">
                <a:latin typeface="Arial"/>
                <a:cs typeface="Arial"/>
              </a:rPr>
              <a:t>it </a:t>
            </a:r>
            <a:r>
              <a:rPr dirty="0" sz="1150" spc="-70">
                <a:latin typeface="Arial"/>
                <a:cs typeface="Arial"/>
              </a:rPr>
              <a:t>does </a:t>
            </a:r>
            <a:r>
              <a:rPr dirty="0" sz="1150">
                <a:latin typeface="Arial"/>
                <a:cs typeface="Arial"/>
              </a:rPr>
              <a:t>not </a:t>
            </a:r>
            <a:r>
              <a:rPr dirty="0" sz="1150" spc="-60">
                <a:latin typeface="Arial"/>
                <a:cs typeface="Arial"/>
              </a:rPr>
              <a:t>mean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5">
                <a:latin typeface="Arial"/>
                <a:cs typeface="Arial"/>
              </a:rPr>
              <a:t>books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accounts </a:t>
            </a:r>
            <a:r>
              <a:rPr dirty="0" sz="1150" spc="-50">
                <a:latin typeface="Arial"/>
                <a:cs typeface="Arial"/>
              </a:rPr>
              <a:t>are  </a:t>
            </a:r>
            <a:r>
              <a:rPr dirty="0" sz="1150" spc="-15">
                <a:latin typeface="Arial"/>
                <a:cs typeface="Arial"/>
              </a:rPr>
              <a:t>error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free.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196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42954" y="9272706"/>
            <a:ext cx="5486400" cy="1625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55"/>
              </a:lnSpc>
              <a:tabLst>
                <a:tab pos="5266690" algn="l"/>
              </a:tabLst>
            </a:pPr>
            <a:r>
              <a:rPr dirty="0" baseline="2645" sz="1575" spc="157">
                <a:latin typeface="Arial"/>
                <a:cs typeface="Arial"/>
              </a:rPr>
              <a:t>©</a:t>
            </a:r>
            <a:r>
              <a:rPr dirty="0" baseline="2645" sz="1575" spc="-44">
                <a:latin typeface="Times New Roman"/>
                <a:cs typeface="Times New Roman"/>
              </a:rPr>
              <a:t> </a:t>
            </a:r>
            <a:r>
              <a:rPr dirty="0" baseline="2645" sz="1575" spc="-300">
                <a:latin typeface="Arial"/>
                <a:cs typeface="Arial"/>
              </a:rPr>
              <a:t>C</a:t>
            </a:r>
            <a:r>
              <a:rPr dirty="0" baseline="2645" sz="1575" spc="-52">
                <a:latin typeface="Arial"/>
                <a:cs typeface="Arial"/>
              </a:rPr>
              <a:t>o</a:t>
            </a:r>
            <a:r>
              <a:rPr dirty="0" baseline="2645" sz="1575" spc="-60">
                <a:latin typeface="Arial"/>
                <a:cs typeface="Arial"/>
              </a:rPr>
              <a:t>p</a:t>
            </a:r>
            <a:r>
              <a:rPr dirty="0" baseline="2645" sz="1575" spc="-75">
                <a:latin typeface="Arial"/>
                <a:cs typeface="Arial"/>
              </a:rPr>
              <a:t>y</a:t>
            </a:r>
            <a:r>
              <a:rPr dirty="0" baseline="2645" sz="1575" spc="22">
                <a:latin typeface="Arial"/>
                <a:cs typeface="Arial"/>
              </a:rPr>
              <a:t>r</a:t>
            </a:r>
            <a:r>
              <a:rPr dirty="0" baseline="2645" sz="1575">
                <a:latin typeface="Arial"/>
                <a:cs typeface="Arial"/>
              </a:rPr>
              <a:t>i</a:t>
            </a:r>
            <a:r>
              <a:rPr dirty="0" baseline="2645" sz="1575" spc="-142">
                <a:latin typeface="Arial"/>
                <a:cs typeface="Arial"/>
              </a:rPr>
              <a:t>g</a:t>
            </a:r>
            <a:r>
              <a:rPr dirty="0" baseline="2645" sz="1575" spc="-60">
                <a:latin typeface="Arial"/>
                <a:cs typeface="Arial"/>
              </a:rPr>
              <a:t>h</a:t>
            </a:r>
            <a:r>
              <a:rPr dirty="0" baseline="2645" sz="1575" spc="89">
                <a:latin typeface="Arial"/>
                <a:cs typeface="Arial"/>
              </a:rPr>
              <a:t>t</a:t>
            </a:r>
            <a:r>
              <a:rPr dirty="0" baseline="2645" sz="1575" spc="-44">
                <a:latin typeface="Times New Roman"/>
                <a:cs typeface="Times New Roman"/>
              </a:rPr>
              <a:t> </a:t>
            </a:r>
            <a:r>
              <a:rPr dirty="0" baseline="2645" sz="1575" spc="-157">
                <a:latin typeface="Arial"/>
                <a:cs typeface="Arial"/>
              </a:rPr>
              <a:t>V</a:t>
            </a:r>
            <a:r>
              <a:rPr dirty="0" baseline="2645" sz="1575" spc="-15">
                <a:latin typeface="Arial"/>
                <a:cs typeface="Arial"/>
              </a:rPr>
              <a:t>i</a:t>
            </a:r>
            <a:r>
              <a:rPr dirty="0" baseline="2645" sz="1575" spc="22">
                <a:latin typeface="Arial"/>
                <a:cs typeface="Arial"/>
              </a:rPr>
              <a:t>r</a:t>
            </a:r>
            <a:r>
              <a:rPr dirty="0" baseline="2645" sz="1575" spc="82">
                <a:latin typeface="Arial"/>
                <a:cs typeface="Arial"/>
              </a:rPr>
              <a:t>t</a:t>
            </a:r>
            <a:r>
              <a:rPr dirty="0" baseline="2645" sz="1575" spc="-60">
                <a:latin typeface="Arial"/>
                <a:cs typeface="Arial"/>
              </a:rPr>
              <a:t>u</a:t>
            </a:r>
            <a:r>
              <a:rPr dirty="0" baseline="2645" sz="1575" spc="-127">
                <a:latin typeface="Arial"/>
                <a:cs typeface="Arial"/>
              </a:rPr>
              <a:t>a</a:t>
            </a:r>
            <a:r>
              <a:rPr dirty="0" baseline="2645" sz="1575" spc="7">
                <a:latin typeface="Arial"/>
                <a:cs typeface="Arial"/>
              </a:rPr>
              <a:t>l</a:t>
            </a:r>
            <a:r>
              <a:rPr dirty="0" baseline="2645" sz="1575" spc="-37">
                <a:latin typeface="Times New Roman"/>
                <a:cs typeface="Times New Roman"/>
              </a:rPr>
              <a:t> </a:t>
            </a:r>
            <a:r>
              <a:rPr dirty="0" baseline="2645" sz="1575" spc="-135">
                <a:latin typeface="Arial"/>
                <a:cs typeface="Arial"/>
              </a:rPr>
              <a:t>U</a:t>
            </a:r>
            <a:r>
              <a:rPr dirty="0" baseline="2645" sz="1575" spc="-60">
                <a:latin typeface="Arial"/>
                <a:cs typeface="Arial"/>
              </a:rPr>
              <a:t>n</a:t>
            </a:r>
            <a:r>
              <a:rPr dirty="0" baseline="2645" sz="1575">
                <a:latin typeface="Arial"/>
                <a:cs typeface="Arial"/>
              </a:rPr>
              <a:t>i</a:t>
            </a:r>
            <a:r>
              <a:rPr dirty="0" baseline="2645" sz="1575" spc="-75">
                <a:latin typeface="Arial"/>
                <a:cs typeface="Arial"/>
              </a:rPr>
              <a:t>v</a:t>
            </a:r>
            <a:r>
              <a:rPr dirty="0" baseline="2645" sz="1575" spc="-104">
                <a:latin typeface="Arial"/>
                <a:cs typeface="Arial"/>
              </a:rPr>
              <a:t>e</a:t>
            </a:r>
            <a:r>
              <a:rPr dirty="0" baseline="2645" sz="1575" spc="22">
                <a:latin typeface="Arial"/>
                <a:cs typeface="Arial"/>
              </a:rPr>
              <a:t>r</a:t>
            </a:r>
            <a:r>
              <a:rPr dirty="0" baseline="2645" sz="1575" spc="-179">
                <a:latin typeface="Arial"/>
                <a:cs typeface="Arial"/>
              </a:rPr>
              <a:t>s</a:t>
            </a:r>
            <a:r>
              <a:rPr dirty="0" baseline="2645" sz="1575" spc="-15">
                <a:latin typeface="Arial"/>
                <a:cs typeface="Arial"/>
              </a:rPr>
              <a:t>i</a:t>
            </a:r>
            <a:r>
              <a:rPr dirty="0" baseline="2645" sz="1575" spc="82">
                <a:latin typeface="Arial"/>
                <a:cs typeface="Arial"/>
              </a:rPr>
              <a:t>t</a:t>
            </a:r>
            <a:r>
              <a:rPr dirty="0" baseline="2645" sz="1575" spc="-75">
                <a:latin typeface="Arial"/>
                <a:cs typeface="Arial"/>
              </a:rPr>
              <a:t>y</a:t>
            </a:r>
            <a:r>
              <a:rPr dirty="0" baseline="2645" sz="1575" spc="-30">
                <a:latin typeface="Times New Roman"/>
                <a:cs typeface="Times New Roman"/>
              </a:rPr>
              <a:t> </a:t>
            </a:r>
            <a:r>
              <a:rPr dirty="0" baseline="2645" sz="1575" spc="-52">
                <a:latin typeface="Arial"/>
                <a:cs typeface="Arial"/>
              </a:rPr>
              <a:t>o</a:t>
            </a:r>
            <a:r>
              <a:rPr dirty="0" baseline="2645" sz="1575" spc="37">
                <a:latin typeface="Arial"/>
                <a:cs typeface="Arial"/>
              </a:rPr>
              <a:t>f</a:t>
            </a:r>
            <a:r>
              <a:rPr dirty="0" baseline="2645" sz="1575" spc="-37">
                <a:latin typeface="Times New Roman"/>
                <a:cs typeface="Times New Roman"/>
              </a:rPr>
              <a:t> </a:t>
            </a:r>
            <a:r>
              <a:rPr dirty="0" baseline="2645" sz="1575" spc="-247">
                <a:latin typeface="Arial"/>
                <a:cs typeface="Arial"/>
              </a:rPr>
              <a:t>P</a:t>
            </a:r>
            <a:r>
              <a:rPr dirty="0" baseline="2645" sz="1575" spc="-127">
                <a:latin typeface="Arial"/>
                <a:cs typeface="Arial"/>
              </a:rPr>
              <a:t>a</a:t>
            </a:r>
            <a:r>
              <a:rPr dirty="0" baseline="2645" sz="1575" spc="-75">
                <a:latin typeface="Arial"/>
                <a:cs typeface="Arial"/>
              </a:rPr>
              <a:t>k</a:t>
            </a:r>
            <a:r>
              <a:rPr dirty="0" baseline="2645" sz="1575">
                <a:latin typeface="Arial"/>
                <a:cs typeface="Arial"/>
              </a:rPr>
              <a:t>i</a:t>
            </a:r>
            <a:r>
              <a:rPr dirty="0" baseline="2645" sz="1575" spc="-179">
                <a:latin typeface="Arial"/>
                <a:cs typeface="Arial"/>
              </a:rPr>
              <a:t>s</a:t>
            </a:r>
            <a:r>
              <a:rPr dirty="0" baseline="2645" sz="1575" spc="82">
                <a:latin typeface="Arial"/>
                <a:cs typeface="Arial"/>
              </a:rPr>
              <a:t>t</a:t>
            </a:r>
            <a:r>
              <a:rPr dirty="0" baseline="2645" sz="1575" spc="-127">
                <a:latin typeface="Arial"/>
                <a:cs typeface="Arial"/>
              </a:rPr>
              <a:t>a</a:t>
            </a:r>
            <a:r>
              <a:rPr dirty="0" baseline="2645" sz="1575" spc="-52">
                <a:latin typeface="Arial"/>
                <a:cs typeface="Arial"/>
              </a:rPr>
              <a:t>n</a:t>
            </a:r>
            <a:r>
              <a:rPr dirty="0" baseline="2645" sz="1575">
                <a:latin typeface="Times New Roman"/>
                <a:cs typeface="Times New Roman"/>
              </a:rPr>
              <a:t>	</a:t>
            </a:r>
            <a:r>
              <a:rPr dirty="0" sz="1150" spc="-5">
                <a:latin typeface="Times New Roman"/>
                <a:cs typeface="Times New Roman"/>
              </a:rPr>
              <a:t>197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0500" y="4925567"/>
            <a:ext cx="7315200" cy="457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30261" y="889511"/>
            <a:ext cx="5513070" cy="3806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715">
              <a:lnSpc>
                <a:spcPct val="100000"/>
              </a:lnSpc>
              <a:spcBef>
                <a:spcPts val="100"/>
              </a:spcBef>
            </a:pPr>
            <a:r>
              <a:rPr dirty="0" sz="1750" spc="-135" b="1">
                <a:latin typeface="Arial"/>
                <a:cs typeface="Arial"/>
              </a:rPr>
              <a:t>Lecture</a:t>
            </a:r>
            <a:r>
              <a:rPr dirty="0" sz="1750" spc="-175" b="1">
                <a:latin typeface="Arial"/>
                <a:cs typeface="Arial"/>
              </a:rPr>
              <a:t> </a:t>
            </a:r>
            <a:r>
              <a:rPr dirty="0" sz="1750" spc="-90" b="1">
                <a:latin typeface="Arial"/>
                <a:cs typeface="Arial"/>
              </a:rPr>
              <a:t>45</a:t>
            </a:r>
            <a:endParaRPr sz="17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dirty="0" sz="1750" spc="-185" b="1">
                <a:latin typeface="Arial"/>
                <a:cs typeface="Arial"/>
              </a:rPr>
              <a:t>FINANCIAL</a:t>
            </a:r>
            <a:r>
              <a:rPr dirty="0" sz="1750" spc="-90" b="1">
                <a:latin typeface="Arial"/>
                <a:cs typeface="Arial"/>
              </a:rPr>
              <a:t> </a:t>
            </a:r>
            <a:r>
              <a:rPr dirty="0" sz="1750" spc="-160" b="1">
                <a:latin typeface="Arial"/>
                <a:cs typeface="Arial"/>
              </a:rPr>
              <a:t>MANAGEMENT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dirty="0" sz="1150" spc="-40" b="1">
                <a:latin typeface="Arial"/>
                <a:cs typeface="Arial"/>
              </a:rPr>
              <a:t>3) </a:t>
            </a:r>
            <a:r>
              <a:rPr dirty="0" sz="1350" spc="-120" b="1">
                <a:latin typeface="Arial"/>
                <a:cs typeface="Arial"/>
              </a:rPr>
              <a:t>INCOME</a:t>
            </a:r>
            <a:r>
              <a:rPr dirty="0" sz="1350" spc="-100" b="1">
                <a:latin typeface="Arial"/>
                <a:cs typeface="Arial"/>
              </a:rPr>
              <a:t> </a:t>
            </a:r>
            <a:r>
              <a:rPr dirty="0" sz="1350" spc="-160" b="1">
                <a:latin typeface="Arial"/>
                <a:cs typeface="Arial"/>
              </a:rPr>
              <a:t>STATEMENT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15">
                <a:latin typeface="Arial"/>
                <a:cs typeface="Arial"/>
              </a:rPr>
              <a:t>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5">
                <a:latin typeface="Arial"/>
                <a:cs typeface="Arial"/>
              </a:rPr>
              <a:t>financial </a:t>
            </a:r>
            <a:r>
              <a:rPr dirty="0" sz="1150" spc="-30">
                <a:latin typeface="Arial"/>
                <a:cs typeface="Arial"/>
              </a:rPr>
              <a:t>statement listing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firm’s </a:t>
            </a:r>
            <a:r>
              <a:rPr dirty="0" sz="1150" spc="-50">
                <a:latin typeface="Arial"/>
                <a:cs typeface="Arial"/>
              </a:rPr>
              <a:t>annual </a:t>
            </a:r>
            <a:r>
              <a:rPr dirty="0" sz="1150" spc="-60">
                <a:latin typeface="Arial"/>
                <a:cs typeface="Arial"/>
              </a:rPr>
              <a:t>revenues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80">
                <a:latin typeface="Arial"/>
                <a:cs typeface="Arial"/>
              </a:rPr>
              <a:t>expenses </a:t>
            </a:r>
            <a:r>
              <a:rPr dirty="0" sz="1150" spc="-85">
                <a:latin typeface="Arial"/>
                <a:cs typeface="Arial"/>
              </a:rPr>
              <a:t>so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5">
                <a:latin typeface="Arial"/>
                <a:cs typeface="Arial"/>
              </a:rPr>
              <a:t>bottom </a:t>
            </a:r>
            <a:r>
              <a:rPr dirty="0" sz="1150" spc="-30">
                <a:latin typeface="Arial"/>
                <a:cs typeface="Arial"/>
              </a:rPr>
              <a:t>line  </a:t>
            </a:r>
            <a:r>
              <a:rPr dirty="0" sz="1150" spc="-70">
                <a:latin typeface="Arial"/>
                <a:cs typeface="Arial"/>
              </a:rPr>
              <a:t>shows </a:t>
            </a:r>
            <a:r>
              <a:rPr dirty="0" sz="1150" spc="-50">
                <a:latin typeface="Arial"/>
                <a:cs typeface="Arial"/>
              </a:rPr>
              <a:t>annual </a:t>
            </a:r>
            <a:r>
              <a:rPr dirty="0" sz="1150" spc="5">
                <a:latin typeface="Arial"/>
                <a:cs typeface="Arial"/>
              </a:rPr>
              <a:t>profit </a:t>
            </a:r>
            <a:r>
              <a:rPr dirty="0" sz="1150" spc="-10">
                <a:latin typeface="Arial"/>
                <a:cs typeface="Arial"/>
              </a:rPr>
              <a:t>or </a:t>
            </a:r>
            <a:r>
              <a:rPr dirty="0" sz="1150" spc="-60">
                <a:latin typeface="Arial"/>
                <a:cs typeface="Arial"/>
              </a:rPr>
              <a:t>loss. </a:t>
            </a:r>
            <a:r>
              <a:rPr dirty="0" sz="1150" spc="-5">
                <a:latin typeface="Arial"/>
                <a:cs typeface="Arial"/>
              </a:rPr>
              <a:t>If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balance </a:t>
            </a:r>
            <a:r>
              <a:rPr dirty="0" sz="1150" spc="-50">
                <a:latin typeface="Arial"/>
                <a:cs typeface="Arial"/>
              </a:rPr>
              <a:t>sheet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25">
                <a:latin typeface="Arial"/>
                <a:cs typeface="Arial"/>
              </a:rPr>
              <a:t>“snapshot,”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income </a:t>
            </a:r>
            <a:r>
              <a:rPr dirty="0" sz="1150" spc="-30">
                <a:latin typeface="Arial"/>
                <a:cs typeface="Arial"/>
              </a:rPr>
              <a:t>statement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20">
                <a:latin typeface="Arial"/>
                <a:cs typeface="Arial"/>
              </a:rPr>
              <a:t>movie.”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buAutoNum type="alphaLcParenR"/>
              <a:tabLst>
                <a:tab pos="241935" algn="l"/>
              </a:tabLst>
            </a:pPr>
            <a:r>
              <a:rPr dirty="0" sz="1150" spc="-95" b="1">
                <a:latin typeface="Arial"/>
                <a:cs typeface="Arial"/>
              </a:rPr>
              <a:t>Revenues</a:t>
            </a:r>
            <a:r>
              <a:rPr dirty="0" sz="1150" spc="-95">
                <a:latin typeface="Arial"/>
                <a:cs typeface="Arial"/>
              </a:rPr>
              <a:t>: </a:t>
            </a:r>
            <a:r>
              <a:rPr dirty="0" sz="1150" spc="-90">
                <a:latin typeface="Arial"/>
                <a:cs typeface="Arial"/>
              </a:rPr>
              <a:t>Funds </a:t>
            </a:r>
            <a:r>
              <a:rPr dirty="0" sz="1150" spc="-5">
                <a:latin typeface="Arial"/>
                <a:cs typeface="Arial"/>
              </a:rPr>
              <a:t>that flow into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70">
                <a:latin typeface="Arial"/>
                <a:cs typeface="Arial"/>
              </a:rPr>
              <a:t>business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25">
                <a:latin typeface="Arial"/>
                <a:cs typeface="Arial"/>
              </a:rPr>
              <a:t>the </a:t>
            </a:r>
            <a:r>
              <a:rPr dirty="0" sz="1150" spc="-75">
                <a:latin typeface="Arial"/>
                <a:cs typeface="Arial"/>
              </a:rPr>
              <a:t>sale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services.</a:t>
            </a:r>
            <a:endParaRPr sz="1150">
              <a:latin typeface="Arial"/>
              <a:cs typeface="Arial"/>
            </a:endParaRPr>
          </a:p>
          <a:p>
            <a:pPr marL="241300" marR="5715" indent="-228600">
              <a:lnSpc>
                <a:spcPct val="101699"/>
              </a:lnSpc>
              <a:spcBef>
                <a:spcPts val="5"/>
              </a:spcBef>
              <a:buAutoNum type="alphaLcParenR"/>
              <a:tabLst>
                <a:tab pos="241935" algn="l"/>
              </a:tabLst>
            </a:pPr>
            <a:r>
              <a:rPr dirty="0" sz="1150" spc="-120" b="1">
                <a:latin typeface="Arial"/>
                <a:cs typeface="Arial"/>
              </a:rPr>
              <a:t>Cost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125" b="1">
                <a:latin typeface="Arial"/>
                <a:cs typeface="Arial"/>
              </a:rPr>
              <a:t>Goods </a:t>
            </a:r>
            <a:r>
              <a:rPr dirty="0" sz="1150" spc="-95" b="1">
                <a:latin typeface="Arial"/>
                <a:cs typeface="Arial"/>
              </a:rPr>
              <a:t>Sold</a:t>
            </a:r>
            <a:r>
              <a:rPr dirty="0" sz="1150" spc="-95">
                <a:latin typeface="Arial"/>
                <a:cs typeface="Arial"/>
              </a:rPr>
              <a:t>: </a:t>
            </a:r>
            <a:r>
              <a:rPr dirty="0" sz="1150" spc="-40">
                <a:latin typeface="Arial"/>
                <a:cs typeface="Arial"/>
              </a:rPr>
              <a:t>Total </a:t>
            </a:r>
            <a:r>
              <a:rPr dirty="0" sz="1150" spc="-50">
                <a:latin typeface="Arial"/>
                <a:cs typeface="Arial"/>
              </a:rPr>
              <a:t>cost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0">
                <a:latin typeface="Arial"/>
                <a:cs typeface="Arial"/>
              </a:rPr>
              <a:t>obtaining </a:t>
            </a:r>
            <a:r>
              <a:rPr dirty="0" sz="1150" spc="-40">
                <a:latin typeface="Arial"/>
                <a:cs typeface="Arial"/>
              </a:rPr>
              <a:t>materials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making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0">
                <a:latin typeface="Arial"/>
                <a:cs typeface="Arial"/>
              </a:rPr>
              <a:t>products </a:t>
            </a:r>
            <a:r>
              <a:rPr dirty="0" sz="1150" spc="-50">
                <a:latin typeface="Arial"/>
                <a:cs typeface="Arial"/>
              </a:rPr>
              <a:t>sold by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>
                <a:latin typeface="Arial"/>
                <a:cs typeface="Arial"/>
              </a:rPr>
              <a:t>firm </a:t>
            </a:r>
            <a:r>
              <a:rPr dirty="0" sz="1150" spc="-35">
                <a:latin typeface="Arial"/>
                <a:cs typeface="Arial"/>
              </a:rPr>
              <a:t>during </a:t>
            </a:r>
            <a:r>
              <a:rPr dirty="0" sz="1150" spc="-15">
                <a:latin typeface="Arial"/>
                <a:cs typeface="Arial"/>
              </a:rPr>
              <a:t>the</a:t>
            </a:r>
            <a:r>
              <a:rPr dirty="0" sz="1150" spc="-13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year.</a:t>
            </a:r>
            <a:endParaRPr sz="1150">
              <a:latin typeface="Arial"/>
              <a:cs typeface="Arial"/>
            </a:endParaRPr>
          </a:p>
          <a:p>
            <a:pPr marL="241300" marR="5080" indent="-228600">
              <a:lnSpc>
                <a:spcPct val="101699"/>
              </a:lnSpc>
              <a:buAutoNum type="alphaLcParenR"/>
              <a:tabLst>
                <a:tab pos="241935" algn="l"/>
              </a:tabLst>
            </a:pPr>
            <a:r>
              <a:rPr dirty="0" sz="1150" spc="-135" b="1">
                <a:latin typeface="Arial"/>
                <a:cs typeface="Arial"/>
              </a:rPr>
              <a:t>Gross </a:t>
            </a:r>
            <a:r>
              <a:rPr dirty="0" sz="1150" spc="-55" b="1">
                <a:latin typeface="Arial"/>
                <a:cs typeface="Arial"/>
              </a:rPr>
              <a:t>Profit </a:t>
            </a:r>
            <a:r>
              <a:rPr dirty="0" sz="1150" spc="-50" b="1">
                <a:latin typeface="Arial"/>
                <a:cs typeface="Arial"/>
              </a:rPr>
              <a:t>(or </a:t>
            </a:r>
            <a:r>
              <a:rPr dirty="0" sz="1150" spc="-135" b="1">
                <a:latin typeface="Arial"/>
                <a:cs typeface="Arial"/>
              </a:rPr>
              <a:t>Gross </a:t>
            </a:r>
            <a:r>
              <a:rPr dirty="0" sz="1150" spc="-50" b="1">
                <a:latin typeface="Arial"/>
                <a:cs typeface="Arial"/>
              </a:rPr>
              <a:t>Margin)</a:t>
            </a:r>
            <a:r>
              <a:rPr dirty="0" sz="1150" spc="-50">
                <a:latin typeface="Arial"/>
                <a:cs typeface="Arial"/>
              </a:rPr>
              <a:t>: </a:t>
            </a:r>
            <a:r>
              <a:rPr dirty="0" sz="1150" spc="-90">
                <a:latin typeface="Arial"/>
                <a:cs typeface="Arial"/>
              </a:rPr>
              <a:t>Revenues </a:t>
            </a:r>
            <a:r>
              <a:rPr dirty="0" sz="1150" spc="-30">
                <a:latin typeface="Arial"/>
                <a:cs typeface="Arial"/>
              </a:rPr>
              <a:t>obtained </a:t>
            </a:r>
            <a:r>
              <a:rPr dirty="0" sz="1150" spc="-10">
                <a:latin typeface="Arial"/>
                <a:cs typeface="Arial"/>
              </a:rPr>
              <a:t>from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0">
                <a:latin typeface="Arial"/>
                <a:cs typeface="Arial"/>
              </a:rPr>
              <a:t>sold minus cost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goods  </a:t>
            </a:r>
            <a:r>
              <a:rPr dirty="0" sz="1150" spc="-45">
                <a:latin typeface="Arial"/>
                <a:cs typeface="Arial"/>
              </a:rPr>
              <a:t>sold.</a:t>
            </a:r>
            <a:endParaRPr sz="1150">
              <a:latin typeface="Arial"/>
              <a:cs typeface="Arial"/>
            </a:endParaRPr>
          </a:p>
          <a:p>
            <a:pPr marL="241300" marR="7620" indent="-229235">
              <a:lnSpc>
                <a:spcPct val="101699"/>
              </a:lnSpc>
              <a:buAutoNum type="alphaLcParenR"/>
              <a:tabLst>
                <a:tab pos="241935" algn="l"/>
              </a:tabLst>
            </a:pPr>
            <a:r>
              <a:rPr dirty="0" sz="1150" spc="-75" b="1">
                <a:latin typeface="Arial"/>
                <a:cs typeface="Arial"/>
              </a:rPr>
              <a:t>Operating </a:t>
            </a:r>
            <a:r>
              <a:rPr dirty="0" sz="1150" spc="-114" b="1">
                <a:latin typeface="Arial"/>
                <a:cs typeface="Arial"/>
              </a:rPr>
              <a:t>Expenses</a:t>
            </a:r>
            <a:r>
              <a:rPr dirty="0" sz="1150" spc="-114">
                <a:latin typeface="Arial"/>
                <a:cs typeface="Arial"/>
              </a:rPr>
              <a:t>: </a:t>
            </a:r>
            <a:r>
              <a:rPr dirty="0" sz="1150" spc="-85">
                <a:latin typeface="Arial"/>
                <a:cs typeface="Arial"/>
              </a:rPr>
              <a:t>Costs, </a:t>
            </a:r>
            <a:r>
              <a:rPr dirty="0" sz="1150" spc="-15">
                <a:latin typeface="Arial"/>
                <a:cs typeface="Arial"/>
              </a:rPr>
              <a:t>other </a:t>
            </a:r>
            <a:r>
              <a:rPr dirty="0" sz="1150" spc="-30">
                <a:latin typeface="Arial"/>
                <a:cs typeface="Arial"/>
              </a:rPr>
              <a:t>than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cost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-50">
                <a:latin typeface="Arial"/>
                <a:cs typeface="Arial"/>
              </a:rPr>
              <a:t>sold, </a:t>
            </a:r>
            <a:r>
              <a:rPr dirty="0" sz="1150" spc="-30">
                <a:latin typeface="Arial"/>
                <a:cs typeface="Arial"/>
              </a:rPr>
              <a:t>incurred </a:t>
            </a:r>
            <a:r>
              <a:rPr dirty="0" sz="1150" spc="-20">
                <a:latin typeface="Arial"/>
                <a:cs typeface="Arial"/>
              </a:rPr>
              <a:t>in </a:t>
            </a:r>
            <a:r>
              <a:rPr dirty="0" sz="1150" spc="-40">
                <a:latin typeface="Arial"/>
                <a:cs typeface="Arial"/>
              </a:rPr>
              <a:t>producing </a:t>
            </a:r>
            <a:r>
              <a:rPr dirty="0" sz="1150" spc="-90">
                <a:latin typeface="Arial"/>
                <a:cs typeface="Arial"/>
              </a:rPr>
              <a:t>a  </a:t>
            </a:r>
            <a:r>
              <a:rPr dirty="0" sz="1150" spc="-50">
                <a:latin typeface="Arial"/>
                <a:cs typeface="Arial"/>
              </a:rPr>
              <a:t>good </a:t>
            </a:r>
            <a:r>
              <a:rPr dirty="0" sz="1150" spc="-10">
                <a:latin typeface="Arial"/>
                <a:cs typeface="Arial"/>
              </a:rPr>
              <a:t>or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service.</a:t>
            </a:r>
            <a:endParaRPr sz="1150">
              <a:latin typeface="Arial"/>
              <a:cs typeface="Arial"/>
            </a:endParaRPr>
          </a:p>
          <a:p>
            <a:pPr marL="241300" indent="-229235">
              <a:lnSpc>
                <a:spcPct val="100000"/>
              </a:lnSpc>
              <a:spcBef>
                <a:spcPts val="25"/>
              </a:spcBef>
              <a:buAutoNum type="alphaLcParenR"/>
              <a:tabLst>
                <a:tab pos="241935" algn="l"/>
              </a:tabLst>
            </a:pPr>
            <a:r>
              <a:rPr dirty="0" sz="1150" spc="-75" b="1">
                <a:latin typeface="Arial"/>
                <a:cs typeface="Arial"/>
              </a:rPr>
              <a:t>Operating Income</a:t>
            </a:r>
            <a:r>
              <a:rPr dirty="0" sz="1150" spc="-75">
                <a:latin typeface="Arial"/>
                <a:cs typeface="Arial"/>
              </a:rPr>
              <a:t>: </a:t>
            </a:r>
            <a:r>
              <a:rPr dirty="0" sz="1150" spc="-90">
                <a:latin typeface="Arial"/>
                <a:cs typeface="Arial"/>
              </a:rPr>
              <a:t>Gross </a:t>
            </a:r>
            <a:r>
              <a:rPr dirty="0" sz="1150" spc="5">
                <a:latin typeface="Arial"/>
                <a:cs typeface="Arial"/>
              </a:rPr>
              <a:t>profit </a:t>
            </a:r>
            <a:r>
              <a:rPr dirty="0" sz="1150" spc="-50">
                <a:latin typeface="Arial"/>
                <a:cs typeface="Arial"/>
              </a:rPr>
              <a:t>minus </a:t>
            </a:r>
            <a:r>
              <a:rPr dirty="0" sz="1150" spc="-35">
                <a:latin typeface="Arial"/>
                <a:cs typeface="Arial"/>
              </a:rPr>
              <a:t>operating</a:t>
            </a:r>
            <a:r>
              <a:rPr dirty="0" sz="1150" spc="-85">
                <a:latin typeface="Arial"/>
                <a:cs typeface="Arial"/>
              </a:rPr>
              <a:t> </a:t>
            </a:r>
            <a:r>
              <a:rPr dirty="0" sz="1150" spc="-75">
                <a:latin typeface="Arial"/>
                <a:cs typeface="Arial"/>
              </a:rPr>
              <a:t>expenses.</a:t>
            </a:r>
            <a:endParaRPr sz="1150">
              <a:latin typeface="Arial"/>
              <a:cs typeface="Arial"/>
            </a:endParaRPr>
          </a:p>
          <a:p>
            <a:pPr marL="241300" marR="5080" indent="-229235">
              <a:lnSpc>
                <a:spcPts val="1400"/>
              </a:lnSpc>
              <a:spcBef>
                <a:spcPts val="40"/>
              </a:spcBef>
              <a:buAutoNum type="alphaLcParenR"/>
              <a:tabLst>
                <a:tab pos="240665" algn="l"/>
                <a:tab pos="241935" algn="l"/>
              </a:tabLst>
            </a:pPr>
            <a:r>
              <a:rPr dirty="0" sz="1150" spc="-45" b="1">
                <a:latin typeface="Arial"/>
                <a:cs typeface="Arial"/>
              </a:rPr>
              <a:t>Net </a:t>
            </a:r>
            <a:r>
              <a:rPr dirty="0" sz="1150" spc="-85" b="1">
                <a:latin typeface="Arial"/>
                <a:cs typeface="Arial"/>
              </a:rPr>
              <a:t>income </a:t>
            </a:r>
            <a:r>
              <a:rPr dirty="0" sz="1150" spc="-50" b="1">
                <a:latin typeface="Arial"/>
                <a:cs typeface="Arial"/>
              </a:rPr>
              <a:t>(or </a:t>
            </a:r>
            <a:r>
              <a:rPr dirty="0" sz="1150" spc="-45" b="1">
                <a:latin typeface="Arial"/>
                <a:cs typeface="Arial"/>
              </a:rPr>
              <a:t>net profit </a:t>
            </a:r>
            <a:r>
              <a:rPr dirty="0" sz="1150" spc="-60" b="1">
                <a:latin typeface="Arial"/>
                <a:cs typeface="Arial"/>
              </a:rPr>
              <a:t>or </a:t>
            </a:r>
            <a:r>
              <a:rPr dirty="0" sz="1150" spc="-45" b="1">
                <a:latin typeface="Arial"/>
                <a:cs typeface="Arial"/>
              </a:rPr>
              <a:t>net </a:t>
            </a:r>
            <a:r>
              <a:rPr dirty="0" sz="1150" spc="-85" b="1">
                <a:latin typeface="Arial"/>
                <a:cs typeface="Arial"/>
              </a:rPr>
              <a:t>earnings)</a:t>
            </a:r>
            <a:r>
              <a:rPr dirty="0" sz="1150" spc="-85">
                <a:latin typeface="Arial"/>
                <a:cs typeface="Arial"/>
              </a:rPr>
              <a:t>—gross </a:t>
            </a:r>
            <a:r>
              <a:rPr dirty="0" sz="1150" spc="5">
                <a:latin typeface="Arial"/>
                <a:cs typeface="Arial"/>
              </a:rPr>
              <a:t>profit </a:t>
            </a:r>
            <a:r>
              <a:rPr dirty="0" sz="1150" spc="-50">
                <a:latin typeface="Arial"/>
                <a:cs typeface="Arial"/>
              </a:rPr>
              <a:t>minus </a:t>
            </a:r>
            <a:r>
              <a:rPr dirty="0" sz="1150" spc="-35">
                <a:latin typeface="Arial"/>
                <a:cs typeface="Arial"/>
              </a:rPr>
              <a:t>operating </a:t>
            </a:r>
            <a:r>
              <a:rPr dirty="0" sz="1150" spc="-80">
                <a:latin typeface="Arial"/>
                <a:cs typeface="Arial"/>
              </a:rPr>
              <a:t>expenses </a:t>
            </a:r>
            <a:r>
              <a:rPr dirty="0" sz="1150" spc="-55">
                <a:latin typeface="Arial"/>
                <a:cs typeface="Arial"/>
              </a:rPr>
              <a:t>and  </a:t>
            </a:r>
            <a:r>
              <a:rPr dirty="0" sz="1150" spc="-45">
                <a:latin typeface="Arial"/>
                <a:cs typeface="Arial"/>
              </a:rPr>
              <a:t>income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taxes.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0277" y="8860028"/>
            <a:ext cx="129540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10" b="1">
                <a:latin typeface="Arial"/>
                <a:cs typeface="Arial"/>
              </a:rPr>
              <a:t>Revenue </a:t>
            </a:r>
            <a:r>
              <a:rPr dirty="0" sz="1350" spc="-160" b="1">
                <a:latin typeface="Arial"/>
                <a:cs typeface="Arial"/>
              </a:rPr>
              <a:t>Vs</a:t>
            </a:r>
            <a:r>
              <a:rPr dirty="0" sz="1350" spc="-95" b="1">
                <a:latin typeface="Arial"/>
                <a:cs typeface="Arial"/>
              </a:rPr>
              <a:t> </a:t>
            </a:r>
            <a:r>
              <a:rPr dirty="0" sz="1350" spc="-65" b="1">
                <a:latin typeface="Arial"/>
                <a:cs typeface="Arial"/>
              </a:rPr>
              <a:t>Profit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340" y="1101347"/>
            <a:ext cx="5514340" cy="5671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indent="-229235">
              <a:lnSpc>
                <a:spcPct val="100000"/>
              </a:lnSpc>
              <a:spcBef>
                <a:spcPts val="100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50" spc="-80">
                <a:latin typeface="Arial"/>
                <a:cs typeface="Arial"/>
              </a:rPr>
              <a:t>Revenue </a:t>
            </a:r>
            <a:r>
              <a:rPr dirty="0" sz="1150" spc="-65">
                <a:latin typeface="Arial"/>
                <a:cs typeface="Arial"/>
              </a:rPr>
              <a:t>is</a:t>
            </a:r>
            <a:r>
              <a:rPr dirty="0" sz="1150" spc="-30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income.</a:t>
            </a:r>
            <a:endParaRPr sz="1150">
              <a:latin typeface="Arial"/>
              <a:cs typeface="Arial"/>
            </a:endParaRPr>
          </a:p>
          <a:p>
            <a:pPr marL="469265" indent="-229235">
              <a:lnSpc>
                <a:spcPct val="100000"/>
              </a:lnSpc>
              <a:spcBef>
                <a:spcPts val="25"/>
              </a:spcBef>
              <a:buFont typeface="Wingdings"/>
              <a:buChar char=""/>
              <a:tabLst>
                <a:tab pos="469900" algn="l"/>
              </a:tabLst>
            </a:pPr>
            <a:r>
              <a:rPr dirty="0" sz="1150" spc="-15">
                <a:latin typeface="Arial"/>
                <a:cs typeface="Arial"/>
              </a:rPr>
              <a:t>Profit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0">
                <a:latin typeface="Arial"/>
                <a:cs typeface="Arial"/>
              </a:rPr>
              <a:t>obtained </a:t>
            </a:r>
            <a:r>
              <a:rPr dirty="0" sz="1150" spc="-15">
                <a:latin typeface="Arial"/>
                <a:cs typeface="Arial"/>
              </a:rPr>
              <a:t>after </a:t>
            </a:r>
            <a:r>
              <a:rPr dirty="0" sz="1150" spc="-40">
                <a:latin typeface="Arial"/>
                <a:cs typeface="Arial"/>
              </a:rPr>
              <a:t>deducting </a:t>
            </a:r>
            <a:r>
              <a:rPr dirty="0" sz="1150" spc="-80">
                <a:latin typeface="Arial"/>
                <a:cs typeface="Arial"/>
              </a:rPr>
              <a:t>expenses </a:t>
            </a:r>
            <a:r>
              <a:rPr dirty="0" sz="1150" spc="-10">
                <a:latin typeface="Arial"/>
                <a:cs typeface="Arial"/>
              </a:rPr>
              <a:t>from</a:t>
            </a:r>
            <a:r>
              <a:rPr dirty="0" sz="1150" spc="-165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revenue.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"/>
            </a:pPr>
            <a:endParaRPr sz="14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05" b="1">
                <a:latin typeface="Arial"/>
                <a:cs typeface="Arial"/>
              </a:rPr>
              <a:t>Trading</a:t>
            </a:r>
            <a:r>
              <a:rPr dirty="0" sz="1350" spc="-75" b="1">
                <a:latin typeface="Arial"/>
                <a:cs typeface="Arial"/>
              </a:rPr>
              <a:t> </a:t>
            </a:r>
            <a:r>
              <a:rPr dirty="0" sz="1350" spc="-130" b="1">
                <a:latin typeface="Arial"/>
                <a:cs typeface="Arial"/>
              </a:rPr>
              <a:t>Concern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00">
              <a:latin typeface="Arial"/>
              <a:cs typeface="Arial"/>
            </a:endParaRPr>
          </a:p>
          <a:p>
            <a:pPr algn="just" marL="12700" marR="7620">
              <a:lnSpc>
                <a:spcPct val="101699"/>
              </a:lnSpc>
            </a:pPr>
            <a:r>
              <a:rPr dirty="0" sz="1150" spc="-70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35">
                <a:latin typeface="Arial"/>
                <a:cs typeface="Arial"/>
              </a:rPr>
              <a:t>which </a:t>
            </a:r>
            <a:r>
              <a:rPr dirty="0" sz="1150" spc="-65">
                <a:latin typeface="Arial"/>
                <a:cs typeface="Arial"/>
              </a:rPr>
              <a:t>buys </a:t>
            </a:r>
            <a:r>
              <a:rPr dirty="0" sz="1150" spc="-70">
                <a:latin typeface="Arial"/>
                <a:cs typeface="Arial"/>
              </a:rPr>
              <a:t>goods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5">
                <a:latin typeface="Arial"/>
                <a:cs typeface="Arial"/>
              </a:rPr>
              <a:t>reselling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 </a:t>
            </a:r>
            <a:r>
              <a:rPr dirty="0" sz="1150" spc="-30">
                <a:latin typeface="Arial"/>
                <a:cs typeface="Arial"/>
              </a:rPr>
              <a:t>trading </a:t>
            </a:r>
            <a:r>
              <a:rPr dirty="0" sz="1150" spc="-50">
                <a:latin typeface="Arial"/>
                <a:cs typeface="Arial"/>
              </a:rPr>
              <a:t>concern.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difference  </a:t>
            </a:r>
            <a:r>
              <a:rPr dirty="0" sz="1150" spc="-35">
                <a:latin typeface="Arial"/>
                <a:cs typeface="Arial"/>
              </a:rPr>
              <a:t>between </a:t>
            </a:r>
            <a:r>
              <a:rPr dirty="0" sz="1150" spc="-50">
                <a:latin typeface="Arial"/>
                <a:cs typeface="Arial"/>
              </a:rPr>
              <a:t>buying </a:t>
            </a:r>
            <a:r>
              <a:rPr dirty="0" sz="1150" spc="-40">
                <a:latin typeface="Arial"/>
                <a:cs typeface="Arial"/>
              </a:rPr>
              <a:t>price </a:t>
            </a:r>
            <a:r>
              <a:rPr dirty="0" sz="1150" spc="15">
                <a:latin typeface="Arial"/>
                <a:cs typeface="Arial"/>
              </a:rPr>
              <a:t>&amp; </a:t>
            </a:r>
            <a:r>
              <a:rPr dirty="0" sz="1150" spc="-50">
                <a:latin typeface="Arial"/>
                <a:cs typeface="Arial"/>
              </a:rPr>
              <a:t>selling </a:t>
            </a:r>
            <a:r>
              <a:rPr dirty="0" sz="1150" spc="-40">
                <a:latin typeface="Arial"/>
                <a:cs typeface="Arial"/>
              </a:rPr>
              <a:t>price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</a:t>
            </a:r>
            <a:r>
              <a:rPr dirty="0" sz="1150" spc="-200">
                <a:latin typeface="Arial"/>
                <a:cs typeface="Arial"/>
              </a:rPr>
              <a:t> </a:t>
            </a:r>
            <a:r>
              <a:rPr dirty="0" sz="1150" spc="-50">
                <a:latin typeface="Arial"/>
                <a:cs typeface="Arial"/>
              </a:rPr>
              <a:t>revenue.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350" spc="-155" b="1">
                <a:latin typeface="Arial"/>
                <a:cs typeface="Arial"/>
              </a:rPr>
              <a:t>FINANCE </a:t>
            </a:r>
            <a:r>
              <a:rPr dirty="0" sz="1350" spc="-55" b="1">
                <a:latin typeface="Arial"/>
                <a:cs typeface="Arial"/>
              </a:rPr>
              <a:t>IN </a:t>
            </a:r>
            <a:r>
              <a:rPr dirty="0" sz="1350" spc="-125" b="1">
                <a:latin typeface="Arial"/>
                <a:cs typeface="Arial"/>
              </a:rPr>
              <a:t>AN</a:t>
            </a:r>
            <a:r>
              <a:rPr dirty="0" sz="1350" spc="-229" b="1">
                <a:latin typeface="Arial"/>
                <a:cs typeface="Arial"/>
              </a:rPr>
              <a:t> </a:t>
            </a:r>
            <a:r>
              <a:rPr dirty="0" sz="1350" spc="-135" b="1">
                <a:latin typeface="Arial"/>
                <a:cs typeface="Arial"/>
              </a:rPr>
              <a:t>ORGANIZATION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55">
                <a:latin typeface="Arial"/>
                <a:cs typeface="Arial"/>
              </a:rPr>
              <a:t>Thinking and </a:t>
            </a:r>
            <a:r>
              <a:rPr dirty="0" sz="1150" spc="-50">
                <a:latin typeface="Arial"/>
                <a:cs typeface="Arial"/>
              </a:rPr>
              <a:t>considering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45">
                <a:latin typeface="Arial"/>
                <a:cs typeface="Arial"/>
              </a:rPr>
              <a:t>long </a:t>
            </a:r>
            <a:r>
              <a:rPr dirty="0" sz="1150" spc="-10">
                <a:latin typeface="Arial"/>
                <a:cs typeface="Arial"/>
              </a:rPr>
              <a:t>term </a:t>
            </a:r>
            <a:r>
              <a:rPr dirty="0" sz="1150" spc="-40">
                <a:latin typeface="Arial"/>
                <a:cs typeface="Arial"/>
              </a:rPr>
              <a:t>investments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5">
                <a:latin typeface="Arial"/>
                <a:cs typeface="Arial"/>
              </a:rPr>
              <a:t>firm, </a:t>
            </a:r>
            <a:r>
              <a:rPr dirty="0" sz="1150" spc="-50">
                <a:latin typeface="Arial"/>
                <a:cs typeface="Arial"/>
              </a:rPr>
              <a:t>Generating </a:t>
            </a:r>
            <a:r>
              <a:rPr dirty="0" sz="1150" spc="-60">
                <a:latin typeface="Arial"/>
                <a:cs typeface="Arial"/>
              </a:rPr>
              <a:t>revenues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5">
                <a:latin typeface="Arial"/>
                <a:cs typeface="Arial"/>
              </a:rPr>
              <a:t>pay  </a:t>
            </a:r>
            <a:r>
              <a:rPr dirty="0" sz="1150" spc="-70">
                <a:latin typeface="Arial"/>
                <a:cs typeface="Arial"/>
              </a:rPr>
              <a:t>back </a:t>
            </a:r>
            <a:r>
              <a:rPr dirty="0" sz="1150" spc="-50">
                <a:latin typeface="Arial"/>
                <a:cs typeface="Arial"/>
              </a:rPr>
              <a:t>these </a:t>
            </a:r>
            <a:r>
              <a:rPr dirty="0" sz="1150" spc="-45">
                <a:latin typeface="Arial"/>
                <a:cs typeface="Arial"/>
              </a:rPr>
              <a:t>investments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20">
                <a:latin typeface="Arial"/>
                <a:cs typeface="Arial"/>
              </a:rPr>
              <a:t>perform </a:t>
            </a:r>
            <a:r>
              <a:rPr dirty="0" sz="1150" spc="-60">
                <a:latin typeface="Arial"/>
                <a:cs typeface="Arial"/>
              </a:rPr>
              <a:t>day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60">
                <a:latin typeface="Arial"/>
                <a:cs typeface="Arial"/>
              </a:rPr>
              <a:t>day </a:t>
            </a:r>
            <a:r>
              <a:rPr dirty="0" sz="1150" spc="-30">
                <a:latin typeface="Arial"/>
                <a:cs typeface="Arial"/>
              </a:rPr>
              <a:t>activities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5">
                <a:latin typeface="Arial"/>
                <a:cs typeface="Arial"/>
              </a:rPr>
              <a:t>an </a:t>
            </a:r>
            <a:r>
              <a:rPr dirty="0" sz="1150" spc="-40">
                <a:latin typeface="Arial"/>
                <a:cs typeface="Arial"/>
              </a:rPr>
              <a:t>organization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45">
                <a:latin typeface="Arial"/>
                <a:cs typeface="Arial"/>
              </a:rPr>
              <a:t>called  finance.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Arial"/>
              <a:cs typeface="Arial"/>
            </a:endParaRPr>
          </a:p>
          <a:p>
            <a:pPr algn="just" marL="12700">
              <a:lnSpc>
                <a:spcPct val="100000"/>
              </a:lnSpc>
            </a:pPr>
            <a:r>
              <a:rPr dirty="0" sz="1150" spc="-90" b="1">
                <a:latin typeface="Arial"/>
                <a:cs typeface="Arial"/>
              </a:rPr>
              <a:t>The </a:t>
            </a:r>
            <a:r>
              <a:rPr dirty="0" sz="1150" spc="-95" b="1">
                <a:latin typeface="Arial"/>
                <a:cs typeface="Arial"/>
              </a:rPr>
              <a:t>Role </a:t>
            </a:r>
            <a:r>
              <a:rPr dirty="0" sz="1150" spc="-50" b="1">
                <a:latin typeface="Arial"/>
                <a:cs typeface="Arial"/>
              </a:rPr>
              <a:t>of </a:t>
            </a:r>
            <a:r>
              <a:rPr dirty="0" sz="1150" spc="-45" b="1">
                <a:latin typeface="Arial"/>
                <a:cs typeface="Arial"/>
              </a:rPr>
              <a:t>the </a:t>
            </a:r>
            <a:r>
              <a:rPr dirty="0" sz="1150" spc="-75" b="1">
                <a:latin typeface="Arial"/>
                <a:cs typeface="Arial"/>
              </a:rPr>
              <a:t>financial </a:t>
            </a:r>
            <a:r>
              <a:rPr dirty="0" sz="1150" spc="-70" b="1">
                <a:latin typeface="Arial"/>
                <a:cs typeface="Arial"/>
              </a:rPr>
              <a:t>people in </a:t>
            </a:r>
            <a:r>
              <a:rPr dirty="0" sz="1150" spc="-75" b="1">
                <a:latin typeface="Arial"/>
                <a:cs typeface="Arial"/>
              </a:rPr>
              <a:t>organization</a:t>
            </a:r>
            <a:r>
              <a:rPr dirty="0" sz="1150" b="1">
                <a:latin typeface="Arial"/>
                <a:cs typeface="Arial"/>
              </a:rPr>
              <a:t> </a:t>
            </a:r>
            <a:r>
              <a:rPr dirty="0" sz="1150" spc="-80" b="1">
                <a:latin typeface="Arial"/>
                <a:cs typeface="Arial"/>
              </a:rPr>
              <a:t>management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Arial"/>
              <a:cs typeface="Arial"/>
            </a:endParaRPr>
          </a:p>
          <a:p>
            <a:pPr marL="12700" marR="131445">
              <a:lnSpc>
                <a:spcPct val="101699"/>
              </a:lnSpc>
            </a:pPr>
            <a:r>
              <a:rPr dirty="0" sz="1150" spc="-45">
                <a:latin typeface="Arial"/>
                <a:cs typeface="Arial"/>
              </a:rPr>
              <a:t>Corporate finance </a:t>
            </a:r>
            <a:r>
              <a:rPr dirty="0" sz="1150" spc="-30">
                <a:latin typeface="Arial"/>
                <a:cs typeface="Arial"/>
              </a:rPr>
              <a:t>typically </a:t>
            </a:r>
            <a:r>
              <a:rPr dirty="0" sz="1150" spc="-40">
                <a:latin typeface="Arial"/>
                <a:cs typeface="Arial"/>
              </a:rPr>
              <a:t>entails </a:t>
            </a:r>
            <a:r>
              <a:rPr dirty="0" sz="1150" spc="-10">
                <a:latin typeface="Arial"/>
                <a:cs typeface="Arial"/>
              </a:rPr>
              <a:t>four </a:t>
            </a:r>
            <a:r>
              <a:rPr dirty="0" sz="1150" spc="-35">
                <a:latin typeface="Arial"/>
                <a:cs typeface="Arial"/>
              </a:rPr>
              <a:t>responsibilities: </a:t>
            </a:r>
            <a:r>
              <a:rPr dirty="0" sz="1150" spc="-30">
                <a:latin typeface="Arial"/>
                <a:cs typeface="Arial"/>
              </a:rPr>
              <a:t>determining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firm's </a:t>
            </a:r>
            <a:r>
              <a:rPr dirty="0" sz="1150" spc="-30">
                <a:latin typeface="Arial"/>
                <a:cs typeface="Arial"/>
              </a:rPr>
              <a:t>long-term  </a:t>
            </a:r>
            <a:r>
              <a:rPr dirty="0" sz="1150" spc="-40">
                <a:latin typeface="Arial"/>
                <a:cs typeface="Arial"/>
              </a:rPr>
              <a:t>investments,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30">
                <a:latin typeface="Arial"/>
                <a:cs typeface="Arial"/>
              </a:rPr>
              <a:t>obtaining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funds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10">
                <a:latin typeface="Arial"/>
                <a:cs typeface="Arial"/>
              </a:rPr>
              <a:t>to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65">
                <a:latin typeface="Arial"/>
                <a:cs typeface="Arial"/>
              </a:rPr>
              <a:t>pay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5">
                <a:latin typeface="Arial"/>
                <a:cs typeface="Arial"/>
              </a:rPr>
              <a:t>for</a:t>
            </a:r>
            <a:r>
              <a:rPr dirty="0" sz="1150" spc="-6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those</a:t>
            </a:r>
            <a:r>
              <a:rPr dirty="0" sz="1150" spc="-7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investments,</a:t>
            </a:r>
            <a:r>
              <a:rPr dirty="0" sz="1150" spc="-6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conducting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50">
                <a:latin typeface="Arial"/>
                <a:cs typeface="Arial"/>
              </a:rPr>
              <a:t> </a:t>
            </a:r>
            <a:r>
              <a:rPr dirty="0" sz="1150" spc="-15">
                <a:latin typeface="Arial"/>
                <a:cs typeface="Arial"/>
              </a:rPr>
              <a:t>firm's</a:t>
            </a:r>
            <a:r>
              <a:rPr dirty="0" sz="1150" spc="-55">
                <a:latin typeface="Arial"/>
                <a:cs typeface="Arial"/>
              </a:rPr>
              <a:t> everyday  </a:t>
            </a:r>
            <a:r>
              <a:rPr dirty="0" sz="1150" spc="-35">
                <a:latin typeface="Arial"/>
                <a:cs typeface="Arial"/>
              </a:rPr>
              <a:t>financial </a:t>
            </a:r>
            <a:r>
              <a:rPr dirty="0" sz="1150" spc="-30">
                <a:latin typeface="Arial"/>
                <a:cs typeface="Arial"/>
              </a:rPr>
              <a:t>activities,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5">
                <a:latin typeface="Arial"/>
                <a:cs typeface="Arial"/>
              </a:rPr>
              <a:t>helping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75">
                <a:latin typeface="Arial"/>
                <a:cs typeface="Arial"/>
              </a:rPr>
              <a:t>manage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60">
                <a:latin typeface="Arial"/>
                <a:cs typeface="Arial"/>
              </a:rPr>
              <a:t>risks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>
                <a:latin typeface="Arial"/>
                <a:cs typeface="Arial"/>
              </a:rPr>
              <a:t>firm</a:t>
            </a:r>
            <a:r>
              <a:rPr dirty="0" sz="1150" spc="-229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takes.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Arial"/>
              <a:cs typeface="Arial"/>
            </a:endParaRPr>
          </a:p>
          <a:p>
            <a:pPr marL="12700" marR="192405">
              <a:lnSpc>
                <a:spcPct val="101699"/>
              </a:lnSpc>
            </a:pPr>
            <a:r>
              <a:rPr dirty="0" sz="1150" spc="-50">
                <a:latin typeface="Arial"/>
                <a:cs typeface="Arial"/>
              </a:rPr>
              <a:t>Responsibilities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90" b="1">
                <a:latin typeface="Arial"/>
                <a:cs typeface="Arial"/>
              </a:rPr>
              <a:t>Financial </a:t>
            </a:r>
            <a:r>
              <a:rPr dirty="0" sz="1150" spc="-70" b="1">
                <a:latin typeface="Arial"/>
                <a:cs typeface="Arial"/>
              </a:rPr>
              <a:t>Manager </a:t>
            </a:r>
            <a:r>
              <a:rPr dirty="0" sz="1150" spc="-40">
                <a:latin typeface="Arial"/>
                <a:cs typeface="Arial"/>
              </a:rPr>
              <a:t>include </a:t>
            </a:r>
            <a:r>
              <a:rPr dirty="0" sz="1150" spc="-45">
                <a:latin typeface="Arial"/>
                <a:cs typeface="Arial"/>
              </a:rPr>
              <a:t>planning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controlling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acquisition  </a:t>
            </a:r>
            <a:r>
              <a:rPr dirty="0" sz="1150" spc="-55">
                <a:latin typeface="Arial"/>
                <a:cs typeface="Arial"/>
              </a:rPr>
              <a:t>and dispersal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15">
                <a:latin typeface="Arial"/>
                <a:cs typeface="Arial"/>
              </a:rPr>
              <a:t>firm's </a:t>
            </a:r>
            <a:r>
              <a:rPr dirty="0" sz="1150" spc="-35">
                <a:latin typeface="Arial"/>
                <a:cs typeface="Arial"/>
              </a:rPr>
              <a:t>financial</a:t>
            </a:r>
            <a:r>
              <a:rPr dirty="0" sz="1150" spc="-145">
                <a:latin typeface="Arial"/>
                <a:cs typeface="Arial"/>
              </a:rPr>
              <a:t> </a:t>
            </a:r>
            <a:r>
              <a:rPr dirty="0" sz="1150" spc="-55">
                <a:latin typeface="Arial"/>
                <a:cs typeface="Arial"/>
              </a:rPr>
              <a:t>resources.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Arial"/>
              <a:cs typeface="Arial"/>
            </a:endParaRPr>
          </a:p>
          <a:p>
            <a:pPr algn="just" lvl="1" marL="1384300" marR="6350" indent="-299085">
              <a:lnSpc>
                <a:spcPct val="101699"/>
              </a:lnSpc>
              <a:spcBef>
                <a:spcPts val="5"/>
              </a:spcBef>
              <a:buFont typeface="Arial"/>
              <a:buAutoNum type="romanLcPeriod"/>
              <a:tabLst>
                <a:tab pos="1384935" algn="l"/>
              </a:tabLst>
            </a:pPr>
            <a:r>
              <a:rPr dirty="0" sz="1150" spc="-105" b="1">
                <a:latin typeface="Arial"/>
                <a:cs typeface="Arial"/>
              </a:rPr>
              <a:t>Cash-Flow </a:t>
            </a:r>
            <a:r>
              <a:rPr dirty="0" sz="1150" spc="-60" b="1">
                <a:latin typeface="Arial"/>
                <a:cs typeface="Arial"/>
              </a:rPr>
              <a:t>Management</a:t>
            </a:r>
            <a:r>
              <a:rPr dirty="0" sz="1150" spc="-60">
                <a:latin typeface="Arial"/>
                <a:cs typeface="Arial"/>
              </a:rPr>
              <a:t>: </a:t>
            </a:r>
            <a:r>
              <a:rPr dirty="0" sz="1150" spc="-45">
                <a:latin typeface="Arial"/>
                <a:cs typeface="Arial"/>
              </a:rPr>
              <a:t>Management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85">
                <a:latin typeface="Arial"/>
                <a:cs typeface="Arial"/>
              </a:rPr>
              <a:t>cash </a:t>
            </a:r>
            <a:r>
              <a:rPr dirty="0" sz="1150" spc="-25">
                <a:latin typeface="Arial"/>
                <a:cs typeface="Arial"/>
              </a:rPr>
              <a:t>inflows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0">
                <a:latin typeface="Arial"/>
                <a:cs typeface="Arial"/>
              </a:rPr>
              <a:t>outflows 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ensure </a:t>
            </a:r>
            <a:r>
              <a:rPr dirty="0" sz="1150" spc="-50">
                <a:latin typeface="Arial"/>
                <a:cs typeface="Arial"/>
              </a:rPr>
              <a:t>adequate </a:t>
            </a:r>
            <a:r>
              <a:rPr dirty="0" sz="1150" spc="-45">
                <a:latin typeface="Arial"/>
                <a:cs typeface="Arial"/>
              </a:rPr>
              <a:t>funds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70">
                <a:latin typeface="Arial"/>
                <a:cs typeface="Arial"/>
              </a:rPr>
              <a:t>purchases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15">
                <a:latin typeface="Arial"/>
                <a:cs typeface="Arial"/>
              </a:rPr>
              <a:t>the </a:t>
            </a:r>
            <a:r>
              <a:rPr dirty="0" sz="1150" spc="-30">
                <a:latin typeface="Arial"/>
                <a:cs typeface="Arial"/>
              </a:rPr>
              <a:t>productive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>
                <a:latin typeface="Arial"/>
                <a:cs typeface="Arial"/>
              </a:rPr>
              <a:t>of  </a:t>
            </a:r>
            <a:r>
              <a:rPr dirty="0" sz="1150" spc="-95">
                <a:latin typeface="Arial"/>
                <a:cs typeface="Arial"/>
              </a:rPr>
              <a:t>excess</a:t>
            </a:r>
            <a:r>
              <a:rPr dirty="0" sz="1150" spc="-55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funds.</a:t>
            </a:r>
            <a:endParaRPr sz="11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Arial"/>
              <a:buAutoNum type="romanLcPeriod"/>
            </a:pPr>
            <a:endParaRPr sz="1200">
              <a:latin typeface="Arial"/>
              <a:cs typeface="Arial"/>
            </a:endParaRPr>
          </a:p>
          <a:p>
            <a:pPr lvl="1" marL="1384300" marR="213995" indent="-332740">
              <a:lnSpc>
                <a:spcPct val="101699"/>
              </a:lnSpc>
              <a:spcBef>
                <a:spcPts val="5"/>
              </a:spcBef>
              <a:buFont typeface="Arial"/>
              <a:buAutoNum type="romanLcPeriod"/>
              <a:tabLst>
                <a:tab pos="1383665" algn="l"/>
                <a:tab pos="1384935" algn="l"/>
              </a:tabLst>
            </a:pPr>
            <a:r>
              <a:rPr dirty="0" sz="1150" spc="-85" b="1">
                <a:latin typeface="Arial"/>
                <a:cs typeface="Arial"/>
              </a:rPr>
              <a:t>Financial </a:t>
            </a:r>
            <a:r>
              <a:rPr dirty="0" sz="1150" spc="-75" b="1">
                <a:latin typeface="Arial"/>
                <a:cs typeface="Arial"/>
              </a:rPr>
              <a:t>Control</a:t>
            </a:r>
            <a:r>
              <a:rPr dirty="0" sz="1150" spc="-75">
                <a:latin typeface="Arial"/>
                <a:cs typeface="Arial"/>
              </a:rPr>
              <a:t>: </a:t>
            </a:r>
            <a:r>
              <a:rPr dirty="0" sz="1150" spc="-90">
                <a:latin typeface="Arial"/>
                <a:cs typeface="Arial"/>
              </a:rPr>
              <a:t>Process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60">
                <a:latin typeface="Arial"/>
                <a:cs typeface="Arial"/>
              </a:rPr>
              <a:t>checking </a:t>
            </a:r>
            <a:r>
              <a:rPr dirty="0" sz="1150" spc="-45">
                <a:latin typeface="Arial"/>
                <a:cs typeface="Arial"/>
              </a:rPr>
              <a:t>actual </a:t>
            </a:r>
            <a:r>
              <a:rPr dirty="0" sz="1150" spc="-40">
                <a:latin typeface="Arial"/>
                <a:cs typeface="Arial"/>
              </a:rPr>
              <a:t>performance </a:t>
            </a:r>
            <a:r>
              <a:rPr dirty="0" sz="1150" spc="-60">
                <a:latin typeface="Arial"/>
                <a:cs typeface="Arial"/>
              </a:rPr>
              <a:t>against  plans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55">
                <a:latin typeface="Arial"/>
                <a:cs typeface="Arial"/>
              </a:rPr>
              <a:t>ensure </a:t>
            </a:r>
            <a:r>
              <a:rPr dirty="0" sz="1150" spc="-5">
                <a:latin typeface="Arial"/>
                <a:cs typeface="Arial"/>
              </a:rPr>
              <a:t>that </a:t>
            </a:r>
            <a:r>
              <a:rPr dirty="0" sz="1150" spc="-50">
                <a:latin typeface="Arial"/>
                <a:cs typeface="Arial"/>
              </a:rPr>
              <a:t>desired </a:t>
            </a:r>
            <a:r>
              <a:rPr dirty="0" sz="1150" spc="-35">
                <a:latin typeface="Arial"/>
                <a:cs typeface="Arial"/>
              </a:rPr>
              <a:t>financial </a:t>
            </a:r>
            <a:r>
              <a:rPr dirty="0" sz="1150" spc="-40">
                <a:latin typeface="Arial"/>
                <a:cs typeface="Arial"/>
              </a:rPr>
              <a:t>results</a:t>
            </a:r>
            <a:r>
              <a:rPr dirty="0" sz="1150" spc="-204">
                <a:latin typeface="Arial"/>
                <a:cs typeface="Arial"/>
              </a:rPr>
              <a:t> </a:t>
            </a:r>
            <a:r>
              <a:rPr dirty="0" sz="1150" spc="-45">
                <a:latin typeface="Arial"/>
                <a:cs typeface="Arial"/>
              </a:rPr>
              <a:t>occur.</a:t>
            </a:r>
            <a:endParaRPr sz="115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198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36198" y="6927597"/>
            <a:ext cx="16319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latin typeface="Arial"/>
                <a:cs typeface="Arial"/>
              </a:rPr>
              <a:t>iii</a:t>
            </a:r>
            <a:r>
              <a:rPr dirty="0" sz="1150" spc="-30"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01966" y="6927597"/>
            <a:ext cx="4077970" cy="55816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dirty="0" sz="1150" spc="-85" b="1">
                <a:latin typeface="Arial"/>
                <a:cs typeface="Arial"/>
              </a:rPr>
              <a:t>Financial Planning</a:t>
            </a:r>
            <a:r>
              <a:rPr dirty="0" sz="1150" spc="-85">
                <a:latin typeface="Arial"/>
                <a:cs typeface="Arial"/>
              </a:rPr>
              <a:t>: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70" b="1">
                <a:latin typeface="Arial"/>
                <a:cs typeface="Arial"/>
              </a:rPr>
              <a:t>financial </a:t>
            </a:r>
            <a:r>
              <a:rPr dirty="0" sz="1150" spc="-75" b="1">
                <a:latin typeface="Arial"/>
                <a:cs typeface="Arial"/>
              </a:rPr>
              <a:t>plan </a:t>
            </a:r>
            <a:r>
              <a:rPr dirty="0" sz="1150" spc="-70">
                <a:latin typeface="Arial"/>
                <a:cs typeface="Arial"/>
              </a:rPr>
              <a:t>shows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funds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>
                <a:latin typeface="Arial"/>
                <a:cs typeface="Arial"/>
              </a:rPr>
              <a:t>firm will </a:t>
            </a:r>
            <a:r>
              <a:rPr dirty="0" sz="1150" spc="-60">
                <a:latin typeface="Arial"/>
                <a:cs typeface="Arial"/>
              </a:rPr>
              <a:t>need 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period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20">
                <a:latin typeface="Arial"/>
                <a:cs typeface="Arial"/>
              </a:rPr>
              <a:t>time, </a:t>
            </a:r>
            <a:r>
              <a:rPr dirty="0" sz="1150" spc="-114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well </a:t>
            </a:r>
            <a:r>
              <a:rPr dirty="0" sz="1150" spc="-110">
                <a:latin typeface="Arial"/>
                <a:cs typeface="Arial"/>
              </a:rPr>
              <a:t>as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70">
                <a:latin typeface="Arial"/>
                <a:cs typeface="Arial"/>
              </a:rPr>
              <a:t>sources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90">
                <a:latin typeface="Arial"/>
                <a:cs typeface="Arial"/>
              </a:rPr>
              <a:t>uses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45">
                <a:latin typeface="Arial"/>
                <a:cs typeface="Arial"/>
              </a:rPr>
              <a:t>those funds.  </a:t>
            </a:r>
            <a:r>
              <a:rPr dirty="0" sz="1150" spc="-105">
                <a:latin typeface="Arial"/>
                <a:cs typeface="Arial"/>
              </a:rPr>
              <a:t>A </a:t>
            </a:r>
            <a:r>
              <a:rPr dirty="0" sz="1150" spc="-40">
                <a:latin typeface="Arial"/>
                <a:cs typeface="Arial"/>
              </a:rPr>
              <a:t>strategy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55">
                <a:latin typeface="Arial"/>
                <a:cs typeface="Arial"/>
              </a:rPr>
              <a:t>reaching </a:t>
            </a:r>
            <a:r>
              <a:rPr dirty="0" sz="1150" spc="-70">
                <a:latin typeface="Arial"/>
                <a:cs typeface="Arial"/>
              </a:rPr>
              <a:t>some </a:t>
            </a:r>
            <a:r>
              <a:rPr dirty="0" sz="1150" spc="-10">
                <a:latin typeface="Arial"/>
                <a:cs typeface="Arial"/>
              </a:rPr>
              <a:t>future </a:t>
            </a:r>
            <a:r>
              <a:rPr dirty="0" sz="1150" spc="-35">
                <a:latin typeface="Arial"/>
                <a:cs typeface="Arial"/>
              </a:rPr>
              <a:t>financial</a:t>
            </a:r>
            <a:r>
              <a:rPr dirty="0" sz="1150" spc="-12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position.</a:t>
            </a:r>
            <a:endParaRPr sz="1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0409" y="7640828"/>
            <a:ext cx="5168265" cy="11233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383665" marR="5080" indent="-364490">
              <a:lnSpc>
                <a:spcPct val="101699"/>
              </a:lnSpc>
              <a:spcBef>
                <a:spcPts val="75"/>
              </a:spcBef>
              <a:tabLst>
                <a:tab pos="1383665" algn="l"/>
              </a:tabLst>
            </a:pPr>
            <a:r>
              <a:rPr dirty="0" sz="1150" spc="-30">
                <a:latin typeface="Arial"/>
                <a:cs typeface="Arial"/>
              </a:rPr>
              <a:t>iv.</a:t>
            </a:r>
            <a:r>
              <a:rPr dirty="0" sz="1150" spc="-30">
                <a:latin typeface="Times New Roman"/>
                <a:cs typeface="Times New Roman"/>
              </a:rPr>
              <a:t>	</a:t>
            </a:r>
            <a:r>
              <a:rPr dirty="0" sz="1150" spc="-85" b="1">
                <a:latin typeface="Arial"/>
                <a:cs typeface="Arial"/>
              </a:rPr>
              <a:t>Dealing </a:t>
            </a:r>
            <a:r>
              <a:rPr dirty="0" sz="1150" spc="-40" b="1">
                <a:latin typeface="Arial"/>
                <a:cs typeface="Arial"/>
              </a:rPr>
              <a:t>with </a:t>
            </a:r>
            <a:r>
              <a:rPr dirty="0" sz="1150" spc="-110" b="1">
                <a:latin typeface="Arial"/>
                <a:cs typeface="Arial"/>
              </a:rPr>
              <a:t>Banks</a:t>
            </a:r>
            <a:r>
              <a:rPr dirty="0" sz="1150" spc="-110">
                <a:latin typeface="Arial"/>
                <a:cs typeface="Arial"/>
              </a:rPr>
              <a:t>: </a:t>
            </a:r>
            <a:r>
              <a:rPr dirty="0" sz="1150" spc="-75">
                <a:latin typeface="Arial"/>
                <a:cs typeface="Arial"/>
              </a:rPr>
              <a:t>Deal </a:t>
            </a:r>
            <a:r>
              <a:rPr dirty="0" sz="1150" spc="5">
                <a:latin typeface="Arial"/>
                <a:cs typeface="Arial"/>
              </a:rPr>
              <a:t>with </a:t>
            </a:r>
            <a:r>
              <a:rPr dirty="0" sz="1150" spc="-40">
                <a:latin typeface="Arial"/>
                <a:cs typeface="Arial"/>
              </a:rPr>
              <a:t>almost </a:t>
            </a:r>
            <a:r>
              <a:rPr dirty="0" sz="1150" spc="-50">
                <a:latin typeface="Arial"/>
                <a:cs typeface="Arial"/>
              </a:rPr>
              <a:t>every </a:t>
            </a:r>
            <a:r>
              <a:rPr dirty="0" sz="1150" spc="-60">
                <a:latin typeface="Arial"/>
                <a:cs typeface="Arial"/>
              </a:rPr>
              <a:t>bank </a:t>
            </a:r>
            <a:r>
              <a:rPr dirty="0" sz="1150">
                <a:latin typeface="Arial"/>
                <a:cs typeface="Arial"/>
              </a:rPr>
              <a:t>for </a:t>
            </a:r>
            <a:r>
              <a:rPr dirty="0" sz="1150" spc="-30">
                <a:latin typeface="Arial"/>
                <a:cs typeface="Arial"/>
              </a:rPr>
              <a:t>debiting </a:t>
            </a:r>
            <a:r>
              <a:rPr dirty="0" sz="1150" spc="15">
                <a:latin typeface="Arial"/>
                <a:cs typeface="Arial"/>
              </a:rPr>
              <a:t>&amp;  </a:t>
            </a:r>
            <a:r>
              <a:rPr dirty="0" sz="1150" spc="-30">
                <a:latin typeface="Arial"/>
                <a:cs typeface="Arial"/>
              </a:rPr>
              <a:t>crediting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funds, </a:t>
            </a:r>
            <a:r>
              <a:rPr dirty="0" sz="1150" spc="-60">
                <a:latin typeface="Arial"/>
                <a:cs typeface="Arial"/>
              </a:rPr>
              <a:t>Manage </a:t>
            </a:r>
            <a:r>
              <a:rPr dirty="0" sz="1150" spc="-30">
                <a:latin typeface="Arial"/>
                <a:cs typeface="Arial"/>
              </a:rPr>
              <a:t>foreign </a:t>
            </a:r>
            <a:r>
              <a:rPr dirty="0" sz="1150" spc="-25">
                <a:latin typeface="Arial"/>
                <a:cs typeface="Arial"/>
              </a:rPr>
              <a:t>trade </a:t>
            </a:r>
            <a:r>
              <a:rPr dirty="0" sz="1150" spc="15">
                <a:latin typeface="Arial"/>
                <a:cs typeface="Arial"/>
              </a:rPr>
              <a:t>&amp;</a:t>
            </a:r>
            <a:r>
              <a:rPr dirty="0" sz="1150" spc="-225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short </a:t>
            </a:r>
            <a:r>
              <a:rPr dirty="0" sz="1150" spc="-15">
                <a:latin typeface="Arial"/>
                <a:cs typeface="Arial"/>
              </a:rPr>
              <a:t>term </a:t>
            </a:r>
            <a:r>
              <a:rPr dirty="0" sz="1150" spc="-55">
                <a:latin typeface="Arial"/>
                <a:cs typeface="Arial"/>
              </a:rPr>
              <a:t>loans.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-65">
                <a:latin typeface="Arial"/>
                <a:cs typeface="Arial"/>
              </a:rPr>
              <a:t>Ratio</a:t>
            </a:r>
            <a:r>
              <a:rPr dirty="0" sz="1350" spc="-75">
                <a:latin typeface="Arial"/>
                <a:cs typeface="Arial"/>
              </a:rPr>
              <a:t> </a:t>
            </a:r>
            <a:r>
              <a:rPr dirty="0" sz="1350" spc="-80">
                <a:latin typeface="Arial"/>
                <a:cs typeface="Arial"/>
              </a:rPr>
              <a:t>Analysis</a:t>
            </a:r>
            <a:endParaRPr sz="13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0"/>
              </a:spcBef>
              <a:buAutoNum type="alphaLcPeriod"/>
              <a:tabLst>
                <a:tab pos="470534" algn="l"/>
              </a:tabLst>
            </a:pPr>
            <a:r>
              <a:rPr dirty="0" sz="1150" spc="-65">
                <a:latin typeface="Arial"/>
                <a:cs typeface="Arial"/>
              </a:rPr>
              <a:t>Ratios </a:t>
            </a:r>
            <a:r>
              <a:rPr dirty="0" sz="1150">
                <a:latin typeface="Arial"/>
                <a:cs typeface="Arial"/>
              </a:rPr>
              <a:t>tell </a:t>
            </a:r>
            <a:r>
              <a:rPr dirty="0" sz="1150" spc="-85">
                <a:latin typeface="Arial"/>
                <a:cs typeface="Arial"/>
              </a:rPr>
              <a:t>us </a:t>
            </a:r>
            <a:r>
              <a:rPr dirty="0" sz="1150" spc="-30">
                <a:latin typeface="Arial"/>
                <a:cs typeface="Arial"/>
              </a:rPr>
              <a:t>relationship </a:t>
            </a:r>
            <a:r>
              <a:rPr dirty="0" sz="1150" spc="-60">
                <a:latin typeface="Arial"/>
                <a:cs typeface="Arial"/>
              </a:rPr>
              <a:t>among </a:t>
            </a:r>
            <a:r>
              <a:rPr dirty="0" sz="1150" spc="-35">
                <a:latin typeface="Arial"/>
                <a:cs typeface="Arial"/>
              </a:rPr>
              <a:t>financial</a:t>
            </a:r>
            <a:r>
              <a:rPr dirty="0" sz="1150" spc="-120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figures.</a:t>
            </a:r>
            <a:endParaRPr sz="1150">
              <a:latin typeface="Arial"/>
              <a:cs typeface="Arial"/>
            </a:endParaRPr>
          </a:p>
          <a:p>
            <a:pPr marL="469900" indent="-229235">
              <a:lnSpc>
                <a:spcPct val="100000"/>
              </a:lnSpc>
              <a:spcBef>
                <a:spcPts val="25"/>
              </a:spcBef>
              <a:buAutoNum type="alphaLcPeriod"/>
              <a:tabLst>
                <a:tab pos="470534" algn="l"/>
              </a:tabLst>
            </a:pPr>
            <a:r>
              <a:rPr dirty="0" sz="1150" spc="-90">
                <a:latin typeface="Arial"/>
                <a:cs typeface="Arial"/>
              </a:rPr>
              <a:t>These </a:t>
            </a:r>
            <a:r>
              <a:rPr dirty="0" sz="1150" spc="-70">
                <a:latin typeface="Arial"/>
                <a:cs typeface="Arial"/>
              </a:rPr>
              <a:t>can </a:t>
            </a:r>
            <a:r>
              <a:rPr dirty="0" sz="1150" spc="-40">
                <a:latin typeface="Arial"/>
                <a:cs typeface="Arial"/>
              </a:rPr>
              <a:t>be: </a:t>
            </a:r>
            <a:r>
              <a:rPr dirty="0" sz="1150" spc="-50">
                <a:latin typeface="Arial"/>
                <a:cs typeface="Arial"/>
              </a:rPr>
              <a:t>Relationship </a:t>
            </a:r>
            <a:r>
              <a:rPr dirty="0" sz="1150" spc="-35">
                <a:latin typeface="Arial"/>
                <a:cs typeface="Arial"/>
              </a:rPr>
              <a:t>between </a:t>
            </a:r>
            <a:r>
              <a:rPr dirty="0" sz="1150" spc="-25">
                <a:latin typeface="Arial"/>
                <a:cs typeface="Arial"/>
              </a:rPr>
              <a:t>current </a:t>
            </a:r>
            <a:r>
              <a:rPr dirty="0" sz="1150" spc="-80">
                <a:latin typeface="Arial"/>
                <a:cs typeface="Arial"/>
              </a:rPr>
              <a:t>assets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25">
                <a:latin typeface="Arial"/>
                <a:cs typeface="Arial"/>
              </a:rPr>
              <a:t>current</a:t>
            </a:r>
            <a:r>
              <a:rPr dirty="0" sz="1150" spc="-100">
                <a:latin typeface="Arial"/>
                <a:cs typeface="Arial"/>
              </a:rPr>
              <a:t> </a:t>
            </a:r>
            <a:r>
              <a:rPr dirty="0" sz="1150" spc="-25">
                <a:latin typeface="Arial"/>
                <a:cs typeface="Arial"/>
              </a:rPr>
              <a:t>liabilities.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299" y="435359"/>
            <a:ext cx="193865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0">
                <a:latin typeface="Arial"/>
                <a:cs typeface="Arial"/>
              </a:rPr>
              <a:t>Introduction </a:t>
            </a:r>
            <a:r>
              <a:rPr dirty="0" sz="1050" spc="10">
                <a:latin typeface="Arial"/>
                <a:cs typeface="Arial"/>
              </a:rPr>
              <a:t>to </a:t>
            </a:r>
            <a:r>
              <a:rPr dirty="0" sz="1050" spc="-80">
                <a:latin typeface="Arial"/>
                <a:cs typeface="Arial"/>
              </a:rPr>
              <a:t>Business –MGT</a:t>
            </a:r>
            <a:r>
              <a:rPr dirty="0" sz="1050" spc="-130">
                <a:latin typeface="Arial"/>
                <a:cs typeface="Arial"/>
              </a:rPr>
              <a:t> </a:t>
            </a:r>
            <a:r>
              <a:rPr dirty="0" sz="1050" spc="-55">
                <a:latin typeface="Arial"/>
                <a:cs typeface="Arial"/>
              </a:rPr>
              <a:t>211</a:t>
            </a:r>
            <a:endParaRPr sz="1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9305" y="435359"/>
            <a:ext cx="1924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80" b="1">
                <a:latin typeface="Arial"/>
                <a:cs typeface="Arial"/>
              </a:rPr>
              <a:t>V</a:t>
            </a:r>
            <a:r>
              <a:rPr dirty="0" sz="1050" spc="-75" b="1">
                <a:latin typeface="Arial"/>
                <a:cs typeface="Arial"/>
              </a:rPr>
              <a:t>U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597408"/>
            <a:ext cx="5215255" cy="9525"/>
          </a:xfrm>
          <a:custGeom>
            <a:avLst/>
            <a:gdLst/>
            <a:ahLst/>
            <a:cxnLst/>
            <a:rect l="l" t="t" r="r" b="b"/>
            <a:pathLst>
              <a:path w="5215255" h="9525">
                <a:moveTo>
                  <a:pt x="5215127" y="0"/>
                </a:moveTo>
                <a:lnTo>
                  <a:pt x="0" y="0"/>
                </a:lnTo>
                <a:lnTo>
                  <a:pt x="0" y="9143"/>
                </a:lnTo>
                <a:lnTo>
                  <a:pt x="5215127" y="9143"/>
                </a:lnTo>
                <a:lnTo>
                  <a:pt x="5215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30299" y="892559"/>
            <a:ext cx="5514340" cy="1301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75" b="1">
                <a:latin typeface="Arial"/>
                <a:cs typeface="Arial"/>
              </a:rPr>
              <a:t>THE </a:t>
            </a:r>
            <a:r>
              <a:rPr dirty="0" sz="1350" spc="-160" b="1">
                <a:latin typeface="Arial"/>
                <a:cs typeface="Arial"/>
              </a:rPr>
              <a:t>BUDGET: </a:t>
            </a:r>
            <a:r>
              <a:rPr dirty="0" sz="1350" spc="-125" b="1">
                <a:latin typeface="Arial"/>
                <a:cs typeface="Arial"/>
              </a:rPr>
              <a:t>AN </a:t>
            </a:r>
            <a:r>
              <a:rPr dirty="0" sz="1350" spc="-155" b="1">
                <a:latin typeface="Arial"/>
                <a:cs typeface="Arial"/>
              </a:rPr>
              <a:t>INTERNAL </a:t>
            </a:r>
            <a:r>
              <a:rPr dirty="0" sz="1350" spc="-140" b="1">
                <a:latin typeface="Arial"/>
                <a:cs typeface="Arial"/>
              </a:rPr>
              <a:t>FINANCIAL</a:t>
            </a:r>
            <a:r>
              <a:rPr dirty="0" sz="1350" spc="50" b="1">
                <a:latin typeface="Arial"/>
                <a:cs typeface="Arial"/>
              </a:rPr>
              <a:t> </a:t>
            </a:r>
            <a:r>
              <a:rPr dirty="0" sz="1350" spc="-160" b="1">
                <a:latin typeface="Arial"/>
                <a:cs typeface="Arial"/>
              </a:rPr>
              <a:t>STATEMENT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algn="just" marL="12700" marR="5080">
              <a:lnSpc>
                <a:spcPct val="101699"/>
              </a:lnSpc>
            </a:pPr>
            <a:r>
              <a:rPr dirty="0" sz="1150" spc="-60">
                <a:latin typeface="Arial"/>
                <a:cs typeface="Arial"/>
              </a:rPr>
              <a:t>Budget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detailed statement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35">
                <a:latin typeface="Arial"/>
                <a:cs typeface="Arial"/>
              </a:rPr>
              <a:t>estimated </a:t>
            </a:r>
            <a:r>
              <a:rPr dirty="0" sz="1150" spc="-40">
                <a:latin typeface="Arial"/>
                <a:cs typeface="Arial"/>
              </a:rPr>
              <a:t>receipts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expenditures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90">
                <a:latin typeface="Arial"/>
                <a:cs typeface="Arial"/>
              </a:rPr>
              <a:t>a </a:t>
            </a:r>
            <a:r>
              <a:rPr dirty="0" sz="1150" spc="-30">
                <a:latin typeface="Arial"/>
                <a:cs typeface="Arial"/>
              </a:rPr>
              <a:t>period </a:t>
            </a:r>
            <a:r>
              <a:rPr dirty="0" sz="1150">
                <a:latin typeface="Arial"/>
                <a:cs typeface="Arial"/>
              </a:rPr>
              <a:t>of </a:t>
            </a:r>
            <a:r>
              <a:rPr dirty="0" sz="1150" spc="-10">
                <a:latin typeface="Arial"/>
                <a:cs typeface="Arial"/>
              </a:rPr>
              <a:t>time  </a:t>
            </a:r>
            <a:r>
              <a:rPr dirty="0" sz="1150" spc="-20">
                <a:latin typeface="Arial"/>
                <a:cs typeface="Arial"/>
              </a:rPr>
              <a:t>in the </a:t>
            </a:r>
            <a:r>
              <a:rPr dirty="0" sz="1150" spc="-15">
                <a:latin typeface="Arial"/>
                <a:cs typeface="Arial"/>
              </a:rPr>
              <a:t>future. </a:t>
            </a:r>
            <a:r>
              <a:rPr dirty="0" sz="1150" spc="-85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budget </a:t>
            </a:r>
            <a:r>
              <a:rPr dirty="0" sz="1150" spc="-65">
                <a:latin typeface="Arial"/>
                <a:cs typeface="Arial"/>
              </a:rPr>
              <a:t>is </a:t>
            </a:r>
            <a:r>
              <a:rPr dirty="0" sz="1150" spc="-35">
                <a:latin typeface="Arial"/>
                <a:cs typeface="Arial"/>
              </a:rPr>
              <a:t>probably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most </a:t>
            </a:r>
            <a:r>
              <a:rPr dirty="0" sz="1150" spc="-40">
                <a:latin typeface="Arial"/>
                <a:cs typeface="Arial"/>
              </a:rPr>
              <a:t>crucial </a:t>
            </a:r>
            <a:r>
              <a:rPr dirty="0" sz="1150" spc="-20">
                <a:latin typeface="Arial"/>
                <a:cs typeface="Arial"/>
              </a:rPr>
              <a:t>internal </a:t>
            </a:r>
            <a:r>
              <a:rPr dirty="0" sz="1150" spc="-35">
                <a:latin typeface="Arial"/>
                <a:cs typeface="Arial"/>
              </a:rPr>
              <a:t>financial </a:t>
            </a:r>
            <a:r>
              <a:rPr dirty="0" sz="1150" spc="-15">
                <a:latin typeface="Arial"/>
                <a:cs typeface="Arial"/>
              </a:rPr>
              <a:t>report. Most  </a:t>
            </a:r>
            <a:r>
              <a:rPr dirty="0" sz="1150" spc="-60">
                <a:latin typeface="Arial"/>
                <a:cs typeface="Arial"/>
              </a:rPr>
              <a:t>companies </a:t>
            </a:r>
            <a:r>
              <a:rPr dirty="0" sz="1150" spc="-80">
                <a:latin typeface="Arial"/>
                <a:cs typeface="Arial"/>
              </a:rPr>
              <a:t>use </a:t>
            </a:r>
            <a:r>
              <a:rPr dirty="0" sz="1150" spc="-10">
                <a:latin typeface="Arial"/>
                <a:cs typeface="Arial"/>
              </a:rPr>
              <a:t>their </a:t>
            </a:r>
            <a:r>
              <a:rPr dirty="0" sz="1150" spc="-50">
                <a:latin typeface="Arial"/>
                <a:cs typeface="Arial"/>
              </a:rPr>
              <a:t>budgets </a:t>
            </a:r>
            <a:r>
              <a:rPr dirty="0" sz="1150" spc="5">
                <a:latin typeface="Arial"/>
                <a:cs typeface="Arial"/>
              </a:rPr>
              <a:t>for </a:t>
            </a:r>
            <a:r>
              <a:rPr dirty="0" sz="1150" spc="-20">
                <a:latin typeface="Arial"/>
                <a:cs typeface="Arial"/>
              </a:rPr>
              <a:t>internal </a:t>
            </a:r>
            <a:r>
              <a:rPr dirty="0" sz="1150" spc="-40">
                <a:latin typeface="Arial"/>
                <a:cs typeface="Arial"/>
              </a:rPr>
              <a:t>planning, </a:t>
            </a:r>
            <a:r>
              <a:rPr dirty="0" sz="1150" spc="-25">
                <a:latin typeface="Arial"/>
                <a:cs typeface="Arial"/>
              </a:rPr>
              <a:t>controlling,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50">
                <a:latin typeface="Arial"/>
                <a:cs typeface="Arial"/>
              </a:rPr>
              <a:t>decision-making.  </a:t>
            </a:r>
            <a:r>
              <a:rPr dirty="0" sz="1150" spc="-40">
                <a:latin typeface="Arial"/>
                <a:cs typeface="Arial"/>
              </a:rPr>
              <a:t>Although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45">
                <a:latin typeface="Arial"/>
                <a:cs typeface="Arial"/>
              </a:rPr>
              <a:t>accounting </a:t>
            </a:r>
            <a:r>
              <a:rPr dirty="0" sz="1150" spc="-20">
                <a:latin typeface="Arial"/>
                <a:cs typeface="Arial"/>
              </a:rPr>
              <a:t>staff </a:t>
            </a:r>
            <a:r>
              <a:rPr dirty="0" sz="1150" spc="-40">
                <a:latin typeface="Arial"/>
                <a:cs typeface="Arial"/>
              </a:rPr>
              <a:t>coordinates </a:t>
            </a:r>
            <a:r>
              <a:rPr dirty="0" sz="1150" spc="-20">
                <a:latin typeface="Arial"/>
                <a:cs typeface="Arial"/>
              </a:rPr>
              <a:t>the </a:t>
            </a:r>
            <a:r>
              <a:rPr dirty="0" sz="1150" spc="-35">
                <a:latin typeface="Arial"/>
                <a:cs typeface="Arial"/>
              </a:rPr>
              <a:t>budget </a:t>
            </a:r>
            <a:r>
              <a:rPr dirty="0" sz="1150" spc="-60">
                <a:latin typeface="Arial"/>
                <a:cs typeface="Arial"/>
              </a:rPr>
              <a:t>process, </a:t>
            </a:r>
            <a:r>
              <a:rPr dirty="0" sz="1150" spc="-55">
                <a:latin typeface="Arial"/>
                <a:cs typeface="Arial"/>
              </a:rPr>
              <a:t>many </a:t>
            </a:r>
            <a:r>
              <a:rPr dirty="0" sz="1150" spc="-10">
                <a:latin typeface="Arial"/>
                <a:cs typeface="Arial"/>
              </a:rPr>
              <a:t>different </a:t>
            </a:r>
            <a:r>
              <a:rPr dirty="0" sz="1150" spc="-55">
                <a:latin typeface="Arial"/>
                <a:cs typeface="Arial"/>
              </a:rPr>
              <a:t>employees  </a:t>
            </a:r>
            <a:r>
              <a:rPr dirty="0" sz="1150" spc="-20">
                <a:latin typeface="Arial"/>
                <a:cs typeface="Arial"/>
              </a:rPr>
              <a:t>contribute </a:t>
            </a:r>
            <a:r>
              <a:rPr dirty="0" sz="1150" spc="10">
                <a:latin typeface="Arial"/>
                <a:cs typeface="Arial"/>
              </a:rPr>
              <a:t>to </a:t>
            </a:r>
            <a:r>
              <a:rPr dirty="0" sz="1150" spc="-40">
                <a:latin typeface="Arial"/>
                <a:cs typeface="Arial"/>
              </a:rPr>
              <a:t>creating </a:t>
            </a:r>
            <a:r>
              <a:rPr dirty="0" sz="1150" spc="-55">
                <a:latin typeface="Arial"/>
                <a:cs typeface="Arial"/>
              </a:rPr>
              <a:t>and </a:t>
            </a:r>
            <a:r>
              <a:rPr dirty="0" sz="1150" spc="-40">
                <a:latin typeface="Arial"/>
                <a:cs typeface="Arial"/>
              </a:rPr>
              <a:t>updating </a:t>
            </a:r>
            <a:r>
              <a:rPr dirty="0" sz="1150" spc="-20">
                <a:latin typeface="Arial"/>
                <a:cs typeface="Arial"/>
              </a:rPr>
              <a:t>the</a:t>
            </a:r>
            <a:r>
              <a:rPr dirty="0" sz="1150" spc="-185">
                <a:latin typeface="Arial"/>
                <a:cs typeface="Arial"/>
              </a:rPr>
              <a:t> </a:t>
            </a:r>
            <a:r>
              <a:rPr dirty="0" sz="1150" spc="-40">
                <a:latin typeface="Arial"/>
                <a:cs typeface="Arial"/>
              </a:rPr>
              <a:t>budget.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355"/>
              </a:lnSpc>
            </a:pPr>
            <a:r>
              <a:rPr dirty="0" spc="-5"/>
              <a:t>199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00"/>
              </a:lnSpc>
            </a:pPr>
            <a:r>
              <a:rPr dirty="0" spc="105"/>
              <a:t>©</a:t>
            </a:r>
            <a:r>
              <a:rPr dirty="0" spc="-200"/>
              <a:t> </a:t>
            </a:r>
            <a:r>
              <a:rPr dirty="0" spc="-40"/>
              <a:t>Copyright </a:t>
            </a:r>
            <a:r>
              <a:rPr dirty="0" spc="-25"/>
              <a:t>Virtual </a:t>
            </a:r>
            <a:r>
              <a:rPr dirty="0" spc="-35"/>
              <a:t>University </a:t>
            </a:r>
            <a:r>
              <a:rPr dirty="0" spc="-5"/>
              <a:t>of </a:t>
            </a:r>
            <a:r>
              <a:rPr dirty="0" spc="-60"/>
              <a:t>Pakistan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lubnahamid</dc:creator>
  <dcterms:created xsi:type="dcterms:W3CDTF">2021-04-19T00:04:39Z</dcterms:created>
  <dcterms:modified xsi:type="dcterms:W3CDTF">2021-04-19T00:04:39Z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2013-09-19T00:00:00Z</vt:filetime>
  </property>
  <property fmtid="{D5CDD505-2E9C-101B-9397-08002B2CF9AE}" pid="3" name="Creator">
    <vt:lpwstr>Adobe Acrobat Pro 10.1.3</vt:lpwstr>
  </property>
  <property fmtid="{D5CDD505-2E9C-101B-9397-08002B2CF9AE}" pid="4" name="LastSaved">
    <vt:filetime>2021-04-19T00:00:00Z</vt:filetime>
  </property>
</Properties>
</file>