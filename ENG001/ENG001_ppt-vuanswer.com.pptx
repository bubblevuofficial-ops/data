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Default Extension="png" ContentType="image/png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  <p:sldId id="371" r:id="rId121"/>
    <p:sldId id="372" r:id="rId122"/>
    <p:sldId id="373" r:id="rId123"/>
    <p:sldId id="374" r:id="rId124"/>
    <p:sldId id="375" r:id="rId125"/>
    <p:sldId id="376" r:id="rId126"/>
  </p:sldIdLst>
  <p:sldSz cx="7772400" cy="100584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Relationship Id="rId79" Type="http://schemas.openxmlformats.org/officeDocument/2006/relationships/slide" Target="slides/slide74.xml"/><Relationship Id="rId80" Type="http://schemas.openxmlformats.org/officeDocument/2006/relationships/slide" Target="slides/slide75.xml"/><Relationship Id="rId81" Type="http://schemas.openxmlformats.org/officeDocument/2006/relationships/slide" Target="slides/slide76.xml"/><Relationship Id="rId82" Type="http://schemas.openxmlformats.org/officeDocument/2006/relationships/slide" Target="slides/slide77.xml"/><Relationship Id="rId83" Type="http://schemas.openxmlformats.org/officeDocument/2006/relationships/slide" Target="slides/slide78.xml"/><Relationship Id="rId84" Type="http://schemas.openxmlformats.org/officeDocument/2006/relationships/slide" Target="slides/slide79.xml"/><Relationship Id="rId85" Type="http://schemas.openxmlformats.org/officeDocument/2006/relationships/slide" Target="slides/slide80.xml"/><Relationship Id="rId86" Type="http://schemas.openxmlformats.org/officeDocument/2006/relationships/slide" Target="slides/slide81.xml"/><Relationship Id="rId87" Type="http://schemas.openxmlformats.org/officeDocument/2006/relationships/slide" Target="slides/slide82.xml"/><Relationship Id="rId88" Type="http://schemas.openxmlformats.org/officeDocument/2006/relationships/slide" Target="slides/slide83.xml"/><Relationship Id="rId89" Type="http://schemas.openxmlformats.org/officeDocument/2006/relationships/slide" Target="slides/slide84.xml"/><Relationship Id="rId90" Type="http://schemas.openxmlformats.org/officeDocument/2006/relationships/slide" Target="slides/slide85.xml"/><Relationship Id="rId91" Type="http://schemas.openxmlformats.org/officeDocument/2006/relationships/slide" Target="slides/slide86.xml"/><Relationship Id="rId92" Type="http://schemas.openxmlformats.org/officeDocument/2006/relationships/slide" Target="slides/slide87.xml"/><Relationship Id="rId93" Type="http://schemas.openxmlformats.org/officeDocument/2006/relationships/slide" Target="slides/slide88.xml"/><Relationship Id="rId94" Type="http://schemas.openxmlformats.org/officeDocument/2006/relationships/slide" Target="slides/slide89.xml"/><Relationship Id="rId95" Type="http://schemas.openxmlformats.org/officeDocument/2006/relationships/slide" Target="slides/slide90.xml"/><Relationship Id="rId96" Type="http://schemas.openxmlformats.org/officeDocument/2006/relationships/slide" Target="slides/slide91.xml"/><Relationship Id="rId97" Type="http://schemas.openxmlformats.org/officeDocument/2006/relationships/slide" Target="slides/slide92.xml"/><Relationship Id="rId98" Type="http://schemas.openxmlformats.org/officeDocument/2006/relationships/slide" Target="slides/slide93.xml"/><Relationship Id="rId99" Type="http://schemas.openxmlformats.org/officeDocument/2006/relationships/slide" Target="slides/slide94.xml"/><Relationship Id="rId100" Type="http://schemas.openxmlformats.org/officeDocument/2006/relationships/slide" Target="slides/slide95.xml"/><Relationship Id="rId101" Type="http://schemas.openxmlformats.org/officeDocument/2006/relationships/slide" Target="slides/slide96.xml"/><Relationship Id="rId102" Type="http://schemas.openxmlformats.org/officeDocument/2006/relationships/slide" Target="slides/slide97.xml"/><Relationship Id="rId103" Type="http://schemas.openxmlformats.org/officeDocument/2006/relationships/slide" Target="slides/slide98.xml"/><Relationship Id="rId104" Type="http://schemas.openxmlformats.org/officeDocument/2006/relationships/slide" Target="slides/slide99.xml"/><Relationship Id="rId105" Type="http://schemas.openxmlformats.org/officeDocument/2006/relationships/slide" Target="slides/slide100.xml"/><Relationship Id="rId106" Type="http://schemas.openxmlformats.org/officeDocument/2006/relationships/slide" Target="slides/slide101.xml"/><Relationship Id="rId107" Type="http://schemas.openxmlformats.org/officeDocument/2006/relationships/slide" Target="slides/slide102.xml"/><Relationship Id="rId108" Type="http://schemas.openxmlformats.org/officeDocument/2006/relationships/slide" Target="slides/slide103.xml"/><Relationship Id="rId109" Type="http://schemas.openxmlformats.org/officeDocument/2006/relationships/slide" Target="slides/slide104.xml"/><Relationship Id="rId110" Type="http://schemas.openxmlformats.org/officeDocument/2006/relationships/slide" Target="slides/slide105.xml"/><Relationship Id="rId111" Type="http://schemas.openxmlformats.org/officeDocument/2006/relationships/slide" Target="slides/slide106.xml"/><Relationship Id="rId112" Type="http://schemas.openxmlformats.org/officeDocument/2006/relationships/slide" Target="slides/slide107.xml"/><Relationship Id="rId113" Type="http://schemas.openxmlformats.org/officeDocument/2006/relationships/slide" Target="slides/slide108.xml"/><Relationship Id="rId114" Type="http://schemas.openxmlformats.org/officeDocument/2006/relationships/slide" Target="slides/slide109.xml"/><Relationship Id="rId115" Type="http://schemas.openxmlformats.org/officeDocument/2006/relationships/slide" Target="slides/slide110.xml"/><Relationship Id="rId116" Type="http://schemas.openxmlformats.org/officeDocument/2006/relationships/slide" Target="slides/slide111.xml"/><Relationship Id="rId117" Type="http://schemas.openxmlformats.org/officeDocument/2006/relationships/slide" Target="slides/slide112.xml"/><Relationship Id="rId118" Type="http://schemas.openxmlformats.org/officeDocument/2006/relationships/slide" Target="slides/slide113.xml"/><Relationship Id="rId119" Type="http://schemas.openxmlformats.org/officeDocument/2006/relationships/slide" Target="slides/slide114.xml"/><Relationship Id="rId120" Type="http://schemas.openxmlformats.org/officeDocument/2006/relationships/slide" Target="slides/slide115.xml"/><Relationship Id="rId121" Type="http://schemas.openxmlformats.org/officeDocument/2006/relationships/slide" Target="slides/slide116.xml"/><Relationship Id="rId122" Type="http://schemas.openxmlformats.org/officeDocument/2006/relationships/slide" Target="slides/slide117.xml"/><Relationship Id="rId123" Type="http://schemas.openxmlformats.org/officeDocument/2006/relationships/slide" Target="slides/slide118.xml"/><Relationship Id="rId124" Type="http://schemas.openxmlformats.org/officeDocument/2006/relationships/slide" Target="slides/slide119.xml"/><Relationship Id="rId125" Type="http://schemas.openxmlformats.org/officeDocument/2006/relationships/slide" Target="slides/slide120.xml"/><Relationship Id="rId126" Type="http://schemas.openxmlformats.org/officeDocument/2006/relationships/slide" Target="slides/slide12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journalists.net/index.php?news=2601" TargetMode="External"/><Relationship Id="rId3" Type="http://schemas.openxmlformats.org/officeDocument/2006/relationships/hyperlink" Target="http://ezinearticles.com/?What-Makes-a-Good-Writer%3F&amp;id=96221" TargetMode="Externa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www.canadaone.com/ezine/nov02/effective_writing.html" TargetMode="External"/><Relationship Id="rId3" Type="http://schemas.openxmlformats.org/officeDocument/2006/relationships/hyperlink" Target="http://abcopayroll.com/news/200610sevencs.php" TargetMode="External"/><Relationship Id="rId4" Type="http://schemas.openxmlformats.org/officeDocument/2006/relationships/hyperlink" Target="http://www.writingcenter.emory.edu/goodwrite.html" TargetMode="Externa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www.canadaone.com/ezine/nov02/effective_writing.html" TargetMode="External"/><Relationship Id="rId3" Type="http://schemas.openxmlformats.org/officeDocument/2006/relationships/hyperlink" Target="http://abcopayroll.com/news/200610sevencs.php" TargetMode="External"/><Relationship Id="rId4" Type="http://schemas.openxmlformats.org/officeDocument/2006/relationships/hyperlink" Target="http://www.writingcenter.emory.edu/goodwrite.html" TargetMode="Externa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www.ipl.org/div/news/" TargetMode="External"/><Relationship Id="rId3" Type="http://schemas.openxmlformats.org/officeDocument/2006/relationships/hyperlink" Target="http://bartleby.com/151/" TargetMode="External"/><Relationship Id="rId4" Type="http://schemas.openxmlformats.org/officeDocument/2006/relationships/hyperlink" Target="http://bartleby.com/quotations/" TargetMode="External"/><Relationship Id="rId5" Type="http://schemas.openxmlformats.org/officeDocument/2006/relationships/hyperlink" Target="http://bartleby.com/65/" TargetMode="External"/><Relationship Id="rId6" Type="http://schemas.openxmlformats.org/officeDocument/2006/relationships/hyperlink" Target="http://www.bartleby.com/67/" TargetMode="External"/><Relationship Id="rId7" Type="http://schemas.openxmlformats.org/officeDocument/2006/relationships/hyperlink" Target="http://www.bartleby.com/141/" TargetMode="External"/><Relationship Id="rId8" Type="http://schemas.openxmlformats.org/officeDocument/2006/relationships/hyperlink" Target="http://www.britannica.com/" TargetMode="External"/><Relationship Id="rId9" Type="http://schemas.openxmlformats.org/officeDocument/2006/relationships/hyperlink" Target="http://www.americana.com/" TargetMode="Externa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www.arts.uottawa.ca/writcent/hypergrammar/partsp.html" TargetMode="External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owl.english.purdue.edu/" TargetMode="External"/><Relationship Id="rId3" Type="http://schemas.openxmlformats.org/officeDocument/2006/relationships/hyperlink" Target="http://www.englishclub.com/grammar/verbs-voice.htm" TargetMode="External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esl.about.com/od/grammarintermediate/a/reported_speech.htm" TargetMode="External"/></Relationships>
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8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
</file>

<file path=ppt/slides/_rels/slide8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

</file>

<file path=ppt/slides/_rels/slide8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www.rscc.cc.tn.us/" TargetMode="External"/><Relationship Id="rId3" Type="http://schemas.openxmlformats.org/officeDocument/2006/relationships/hyperlink" Target="http://www.purdue.edu/" TargetMode="External"/></Relationships>

</file>

<file path=ppt/slides/_rels/slide9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www.roughcut.com/" TargetMode="External"/></Relationships>

</file>

<file path=ppt/slides/_rels/slide10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www.roughcut.com/" TargetMode="External"/></Relationships>

</file>

<file path=ppt/slides/_rels/slide10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www.apastyle.org/" TargetMode="External"/><Relationship Id="rId3" Type="http://schemas.openxmlformats.org/officeDocument/2006/relationships/hyperlink" Target="http://www.mla.org/" TargetMode="External"/></Relationships>

</file>

<file path=ppt/slides/_rels/slide10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
</file>

<file path=ppt/slides/_rels/slide10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www.sdc.uwo.ca/writing/handouts/Summary%20Writing.pdf" TargetMode="External"/></Relationships>

</file>

<file path=ppt/slides/_rels/slide10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www.sdc.uwo.ca/writing/handouts/Summary%20Writing.pdf" TargetMode="External"/></Relationships>

</file>

<file path=ppt/slides/_rels/slide1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4580" y="342390"/>
            <a:ext cx="174498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 Elementary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41311" y="342390"/>
            <a:ext cx="22669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360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43419" y="9493248"/>
            <a:ext cx="1016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972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829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084573" y="526034"/>
            <a:ext cx="6062345" cy="87852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r" marR="6985">
              <a:lnSpc>
                <a:spcPct val="100000"/>
              </a:lnSpc>
              <a:spcBef>
                <a:spcPts val="95"/>
              </a:spcBef>
            </a:pP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LECTURE</a:t>
            </a:r>
            <a:r>
              <a:rPr dirty="0" u="heavy" sz="1100" spc="-3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INTRODUCTION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 JOURNALISTIC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WRITING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00">
              <a:latin typeface="Times New Roman"/>
              <a:cs typeface="Times New Roman"/>
            </a:endParaRPr>
          </a:p>
          <a:p>
            <a:pPr algn="just" marL="12700" marR="5715">
              <a:lnSpc>
                <a:spcPts val="1270"/>
              </a:lnSpc>
            </a:pPr>
            <a:r>
              <a:rPr dirty="0" sz="1100" spc="-5">
                <a:latin typeface="Times New Roman"/>
                <a:cs typeface="Times New Roman"/>
              </a:rPr>
              <a:t>“The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invention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writing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probably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most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important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tool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human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advancement,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making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possible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 each new generation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build upon the work of the previous, to transmit knowledge from person to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person,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across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cultures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time.“</a:t>
            </a:r>
            <a:endParaRPr sz="1100">
              <a:latin typeface="Times New Roman"/>
              <a:cs typeface="Times New Roman"/>
            </a:endParaRPr>
          </a:p>
          <a:p>
            <a:pPr algn="just" marL="12700">
              <a:lnSpc>
                <a:spcPts val="1225"/>
              </a:lnSpc>
            </a:pPr>
            <a:r>
              <a:rPr dirty="0" sz="1100" spc="-5">
                <a:latin typeface="Times New Roman"/>
                <a:cs typeface="Times New Roman"/>
              </a:rPr>
              <a:t>Donald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Norman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–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Stanford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University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must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ready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from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first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day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school.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Don’t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want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to:</a:t>
            </a:r>
            <a:endParaRPr sz="1100">
              <a:latin typeface="Times New Roman"/>
              <a:cs typeface="Times New Roman"/>
            </a:endParaRPr>
          </a:p>
          <a:p>
            <a:pPr marL="469900" indent="-229235">
              <a:lnSpc>
                <a:spcPct val="100000"/>
              </a:lnSpc>
              <a:spcBef>
                <a:spcPts val="580"/>
              </a:spcBef>
              <a:buSzPct val="90909"/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00" spc="-5">
                <a:latin typeface="Times New Roman"/>
                <a:cs typeface="Times New Roman"/>
              </a:rPr>
              <a:t>Do well 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 studies</a:t>
            </a:r>
            <a:endParaRPr sz="1100">
              <a:latin typeface="Times New Roman"/>
              <a:cs typeface="Times New Roman"/>
            </a:endParaRPr>
          </a:p>
          <a:p>
            <a:pPr marL="469900" indent="-229235">
              <a:lnSpc>
                <a:spcPct val="100000"/>
              </a:lnSpc>
              <a:spcBef>
                <a:spcPts val="580"/>
              </a:spcBef>
              <a:buSzPct val="90909"/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00" spc="-5">
                <a:latin typeface="Times New Roman"/>
                <a:cs typeface="Times New Roman"/>
              </a:rPr>
              <a:t>Enjoy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self-expression</a:t>
            </a:r>
            <a:endParaRPr sz="1100">
              <a:latin typeface="Times New Roman"/>
              <a:cs typeface="Times New Roman"/>
            </a:endParaRPr>
          </a:p>
          <a:p>
            <a:pPr marL="469900" indent="-229235">
              <a:lnSpc>
                <a:spcPct val="100000"/>
              </a:lnSpc>
              <a:spcBef>
                <a:spcPts val="575"/>
              </a:spcBef>
              <a:buSzPct val="90909"/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00" spc="-5">
                <a:latin typeface="Times New Roman"/>
                <a:cs typeface="Times New Roman"/>
              </a:rPr>
              <a:t>Become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 self-reliant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Symbol"/>
              <a:buChar char=""/>
            </a:pPr>
            <a:endParaRPr sz="1650">
              <a:latin typeface="Times New Roman"/>
              <a:cs typeface="Times New Roman"/>
            </a:endParaRPr>
          </a:p>
          <a:p>
            <a:pPr algn="just" marL="12700" marR="6985">
              <a:lnSpc>
                <a:spcPts val="1270"/>
              </a:lnSpc>
            </a:pP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know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how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important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writing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life.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important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from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first-grade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through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college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throughout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adulthood.</a:t>
            </a:r>
            <a:endParaRPr sz="1100">
              <a:latin typeface="Times New Roman"/>
              <a:cs typeface="Times New Roman"/>
            </a:endParaRPr>
          </a:p>
          <a:p>
            <a:pPr algn="just" marL="12700">
              <a:lnSpc>
                <a:spcPts val="1230"/>
              </a:lnSpc>
            </a:pPr>
            <a:r>
              <a:rPr dirty="0" sz="1100" spc="-5">
                <a:latin typeface="Times New Roman"/>
                <a:cs typeface="Times New Roman"/>
              </a:rPr>
              <a:t>Writing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is: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290"/>
              </a:lnSpc>
            </a:pPr>
            <a:r>
              <a:rPr dirty="0" sz="1100" spc="-5" b="1">
                <a:latin typeface="Times New Roman"/>
                <a:cs typeface="Times New Roman"/>
              </a:rPr>
              <a:t>Practical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290"/>
              </a:lnSpc>
            </a:pPr>
            <a:r>
              <a:rPr dirty="0" sz="1100" spc="-5">
                <a:latin typeface="Times New Roman"/>
                <a:cs typeface="Times New Roman"/>
              </a:rPr>
              <a:t>Most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make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lists,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jot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down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reminders,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notes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instructions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least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occasionally.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290"/>
              </a:lnSpc>
            </a:pPr>
            <a:r>
              <a:rPr dirty="0" sz="1100" spc="-5" b="1">
                <a:latin typeface="Times New Roman"/>
                <a:cs typeface="Times New Roman"/>
              </a:rPr>
              <a:t>Job-Related</a:t>
            </a:r>
            <a:endParaRPr sz="1100">
              <a:latin typeface="Times New Roman"/>
              <a:cs typeface="Times New Roman"/>
            </a:endParaRPr>
          </a:p>
          <a:p>
            <a:pPr algn="just" marL="469900" marR="6350">
              <a:lnSpc>
                <a:spcPct val="95700"/>
              </a:lnSpc>
              <a:spcBef>
                <a:spcPts val="30"/>
              </a:spcBef>
            </a:pPr>
            <a:r>
              <a:rPr dirty="0" sz="1100" spc="-5">
                <a:latin typeface="Times New Roman"/>
                <a:cs typeface="Times New Roman"/>
              </a:rPr>
              <a:t>Professional and white-collar workers write frequently--preparing memos, letters, briefing papers,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sales reports, articles, research reports, proposals, and the like. Most workers do "some" writing on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job.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290"/>
              </a:lnSpc>
            </a:pPr>
            <a:r>
              <a:rPr dirty="0" sz="1100" spc="-5" b="1">
                <a:latin typeface="Times New Roman"/>
                <a:cs typeface="Times New Roman"/>
              </a:rPr>
              <a:t>Stimulating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290"/>
              </a:lnSpc>
            </a:pPr>
            <a:r>
              <a:rPr dirty="0" sz="1100" spc="-5">
                <a:latin typeface="Times New Roman"/>
                <a:cs typeface="Times New Roman"/>
              </a:rPr>
              <a:t>Writing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helps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provoke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thoughts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organize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them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logically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concisely.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290"/>
              </a:lnSpc>
            </a:pPr>
            <a:r>
              <a:rPr dirty="0" sz="1100" spc="-5" b="1">
                <a:latin typeface="Times New Roman"/>
                <a:cs typeface="Times New Roman"/>
              </a:rPr>
              <a:t>Social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290"/>
              </a:lnSpc>
            </a:pPr>
            <a:r>
              <a:rPr dirty="0" sz="1100" spc="-5">
                <a:latin typeface="Times New Roman"/>
                <a:cs typeface="Times New Roman"/>
              </a:rPr>
              <a:t>Most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thank-you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letters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friends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least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now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then.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290"/>
              </a:lnSpc>
            </a:pPr>
            <a:r>
              <a:rPr dirty="0" sz="1100" spc="-5" b="1">
                <a:latin typeface="Times New Roman"/>
                <a:cs typeface="Times New Roman"/>
              </a:rPr>
              <a:t>Therapeutic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290"/>
              </a:lnSpc>
            </a:pP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helpful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express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feelings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writing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cannot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expressed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easily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by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speaking.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00">
              <a:latin typeface="Times New Roman"/>
              <a:cs typeface="Times New Roman"/>
            </a:endParaRPr>
          </a:p>
          <a:p>
            <a:pPr algn="just" marL="12700" marR="5080">
              <a:lnSpc>
                <a:spcPts val="1270"/>
              </a:lnSpc>
            </a:pPr>
            <a:r>
              <a:rPr dirty="0" sz="1100" spc="-5">
                <a:latin typeface="Times New Roman"/>
                <a:cs typeface="Times New Roman"/>
              </a:rPr>
              <a:t>Unfortunately, many schools are unable to give children sufficient instruction in writing." There are various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reasons: teachers aren't trained to teach writing skills, writing classes </a:t>
            </a:r>
            <a:r>
              <a:rPr dirty="0" sz="1100" spc="-10">
                <a:latin typeface="Times New Roman"/>
                <a:cs typeface="Times New Roman"/>
              </a:rPr>
              <a:t>may </a:t>
            </a:r>
            <a:r>
              <a:rPr dirty="0" sz="1100" spc="-5">
                <a:latin typeface="Times New Roman"/>
                <a:cs typeface="Times New Roman"/>
              </a:rPr>
              <a:t>be too large, it's often difficult to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measure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skills,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etc.</a:t>
            </a:r>
            <a:endParaRPr sz="1100">
              <a:latin typeface="Times New Roman"/>
              <a:cs typeface="Times New Roman"/>
            </a:endParaRPr>
          </a:p>
          <a:p>
            <a:pPr algn="just" marL="12700">
              <a:lnSpc>
                <a:spcPts val="1195"/>
              </a:lnSpc>
            </a:pPr>
            <a:r>
              <a:rPr dirty="0" sz="1100" spc="-5">
                <a:latin typeface="Times New Roman"/>
                <a:cs typeface="Times New Roman"/>
              </a:rPr>
              <a:t>Study</a:t>
            </a:r>
            <a:r>
              <a:rPr dirty="0" sz="1100" spc="2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after</a:t>
            </a:r>
            <a:r>
              <a:rPr dirty="0" sz="1100" spc="2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study</a:t>
            </a:r>
            <a:r>
              <a:rPr dirty="0" sz="1100" spc="3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shows</a:t>
            </a:r>
            <a:r>
              <a:rPr dirty="0" sz="1100" spc="2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2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student’</a:t>
            </a:r>
            <a:r>
              <a:rPr dirty="0" sz="1100" spc="2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writing</a:t>
            </a:r>
            <a:r>
              <a:rPr dirty="0" sz="1100" spc="2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lacks</a:t>
            </a:r>
            <a:r>
              <a:rPr dirty="0" sz="1100" spc="2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clarity,</a:t>
            </a:r>
            <a:r>
              <a:rPr dirty="0" sz="1100" spc="2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coherence,</a:t>
            </a:r>
            <a:r>
              <a:rPr dirty="0" sz="1100" spc="2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2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organization.</a:t>
            </a:r>
            <a:r>
              <a:rPr dirty="0" sz="1100" spc="2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Only</a:t>
            </a:r>
            <a:r>
              <a:rPr dirty="0" sz="1100" spc="3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2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few</a:t>
            </a:r>
            <a:endParaRPr sz="1100">
              <a:latin typeface="Times New Roman"/>
              <a:cs typeface="Times New Roman"/>
            </a:endParaRPr>
          </a:p>
          <a:p>
            <a:pPr algn="just" marL="12700" marR="6350">
              <a:lnSpc>
                <a:spcPts val="1270"/>
              </a:lnSpc>
              <a:spcBef>
                <a:spcPts val="55"/>
              </a:spcBef>
            </a:pPr>
            <a:r>
              <a:rPr dirty="0" sz="1100" spc="-5">
                <a:latin typeface="Times New Roman"/>
                <a:cs typeface="Times New Roman"/>
              </a:rPr>
              <a:t>students can write persuasive essays or competent business letters. As many as one out of four have serious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difficulties.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students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say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like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less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less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through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school.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ts val="1290"/>
              </a:lnSpc>
              <a:spcBef>
                <a:spcPts val="5"/>
              </a:spcBef>
            </a:pPr>
            <a:r>
              <a:rPr dirty="0" sz="1100" spc="-5" b="1">
                <a:latin typeface="Times New Roman"/>
                <a:cs typeface="Times New Roman"/>
              </a:rPr>
              <a:t>THINGS</a:t>
            </a:r>
            <a:r>
              <a:rPr dirty="0" sz="1100" spc="-3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TO</a:t>
            </a:r>
            <a:r>
              <a:rPr dirty="0" sz="1100" spc="-3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KNOW</a:t>
            </a:r>
            <a:endParaRPr sz="1100">
              <a:latin typeface="Times New Roman"/>
              <a:cs typeface="Times New Roman"/>
            </a:endParaRPr>
          </a:p>
          <a:p>
            <a:pPr algn="just" marL="12700" marR="6350">
              <a:lnSpc>
                <a:spcPct val="95700"/>
              </a:lnSpc>
              <a:spcBef>
                <a:spcPts val="25"/>
              </a:spcBef>
            </a:pPr>
            <a:r>
              <a:rPr dirty="0" sz="1100" spc="-5">
                <a:latin typeface="Times New Roman"/>
                <a:cs typeface="Times New Roman"/>
              </a:rPr>
              <a:t>Writing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putting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paper.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It's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final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stage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complex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process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communicating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 begins with "thinking." Writing is an especially important stage in communication, the intent being to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leave no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room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doubt.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Writing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well requires:</a:t>
            </a:r>
            <a:endParaRPr sz="1100">
              <a:latin typeface="Times New Roman"/>
              <a:cs typeface="Times New Roman"/>
            </a:endParaRPr>
          </a:p>
          <a:p>
            <a:pPr marL="469900" marR="6350" indent="-228600">
              <a:lnSpc>
                <a:spcPct val="143600"/>
              </a:lnSpc>
              <a:buSzPct val="90909"/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Clear</a:t>
            </a:r>
            <a:r>
              <a:rPr dirty="0" sz="1100" spc="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thinking.</a:t>
            </a:r>
            <a:r>
              <a:rPr dirty="0" sz="1100" spc="2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Sometimes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need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your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memory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refreshed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past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event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order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write about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it.</a:t>
            </a:r>
            <a:endParaRPr sz="11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685"/>
              </a:spcBef>
            </a:pPr>
            <a:r>
              <a:rPr dirty="0" sz="1000"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00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257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27350" y="342390"/>
            <a:ext cx="6083300" cy="93592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869305" algn="l"/>
              </a:tabLst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l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</a:t>
            </a:r>
            <a:r>
              <a:rPr dirty="0" sz="1100" spc="-15">
                <a:solidFill>
                  <a:srgbClr val="323232"/>
                </a:solidFill>
                <a:latin typeface="Times New Roman"/>
                <a:cs typeface="Times New Roman"/>
              </a:rPr>
              <a:t>m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entary</a:t>
            </a:r>
            <a:r>
              <a:rPr dirty="0" sz="1100" spc="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g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lish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469900" marR="27305" indent="-228600">
              <a:lnSpc>
                <a:spcPct val="143600"/>
              </a:lnSpc>
              <a:buSzPct val="90909"/>
              <a:buFont typeface="Symbol"/>
              <a:buChar char=""/>
              <a:tabLst>
                <a:tab pos="470534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Sufficient</a:t>
            </a:r>
            <a:r>
              <a:rPr dirty="0" sz="1100" spc="14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time.</a:t>
            </a:r>
            <a:r>
              <a:rPr dirty="0" sz="1100" spc="15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may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`stories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heads'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but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need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time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think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them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through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write them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down.</a:t>
            </a:r>
            <a:endParaRPr sz="1100">
              <a:latin typeface="Times New Roman"/>
              <a:cs typeface="Times New Roman"/>
            </a:endParaRPr>
          </a:p>
          <a:p>
            <a:pPr algn="just" marL="469900" marR="26034" indent="-228600">
              <a:lnSpc>
                <a:spcPct val="143600"/>
              </a:lnSpc>
              <a:spcBef>
                <a:spcPts val="5"/>
              </a:spcBef>
              <a:buSzPct val="90909"/>
              <a:buFont typeface="Symbol"/>
              <a:buChar char=""/>
              <a:tabLst>
                <a:tab pos="470534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Reading.</a:t>
            </a:r>
            <a:r>
              <a:rPr dirty="0" sz="1100" spc="15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Reading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stimulate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write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own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family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school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life.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If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read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good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books, you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 better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writer.</a:t>
            </a:r>
            <a:endParaRPr sz="1100">
              <a:latin typeface="Times New Roman"/>
              <a:cs typeface="Times New Roman"/>
            </a:endParaRPr>
          </a:p>
          <a:p>
            <a:pPr algn="just" marL="469900" marR="26670" indent="-228600">
              <a:lnSpc>
                <a:spcPct val="143600"/>
              </a:lnSpc>
              <a:spcBef>
                <a:spcPts val="5"/>
              </a:spcBef>
              <a:buSzPct val="90909"/>
              <a:buFont typeface="Symbol"/>
              <a:buChar char=""/>
              <a:tabLst>
                <a:tab pos="470534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A Meaningful Task. </a:t>
            </a:r>
            <a:r>
              <a:rPr dirty="0" sz="1100" spc="-5">
                <a:latin typeface="Times New Roman"/>
                <a:cs typeface="Times New Roman"/>
              </a:rPr>
              <a:t>You need meaningful, not artificial writing tasks. You'll find suggestions for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such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tasks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section,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"Things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Do."</a:t>
            </a:r>
            <a:endParaRPr sz="1100">
              <a:latin typeface="Times New Roman"/>
              <a:cs typeface="Times New Roman"/>
            </a:endParaRPr>
          </a:p>
          <a:p>
            <a:pPr algn="just" marL="469900" marR="26034" indent="-228600">
              <a:lnSpc>
                <a:spcPct val="143600"/>
              </a:lnSpc>
              <a:spcBef>
                <a:spcPts val="5"/>
              </a:spcBef>
              <a:buSzPct val="90909"/>
              <a:buFont typeface="Symbol"/>
              <a:buChar char=""/>
              <a:tabLst>
                <a:tab pos="470534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Interest.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time in the world won't help if there is nothing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write, nothing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say. Some of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reasons for writing include: sending messages, keeping records, expressing feelings, or relaying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information.</a:t>
            </a:r>
            <a:endParaRPr sz="1100">
              <a:latin typeface="Times New Roman"/>
              <a:cs typeface="Times New Roman"/>
            </a:endParaRPr>
          </a:p>
          <a:p>
            <a:pPr algn="just" marL="469900" indent="-229235">
              <a:lnSpc>
                <a:spcPct val="100000"/>
              </a:lnSpc>
              <a:spcBef>
                <a:spcPts val="575"/>
              </a:spcBef>
              <a:buSzPct val="90909"/>
              <a:buFont typeface="Symbol"/>
              <a:buChar char=""/>
              <a:tabLst>
                <a:tab pos="470534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Practice.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5">
                <a:latin typeface="Times New Roman"/>
                <a:cs typeface="Times New Roman"/>
              </a:rPr>
              <a:t> more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practice.</a:t>
            </a:r>
            <a:endParaRPr sz="1100">
              <a:latin typeface="Times New Roman"/>
              <a:cs typeface="Times New Roman"/>
            </a:endParaRPr>
          </a:p>
          <a:p>
            <a:pPr algn="just" marL="469900" marR="27940" indent="-228600">
              <a:lnSpc>
                <a:spcPts val="1900"/>
              </a:lnSpc>
              <a:spcBef>
                <a:spcPts val="155"/>
              </a:spcBef>
              <a:buSzPct val="90909"/>
              <a:buFont typeface="Symbol"/>
              <a:buChar char=""/>
              <a:tabLst>
                <a:tab pos="470534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Revising. </a:t>
            </a:r>
            <a:r>
              <a:rPr dirty="0" sz="1100" spc="-5">
                <a:latin typeface="Times New Roman"/>
                <a:cs typeface="Times New Roman"/>
              </a:rPr>
              <a:t>Students need experience in revising their work-- i.e., </a:t>
            </a:r>
            <a:r>
              <a:rPr dirty="0" sz="1100">
                <a:latin typeface="Times New Roman"/>
                <a:cs typeface="Times New Roman"/>
              </a:rPr>
              <a:t>seeing </a:t>
            </a:r>
            <a:r>
              <a:rPr dirty="0" sz="1100" spc="-5">
                <a:latin typeface="Times New Roman"/>
                <a:cs typeface="Times New Roman"/>
              </a:rPr>
              <a:t>what they can do to make it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clearer,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descriptive,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 concise,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etc.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ts val="1290"/>
              </a:lnSpc>
              <a:spcBef>
                <a:spcPts val="5"/>
              </a:spcBef>
            </a:pPr>
            <a:r>
              <a:rPr dirty="0" sz="1100" spc="-5" b="1">
                <a:latin typeface="Times New Roman"/>
                <a:cs typeface="Times New Roman"/>
              </a:rPr>
              <a:t>POINTERS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FOR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YOU</a:t>
            </a:r>
            <a:endParaRPr sz="1100">
              <a:latin typeface="Times New Roman"/>
              <a:cs typeface="Times New Roman"/>
            </a:endParaRPr>
          </a:p>
          <a:p>
            <a:pPr algn="just" marL="12700">
              <a:lnSpc>
                <a:spcPts val="1290"/>
              </a:lnSpc>
            </a:pPr>
            <a:r>
              <a:rPr dirty="0" sz="1100" spc="-5">
                <a:latin typeface="Times New Roman"/>
                <a:cs typeface="Times New Roman"/>
              </a:rPr>
              <a:t>Remember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make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easier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enjoyable.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00">
              <a:latin typeface="Times New Roman"/>
              <a:cs typeface="Times New Roman"/>
            </a:endParaRPr>
          </a:p>
          <a:p>
            <a:pPr algn="just" marL="12700" marR="27305">
              <a:lnSpc>
                <a:spcPts val="1270"/>
              </a:lnSpc>
              <a:spcBef>
                <a:spcPts val="5"/>
              </a:spcBef>
            </a:pPr>
            <a:r>
              <a:rPr dirty="0" sz="1100" spc="-5" b="1">
                <a:latin typeface="Times New Roman"/>
                <a:cs typeface="Times New Roman"/>
              </a:rPr>
              <a:t>Make</a:t>
            </a:r>
            <a:r>
              <a:rPr dirty="0" sz="1100" spc="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it</a:t>
            </a:r>
            <a:r>
              <a:rPr dirty="0" sz="1100" spc="10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real.</a:t>
            </a:r>
            <a:r>
              <a:rPr dirty="0" sz="1100" spc="10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need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real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writing.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It's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important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child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write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letter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relative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one-line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greeting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card.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 algn="just" marL="12700" marR="26034">
              <a:lnSpc>
                <a:spcPts val="1260"/>
              </a:lnSpc>
            </a:pPr>
            <a:r>
              <a:rPr dirty="0" sz="1100" spc="-5" b="1">
                <a:latin typeface="Times New Roman"/>
                <a:cs typeface="Times New Roman"/>
              </a:rPr>
              <a:t>Suggest note-taking. </a:t>
            </a:r>
            <a:r>
              <a:rPr dirty="0" sz="1100" spc="-5">
                <a:latin typeface="Times New Roman"/>
                <a:cs typeface="Times New Roman"/>
              </a:rPr>
              <a:t>Take notes on trips or outings and describe what you saw. This could include a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description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nature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walks,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ride,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trip,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events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note-taking.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Brainstorm.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much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possible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impressions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describe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people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events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 algn="just" marL="12700" marR="26034">
              <a:lnSpc>
                <a:spcPct val="95800"/>
              </a:lnSpc>
            </a:pPr>
            <a:r>
              <a:rPr dirty="0" sz="1100" spc="-5" b="1">
                <a:latin typeface="Times New Roman"/>
                <a:cs typeface="Times New Roman"/>
              </a:rPr>
              <a:t>Encourage</a:t>
            </a:r>
            <a:r>
              <a:rPr dirty="0" sz="1100" spc="2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keeping</a:t>
            </a:r>
            <a:r>
              <a:rPr dirty="0" sz="1100" spc="2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</a:t>
            </a:r>
            <a:r>
              <a:rPr dirty="0" sz="1100" spc="2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journal.</a:t>
            </a:r>
            <a:r>
              <a:rPr dirty="0" sz="1100" spc="21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2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excellent</a:t>
            </a:r>
            <a:r>
              <a:rPr dirty="0" sz="1100" spc="2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writing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practice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well</a:t>
            </a:r>
            <a:r>
              <a:rPr dirty="0" sz="1100" spc="2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good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outlet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venting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feelings.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Write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things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happen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home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school,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people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like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dislike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why,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things to remember or things you want to do. Especially write about personal feelings--pleasures as well as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disappointments.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100">
              <a:latin typeface="Times New Roman"/>
              <a:cs typeface="Times New Roman"/>
            </a:endParaRPr>
          </a:p>
          <a:p>
            <a:pPr algn="just" marL="12700" marR="27305">
              <a:lnSpc>
                <a:spcPct val="95800"/>
              </a:lnSpc>
            </a:pPr>
            <a:r>
              <a:rPr dirty="0" sz="1100" spc="-5" b="1">
                <a:latin typeface="Times New Roman"/>
                <a:cs typeface="Times New Roman"/>
              </a:rPr>
              <a:t>Use games. </a:t>
            </a:r>
            <a:r>
              <a:rPr dirty="0" sz="1100" spc="-5">
                <a:latin typeface="Times New Roman"/>
                <a:cs typeface="Times New Roman"/>
              </a:rPr>
              <a:t>There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numerous games and puzzles that help you to increase vocabulary and make more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fluent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writing.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Remember,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building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vocabulary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builds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confidence.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Try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crossword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puzzles, word games, anagrams and cryptograms de-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signed especially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 this purpose. Flash cards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good,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too,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they're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easy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make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</a:t>
            </a:r>
            <a:r>
              <a:rPr dirty="0" sz="1100">
                <a:latin typeface="Times New Roman"/>
                <a:cs typeface="Times New Roman"/>
              </a:rPr>
              <a:t> home.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 algn="just" marL="12700" marR="26670">
              <a:lnSpc>
                <a:spcPct val="95800"/>
              </a:lnSpc>
            </a:pPr>
            <a:r>
              <a:rPr dirty="0" sz="1100" spc="-5" b="1">
                <a:latin typeface="Times New Roman"/>
                <a:cs typeface="Times New Roman"/>
              </a:rPr>
              <a:t>Suggest making lists. </a:t>
            </a:r>
            <a:r>
              <a:rPr dirty="0" sz="1100" spc="-5">
                <a:latin typeface="Times New Roman"/>
                <a:cs typeface="Times New Roman"/>
              </a:rPr>
              <a:t>Making lists is </a:t>
            </a:r>
            <a:r>
              <a:rPr dirty="0" sz="1100">
                <a:latin typeface="Times New Roman"/>
                <a:cs typeface="Times New Roman"/>
              </a:rPr>
              <a:t>good </a:t>
            </a:r>
            <a:r>
              <a:rPr dirty="0" sz="1100" spc="-5">
                <a:latin typeface="Times New Roman"/>
                <a:cs typeface="Times New Roman"/>
              </a:rPr>
              <a:t>practice and helps to become more organized. You might make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lists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records,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tapes,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baseball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cards,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dolls,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furniture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room,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etc.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could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include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items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want.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It's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also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good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practice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make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lists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things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do,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schoolwork,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dates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tests,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social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events,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 reminders.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100">
              <a:latin typeface="Times New Roman"/>
              <a:cs typeface="Times New Roman"/>
            </a:endParaRPr>
          </a:p>
          <a:p>
            <a:pPr algn="just" marL="12700" marR="27940">
              <a:lnSpc>
                <a:spcPts val="1270"/>
              </a:lnSpc>
            </a:pPr>
            <a:r>
              <a:rPr dirty="0" sz="1100" spc="-5" b="1">
                <a:latin typeface="Times New Roman"/>
                <a:cs typeface="Times New Roman"/>
              </a:rPr>
              <a:t>Encourage</a:t>
            </a:r>
            <a:r>
              <a:rPr dirty="0" sz="1100" spc="14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copying.</a:t>
            </a:r>
            <a:r>
              <a:rPr dirty="0" sz="1100" spc="14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If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like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particular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song,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by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writing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them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down--replaying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song on your stereo/tape </a:t>
            </a:r>
            <a:r>
              <a:rPr dirty="0" sz="1100">
                <a:latin typeface="Times New Roman"/>
                <a:cs typeface="Times New Roman"/>
              </a:rPr>
              <a:t>player </a:t>
            </a:r>
            <a:r>
              <a:rPr dirty="0" sz="1100" spc="-5">
                <a:latin typeface="Times New Roman"/>
                <a:cs typeface="Times New Roman"/>
              </a:rPr>
              <a:t>or jotting down the words whenever the song is played on a radio program.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Also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copy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favourite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poems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quotations</a:t>
            </a:r>
            <a:r>
              <a:rPr dirty="0" sz="1100">
                <a:latin typeface="Times New Roman"/>
                <a:cs typeface="Times New Roman"/>
              </a:rPr>
              <a:t> from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books 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plays.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Source: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write;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Department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Education.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>
              <a:lnSpc>
                <a:spcPts val="1290"/>
              </a:lnSpc>
            </a:pP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DIFFERENCE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BETWEEN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SPEAKING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AND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WRITING</a:t>
            </a:r>
            <a:endParaRPr sz="1100">
              <a:latin typeface="Times New Roman"/>
              <a:cs typeface="Times New Roman"/>
            </a:endParaRPr>
          </a:p>
          <a:p>
            <a:pPr algn="just" marL="12700" marR="27940" indent="-635">
              <a:lnSpc>
                <a:spcPts val="1260"/>
              </a:lnSpc>
              <a:spcBef>
                <a:spcPts val="65"/>
              </a:spcBef>
            </a:pPr>
            <a:r>
              <a:rPr dirty="0" sz="1100" spc="-5">
                <a:latin typeface="Times New Roman"/>
                <a:cs typeface="Times New Roman"/>
              </a:rPr>
              <a:t>There are many </a:t>
            </a:r>
            <a:r>
              <a:rPr dirty="0" sz="1100" spc="-10">
                <a:latin typeface="Times New Roman"/>
                <a:cs typeface="Times New Roman"/>
              </a:rPr>
              <a:t>differences between </a:t>
            </a:r>
            <a:r>
              <a:rPr dirty="0" sz="1100" spc="-5">
                <a:latin typeface="Times New Roman"/>
                <a:cs typeface="Times New Roman"/>
              </a:rPr>
              <a:t>the processes of speaking and writing. Writing is not simply speech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written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down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paper.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natural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extension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speak.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Unlike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speech,</a:t>
            </a:r>
            <a:endParaRPr sz="1100">
              <a:latin typeface="Times New Roman"/>
              <a:cs typeface="Times New Roman"/>
            </a:endParaRPr>
          </a:p>
          <a:p>
            <a:pPr marL="1564005">
              <a:lnSpc>
                <a:spcPct val="100000"/>
              </a:lnSpc>
              <a:spcBef>
                <a:spcPts val="330"/>
              </a:spcBef>
              <a:tabLst>
                <a:tab pos="5970905" algn="l"/>
              </a:tabLst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	2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4580" y="342390"/>
            <a:ext cx="174498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 Elementary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41311" y="342390"/>
            <a:ext cx="22669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360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43419" y="9493248"/>
            <a:ext cx="1016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972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829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084580" y="846834"/>
            <a:ext cx="6060440" cy="353060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12700" marR="5080">
              <a:lnSpc>
                <a:spcPts val="1260"/>
              </a:lnSpc>
              <a:spcBef>
                <a:spcPts val="190"/>
              </a:spcBef>
            </a:pPr>
            <a:r>
              <a:rPr dirty="0" sz="1100" spc="-5">
                <a:latin typeface="Times New Roman"/>
                <a:cs typeface="Times New Roman"/>
              </a:rPr>
              <a:t>writing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requires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systematic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instruction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practice.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Here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differences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between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speaking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may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clarify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things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help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efforts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writer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39438" y="1496053"/>
            <a:ext cx="2298065" cy="3530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290"/>
              </a:lnSpc>
              <a:spcBef>
                <a:spcPts val="95"/>
              </a:spcBef>
            </a:pPr>
            <a:r>
              <a:rPr dirty="0" sz="1100" spc="-10" b="1">
                <a:latin typeface="Times New Roman"/>
                <a:cs typeface="Times New Roman"/>
              </a:rPr>
              <a:t>SPEECH</a:t>
            </a:r>
            <a:endParaRPr sz="1100">
              <a:latin typeface="Times New Roman"/>
              <a:cs typeface="Times New Roman"/>
            </a:endParaRPr>
          </a:p>
          <a:p>
            <a:pPr marL="240665">
              <a:lnSpc>
                <a:spcPts val="1290"/>
              </a:lnSpc>
            </a:pPr>
            <a:r>
              <a:rPr dirty="0" sz="1100" spc="-5" b="1">
                <a:latin typeface="Times New Roman"/>
                <a:cs typeface="Times New Roman"/>
              </a:rPr>
              <a:t>1.</a:t>
            </a:r>
            <a:r>
              <a:rPr dirty="0" sz="1100" spc="70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Universal,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everybody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acquires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68017" y="1976862"/>
            <a:ext cx="2623185" cy="353695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240665" marR="5080" indent="-228600">
              <a:lnSpc>
                <a:spcPts val="1270"/>
              </a:lnSpc>
              <a:spcBef>
                <a:spcPts val="180"/>
              </a:spcBef>
            </a:pPr>
            <a:r>
              <a:rPr dirty="0" sz="1100" spc="-5" b="1">
                <a:latin typeface="Times New Roman"/>
                <a:cs typeface="Times New Roman"/>
              </a:rPr>
              <a:t>2.</a:t>
            </a:r>
            <a:r>
              <a:rPr dirty="0" sz="1100" spc="17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Spoken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has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dialect</a:t>
            </a:r>
            <a:r>
              <a:rPr dirty="0" sz="1100" spc="3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variations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 represent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region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68003" y="2780016"/>
            <a:ext cx="2621280" cy="51435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algn="just" marL="240665" marR="5080" indent="-228600">
              <a:lnSpc>
                <a:spcPts val="1270"/>
              </a:lnSpc>
              <a:spcBef>
                <a:spcPts val="180"/>
              </a:spcBef>
            </a:pPr>
            <a:r>
              <a:rPr dirty="0" sz="1100" spc="-5" b="1">
                <a:latin typeface="Times New Roman"/>
                <a:cs typeface="Times New Roman"/>
              </a:rPr>
              <a:t>3.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 use their voices (pitch, rhythm,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stress)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their bodies to communicate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 message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67990" y="3423141"/>
            <a:ext cx="222631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4.</a:t>
            </a:r>
            <a:r>
              <a:rPr dirty="0" sz="1100" spc="70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pauses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intonation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67976" y="3743936"/>
            <a:ext cx="138303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5.</a:t>
            </a:r>
            <a:r>
              <a:rPr dirty="0" sz="1100" spc="67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 pronounce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67962" y="4065499"/>
            <a:ext cx="2621915" cy="353695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240665" marR="5080" indent="-228600">
              <a:lnSpc>
                <a:spcPts val="1270"/>
              </a:lnSpc>
              <a:spcBef>
                <a:spcPts val="180"/>
              </a:spcBef>
              <a:tabLst>
                <a:tab pos="904875" algn="l"/>
                <a:tab pos="1141095" algn="l"/>
                <a:tab pos="1572895" algn="l"/>
                <a:tab pos="2407920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6.</a:t>
            </a:r>
            <a:r>
              <a:rPr dirty="0" sz="1100" spc="-5" b="1">
                <a:latin typeface="Times New Roman"/>
                <a:cs typeface="Times New Roman"/>
              </a:rPr>
              <a:t>   </a:t>
            </a:r>
            <a:r>
              <a:rPr dirty="0" sz="1100" spc="-13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Speaking</a:t>
            </a:r>
            <a:r>
              <a:rPr dirty="0" sz="1100">
                <a:latin typeface="Times New Roman"/>
                <a:cs typeface="Times New Roman"/>
              </a:rPr>
              <a:t>	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	</a:t>
            </a:r>
            <a:r>
              <a:rPr dirty="0" sz="1100" spc="-5">
                <a:latin typeface="Times New Roman"/>
                <a:cs typeface="Times New Roman"/>
              </a:rPr>
              <a:t>often</a:t>
            </a:r>
            <a:r>
              <a:rPr dirty="0" sz="1100">
                <a:latin typeface="Times New Roman"/>
                <a:cs typeface="Times New Roman"/>
              </a:rPr>
              <a:t>	</a:t>
            </a:r>
            <a:r>
              <a:rPr dirty="0" sz="1100" spc="-5">
                <a:latin typeface="Times New Roman"/>
                <a:cs typeface="Times New Roman"/>
              </a:rPr>
              <a:t>sp</a:t>
            </a:r>
            <a:r>
              <a:rPr dirty="0" sz="1100" spc="-10">
                <a:latin typeface="Times New Roman"/>
                <a:cs typeface="Times New Roman"/>
              </a:rPr>
              <a:t>o</a:t>
            </a:r>
            <a:r>
              <a:rPr dirty="0" sz="1100" spc="-5">
                <a:latin typeface="Times New Roman"/>
                <a:cs typeface="Times New Roman"/>
              </a:rPr>
              <a:t>ntaneous</a:t>
            </a:r>
            <a:r>
              <a:rPr dirty="0" sz="1100">
                <a:latin typeface="Times New Roman"/>
                <a:cs typeface="Times New Roman"/>
              </a:rPr>
              <a:t>	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n</a:t>
            </a:r>
            <a:r>
              <a:rPr dirty="0" sz="1100" spc="-5">
                <a:latin typeface="Times New Roman"/>
                <a:cs typeface="Times New Roman"/>
              </a:rPr>
              <a:t>d  </a:t>
            </a:r>
            <a:r>
              <a:rPr dirty="0" sz="1100" spc="-5">
                <a:latin typeface="Times New Roman"/>
                <a:cs typeface="Times New Roman"/>
              </a:rPr>
              <a:t>unplanned.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67948" y="4707857"/>
            <a:ext cx="2621280" cy="353695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240665" marR="5080" indent="-228600">
              <a:lnSpc>
                <a:spcPts val="1270"/>
              </a:lnSpc>
              <a:spcBef>
                <a:spcPts val="180"/>
              </a:spcBef>
            </a:pPr>
            <a:r>
              <a:rPr dirty="0" sz="1100" spc="-5" b="1">
                <a:latin typeface="Times New Roman"/>
                <a:cs typeface="Times New Roman"/>
              </a:rPr>
              <a:t>7.</a:t>
            </a:r>
            <a:r>
              <a:rPr dirty="0" sz="1100" spc="175" b="1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Speakers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immediate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audiences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who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nod,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interrupt,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question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comment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67934" y="5671777"/>
            <a:ext cx="254000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8.</a:t>
            </a:r>
            <a:r>
              <a:rPr dirty="0" sz="1100" spc="71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Speech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usually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informal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repetitive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67920" y="6314135"/>
            <a:ext cx="2621915" cy="353695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240665" marR="5080" indent="-228600">
              <a:lnSpc>
                <a:spcPts val="1270"/>
              </a:lnSpc>
              <a:spcBef>
                <a:spcPts val="180"/>
              </a:spcBef>
            </a:pPr>
            <a:r>
              <a:rPr dirty="0" sz="1100" spc="-5" b="1">
                <a:latin typeface="Times New Roman"/>
                <a:cs typeface="Times New Roman"/>
              </a:rPr>
              <a:t>9.</a:t>
            </a:r>
            <a:r>
              <a:rPr dirty="0" sz="1100" spc="18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simpler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sentences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connected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lots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 ands 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buts.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367906" y="6957260"/>
            <a:ext cx="2621915" cy="353060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241300" marR="5080" indent="-229235">
              <a:lnSpc>
                <a:spcPts val="1260"/>
              </a:lnSpc>
              <a:spcBef>
                <a:spcPts val="190"/>
              </a:spcBef>
            </a:pPr>
            <a:r>
              <a:rPr dirty="0" sz="1100" spc="-5" b="1">
                <a:latin typeface="Times New Roman"/>
                <a:cs typeface="Times New Roman"/>
              </a:rPr>
              <a:t>10.</a:t>
            </a:r>
            <a:r>
              <a:rPr dirty="0" sz="1100" spc="15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draw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listeners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reactions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know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how 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whether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continue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367906" y="7438837"/>
            <a:ext cx="2621915" cy="51435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algn="just" marL="241300" marR="5080" indent="-229235">
              <a:lnSpc>
                <a:spcPts val="1270"/>
              </a:lnSpc>
              <a:spcBef>
                <a:spcPts val="180"/>
              </a:spcBef>
            </a:pPr>
            <a:r>
              <a:rPr dirty="0" sz="1100" spc="-5" b="1">
                <a:latin typeface="Times New Roman"/>
                <a:cs typeface="Times New Roman"/>
              </a:rPr>
              <a:t>11. </a:t>
            </a:r>
            <a:r>
              <a:rPr dirty="0" sz="1100" spc="-5">
                <a:latin typeface="Times New Roman"/>
                <a:cs typeface="Times New Roman"/>
              </a:rPr>
              <a:t>Speakers can gauge the attitudes, beliefs,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feelings</a:t>
            </a:r>
            <a:r>
              <a:rPr dirty="0" sz="1100" spc="-5">
                <a:latin typeface="Times New Roman"/>
                <a:cs typeface="Times New Roman"/>
              </a:rPr>
              <a:t> 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audience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verbal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non-verbal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reactions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101201" y="1495997"/>
            <a:ext cx="2586990" cy="3530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29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WRITING</a:t>
            </a:r>
            <a:endParaRPr sz="1100">
              <a:latin typeface="Times New Roman"/>
              <a:cs typeface="Times New Roman"/>
            </a:endParaRPr>
          </a:p>
          <a:p>
            <a:pPr marL="240665">
              <a:lnSpc>
                <a:spcPts val="1290"/>
              </a:lnSpc>
            </a:pPr>
            <a:r>
              <a:rPr dirty="0" sz="1100" spc="-5" b="1">
                <a:latin typeface="Times New Roman"/>
                <a:cs typeface="Times New Roman"/>
              </a:rPr>
              <a:t>1.</a:t>
            </a:r>
            <a:r>
              <a:rPr dirty="0" sz="1100" spc="70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everyone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329781" y="1976807"/>
            <a:ext cx="2760345" cy="67564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algn="just" marL="240665" marR="5080" indent="-228600">
              <a:lnSpc>
                <a:spcPts val="1270"/>
              </a:lnSpc>
              <a:spcBef>
                <a:spcPts val="180"/>
              </a:spcBef>
            </a:pPr>
            <a:r>
              <a:rPr dirty="0" sz="1100" spc="-5" b="1">
                <a:latin typeface="Times New Roman"/>
                <a:cs typeface="Times New Roman"/>
              </a:rPr>
              <a:t>2.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Written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restricted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generally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standardised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grammar,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structure,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organization,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vocabulary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329767" y="2779946"/>
            <a:ext cx="2760345" cy="353695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240665" marR="5080" indent="-228600">
              <a:lnSpc>
                <a:spcPts val="1270"/>
              </a:lnSpc>
              <a:spcBef>
                <a:spcPts val="180"/>
              </a:spcBef>
            </a:pPr>
            <a:r>
              <a:rPr dirty="0" sz="1100" spc="-5" b="1">
                <a:latin typeface="Times New Roman"/>
                <a:cs typeface="Times New Roman"/>
              </a:rPr>
              <a:t>3.</a:t>
            </a:r>
            <a:r>
              <a:rPr dirty="0" sz="1100" spc="16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Writers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rely</a:t>
            </a:r>
            <a:r>
              <a:rPr dirty="0" sz="1100" spc="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page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express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ideas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329753" y="3423071"/>
            <a:ext cx="158940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4.</a:t>
            </a:r>
            <a:r>
              <a:rPr dirty="0" sz="1100" spc="69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Writers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punctuation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329739" y="3743866"/>
            <a:ext cx="97155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5.</a:t>
            </a:r>
            <a:r>
              <a:rPr dirty="0" sz="1100" spc="66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spell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329725" y="4065429"/>
            <a:ext cx="2760980" cy="51435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algn="just" marL="240665" marR="5080" indent="-228600">
              <a:lnSpc>
                <a:spcPts val="1270"/>
              </a:lnSpc>
              <a:spcBef>
                <a:spcPts val="180"/>
              </a:spcBef>
            </a:pPr>
            <a:r>
              <a:rPr dirty="0" sz="1100" spc="-5" b="1">
                <a:latin typeface="Times New Roman"/>
                <a:cs typeface="Times New Roman"/>
              </a:rPr>
              <a:t>6.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Most writing is planned and can be changed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through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editing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revision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before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audience </a:t>
            </a:r>
            <a:r>
              <a:rPr dirty="0" sz="1100">
                <a:latin typeface="Times New Roman"/>
                <a:cs typeface="Times New Roman"/>
              </a:rPr>
              <a:t>reads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329711" y="4707787"/>
            <a:ext cx="2760345" cy="835660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algn="just" marL="240665" marR="5080" indent="-228600">
              <a:lnSpc>
                <a:spcPct val="95800"/>
              </a:lnSpc>
              <a:spcBef>
                <a:spcPts val="150"/>
              </a:spcBef>
            </a:pPr>
            <a:r>
              <a:rPr dirty="0" sz="1100" spc="-5" b="1">
                <a:latin typeface="Times New Roman"/>
                <a:cs typeface="Times New Roman"/>
              </a:rPr>
              <a:t>7.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Writers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delayed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response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from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audiences or none at all and have only one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opportunity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convey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message,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interesting,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informative,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accurate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hold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 reader’s attention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329697" y="5671707"/>
            <a:ext cx="2760345" cy="514984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algn="just" marL="241300" marR="5080" indent="-229235">
              <a:lnSpc>
                <a:spcPts val="1270"/>
              </a:lnSpc>
              <a:spcBef>
                <a:spcPts val="180"/>
              </a:spcBef>
            </a:pPr>
            <a:r>
              <a:rPr dirty="0" sz="1100" spc="-5" b="1">
                <a:latin typeface="Times New Roman"/>
                <a:cs typeface="Times New Roman"/>
              </a:rPr>
              <a:t>8.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hand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formal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compact.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progresses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logically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fewer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explanations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digressions.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329930" y="6314178"/>
            <a:ext cx="2759710" cy="51435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algn="just" marL="240665" marR="5080" indent="-228600">
              <a:lnSpc>
                <a:spcPts val="1270"/>
              </a:lnSpc>
              <a:spcBef>
                <a:spcPts val="180"/>
              </a:spcBef>
            </a:pPr>
            <a:r>
              <a:rPr dirty="0" sz="1100" spc="-5" b="1">
                <a:latin typeface="Times New Roman"/>
                <a:cs typeface="Times New Roman"/>
              </a:rPr>
              <a:t>9.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Writers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complex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connecting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like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however,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who,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although, and 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addition.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329916" y="6957304"/>
            <a:ext cx="254317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10.</a:t>
            </a:r>
            <a:r>
              <a:rPr dirty="0" sz="1100" spc="15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Writers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often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solitary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process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329916" y="7438880"/>
            <a:ext cx="2759710" cy="51435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algn="just" marL="241300" marR="5080" indent="-229235">
              <a:lnSpc>
                <a:spcPts val="1270"/>
              </a:lnSpc>
              <a:spcBef>
                <a:spcPts val="180"/>
              </a:spcBef>
            </a:pPr>
            <a:r>
              <a:rPr dirty="0" sz="1100" spc="-5" b="1">
                <a:latin typeface="Times New Roman"/>
                <a:cs typeface="Times New Roman"/>
              </a:rPr>
              <a:t>11. </a:t>
            </a:r>
            <a:r>
              <a:rPr dirty="0" sz="1100" spc="-5">
                <a:latin typeface="Times New Roman"/>
                <a:cs typeface="Times New Roman"/>
              </a:rPr>
              <a:t>Writers must consider </a:t>
            </a:r>
            <a:r>
              <a:rPr dirty="0" sz="1100">
                <a:latin typeface="Times New Roman"/>
                <a:cs typeface="Times New Roman"/>
              </a:rPr>
              <a:t>what </a:t>
            </a:r>
            <a:r>
              <a:rPr dirty="0" sz="1100" spc="-5">
                <a:latin typeface="Times New Roman"/>
                <a:cs typeface="Times New Roman"/>
              </a:rPr>
              <a:t>and how much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 audience needs to know about a given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1080516" y="1512582"/>
            <a:ext cx="6068695" cy="6438265"/>
          </a:xfrm>
          <a:custGeom>
            <a:avLst/>
            <a:gdLst/>
            <a:ahLst/>
            <a:cxnLst/>
            <a:rect l="l" t="t" r="r" b="b"/>
            <a:pathLst>
              <a:path w="6068695" h="6438265">
                <a:moveTo>
                  <a:pt x="6068568" y="0"/>
                </a:moveTo>
                <a:lnTo>
                  <a:pt x="6062472" y="0"/>
                </a:lnTo>
                <a:lnTo>
                  <a:pt x="2961894" y="0"/>
                </a:lnTo>
                <a:lnTo>
                  <a:pt x="2961894" y="6083"/>
                </a:lnTo>
                <a:lnTo>
                  <a:pt x="2961894" y="6432029"/>
                </a:lnTo>
                <a:lnTo>
                  <a:pt x="6096" y="6432029"/>
                </a:lnTo>
                <a:lnTo>
                  <a:pt x="6096" y="6083"/>
                </a:lnTo>
                <a:lnTo>
                  <a:pt x="2961894" y="6083"/>
                </a:lnTo>
                <a:lnTo>
                  <a:pt x="2961894" y="0"/>
                </a:lnTo>
                <a:lnTo>
                  <a:pt x="6096" y="0"/>
                </a:lnTo>
                <a:lnTo>
                  <a:pt x="0" y="0"/>
                </a:lnTo>
                <a:lnTo>
                  <a:pt x="0" y="6083"/>
                </a:lnTo>
                <a:lnTo>
                  <a:pt x="0" y="6432029"/>
                </a:lnTo>
                <a:lnTo>
                  <a:pt x="0" y="6438125"/>
                </a:lnTo>
                <a:lnTo>
                  <a:pt x="6096" y="6438125"/>
                </a:lnTo>
                <a:lnTo>
                  <a:pt x="2961894" y="6438125"/>
                </a:lnTo>
                <a:lnTo>
                  <a:pt x="2967990" y="6438125"/>
                </a:lnTo>
                <a:lnTo>
                  <a:pt x="6062459" y="6438125"/>
                </a:lnTo>
                <a:lnTo>
                  <a:pt x="6062459" y="6432029"/>
                </a:lnTo>
                <a:lnTo>
                  <a:pt x="2967990" y="6432029"/>
                </a:lnTo>
                <a:lnTo>
                  <a:pt x="2967990" y="6083"/>
                </a:lnTo>
                <a:lnTo>
                  <a:pt x="6062472" y="6083"/>
                </a:lnTo>
                <a:lnTo>
                  <a:pt x="6062472" y="6432029"/>
                </a:lnTo>
                <a:lnTo>
                  <a:pt x="6062472" y="6438125"/>
                </a:lnTo>
                <a:lnTo>
                  <a:pt x="6068555" y="6438125"/>
                </a:lnTo>
                <a:lnTo>
                  <a:pt x="6068555" y="6432029"/>
                </a:lnTo>
                <a:lnTo>
                  <a:pt x="6068555" y="6083"/>
                </a:lnTo>
                <a:lnTo>
                  <a:pt x="60685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7380" y="342390"/>
            <a:ext cx="174498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 Elementary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84111" y="342390"/>
            <a:ext cx="22669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400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257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27376" y="847596"/>
            <a:ext cx="6062345" cy="88544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QUALITIES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GOOD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WRITERS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00">
              <a:latin typeface="Times New Roman"/>
              <a:cs typeface="Times New Roman"/>
            </a:endParaRPr>
          </a:p>
          <a:p>
            <a:pPr algn="just" marL="12700" marR="6350">
              <a:lnSpc>
                <a:spcPts val="1270"/>
              </a:lnSpc>
            </a:pPr>
            <a:r>
              <a:rPr dirty="0" sz="1100" spc="-5">
                <a:latin typeface="Times New Roman"/>
                <a:cs typeface="Times New Roman"/>
              </a:rPr>
              <a:t>Good writers have two things in common: they would rather be understood than admired, and they do not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hairsplitting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hypercritical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readers.</a:t>
            </a:r>
            <a:endParaRPr sz="1100">
              <a:latin typeface="Times New Roman"/>
              <a:cs typeface="Times New Roman"/>
            </a:endParaRPr>
          </a:p>
          <a:p>
            <a:pPr algn="just" marL="12700">
              <a:lnSpc>
                <a:spcPts val="1230"/>
              </a:lnSpc>
            </a:pPr>
            <a:r>
              <a:rPr dirty="0" sz="1100" spc="-5">
                <a:latin typeface="Times New Roman"/>
                <a:cs typeface="Times New Roman"/>
              </a:rPr>
              <a:t>Friedrich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Nietzsche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(1844–1900),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00">
              <a:latin typeface="Times New Roman"/>
              <a:cs typeface="Times New Roman"/>
            </a:endParaRPr>
          </a:p>
          <a:p>
            <a:pPr algn="just" marL="12700" marR="6985">
              <a:lnSpc>
                <a:spcPts val="1260"/>
              </a:lnSpc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qualities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second-rate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writer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easily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defined,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but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first-rate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writer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only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experienced.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just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him</a:t>
            </a:r>
            <a:r>
              <a:rPr dirty="0" sz="1100">
                <a:latin typeface="Times New Roman"/>
                <a:cs typeface="Times New Roman"/>
              </a:rPr>
              <a:t> which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escapes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analysis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makes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him </a:t>
            </a:r>
            <a:r>
              <a:rPr dirty="0" sz="1100" spc="-5">
                <a:latin typeface="Times New Roman"/>
                <a:cs typeface="Times New Roman"/>
              </a:rPr>
              <a:t>first-rate.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Cather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(1873–1947)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 algn="just" marL="12700" marR="6350">
              <a:lnSpc>
                <a:spcPts val="1270"/>
              </a:lnSpc>
            </a:pPr>
            <a:r>
              <a:rPr dirty="0" sz="1100" spc="-5">
                <a:latin typeface="Times New Roman"/>
                <a:cs typeface="Times New Roman"/>
              </a:rPr>
              <a:t>Writing is an art as well as a science. Writing is an art since it </a:t>
            </a:r>
            <a:r>
              <a:rPr dirty="0" sz="1100">
                <a:latin typeface="Times New Roman"/>
                <a:cs typeface="Times New Roman"/>
              </a:rPr>
              <a:t>has </a:t>
            </a:r>
            <a:r>
              <a:rPr dirty="0" sz="1100" spc="-5">
                <a:latin typeface="Times New Roman"/>
                <a:cs typeface="Times New Roman"/>
              </a:rPr>
              <a:t>various </a:t>
            </a:r>
            <a:r>
              <a:rPr dirty="0" sz="1100">
                <a:latin typeface="Times New Roman"/>
                <a:cs typeface="Times New Roman"/>
              </a:rPr>
              <a:t>styles </a:t>
            </a:r>
            <a:r>
              <a:rPr dirty="0" sz="1100" spc="-5">
                <a:latin typeface="Times New Roman"/>
                <a:cs typeface="Times New Roman"/>
              </a:rPr>
              <a:t>to it and it is a science as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would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techniques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 marR="5080">
              <a:lnSpc>
                <a:spcPts val="127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Good writing however has much more to it than just the common techniques used. [It depends on who your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target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audience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whether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 know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audience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well]</a:t>
            </a:r>
            <a:endParaRPr sz="1100">
              <a:latin typeface="Times New Roman"/>
              <a:cs typeface="Times New Roman"/>
            </a:endParaRPr>
          </a:p>
          <a:p>
            <a:pPr algn="just" marL="12700">
              <a:lnSpc>
                <a:spcPts val="1230"/>
              </a:lnSpc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parameters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good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depend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audience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 algn="just" marL="12700" marR="6350">
              <a:lnSpc>
                <a:spcPct val="95700"/>
              </a:lnSpc>
            </a:pPr>
            <a:r>
              <a:rPr dirty="0" sz="1100" spc="-5">
                <a:latin typeface="Times New Roman"/>
                <a:cs typeface="Times New Roman"/>
              </a:rPr>
              <a:t>For instance, the differences between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style </a:t>
            </a:r>
            <a:r>
              <a:rPr dirty="0" sz="1100" spc="-10">
                <a:latin typeface="Times New Roman"/>
                <a:cs typeface="Times New Roman"/>
              </a:rPr>
              <a:t>content writers </a:t>
            </a:r>
            <a:r>
              <a:rPr dirty="0" sz="1100" spc="-5">
                <a:latin typeface="Times New Roman"/>
                <a:cs typeface="Times New Roman"/>
              </a:rPr>
              <a:t>use and the </a:t>
            </a:r>
            <a:r>
              <a:rPr dirty="0" sz="1100">
                <a:latin typeface="Times New Roman"/>
                <a:cs typeface="Times New Roman"/>
              </a:rPr>
              <a:t>style </a:t>
            </a:r>
            <a:r>
              <a:rPr dirty="0" sz="1100" spc="-5">
                <a:latin typeface="Times New Roman"/>
                <a:cs typeface="Times New Roman"/>
              </a:rPr>
              <a:t>full-time is that the content-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writers mostly use first and second person; whereas a writer for a newspaper would use an objective tone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(third-person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reporting).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also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media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100">
              <a:latin typeface="Times New Roman"/>
              <a:cs typeface="Times New Roman"/>
            </a:endParaRPr>
          </a:p>
          <a:p>
            <a:pPr algn="just" marL="12700" marR="5715">
              <a:lnSpc>
                <a:spcPts val="127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The general yardsticks to determine whether one is a good writer are to check whether his/her article has a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good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flow,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eye-catching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content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language.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structure,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grammar,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ideas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some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factors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play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important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role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determining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whether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good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writer.</a:t>
            </a:r>
            <a:endParaRPr sz="1100">
              <a:latin typeface="Times New Roman"/>
              <a:cs typeface="Times New Roman"/>
            </a:endParaRPr>
          </a:p>
          <a:p>
            <a:pPr algn="just" marL="12700" marR="7620">
              <a:lnSpc>
                <a:spcPct val="143600"/>
              </a:lnSpc>
              <a:spcBef>
                <a:spcPts val="595"/>
              </a:spcBef>
            </a:pPr>
            <a:r>
              <a:rPr dirty="0" sz="1100" spc="-5">
                <a:latin typeface="Times New Roman"/>
                <a:cs typeface="Times New Roman"/>
              </a:rPr>
              <a:t>However, there is no one way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find out who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 good writer is. </a:t>
            </a:r>
            <a:r>
              <a:rPr dirty="0" sz="1100">
                <a:latin typeface="Times New Roman"/>
                <a:cs typeface="Times New Roman"/>
              </a:rPr>
              <a:t>Let’s </a:t>
            </a:r>
            <a:r>
              <a:rPr dirty="0" sz="1100" spc="-5">
                <a:latin typeface="Times New Roman"/>
                <a:cs typeface="Times New Roman"/>
              </a:rPr>
              <a:t>see what qualities do newspaper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writers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display?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Besides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having</a:t>
            </a:r>
            <a:endParaRPr sz="1100">
              <a:latin typeface="Times New Roman"/>
              <a:cs typeface="Times New Roman"/>
            </a:endParaRPr>
          </a:p>
          <a:p>
            <a:pPr marL="926465" indent="-462280">
              <a:lnSpc>
                <a:spcPct val="100000"/>
              </a:lnSpc>
              <a:spcBef>
                <a:spcPts val="580"/>
              </a:spcBef>
              <a:buChar char="*"/>
              <a:tabLst>
                <a:tab pos="926465" algn="l"/>
                <a:tab pos="927100" algn="l"/>
              </a:tabLst>
            </a:pP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lively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interest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people,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places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events</a:t>
            </a:r>
            <a:endParaRPr sz="1100">
              <a:latin typeface="Times New Roman"/>
              <a:cs typeface="Times New Roman"/>
            </a:endParaRPr>
          </a:p>
          <a:p>
            <a:pPr marL="926465" indent="-462280">
              <a:lnSpc>
                <a:spcPct val="100000"/>
              </a:lnSpc>
              <a:spcBef>
                <a:spcPts val="575"/>
              </a:spcBef>
              <a:buChar char="*"/>
              <a:tabLst>
                <a:tab pos="926465" algn="l"/>
                <a:tab pos="927100" algn="l"/>
              </a:tabLst>
            </a:pP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ability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style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easy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understand</a:t>
            </a:r>
            <a:endParaRPr sz="1100">
              <a:latin typeface="Times New Roman"/>
              <a:cs typeface="Times New Roman"/>
            </a:endParaRPr>
          </a:p>
          <a:p>
            <a:pPr marL="926465" indent="-462280">
              <a:lnSpc>
                <a:spcPct val="100000"/>
              </a:lnSpc>
              <a:spcBef>
                <a:spcPts val="575"/>
              </a:spcBef>
              <a:buChar char="*"/>
              <a:tabLst>
                <a:tab pos="926465" algn="l"/>
                <a:tab pos="927100" algn="l"/>
              </a:tabLst>
            </a:pPr>
            <a:r>
              <a:rPr dirty="0" sz="1100" spc="-5">
                <a:latin typeface="Times New Roman"/>
                <a:cs typeface="Times New Roman"/>
              </a:rPr>
              <a:t>Good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spelling,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grammar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punctuation</a:t>
            </a:r>
            <a:endParaRPr sz="1100">
              <a:latin typeface="Times New Roman"/>
              <a:cs typeface="Times New Roman"/>
            </a:endParaRPr>
          </a:p>
          <a:p>
            <a:pPr marL="926465" indent="-462280">
              <a:lnSpc>
                <a:spcPct val="100000"/>
              </a:lnSpc>
              <a:spcBef>
                <a:spcPts val="580"/>
              </a:spcBef>
              <a:buChar char="*"/>
              <a:tabLst>
                <a:tab pos="926465" algn="l"/>
                <a:tab pos="927100" algn="l"/>
              </a:tabLst>
            </a:pP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appreciation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local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newspaper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plays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community</a:t>
            </a:r>
            <a:endParaRPr sz="1100">
              <a:latin typeface="Times New Roman"/>
              <a:cs typeface="Times New Roman"/>
            </a:endParaRPr>
          </a:p>
          <a:p>
            <a:pPr marL="926465" indent="-462280">
              <a:lnSpc>
                <a:spcPct val="100000"/>
              </a:lnSpc>
              <a:spcBef>
                <a:spcPts val="580"/>
              </a:spcBef>
              <a:buChar char="*"/>
              <a:tabLst>
                <a:tab pos="926465" algn="l"/>
                <a:tab pos="927100" algn="l"/>
              </a:tabLst>
            </a:pP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willingness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accept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irregular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hours</a:t>
            </a:r>
            <a:endParaRPr sz="1100">
              <a:latin typeface="Times New Roman"/>
              <a:cs typeface="Times New Roman"/>
            </a:endParaRPr>
          </a:p>
          <a:p>
            <a:pPr marL="926465" indent="-462280">
              <a:lnSpc>
                <a:spcPct val="100000"/>
              </a:lnSpc>
              <a:spcBef>
                <a:spcPts val="575"/>
              </a:spcBef>
              <a:buChar char="*"/>
              <a:tabLst>
                <a:tab pos="926465" algn="l"/>
                <a:tab pos="927100" algn="l"/>
              </a:tabLst>
            </a:pP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ability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work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under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pressure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meet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deadlines</a:t>
            </a:r>
            <a:endParaRPr sz="1100">
              <a:latin typeface="Times New Roman"/>
              <a:cs typeface="Times New Roman"/>
            </a:endParaRPr>
          </a:p>
          <a:p>
            <a:pPr marL="926465" indent="-462280">
              <a:lnSpc>
                <a:spcPct val="100000"/>
              </a:lnSpc>
              <a:spcBef>
                <a:spcPts val="575"/>
              </a:spcBef>
              <a:buChar char="*"/>
              <a:tabLst>
                <a:tab pos="926465" algn="l"/>
                <a:tab pos="927100" algn="l"/>
              </a:tabLst>
            </a:pPr>
            <a:r>
              <a:rPr dirty="0" sz="1100" spc="-5">
                <a:latin typeface="Times New Roman"/>
                <a:cs typeface="Times New Roman"/>
              </a:rPr>
              <a:t>Determination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persistence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550">
              <a:latin typeface="Times New Roman"/>
              <a:cs typeface="Times New Roman"/>
            </a:endParaRPr>
          </a:p>
          <a:p>
            <a:pPr algn="just" marL="12700">
              <a:lnSpc>
                <a:spcPts val="1295"/>
              </a:lnSpc>
            </a:pP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acquire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followings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also:</a:t>
            </a:r>
            <a:endParaRPr sz="1100">
              <a:latin typeface="Times New Roman"/>
              <a:cs typeface="Times New Roman"/>
            </a:endParaRPr>
          </a:p>
          <a:p>
            <a:pPr algn="just" marL="12700" marR="6350" indent="34925">
              <a:lnSpc>
                <a:spcPts val="1270"/>
              </a:lnSpc>
              <a:spcBef>
                <a:spcPts val="55"/>
              </a:spcBef>
            </a:pP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good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journalist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should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good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writer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sure.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journalists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essentially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good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communicators.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aspiring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journalist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become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good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by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skills.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 marR="5080">
              <a:lnSpc>
                <a:spcPts val="1270"/>
              </a:lnSpc>
            </a:pPr>
            <a:r>
              <a:rPr dirty="0" sz="1100" spc="-5">
                <a:latin typeface="Times New Roman"/>
                <a:cs typeface="Times New Roman"/>
              </a:rPr>
              <a:t>A Broad </a:t>
            </a:r>
            <a:r>
              <a:rPr dirty="0" sz="1100">
                <a:latin typeface="Times New Roman"/>
                <a:cs typeface="Times New Roman"/>
              </a:rPr>
              <a:t>Range </a:t>
            </a:r>
            <a:r>
              <a:rPr dirty="0" sz="1100" spc="-5">
                <a:latin typeface="Times New Roman"/>
                <a:cs typeface="Times New Roman"/>
              </a:rPr>
              <a:t>of Knowledge: Great writers have a broad educational background a wealth of knowledge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experience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draw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from 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help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make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interesting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engaging.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 marR="6350">
              <a:lnSpc>
                <a:spcPts val="1270"/>
              </a:lnSpc>
            </a:pP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Good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Grasp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Grammar: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Great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writers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thorough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understanding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correct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grammar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write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clear, coherent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prose.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 marR="5080">
              <a:lnSpc>
                <a:spcPts val="1270"/>
              </a:lnSpc>
            </a:pPr>
            <a:r>
              <a:rPr dirty="0" sz="1100" spc="-5">
                <a:latin typeface="Times New Roman"/>
                <a:cs typeface="Times New Roman"/>
              </a:rPr>
              <a:t>A Sense of Ethics and Accuracy: Great writers choose </a:t>
            </a:r>
            <a:r>
              <a:rPr dirty="0" sz="1100">
                <a:latin typeface="Times New Roman"/>
                <a:cs typeface="Times New Roman"/>
              </a:rPr>
              <a:t>their </a:t>
            </a:r>
            <a:r>
              <a:rPr dirty="0" sz="1100" spc="-5">
                <a:latin typeface="Times New Roman"/>
                <a:cs typeface="Times New Roman"/>
              </a:rPr>
              <a:t>words carefully, always ensuring their work is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both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accurate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meets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ethical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standards,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whether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personal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those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organization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piece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 algn="just" marL="12700" marR="7620">
              <a:lnSpc>
                <a:spcPts val="126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Context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sensitive: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good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writers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write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contexts.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adapt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messages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sensitive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non-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sensitive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situations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don’t misjudge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this.</a:t>
            </a:r>
            <a:endParaRPr sz="1100">
              <a:latin typeface="Times New Roman"/>
              <a:cs typeface="Times New Roman"/>
            </a:endParaRPr>
          </a:p>
          <a:p>
            <a:pPr marL="1564005">
              <a:lnSpc>
                <a:spcPct val="100000"/>
              </a:lnSpc>
              <a:spcBef>
                <a:spcPts val="330"/>
              </a:spcBef>
              <a:tabLst>
                <a:tab pos="5970905" algn="l"/>
              </a:tabLst>
            </a:pPr>
            <a:r>
              <a:rPr dirty="0" sz="1200">
                <a:latin typeface="Times New Roman"/>
                <a:cs typeface="Times New Roman"/>
              </a:rPr>
              <a:t>© Copyrights Virtual Uni</a:t>
            </a:r>
            <a:r>
              <a:rPr dirty="0" sz="1200" spc="-5">
                <a:latin typeface="Times New Roman"/>
                <a:cs typeface="Times New Roman"/>
              </a:rPr>
              <a:t>v</a:t>
            </a:r>
            <a:r>
              <a:rPr dirty="0" sz="1200">
                <a:latin typeface="Times New Roman"/>
                <a:cs typeface="Times New Roman"/>
              </a:rPr>
              <a:t>ersity of Pakistan	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82132" y="526034"/>
            <a:ext cx="80581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LECTURE</a:t>
            </a:r>
            <a:r>
              <a:rPr dirty="0" u="heavy" sz="1100" spc="-6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360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043419" y="9493248"/>
            <a:ext cx="1016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972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84566" y="342390"/>
            <a:ext cx="6083300" cy="61595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95"/>
              </a:spcBef>
              <a:tabLst>
                <a:tab pos="5869305" algn="l"/>
              </a:tabLst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l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</a:t>
            </a:r>
            <a:r>
              <a:rPr dirty="0" sz="1100" spc="-15">
                <a:solidFill>
                  <a:srgbClr val="323232"/>
                </a:solidFill>
                <a:latin typeface="Times New Roman"/>
                <a:cs typeface="Times New Roman"/>
              </a:rPr>
              <a:t>m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entary</a:t>
            </a:r>
            <a:r>
              <a:rPr dirty="0" sz="1100" spc="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g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lish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26670">
              <a:lnSpc>
                <a:spcPts val="1270"/>
              </a:lnSpc>
            </a:pPr>
            <a:r>
              <a:rPr dirty="0" sz="1100" spc="-5">
                <a:latin typeface="Times New Roman"/>
                <a:cs typeface="Times New Roman"/>
              </a:rPr>
              <a:t>Considerate: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good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writers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know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readers</a:t>
            </a:r>
            <a:r>
              <a:rPr dirty="0" sz="1100">
                <a:latin typeface="Times New Roman"/>
                <a:cs typeface="Times New Roman"/>
              </a:rPr>
              <a:t> needs.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know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“How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much”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‘skimmers’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‘skeptics’.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 marR="26034">
              <a:lnSpc>
                <a:spcPts val="1270"/>
              </a:lnSpc>
            </a:pPr>
            <a:r>
              <a:rPr dirty="0" sz="1100" spc="-5">
                <a:latin typeface="Times New Roman"/>
                <a:cs typeface="Times New Roman"/>
              </a:rPr>
              <a:t>Dream and Reality: Writers live in a world of reality and the same truth they reflect in their writing also.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 know the </a:t>
            </a:r>
            <a:r>
              <a:rPr dirty="0" sz="1100" spc="-10">
                <a:latin typeface="Times New Roman"/>
                <a:cs typeface="Times New Roman"/>
              </a:rPr>
              <a:t>success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a message </a:t>
            </a:r>
            <a:r>
              <a:rPr dirty="0" sz="1100" spc="-10">
                <a:latin typeface="Times New Roman"/>
                <a:cs typeface="Times New Roman"/>
              </a:rPr>
              <a:t>depends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upon </a:t>
            </a:r>
            <a:r>
              <a:rPr dirty="0" sz="1100">
                <a:latin typeface="Times New Roman"/>
                <a:cs typeface="Times New Roman"/>
              </a:rPr>
              <a:t>four </a:t>
            </a:r>
            <a:r>
              <a:rPr dirty="0" sz="1100" spc="-5">
                <a:latin typeface="Times New Roman"/>
                <a:cs typeface="Times New Roman"/>
              </a:rPr>
              <a:t>important communication ingredients: social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contact,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medium,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transmission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understanding.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 marR="27305">
              <a:lnSpc>
                <a:spcPct val="957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Persuasion: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good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writers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know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trick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trade.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know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how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persuade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 readers. They know how to find the best available means of moving a specific audience in a specific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situation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 specific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decision.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100">
              <a:latin typeface="Times New Roman"/>
              <a:cs typeface="Times New Roman"/>
            </a:endParaRPr>
          </a:p>
          <a:p>
            <a:pPr algn="just" marL="12700" marR="27305">
              <a:lnSpc>
                <a:spcPts val="1270"/>
              </a:lnSpc>
            </a:pPr>
            <a:r>
              <a:rPr dirty="0" sz="1100" spc="-5">
                <a:latin typeface="Times New Roman"/>
                <a:cs typeface="Times New Roman"/>
              </a:rPr>
              <a:t>An Ability to Express Ideas: Great writers are able to express their ideas clearly in a logical format that is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easy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reader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understand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 marR="28575">
              <a:lnSpc>
                <a:spcPts val="1270"/>
              </a:lnSpc>
            </a:pPr>
            <a:r>
              <a:rPr dirty="0" sz="1100" spc="-5">
                <a:latin typeface="Times New Roman"/>
                <a:cs typeface="Times New Roman"/>
              </a:rPr>
              <a:t>An Ability to Write Well in Different Styles: Great writers can </a:t>
            </a:r>
            <a:r>
              <a:rPr dirty="0" sz="1100">
                <a:latin typeface="Times New Roman"/>
                <a:cs typeface="Times New Roman"/>
              </a:rPr>
              <a:t>write </a:t>
            </a:r>
            <a:r>
              <a:rPr dirty="0" sz="1100" spc="-5">
                <a:latin typeface="Times New Roman"/>
                <a:cs typeface="Times New Roman"/>
              </a:rPr>
              <a:t>well in a variety of formats, including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technical,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persuasive,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descriptive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prose.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 algn="just" marL="12700" marR="27305">
              <a:lnSpc>
                <a:spcPts val="1260"/>
              </a:lnSpc>
            </a:pPr>
            <a:r>
              <a:rPr dirty="0" sz="1100" spc="-5">
                <a:latin typeface="Times New Roman"/>
                <a:cs typeface="Times New Roman"/>
              </a:rPr>
              <a:t>An Understanding of Who the Audience Is: Great writers know </a:t>
            </a:r>
            <a:r>
              <a:rPr dirty="0" sz="1100">
                <a:latin typeface="Times New Roman"/>
                <a:cs typeface="Times New Roman"/>
              </a:rPr>
              <a:t>who </a:t>
            </a:r>
            <a:r>
              <a:rPr dirty="0" sz="1100" spc="-5">
                <a:latin typeface="Times New Roman"/>
                <a:cs typeface="Times New Roman"/>
              </a:rPr>
              <a:t>their audience is and write in a manner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appear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base.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 algn="just" marL="12700" marR="27940">
              <a:lnSpc>
                <a:spcPts val="1270"/>
              </a:lnSpc>
            </a:pPr>
            <a:r>
              <a:rPr dirty="0" sz="1100" spc="-5">
                <a:latin typeface="Times New Roman"/>
                <a:cs typeface="Times New Roman"/>
              </a:rPr>
              <a:t>Creativity: Great writers have a strong sense of creativity and always have new ideas for material and can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craft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interesting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openings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draw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reader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 algn="just" marL="12700" marR="27305">
              <a:lnSpc>
                <a:spcPts val="1260"/>
              </a:lnSpc>
            </a:pPr>
            <a:r>
              <a:rPr dirty="0" sz="1100" spc="-5">
                <a:latin typeface="Times New Roman"/>
                <a:cs typeface="Times New Roman"/>
              </a:rPr>
              <a:t>Interviewing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Skills: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Great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writers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excellent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interviewing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skills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know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how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make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subject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open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up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order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get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best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material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 algn="just" marL="12700" marR="27940">
              <a:lnSpc>
                <a:spcPts val="1270"/>
              </a:lnSpc>
            </a:pPr>
            <a:r>
              <a:rPr dirty="0" sz="1100" spc="-5">
                <a:latin typeface="Times New Roman"/>
                <a:cs typeface="Times New Roman"/>
              </a:rPr>
              <a:t>Research Skills: Great writers have savvy research skills and are able to quickly find the information they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make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piece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interesting.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 marR="27940">
              <a:lnSpc>
                <a:spcPts val="1270"/>
              </a:lnSpc>
            </a:pPr>
            <a:r>
              <a:rPr dirty="0" sz="1100" spc="-5">
                <a:latin typeface="Times New Roman"/>
                <a:cs typeface="Times New Roman"/>
              </a:rPr>
              <a:t>Specific Subject Knowledge: Great writers are knowledgeable </a:t>
            </a:r>
            <a:r>
              <a:rPr dirty="0" sz="1100">
                <a:latin typeface="Times New Roman"/>
                <a:cs typeface="Times New Roman"/>
              </a:rPr>
              <a:t>about </a:t>
            </a:r>
            <a:r>
              <a:rPr dirty="0" sz="1100" spc="-5">
                <a:latin typeface="Times New Roman"/>
                <a:cs typeface="Times New Roman"/>
              </a:rPr>
              <a:t>the subject they write about. Science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writers,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should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strong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background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knowledge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cover.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Source: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R</a:t>
            </a:r>
            <a:r>
              <a:rPr dirty="0" sz="1100" spc="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Jackson</a:t>
            </a:r>
            <a:r>
              <a:rPr dirty="0" sz="1100" spc="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(journalists.net);</a:t>
            </a:r>
            <a:r>
              <a:rPr dirty="0" sz="1100" spc="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Sharmila</a:t>
            </a:r>
            <a:r>
              <a:rPr dirty="0" sz="1100" spc="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(journalists.net)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00">
              <a:latin typeface="Times New Roman"/>
              <a:cs typeface="Times New Roman"/>
            </a:endParaRPr>
          </a:p>
          <a:p>
            <a:pPr marL="469900" marR="1649730">
              <a:lnSpc>
                <a:spcPts val="1260"/>
              </a:lnSpc>
              <a:spcBef>
                <a:spcPts val="5"/>
              </a:spcBef>
            </a:pPr>
            <a:r>
              <a:rPr dirty="0" sz="1100" spc="-5" b="1">
                <a:latin typeface="Times New Roman"/>
                <a:cs typeface="Times New Roman"/>
                <a:hlinkClick r:id="rId2"/>
              </a:rPr>
              <a:t>http://journalists.net/index.php?news=2601 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3"/>
              </a:rPr>
              <a:t>http://ezinearticles.com/?What-Makes-a-Good-Writer?&amp;id=96221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829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7380" y="342390"/>
            <a:ext cx="174498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 Elementary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84111" y="342390"/>
            <a:ext cx="22669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788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86219" y="9493248"/>
            <a:ext cx="1016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400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257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882132" y="526034"/>
            <a:ext cx="80581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LECTURE</a:t>
            </a:r>
            <a:r>
              <a:rPr dirty="0" u="heavy" sz="1100" spc="-6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3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55942" y="686815"/>
            <a:ext cx="5835015" cy="36664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R="223520">
              <a:lnSpc>
                <a:spcPct val="100000"/>
              </a:lnSpc>
              <a:spcBef>
                <a:spcPts val="95"/>
              </a:spcBef>
            </a:pP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QUALITIES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GOOD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WRITERS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buAutoNum type="arabicPeriod"/>
              <a:tabLst>
                <a:tab pos="241935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Be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considerate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for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your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readers.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Times New Roman"/>
              <a:buAutoNum type="arabicPeriod"/>
            </a:pPr>
            <a:endParaRPr sz="105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example,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compare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following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pieces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reflects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writers’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sense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consideration.</a:t>
            </a:r>
            <a:endParaRPr sz="1100">
              <a:latin typeface="Times New Roman"/>
              <a:cs typeface="Times New Roman"/>
            </a:endParaRPr>
          </a:p>
          <a:p>
            <a:pPr algn="just" lvl="1" marL="698500" marR="7620" indent="-228600">
              <a:lnSpc>
                <a:spcPct val="144100"/>
              </a:lnSpc>
              <a:spcBef>
                <a:spcPts val="70"/>
              </a:spcBef>
              <a:buFont typeface="Symbol"/>
              <a:buChar char=""/>
              <a:tabLst>
                <a:tab pos="699135" algn="l"/>
              </a:tabLst>
            </a:pP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enough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fuel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reach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Portland.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When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land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at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Sioux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City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hope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take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fuel,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take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 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hour.”</a:t>
            </a:r>
            <a:endParaRPr sz="1100">
              <a:latin typeface="Times New Roman"/>
              <a:cs typeface="Times New Roman"/>
            </a:endParaRPr>
          </a:p>
          <a:p>
            <a:pPr algn="just" lvl="1" marL="698500" marR="5080" indent="-228600">
              <a:lnSpc>
                <a:spcPct val="143800"/>
              </a:lnSpc>
              <a:spcBef>
                <a:spcPts val="75"/>
              </a:spcBef>
              <a:buFont typeface="Symbol"/>
              <a:buChar char=""/>
              <a:tabLst>
                <a:tab pos="699135" algn="l"/>
              </a:tabLst>
            </a:pPr>
            <a:r>
              <a:rPr dirty="0" sz="1100" spc="-5">
                <a:latin typeface="Times New Roman"/>
                <a:cs typeface="Times New Roman"/>
              </a:rPr>
              <a:t>We are encountering 90-mile-an hour headwinds. This wind and our full load mean that we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fuel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usual.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Consequently,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diverting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Sioux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City,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North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Dakota, to top up the fuel tanks as a safety precaution. Refueling in Sioux City will take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hour.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apologize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unavoidable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delay.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Thank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you.”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550">
              <a:latin typeface="Times New Roman"/>
              <a:cs typeface="Times New Roman"/>
            </a:endParaRPr>
          </a:p>
          <a:p>
            <a:pPr marL="241300" indent="-228600">
              <a:lnSpc>
                <a:spcPts val="1295"/>
              </a:lnSpc>
              <a:buAutoNum type="arabicPeriod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Investigation:</a:t>
            </a:r>
            <a:endParaRPr sz="1100">
              <a:latin typeface="Times New Roman"/>
              <a:cs typeface="Times New Roman"/>
            </a:endParaRPr>
          </a:p>
          <a:p>
            <a:pPr algn="just" marL="12700" marR="8255">
              <a:lnSpc>
                <a:spcPts val="1260"/>
              </a:lnSpc>
              <a:spcBef>
                <a:spcPts val="65"/>
              </a:spcBef>
            </a:pP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good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writer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highly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investigative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approach.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seeks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find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out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minimum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answers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questions: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Who,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What,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Where,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When,</a:t>
            </a:r>
            <a:r>
              <a:rPr dirty="0" sz="1100">
                <a:latin typeface="Times New Roman"/>
                <a:cs typeface="Times New Roman"/>
              </a:rPr>
              <a:t> Why, </a:t>
            </a:r>
            <a:r>
              <a:rPr dirty="0" sz="1100" spc="-5">
                <a:latin typeface="Times New Roman"/>
                <a:cs typeface="Times New Roman"/>
              </a:rPr>
              <a:t>How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00">
              <a:latin typeface="Times New Roman"/>
              <a:cs typeface="Times New Roman"/>
            </a:endParaRPr>
          </a:p>
          <a:p>
            <a:pPr marL="241300" indent="-228600">
              <a:lnSpc>
                <a:spcPts val="1295"/>
              </a:lnSpc>
              <a:buAutoNum type="arabicPeriod" startAt="2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Dream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reality:</a:t>
            </a:r>
            <a:endParaRPr sz="1100">
              <a:latin typeface="Times New Roman"/>
              <a:cs typeface="Times New Roman"/>
            </a:endParaRPr>
          </a:p>
          <a:p>
            <a:pPr algn="just" marL="12700" marR="9525">
              <a:lnSpc>
                <a:spcPts val="1270"/>
              </a:lnSpc>
              <a:spcBef>
                <a:spcPts val="60"/>
              </a:spcBef>
            </a:pPr>
            <a:r>
              <a:rPr dirty="0" sz="1100" spc="-5">
                <a:latin typeface="Times New Roman"/>
                <a:cs typeface="Times New Roman"/>
              </a:rPr>
              <a:t>A good writer knows the communication reality. He strongly believes that a message sent is not a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message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received.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message’s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success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depends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upon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fulfillment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points:</a:t>
            </a:r>
            <a:endParaRPr sz="1100">
              <a:latin typeface="Times New Roman"/>
              <a:cs typeface="Times New Roman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948689" y="4504182"/>
          <a:ext cx="5420995" cy="16383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25880"/>
                <a:gridCol w="1288415"/>
                <a:gridCol w="416560"/>
                <a:gridCol w="182880"/>
                <a:gridCol w="610869"/>
                <a:gridCol w="624839"/>
                <a:gridCol w="236854"/>
                <a:gridCol w="477520"/>
                <a:gridCol w="244475"/>
              </a:tblGrid>
              <a:tr h="488441">
                <a:tc>
                  <a:txBody>
                    <a:bodyPr/>
                    <a:lstStyle/>
                    <a:p>
                      <a:pPr marL="67945">
                        <a:lnSpc>
                          <a:spcPts val="126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Social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Contact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8">
                  <a:txBody>
                    <a:bodyPr/>
                    <a:lstStyle/>
                    <a:p>
                      <a:pPr marL="67945" marR="60325">
                        <a:lnSpc>
                          <a:spcPts val="1270"/>
                        </a:lnSpc>
                        <a:spcBef>
                          <a:spcPts val="20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1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persons</a:t>
                      </a:r>
                      <a:r>
                        <a:rPr dirty="0" sz="1100" spc="1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who</a:t>
                      </a:r>
                      <a:r>
                        <a:rPr dirty="0" sz="1100" spc="1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are</a:t>
                      </a:r>
                      <a:r>
                        <a:rPr dirty="0" sz="1100" spc="1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communicating</a:t>
                      </a:r>
                      <a:r>
                        <a:rPr dirty="0" sz="1100" spc="1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have</a:t>
                      </a:r>
                      <a:r>
                        <a:rPr dirty="0" sz="1100" spc="1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100" spc="1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dirty="0" sz="1100" spc="1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100" spc="1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touch</a:t>
                      </a:r>
                      <a:r>
                        <a:rPr dirty="0" sz="1100" spc="1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dirty="0" sz="1100" spc="1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each </a:t>
                      </a:r>
                      <a:r>
                        <a:rPr dirty="0" sz="1100" spc="-2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other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88441">
                <a:tc>
                  <a:txBody>
                    <a:bodyPr/>
                    <a:lstStyle/>
                    <a:p>
                      <a:pPr marL="68580">
                        <a:lnSpc>
                          <a:spcPts val="126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Common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Medium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52705">
                        <a:lnSpc>
                          <a:spcPts val="1270"/>
                        </a:lnSpc>
                        <a:spcBef>
                          <a:spcPts val="20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Both</a:t>
                      </a:r>
                      <a:r>
                        <a:rPr dirty="0" sz="1100" spc="1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parties</a:t>
                      </a:r>
                      <a:r>
                        <a:rPr dirty="0" sz="1100" spc="1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must </a:t>
                      </a:r>
                      <a:r>
                        <a:rPr dirty="0" sz="1100" spc="-2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communication.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126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share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ts val="126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a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ts val="126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common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ts val="126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language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9690">
                        <a:lnSpc>
                          <a:spcPts val="126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126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means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ts val="126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of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marL="68580">
                        <a:lnSpc>
                          <a:spcPts val="126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Transmission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8">
                  <a:txBody>
                    <a:bodyPr/>
                    <a:lstStyle/>
                    <a:p>
                      <a:pPr marL="68580">
                        <a:lnSpc>
                          <a:spcPts val="126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message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has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imparted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clearly.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27660">
                <a:tc>
                  <a:txBody>
                    <a:bodyPr/>
                    <a:lstStyle/>
                    <a:p>
                      <a:pPr marL="68580">
                        <a:lnSpc>
                          <a:spcPts val="126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Understanding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8">
                  <a:txBody>
                    <a:bodyPr/>
                    <a:lstStyle/>
                    <a:p>
                      <a:pPr marL="68580">
                        <a:lnSpc>
                          <a:spcPts val="126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message</a:t>
                      </a:r>
                      <a:r>
                        <a:rPr dirty="0" sz="11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has</a:t>
                      </a:r>
                      <a:r>
                        <a:rPr dirty="0" sz="11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dirty="0" sz="11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received,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properly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understood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interpreted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627380" y="6279893"/>
            <a:ext cx="6061710" cy="29241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latin typeface="Times New Roman"/>
                <a:cs typeface="Times New Roman"/>
              </a:rPr>
              <a:t>Probably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specialist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dream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writer;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that’s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why,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message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failed.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50">
              <a:latin typeface="Times New Roman"/>
              <a:cs typeface="Times New Roman"/>
            </a:endParaRPr>
          </a:p>
          <a:p>
            <a:pPr marL="469900">
              <a:lnSpc>
                <a:spcPts val="1290"/>
              </a:lnSpc>
            </a:pPr>
            <a:r>
              <a:rPr dirty="0" sz="1100" spc="-5" b="1" i="1">
                <a:latin typeface="Times New Roman"/>
                <a:cs typeface="Times New Roman"/>
              </a:rPr>
              <a:t>Plumber</a:t>
            </a:r>
            <a:r>
              <a:rPr dirty="0" sz="1100" spc="5" b="1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(wrote):</a:t>
            </a:r>
            <a:r>
              <a:rPr dirty="0" sz="1100" spc="15" i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Sir,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Hydrochloric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acid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good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cleaning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clogged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drains.</a:t>
            </a:r>
            <a:endParaRPr sz="1100">
              <a:latin typeface="Times New Roman"/>
              <a:cs typeface="Times New Roman"/>
            </a:endParaRPr>
          </a:p>
          <a:p>
            <a:pPr marL="1270000" marR="5715" indent="-800100">
              <a:lnSpc>
                <a:spcPts val="1270"/>
              </a:lnSpc>
              <a:spcBef>
                <a:spcPts val="55"/>
              </a:spcBef>
            </a:pPr>
            <a:r>
              <a:rPr dirty="0" sz="1100" spc="-5" b="1" i="1">
                <a:latin typeface="Times New Roman"/>
                <a:cs typeface="Times New Roman"/>
              </a:rPr>
              <a:t>Specialist</a:t>
            </a:r>
            <a:r>
              <a:rPr dirty="0" sz="1100" spc="105" b="1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(responded):</a:t>
            </a:r>
            <a:r>
              <a:rPr dirty="0" sz="1100" spc="100" i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efficiency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HCL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indisputable,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but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corrosive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residue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incompatible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metallic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permanence.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200"/>
              </a:lnSpc>
            </a:pPr>
            <a:r>
              <a:rPr dirty="0" sz="1100" spc="-5" b="1" i="1">
                <a:latin typeface="Times New Roman"/>
                <a:cs typeface="Times New Roman"/>
              </a:rPr>
              <a:t>Plumber</a:t>
            </a:r>
            <a:r>
              <a:rPr dirty="0" sz="1100" b="1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(rewrote):</a:t>
            </a:r>
            <a:r>
              <a:rPr dirty="0" sz="1100" spc="10" i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Thank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appreciation.</a:t>
            </a:r>
            <a:endParaRPr sz="1100">
              <a:latin typeface="Times New Roman"/>
              <a:cs typeface="Times New Roman"/>
            </a:endParaRPr>
          </a:p>
          <a:p>
            <a:pPr marL="1270000" marR="5080" indent="-800100">
              <a:lnSpc>
                <a:spcPts val="1270"/>
              </a:lnSpc>
              <a:spcBef>
                <a:spcPts val="55"/>
              </a:spcBef>
            </a:pPr>
            <a:r>
              <a:rPr dirty="0" sz="1100" spc="-5" b="1" i="1">
                <a:latin typeface="Times New Roman"/>
                <a:cs typeface="Times New Roman"/>
              </a:rPr>
              <a:t>Specialis</a:t>
            </a:r>
            <a:r>
              <a:rPr dirty="0" sz="1100" spc="-5" i="1">
                <a:latin typeface="Times New Roman"/>
                <a:cs typeface="Times New Roman"/>
              </a:rPr>
              <a:t>t</a:t>
            </a:r>
            <a:r>
              <a:rPr dirty="0" sz="1100" spc="10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(re-stressed):</a:t>
            </a:r>
            <a:r>
              <a:rPr dirty="0" sz="1100" spc="105" i="1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We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cannot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assume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responsibility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production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toxic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noxious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residue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hydrochloric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acid,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suggest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alternative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procedure.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200"/>
              </a:lnSpc>
            </a:pPr>
            <a:r>
              <a:rPr dirty="0" sz="1100" spc="-5" b="1" i="1">
                <a:latin typeface="Times New Roman"/>
                <a:cs typeface="Times New Roman"/>
              </a:rPr>
              <a:t>Plumber:</a:t>
            </a:r>
            <a:r>
              <a:rPr dirty="0" sz="1100" spc="-10" b="1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Again Thanked.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290"/>
              </a:lnSpc>
            </a:pPr>
            <a:r>
              <a:rPr dirty="0" sz="1100" spc="-5" b="1" i="1">
                <a:latin typeface="Times New Roman"/>
                <a:cs typeface="Times New Roman"/>
              </a:rPr>
              <a:t>Specialist</a:t>
            </a:r>
            <a:r>
              <a:rPr dirty="0" sz="1100" spc="10" b="1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(in</a:t>
            </a:r>
            <a:r>
              <a:rPr dirty="0" sz="1100" spc="1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desperation):</a:t>
            </a:r>
            <a:r>
              <a:rPr dirty="0" sz="1100" spc="15" i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Don’t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hydrochloric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acid.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eats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hell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pipes.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50">
              <a:latin typeface="Times New Roman"/>
              <a:cs typeface="Times New Roman"/>
            </a:endParaRPr>
          </a:p>
          <a:p>
            <a:pPr marL="469265" indent="-229235">
              <a:lnSpc>
                <a:spcPts val="1295"/>
              </a:lnSpc>
              <a:buAutoNum type="arabicPeriod" startAt="3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Know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internal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biases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shape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perceptions:</a:t>
            </a:r>
            <a:endParaRPr sz="1100">
              <a:latin typeface="Times New Roman"/>
              <a:cs typeface="Times New Roman"/>
            </a:endParaRPr>
          </a:p>
          <a:p>
            <a:pPr marL="240665" marR="5715">
              <a:lnSpc>
                <a:spcPts val="1270"/>
              </a:lnSpc>
              <a:spcBef>
                <a:spcPts val="60"/>
              </a:spcBef>
            </a:pP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try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find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resistance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readers.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collect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information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readers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prepare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 game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plan.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00">
              <a:latin typeface="Times New Roman"/>
              <a:cs typeface="Times New Roman"/>
            </a:endParaRPr>
          </a:p>
          <a:p>
            <a:pPr marL="469265" indent="-229235">
              <a:lnSpc>
                <a:spcPts val="1295"/>
              </a:lnSpc>
              <a:buAutoNum type="arabicPeriod" startAt="4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Persuasive:</a:t>
            </a:r>
            <a:endParaRPr sz="1100">
              <a:latin typeface="Times New Roman"/>
              <a:cs typeface="Times New Roman"/>
            </a:endParaRPr>
          </a:p>
          <a:p>
            <a:pPr marL="240665" marR="5715">
              <a:lnSpc>
                <a:spcPts val="1270"/>
              </a:lnSpc>
              <a:spcBef>
                <a:spcPts val="60"/>
              </a:spcBef>
            </a:pPr>
            <a:r>
              <a:rPr dirty="0" sz="1100" spc="-5">
                <a:latin typeface="Times New Roman"/>
                <a:cs typeface="Times New Roman"/>
              </a:rPr>
              <a:t>Good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writers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strong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communicators.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art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strong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oral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written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skills.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rhetorical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devices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exhibit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behavior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influence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readers.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360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043419" y="9493248"/>
            <a:ext cx="1016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972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84580" y="326843"/>
            <a:ext cx="6083300" cy="1194435"/>
          </a:xfrm>
          <a:prstGeom prst="rect">
            <a:avLst/>
          </a:prstGeom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  <a:tabLst>
                <a:tab pos="5869305" algn="l"/>
              </a:tabLst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l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</a:t>
            </a:r>
            <a:r>
              <a:rPr dirty="0" sz="1100" spc="-15">
                <a:solidFill>
                  <a:srgbClr val="323232"/>
                </a:solidFill>
                <a:latin typeface="Times New Roman"/>
                <a:cs typeface="Times New Roman"/>
              </a:rPr>
              <a:t>m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entary</a:t>
            </a:r>
            <a:r>
              <a:rPr dirty="0" sz="1100" spc="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g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lish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  <a:p>
            <a:pPr marL="241300" marR="27305">
              <a:lnSpc>
                <a:spcPts val="1270"/>
              </a:lnSpc>
              <a:spcBef>
                <a:spcPts val="204"/>
              </a:spcBef>
            </a:pPr>
            <a:r>
              <a:rPr dirty="0" sz="1100" spc="-5">
                <a:latin typeface="Times New Roman"/>
                <a:cs typeface="Times New Roman"/>
              </a:rPr>
              <a:t>know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readers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want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strong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ethics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morality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part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writer,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cooperation,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goodwill,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efficiency,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trust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etc.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exhibit 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same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virtues.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00">
              <a:latin typeface="Times New Roman"/>
              <a:cs typeface="Times New Roman"/>
            </a:endParaRPr>
          </a:p>
          <a:p>
            <a:pPr marL="241300">
              <a:lnSpc>
                <a:spcPts val="1295"/>
              </a:lnSpc>
            </a:pPr>
            <a:r>
              <a:rPr dirty="0" sz="1100" spc="-5">
                <a:latin typeface="Times New Roman"/>
                <a:cs typeface="Times New Roman"/>
              </a:rPr>
              <a:t>5.</a:t>
            </a:r>
            <a:r>
              <a:rPr dirty="0" sz="1100" spc="4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Knowledge of medium:</a:t>
            </a:r>
            <a:endParaRPr sz="1100">
              <a:latin typeface="Times New Roman"/>
              <a:cs typeface="Times New Roman"/>
            </a:endParaRPr>
          </a:p>
          <a:p>
            <a:pPr marL="241300" marR="26670">
              <a:lnSpc>
                <a:spcPts val="1270"/>
              </a:lnSpc>
              <a:spcBef>
                <a:spcPts val="60"/>
              </a:spcBef>
            </a:pPr>
            <a:r>
              <a:rPr dirty="0" sz="1100" spc="-5">
                <a:latin typeface="Times New Roman"/>
                <a:cs typeface="Times New Roman"/>
              </a:rPr>
              <a:t>Good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writers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medium: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most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effective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manner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according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reception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level 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 readers.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829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7380" y="342390"/>
            <a:ext cx="174498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 Elementary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84111" y="342390"/>
            <a:ext cx="22669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400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257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27359" y="869698"/>
            <a:ext cx="6062345" cy="88322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QUALITIES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GOOD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WRITING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150">
              <a:latin typeface="Times New Roman"/>
              <a:cs typeface="Times New Roman"/>
            </a:endParaRPr>
          </a:p>
          <a:p>
            <a:pPr marL="12700" marR="6985">
              <a:lnSpc>
                <a:spcPts val="1270"/>
              </a:lnSpc>
            </a:pPr>
            <a:r>
              <a:rPr dirty="0" sz="1100" spc="-5">
                <a:latin typeface="Times New Roman"/>
                <a:cs typeface="Times New Roman"/>
              </a:rPr>
              <a:t>“Anyone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who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wishes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produce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good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writing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should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endeavor,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before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allows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himself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tempted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showy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qualities,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direct,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simple,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brief,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vigorous, and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lucid</a:t>
            </a:r>
            <a:r>
              <a:rPr dirty="0" sz="1100" spc="-5">
                <a:latin typeface="Times New Roman"/>
                <a:cs typeface="Times New Roman"/>
              </a:rPr>
              <a:t>.”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30"/>
              </a:lnSpc>
            </a:pPr>
            <a:r>
              <a:rPr dirty="0" sz="1100" spc="-5">
                <a:latin typeface="Times New Roman"/>
                <a:cs typeface="Times New Roman"/>
              </a:rPr>
              <a:t>H.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Fowler/The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King’s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further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sys: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585"/>
              </a:spcBef>
              <a:buFont typeface="Wingdings"/>
              <a:buChar char="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Prefer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familiar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far-fetched.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575"/>
              </a:spcBef>
              <a:buFont typeface="Wingdings"/>
              <a:buChar char="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Prefer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concrete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abstract.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575"/>
              </a:spcBef>
              <a:buFont typeface="Wingdings"/>
              <a:buChar char="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Prefer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single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circumlocution.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575"/>
              </a:spcBef>
              <a:buFont typeface="Wingdings"/>
              <a:buChar char="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Prefer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short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long.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585"/>
              </a:spcBef>
              <a:buFont typeface="Wingdings"/>
              <a:buChar char="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Prefer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Saxon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Romance.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Wingdings"/>
              <a:buChar char=""/>
            </a:pPr>
            <a:endParaRPr sz="1600">
              <a:latin typeface="Times New Roman"/>
              <a:cs typeface="Times New Roman"/>
            </a:endParaRPr>
          </a:p>
          <a:p>
            <a:pPr algn="just" marL="12700" marR="6350">
              <a:lnSpc>
                <a:spcPct val="95800"/>
              </a:lnSpc>
            </a:pPr>
            <a:r>
              <a:rPr dirty="0" sz="1100" spc="-5">
                <a:latin typeface="Times New Roman"/>
                <a:cs typeface="Times New Roman"/>
              </a:rPr>
              <a:t>“The secret of good writing is </a:t>
            </a:r>
            <a:r>
              <a:rPr dirty="0" sz="1100" spc="-5" b="1">
                <a:latin typeface="Times New Roman"/>
                <a:cs typeface="Times New Roman"/>
              </a:rPr>
              <a:t>to strip every sentence to its cleanest components</a:t>
            </a:r>
            <a:r>
              <a:rPr dirty="0" sz="1100" spc="-5">
                <a:latin typeface="Times New Roman"/>
                <a:cs typeface="Times New Roman"/>
              </a:rPr>
              <a:t>. Every word that serves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function,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every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long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could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short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word,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every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adverb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carries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same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meanings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 already in the verb, every passive construction that leaves the reader unsure of who is doing what – these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thousand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adulterants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weaken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strength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message.”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William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Zinsser/On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Writing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Well</a:t>
            </a:r>
            <a:endParaRPr sz="1100">
              <a:latin typeface="Times New Roman"/>
              <a:cs typeface="Times New Roman"/>
            </a:endParaRPr>
          </a:p>
          <a:p>
            <a:pPr algn="just" marL="12700" marR="6350">
              <a:lnSpc>
                <a:spcPct val="143600"/>
              </a:lnSpc>
              <a:spcBef>
                <a:spcPts val="645"/>
              </a:spcBef>
            </a:pPr>
            <a:r>
              <a:rPr dirty="0" sz="1100" spc="-5">
                <a:latin typeface="Times New Roman"/>
                <a:cs typeface="Times New Roman"/>
              </a:rPr>
              <a:t>Our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success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journalists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depends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largely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how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well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communicate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our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readers.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Good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writing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help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that.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Whatever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your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writing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task-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publication,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newspaper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column,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article,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feature,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report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program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announcement-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guidelines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help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results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want.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Before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begin:</a:t>
            </a:r>
            <a:endParaRPr sz="1100">
              <a:latin typeface="Times New Roman"/>
              <a:cs typeface="Times New Roman"/>
            </a:endParaRPr>
          </a:p>
          <a:p>
            <a:pPr algn="just" lvl="1" marL="927100" marR="5715" indent="-228600">
              <a:lnSpc>
                <a:spcPts val="1900"/>
              </a:lnSpc>
              <a:spcBef>
                <a:spcPts val="155"/>
              </a:spcBef>
              <a:buSzPct val="90909"/>
              <a:buFont typeface="Symbol"/>
              <a:buChar char=""/>
              <a:tabLst>
                <a:tab pos="927735" algn="l"/>
              </a:tabLst>
            </a:pPr>
            <a:r>
              <a:rPr dirty="0" sz="1100" spc="-5">
                <a:latin typeface="Times New Roman"/>
                <a:cs typeface="Times New Roman"/>
              </a:rPr>
              <a:t>Decide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message.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Jot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down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single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describing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want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say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readers.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Limit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yourself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>
                <a:latin typeface="Times New Roman"/>
                <a:cs typeface="Times New Roman"/>
              </a:rPr>
              <a:t> than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three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ideas.</a:t>
            </a:r>
            <a:endParaRPr sz="1100">
              <a:latin typeface="Times New Roman"/>
              <a:cs typeface="Times New Roman"/>
            </a:endParaRPr>
          </a:p>
          <a:p>
            <a:pPr algn="just" lvl="1" marL="927100" indent="-229235">
              <a:lnSpc>
                <a:spcPct val="100000"/>
              </a:lnSpc>
              <a:spcBef>
                <a:spcPts val="415"/>
              </a:spcBef>
              <a:buSzPct val="90909"/>
              <a:buFont typeface="Symbol"/>
              <a:buChar char=""/>
              <a:tabLst>
                <a:tab pos="927735" algn="l"/>
              </a:tabLst>
            </a:pPr>
            <a:r>
              <a:rPr dirty="0" sz="1100" spc="-5">
                <a:latin typeface="Times New Roman"/>
                <a:cs typeface="Times New Roman"/>
              </a:rPr>
              <a:t>Know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audience.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they?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know?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attitudes?</a:t>
            </a:r>
            <a:endParaRPr sz="1100">
              <a:latin typeface="Times New Roman"/>
              <a:cs typeface="Times New Roman"/>
            </a:endParaRPr>
          </a:p>
          <a:p>
            <a:pPr algn="just" lvl="1" marL="927100" marR="5715" indent="-228600">
              <a:lnSpc>
                <a:spcPct val="143600"/>
              </a:lnSpc>
              <a:spcBef>
                <a:spcPts val="5"/>
              </a:spcBef>
              <a:buSzPct val="90909"/>
              <a:buFont typeface="Symbol"/>
              <a:buChar char=""/>
              <a:tabLst>
                <a:tab pos="927735" algn="l"/>
              </a:tabLst>
            </a:pPr>
            <a:r>
              <a:rPr dirty="0" sz="1100" spc="-5">
                <a:latin typeface="Times New Roman"/>
                <a:cs typeface="Times New Roman"/>
              </a:rPr>
              <a:t>Define</a:t>
            </a:r>
            <a:r>
              <a:rPr dirty="0" sz="1100">
                <a:latin typeface="Times New Roman"/>
                <a:cs typeface="Times New Roman"/>
              </a:rPr>
              <a:t> your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purpose.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>
                <a:latin typeface="Times New Roman"/>
                <a:cs typeface="Times New Roman"/>
              </a:rPr>
              <a:t> you're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trying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accomplish-to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inform,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persuade,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motivate?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750">
              <a:latin typeface="Times New Roman"/>
              <a:cs typeface="Times New Roman"/>
            </a:endParaRPr>
          </a:p>
          <a:p>
            <a:pPr algn="just" marL="12700" marR="6985">
              <a:lnSpc>
                <a:spcPts val="127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Keep </a:t>
            </a:r>
            <a:r>
              <a:rPr dirty="0" sz="1100">
                <a:latin typeface="Times New Roman"/>
                <a:cs typeface="Times New Roman"/>
              </a:rPr>
              <a:t>your </a:t>
            </a:r>
            <a:r>
              <a:rPr dirty="0" sz="1100" spc="-5">
                <a:latin typeface="Times New Roman"/>
                <a:cs typeface="Times New Roman"/>
              </a:rPr>
              <a:t>message, audience and purpose in mind as you write. This will help </a:t>
            </a:r>
            <a:r>
              <a:rPr dirty="0" sz="1100">
                <a:latin typeface="Times New Roman"/>
                <a:cs typeface="Times New Roman"/>
              </a:rPr>
              <a:t>you </a:t>
            </a:r>
            <a:r>
              <a:rPr dirty="0" sz="1100" spc="-5">
                <a:latin typeface="Times New Roman"/>
                <a:cs typeface="Times New Roman"/>
              </a:rPr>
              <a:t>choose the words that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best convey your thoughts, communicate with </a:t>
            </a:r>
            <a:r>
              <a:rPr dirty="0" sz="1100">
                <a:latin typeface="Times New Roman"/>
                <a:cs typeface="Times New Roman"/>
              </a:rPr>
              <a:t>your </a:t>
            </a:r>
            <a:r>
              <a:rPr dirty="0" sz="1100" spc="-5">
                <a:latin typeface="Times New Roman"/>
                <a:cs typeface="Times New Roman"/>
              </a:rPr>
              <a:t>readers, and set the correct tone for your purpose. In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good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writing, one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size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all!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080">
              <a:lnSpc>
                <a:spcPts val="1260"/>
              </a:lnSpc>
            </a:pPr>
            <a:r>
              <a:rPr dirty="0" sz="1100" spc="-5">
                <a:latin typeface="Times New Roman"/>
                <a:cs typeface="Times New Roman"/>
              </a:rPr>
              <a:t>Goes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without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saying,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good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expresses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clear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point,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tightly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structured,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grammatically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syntactically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correct,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substantive,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interesting.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 algn="just" marL="12700" marR="6350">
              <a:lnSpc>
                <a:spcPts val="1270"/>
              </a:lnSpc>
            </a:pPr>
            <a:r>
              <a:rPr dirty="0" sz="1100" spc="-5" b="1">
                <a:latin typeface="Times New Roman"/>
                <a:cs typeface="Times New Roman"/>
              </a:rPr>
              <a:t>To express a clear point </a:t>
            </a:r>
            <a:r>
              <a:rPr dirty="0" sz="1100" spc="-5">
                <a:latin typeface="Times New Roman"/>
                <a:cs typeface="Times New Roman"/>
              </a:rPr>
              <a:t>means to convey the writer's main idea or--in the case of descriptive writing--the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significance of the object, place or person described; in </a:t>
            </a:r>
            <a:r>
              <a:rPr dirty="0" sz="1100">
                <a:latin typeface="Times New Roman"/>
                <a:cs typeface="Times New Roman"/>
              </a:rPr>
              <a:t>other </a:t>
            </a:r>
            <a:r>
              <a:rPr dirty="0" sz="1100" spc="-5">
                <a:latin typeface="Times New Roman"/>
                <a:cs typeface="Times New Roman"/>
              </a:rPr>
              <a:t>words, an attentive reader should be able to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grasp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writer's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purpose.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 marR="5715">
              <a:lnSpc>
                <a:spcPts val="1270"/>
              </a:lnSpc>
            </a:pPr>
            <a:r>
              <a:rPr dirty="0" sz="1100" spc="-5" b="1">
                <a:latin typeface="Times New Roman"/>
                <a:cs typeface="Times New Roman"/>
              </a:rPr>
              <a:t>To be tightly structured, </a:t>
            </a:r>
            <a:r>
              <a:rPr dirty="0" sz="1100" spc="-5">
                <a:latin typeface="Times New Roman"/>
                <a:cs typeface="Times New Roman"/>
              </a:rPr>
              <a:t>writing should contain logical or associative connections and transitions which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clearly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express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relationship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described.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 marR="5715">
              <a:lnSpc>
                <a:spcPct val="95700"/>
              </a:lnSpc>
            </a:pPr>
            <a:r>
              <a:rPr dirty="0" sz="1100" spc="-5" b="1">
                <a:latin typeface="Times New Roman"/>
                <a:cs typeface="Times New Roman"/>
              </a:rPr>
              <a:t>To be grammatically and syntactically correct, </a:t>
            </a:r>
            <a:r>
              <a:rPr dirty="0" sz="1100" spc="-5">
                <a:latin typeface="Times New Roman"/>
                <a:cs typeface="Times New Roman"/>
              </a:rPr>
              <a:t>writing should adhere to the rules of Standard American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English, including proper punctuation and spelling. If writers choose to use unconventional syntax, they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should be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able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justify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choices.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100">
              <a:latin typeface="Times New Roman"/>
              <a:cs typeface="Times New Roman"/>
            </a:endParaRPr>
          </a:p>
          <a:p>
            <a:pPr algn="just" marL="12700" marR="5080">
              <a:lnSpc>
                <a:spcPts val="1270"/>
              </a:lnSpc>
            </a:pPr>
            <a:r>
              <a:rPr dirty="0" sz="1100" spc="-5" b="1">
                <a:latin typeface="Times New Roman"/>
                <a:cs typeface="Times New Roman"/>
              </a:rPr>
              <a:t>To be substantive, </a:t>
            </a:r>
            <a:r>
              <a:rPr dirty="0" sz="1100" spc="-5">
                <a:latin typeface="Times New Roman"/>
                <a:cs typeface="Times New Roman"/>
              </a:rPr>
              <a:t>writing should convey the impression that the writer is informed about the subject. 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writer need not be an authority on the subject but should demonstrate awareness of its significance and its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implications</a:t>
            </a:r>
            <a:r>
              <a:rPr dirty="0" sz="1100" spc="2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within</a:t>
            </a:r>
            <a:r>
              <a:rPr dirty="0" sz="1100" spc="2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2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specified</a:t>
            </a:r>
            <a:r>
              <a:rPr dirty="0" sz="1100" spc="2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context.</a:t>
            </a:r>
            <a:r>
              <a:rPr dirty="0" sz="1100" spc="2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Informed</a:t>
            </a:r>
            <a:r>
              <a:rPr dirty="0" sz="1100" spc="2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writing</a:t>
            </a:r>
            <a:r>
              <a:rPr dirty="0" sz="1100" spc="2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might</a:t>
            </a:r>
            <a:r>
              <a:rPr dirty="0" sz="1100" spc="2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include</a:t>
            </a:r>
            <a:r>
              <a:rPr dirty="0" sz="1100" spc="2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any</a:t>
            </a:r>
            <a:r>
              <a:rPr dirty="0" sz="1100" spc="2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2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 spc="2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2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following:</a:t>
            </a:r>
            <a:endParaRPr sz="1100">
              <a:latin typeface="Times New Roman"/>
              <a:cs typeface="Times New Roman"/>
            </a:endParaRPr>
          </a:p>
          <a:p>
            <a:pPr algn="just" marL="1564005">
              <a:lnSpc>
                <a:spcPct val="100000"/>
              </a:lnSpc>
              <a:spcBef>
                <a:spcPts val="425"/>
              </a:spcBef>
              <a:tabLst>
                <a:tab pos="5970905" algn="l"/>
              </a:tabLst>
            </a:pPr>
            <a:r>
              <a:rPr dirty="0" sz="1200">
                <a:latin typeface="Times New Roman"/>
                <a:cs typeface="Times New Roman"/>
              </a:rPr>
              <a:t>© Copyrights Virtual Uni</a:t>
            </a:r>
            <a:r>
              <a:rPr dirty="0" sz="1200" spc="-5">
                <a:latin typeface="Times New Roman"/>
                <a:cs typeface="Times New Roman"/>
              </a:rPr>
              <a:t>v</a:t>
            </a:r>
            <a:r>
              <a:rPr dirty="0" sz="1200">
                <a:latin typeface="Times New Roman"/>
                <a:cs typeface="Times New Roman"/>
              </a:rPr>
              <a:t>ersity of Pakistan	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82132" y="526034"/>
            <a:ext cx="80581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LECTURE</a:t>
            </a:r>
            <a:r>
              <a:rPr dirty="0" u="heavy" sz="1100" spc="-6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4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360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043419" y="9493248"/>
            <a:ext cx="1016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972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84566" y="326843"/>
            <a:ext cx="6083300" cy="4048760"/>
          </a:xfrm>
          <a:prstGeom prst="rect">
            <a:avLst/>
          </a:prstGeom>
        </p:spPr>
        <p:txBody>
          <a:bodyPr wrap="square" lIns="0" tIns="2794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220"/>
              </a:spcBef>
              <a:tabLst>
                <a:tab pos="5869305" algn="l"/>
              </a:tabLst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l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</a:t>
            </a:r>
            <a:r>
              <a:rPr dirty="0" sz="1100" spc="-15">
                <a:solidFill>
                  <a:srgbClr val="323232"/>
                </a:solidFill>
                <a:latin typeface="Times New Roman"/>
                <a:cs typeface="Times New Roman"/>
              </a:rPr>
              <a:t>m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entary</a:t>
            </a:r>
            <a:r>
              <a:rPr dirty="0" sz="1100" spc="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g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lish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  <a:p>
            <a:pPr algn="just" marL="12700" marR="27305">
              <a:lnSpc>
                <a:spcPts val="1270"/>
              </a:lnSpc>
              <a:spcBef>
                <a:spcPts val="204"/>
              </a:spcBef>
            </a:pPr>
            <a:r>
              <a:rPr dirty="0" sz="1100" spc="-5">
                <a:latin typeface="Times New Roman"/>
                <a:cs typeface="Times New Roman"/>
              </a:rPr>
              <a:t>citations of authorities; experiential evidence; discussion of debatable issues related to it, and relevant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questions it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raises.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 marR="26670">
              <a:lnSpc>
                <a:spcPts val="1270"/>
              </a:lnSpc>
            </a:pPr>
            <a:r>
              <a:rPr dirty="0" sz="1100" spc="-5" b="1">
                <a:latin typeface="Times New Roman"/>
                <a:cs typeface="Times New Roman"/>
              </a:rPr>
              <a:t>To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be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interesting,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should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engage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readers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through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original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insights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precise,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uncliched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expressed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"human"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voice.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should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demonstrate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writer's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awareness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specific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audience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whom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she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writing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(the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audience's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degree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knowledge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subject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well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age,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ethnic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background,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gender,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assumptions).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100">
              <a:latin typeface="Times New Roman"/>
              <a:cs typeface="Times New Roman"/>
            </a:endParaRPr>
          </a:p>
          <a:p>
            <a:pPr algn="just" marL="12700" marR="26034">
              <a:lnSpc>
                <a:spcPct val="102299"/>
              </a:lnSpc>
            </a:pPr>
            <a:r>
              <a:rPr dirty="0" sz="1100" spc="-5">
                <a:latin typeface="Times New Roman"/>
                <a:cs typeface="Times New Roman"/>
              </a:rPr>
              <a:t>Moreover, the general characteristics of good writing are, </a:t>
            </a:r>
            <a:r>
              <a:rPr dirty="0" sz="1100">
                <a:latin typeface="Times New Roman"/>
                <a:cs typeface="Times New Roman"/>
              </a:rPr>
              <a:t>clarity </a:t>
            </a:r>
            <a:r>
              <a:rPr dirty="0" sz="1100" spc="-5">
                <a:latin typeface="Times New Roman"/>
                <a:cs typeface="Times New Roman"/>
              </a:rPr>
              <a:t>completeness, conciseness, </a:t>
            </a:r>
            <a:r>
              <a:rPr dirty="0" sz="1100">
                <a:latin typeface="Times New Roman"/>
                <a:cs typeface="Times New Roman"/>
              </a:rPr>
              <a:t>creativity,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consideration,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correctness,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credibility,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courtesy,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concreteness.</a:t>
            </a:r>
            <a:endParaRPr sz="1100">
              <a:latin typeface="Times New Roman"/>
              <a:cs typeface="Times New Roman"/>
            </a:endParaRPr>
          </a:p>
          <a:p>
            <a:pPr algn="just" marL="469900" marR="26670" indent="-228600">
              <a:lnSpc>
                <a:spcPct val="143600"/>
              </a:lnSpc>
              <a:spcBef>
                <a:spcPts val="725"/>
              </a:spcBef>
              <a:buAutoNum type="arabicPeriod"/>
              <a:tabLst>
                <a:tab pos="469900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Be clear: </a:t>
            </a:r>
            <a:r>
              <a:rPr dirty="0" sz="1100">
                <a:latin typeface="Times New Roman"/>
                <a:cs typeface="Times New Roman"/>
              </a:rPr>
              <a:t>have </a:t>
            </a:r>
            <a:r>
              <a:rPr dirty="0" sz="1100" spc="-5">
                <a:latin typeface="Times New Roman"/>
                <a:cs typeface="Times New Roman"/>
              </a:rPr>
              <a:t>a definite purpose for writing and make sure it is clearly communicated up front. Be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bold and connect quickly. In the midst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 the typhoon we needed to be clear on our commands or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risk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adverse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reactions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sea.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Check:</a:t>
            </a:r>
            <a:endParaRPr sz="1100">
              <a:latin typeface="Times New Roman"/>
              <a:cs typeface="Times New Roman"/>
            </a:endParaRPr>
          </a:p>
          <a:p>
            <a:pPr lvl="1" marL="926465" indent="-229235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927100" algn="l"/>
              </a:tabLst>
            </a:pPr>
            <a:r>
              <a:rPr dirty="0" sz="1100" spc="-5">
                <a:latin typeface="Times New Roman"/>
                <a:cs typeface="Times New Roman"/>
              </a:rPr>
              <a:t>Choose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short,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familiar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conversational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words.</a:t>
            </a:r>
            <a:endParaRPr sz="1100">
              <a:latin typeface="Times New Roman"/>
              <a:cs typeface="Times New Roman"/>
            </a:endParaRPr>
          </a:p>
          <a:p>
            <a:pPr lvl="1" marL="926465" indent="-229235">
              <a:lnSpc>
                <a:spcPct val="100000"/>
              </a:lnSpc>
              <a:spcBef>
                <a:spcPts val="580"/>
              </a:spcBef>
              <a:buAutoNum type="arabicPeriod"/>
              <a:tabLst>
                <a:tab pos="9271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Construct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effective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sentences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paragraphs</a:t>
            </a:r>
            <a:endParaRPr sz="1100">
              <a:latin typeface="Times New Roman"/>
              <a:cs typeface="Times New Roman"/>
            </a:endParaRPr>
          </a:p>
          <a:p>
            <a:pPr lvl="1" marL="926465" indent="-229235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927100" algn="l"/>
              </a:tabLst>
            </a:pPr>
            <a:r>
              <a:rPr dirty="0" sz="1100" spc="-5">
                <a:latin typeface="Times New Roman"/>
                <a:cs typeface="Times New Roman"/>
              </a:rPr>
              <a:t>Achieve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appropriate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readability</a:t>
            </a:r>
            <a:endParaRPr sz="1100">
              <a:latin typeface="Times New Roman"/>
              <a:cs typeface="Times New Roman"/>
            </a:endParaRPr>
          </a:p>
          <a:p>
            <a:pPr lvl="1" marL="926465" indent="-229235">
              <a:lnSpc>
                <a:spcPct val="100000"/>
              </a:lnSpc>
              <a:spcBef>
                <a:spcPts val="580"/>
              </a:spcBef>
              <a:buAutoNum type="arabicPeriod"/>
              <a:tabLst>
                <a:tab pos="927100" algn="l"/>
              </a:tabLst>
            </a:pPr>
            <a:r>
              <a:rPr dirty="0" sz="1100" spc="-5">
                <a:latin typeface="Times New Roman"/>
                <a:cs typeface="Times New Roman"/>
              </a:rPr>
              <a:t>Include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examples,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illustrations,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visual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aids,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when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desirable.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55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CHOOSE</a:t>
            </a:r>
            <a:r>
              <a:rPr dirty="0" sz="1100">
                <a:latin typeface="Times New Roman"/>
                <a:cs typeface="Times New Roman"/>
              </a:rPr>
              <a:t> SHORT,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FAMILIAR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CONVERSATIONAL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829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405889" y="4527803"/>
          <a:ext cx="5420995" cy="25895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05735"/>
                <a:gridCol w="2705735"/>
              </a:tblGrid>
              <a:tr h="166878">
                <a:tc>
                  <a:txBody>
                    <a:bodyPr/>
                    <a:lstStyle/>
                    <a:p>
                      <a:pPr marL="67945">
                        <a:lnSpc>
                          <a:spcPts val="1215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FAMILIAR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15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PRETENTIOUS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16301">
                <a:tc>
                  <a:txBody>
                    <a:bodyPr/>
                    <a:lstStyle/>
                    <a:p>
                      <a:pPr marL="525780" indent="-228600">
                        <a:lnSpc>
                          <a:spcPts val="1265"/>
                        </a:lnSpc>
                        <a:buFont typeface="Wingdings"/>
                        <a:buChar char=""/>
                        <a:tabLst>
                          <a:tab pos="525780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About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525780" indent="-228600">
                        <a:lnSpc>
                          <a:spcPct val="100000"/>
                        </a:lnSpc>
                        <a:spcBef>
                          <a:spcPts val="575"/>
                        </a:spcBef>
                        <a:buFont typeface="Wingdings"/>
                        <a:buChar char=""/>
                        <a:tabLst>
                          <a:tab pos="525780" algn="l"/>
                        </a:tabLst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After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525780" indent="-228600">
                        <a:lnSpc>
                          <a:spcPct val="100000"/>
                        </a:lnSpc>
                        <a:spcBef>
                          <a:spcPts val="575"/>
                        </a:spcBef>
                        <a:buFont typeface="Wingdings"/>
                        <a:buChar char=""/>
                        <a:tabLst>
                          <a:tab pos="525780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Announce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525780" indent="-228600">
                        <a:lnSpc>
                          <a:spcPct val="100000"/>
                        </a:lnSpc>
                        <a:spcBef>
                          <a:spcPts val="585"/>
                        </a:spcBef>
                        <a:buFont typeface="Wingdings"/>
                        <a:buChar char=""/>
                        <a:tabLst>
                          <a:tab pos="525780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Error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525780" indent="-228600">
                        <a:lnSpc>
                          <a:spcPct val="100000"/>
                        </a:lnSpc>
                        <a:spcBef>
                          <a:spcPts val="575"/>
                        </a:spcBef>
                        <a:buFont typeface="Wingdings"/>
                        <a:buChar char=""/>
                        <a:tabLst>
                          <a:tab pos="525780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example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525780" indent="-228600">
                        <a:lnSpc>
                          <a:spcPct val="100000"/>
                        </a:lnSpc>
                        <a:spcBef>
                          <a:spcPts val="575"/>
                        </a:spcBef>
                        <a:buFont typeface="Wingdings"/>
                        <a:buChar char=""/>
                        <a:tabLst>
                          <a:tab pos="525780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Home;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house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525780" indent="-228600">
                        <a:lnSpc>
                          <a:spcPct val="100000"/>
                        </a:lnSpc>
                        <a:spcBef>
                          <a:spcPts val="575"/>
                        </a:spcBef>
                        <a:buFont typeface="Wingdings"/>
                        <a:buChar char=""/>
                        <a:tabLst>
                          <a:tab pos="525780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Pay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525780" indent="-228600">
                        <a:lnSpc>
                          <a:spcPct val="100000"/>
                        </a:lnSpc>
                        <a:spcBef>
                          <a:spcPts val="575"/>
                        </a:spcBef>
                        <a:buFont typeface="Wingdings"/>
                        <a:buChar char=""/>
                        <a:tabLst>
                          <a:tab pos="525780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525780" indent="-228600">
                        <a:lnSpc>
                          <a:spcPct val="100000"/>
                        </a:lnSpc>
                        <a:spcBef>
                          <a:spcPts val="585"/>
                        </a:spcBef>
                        <a:buFont typeface="Wingdings"/>
                        <a:buChar char=""/>
                        <a:tabLst>
                          <a:tab pos="525780" algn="l"/>
                        </a:tabLst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use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5145" indent="-229235">
                        <a:lnSpc>
                          <a:spcPts val="1265"/>
                        </a:lnSpc>
                        <a:buFont typeface="Wingdings"/>
                        <a:buChar char=""/>
                        <a:tabLst>
                          <a:tab pos="525780" algn="l"/>
                        </a:tabLst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Circa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525145" indent="-229235">
                        <a:lnSpc>
                          <a:spcPct val="100000"/>
                        </a:lnSpc>
                        <a:spcBef>
                          <a:spcPts val="575"/>
                        </a:spcBef>
                        <a:buFont typeface="Wingdings"/>
                        <a:buChar char=""/>
                        <a:tabLst>
                          <a:tab pos="525780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Subsequent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525145" indent="-229235">
                        <a:lnSpc>
                          <a:spcPct val="100000"/>
                        </a:lnSpc>
                        <a:spcBef>
                          <a:spcPts val="575"/>
                        </a:spcBef>
                        <a:buFont typeface="Wingdings"/>
                        <a:buChar char=""/>
                        <a:tabLst>
                          <a:tab pos="525780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Promulgate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525145" indent="-229235">
                        <a:lnSpc>
                          <a:spcPct val="100000"/>
                        </a:lnSpc>
                        <a:spcBef>
                          <a:spcPts val="585"/>
                        </a:spcBef>
                        <a:buFont typeface="Wingdings"/>
                        <a:buChar char=""/>
                        <a:tabLst>
                          <a:tab pos="525780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Inadvertency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525145" indent="-229235">
                        <a:lnSpc>
                          <a:spcPct val="100000"/>
                        </a:lnSpc>
                        <a:spcBef>
                          <a:spcPts val="575"/>
                        </a:spcBef>
                        <a:buFont typeface="Wingdings"/>
                        <a:buChar char=""/>
                        <a:tabLst>
                          <a:tab pos="525780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e.g.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525145" indent="-229235">
                        <a:lnSpc>
                          <a:spcPct val="100000"/>
                        </a:lnSpc>
                        <a:spcBef>
                          <a:spcPts val="575"/>
                        </a:spcBef>
                        <a:buFont typeface="Wingdings"/>
                        <a:buChar char=""/>
                        <a:tabLst>
                          <a:tab pos="525780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Domicile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525145" indent="-229235">
                        <a:lnSpc>
                          <a:spcPct val="100000"/>
                        </a:lnSpc>
                        <a:spcBef>
                          <a:spcPts val="575"/>
                        </a:spcBef>
                        <a:buFont typeface="Wingdings"/>
                        <a:buChar char=""/>
                        <a:tabLst>
                          <a:tab pos="525780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Remuneration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525145" indent="-229235">
                        <a:lnSpc>
                          <a:spcPct val="100000"/>
                        </a:lnSpc>
                        <a:spcBef>
                          <a:spcPts val="575"/>
                        </a:spcBef>
                        <a:buFont typeface="Wingdings"/>
                        <a:buChar char=""/>
                        <a:tabLst>
                          <a:tab pos="525780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i.e.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525145" indent="-229235">
                        <a:lnSpc>
                          <a:spcPct val="100000"/>
                        </a:lnSpc>
                        <a:spcBef>
                          <a:spcPts val="585"/>
                        </a:spcBef>
                        <a:buFont typeface="Wingdings"/>
                        <a:buChar char=""/>
                        <a:tabLst>
                          <a:tab pos="525780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Utilization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1084580" y="7254492"/>
            <a:ext cx="6059805" cy="2120265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>
              <a:lnSpc>
                <a:spcPts val="1270"/>
              </a:lnSpc>
              <a:spcBef>
                <a:spcPts val="180"/>
              </a:spcBef>
            </a:pPr>
            <a:r>
              <a:rPr dirty="0" sz="1100" spc="-5">
                <a:latin typeface="Times New Roman"/>
                <a:cs typeface="Times New Roman"/>
              </a:rPr>
              <a:t>Before: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After</a:t>
            </a:r>
            <a:r>
              <a:rPr dirty="0" sz="1100" spc="15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our</a:t>
            </a:r>
            <a:r>
              <a:rPr dirty="0" sz="1100" spc="16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perusal</a:t>
            </a:r>
            <a:r>
              <a:rPr dirty="0" sz="1100" spc="15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of</a:t>
            </a:r>
            <a:r>
              <a:rPr dirty="0" sz="1100" spc="15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pertinent</a:t>
            </a:r>
            <a:r>
              <a:rPr dirty="0" sz="1100" spc="16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data</a:t>
            </a:r>
            <a:r>
              <a:rPr dirty="0" sz="1100" spc="15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the</a:t>
            </a:r>
            <a:r>
              <a:rPr dirty="0" sz="1100" spc="15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conclusion</a:t>
            </a:r>
            <a:r>
              <a:rPr dirty="0" sz="1100" spc="15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is</a:t>
            </a:r>
            <a:r>
              <a:rPr dirty="0" sz="1100" spc="16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that</a:t>
            </a:r>
            <a:r>
              <a:rPr dirty="0" sz="1100" spc="15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</a:t>
            </a:r>
            <a:r>
              <a:rPr dirty="0" sz="1100" spc="16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lucrative</a:t>
            </a:r>
            <a:r>
              <a:rPr dirty="0" sz="1100" spc="16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market</a:t>
            </a:r>
            <a:r>
              <a:rPr dirty="0" sz="1100" spc="16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exists</a:t>
            </a:r>
            <a:r>
              <a:rPr dirty="0" sz="1100" spc="15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for</a:t>
            </a:r>
            <a:r>
              <a:rPr dirty="0" sz="1100" spc="16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the </a:t>
            </a:r>
            <a:r>
              <a:rPr dirty="0" sz="1100" spc="-26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subject property.</a:t>
            </a:r>
            <a:endParaRPr sz="1100">
              <a:latin typeface="Times New Roman"/>
              <a:cs typeface="Times New Roman"/>
            </a:endParaRPr>
          </a:p>
          <a:p>
            <a:pPr marL="12700" marR="1294765">
              <a:lnSpc>
                <a:spcPts val="2530"/>
              </a:lnSpc>
              <a:spcBef>
                <a:spcPts val="245"/>
              </a:spcBef>
            </a:pPr>
            <a:r>
              <a:rPr dirty="0" sz="1100" spc="-5">
                <a:latin typeface="Times New Roman"/>
                <a:cs typeface="Times New Roman"/>
              </a:rPr>
              <a:t>After: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data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studied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show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property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profitable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high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demand.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CONSTRUCT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EFFECTIVE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PARAGRAPHS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90"/>
              </a:lnSpc>
              <a:spcBef>
                <a:spcPts val="925"/>
              </a:spcBef>
            </a:pPr>
            <a:r>
              <a:rPr dirty="0" sz="1100" spc="-5" b="1">
                <a:latin typeface="Times New Roman"/>
                <a:cs typeface="Times New Roman"/>
              </a:rPr>
              <a:t>Length: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265"/>
              </a:lnSpc>
            </a:pPr>
            <a:r>
              <a:rPr dirty="0" sz="1100" spc="-5">
                <a:latin typeface="Times New Roman"/>
                <a:cs typeface="Times New Roman"/>
              </a:rPr>
              <a:t>ASL: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17 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20 words.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295"/>
              </a:lnSpc>
            </a:pPr>
            <a:r>
              <a:rPr dirty="0" sz="1100" spc="-5">
                <a:latin typeface="Times New Roman"/>
                <a:cs typeface="Times New Roman"/>
              </a:rPr>
              <a:t>Range: 3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30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 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285"/>
              </a:lnSpc>
              <a:spcBef>
                <a:spcPts val="5"/>
              </a:spcBef>
            </a:pPr>
            <a:r>
              <a:rPr dirty="0" sz="1100" spc="-5" b="1">
                <a:latin typeface="Times New Roman"/>
                <a:cs typeface="Times New Roman"/>
              </a:rPr>
              <a:t>Unity: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285"/>
              </a:lnSpc>
            </a:pPr>
            <a:r>
              <a:rPr dirty="0" sz="1100" spc="-5">
                <a:latin typeface="Times New Roman"/>
                <a:cs typeface="Times New Roman"/>
              </a:rPr>
              <a:t>“I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like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Tom,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Eiffel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Tower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Paris.”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(Incorrect,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unity)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7380" y="342390"/>
            <a:ext cx="174498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 Elementary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84111" y="342390"/>
            <a:ext cx="22669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400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257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27352" y="686819"/>
            <a:ext cx="6061710" cy="90150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29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Coherence:</a:t>
            </a:r>
            <a:endParaRPr sz="1100">
              <a:latin typeface="Times New Roman"/>
              <a:cs typeface="Times New Roman"/>
            </a:endParaRPr>
          </a:p>
          <a:p>
            <a:pPr marL="469900" indent="-229235">
              <a:lnSpc>
                <a:spcPts val="1260"/>
              </a:lnSpc>
              <a:buAutoNum type="arabicPeriod"/>
              <a:tabLst>
                <a:tab pos="470534" algn="l"/>
              </a:tabLst>
            </a:pPr>
            <a:r>
              <a:rPr dirty="0" sz="1100" spc="-5">
                <a:latin typeface="Times New Roman"/>
                <a:cs typeface="Times New Roman"/>
              </a:rPr>
              <a:t>Before:</a:t>
            </a:r>
            <a:endParaRPr sz="1100">
              <a:latin typeface="Times New Roman"/>
              <a:cs typeface="Times New Roman"/>
            </a:endParaRPr>
          </a:p>
          <a:p>
            <a:pPr marL="432434" marR="2521585" indent="36830">
              <a:lnSpc>
                <a:spcPts val="1270"/>
              </a:lnSpc>
              <a:spcBef>
                <a:spcPts val="55"/>
              </a:spcBef>
            </a:pPr>
            <a:r>
              <a:rPr dirty="0" sz="1100" spc="-5">
                <a:latin typeface="Times New Roman"/>
                <a:cs typeface="Times New Roman"/>
              </a:rPr>
              <a:t>“Being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excellent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lawyer,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I’m </a:t>
            </a:r>
            <a:r>
              <a:rPr dirty="0" sz="1100" spc="-5">
                <a:latin typeface="Times New Roman"/>
                <a:cs typeface="Times New Roman"/>
              </a:rPr>
              <a:t>sure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help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us.”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After: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205"/>
              </a:lnSpc>
            </a:pPr>
            <a:r>
              <a:rPr dirty="0" sz="1100" spc="-5" b="1">
                <a:latin typeface="Times New Roman"/>
                <a:cs typeface="Times New Roman"/>
              </a:rPr>
              <a:t>As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you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are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an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excellent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lawyer,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am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sure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you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can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help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us.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265"/>
              </a:lnSpc>
            </a:pPr>
            <a:r>
              <a:rPr dirty="0" sz="1100" spc="-10" i="1">
                <a:latin typeface="Times New Roman"/>
                <a:cs typeface="Times New Roman"/>
              </a:rPr>
              <a:t>Or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295"/>
              </a:lnSpc>
            </a:pPr>
            <a:r>
              <a:rPr dirty="0" sz="1100" spc="-5" b="1">
                <a:latin typeface="Times New Roman"/>
                <a:cs typeface="Times New Roman"/>
              </a:rPr>
              <a:t>Being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an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excellent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lawyer,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you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can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surely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help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us.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0">
              <a:latin typeface="Times New Roman"/>
              <a:cs typeface="Times New Roman"/>
            </a:endParaRPr>
          </a:p>
          <a:p>
            <a:pPr marL="469900" indent="-228600">
              <a:lnSpc>
                <a:spcPts val="1295"/>
              </a:lnSpc>
              <a:buAutoNum type="arabicPeriod" startAt="2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Before:</a:t>
            </a:r>
            <a:endParaRPr sz="1100">
              <a:latin typeface="Times New Roman"/>
              <a:cs typeface="Times New Roman"/>
            </a:endParaRPr>
          </a:p>
          <a:p>
            <a:pPr marL="469900" marR="2028825">
              <a:lnSpc>
                <a:spcPts val="1270"/>
              </a:lnSpc>
              <a:spcBef>
                <a:spcPts val="55"/>
              </a:spcBef>
            </a:pPr>
            <a:r>
              <a:rPr dirty="0" sz="1100" spc="-5">
                <a:latin typeface="Times New Roman"/>
                <a:cs typeface="Times New Roman"/>
              </a:rPr>
              <a:t>“His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report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managers,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broken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down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age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sex.”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After: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205"/>
              </a:lnSpc>
            </a:pPr>
            <a:r>
              <a:rPr dirty="0" sz="1100" spc="-5" b="1">
                <a:latin typeface="Times New Roman"/>
                <a:cs typeface="Times New Roman"/>
              </a:rPr>
              <a:t>His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report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focused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on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age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and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sex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of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managers.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265"/>
              </a:lnSpc>
            </a:pPr>
            <a:r>
              <a:rPr dirty="0" sz="1100" spc="-10" i="1">
                <a:latin typeface="Times New Roman"/>
                <a:cs typeface="Times New Roman"/>
              </a:rPr>
              <a:t>Or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290"/>
              </a:lnSpc>
            </a:pPr>
            <a:r>
              <a:rPr dirty="0" sz="1100" spc="-5" b="1">
                <a:latin typeface="Times New Roman"/>
                <a:cs typeface="Times New Roman"/>
              </a:rPr>
              <a:t>His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report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about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managers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focused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on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their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age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and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sex.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290"/>
              </a:lnSpc>
            </a:pPr>
            <a:r>
              <a:rPr dirty="0" sz="1100" spc="-5" b="1">
                <a:latin typeface="Times New Roman"/>
                <a:cs typeface="Times New Roman"/>
              </a:rPr>
              <a:t>Emphasis:</a:t>
            </a:r>
            <a:endParaRPr sz="1100">
              <a:latin typeface="Times New Roman"/>
              <a:cs typeface="Times New Roman"/>
            </a:endParaRPr>
          </a:p>
          <a:p>
            <a:pPr marL="12700" marR="5080" indent="456565">
              <a:lnSpc>
                <a:spcPts val="1270"/>
              </a:lnSpc>
              <a:spcBef>
                <a:spcPts val="55"/>
              </a:spcBef>
            </a:pPr>
            <a:r>
              <a:rPr dirty="0" sz="1100" spc="-5">
                <a:latin typeface="Times New Roman"/>
                <a:cs typeface="Times New Roman"/>
              </a:rPr>
              <a:t>Before: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“The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airplane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finally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approached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speed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sound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became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very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difficult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control.”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200"/>
              </a:lnSpc>
            </a:pPr>
            <a:r>
              <a:rPr dirty="0" sz="1100" spc="-5">
                <a:latin typeface="Times New Roman"/>
                <a:cs typeface="Times New Roman"/>
              </a:rPr>
              <a:t>After: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As</a:t>
            </a:r>
            <a:r>
              <a:rPr dirty="0" sz="1100" spc="25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it</a:t>
            </a:r>
            <a:r>
              <a:rPr dirty="0" sz="1100" spc="25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finally</a:t>
            </a:r>
            <a:r>
              <a:rPr dirty="0" sz="1100" spc="23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approached</a:t>
            </a:r>
            <a:r>
              <a:rPr dirty="0" sz="1100" spc="25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</a:t>
            </a:r>
            <a:r>
              <a:rPr dirty="0" sz="1100" spc="24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speed</a:t>
            </a:r>
            <a:r>
              <a:rPr dirty="0" sz="1100" spc="24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of</a:t>
            </a:r>
            <a:r>
              <a:rPr dirty="0" sz="1100" spc="25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sound,</a:t>
            </a:r>
            <a:r>
              <a:rPr dirty="0" sz="1100" spc="25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</a:t>
            </a:r>
            <a:r>
              <a:rPr dirty="0" sz="1100" spc="25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airplane</a:t>
            </a:r>
            <a:r>
              <a:rPr dirty="0" sz="1100" spc="24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became</a:t>
            </a:r>
            <a:r>
              <a:rPr dirty="0" sz="1100" spc="25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very</a:t>
            </a:r>
            <a:r>
              <a:rPr dirty="0" sz="1100" spc="25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difficult</a:t>
            </a:r>
            <a:r>
              <a:rPr dirty="0" sz="1100" spc="24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to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95"/>
              </a:lnSpc>
            </a:pPr>
            <a:r>
              <a:rPr dirty="0" sz="1100" spc="-5" b="1">
                <a:latin typeface="Times New Roman"/>
                <a:cs typeface="Times New Roman"/>
              </a:rPr>
              <a:t>control.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Achieve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appropriate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readability: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 marL="469265" indent="-229235">
              <a:lnSpc>
                <a:spcPts val="1290"/>
              </a:lnSpc>
              <a:buAutoNum type="arabicPeriod"/>
              <a:tabLst>
                <a:tab pos="469900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Fog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Index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Guide:</a:t>
            </a:r>
            <a:endParaRPr sz="1100">
              <a:latin typeface="Times New Roman"/>
              <a:cs typeface="Times New Roman"/>
            </a:endParaRPr>
          </a:p>
          <a:p>
            <a:pPr marL="469265">
              <a:lnSpc>
                <a:spcPts val="1265"/>
              </a:lnSpc>
            </a:pPr>
            <a:r>
              <a:rPr dirty="0" sz="1100" spc="-5">
                <a:latin typeface="Times New Roman"/>
                <a:cs typeface="Times New Roman"/>
              </a:rPr>
              <a:t>Invented by Robert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Gunning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1952</a:t>
            </a:r>
            <a:endParaRPr sz="1100">
              <a:latin typeface="Times New Roman"/>
              <a:cs typeface="Times New Roman"/>
            </a:endParaRPr>
          </a:p>
          <a:p>
            <a:pPr marL="469265">
              <a:lnSpc>
                <a:spcPts val="1265"/>
              </a:lnSpc>
            </a:pPr>
            <a:r>
              <a:rPr dirty="0" sz="1100" spc="-5">
                <a:latin typeface="Times New Roman"/>
                <a:cs typeface="Times New Roman"/>
              </a:rPr>
              <a:t>Gives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school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grade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necessary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comprehension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text.</a:t>
            </a:r>
            <a:endParaRPr sz="1100">
              <a:latin typeface="Times New Roman"/>
              <a:cs typeface="Times New Roman"/>
            </a:endParaRPr>
          </a:p>
          <a:p>
            <a:pPr marL="469265" marR="5715">
              <a:lnSpc>
                <a:spcPts val="1270"/>
              </a:lnSpc>
              <a:spcBef>
                <a:spcPts val="55"/>
              </a:spcBef>
            </a:pPr>
            <a:r>
              <a:rPr dirty="0" sz="1100" spc="-5">
                <a:latin typeface="Times New Roman"/>
                <a:cs typeface="Times New Roman"/>
              </a:rPr>
              <a:t>Calculated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by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adding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together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average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number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percentage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words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three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syllables,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multiplying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sum by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0.4.words</a:t>
            </a:r>
            <a:endParaRPr sz="1100">
              <a:latin typeface="Times New Roman"/>
              <a:cs typeface="Times New Roman"/>
            </a:endParaRPr>
          </a:p>
          <a:p>
            <a:pPr marL="469265">
              <a:lnSpc>
                <a:spcPts val="1230"/>
              </a:lnSpc>
            </a:pPr>
            <a:r>
              <a:rPr dirty="0" sz="1100" spc="-5" b="1" i="1">
                <a:latin typeface="Times New Roman"/>
                <a:cs typeface="Times New Roman"/>
              </a:rPr>
              <a:t>Scale</a:t>
            </a:r>
            <a:r>
              <a:rPr dirty="0" sz="1100" spc="5" b="1" i="1">
                <a:latin typeface="Times New Roman"/>
                <a:cs typeface="Times New Roman"/>
              </a:rPr>
              <a:t> </a:t>
            </a:r>
            <a:r>
              <a:rPr dirty="0" sz="1100" spc="-5" b="1" i="1">
                <a:latin typeface="Times New Roman"/>
                <a:cs typeface="Times New Roman"/>
              </a:rPr>
              <a:t>runs</a:t>
            </a:r>
            <a:r>
              <a:rPr dirty="0" sz="1100" spc="10" b="1" i="1">
                <a:latin typeface="Times New Roman"/>
                <a:cs typeface="Times New Roman"/>
              </a:rPr>
              <a:t> </a:t>
            </a:r>
            <a:r>
              <a:rPr dirty="0" sz="1100" spc="-5" b="1" i="1">
                <a:latin typeface="Times New Roman"/>
                <a:cs typeface="Times New Roman"/>
              </a:rPr>
              <a:t>from</a:t>
            </a:r>
            <a:r>
              <a:rPr dirty="0" sz="1100" spc="5" b="1" i="1">
                <a:latin typeface="Times New Roman"/>
                <a:cs typeface="Times New Roman"/>
              </a:rPr>
              <a:t> </a:t>
            </a:r>
            <a:r>
              <a:rPr dirty="0" sz="1100" spc="-5" b="1" i="1">
                <a:latin typeface="Times New Roman"/>
                <a:cs typeface="Times New Roman"/>
              </a:rPr>
              <a:t>6</a:t>
            </a:r>
            <a:r>
              <a:rPr dirty="0" sz="1100" spc="10" b="1" i="1">
                <a:latin typeface="Times New Roman"/>
                <a:cs typeface="Times New Roman"/>
              </a:rPr>
              <a:t> </a:t>
            </a:r>
            <a:r>
              <a:rPr dirty="0" sz="1100" spc="-5" b="1" i="1">
                <a:latin typeface="Times New Roman"/>
                <a:cs typeface="Times New Roman"/>
              </a:rPr>
              <a:t>to</a:t>
            </a:r>
            <a:r>
              <a:rPr dirty="0" sz="1100" spc="10" b="1" i="1">
                <a:latin typeface="Times New Roman"/>
                <a:cs typeface="Times New Roman"/>
              </a:rPr>
              <a:t> </a:t>
            </a:r>
            <a:r>
              <a:rPr dirty="0" sz="1100" spc="-5" b="1" i="1">
                <a:latin typeface="Times New Roman"/>
                <a:cs typeface="Times New Roman"/>
              </a:rPr>
              <a:t>16.</a:t>
            </a:r>
            <a:r>
              <a:rPr dirty="0" sz="1100" spc="5" b="1" i="1">
                <a:latin typeface="Times New Roman"/>
                <a:cs typeface="Times New Roman"/>
              </a:rPr>
              <a:t> </a:t>
            </a:r>
            <a:r>
              <a:rPr dirty="0" sz="1100" spc="-5" b="1" i="1">
                <a:latin typeface="Times New Roman"/>
                <a:cs typeface="Times New Roman"/>
              </a:rPr>
              <a:t>If</a:t>
            </a:r>
            <a:r>
              <a:rPr dirty="0" sz="1100" spc="5" b="1" i="1">
                <a:latin typeface="Times New Roman"/>
                <a:cs typeface="Times New Roman"/>
              </a:rPr>
              <a:t> </a:t>
            </a:r>
            <a:r>
              <a:rPr dirty="0" sz="1100" spc="-5" b="1" i="1">
                <a:latin typeface="Times New Roman"/>
                <a:cs typeface="Times New Roman"/>
              </a:rPr>
              <a:t>above</a:t>
            </a:r>
            <a:r>
              <a:rPr dirty="0" sz="1100" spc="10" b="1" i="1">
                <a:latin typeface="Times New Roman"/>
                <a:cs typeface="Times New Roman"/>
              </a:rPr>
              <a:t> </a:t>
            </a:r>
            <a:r>
              <a:rPr dirty="0" sz="1100" spc="-5" b="1" i="1">
                <a:latin typeface="Times New Roman"/>
                <a:cs typeface="Times New Roman"/>
              </a:rPr>
              <a:t>12,</a:t>
            </a:r>
            <a:r>
              <a:rPr dirty="0" sz="1100" b="1" i="1">
                <a:latin typeface="Times New Roman"/>
                <a:cs typeface="Times New Roman"/>
              </a:rPr>
              <a:t> </a:t>
            </a:r>
            <a:r>
              <a:rPr dirty="0" sz="1100" spc="-5" b="1" i="1">
                <a:latin typeface="Times New Roman"/>
                <a:cs typeface="Times New Roman"/>
              </a:rPr>
              <a:t>the</a:t>
            </a:r>
            <a:r>
              <a:rPr dirty="0" sz="1100" spc="10" b="1" i="1">
                <a:latin typeface="Times New Roman"/>
                <a:cs typeface="Times New Roman"/>
              </a:rPr>
              <a:t> </a:t>
            </a:r>
            <a:r>
              <a:rPr dirty="0" sz="1100" spc="-5" b="1" i="1">
                <a:latin typeface="Times New Roman"/>
                <a:cs typeface="Times New Roman"/>
              </a:rPr>
              <a:t>text</a:t>
            </a:r>
            <a:r>
              <a:rPr dirty="0" sz="1100" spc="10" b="1" i="1">
                <a:latin typeface="Times New Roman"/>
                <a:cs typeface="Times New Roman"/>
              </a:rPr>
              <a:t> </a:t>
            </a:r>
            <a:r>
              <a:rPr dirty="0" sz="1100" spc="-5" b="1" i="1">
                <a:latin typeface="Times New Roman"/>
                <a:cs typeface="Times New Roman"/>
              </a:rPr>
              <a:t>will</a:t>
            </a:r>
            <a:r>
              <a:rPr dirty="0" sz="1100" spc="5" b="1" i="1">
                <a:latin typeface="Times New Roman"/>
                <a:cs typeface="Times New Roman"/>
              </a:rPr>
              <a:t> </a:t>
            </a:r>
            <a:r>
              <a:rPr dirty="0" sz="1100" spc="-5" b="1" i="1">
                <a:latin typeface="Times New Roman"/>
                <a:cs typeface="Times New Roman"/>
              </a:rPr>
              <a:t>be</a:t>
            </a:r>
            <a:r>
              <a:rPr dirty="0" sz="1100" spc="10" b="1" i="1">
                <a:latin typeface="Times New Roman"/>
                <a:cs typeface="Times New Roman"/>
              </a:rPr>
              <a:t> </a:t>
            </a:r>
            <a:r>
              <a:rPr dirty="0" sz="1100" spc="-5" b="1" i="1">
                <a:latin typeface="Times New Roman"/>
                <a:cs typeface="Times New Roman"/>
              </a:rPr>
              <a:t>difficult</a:t>
            </a:r>
            <a:r>
              <a:rPr dirty="0" sz="1100" spc="10" b="1" i="1">
                <a:latin typeface="Times New Roman"/>
                <a:cs typeface="Times New Roman"/>
              </a:rPr>
              <a:t> </a:t>
            </a:r>
            <a:r>
              <a:rPr dirty="0" sz="1100" spc="-5" b="1" i="1">
                <a:latin typeface="Times New Roman"/>
                <a:cs typeface="Times New Roman"/>
              </a:rPr>
              <a:t>to</a:t>
            </a:r>
            <a:r>
              <a:rPr dirty="0" sz="1100" spc="5" b="1" i="1">
                <a:latin typeface="Times New Roman"/>
                <a:cs typeface="Times New Roman"/>
              </a:rPr>
              <a:t> </a:t>
            </a:r>
            <a:r>
              <a:rPr dirty="0" sz="1100" spc="-5" b="1" i="1">
                <a:latin typeface="Times New Roman"/>
                <a:cs typeface="Times New Roman"/>
              </a:rPr>
              <a:t>read.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50">
              <a:latin typeface="Times New Roman"/>
              <a:cs typeface="Times New Roman"/>
            </a:endParaRPr>
          </a:p>
          <a:p>
            <a:pPr marL="469265" indent="-229235">
              <a:lnSpc>
                <a:spcPts val="1290"/>
              </a:lnSpc>
              <a:buAutoNum type="arabicPeriod" startAt="2"/>
              <a:tabLst>
                <a:tab pos="469900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SMOG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Index:</a:t>
            </a:r>
            <a:endParaRPr sz="1100">
              <a:latin typeface="Times New Roman"/>
              <a:cs typeface="Times New Roman"/>
            </a:endParaRPr>
          </a:p>
          <a:p>
            <a:pPr marL="469265">
              <a:lnSpc>
                <a:spcPts val="1265"/>
              </a:lnSpc>
            </a:pPr>
            <a:r>
              <a:rPr dirty="0" sz="1100" spc="-5">
                <a:latin typeface="Times New Roman"/>
                <a:cs typeface="Times New Roman"/>
              </a:rPr>
              <a:t>Stands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‘Simple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Measure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Gobbledygook’</a:t>
            </a:r>
            <a:endParaRPr sz="1100">
              <a:latin typeface="Times New Roman"/>
              <a:cs typeface="Times New Roman"/>
            </a:endParaRPr>
          </a:p>
          <a:p>
            <a:pPr marL="469265" marR="5715">
              <a:lnSpc>
                <a:spcPts val="1270"/>
              </a:lnSpc>
              <a:spcBef>
                <a:spcPts val="60"/>
              </a:spcBef>
            </a:pPr>
            <a:r>
              <a:rPr dirty="0" sz="1100" spc="-5">
                <a:latin typeface="Times New Roman"/>
                <a:cs typeface="Times New Roman"/>
              </a:rPr>
              <a:t>Calculated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by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multiplying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total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number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text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by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30,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dividing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result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by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number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sentences,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taking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square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root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result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multiplying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3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50">
              <a:latin typeface="Times New Roman"/>
              <a:cs typeface="Times New Roman"/>
            </a:endParaRPr>
          </a:p>
          <a:p>
            <a:pPr marL="469265" marR="4244340" indent="-228600">
              <a:lnSpc>
                <a:spcPct val="95700"/>
              </a:lnSpc>
              <a:buAutoNum type="arabicPeriod" startAt="3"/>
              <a:tabLst>
                <a:tab pos="469900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Flesch</a:t>
            </a:r>
            <a:r>
              <a:rPr dirty="0" sz="1100" spc="26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Index: 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Designed for adult texts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Calculated by:</a:t>
            </a:r>
            <a:endParaRPr sz="1100">
              <a:latin typeface="Times New Roman"/>
              <a:cs typeface="Times New Roman"/>
            </a:endParaRPr>
          </a:p>
          <a:p>
            <a:pPr lvl="1" marL="927100" indent="-458470">
              <a:lnSpc>
                <a:spcPts val="1235"/>
              </a:lnSpc>
              <a:buChar char="-"/>
              <a:tabLst>
                <a:tab pos="926465" algn="l"/>
                <a:tab pos="927735" algn="l"/>
              </a:tabLst>
            </a:pPr>
            <a:r>
              <a:rPr dirty="0" sz="1100" spc="-5">
                <a:latin typeface="Times New Roman"/>
                <a:cs typeface="Times New Roman"/>
              </a:rPr>
              <a:t>Calculating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average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number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sentence.</a:t>
            </a:r>
            <a:endParaRPr sz="1100">
              <a:latin typeface="Times New Roman"/>
              <a:cs typeface="Times New Roman"/>
            </a:endParaRPr>
          </a:p>
          <a:p>
            <a:pPr lvl="1" marL="927100" indent="-458470">
              <a:lnSpc>
                <a:spcPts val="1265"/>
              </a:lnSpc>
              <a:buChar char="-"/>
              <a:tabLst>
                <a:tab pos="927100" algn="l"/>
                <a:tab pos="927735" algn="l"/>
              </a:tabLst>
            </a:pPr>
            <a:r>
              <a:rPr dirty="0" sz="1100" spc="-5">
                <a:latin typeface="Times New Roman"/>
                <a:cs typeface="Times New Roman"/>
              </a:rPr>
              <a:t>Multiplying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1.01.</a:t>
            </a:r>
            <a:endParaRPr sz="1100">
              <a:latin typeface="Times New Roman"/>
              <a:cs typeface="Times New Roman"/>
            </a:endParaRPr>
          </a:p>
          <a:p>
            <a:pPr lvl="1" marL="927100" indent="-458470">
              <a:lnSpc>
                <a:spcPts val="1265"/>
              </a:lnSpc>
              <a:buChar char="-"/>
              <a:tabLst>
                <a:tab pos="927100" algn="l"/>
                <a:tab pos="927735" algn="l"/>
              </a:tabLst>
            </a:pPr>
            <a:r>
              <a:rPr dirty="0" sz="1100" spc="-5">
                <a:latin typeface="Times New Roman"/>
                <a:cs typeface="Times New Roman"/>
              </a:rPr>
              <a:t>Subtracting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result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from 206.8,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giving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Result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1.</a:t>
            </a:r>
            <a:endParaRPr sz="1100">
              <a:latin typeface="Times New Roman"/>
              <a:cs typeface="Times New Roman"/>
            </a:endParaRPr>
          </a:p>
          <a:p>
            <a:pPr lvl="1" marL="927100" indent="-458470">
              <a:lnSpc>
                <a:spcPts val="1265"/>
              </a:lnSpc>
              <a:buChar char="-"/>
              <a:tabLst>
                <a:tab pos="926465" algn="l"/>
                <a:tab pos="927735" algn="l"/>
              </a:tabLst>
            </a:pPr>
            <a:r>
              <a:rPr dirty="0" sz="1100" spc="-5">
                <a:latin typeface="Times New Roman"/>
                <a:cs typeface="Times New Roman"/>
              </a:rPr>
              <a:t>Calculating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number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syllables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hundred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words.</a:t>
            </a:r>
            <a:endParaRPr sz="1100">
              <a:latin typeface="Times New Roman"/>
              <a:cs typeface="Times New Roman"/>
            </a:endParaRPr>
          </a:p>
          <a:p>
            <a:pPr lvl="1" marL="927100" indent="-458470">
              <a:lnSpc>
                <a:spcPts val="1265"/>
              </a:lnSpc>
              <a:buChar char="-"/>
              <a:tabLst>
                <a:tab pos="927100" algn="l"/>
                <a:tab pos="927735" algn="l"/>
              </a:tabLst>
            </a:pPr>
            <a:r>
              <a:rPr dirty="0" sz="1100" spc="-5">
                <a:latin typeface="Times New Roman"/>
                <a:cs typeface="Times New Roman"/>
              </a:rPr>
              <a:t>Multiplying by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0.846, giving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Results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2.</a:t>
            </a:r>
            <a:endParaRPr sz="1100">
              <a:latin typeface="Times New Roman"/>
              <a:cs typeface="Times New Roman"/>
            </a:endParaRPr>
          </a:p>
          <a:p>
            <a:pPr lvl="1" marL="926465" marR="1761489" indent="-457200">
              <a:lnSpc>
                <a:spcPts val="1270"/>
              </a:lnSpc>
              <a:spcBef>
                <a:spcPts val="60"/>
              </a:spcBef>
              <a:buChar char="-"/>
              <a:tabLst>
                <a:tab pos="926465" algn="l"/>
                <a:tab pos="927735" algn="l"/>
              </a:tabLst>
            </a:pPr>
            <a:r>
              <a:rPr dirty="0" sz="1100" spc="-5">
                <a:latin typeface="Times New Roman"/>
                <a:cs typeface="Times New Roman"/>
              </a:rPr>
              <a:t>Subtracting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Result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2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from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Result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1,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giving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Flesch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Index.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Scale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runs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from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0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100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increasing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ease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readability.</a:t>
            </a:r>
            <a:endParaRPr sz="1100">
              <a:latin typeface="Times New Roman"/>
              <a:cs typeface="Times New Roman"/>
            </a:endParaRPr>
          </a:p>
          <a:p>
            <a:pPr marL="926465">
              <a:lnSpc>
                <a:spcPts val="1200"/>
              </a:lnSpc>
            </a:pPr>
            <a:r>
              <a:rPr dirty="0" sz="1100" spc="-5" b="1" i="1">
                <a:latin typeface="Times New Roman"/>
                <a:cs typeface="Times New Roman"/>
              </a:rPr>
              <a:t>Standard</a:t>
            </a:r>
            <a:r>
              <a:rPr dirty="0" sz="1100" spc="135" b="1" i="1">
                <a:latin typeface="Times New Roman"/>
                <a:cs typeface="Times New Roman"/>
              </a:rPr>
              <a:t> </a:t>
            </a:r>
            <a:r>
              <a:rPr dirty="0" sz="1100" spc="-5" b="1" i="1">
                <a:latin typeface="Times New Roman"/>
                <a:cs typeface="Times New Roman"/>
              </a:rPr>
              <a:t>writing</a:t>
            </a:r>
            <a:r>
              <a:rPr dirty="0" sz="1100" spc="140" b="1" i="1">
                <a:latin typeface="Times New Roman"/>
                <a:cs typeface="Times New Roman"/>
              </a:rPr>
              <a:t> </a:t>
            </a:r>
            <a:r>
              <a:rPr dirty="0" sz="1100" spc="-5" b="1" i="1">
                <a:latin typeface="Times New Roman"/>
                <a:cs typeface="Times New Roman"/>
              </a:rPr>
              <a:t>is</a:t>
            </a:r>
            <a:r>
              <a:rPr dirty="0" sz="1100" spc="140" b="1" i="1">
                <a:latin typeface="Times New Roman"/>
                <a:cs typeface="Times New Roman"/>
              </a:rPr>
              <a:t> </a:t>
            </a:r>
            <a:r>
              <a:rPr dirty="0" sz="1100" spc="-5" b="1" i="1">
                <a:latin typeface="Times New Roman"/>
                <a:cs typeface="Times New Roman"/>
              </a:rPr>
              <a:t>described</a:t>
            </a:r>
            <a:r>
              <a:rPr dirty="0" sz="1100" spc="140" b="1" i="1">
                <a:latin typeface="Times New Roman"/>
                <a:cs typeface="Times New Roman"/>
              </a:rPr>
              <a:t> </a:t>
            </a:r>
            <a:r>
              <a:rPr dirty="0" sz="1100" spc="-5" b="1" i="1">
                <a:latin typeface="Times New Roman"/>
                <a:cs typeface="Times New Roman"/>
              </a:rPr>
              <a:t>as</a:t>
            </a:r>
            <a:r>
              <a:rPr dirty="0" sz="1100" spc="140" b="1" i="1">
                <a:latin typeface="Times New Roman"/>
                <a:cs typeface="Times New Roman"/>
              </a:rPr>
              <a:t> </a:t>
            </a:r>
            <a:r>
              <a:rPr dirty="0" sz="1100" spc="-5" b="1" i="1">
                <a:latin typeface="Times New Roman"/>
                <a:cs typeface="Times New Roman"/>
              </a:rPr>
              <a:t>17</a:t>
            </a:r>
            <a:r>
              <a:rPr dirty="0" sz="1100" spc="140" b="1" i="1">
                <a:latin typeface="Times New Roman"/>
                <a:cs typeface="Times New Roman"/>
              </a:rPr>
              <a:t> </a:t>
            </a:r>
            <a:r>
              <a:rPr dirty="0" sz="1100" spc="-5" b="1" i="1">
                <a:latin typeface="Times New Roman"/>
                <a:cs typeface="Times New Roman"/>
              </a:rPr>
              <a:t>words</a:t>
            </a:r>
            <a:r>
              <a:rPr dirty="0" sz="1100" spc="135" b="1" i="1">
                <a:latin typeface="Times New Roman"/>
                <a:cs typeface="Times New Roman"/>
              </a:rPr>
              <a:t> </a:t>
            </a:r>
            <a:r>
              <a:rPr dirty="0" sz="1100" spc="-5" b="1" i="1">
                <a:latin typeface="Times New Roman"/>
                <a:cs typeface="Times New Roman"/>
              </a:rPr>
              <a:t>per</a:t>
            </a:r>
            <a:r>
              <a:rPr dirty="0" sz="1100" spc="140" b="1" i="1">
                <a:latin typeface="Times New Roman"/>
                <a:cs typeface="Times New Roman"/>
              </a:rPr>
              <a:t> </a:t>
            </a:r>
            <a:r>
              <a:rPr dirty="0" sz="1100" spc="-5" b="1" i="1">
                <a:latin typeface="Times New Roman"/>
                <a:cs typeface="Times New Roman"/>
              </a:rPr>
              <a:t>sentence</a:t>
            </a:r>
            <a:r>
              <a:rPr dirty="0" sz="1100" spc="140" b="1" i="1">
                <a:latin typeface="Times New Roman"/>
                <a:cs typeface="Times New Roman"/>
              </a:rPr>
              <a:t> </a:t>
            </a:r>
            <a:r>
              <a:rPr dirty="0" sz="1100" spc="-5" b="1" i="1">
                <a:latin typeface="Times New Roman"/>
                <a:cs typeface="Times New Roman"/>
              </a:rPr>
              <a:t>and</a:t>
            </a:r>
            <a:r>
              <a:rPr dirty="0" sz="1100" spc="140" b="1" i="1">
                <a:latin typeface="Times New Roman"/>
                <a:cs typeface="Times New Roman"/>
              </a:rPr>
              <a:t> </a:t>
            </a:r>
            <a:r>
              <a:rPr dirty="0" sz="1100" spc="-5" b="1" i="1">
                <a:latin typeface="Times New Roman"/>
                <a:cs typeface="Times New Roman"/>
              </a:rPr>
              <a:t>147</a:t>
            </a:r>
            <a:r>
              <a:rPr dirty="0" sz="1100" spc="140" b="1" i="1">
                <a:latin typeface="Times New Roman"/>
                <a:cs typeface="Times New Roman"/>
              </a:rPr>
              <a:t> </a:t>
            </a:r>
            <a:r>
              <a:rPr dirty="0" sz="1100" spc="-5" b="1" i="1">
                <a:latin typeface="Times New Roman"/>
                <a:cs typeface="Times New Roman"/>
              </a:rPr>
              <a:t>syllables</a:t>
            </a:r>
            <a:r>
              <a:rPr dirty="0" sz="1100" spc="140" b="1" i="1">
                <a:latin typeface="Times New Roman"/>
                <a:cs typeface="Times New Roman"/>
              </a:rPr>
              <a:t> </a:t>
            </a:r>
            <a:r>
              <a:rPr dirty="0" sz="1100" spc="-5" b="1" i="1">
                <a:latin typeface="Times New Roman"/>
                <a:cs typeface="Times New Roman"/>
              </a:rPr>
              <a:t>per</a:t>
            </a:r>
            <a:r>
              <a:rPr dirty="0" sz="1100" spc="135" b="1" i="1">
                <a:latin typeface="Times New Roman"/>
                <a:cs typeface="Times New Roman"/>
              </a:rPr>
              <a:t> </a:t>
            </a:r>
            <a:r>
              <a:rPr dirty="0" sz="1100" spc="-5" b="1" i="1">
                <a:latin typeface="Times New Roman"/>
                <a:cs typeface="Times New Roman"/>
              </a:rPr>
              <a:t>hundred</a:t>
            </a:r>
            <a:endParaRPr sz="1100">
              <a:latin typeface="Times New Roman"/>
              <a:cs typeface="Times New Roman"/>
            </a:endParaRPr>
          </a:p>
          <a:p>
            <a:pPr marL="926465">
              <a:lnSpc>
                <a:spcPts val="1295"/>
              </a:lnSpc>
            </a:pPr>
            <a:r>
              <a:rPr dirty="0" sz="1100" spc="-5" b="1" i="1">
                <a:latin typeface="Times New Roman"/>
                <a:cs typeface="Times New Roman"/>
              </a:rPr>
              <a:t>words,</a:t>
            </a:r>
            <a:r>
              <a:rPr dirty="0" sz="1100" b="1" i="1">
                <a:latin typeface="Times New Roman"/>
                <a:cs typeface="Times New Roman"/>
              </a:rPr>
              <a:t> </a:t>
            </a:r>
            <a:r>
              <a:rPr dirty="0" sz="1100" spc="-5" b="1" i="1">
                <a:latin typeface="Times New Roman"/>
                <a:cs typeface="Times New Roman"/>
              </a:rPr>
              <a:t>with</a:t>
            </a:r>
            <a:r>
              <a:rPr dirty="0" sz="1100" spc="5" b="1" i="1">
                <a:latin typeface="Times New Roman"/>
                <a:cs typeface="Times New Roman"/>
              </a:rPr>
              <a:t> </a:t>
            </a:r>
            <a:r>
              <a:rPr dirty="0" sz="1100" spc="-5" b="1" i="1">
                <a:latin typeface="Times New Roman"/>
                <a:cs typeface="Times New Roman"/>
              </a:rPr>
              <a:t>a</a:t>
            </a:r>
            <a:r>
              <a:rPr dirty="0" sz="1100" b="1" i="1">
                <a:latin typeface="Times New Roman"/>
                <a:cs typeface="Times New Roman"/>
              </a:rPr>
              <a:t> </a:t>
            </a:r>
            <a:r>
              <a:rPr dirty="0" sz="1100" spc="-5" b="1" i="1">
                <a:latin typeface="Times New Roman"/>
                <a:cs typeface="Times New Roman"/>
              </a:rPr>
              <a:t>resulting</a:t>
            </a:r>
            <a:r>
              <a:rPr dirty="0" sz="1100" spc="5" b="1" i="1">
                <a:latin typeface="Times New Roman"/>
                <a:cs typeface="Times New Roman"/>
              </a:rPr>
              <a:t> </a:t>
            </a:r>
            <a:r>
              <a:rPr dirty="0" sz="1100" spc="-5" b="1" i="1">
                <a:latin typeface="Times New Roman"/>
                <a:cs typeface="Times New Roman"/>
              </a:rPr>
              <a:t>index</a:t>
            </a:r>
            <a:r>
              <a:rPr dirty="0" sz="1100" spc="5" b="1" i="1">
                <a:latin typeface="Times New Roman"/>
                <a:cs typeface="Times New Roman"/>
              </a:rPr>
              <a:t> </a:t>
            </a:r>
            <a:r>
              <a:rPr dirty="0" sz="1100" spc="-5" b="1" i="1">
                <a:latin typeface="Times New Roman"/>
                <a:cs typeface="Times New Roman"/>
              </a:rPr>
              <a:t>of</a:t>
            </a:r>
            <a:r>
              <a:rPr dirty="0" sz="1100" b="1" i="1">
                <a:latin typeface="Times New Roman"/>
                <a:cs typeface="Times New Roman"/>
              </a:rPr>
              <a:t> </a:t>
            </a:r>
            <a:r>
              <a:rPr dirty="0" sz="1100" spc="-5" b="1" i="1">
                <a:latin typeface="Times New Roman"/>
                <a:cs typeface="Times New Roman"/>
              </a:rPr>
              <a:t>64.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354965" indent="-114935">
              <a:lnSpc>
                <a:spcPts val="1290"/>
              </a:lnSpc>
              <a:buAutoNum type="arabicPeriod" startAt="4"/>
              <a:tabLst>
                <a:tab pos="355600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PSK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(Power-Sumer-Kearl)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Index:</a:t>
            </a:r>
            <a:endParaRPr sz="1100">
              <a:latin typeface="Times New Roman"/>
              <a:cs typeface="Times New Roman"/>
            </a:endParaRPr>
          </a:p>
          <a:p>
            <a:pPr algn="just" marL="354965">
              <a:lnSpc>
                <a:spcPts val="1260"/>
              </a:lnSpc>
            </a:pPr>
            <a:r>
              <a:rPr dirty="0" sz="1100" spc="-5">
                <a:latin typeface="Times New Roman"/>
                <a:cs typeface="Times New Roman"/>
              </a:rPr>
              <a:t>Designed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primary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school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texts</a:t>
            </a:r>
            <a:endParaRPr sz="1100">
              <a:latin typeface="Times New Roman"/>
              <a:cs typeface="Times New Roman"/>
            </a:endParaRPr>
          </a:p>
          <a:p>
            <a:pPr algn="just" marL="354965" marR="5080">
              <a:lnSpc>
                <a:spcPts val="1270"/>
              </a:lnSpc>
              <a:spcBef>
                <a:spcPts val="55"/>
              </a:spcBef>
            </a:pPr>
            <a:r>
              <a:rPr dirty="0" sz="1100" spc="-5">
                <a:latin typeface="Times New Roman"/>
                <a:cs typeface="Times New Roman"/>
              </a:rPr>
              <a:t>Calculated by finding the average number of words per sentence and multiplying by 0.0778, finding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number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syllables per hundred words and multiplying that by 2.029, and then adding the two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results together</a:t>
            </a:r>
            <a:endParaRPr sz="1100">
              <a:latin typeface="Times New Roman"/>
              <a:cs typeface="Times New Roman"/>
            </a:endParaRPr>
          </a:p>
          <a:p>
            <a:pPr marL="1564005">
              <a:lnSpc>
                <a:spcPct val="100000"/>
              </a:lnSpc>
              <a:spcBef>
                <a:spcPts val="950"/>
              </a:spcBef>
              <a:tabLst>
                <a:tab pos="5894705" algn="l"/>
              </a:tabLst>
            </a:pPr>
            <a:r>
              <a:rPr dirty="0" sz="1200">
                <a:latin typeface="Times New Roman"/>
                <a:cs typeface="Times New Roman"/>
              </a:rPr>
              <a:t>© Copyrights Virtual Uni</a:t>
            </a:r>
            <a:r>
              <a:rPr dirty="0" sz="1200" spc="-5">
                <a:latin typeface="Times New Roman"/>
                <a:cs typeface="Times New Roman"/>
              </a:rPr>
              <a:t>v</a:t>
            </a:r>
            <a:r>
              <a:rPr dirty="0" sz="1200">
                <a:latin typeface="Times New Roman"/>
                <a:cs typeface="Times New Roman"/>
              </a:rPr>
              <a:t>ersity of Pakistan	10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360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67219" y="9493248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11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972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84580" y="342390"/>
            <a:ext cx="6083300" cy="31070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869305" algn="l"/>
              </a:tabLst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l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</a:t>
            </a:r>
            <a:r>
              <a:rPr dirty="0" sz="1100" spc="-15">
                <a:solidFill>
                  <a:srgbClr val="323232"/>
                </a:solidFill>
                <a:latin typeface="Times New Roman"/>
                <a:cs typeface="Times New Roman"/>
              </a:rPr>
              <a:t>m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entary</a:t>
            </a:r>
            <a:r>
              <a:rPr dirty="0" sz="1100" spc="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g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lish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Times New Roman"/>
              <a:cs typeface="Times New Roman"/>
            </a:endParaRPr>
          </a:p>
          <a:p>
            <a:pPr marL="240665">
              <a:lnSpc>
                <a:spcPts val="1290"/>
              </a:lnSpc>
            </a:pPr>
            <a:r>
              <a:rPr dirty="0" sz="1100" spc="-5" b="1">
                <a:latin typeface="Times New Roman"/>
                <a:cs typeface="Times New Roman"/>
              </a:rPr>
              <a:t>5.</a:t>
            </a:r>
            <a:r>
              <a:rPr dirty="0" sz="1100" spc="-204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Sticht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Index:</a:t>
            </a:r>
            <a:endParaRPr sz="1100">
              <a:latin typeface="Times New Roman"/>
              <a:cs typeface="Times New Roman"/>
            </a:endParaRPr>
          </a:p>
          <a:p>
            <a:pPr marL="354965">
              <a:lnSpc>
                <a:spcPts val="1260"/>
              </a:lnSpc>
            </a:pPr>
            <a:r>
              <a:rPr dirty="0" sz="1100" spc="-5">
                <a:latin typeface="Times New Roman"/>
                <a:cs typeface="Times New Roman"/>
              </a:rPr>
              <a:t>Designed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Army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test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functional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literacy</a:t>
            </a:r>
            <a:endParaRPr sz="1100">
              <a:latin typeface="Times New Roman"/>
              <a:cs typeface="Times New Roman"/>
            </a:endParaRPr>
          </a:p>
          <a:p>
            <a:pPr marL="354965" marR="27305">
              <a:lnSpc>
                <a:spcPts val="1270"/>
              </a:lnSpc>
              <a:spcBef>
                <a:spcPts val="55"/>
              </a:spcBef>
            </a:pPr>
            <a:r>
              <a:rPr dirty="0" sz="1100" spc="-5">
                <a:latin typeface="Times New Roman"/>
                <a:cs typeface="Times New Roman"/>
              </a:rPr>
              <a:t>Calculate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ratio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single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syllable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total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words,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multiplying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ratio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by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15,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subtracting 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result</a:t>
            </a:r>
            <a:r>
              <a:rPr dirty="0" sz="1100">
                <a:latin typeface="Times New Roman"/>
                <a:cs typeface="Times New Roman"/>
              </a:rPr>
              <a:t> from</a:t>
            </a:r>
            <a:r>
              <a:rPr dirty="0" sz="1100" spc="-5">
                <a:latin typeface="Times New Roman"/>
                <a:cs typeface="Times New Roman"/>
              </a:rPr>
              <a:t> 20.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05"/>
              </a:lnSpc>
            </a:pPr>
            <a:r>
              <a:rPr dirty="0" sz="1100" spc="-10" b="1">
                <a:latin typeface="Times New Roman"/>
                <a:cs typeface="Times New Roman"/>
              </a:rPr>
              <a:t>Before:</a:t>
            </a:r>
            <a:endParaRPr sz="1100">
              <a:latin typeface="Times New Roman"/>
              <a:cs typeface="Times New Roman"/>
            </a:endParaRPr>
          </a:p>
          <a:p>
            <a:pPr algn="just" marL="12700" marR="26670" indent="342900">
              <a:lnSpc>
                <a:spcPct val="95800"/>
              </a:lnSpc>
              <a:spcBef>
                <a:spcPts val="25"/>
              </a:spcBef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fact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organic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inorganic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entities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artifacts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through,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planet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least,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cycles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decay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well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established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integral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feature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life.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level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integration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fact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into </a:t>
            </a:r>
            <a:r>
              <a:rPr dirty="0" sz="1100" spc="-10">
                <a:latin typeface="Times New Roman"/>
                <a:cs typeface="Times New Roman"/>
              </a:rPr>
              <a:t>human </a:t>
            </a:r>
            <a:r>
              <a:rPr dirty="0" sz="1100" spc="-5">
                <a:latin typeface="Times New Roman"/>
                <a:cs typeface="Times New Roman"/>
              </a:rPr>
              <a:t>culture is total, encompassing and influencing religion, philosophy, psychiatry, economics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marketing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many other areas of our lives. One numerate view of the failure patterns associated with </a:t>
            </a:r>
            <a:r>
              <a:rPr dirty="0" sz="1100">
                <a:latin typeface="Times New Roman"/>
                <a:cs typeface="Times New Roman"/>
              </a:rPr>
              <a:t>this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cycle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shown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by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bath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tub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curve.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While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presuming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encompassing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view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failure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patterns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coincide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significant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experience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evidence</a:t>
            </a:r>
            <a:r>
              <a:rPr dirty="0" sz="1100">
                <a:latin typeface="Times New Roman"/>
                <a:cs typeface="Times New Roman"/>
              </a:rPr>
              <a:t> for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both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plant,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equipment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human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beings.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 marR="4875530">
              <a:lnSpc>
                <a:spcPts val="127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Totals: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= 107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Sentences</a:t>
            </a:r>
            <a:r>
              <a:rPr dirty="0" sz="1100" spc="-5">
                <a:latin typeface="Times New Roman"/>
                <a:cs typeface="Times New Roman"/>
              </a:rPr>
              <a:t> = 4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00"/>
              </a:lnSpc>
            </a:pPr>
            <a:r>
              <a:rPr dirty="0" sz="1100" spc="-5">
                <a:latin typeface="Times New Roman"/>
                <a:cs typeface="Times New Roman"/>
              </a:rPr>
              <a:t>Syllables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=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187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95"/>
              </a:lnSpc>
            </a:pP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three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syllables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=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11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829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084580" y="3577047"/>
            <a:ext cx="782320" cy="51435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>
              <a:lnSpc>
                <a:spcPts val="1270"/>
              </a:lnSpc>
              <a:spcBef>
                <a:spcPts val="180"/>
              </a:spcBef>
            </a:pPr>
            <a:r>
              <a:rPr dirty="0" sz="1100" spc="-5">
                <a:latin typeface="Times New Roman"/>
                <a:cs typeface="Times New Roman"/>
              </a:rPr>
              <a:t>FOG Index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SMOG</a:t>
            </a:r>
            <a:r>
              <a:rPr dirty="0" sz="1100" spc="-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Index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Flesch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Index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99240" y="3577047"/>
            <a:ext cx="454025" cy="5143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295"/>
              </a:lnSpc>
              <a:spcBef>
                <a:spcPts val="95"/>
              </a:spcBef>
            </a:pPr>
            <a:r>
              <a:rPr dirty="0" sz="1100" spc="-5">
                <a:latin typeface="Times New Roman"/>
                <a:cs typeface="Times New Roman"/>
              </a:rPr>
              <a:t>=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14.81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65"/>
              </a:lnSpc>
            </a:pPr>
            <a:r>
              <a:rPr dirty="0" sz="1100" spc="-5">
                <a:latin typeface="Times New Roman"/>
                <a:cs typeface="Times New Roman"/>
              </a:rPr>
              <a:t>=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84.99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95"/>
              </a:lnSpc>
            </a:pPr>
            <a:r>
              <a:rPr dirty="0" sz="1100" spc="-5">
                <a:latin typeface="Times New Roman"/>
                <a:cs typeface="Times New Roman"/>
              </a:rPr>
              <a:t>=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31.8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84580" y="4220939"/>
            <a:ext cx="6062345" cy="1798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290"/>
              </a:lnSpc>
              <a:spcBef>
                <a:spcPts val="95"/>
              </a:spcBef>
            </a:pPr>
            <a:r>
              <a:rPr dirty="0" sz="1100" spc="-10" b="1">
                <a:latin typeface="Times New Roman"/>
                <a:cs typeface="Times New Roman"/>
              </a:rPr>
              <a:t>After:</a:t>
            </a:r>
            <a:endParaRPr sz="1100">
              <a:latin typeface="Times New Roman"/>
              <a:cs typeface="Times New Roman"/>
            </a:endParaRPr>
          </a:p>
          <a:p>
            <a:pPr algn="just" marL="12700" marR="5080" indent="342900">
              <a:lnSpc>
                <a:spcPct val="95800"/>
              </a:lnSpc>
              <a:spcBef>
                <a:spcPts val="25"/>
              </a:spcBef>
            </a:pPr>
            <a:r>
              <a:rPr dirty="0" sz="1100" spc="-5">
                <a:latin typeface="Times New Roman"/>
                <a:cs typeface="Times New Roman"/>
              </a:rPr>
              <a:t>The fact that all organic and inorganic entities and artifacts go through,</a:t>
            </a:r>
            <a:r>
              <a:rPr dirty="0" sz="1100" spc="5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 this planet at least, cycles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 change and decay is a well known feature of life. This fact </a:t>
            </a:r>
            <a:r>
              <a:rPr dirty="0" sz="1100">
                <a:latin typeface="Times New Roman"/>
                <a:cs typeface="Times New Roman"/>
              </a:rPr>
              <a:t>also </a:t>
            </a:r>
            <a:r>
              <a:rPr dirty="0" sz="1100" spc="-5">
                <a:latin typeface="Times New Roman"/>
                <a:cs typeface="Times New Roman"/>
              </a:rPr>
              <a:t>influences many aspects of our lies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including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religion,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philosophy,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psychiatry,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economics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marketing.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view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pattern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failure is shown by the bath tub curve. Whilst this does not represent all </a:t>
            </a:r>
            <a:r>
              <a:rPr dirty="0" sz="1100">
                <a:latin typeface="Times New Roman"/>
                <a:cs typeface="Times New Roman"/>
              </a:rPr>
              <a:t>types </a:t>
            </a:r>
            <a:r>
              <a:rPr dirty="0" sz="1100" spc="-5">
                <a:latin typeface="Times New Roman"/>
                <a:cs typeface="Times New Roman"/>
              </a:rPr>
              <a:t>of failure, it does </a:t>
            </a:r>
            <a:r>
              <a:rPr dirty="0" sz="1100">
                <a:latin typeface="Times New Roman"/>
                <a:cs typeface="Times New Roman"/>
              </a:rPr>
              <a:t>agree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much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evidence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both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plant,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equipment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human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begins.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 marR="4923155">
              <a:lnSpc>
                <a:spcPts val="1270"/>
              </a:lnSpc>
            </a:pPr>
            <a:r>
              <a:rPr dirty="0" sz="1100" spc="-5">
                <a:latin typeface="Times New Roman"/>
                <a:cs typeface="Times New Roman"/>
              </a:rPr>
              <a:t>Totals: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=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85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Sentences</a:t>
            </a:r>
            <a:r>
              <a:rPr dirty="0" sz="1100" spc="-5">
                <a:latin typeface="Times New Roman"/>
                <a:cs typeface="Times New Roman"/>
              </a:rPr>
              <a:t> = 4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00"/>
              </a:lnSpc>
            </a:pPr>
            <a:r>
              <a:rPr dirty="0" sz="1100" spc="-5">
                <a:latin typeface="Times New Roman"/>
                <a:cs typeface="Times New Roman"/>
              </a:rPr>
              <a:t>Syllables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=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131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95"/>
              </a:lnSpc>
            </a:pP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three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syllables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=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5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84580" y="6148013"/>
            <a:ext cx="782320" cy="513715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12700" marR="5080">
              <a:lnSpc>
                <a:spcPct val="95700"/>
              </a:lnSpc>
              <a:spcBef>
                <a:spcPts val="155"/>
              </a:spcBef>
            </a:pPr>
            <a:r>
              <a:rPr dirty="0" sz="1100" spc="-5">
                <a:latin typeface="Times New Roman"/>
                <a:cs typeface="Times New Roman"/>
              </a:rPr>
              <a:t>FOG Index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SMOG</a:t>
            </a:r>
            <a:r>
              <a:rPr dirty="0" sz="1100" spc="-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Index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Flesch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Index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99240" y="6148013"/>
            <a:ext cx="454659" cy="5137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290"/>
              </a:lnSpc>
              <a:spcBef>
                <a:spcPts val="95"/>
              </a:spcBef>
            </a:pPr>
            <a:r>
              <a:rPr dirty="0" sz="1100" spc="-5">
                <a:latin typeface="Times New Roman"/>
                <a:cs typeface="Times New Roman"/>
              </a:rPr>
              <a:t>=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10.85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65"/>
              </a:lnSpc>
            </a:pPr>
            <a:r>
              <a:rPr dirty="0" sz="1100" spc="-5">
                <a:latin typeface="Times New Roman"/>
                <a:cs typeface="Times New Roman"/>
              </a:rPr>
              <a:t>=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75.75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95"/>
              </a:lnSpc>
            </a:pPr>
            <a:r>
              <a:rPr dirty="0" sz="1100" spc="-5">
                <a:latin typeface="Times New Roman"/>
                <a:cs typeface="Times New Roman"/>
              </a:rPr>
              <a:t>=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54.85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84580" y="6951919"/>
            <a:ext cx="6061075" cy="147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Include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examples,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illuting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ons,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and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other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visual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aids,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when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desirable: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 marL="469265" indent="-229235">
              <a:lnSpc>
                <a:spcPct val="100000"/>
              </a:lnSpc>
              <a:buFont typeface="Wingdings"/>
              <a:buChar char="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Examples,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analogies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illustrations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pictures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writing.</a:t>
            </a:r>
            <a:endParaRPr sz="1100">
              <a:latin typeface="Times New Roman"/>
              <a:cs typeface="Times New Roman"/>
            </a:endParaRPr>
          </a:p>
          <a:p>
            <a:pPr marL="469265" marR="5080" indent="-228600">
              <a:lnSpc>
                <a:spcPts val="1900"/>
              </a:lnSpc>
              <a:spcBef>
                <a:spcPts val="155"/>
              </a:spcBef>
              <a:buFont typeface="Wingdings"/>
              <a:buChar char="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Visual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aids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like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headlines,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tabulations,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itemization,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pictures,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charts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etc.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make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your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writing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easy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 through.</a:t>
            </a:r>
            <a:endParaRPr sz="1100">
              <a:latin typeface="Times New Roman"/>
              <a:cs typeface="Times New Roman"/>
            </a:endParaRPr>
          </a:p>
          <a:p>
            <a:pPr marL="469265" indent="-229235">
              <a:lnSpc>
                <a:spcPct val="100000"/>
              </a:lnSpc>
              <a:spcBef>
                <a:spcPts val="420"/>
              </a:spcBef>
              <a:buFont typeface="Wingdings"/>
              <a:buChar char="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Underline,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number,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color,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type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CAPITALS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italics</a:t>
            </a:r>
            <a:r>
              <a:rPr dirty="0" sz="1100" spc="5" i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wide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margins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adds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emphasis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575"/>
              </a:spcBef>
            </a:pPr>
            <a:r>
              <a:rPr dirty="0" sz="1100" spc="-5">
                <a:latin typeface="Times New Roman"/>
                <a:cs typeface="Times New Roman"/>
              </a:rPr>
              <a:t>your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text.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13173" y="8810442"/>
            <a:ext cx="483234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Source: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998969" y="8810442"/>
            <a:ext cx="3745865" cy="513715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12700" marR="5080">
              <a:lnSpc>
                <a:spcPct val="95700"/>
              </a:lnSpc>
              <a:spcBef>
                <a:spcPts val="155"/>
              </a:spcBef>
            </a:pPr>
            <a:r>
              <a:rPr dirty="0" sz="1100" spc="-5" b="1">
                <a:latin typeface="Times New Roman"/>
                <a:cs typeface="Times New Roman"/>
                <a:hlinkClick r:id="rId2"/>
              </a:rPr>
              <a:t>http://www.canadaone.com/ezine/nov02/effective_writing.html </a:t>
            </a:r>
            <a:r>
              <a:rPr dirty="0" sz="1100" spc="-26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  <a:hlinkClick r:id="rId3"/>
              </a:rPr>
              <a:t>http://abcopayroll.com/news/200610sevencs.php 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4"/>
              </a:rPr>
              <a:t>http://www.writingcenter.emory.edu/goodwrite.html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7380" y="342390"/>
            <a:ext cx="174498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 Elementary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84111" y="342390"/>
            <a:ext cx="22669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788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10019" y="9493248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12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400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257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882132" y="526034"/>
            <a:ext cx="80581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LECTURE</a:t>
            </a:r>
            <a:r>
              <a:rPr dirty="0" u="heavy" sz="1100" spc="-6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5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55939" y="869698"/>
            <a:ext cx="5833745" cy="8483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R="222250">
              <a:lnSpc>
                <a:spcPct val="100000"/>
              </a:lnSpc>
              <a:spcBef>
                <a:spcPts val="95"/>
              </a:spcBef>
            </a:pP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QUALITIES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GOOD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WRITING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241300" marR="5715" indent="-228600">
              <a:lnSpc>
                <a:spcPct val="102299"/>
              </a:lnSpc>
              <a:buAutoNum type="arabicPeriod" startAt="2"/>
              <a:tabLst>
                <a:tab pos="241935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Be complete: </a:t>
            </a:r>
            <a:r>
              <a:rPr dirty="0" sz="1100" spc="-5">
                <a:latin typeface="Times New Roman"/>
                <a:cs typeface="Times New Roman"/>
              </a:rPr>
              <a:t>include all the necessary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facts and background information to support the message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 are communicating. Partial instructions would not work if we were to survive. Our captain had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make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saw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complete picture.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Check: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Times New Roman"/>
              <a:buAutoNum type="arabicPeriod" startAt="2"/>
            </a:pPr>
            <a:endParaRPr sz="1100">
              <a:latin typeface="Times New Roman"/>
              <a:cs typeface="Times New Roman"/>
            </a:endParaRPr>
          </a:p>
          <a:p>
            <a:pPr lvl="1" marL="698500" indent="-229235">
              <a:lnSpc>
                <a:spcPct val="100000"/>
              </a:lnSpc>
              <a:buAutoNum type="arabicPeriod"/>
              <a:tabLst>
                <a:tab pos="699135" algn="l"/>
              </a:tabLst>
            </a:pPr>
            <a:r>
              <a:rPr dirty="0" sz="1100" spc="-5">
                <a:latin typeface="Times New Roman"/>
                <a:cs typeface="Times New Roman"/>
              </a:rPr>
              <a:t>Have </a:t>
            </a:r>
            <a:r>
              <a:rPr dirty="0" sz="1100">
                <a:latin typeface="Times New Roman"/>
                <a:cs typeface="Times New Roman"/>
              </a:rPr>
              <a:t>you </a:t>
            </a:r>
            <a:r>
              <a:rPr dirty="0" sz="1100" spc="-5">
                <a:latin typeface="Times New Roman"/>
                <a:cs typeface="Times New Roman"/>
              </a:rPr>
              <a:t>given all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facts?</a:t>
            </a:r>
            <a:endParaRPr sz="1100">
              <a:latin typeface="Times New Roman"/>
              <a:cs typeface="Times New Roman"/>
            </a:endParaRPr>
          </a:p>
          <a:p>
            <a:pPr lvl="1" marL="698500" indent="-229235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699135" algn="l"/>
              </a:tabLst>
            </a:pP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</a:t>
            </a:r>
            <a:r>
              <a:rPr dirty="0" sz="1100" spc="-10">
                <a:latin typeface="Times New Roman"/>
                <a:cs typeface="Times New Roman"/>
              </a:rPr>
              <a:t> covered </a:t>
            </a:r>
            <a:r>
              <a:rPr dirty="0" sz="1100" spc="-5">
                <a:latin typeface="Times New Roman"/>
                <a:cs typeface="Times New Roman"/>
              </a:rPr>
              <a:t>the essentials?</a:t>
            </a:r>
            <a:endParaRPr sz="1100">
              <a:latin typeface="Times New Roman"/>
              <a:cs typeface="Times New Roman"/>
            </a:endParaRPr>
          </a:p>
          <a:p>
            <a:pPr lvl="1" marL="698500" indent="-229235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699135" algn="l"/>
              </a:tabLst>
            </a:pP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>
                <a:latin typeface="Times New Roman"/>
                <a:cs typeface="Times New Roman"/>
              </a:rPr>
              <a:t> you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answered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his/her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questions?</a:t>
            </a:r>
            <a:endParaRPr sz="1100">
              <a:latin typeface="Times New Roman"/>
              <a:cs typeface="Times New Roman"/>
            </a:endParaRPr>
          </a:p>
          <a:p>
            <a:pPr lvl="1" marL="698500" indent="-229235">
              <a:lnSpc>
                <a:spcPct val="100000"/>
              </a:lnSpc>
              <a:spcBef>
                <a:spcPts val="580"/>
              </a:spcBef>
              <a:buAutoNum type="arabicPeriod"/>
              <a:tabLst>
                <a:tab pos="699135" algn="l"/>
              </a:tabLst>
            </a:pPr>
            <a:r>
              <a:rPr dirty="0" sz="1100" spc="-5">
                <a:latin typeface="Times New Roman"/>
                <a:cs typeface="Times New Roman"/>
              </a:rPr>
              <a:t>Did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</a:t>
            </a:r>
            <a:r>
              <a:rPr dirty="0" sz="1100" spc="-5">
                <a:latin typeface="Times New Roman"/>
                <a:cs typeface="Times New Roman"/>
              </a:rPr>
              <a:t> PLAN what you said?</a:t>
            </a:r>
            <a:endParaRPr sz="11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30"/>
              </a:spcBef>
              <a:buFont typeface="Times New Roman"/>
              <a:buAutoNum type="arabicPeriod"/>
            </a:pPr>
            <a:endParaRPr sz="1700">
              <a:latin typeface="Times New Roman"/>
              <a:cs typeface="Times New Roman"/>
            </a:endParaRPr>
          </a:p>
          <a:p>
            <a:pPr algn="just" marL="241300" marR="6985" indent="-228600">
              <a:lnSpc>
                <a:spcPct val="102299"/>
              </a:lnSpc>
              <a:buAutoNum type="arabicPeriod" startAt="2"/>
              <a:tabLst>
                <a:tab pos="241935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Be </a:t>
            </a:r>
            <a:r>
              <a:rPr dirty="0" sz="1100" spc="-10" b="1">
                <a:latin typeface="Times New Roman"/>
                <a:cs typeface="Times New Roman"/>
              </a:rPr>
              <a:t>concise: </a:t>
            </a:r>
            <a:r>
              <a:rPr dirty="0" sz="1100" spc="-5">
                <a:latin typeface="Times New Roman"/>
                <a:cs typeface="Times New Roman"/>
              </a:rPr>
              <a:t>keep in mind the reader's knowledge of the subject and their time constraints. Convey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information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quickly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easily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possible.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Keeping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concise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(or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short)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life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saver,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 so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needed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react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immediately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pattern.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Check: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Times New Roman"/>
              <a:buAutoNum type="arabicPeriod" startAt="2"/>
            </a:pPr>
            <a:endParaRPr sz="1100">
              <a:latin typeface="Times New Roman"/>
              <a:cs typeface="Times New Roman"/>
            </a:endParaRPr>
          </a:p>
          <a:p>
            <a:pPr lvl="1" marL="698500" indent="-229235">
              <a:lnSpc>
                <a:spcPct val="100000"/>
              </a:lnSpc>
              <a:buAutoNum type="arabicPeriod"/>
              <a:tabLst>
                <a:tab pos="699135" algn="l"/>
              </a:tabLst>
            </a:pP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plunged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right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subject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message?</a:t>
            </a:r>
            <a:endParaRPr sz="1100">
              <a:latin typeface="Times New Roman"/>
              <a:cs typeface="Times New Roman"/>
            </a:endParaRPr>
          </a:p>
          <a:p>
            <a:pPr lvl="1" marL="698500" indent="-229235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699135" algn="l"/>
              </a:tabLst>
            </a:pP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avoided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rehashing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reader's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letter?</a:t>
            </a:r>
            <a:endParaRPr sz="1100">
              <a:latin typeface="Times New Roman"/>
              <a:cs typeface="Times New Roman"/>
            </a:endParaRPr>
          </a:p>
          <a:p>
            <a:pPr lvl="1" marL="698500" indent="-229235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699135" algn="l"/>
              </a:tabLst>
            </a:pP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>
                <a:latin typeface="Times New Roman"/>
                <a:cs typeface="Times New Roman"/>
              </a:rPr>
              <a:t> you</a:t>
            </a:r>
            <a:r>
              <a:rPr dirty="0" sz="1100" spc="-5">
                <a:latin typeface="Times New Roman"/>
                <a:cs typeface="Times New Roman"/>
              </a:rPr>
              <a:t> said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enough,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but just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enough?</a:t>
            </a:r>
            <a:endParaRPr sz="1100">
              <a:latin typeface="Times New Roman"/>
              <a:cs typeface="Times New Roman"/>
            </a:endParaRPr>
          </a:p>
          <a:p>
            <a:pPr lvl="1" marL="698500" indent="-229235">
              <a:lnSpc>
                <a:spcPct val="100000"/>
              </a:lnSpc>
              <a:spcBef>
                <a:spcPts val="580"/>
              </a:spcBef>
              <a:buAutoNum type="arabicPeriod"/>
              <a:tabLst>
                <a:tab pos="699135" algn="l"/>
              </a:tabLst>
            </a:pP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avoided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needless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"filler"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phrase?</a:t>
            </a:r>
            <a:endParaRPr sz="11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20"/>
              </a:spcBef>
              <a:buFont typeface="Times New Roman"/>
              <a:buAutoNum type="arabicPeriod"/>
            </a:pPr>
            <a:endParaRPr sz="1700">
              <a:latin typeface="Times New Roman"/>
              <a:cs typeface="Times New Roman"/>
            </a:endParaRPr>
          </a:p>
          <a:p>
            <a:pPr algn="just" marL="241300" marR="6985" indent="-228600">
              <a:lnSpc>
                <a:spcPct val="102299"/>
              </a:lnSpc>
              <a:spcBef>
                <a:spcPts val="5"/>
              </a:spcBef>
              <a:buAutoNum type="arabicPeriod" startAt="2"/>
              <a:tabLst>
                <a:tab pos="241935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Be creative: </a:t>
            </a:r>
            <a:r>
              <a:rPr dirty="0" sz="1100" spc="-5">
                <a:latin typeface="Times New Roman"/>
                <a:cs typeface="Times New Roman"/>
              </a:rPr>
              <a:t>use different formats (vs. straight narrative) to communicate </a:t>
            </a:r>
            <a:r>
              <a:rPr dirty="0" sz="1100">
                <a:latin typeface="Times New Roman"/>
                <a:cs typeface="Times New Roman"/>
              </a:rPr>
              <a:t>your </a:t>
            </a:r>
            <a:r>
              <a:rPr dirty="0" sz="1100" spc="-5">
                <a:latin typeface="Times New Roman"/>
                <a:cs typeface="Times New Roman"/>
              </a:rPr>
              <a:t>message. Q &amp; A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format, graphics, Idea lists, etc. </a:t>
            </a:r>
            <a:r>
              <a:rPr dirty="0" sz="1100">
                <a:latin typeface="Times New Roman"/>
                <a:cs typeface="Times New Roman"/>
              </a:rPr>
              <a:t>Sometimes </a:t>
            </a:r>
            <a:r>
              <a:rPr dirty="0" sz="1100" spc="-5">
                <a:latin typeface="Times New Roman"/>
                <a:cs typeface="Times New Roman"/>
              </a:rPr>
              <a:t>hand signals were needed when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wind and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sea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drowned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ability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hear.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Times New Roman"/>
              <a:buAutoNum type="arabicPeriod" startAt="2"/>
            </a:pPr>
            <a:endParaRPr sz="1150">
              <a:latin typeface="Times New Roman"/>
              <a:cs typeface="Times New Roman"/>
            </a:endParaRPr>
          </a:p>
          <a:p>
            <a:pPr algn="just" marL="241300" marR="6350" indent="-228600">
              <a:lnSpc>
                <a:spcPct val="102299"/>
              </a:lnSpc>
              <a:buAutoNum type="arabicPeriod" startAt="2"/>
              <a:tabLst>
                <a:tab pos="241935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Be</a:t>
            </a:r>
            <a:r>
              <a:rPr dirty="0" sz="1100" spc="16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considerate:</a:t>
            </a:r>
            <a:r>
              <a:rPr dirty="0" sz="1100" spc="17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keep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reader's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needs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mind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write.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Ask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yourself,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'Why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should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my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reader spend time reading this?' Make it worthwhile for them to do so! We were motivated to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survive,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listen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act.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Keep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mind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audience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reader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might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receptive.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Check: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Times New Roman"/>
              <a:buAutoNum type="arabicPeriod" startAt="2"/>
            </a:pPr>
            <a:endParaRPr sz="1100">
              <a:latin typeface="Times New Roman"/>
              <a:cs typeface="Times New Roman"/>
            </a:endParaRPr>
          </a:p>
          <a:p>
            <a:pPr lvl="1" marL="698500" indent="-228600">
              <a:lnSpc>
                <a:spcPct val="100000"/>
              </a:lnSpc>
              <a:buAutoNum type="arabicPeriod"/>
              <a:tabLst>
                <a:tab pos="698500" algn="l"/>
              </a:tabLst>
            </a:pPr>
            <a:r>
              <a:rPr dirty="0" sz="1100" spc="-5">
                <a:latin typeface="Times New Roman"/>
                <a:cs typeface="Times New Roman"/>
              </a:rPr>
              <a:t>Have </a:t>
            </a:r>
            <a:r>
              <a:rPr dirty="0" sz="1100">
                <a:latin typeface="Times New Roman"/>
                <a:cs typeface="Times New Roman"/>
              </a:rPr>
              <a:t>you</a:t>
            </a:r>
            <a:r>
              <a:rPr dirty="0" sz="1100" spc="-5">
                <a:latin typeface="Times New Roman"/>
                <a:cs typeface="Times New Roman"/>
              </a:rPr>
              <a:t> put 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client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first?</a:t>
            </a:r>
            <a:endParaRPr sz="1100">
              <a:latin typeface="Times New Roman"/>
              <a:cs typeface="Times New Roman"/>
            </a:endParaRPr>
          </a:p>
          <a:p>
            <a:pPr lvl="1" marL="698500" indent="-228600">
              <a:lnSpc>
                <a:spcPct val="100000"/>
              </a:lnSpc>
              <a:spcBef>
                <a:spcPts val="585"/>
              </a:spcBef>
              <a:buAutoNum type="arabicPeriod"/>
              <a:tabLst>
                <a:tab pos="698500" algn="l"/>
              </a:tabLst>
            </a:pP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floodlighted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his/her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interests?</a:t>
            </a:r>
            <a:endParaRPr sz="1100">
              <a:latin typeface="Times New Roman"/>
              <a:cs typeface="Times New Roman"/>
            </a:endParaRPr>
          </a:p>
          <a:p>
            <a:pPr lvl="1" marL="698500" indent="-22860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698500" algn="l"/>
              </a:tabLst>
            </a:pP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>
                <a:latin typeface="Times New Roman"/>
                <a:cs typeface="Times New Roman"/>
              </a:rPr>
              <a:t> you</a:t>
            </a:r>
            <a:r>
              <a:rPr dirty="0" sz="1100" spc="-5">
                <a:latin typeface="Times New Roman"/>
                <a:cs typeface="Times New Roman"/>
              </a:rPr>
              <a:t> walked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his/her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moccasins?</a:t>
            </a:r>
            <a:endParaRPr sz="1100">
              <a:latin typeface="Times New Roman"/>
              <a:cs typeface="Times New Roman"/>
            </a:endParaRPr>
          </a:p>
          <a:p>
            <a:pPr lvl="1" marL="698500" indent="-22860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698500" algn="l"/>
              </a:tabLst>
            </a:pP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>
                <a:latin typeface="Times New Roman"/>
                <a:cs typeface="Times New Roman"/>
              </a:rPr>
              <a:t> you</a:t>
            </a:r>
            <a:r>
              <a:rPr dirty="0" sz="1100" spc="-5">
                <a:latin typeface="Times New Roman"/>
                <a:cs typeface="Times New Roman"/>
              </a:rPr>
              <a:t> talked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his/her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language?</a:t>
            </a:r>
            <a:endParaRPr sz="11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25"/>
              </a:spcBef>
              <a:buFont typeface="Times New Roman"/>
              <a:buAutoNum type="arabicPeriod"/>
            </a:pPr>
            <a:endParaRPr sz="1700">
              <a:latin typeface="Times New Roman"/>
              <a:cs typeface="Times New Roman"/>
            </a:endParaRPr>
          </a:p>
          <a:p>
            <a:pPr algn="just" marL="240665" marR="5080" indent="-228600">
              <a:lnSpc>
                <a:spcPct val="102299"/>
              </a:lnSpc>
              <a:buAutoNum type="arabicPeriod" startAt="2"/>
              <a:tabLst>
                <a:tab pos="241300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Be correct: </a:t>
            </a:r>
            <a:r>
              <a:rPr dirty="0" sz="1100" spc="-5">
                <a:latin typeface="Times New Roman"/>
                <a:cs typeface="Times New Roman"/>
              </a:rPr>
              <a:t>by checking all </a:t>
            </a:r>
            <a:r>
              <a:rPr dirty="0" sz="1100">
                <a:latin typeface="Times New Roman"/>
                <a:cs typeface="Times New Roman"/>
              </a:rPr>
              <a:t>your </a:t>
            </a:r>
            <a:r>
              <a:rPr dirty="0" sz="1100" spc="-5">
                <a:latin typeface="Times New Roman"/>
                <a:cs typeface="Times New Roman"/>
              </a:rPr>
              <a:t>information is accurate and timely. Double- check your spelling,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punctuation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grammar.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Proof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read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before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send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it!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couldn't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afford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make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mistakes,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lives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depended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it!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Check: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Times New Roman"/>
              <a:buAutoNum type="arabicPeriod" startAt="2"/>
            </a:pPr>
            <a:endParaRPr sz="1100">
              <a:latin typeface="Times New Roman"/>
              <a:cs typeface="Times New Roman"/>
            </a:endParaRPr>
          </a:p>
          <a:p>
            <a:pPr lvl="1" marL="698500" indent="-228600">
              <a:lnSpc>
                <a:spcPct val="100000"/>
              </a:lnSpc>
              <a:buAutoNum type="arabicPeriod"/>
              <a:tabLst>
                <a:tab pos="698500" algn="l"/>
              </a:tabLst>
            </a:pP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checked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facts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correctness?</a:t>
            </a:r>
            <a:endParaRPr sz="1100">
              <a:latin typeface="Times New Roman"/>
              <a:cs typeface="Times New Roman"/>
            </a:endParaRPr>
          </a:p>
          <a:p>
            <a:pPr lvl="1" marL="698500" indent="-228600">
              <a:lnSpc>
                <a:spcPct val="100000"/>
              </a:lnSpc>
              <a:spcBef>
                <a:spcPts val="585"/>
              </a:spcBef>
              <a:buAutoNum type="arabicPeriod"/>
              <a:tabLst>
                <a:tab pos="698500" algn="l"/>
              </a:tabLst>
            </a:pP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>
                <a:latin typeface="Times New Roman"/>
                <a:cs typeface="Times New Roman"/>
              </a:rPr>
              <a:t> you </a:t>
            </a:r>
            <a:r>
              <a:rPr dirty="0" sz="1100" spc="-5">
                <a:latin typeface="Times New Roman"/>
                <a:cs typeface="Times New Roman"/>
              </a:rPr>
              <a:t>spelled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reader's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name</a:t>
            </a:r>
            <a:r>
              <a:rPr dirty="0" sz="1100">
                <a:latin typeface="Times New Roman"/>
                <a:cs typeface="Times New Roman"/>
              </a:rPr>
              <a:t> correctly?</a:t>
            </a:r>
            <a:endParaRPr sz="1100">
              <a:latin typeface="Times New Roman"/>
              <a:cs typeface="Times New Roman"/>
            </a:endParaRPr>
          </a:p>
          <a:p>
            <a:pPr lvl="1" marL="698500" indent="-22860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698500" algn="l"/>
              </a:tabLst>
            </a:pP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>
                <a:latin typeface="Times New Roman"/>
                <a:cs typeface="Times New Roman"/>
              </a:rPr>
              <a:t> you </a:t>
            </a:r>
            <a:r>
              <a:rPr dirty="0" sz="1100" spc="-5">
                <a:latin typeface="Times New Roman"/>
                <a:cs typeface="Times New Roman"/>
              </a:rPr>
              <a:t>verified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numbers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amounts?</a:t>
            </a:r>
            <a:endParaRPr sz="1100">
              <a:latin typeface="Times New Roman"/>
              <a:cs typeface="Times New Roman"/>
            </a:endParaRPr>
          </a:p>
          <a:p>
            <a:pPr lvl="1" marL="698500" indent="-22860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698500" algn="l"/>
              </a:tabLst>
            </a:pP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appearance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letter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effective?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clean,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well-spaced?</a:t>
            </a:r>
            <a:endParaRPr sz="1100">
              <a:latin typeface="Times New Roman"/>
              <a:cs typeface="Times New Roman"/>
            </a:endParaRPr>
          </a:p>
          <a:p>
            <a:pPr lvl="1" marL="698500" indent="-229235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699135" algn="l"/>
              </a:tabLst>
            </a:pP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checked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spelling,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punctuation,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grammar,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etc.?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360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67219" y="9493248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13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972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84552" y="342390"/>
            <a:ext cx="6083300" cy="4586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869305" algn="l"/>
              </a:tabLst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l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</a:t>
            </a:r>
            <a:r>
              <a:rPr dirty="0" sz="1100" spc="-15">
                <a:solidFill>
                  <a:srgbClr val="323232"/>
                </a:solidFill>
                <a:latin typeface="Times New Roman"/>
                <a:cs typeface="Times New Roman"/>
              </a:rPr>
              <a:t>m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entary</a:t>
            </a:r>
            <a:r>
              <a:rPr dirty="0" sz="1100" spc="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g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lish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927100" marR="26034" indent="-228600">
              <a:lnSpc>
                <a:spcPct val="143800"/>
              </a:lnSpc>
              <a:spcBef>
                <a:spcPts val="5"/>
              </a:spcBef>
              <a:buAutoNum type="arabicPeriod" startAt="7"/>
              <a:tabLst>
                <a:tab pos="927735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Be credible: </a:t>
            </a:r>
            <a:r>
              <a:rPr dirty="0" sz="1100" spc="-5">
                <a:latin typeface="Times New Roman"/>
                <a:cs typeface="Times New Roman"/>
              </a:rPr>
              <a:t>strive to present yourself from a position of reliability and competence. </a:t>
            </a:r>
            <a:r>
              <a:rPr dirty="0" sz="1100">
                <a:latin typeface="Times New Roman"/>
                <a:cs typeface="Times New Roman"/>
              </a:rPr>
              <a:t>Write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reinforce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message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make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believable.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needed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trust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our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captain,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experience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Coast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Guard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knew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doing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telling us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 our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own good.</a:t>
            </a:r>
            <a:endParaRPr sz="1100">
              <a:latin typeface="Times New Roman"/>
              <a:cs typeface="Times New Roman"/>
            </a:endParaRPr>
          </a:p>
          <a:p>
            <a:pPr algn="just" marL="927100" indent="-229235">
              <a:lnSpc>
                <a:spcPct val="100000"/>
              </a:lnSpc>
              <a:spcBef>
                <a:spcPts val="575"/>
              </a:spcBef>
              <a:buAutoNum type="arabicPeriod" startAt="7"/>
              <a:tabLst>
                <a:tab pos="927735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Be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courteous: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check</a:t>
            </a:r>
            <a:endParaRPr sz="1100">
              <a:latin typeface="Times New Roman"/>
              <a:cs typeface="Times New Roman"/>
            </a:endParaRPr>
          </a:p>
          <a:p>
            <a:pPr algn="just" lvl="1" marL="1270000" indent="-229235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1270635" algn="l"/>
              </a:tabLst>
            </a:pPr>
            <a:r>
              <a:rPr dirty="0" sz="1100" spc="-5">
                <a:latin typeface="Times New Roman"/>
                <a:cs typeface="Times New Roman"/>
              </a:rPr>
              <a:t>Will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 win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good will?</a:t>
            </a:r>
            <a:endParaRPr sz="1100">
              <a:latin typeface="Times New Roman"/>
              <a:cs typeface="Times New Roman"/>
            </a:endParaRPr>
          </a:p>
          <a:p>
            <a:pPr algn="just" lvl="1" marL="1270000" indent="-229235">
              <a:lnSpc>
                <a:spcPct val="100000"/>
              </a:lnSpc>
              <a:spcBef>
                <a:spcPts val="580"/>
              </a:spcBef>
              <a:buAutoNum type="arabicPeriod"/>
              <a:tabLst>
                <a:tab pos="1270635" algn="l"/>
              </a:tabLst>
            </a:pP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positive,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"pleasant-toned"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words?</a:t>
            </a:r>
            <a:endParaRPr sz="1100">
              <a:latin typeface="Times New Roman"/>
              <a:cs typeface="Times New Roman"/>
            </a:endParaRPr>
          </a:p>
          <a:p>
            <a:pPr algn="just" lvl="1" marL="1270000" marR="27940" indent="-228600">
              <a:lnSpc>
                <a:spcPct val="143600"/>
              </a:lnSpc>
              <a:spcBef>
                <a:spcPts val="5"/>
              </a:spcBef>
              <a:buAutoNum type="arabicPeriod"/>
              <a:tabLst>
                <a:tab pos="1270635" algn="l"/>
              </a:tabLst>
            </a:pP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>
                <a:latin typeface="Times New Roman"/>
                <a:cs typeface="Times New Roman"/>
              </a:rPr>
              <a:t> you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"I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appreciate,"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"please",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"thank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you"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somewhere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message?</a:t>
            </a:r>
            <a:endParaRPr sz="1100">
              <a:latin typeface="Times New Roman"/>
              <a:cs typeface="Times New Roman"/>
            </a:endParaRPr>
          </a:p>
          <a:p>
            <a:pPr algn="just" lvl="1" marL="1270000" indent="-229235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1270635" algn="l"/>
              </a:tabLst>
            </a:pPr>
            <a:r>
              <a:rPr dirty="0" sz="1100" spc="-5">
                <a:latin typeface="Times New Roman"/>
                <a:cs typeface="Times New Roman"/>
              </a:rPr>
              <a:t>Would you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enjoy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reading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 said?</a:t>
            </a:r>
            <a:endParaRPr sz="11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Font typeface="Times New Roman"/>
              <a:buAutoNum type="arabicPeriod"/>
            </a:pPr>
            <a:endParaRPr sz="1550">
              <a:latin typeface="Times New Roman"/>
              <a:cs typeface="Times New Roman"/>
            </a:endParaRPr>
          </a:p>
          <a:p>
            <a:pPr algn="just" marL="927100" indent="-228600">
              <a:lnSpc>
                <a:spcPct val="100000"/>
              </a:lnSpc>
              <a:buAutoNum type="arabicPeriod" startAt="7"/>
              <a:tabLst>
                <a:tab pos="927100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Be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concrete: </a:t>
            </a:r>
            <a:r>
              <a:rPr dirty="0" sz="1100" spc="-5">
                <a:latin typeface="Times New Roman"/>
                <a:cs typeface="Times New Roman"/>
              </a:rPr>
              <a:t>check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Times New Roman"/>
              <a:buAutoNum type="arabicPeriod" startAt="7"/>
            </a:pPr>
            <a:endParaRPr sz="1050">
              <a:latin typeface="Times New Roman"/>
              <a:cs typeface="Times New Roman"/>
            </a:endParaRPr>
          </a:p>
          <a:p>
            <a:pPr lvl="1" marL="1270000" indent="-22860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1270000" algn="l"/>
              </a:tabLst>
            </a:pP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>
                <a:latin typeface="Times New Roman"/>
                <a:cs typeface="Times New Roman"/>
              </a:rPr>
              <a:t> you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given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crisp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details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reader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needs?</a:t>
            </a:r>
            <a:endParaRPr sz="1100">
              <a:latin typeface="Times New Roman"/>
              <a:cs typeface="Times New Roman"/>
            </a:endParaRPr>
          </a:p>
          <a:p>
            <a:pPr lvl="1" marL="1270000" indent="-22860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1270000" algn="l"/>
              </a:tabLst>
            </a:pP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made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details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razor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needle-sharp?</a:t>
            </a:r>
            <a:endParaRPr sz="1100">
              <a:latin typeface="Times New Roman"/>
              <a:cs typeface="Times New Roman"/>
            </a:endParaRPr>
          </a:p>
          <a:p>
            <a:pPr lvl="1" marL="1270000" indent="-22860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1270000" algn="l"/>
              </a:tabLst>
            </a:pP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flashed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pictures,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made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facts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vivid?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Before: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brakes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stop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short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distance.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100" spc="-5" b="1">
                <a:latin typeface="Times New Roman"/>
                <a:cs typeface="Times New Roman"/>
              </a:rPr>
              <a:t>After: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These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brakes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stop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2-ton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car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traveling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60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miles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an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hour,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within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240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feet.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829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313145" y="5079001"/>
            <a:ext cx="483234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Source: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98941" y="5079001"/>
            <a:ext cx="3745865" cy="513080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12700" marR="5080">
              <a:lnSpc>
                <a:spcPts val="1260"/>
              </a:lnSpc>
              <a:spcBef>
                <a:spcPts val="190"/>
              </a:spcBef>
            </a:pPr>
            <a:r>
              <a:rPr dirty="0" sz="1100" spc="-5" b="1">
                <a:latin typeface="Times New Roman"/>
                <a:cs typeface="Times New Roman"/>
                <a:hlinkClick r:id="rId2"/>
              </a:rPr>
              <a:t>http://www.canadaone.com/ezine/nov02/effective_writing.html </a:t>
            </a:r>
            <a:r>
              <a:rPr dirty="0" sz="1100" spc="-26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  <a:hlinkClick r:id="rId3"/>
              </a:rPr>
              <a:t>http://abcopayroll.com/news/200610sevencs.php 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4"/>
              </a:rPr>
              <a:t>http://www.writingcenter.emory.edu/goodwrite.html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7380" y="342390"/>
            <a:ext cx="174498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 Elementary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84111" y="342390"/>
            <a:ext cx="22669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788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10019" y="9493248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14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400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257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882132" y="526034"/>
            <a:ext cx="80581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LECTURE</a:t>
            </a:r>
            <a:r>
              <a:rPr dirty="0" u="heavy" sz="1100" spc="-6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6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7377" y="847596"/>
            <a:ext cx="6061075" cy="83851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PROCESS OF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WRITING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process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includes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Invention,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Collection,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Organization,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Drafting,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Revising,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Proofreading.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290"/>
              </a:lnSpc>
            </a:pP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INVENTION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65"/>
              </a:lnSpc>
            </a:pPr>
            <a:r>
              <a:rPr dirty="0" sz="1100" spc="-5">
                <a:latin typeface="Times New Roman"/>
                <a:cs typeface="Times New Roman"/>
              </a:rPr>
              <a:t>"A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keeps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surprising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himself...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doesn't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know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saying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until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page."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95"/>
              </a:lnSpc>
            </a:pPr>
            <a:r>
              <a:rPr dirty="0" sz="1100" spc="-5">
                <a:latin typeface="Times New Roman"/>
                <a:cs typeface="Times New Roman"/>
              </a:rPr>
              <a:t>--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Thomas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Williams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When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</a:t>
            </a:r>
            <a:r>
              <a:rPr dirty="0" sz="1100" spc="-5">
                <a:latin typeface="Times New Roman"/>
                <a:cs typeface="Times New Roman"/>
              </a:rPr>
              <a:t> sit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down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write...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Times New Roman"/>
              <a:cs typeface="Times New Roman"/>
            </a:endParaRPr>
          </a:p>
          <a:p>
            <a:pPr marL="93980" indent="-81915">
              <a:lnSpc>
                <a:spcPct val="100000"/>
              </a:lnSpc>
              <a:buChar char="-"/>
              <a:tabLst>
                <a:tab pos="94615" algn="l"/>
              </a:tabLst>
            </a:pPr>
            <a:r>
              <a:rPr dirty="0" sz="1100" spc="-5">
                <a:latin typeface="Times New Roman"/>
                <a:cs typeface="Times New Roman"/>
              </a:rPr>
              <a:t>Does your mind turn blank?</a:t>
            </a:r>
            <a:endParaRPr sz="1100">
              <a:latin typeface="Times New Roman"/>
              <a:cs typeface="Times New Roman"/>
            </a:endParaRPr>
          </a:p>
          <a:p>
            <a:pPr marL="93980" indent="-81915">
              <a:lnSpc>
                <a:spcPct val="100000"/>
              </a:lnSpc>
              <a:spcBef>
                <a:spcPts val="575"/>
              </a:spcBef>
              <a:buChar char="-"/>
              <a:tabLst>
                <a:tab pos="94615" algn="l"/>
              </a:tabLst>
            </a:pPr>
            <a:r>
              <a:rPr dirty="0" sz="1100" spc="-5">
                <a:latin typeface="Times New Roman"/>
                <a:cs typeface="Times New Roman"/>
              </a:rPr>
              <a:t>Are </a:t>
            </a:r>
            <a:r>
              <a:rPr dirty="0" sz="1100">
                <a:latin typeface="Times New Roman"/>
                <a:cs typeface="Times New Roman"/>
              </a:rPr>
              <a:t>you</a:t>
            </a:r>
            <a:r>
              <a:rPr dirty="0" sz="1100" spc="-5">
                <a:latin typeface="Times New Roman"/>
                <a:cs typeface="Times New Roman"/>
              </a:rPr>
              <a:t> sure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 nothing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say?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650">
              <a:latin typeface="Times New Roman"/>
              <a:cs typeface="Times New Roman"/>
            </a:endParaRPr>
          </a:p>
          <a:p>
            <a:pPr algn="just" marL="12700" marR="5080">
              <a:lnSpc>
                <a:spcPts val="1270"/>
              </a:lnSpc>
            </a:pPr>
            <a:r>
              <a:rPr dirty="0" sz="1100" spc="-5">
                <a:latin typeface="Times New Roman"/>
                <a:cs typeface="Times New Roman"/>
              </a:rPr>
              <a:t>If so, you're not alone! Everyone experiences this at some time or other, but some people have strategies or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techniques to get them started. When you are planning to write something, try some of the following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suggestions.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EXPLORE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problem --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Times New Roman"/>
              <a:cs typeface="Times New Roman"/>
            </a:endParaRPr>
          </a:p>
          <a:p>
            <a:pPr marL="152400" indent="-140335">
              <a:lnSpc>
                <a:spcPct val="100000"/>
              </a:lnSpc>
              <a:buAutoNum type="arabicPeriod"/>
              <a:tabLst>
                <a:tab pos="153035" algn="l"/>
              </a:tabLst>
            </a:pPr>
            <a:r>
              <a:rPr dirty="0" sz="1100" spc="-5">
                <a:latin typeface="Times New Roman"/>
                <a:cs typeface="Times New Roman"/>
              </a:rPr>
              <a:t>Who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 reader?</a:t>
            </a:r>
            <a:endParaRPr sz="1100">
              <a:latin typeface="Times New Roman"/>
              <a:cs typeface="Times New Roman"/>
            </a:endParaRPr>
          </a:p>
          <a:p>
            <a:pPr marL="152400" indent="-140335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153035" algn="l"/>
              </a:tabLst>
            </a:pP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purpose?</a:t>
            </a:r>
            <a:endParaRPr sz="1100">
              <a:latin typeface="Times New Roman"/>
              <a:cs typeface="Times New Roman"/>
            </a:endParaRPr>
          </a:p>
          <a:p>
            <a:pPr marL="152400" indent="-140335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153035" algn="l"/>
              </a:tabLst>
            </a:pPr>
            <a:r>
              <a:rPr dirty="0" sz="1100" spc="-5">
                <a:latin typeface="Times New Roman"/>
                <a:cs typeface="Times New Roman"/>
              </a:rPr>
              <a:t>Who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writer?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(What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image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persona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want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project?)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MAKE </a:t>
            </a:r>
            <a:r>
              <a:rPr dirty="0" sz="1100">
                <a:latin typeface="Times New Roman"/>
                <a:cs typeface="Times New Roman"/>
              </a:rPr>
              <a:t>your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goals operational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50">
              <a:latin typeface="Times New Roman"/>
              <a:cs typeface="Times New Roman"/>
            </a:endParaRPr>
          </a:p>
          <a:p>
            <a:pPr marL="152400" indent="-140335">
              <a:lnSpc>
                <a:spcPts val="1295"/>
              </a:lnSpc>
              <a:buAutoNum type="arabicPeriod"/>
              <a:tabLst>
                <a:tab pos="153035" algn="l"/>
              </a:tabLst>
            </a:pPr>
            <a:r>
              <a:rPr dirty="0" sz="1100" spc="-5">
                <a:latin typeface="Times New Roman"/>
                <a:cs typeface="Times New Roman"/>
              </a:rPr>
              <a:t>How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achieve your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purpose?</a:t>
            </a:r>
            <a:endParaRPr sz="1100">
              <a:latin typeface="Times New Roman"/>
              <a:cs typeface="Times New Roman"/>
            </a:endParaRPr>
          </a:p>
          <a:p>
            <a:pPr marL="152400" indent="-140335">
              <a:lnSpc>
                <a:spcPts val="1295"/>
              </a:lnSpc>
              <a:buAutoNum type="arabicPeriod"/>
              <a:tabLst>
                <a:tab pos="153035" algn="l"/>
              </a:tabLst>
            </a:pP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 make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 plan?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GENERATE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ideas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1.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Brainstorm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Times New Roman"/>
              <a:cs typeface="Times New Roman"/>
            </a:endParaRPr>
          </a:p>
          <a:p>
            <a:pPr marL="93980" indent="-81915">
              <a:lnSpc>
                <a:spcPct val="100000"/>
              </a:lnSpc>
              <a:buChar char="-"/>
              <a:tabLst>
                <a:tab pos="94615" algn="l"/>
              </a:tabLst>
            </a:pPr>
            <a:r>
              <a:rPr dirty="0" sz="1100" spc="-5">
                <a:latin typeface="Times New Roman"/>
                <a:cs typeface="Times New Roman"/>
              </a:rPr>
              <a:t>Keep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writing</a:t>
            </a:r>
            <a:endParaRPr sz="1100">
              <a:latin typeface="Times New Roman"/>
              <a:cs typeface="Times New Roman"/>
            </a:endParaRPr>
          </a:p>
          <a:p>
            <a:pPr marL="93980" indent="-81915">
              <a:lnSpc>
                <a:spcPct val="100000"/>
              </a:lnSpc>
              <a:spcBef>
                <a:spcPts val="575"/>
              </a:spcBef>
              <a:buChar char="-"/>
              <a:tabLst>
                <a:tab pos="94615" algn="l"/>
              </a:tabLst>
            </a:pPr>
            <a:r>
              <a:rPr dirty="0" sz="1100" spc="-5">
                <a:latin typeface="Times New Roman"/>
                <a:cs typeface="Times New Roman"/>
              </a:rPr>
              <a:t>Don't censor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 evaluate</a:t>
            </a:r>
            <a:endParaRPr sz="1100">
              <a:latin typeface="Times New Roman"/>
              <a:cs typeface="Times New Roman"/>
            </a:endParaRPr>
          </a:p>
          <a:p>
            <a:pPr marL="93980" indent="-81915">
              <a:lnSpc>
                <a:spcPct val="100000"/>
              </a:lnSpc>
              <a:spcBef>
                <a:spcPts val="580"/>
              </a:spcBef>
              <a:buChar char="-"/>
              <a:tabLst>
                <a:tab pos="94615" algn="l"/>
              </a:tabLst>
            </a:pPr>
            <a:r>
              <a:rPr dirty="0" sz="1100" spc="-5">
                <a:latin typeface="Times New Roman"/>
                <a:cs typeface="Times New Roman"/>
              </a:rPr>
              <a:t>Keep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returning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problem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2.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Talk 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 reader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Times New Roman"/>
              <a:cs typeface="Times New Roman"/>
            </a:endParaRPr>
          </a:p>
          <a:p>
            <a:pPr marL="93980" indent="-81915">
              <a:lnSpc>
                <a:spcPct val="100000"/>
              </a:lnSpc>
              <a:spcBef>
                <a:spcPts val="5"/>
              </a:spcBef>
              <a:buChar char="-"/>
              <a:tabLst>
                <a:tab pos="94615" algn="l"/>
              </a:tabLst>
            </a:pPr>
            <a:r>
              <a:rPr dirty="0" sz="1100" spc="-5">
                <a:latin typeface="Times New Roman"/>
                <a:cs typeface="Times New Roman"/>
              </a:rPr>
              <a:t>What questions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would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ask?</a:t>
            </a:r>
            <a:endParaRPr sz="1100">
              <a:latin typeface="Times New Roman"/>
              <a:cs typeface="Times New Roman"/>
            </a:endParaRPr>
          </a:p>
          <a:p>
            <a:pPr marL="93980" indent="-81915">
              <a:lnSpc>
                <a:spcPct val="100000"/>
              </a:lnSpc>
              <a:spcBef>
                <a:spcPts val="575"/>
              </a:spcBef>
              <a:buChar char="-"/>
              <a:tabLst>
                <a:tab pos="94615" algn="l"/>
              </a:tabLst>
            </a:pP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kinds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readers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might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have?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550">
              <a:latin typeface="Times New Roman"/>
              <a:cs typeface="Times New Roman"/>
            </a:endParaRPr>
          </a:p>
          <a:p>
            <a:pPr marL="152400" indent="-140335">
              <a:lnSpc>
                <a:spcPct val="100000"/>
              </a:lnSpc>
              <a:buAutoNum type="arabicPeriod" startAt="3"/>
              <a:tabLst>
                <a:tab pos="153035" algn="l"/>
              </a:tabLst>
            </a:pPr>
            <a:r>
              <a:rPr dirty="0" sz="1100" spc="-5">
                <a:latin typeface="Times New Roman"/>
                <a:cs typeface="Times New Roman"/>
              </a:rPr>
              <a:t>Ask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yourself questions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290"/>
              </a:lnSpc>
              <a:spcBef>
                <a:spcPts val="5"/>
              </a:spcBef>
            </a:pPr>
            <a:r>
              <a:rPr dirty="0" sz="1100" spc="-5" b="1">
                <a:latin typeface="Times New Roman"/>
                <a:cs typeface="Times New Roman"/>
              </a:rPr>
              <a:t>A. Journalistic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questions</a:t>
            </a:r>
            <a:endParaRPr sz="1100">
              <a:latin typeface="Times New Roman"/>
              <a:cs typeface="Times New Roman"/>
            </a:endParaRPr>
          </a:p>
          <a:p>
            <a:pPr algn="just" marL="12700">
              <a:lnSpc>
                <a:spcPts val="1290"/>
              </a:lnSpc>
            </a:pPr>
            <a:r>
              <a:rPr dirty="0" sz="1100" spc="-5">
                <a:latin typeface="Times New Roman"/>
                <a:cs typeface="Times New Roman"/>
              </a:rPr>
              <a:t>Who?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What?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Where?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When?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Why?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How?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What?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spc="-5" b="1">
                <a:latin typeface="Times New Roman"/>
                <a:cs typeface="Times New Roman"/>
              </a:rPr>
              <a:t>WHEN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YOU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START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TO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10" b="1">
                <a:latin typeface="Times New Roman"/>
                <a:cs typeface="Times New Roman"/>
              </a:rPr>
              <a:t>WRITE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4580" y="342390"/>
            <a:ext cx="174498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 Elementary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41311" y="342390"/>
            <a:ext cx="22669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360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67219" y="9493248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15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972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829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084580" y="526034"/>
            <a:ext cx="6061710" cy="58959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29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You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can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try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textbook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formula:</a:t>
            </a:r>
            <a:endParaRPr sz="1100">
              <a:latin typeface="Times New Roman"/>
              <a:cs typeface="Times New Roman"/>
            </a:endParaRPr>
          </a:p>
          <a:p>
            <a:pPr marL="128905" indent="-116839">
              <a:lnSpc>
                <a:spcPts val="1265"/>
              </a:lnSpc>
              <a:buAutoNum type="romanUcPeriod"/>
              <a:tabLst>
                <a:tab pos="129539" algn="l"/>
              </a:tabLst>
            </a:pPr>
            <a:r>
              <a:rPr dirty="0" sz="1100" spc="-5">
                <a:latin typeface="Times New Roman"/>
                <a:cs typeface="Times New Roman"/>
              </a:rPr>
              <a:t>State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thesis.</a:t>
            </a:r>
            <a:endParaRPr sz="1100">
              <a:latin typeface="Times New Roman"/>
              <a:cs typeface="Times New Roman"/>
            </a:endParaRPr>
          </a:p>
          <a:p>
            <a:pPr marL="175260" indent="-163195">
              <a:lnSpc>
                <a:spcPts val="1295"/>
              </a:lnSpc>
              <a:buAutoNum type="romanUcPeriod"/>
              <a:tabLst>
                <a:tab pos="175895" algn="l"/>
              </a:tabLst>
            </a:pPr>
            <a:r>
              <a:rPr dirty="0" sz="1100" spc="-5">
                <a:latin typeface="Times New Roman"/>
                <a:cs typeface="Times New Roman"/>
              </a:rPr>
              <a:t>Write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outline.</a:t>
            </a:r>
            <a:endParaRPr sz="1100">
              <a:latin typeface="Times New Roman"/>
              <a:cs typeface="Times New Roman"/>
            </a:endParaRPr>
          </a:p>
          <a:p>
            <a:pPr marL="222250" indent="-210185">
              <a:lnSpc>
                <a:spcPct val="100000"/>
              </a:lnSpc>
              <a:spcBef>
                <a:spcPts val="580"/>
              </a:spcBef>
              <a:buAutoNum type="romanUcPeriod"/>
              <a:tabLst>
                <a:tab pos="222885" algn="l"/>
              </a:tabLst>
            </a:pPr>
            <a:r>
              <a:rPr dirty="0" sz="1100" spc="-5">
                <a:latin typeface="Times New Roman"/>
                <a:cs typeface="Times New Roman"/>
              </a:rPr>
              <a:t>Write the first draft.</a:t>
            </a:r>
            <a:endParaRPr sz="1100">
              <a:latin typeface="Times New Roman"/>
              <a:cs typeface="Times New Roman"/>
            </a:endParaRPr>
          </a:p>
          <a:p>
            <a:pPr marL="229870" indent="-217804">
              <a:lnSpc>
                <a:spcPct val="100000"/>
              </a:lnSpc>
              <a:spcBef>
                <a:spcPts val="575"/>
              </a:spcBef>
              <a:buAutoNum type="romanUcPeriod"/>
              <a:tabLst>
                <a:tab pos="230504" algn="l"/>
              </a:tabLst>
            </a:pPr>
            <a:r>
              <a:rPr dirty="0" sz="1100" spc="-5">
                <a:latin typeface="Times New Roman"/>
                <a:cs typeface="Times New Roman"/>
              </a:rPr>
              <a:t>Revise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polish.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dirty="0" sz="1100" spc="-5">
                <a:latin typeface="Times New Roman"/>
                <a:cs typeface="Times New Roman"/>
              </a:rPr>
              <a:t>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 often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doesn't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work!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Instead,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you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can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try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one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or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more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of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these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strategies: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>
              <a:lnSpc>
                <a:spcPts val="1285"/>
              </a:lnSpc>
            </a:pPr>
            <a:r>
              <a:rPr dirty="0" sz="1100" spc="-5" b="1">
                <a:latin typeface="Times New Roman"/>
                <a:cs typeface="Times New Roman"/>
              </a:rPr>
              <a:t>Ask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yourself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what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your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purpose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is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for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writing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about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subject.</a:t>
            </a:r>
            <a:endParaRPr sz="1100">
              <a:latin typeface="Times New Roman"/>
              <a:cs typeface="Times New Roman"/>
            </a:endParaRPr>
          </a:p>
          <a:p>
            <a:pPr algn="just" marL="12700" marR="5080">
              <a:lnSpc>
                <a:spcPts val="1270"/>
              </a:lnSpc>
              <a:spcBef>
                <a:spcPts val="50"/>
              </a:spcBef>
            </a:pPr>
            <a:r>
              <a:rPr dirty="0" sz="1100" spc="-5">
                <a:latin typeface="Times New Roman"/>
                <a:cs typeface="Times New Roman"/>
              </a:rPr>
              <a:t>There are many "correct" things to write about for any subject, but </a:t>
            </a:r>
            <a:r>
              <a:rPr dirty="0" sz="1100">
                <a:latin typeface="Times New Roman"/>
                <a:cs typeface="Times New Roman"/>
              </a:rPr>
              <a:t>you </a:t>
            </a:r>
            <a:r>
              <a:rPr dirty="0" sz="1100" spc="-5">
                <a:latin typeface="Times New Roman"/>
                <a:cs typeface="Times New Roman"/>
              </a:rPr>
              <a:t>need to narrow down </a:t>
            </a:r>
            <a:r>
              <a:rPr dirty="0" sz="1100">
                <a:latin typeface="Times New Roman"/>
                <a:cs typeface="Times New Roman"/>
              </a:rPr>
              <a:t>your </a:t>
            </a:r>
            <a:r>
              <a:rPr dirty="0" sz="1100" spc="-5">
                <a:latin typeface="Times New Roman"/>
                <a:cs typeface="Times New Roman"/>
              </a:rPr>
              <a:t>choices.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 example, your topic might be "hostel food." At this point, you and </a:t>
            </a:r>
            <a:r>
              <a:rPr dirty="0" sz="1100">
                <a:latin typeface="Times New Roman"/>
                <a:cs typeface="Times New Roman"/>
              </a:rPr>
              <a:t>your </a:t>
            </a:r>
            <a:r>
              <a:rPr dirty="0" sz="1100" spc="-5">
                <a:latin typeface="Times New Roman"/>
                <a:cs typeface="Times New Roman"/>
              </a:rPr>
              <a:t>potential reader are asking 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same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question,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"So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what?"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Why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should you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why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should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anyone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it?</a:t>
            </a:r>
            <a:endParaRPr sz="1100">
              <a:latin typeface="Times New Roman"/>
              <a:cs typeface="Times New Roman"/>
            </a:endParaRPr>
          </a:p>
          <a:p>
            <a:pPr algn="just" marL="12700">
              <a:lnSpc>
                <a:spcPts val="1195"/>
              </a:lnSpc>
            </a:pPr>
            <a:r>
              <a:rPr dirty="0" sz="1100" spc="-5">
                <a:latin typeface="Times New Roman"/>
                <a:cs typeface="Times New Roman"/>
              </a:rPr>
              <a:t>Do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want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reader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pity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because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intolerable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food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there?</a:t>
            </a:r>
            <a:endParaRPr sz="1100">
              <a:latin typeface="Times New Roman"/>
              <a:cs typeface="Times New Roman"/>
            </a:endParaRPr>
          </a:p>
          <a:p>
            <a:pPr algn="just" marL="12700">
              <a:lnSpc>
                <a:spcPts val="1265"/>
              </a:lnSpc>
            </a:pPr>
            <a:r>
              <a:rPr dirty="0" sz="1100" spc="-5">
                <a:latin typeface="Times New Roman"/>
                <a:cs typeface="Times New Roman"/>
              </a:rPr>
              <a:t>Do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want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analyze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large-scale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institutional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cooking?</a:t>
            </a:r>
            <a:endParaRPr sz="1100">
              <a:latin typeface="Times New Roman"/>
              <a:cs typeface="Times New Roman"/>
            </a:endParaRPr>
          </a:p>
          <a:p>
            <a:pPr algn="just" marL="12700">
              <a:lnSpc>
                <a:spcPts val="1290"/>
              </a:lnSpc>
            </a:pPr>
            <a:r>
              <a:rPr dirty="0" sz="1100" spc="-5">
                <a:latin typeface="Times New Roman"/>
                <a:cs typeface="Times New Roman"/>
              </a:rPr>
              <a:t>Do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want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compare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University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Hostel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1’s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food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served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Hostel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2?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>
              <a:lnSpc>
                <a:spcPts val="1290"/>
              </a:lnSpc>
            </a:pPr>
            <a:r>
              <a:rPr dirty="0" sz="1100" spc="-5" b="1">
                <a:latin typeface="Times New Roman"/>
                <a:cs typeface="Times New Roman"/>
              </a:rPr>
              <a:t>Ask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yourself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how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you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are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going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to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achieve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this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purpose.</a:t>
            </a:r>
            <a:endParaRPr sz="1100">
              <a:latin typeface="Times New Roman"/>
              <a:cs typeface="Times New Roman"/>
            </a:endParaRPr>
          </a:p>
          <a:p>
            <a:pPr algn="just" marL="12700" marR="5080">
              <a:lnSpc>
                <a:spcPts val="1270"/>
              </a:lnSpc>
              <a:spcBef>
                <a:spcPts val="55"/>
              </a:spcBef>
            </a:pPr>
            <a:r>
              <a:rPr dirty="0" sz="1100" spc="-5">
                <a:latin typeface="Times New Roman"/>
                <a:cs typeface="Times New Roman"/>
              </a:rPr>
              <a:t>How,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example,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would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achieve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purpose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if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wanted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describe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movie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best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you've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ever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seen?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Would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define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yourself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specific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means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doing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so?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Would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comments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movie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beyond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merely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telling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reader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really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liked it?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00">
              <a:latin typeface="Times New Roman"/>
              <a:cs typeface="Times New Roman"/>
            </a:endParaRPr>
          </a:p>
          <a:p>
            <a:pPr algn="just" marL="12700">
              <a:lnSpc>
                <a:spcPts val="1290"/>
              </a:lnSpc>
            </a:pPr>
            <a:r>
              <a:rPr dirty="0" sz="1100" spc="-5" b="1">
                <a:latin typeface="Times New Roman"/>
                <a:cs typeface="Times New Roman"/>
              </a:rPr>
              <a:t>Nutshell your whole idea</a:t>
            </a:r>
            <a:endParaRPr sz="1100">
              <a:latin typeface="Times New Roman"/>
              <a:cs typeface="Times New Roman"/>
            </a:endParaRPr>
          </a:p>
          <a:p>
            <a:pPr algn="just" marL="12700">
              <a:lnSpc>
                <a:spcPts val="1290"/>
              </a:lnSpc>
            </a:pPr>
            <a:r>
              <a:rPr dirty="0" sz="1100" spc="-5">
                <a:latin typeface="Times New Roman"/>
                <a:cs typeface="Times New Roman"/>
              </a:rPr>
              <a:t>Tell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someone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three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four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>
              <a:lnSpc>
                <a:spcPts val="1285"/>
              </a:lnSpc>
            </a:pPr>
            <a:r>
              <a:rPr dirty="0" sz="1100" spc="-5" b="1">
                <a:latin typeface="Times New Roman"/>
                <a:cs typeface="Times New Roman"/>
              </a:rPr>
              <a:t>Diagram your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major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points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somehow.</a:t>
            </a:r>
            <a:endParaRPr sz="1100">
              <a:latin typeface="Times New Roman"/>
              <a:cs typeface="Times New Roman"/>
            </a:endParaRPr>
          </a:p>
          <a:p>
            <a:pPr algn="just" marL="12700" marR="5080">
              <a:lnSpc>
                <a:spcPts val="1270"/>
              </a:lnSpc>
              <a:spcBef>
                <a:spcPts val="50"/>
              </a:spcBef>
            </a:pPr>
            <a:r>
              <a:rPr dirty="0" sz="1100" spc="-5">
                <a:latin typeface="Times New Roman"/>
                <a:cs typeface="Times New Roman"/>
              </a:rPr>
              <a:t>Make a tree, outline, or whatever helps </a:t>
            </a:r>
            <a:r>
              <a:rPr dirty="0" sz="1100">
                <a:latin typeface="Times New Roman"/>
                <a:cs typeface="Times New Roman"/>
              </a:rPr>
              <a:t>you </a:t>
            </a:r>
            <a:r>
              <a:rPr dirty="0" sz="1100" spc="-5">
                <a:latin typeface="Times New Roman"/>
                <a:cs typeface="Times New Roman"/>
              </a:rPr>
              <a:t>to see a schematic representation of what </a:t>
            </a:r>
            <a:r>
              <a:rPr dirty="0" sz="1100">
                <a:latin typeface="Times New Roman"/>
                <a:cs typeface="Times New Roman"/>
              </a:rPr>
              <a:t>you </a:t>
            </a:r>
            <a:r>
              <a:rPr dirty="0" sz="1100" spc="-5">
                <a:latin typeface="Times New Roman"/>
                <a:cs typeface="Times New Roman"/>
              </a:rPr>
              <a:t>have. You may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discover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material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 places.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COLLECTION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50">
              <a:latin typeface="Times New Roman"/>
              <a:cs typeface="Times New Roman"/>
            </a:endParaRPr>
          </a:p>
          <a:p>
            <a:pPr lvl="1" marL="469265" indent="-229235">
              <a:lnSpc>
                <a:spcPct val="100000"/>
              </a:lnSpc>
              <a:buAutoNum type="arabicPeriod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Internal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source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information:</a:t>
            </a:r>
            <a:endParaRPr sz="1100">
              <a:latin typeface="Times New Roman"/>
              <a:cs typeface="Times New Roman"/>
            </a:endParaRPr>
          </a:p>
          <a:p>
            <a:pPr lvl="2" marL="926465" indent="-229235">
              <a:lnSpc>
                <a:spcPct val="100000"/>
              </a:lnSpc>
              <a:spcBef>
                <a:spcPts val="575"/>
              </a:spcBef>
              <a:buAutoNum type="arabicParenR"/>
              <a:tabLst>
                <a:tab pos="927100" algn="l"/>
              </a:tabLst>
            </a:pP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yourself</a:t>
            </a:r>
            <a:endParaRPr sz="1100">
              <a:latin typeface="Times New Roman"/>
              <a:cs typeface="Times New Roman"/>
            </a:endParaRPr>
          </a:p>
          <a:p>
            <a:pPr lvl="3" marL="1383665" indent="-229235">
              <a:lnSpc>
                <a:spcPct val="100000"/>
              </a:lnSpc>
              <a:spcBef>
                <a:spcPts val="580"/>
              </a:spcBef>
              <a:buAutoNum type="arabicPeriod"/>
              <a:tabLst>
                <a:tab pos="1384300" algn="l"/>
              </a:tabLst>
            </a:pPr>
            <a:r>
              <a:rPr dirty="0" sz="1100" spc="-5">
                <a:latin typeface="Times New Roman"/>
                <a:cs typeface="Times New Roman"/>
              </a:rPr>
              <a:t>free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writing,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brain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storming,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probing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yourself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84550" y="6629656"/>
            <a:ext cx="139446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latin typeface="Times New Roman"/>
                <a:cs typeface="Times New Roman"/>
              </a:rPr>
              <a:t>PROBING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YOURSELF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13143" y="6717744"/>
            <a:ext cx="3506470" cy="219456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X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mean?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(Definition)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various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features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X?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(Description)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component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parts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X?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(Simple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Analysis)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80"/>
              </a:spcBef>
              <a:buAutoNum type="arabicPeriod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How 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X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made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 done?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(Process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Analysis)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80"/>
              </a:spcBef>
              <a:buAutoNum type="arabicPeriod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How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should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X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made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done?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(Directional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Analysis)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essential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function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X?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(Functional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Analysis)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causes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X?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(Causal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Analysis)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80"/>
              </a:spcBef>
              <a:buAutoNum type="arabicPeriod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consequences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X?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(Causal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Analysis)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80"/>
              </a:spcBef>
              <a:buAutoNum type="arabicPeriod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types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X?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(Classification)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13143" y="8886408"/>
            <a:ext cx="2841625" cy="50736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675"/>
              </a:spcBef>
              <a:buAutoNum type="arabicPeriod" startAt="10"/>
              <a:tabLst>
                <a:tab pos="241935" algn="l"/>
              </a:tabLst>
            </a:pPr>
            <a:r>
              <a:rPr dirty="0" sz="1100" spc="-5">
                <a:latin typeface="Times New Roman"/>
                <a:cs typeface="Times New Roman"/>
              </a:rPr>
              <a:t>How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X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like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unlike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Y?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(Comparison)</a:t>
            </a:r>
            <a:endParaRPr sz="110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575"/>
              </a:spcBef>
              <a:buAutoNum type="arabicPeriod" startAt="10"/>
              <a:tabLst>
                <a:tab pos="241935" algn="l"/>
              </a:tabLst>
            </a:pP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present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status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X?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(Comparison)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7380" y="342390"/>
            <a:ext cx="174498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 Elementary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84111" y="342390"/>
            <a:ext cx="22669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788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10019" y="9493248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16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400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257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855980" y="452574"/>
            <a:ext cx="4069715" cy="243522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675"/>
              </a:spcBef>
              <a:buAutoNum type="arabicPeriod" startAt="12"/>
              <a:tabLst>
                <a:tab pos="241935" algn="l"/>
              </a:tabLst>
            </a:pP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significance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X?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(Interpretation)</a:t>
            </a:r>
            <a:endParaRPr sz="110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575"/>
              </a:spcBef>
              <a:buAutoNum type="arabicPeriod" startAt="12"/>
              <a:tabLst>
                <a:tab pos="241935" algn="l"/>
              </a:tabLst>
            </a:pP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facts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X?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(Reportage)</a:t>
            </a:r>
            <a:endParaRPr sz="110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575"/>
              </a:spcBef>
              <a:buAutoNum type="arabicPeriod" startAt="12"/>
              <a:tabLst>
                <a:tab pos="241935" algn="l"/>
              </a:tabLst>
            </a:pPr>
            <a:r>
              <a:rPr dirty="0" sz="1100" spc="-5">
                <a:latin typeface="Times New Roman"/>
                <a:cs typeface="Times New Roman"/>
              </a:rPr>
              <a:t>How did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X happen?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(Narration)</a:t>
            </a:r>
            <a:endParaRPr sz="110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585"/>
              </a:spcBef>
              <a:buAutoNum type="arabicPeriod" startAt="12"/>
              <a:tabLst>
                <a:tab pos="241935" algn="l"/>
              </a:tabLst>
            </a:pP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kind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person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X?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(Characterization/Profile)</a:t>
            </a:r>
            <a:endParaRPr sz="110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575"/>
              </a:spcBef>
              <a:buAutoNum type="arabicPeriod" startAt="12"/>
              <a:tabLst>
                <a:tab pos="241935" algn="l"/>
              </a:tabLst>
            </a:pP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my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personal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response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X?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(Reflection)</a:t>
            </a:r>
            <a:endParaRPr sz="110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575"/>
              </a:spcBef>
              <a:buAutoNum type="arabicPeriod" startAt="12"/>
              <a:tabLst>
                <a:tab pos="241935" algn="l"/>
              </a:tabLst>
            </a:pP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memory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X?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(Reminiscence)</a:t>
            </a:r>
            <a:endParaRPr sz="110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575"/>
              </a:spcBef>
              <a:buAutoNum type="arabicPeriod" startAt="12"/>
              <a:tabLst>
                <a:tab pos="241935" algn="l"/>
              </a:tabLst>
            </a:pP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value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X?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(Evaluation)</a:t>
            </a:r>
            <a:endParaRPr sz="110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585"/>
              </a:spcBef>
              <a:buAutoNum type="arabicPeriod" startAt="12"/>
              <a:tabLst>
                <a:tab pos="241935" algn="l"/>
              </a:tabLst>
            </a:pP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essential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major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points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features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X?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(Summary)</a:t>
            </a:r>
            <a:endParaRPr sz="110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575"/>
              </a:spcBef>
              <a:buAutoNum type="arabicPeriod" startAt="12"/>
              <a:tabLst>
                <a:tab pos="241935" algn="l"/>
              </a:tabLst>
            </a:pP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case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made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against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X?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(Persuasion)</a:t>
            </a:r>
            <a:endParaRPr sz="110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575"/>
              </a:spcBef>
              <a:buAutoNum type="arabicPeriod" startAt="12"/>
              <a:tabLst>
                <a:tab pos="241935" algn="l"/>
              </a:tabLst>
            </a:pPr>
            <a:r>
              <a:rPr dirty="0" sz="1100" spc="-5">
                <a:latin typeface="Times New Roman"/>
                <a:cs typeface="Times New Roman"/>
              </a:rPr>
              <a:t>(Adapted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from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Jacqueline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Berke's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Twenty</a:t>
            </a:r>
            <a:r>
              <a:rPr dirty="0" sz="1100" spc="15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Questions</a:t>
            </a:r>
            <a:r>
              <a:rPr dirty="0" sz="1100" spc="15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for</a:t>
            </a:r>
            <a:r>
              <a:rPr dirty="0" sz="1100" spc="1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the</a:t>
            </a:r>
            <a:r>
              <a:rPr dirty="0" sz="1100" spc="15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Writer</a:t>
            </a:r>
            <a:r>
              <a:rPr dirty="0" sz="1100" spc="15" i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7511" y="9270762"/>
            <a:ext cx="215138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Source: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Purdue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University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Sources.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503170" y="6969252"/>
            <a:ext cx="1361440" cy="529590"/>
          </a:xfrm>
          <a:custGeom>
            <a:avLst/>
            <a:gdLst/>
            <a:ahLst/>
            <a:cxnLst/>
            <a:rect l="l" t="t" r="r" b="b"/>
            <a:pathLst>
              <a:path w="1361439" h="529590">
                <a:moveTo>
                  <a:pt x="680466" y="0"/>
                </a:moveTo>
                <a:lnTo>
                  <a:pt x="614955" y="1207"/>
                </a:lnTo>
                <a:lnTo>
                  <a:pt x="551201" y="4757"/>
                </a:lnTo>
                <a:lnTo>
                  <a:pt x="489490" y="10540"/>
                </a:lnTo>
                <a:lnTo>
                  <a:pt x="430107" y="18445"/>
                </a:lnTo>
                <a:lnTo>
                  <a:pt x="373338" y="28363"/>
                </a:lnTo>
                <a:lnTo>
                  <a:pt x="319469" y="40184"/>
                </a:lnTo>
                <a:lnTo>
                  <a:pt x="268786" y="53799"/>
                </a:lnTo>
                <a:lnTo>
                  <a:pt x="221573" y="69097"/>
                </a:lnTo>
                <a:lnTo>
                  <a:pt x="178117" y="85968"/>
                </a:lnTo>
                <a:lnTo>
                  <a:pt x="138704" y="104303"/>
                </a:lnTo>
                <a:lnTo>
                  <a:pt x="103619" y="123993"/>
                </a:lnTo>
                <a:lnTo>
                  <a:pt x="47576" y="166994"/>
                </a:lnTo>
                <a:lnTo>
                  <a:pt x="12275" y="214094"/>
                </a:lnTo>
                <a:lnTo>
                  <a:pt x="0" y="264414"/>
                </a:lnTo>
                <a:lnTo>
                  <a:pt x="3116" y="289928"/>
                </a:lnTo>
                <a:lnTo>
                  <a:pt x="27190" y="338803"/>
                </a:lnTo>
                <a:lnTo>
                  <a:pt x="73148" y="384060"/>
                </a:lnTo>
                <a:lnTo>
                  <a:pt x="138704" y="424805"/>
                </a:lnTo>
                <a:lnTo>
                  <a:pt x="178117" y="443206"/>
                </a:lnTo>
                <a:lnTo>
                  <a:pt x="221573" y="460145"/>
                </a:lnTo>
                <a:lnTo>
                  <a:pt x="268786" y="475509"/>
                </a:lnTo>
                <a:lnTo>
                  <a:pt x="319469" y="489187"/>
                </a:lnTo>
                <a:lnTo>
                  <a:pt x="373338" y="501067"/>
                </a:lnTo>
                <a:lnTo>
                  <a:pt x="430107" y="511037"/>
                </a:lnTo>
                <a:lnTo>
                  <a:pt x="489490" y="518986"/>
                </a:lnTo>
                <a:lnTo>
                  <a:pt x="551201" y="524803"/>
                </a:lnTo>
                <a:lnTo>
                  <a:pt x="614955" y="528374"/>
                </a:lnTo>
                <a:lnTo>
                  <a:pt x="680466" y="529590"/>
                </a:lnTo>
                <a:lnTo>
                  <a:pt x="745976" y="528374"/>
                </a:lnTo>
                <a:lnTo>
                  <a:pt x="809730" y="524803"/>
                </a:lnTo>
                <a:lnTo>
                  <a:pt x="871441" y="518986"/>
                </a:lnTo>
                <a:lnTo>
                  <a:pt x="930824" y="511037"/>
                </a:lnTo>
                <a:lnTo>
                  <a:pt x="987593" y="501067"/>
                </a:lnTo>
                <a:lnTo>
                  <a:pt x="1041462" y="489187"/>
                </a:lnTo>
                <a:lnTo>
                  <a:pt x="1092145" y="475509"/>
                </a:lnTo>
                <a:lnTo>
                  <a:pt x="1139358" y="460145"/>
                </a:lnTo>
                <a:lnTo>
                  <a:pt x="1182814" y="443206"/>
                </a:lnTo>
                <a:lnTo>
                  <a:pt x="1222227" y="424805"/>
                </a:lnTo>
                <a:lnTo>
                  <a:pt x="1257312" y="405052"/>
                </a:lnTo>
                <a:lnTo>
                  <a:pt x="1313355" y="361940"/>
                </a:lnTo>
                <a:lnTo>
                  <a:pt x="1348656" y="314762"/>
                </a:lnTo>
                <a:lnTo>
                  <a:pt x="1360932" y="264414"/>
                </a:lnTo>
                <a:lnTo>
                  <a:pt x="1357815" y="238906"/>
                </a:lnTo>
                <a:lnTo>
                  <a:pt x="1333741" y="190087"/>
                </a:lnTo>
                <a:lnTo>
                  <a:pt x="1287783" y="144926"/>
                </a:lnTo>
                <a:lnTo>
                  <a:pt x="1222227" y="104303"/>
                </a:lnTo>
                <a:lnTo>
                  <a:pt x="1182814" y="85968"/>
                </a:lnTo>
                <a:lnTo>
                  <a:pt x="1139358" y="69097"/>
                </a:lnTo>
                <a:lnTo>
                  <a:pt x="1092145" y="53799"/>
                </a:lnTo>
                <a:lnTo>
                  <a:pt x="1041462" y="40184"/>
                </a:lnTo>
                <a:lnTo>
                  <a:pt x="987593" y="28363"/>
                </a:lnTo>
                <a:lnTo>
                  <a:pt x="930824" y="18445"/>
                </a:lnTo>
                <a:lnTo>
                  <a:pt x="871441" y="10540"/>
                </a:lnTo>
                <a:lnTo>
                  <a:pt x="809730" y="4757"/>
                </a:lnTo>
                <a:lnTo>
                  <a:pt x="745976" y="1207"/>
                </a:lnTo>
                <a:lnTo>
                  <a:pt x="680466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789173" y="7065516"/>
            <a:ext cx="735965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spc="-5">
                <a:latin typeface="Times New Roman"/>
                <a:cs typeface="Times New Roman"/>
              </a:rPr>
              <a:t>Holidays</a:t>
            </a:r>
            <a:endParaRPr sz="155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034029" y="5475478"/>
            <a:ext cx="2058670" cy="1496060"/>
            <a:chOff x="3034029" y="5475478"/>
            <a:chExt cx="2058670" cy="1496060"/>
          </a:xfrm>
        </p:grpSpPr>
        <p:sp>
          <p:nvSpPr>
            <p:cNvPr id="13" name="object 13"/>
            <p:cNvSpPr/>
            <p:nvPr/>
          </p:nvSpPr>
          <p:spPr>
            <a:xfrm>
              <a:off x="3182873" y="6281928"/>
              <a:ext cx="543560" cy="683260"/>
            </a:xfrm>
            <a:custGeom>
              <a:avLst/>
              <a:gdLst/>
              <a:ahLst/>
              <a:cxnLst/>
              <a:rect l="l" t="t" r="r" b="b"/>
              <a:pathLst>
                <a:path w="543560" h="683259">
                  <a:moveTo>
                    <a:pt x="0" y="682752"/>
                  </a:moveTo>
                  <a:lnTo>
                    <a:pt x="54330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040379" y="5481828"/>
              <a:ext cx="2045970" cy="782955"/>
            </a:xfrm>
            <a:custGeom>
              <a:avLst/>
              <a:gdLst/>
              <a:ahLst/>
              <a:cxnLst/>
              <a:rect l="l" t="t" r="r" b="b"/>
              <a:pathLst>
                <a:path w="2045970" h="782954">
                  <a:moveTo>
                    <a:pt x="1022604" y="0"/>
                  </a:moveTo>
                  <a:lnTo>
                    <a:pt x="955381" y="832"/>
                  </a:lnTo>
                  <a:lnTo>
                    <a:pt x="889318" y="3295"/>
                  </a:lnTo>
                  <a:lnTo>
                    <a:pt x="824548" y="7338"/>
                  </a:lnTo>
                  <a:lnTo>
                    <a:pt x="761207" y="12907"/>
                  </a:lnTo>
                  <a:lnTo>
                    <a:pt x="699430" y="19952"/>
                  </a:lnTo>
                  <a:lnTo>
                    <a:pt x="639352" y="28420"/>
                  </a:lnTo>
                  <a:lnTo>
                    <a:pt x="581107" y="38260"/>
                  </a:lnTo>
                  <a:lnTo>
                    <a:pt x="524830" y="49420"/>
                  </a:lnTo>
                  <a:lnTo>
                    <a:pt x="470657" y="61848"/>
                  </a:lnTo>
                  <a:lnTo>
                    <a:pt x="418722" y="75492"/>
                  </a:lnTo>
                  <a:lnTo>
                    <a:pt x="369159" y="90301"/>
                  </a:lnTo>
                  <a:lnTo>
                    <a:pt x="322105" y="106223"/>
                  </a:lnTo>
                  <a:lnTo>
                    <a:pt x="277694" y="123206"/>
                  </a:lnTo>
                  <a:lnTo>
                    <a:pt x="236060" y="141198"/>
                  </a:lnTo>
                  <a:lnTo>
                    <a:pt x="197339" y="160148"/>
                  </a:lnTo>
                  <a:lnTo>
                    <a:pt x="161666" y="180003"/>
                  </a:lnTo>
                  <a:lnTo>
                    <a:pt x="129175" y="200711"/>
                  </a:lnTo>
                  <a:lnTo>
                    <a:pt x="74279" y="244484"/>
                  </a:lnTo>
                  <a:lnTo>
                    <a:pt x="33732" y="291050"/>
                  </a:lnTo>
                  <a:lnTo>
                    <a:pt x="8613" y="339995"/>
                  </a:lnTo>
                  <a:lnTo>
                    <a:pt x="0" y="390906"/>
                  </a:lnTo>
                  <a:lnTo>
                    <a:pt x="2175" y="416668"/>
                  </a:lnTo>
                  <a:lnTo>
                    <a:pt x="19176" y="466803"/>
                  </a:lnTo>
                  <a:lnTo>
                    <a:pt x="52145" y="514740"/>
                  </a:lnTo>
                  <a:lnTo>
                    <a:pt x="100001" y="560066"/>
                  </a:lnTo>
                  <a:lnTo>
                    <a:pt x="161666" y="602371"/>
                  </a:lnTo>
                  <a:lnTo>
                    <a:pt x="197339" y="622261"/>
                  </a:lnTo>
                  <a:lnTo>
                    <a:pt x="236060" y="641241"/>
                  </a:lnTo>
                  <a:lnTo>
                    <a:pt x="277694" y="659260"/>
                  </a:lnTo>
                  <a:lnTo>
                    <a:pt x="322105" y="676266"/>
                  </a:lnTo>
                  <a:lnTo>
                    <a:pt x="369159" y="692207"/>
                  </a:lnTo>
                  <a:lnTo>
                    <a:pt x="418722" y="707032"/>
                  </a:lnTo>
                  <a:lnTo>
                    <a:pt x="470657" y="720690"/>
                  </a:lnTo>
                  <a:lnTo>
                    <a:pt x="524830" y="733128"/>
                  </a:lnTo>
                  <a:lnTo>
                    <a:pt x="581107" y="744296"/>
                  </a:lnTo>
                  <a:lnTo>
                    <a:pt x="639352" y="754143"/>
                  </a:lnTo>
                  <a:lnTo>
                    <a:pt x="699430" y="762615"/>
                  </a:lnTo>
                  <a:lnTo>
                    <a:pt x="761207" y="769663"/>
                  </a:lnTo>
                  <a:lnTo>
                    <a:pt x="824548" y="775234"/>
                  </a:lnTo>
                  <a:lnTo>
                    <a:pt x="889318" y="779277"/>
                  </a:lnTo>
                  <a:lnTo>
                    <a:pt x="955381" y="781741"/>
                  </a:lnTo>
                  <a:lnTo>
                    <a:pt x="1022604" y="782574"/>
                  </a:lnTo>
                  <a:lnTo>
                    <a:pt x="1089914" y="781741"/>
                  </a:lnTo>
                  <a:lnTo>
                    <a:pt x="1156058" y="779277"/>
                  </a:lnTo>
                  <a:lnTo>
                    <a:pt x="1220902" y="775234"/>
                  </a:lnTo>
                  <a:lnTo>
                    <a:pt x="1284310" y="769663"/>
                  </a:lnTo>
                  <a:lnTo>
                    <a:pt x="1346149" y="762615"/>
                  </a:lnTo>
                  <a:lnTo>
                    <a:pt x="1406283" y="754143"/>
                  </a:lnTo>
                  <a:lnTo>
                    <a:pt x="1464578" y="744296"/>
                  </a:lnTo>
                  <a:lnTo>
                    <a:pt x="1520899" y="733128"/>
                  </a:lnTo>
                  <a:lnTo>
                    <a:pt x="1575113" y="720690"/>
                  </a:lnTo>
                  <a:lnTo>
                    <a:pt x="1627083" y="707032"/>
                  </a:lnTo>
                  <a:lnTo>
                    <a:pt x="1676676" y="692207"/>
                  </a:lnTo>
                  <a:lnTo>
                    <a:pt x="1723757" y="676266"/>
                  </a:lnTo>
                  <a:lnTo>
                    <a:pt x="1768191" y="659260"/>
                  </a:lnTo>
                  <a:lnTo>
                    <a:pt x="1809844" y="641241"/>
                  </a:lnTo>
                  <a:lnTo>
                    <a:pt x="1848581" y="622261"/>
                  </a:lnTo>
                  <a:lnTo>
                    <a:pt x="1884268" y="602371"/>
                  </a:lnTo>
                  <a:lnTo>
                    <a:pt x="1916769" y="581622"/>
                  </a:lnTo>
                  <a:lnTo>
                    <a:pt x="1971679" y="537755"/>
                  </a:lnTo>
                  <a:lnTo>
                    <a:pt x="2012234" y="491072"/>
                  </a:lnTo>
                  <a:lnTo>
                    <a:pt x="2037356" y="441985"/>
                  </a:lnTo>
                  <a:lnTo>
                    <a:pt x="2045970" y="390906"/>
                  </a:lnTo>
                  <a:lnTo>
                    <a:pt x="2043794" y="365230"/>
                  </a:lnTo>
                  <a:lnTo>
                    <a:pt x="2026791" y="315251"/>
                  </a:lnTo>
                  <a:lnTo>
                    <a:pt x="1993818" y="267443"/>
                  </a:lnTo>
                  <a:lnTo>
                    <a:pt x="1945951" y="222222"/>
                  </a:lnTo>
                  <a:lnTo>
                    <a:pt x="1884268" y="180003"/>
                  </a:lnTo>
                  <a:lnTo>
                    <a:pt x="1848581" y="160148"/>
                  </a:lnTo>
                  <a:lnTo>
                    <a:pt x="1809844" y="141198"/>
                  </a:lnTo>
                  <a:lnTo>
                    <a:pt x="1768191" y="123206"/>
                  </a:lnTo>
                  <a:lnTo>
                    <a:pt x="1723757" y="106223"/>
                  </a:lnTo>
                  <a:lnTo>
                    <a:pt x="1676676" y="90301"/>
                  </a:lnTo>
                  <a:lnTo>
                    <a:pt x="1627083" y="75492"/>
                  </a:lnTo>
                  <a:lnTo>
                    <a:pt x="1575113" y="61848"/>
                  </a:lnTo>
                  <a:lnTo>
                    <a:pt x="1520899" y="49420"/>
                  </a:lnTo>
                  <a:lnTo>
                    <a:pt x="1464578" y="38260"/>
                  </a:lnTo>
                  <a:lnTo>
                    <a:pt x="1406283" y="28420"/>
                  </a:lnTo>
                  <a:lnTo>
                    <a:pt x="1346149" y="19952"/>
                  </a:lnTo>
                  <a:lnTo>
                    <a:pt x="1284310" y="12907"/>
                  </a:lnTo>
                  <a:lnTo>
                    <a:pt x="1220902" y="7338"/>
                  </a:lnTo>
                  <a:lnTo>
                    <a:pt x="1156058" y="3295"/>
                  </a:lnTo>
                  <a:lnTo>
                    <a:pt x="1089914" y="832"/>
                  </a:lnTo>
                  <a:lnTo>
                    <a:pt x="1022604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627511" y="3095507"/>
            <a:ext cx="4557395" cy="28790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latin typeface="Times New Roman"/>
                <a:cs typeface="Times New Roman"/>
              </a:rPr>
              <a:t>LISTING: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926465" algn="l"/>
              </a:tabLst>
            </a:pP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example:	HOLIDAYS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 </a:t>
            </a:r>
            <a:r>
              <a:rPr dirty="0" sz="1100" spc="-5">
                <a:latin typeface="Times New Roman"/>
                <a:cs typeface="Times New Roman"/>
              </a:rPr>
              <a:t>list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points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consider.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50">
              <a:latin typeface="Times New Roman"/>
              <a:cs typeface="Times New Roman"/>
            </a:endParaRPr>
          </a:p>
          <a:p>
            <a:pPr marL="1155700" indent="-228600">
              <a:lnSpc>
                <a:spcPct val="100000"/>
              </a:lnSpc>
              <a:buAutoNum type="arabicPeriod"/>
              <a:tabLst>
                <a:tab pos="1155700" algn="l"/>
              </a:tabLst>
            </a:pPr>
            <a:r>
              <a:rPr dirty="0" sz="1100" spc="-5">
                <a:latin typeface="Times New Roman"/>
                <a:cs typeface="Times New Roman"/>
              </a:rPr>
              <a:t>Good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holidays</a:t>
            </a:r>
            <a:endParaRPr sz="1100">
              <a:latin typeface="Times New Roman"/>
              <a:cs typeface="Times New Roman"/>
            </a:endParaRPr>
          </a:p>
          <a:p>
            <a:pPr marL="1155700" indent="-228600">
              <a:lnSpc>
                <a:spcPct val="100000"/>
              </a:lnSpc>
              <a:spcBef>
                <a:spcPts val="585"/>
              </a:spcBef>
              <a:buAutoNum type="arabicPeriod"/>
              <a:tabLst>
                <a:tab pos="1155700" algn="l"/>
              </a:tabLst>
            </a:pPr>
            <a:r>
              <a:rPr dirty="0" sz="1100" spc="-5">
                <a:latin typeface="Times New Roman"/>
                <a:cs typeface="Times New Roman"/>
              </a:rPr>
              <a:t>School</a:t>
            </a:r>
            <a:r>
              <a:rPr dirty="0" sz="1100" spc="-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holidays</a:t>
            </a:r>
            <a:endParaRPr sz="1100">
              <a:latin typeface="Times New Roman"/>
              <a:cs typeface="Times New Roman"/>
            </a:endParaRPr>
          </a:p>
          <a:p>
            <a:pPr marL="1155700" indent="-22860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1155700" algn="l"/>
              </a:tabLst>
            </a:pPr>
            <a:r>
              <a:rPr dirty="0" sz="1100" spc="-5">
                <a:latin typeface="Times New Roman"/>
                <a:cs typeface="Times New Roman"/>
              </a:rPr>
              <a:t>Family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holidays</a:t>
            </a:r>
            <a:endParaRPr sz="1100">
              <a:latin typeface="Times New Roman"/>
              <a:cs typeface="Times New Roman"/>
            </a:endParaRPr>
          </a:p>
          <a:p>
            <a:pPr marL="1155700" indent="-22860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1155700" algn="l"/>
              </a:tabLst>
            </a:pPr>
            <a:r>
              <a:rPr dirty="0" sz="1100" spc="-5">
                <a:latin typeface="Times New Roman"/>
                <a:cs typeface="Times New Roman"/>
              </a:rPr>
              <a:t>Holidays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abroad</a:t>
            </a:r>
            <a:endParaRPr sz="1100">
              <a:latin typeface="Times New Roman"/>
              <a:cs typeface="Times New Roman"/>
            </a:endParaRPr>
          </a:p>
          <a:p>
            <a:pPr marL="1155700" indent="-22860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1155700" algn="l"/>
              </a:tabLst>
            </a:pPr>
            <a:r>
              <a:rPr dirty="0" sz="1100" spc="-5">
                <a:latin typeface="Times New Roman"/>
                <a:cs typeface="Times New Roman"/>
              </a:rPr>
              <a:t>Plans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preparations</a:t>
            </a:r>
            <a:endParaRPr sz="1100">
              <a:latin typeface="Times New Roman"/>
              <a:cs typeface="Times New Roman"/>
            </a:endParaRPr>
          </a:p>
          <a:p>
            <a:pPr marL="1155700" indent="-22860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1155700" algn="l"/>
              </a:tabLst>
            </a:pPr>
            <a:r>
              <a:rPr dirty="0" sz="1100" spc="-5">
                <a:latin typeface="Times New Roman"/>
                <a:cs typeface="Times New Roman"/>
              </a:rPr>
              <a:t>Special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memories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dirty="0" sz="1100" spc="-5">
                <a:latin typeface="Times New Roman"/>
                <a:cs typeface="Times New Roman"/>
              </a:rPr>
              <a:t>CLUSTRING: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Times New Roman"/>
              <a:cs typeface="Times New Roman"/>
            </a:endParaRPr>
          </a:p>
          <a:p>
            <a:pPr marL="2814955">
              <a:lnSpc>
                <a:spcPct val="100000"/>
              </a:lnSpc>
            </a:pPr>
            <a:r>
              <a:rPr dirty="0" sz="1550" spc="-5">
                <a:latin typeface="Times New Roman"/>
                <a:cs typeface="Times New Roman"/>
              </a:rPr>
              <a:t>Holidays</a:t>
            </a:r>
            <a:r>
              <a:rPr dirty="0" sz="1550" spc="-20">
                <a:latin typeface="Times New Roman"/>
                <a:cs typeface="Times New Roman"/>
              </a:rPr>
              <a:t> </a:t>
            </a:r>
            <a:r>
              <a:rPr dirty="0" sz="1550" spc="-5">
                <a:latin typeface="Times New Roman"/>
                <a:cs typeface="Times New Roman"/>
              </a:rPr>
              <a:t>abroad</a:t>
            </a:r>
            <a:endParaRPr sz="1550"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982214" y="7251700"/>
            <a:ext cx="1675130" cy="1480820"/>
            <a:chOff x="2982214" y="7251700"/>
            <a:chExt cx="1675130" cy="1480820"/>
          </a:xfrm>
        </p:grpSpPr>
        <p:sp>
          <p:nvSpPr>
            <p:cNvPr id="17" name="object 17"/>
            <p:cNvSpPr/>
            <p:nvPr/>
          </p:nvSpPr>
          <p:spPr>
            <a:xfrm>
              <a:off x="3819144" y="7258050"/>
              <a:ext cx="831850" cy="635635"/>
            </a:xfrm>
            <a:custGeom>
              <a:avLst/>
              <a:gdLst/>
              <a:ahLst/>
              <a:cxnLst/>
              <a:rect l="l" t="t" r="r" b="b"/>
              <a:pathLst>
                <a:path w="831850" h="635634">
                  <a:moveTo>
                    <a:pt x="0" y="0"/>
                  </a:moveTo>
                  <a:lnTo>
                    <a:pt x="831341" y="635507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575304" y="7461504"/>
              <a:ext cx="151130" cy="478155"/>
            </a:xfrm>
            <a:custGeom>
              <a:avLst/>
              <a:gdLst/>
              <a:ahLst/>
              <a:cxnLst/>
              <a:rect l="l" t="t" r="r" b="b"/>
              <a:pathLst>
                <a:path w="151129" h="478154">
                  <a:moveTo>
                    <a:pt x="0" y="0"/>
                  </a:moveTo>
                  <a:lnTo>
                    <a:pt x="150875" y="47777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2988564" y="7942326"/>
              <a:ext cx="1315720" cy="783590"/>
            </a:xfrm>
            <a:custGeom>
              <a:avLst/>
              <a:gdLst/>
              <a:ahLst/>
              <a:cxnLst/>
              <a:rect l="l" t="t" r="r" b="b"/>
              <a:pathLst>
                <a:path w="1315720" h="783590">
                  <a:moveTo>
                    <a:pt x="657606" y="0"/>
                  </a:moveTo>
                  <a:lnTo>
                    <a:pt x="597707" y="1599"/>
                  </a:lnTo>
                  <a:lnTo>
                    <a:pt x="539324" y="6307"/>
                  </a:lnTo>
                  <a:lnTo>
                    <a:pt x="482688" y="13984"/>
                  </a:lnTo>
                  <a:lnTo>
                    <a:pt x="428029" y="24492"/>
                  </a:lnTo>
                  <a:lnTo>
                    <a:pt x="375580" y="37694"/>
                  </a:lnTo>
                  <a:lnTo>
                    <a:pt x="325571" y="53452"/>
                  </a:lnTo>
                  <a:lnTo>
                    <a:pt x="278234" y="71628"/>
                  </a:lnTo>
                  <a:lnTo>
                    <a:pt x="233800" y="92083"/>
                  </a:lnTo>
                  <a:lnTo>
                    <a:pt x="192500" y="114681"/>
                  </a:lnTo>
                  <a:lnTo>
                    <a:pt x="154565" y="139281"/>
                  </a:lnTo>
                  <a:lnTo>
                    <a:pt x="120228" y="165748"/>
                  </a:lnTo>
                  <a:lnTo>
                    <a:pt x="89718" y="193943"/>
                  </a:lnTo>
                  <a:lnTo>
                    <a:pt x="63268" y="223727"/>
                  </a:lnTo>
                  <a:lnTo>
                    <a:pt x="41108" y="254963"/>
                  </a:lnTo>
                  <a:lnTo>
                    <a:pt x="10585" y="321239"/>
                  </a:lnTo>
                  <a:lnTo>
                    <a:pt x="0" y="391668"/>
                  </a:lnTo>
                  <a:lnTo>
                    <a:pt x="2684" y="427332"/>
                  </a:lnTo>
                  <a:lnTo>
                    <a:pt x="23470" y="495822"/>
                  </a:lnTo>
                  <a:lnTo>
                    <a:pt x="63268" y="559608"/>
                  </a:lnTo>
                  <a:lnTo>
                    <a:pt x="89718" y="589392"/>
                  </a:lnTo>
                  <a:lnTo>
                    <a:pt x="120228" y="617587"/>
                  </a:lnTo>
                  <a:lnTo>
                    <a:pt x="154565" y="644054"/>
                  </a:lnTo>
                  <a:lnTo>
                    <a:pt x="192500" y="668654"/>
                  </a:lnTo>
                  <a:lnTo>
                    <a:pt x="233800" y="691252"/>
                  </a:lnTo>
                  <a:lnTo>
                    <a:pt x="278234" y="711707"/>
                  </a:lnTo>
                  <a:lnTo>
                    <a:pt x="325571" y="729883"/>
                  </a:lnTo>
                  <a:lnTo>
                    <a:pt x="375580" y="745641"/>
                  </a:lnTo>
                  <a:lnTo>
                    <a:pt x="428029" y="758843"/>
                  </a:lnTo>
                  <a:lnTo>
                    <a:pt x="482688" y="769351"/>
                  </a:lnTo>
                  <a:lnTo>
                    <a:pt x="539324" y="777028"/>
                  </a:lnTo>
                  <a:lnTo>
                    <a:pt x="597707" y="781736"/>
                  </a:lnTo>
                  <a:lnTo>
                    <a:pt x="657606" y="783336"/>
                  </a:lnTo>
                  <a:lnTo>
                    <a:pt x="717504" y="781736"/>
                  </a:lnTo>
                  <a:lnTo>
                    <a:pt x="775887" y="777028"/>
                  </a:lnTo>
                  <a:lnTo>
                    <a:pt x="832523" y="769351"/>
                  </a:lnTo>
                  <a:lnTo>
                    <a:pt x="887182" y="758843"/>
                  </a:lnTo>
                  <a:lnTo>
                    <a:pt x="939631" y="745641"/>
                  </a:lnTo>
                  <a:lnTo>
                    <a:pt x="989640" y="729883"/>
                  </a:lnTo>
                  <a:lnTo>
                    <a:pt x="1036977" y="711707"/>
                  </a:lnTo>
                  <a:lnTo>
                    <a:pt x="1081411" y="691252"/>
                  </a:lnTo>
                  <a:lnTo>
                    <a:pt x="1122711" y="668654"/>
                  </a:lnTo>
                  <a:lnTo>
                    <a:pt x="1160646" y="644054"/>
                  </a:lnTo>
                  <a:lnTo>
                    <a:pt x="1194983" y="617587"/>
                  </a:lnTo>
                  <a:lnTo>
                    <a:pt x="1225493" y="589392"/>
                  </a:lnTo>
                  <a:lnTo>
                    <a:pt x="1251943" y="559608"/>
                  </a:lnTo>
                  <a:lnTo>
                    <a:pt x="1274103" y="528372"/>
                  </a:lnTo>
                  <a:lnTo>
                    <a:pt x="1304626" y="462096"/>
                  </a:lnTo>
                  <a:lnTo>
                    <a:pt x="1315212" y="391668"/>
                  </a:lnTo>
                  <a:lnTo>
                    <a:pt x="1312527" y="356003"/>
                  </a:lnTo>
                  <a:lnTo>
                    <a:pt x="1291741" y="287513"/>
                  </a:lnTo>
                  <a:lnTo>
                    <a:pt x="1251943" y="223727"/>
                  </a:lnTo>
                  <a:lnTo>
                    <a:pt x="1225493" y="193943"/>
                  </a:lnTo>
                  <a:lnTo>
                    <a:pt x="1194983" y="165748"/>
                  </a:lnTo>
                  <a:lnTo>
                    <a:pt x="1160646" y="139281"/>
                  </a:lnTo>
                  <a:lnTo>
                    <a:pt x="1122711" y="114681"/>
                  </a:lnTo>
                  <a:lnTo>
                    <a:pt x="1081411" y="92083"/>
                  </a:lnTo>
                  <a:lnTo>
                    <a:pt x="1036977" y="71628"/>
                  </a:lnTo>
                  <a:lnTo>
                    <a:pt x="989640" y="53452"/>
                  </a:lnTo>
                  <a:lnTo>
                    <a:pt x="939631" y="37694"/>
                  </a:lnTo>
                  <a:lnTo>
                    <a:pt x="887182" y="24492"/>
                  </a:lnTo>
                  <a:lnTo>
                    <a:pt x="832523" y="13984"/>
                  </a:lnTo>
                  <a:lnTo>
                    <a:pt x="775887" y="6307"/>
                  </a:lnTo>
                  <a:lnTo>
                    <a:pt x="717504" y="1599"/>
                  </a:lnTo>
                  <a:lnTo>
                    <a:pt x="657606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3229610" y="8043926"/>
            <a:ext cx="802640" cy="487045"/>
          </a:xfrm>
          <a:prstGeom prst="rect">
            <a:avLst/>
          </a:prstGeom>
        </p:spPr>
        <p:txBody>
          <a:bodyPr wrap="square" lIns="0" tIns="27940" rIns="0" bIns="0" rtlCol="0" vert="horz">
            <a:spAutoFit/>
          </a:bodyPr>
          <a:lstStyle/>
          <a:p>
            <a:pPr marL="12700" marR="5080">
              <a:lnSpc>
                <a:spcPts val="1780"/>
              </a:lnSpc>
              <a:spcBef>
                <a:spcPts val="220"/>
              </a:spcBef>
            </a:pPr>
            <a:r>
              <a:rPr dirty="0" sz="1550" spc="-5">
                <a:latin typeface="Times New Roman"/>
                <a:cs typeface="Times New Roman"/>
              </a:rPr>
              <a:t>Special </a:t>
            </a:r>
            <a:r>
              <a:rPr dirty="0" sz="1550">
                <a:latin typeface="Times New Roman"/>
                <a:cs typeface="Times New Roman"/>
              </a:rPr>
              <a:t> </a:t>
            </a:r>
            <a:r>
              <a:rPr dirty="0" sz="1550" spc="-5">
                <a:latin typeface="Times New Roman"/>
                <a:cs typeface="Times New Roman"/>
              </a:rPr>
              <a:t>memories</a:t>
            </a:r>
            <a:endParaRPr sz="1550">
              <a:latin typeface="Times New Roman"/>
              <a:cs typeface="Times New Roman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366774" y="7447533"/>
            <a:ext cx="1431925" cy="1422400"/>
            <a:chOff x="1366774" y="7447533"/>
            <a:chExt cx="1431925" cy="1422400"/>
          </a:xfrm>
        </p:grpSpPr>
        <p:sp>
          <p:nvSpPr>
            <p:cNvPr id="22" name="object 22"/>
            <p:cNvSpPr/>
            <p:nvPr/>
          </p:nvSpPr>
          <p:spPr>
            <a:xfrm>
              <a:off x="2125980" y="7453883"/>
              <a:ext cx="666115" cy="657225"/>
            </a:xfrm>
            <a:custGeom>
              <a:avLst/>
              <a:gdLst/>
              <a:ahLst/>
              <a:cxnLst/>
              <a:rect l="l" t="t" r="r" b="b"/>
              <a:pathLst>
                <a:path w="666114" h="657225">
                  <a:moveTo>
                    <a:pt x="665988" y="0"/>
                  </a:moveTo>
                  <a:lnTo>
                    <a:pt x="0" y="656844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373124" y="8138921"/>
              <a:ext cx="1068705" cy="725170"/>
            </a:xfrm>
            <a:custGeom>
              <a:avLst/>
              <a:gdLst/>
              <a:ahLst/>
              <a:cxnLst/>
              <a:rect l="l" t="t" r="r" b="b"/>
              <a:pathLst>
                <a:path w="1068705" h="725170">
                  <a:moveTo>
                    <a:pt x="534162" y="0"/>
                  </a:moveTo>
                  <a:lnTo>
                    <a:pt x="475979" y="2127"/>
                  </a:lnTo>
                  <a:lnTo>
                    <a:pt x="419606" y="8361"/>
                  </a:lnTo>
                  <a:lnTo>
                    <a:pt x="365369" y="18483"/>
                  </a:lnTo>
                  <a:lnTo>
                    <a:pt x="313596" y="32269"/>
                  </a:lnTo>
                  <a:lnTo>
                    <a:pt x="264611" y="49501"/>
                  </a:lnTo>
                  <a:lnTo>
                    <a:pt x="218742" y="69957"/>
                  </a:lnTo>
                  <a:lnTo>
                    <a:pt x="176316" y="93416"/>
                  </a:lnTo>
                  <a:lnTo>
                    <a:pt x="137658" y="119658"/>
                  </a:lnTo>
                  <a:lnTo>
                    <a:pt x="103095" y="148461"/>
                  </a:lnTo>
                  <a:lnTo>
                    <a:pt x="72954" y="179606"/>
                  </a:lnTo>
                  <a:lnTo>
                    <a:pt x="47561" y="212870"/>
                  </a:lnTo>
                  <a:lnTo>
                    <a:pt x="27243" y="248034"/>
                  </a:lnTo>
                  <a:lnTo>
                    <a:pt x="12325" y="284876"/>
                  </a:lnTo>
                  <a:lnTo>
                    <a:pt x="3135" y="323175"/>
                  </a:lnTo>
                  <a:lnTo>
                    <a:pt x="0" y="362711"/>
                  </a:lnTo>
                  <a:lnTo>
                    <a:pt x="3135" y="402105"/>
                  </a:lnTo>
                  <a:lnTo>
                    <a:pt x="12325" y="440282"/>
                  </a:lnTo>
                  <a:lnTo>
                    <a:pt x="27243" y="477018"/>
                  </a:lnTo>
                  <a:lnTo>
                    <a:pt x="47561" y="512091"/>
                  </a:lnTo>
                  <a:lnTo>
                    <a:pt x="72954" y="545281"/>
                  </a:lnTo>
                  <a:lnTo>
                    <a:pt x="103095" y="576364"/>
                  </a:lnTo>
                  <a:lnTo>
                    <a:pt x="137658" y="605118"/>
                  </a:lnTo>
                  <a:lnTo>
                    <a:pt x="176316" y="631322"/>
                  </a:lnTo>
                  <a:lnTo>
                    <a:pt x="218742" y="654753"/>
                  </a:lnTo>
                  <a:lnTo>
                    <a:pt x="264611" y="675188"/>
                  </a:lnTo>
                  <a:lnTo>
                    <a:pt x="313596" y="692406"/>
                  </a:lnTo>
                  <a:lnTo>
                    <a:pt x="365369" y="706185"/>
                  </a:lnTo>
                  <a:lnTo>
                    <a:pt x="419606" y="716301"/>
                  </a:lnTo>
                  <a:lnTo>
                    <a:pt x="475979" y="722534"/>
                  </a:lnTo>
                  <a:lnTo>
                    <a:pt x="534162" y="724661"/>
                  </a:lnTo>
                  <a:lnTo>
                    <a:pt x="592344" y="722534"/>
                  </a:lnTo>
                  <a:lnTo>
                    <a:pt x="648717" y="716301"/>
                  </a:lnTo>
                  <a:lnTo>
                    <a:pt x="702954" y="706185"/>
                  </a:lnTo>
                  <a:lnTo>
                    <a:pt x="754727" y="692406"/>
                  </a:lnTo>
                  <a:lnTo>
                    <a:pt x="803712" y="675188"/>
                  </a:lnTo>
                  <a:lnTo>
                    <a:pt x="849581" y="654753"/>
                  </a:lnTo>
                  <a:lnTo>
                    <a:pt x="892007" y="631322"/>
                  </a:lnTo>
                  <a:lnTo>
                    <a:pt x="930665" y="605118"/>
                  </a:lnTo>
                  <a:lnTo>
                    <a:pt x="965228" y="576364"/>
                  </a:lnTo>
                  <a:lnTo>
                    <a:pt x="995369" y="545281"/>
                  </a:lnTo>
                  <a:lnTo>
                    <a:pt x="1020762" y="512091"/>
                  </a:lnTo>
                  <a:lnTo>
                    <a:pt x="1041080" y="477018"/>
                  </a:lnTo>
                  <a:lnTo>
                    <a:pt x="1055998" y="440282"/>
                  </a:lnTo>
                  <a:lnTo>
                    <a:pt x="1065188" y="402105"/>
                  </a:lnTo>
                  <a:lnTo>
                    <a:pt x="1068324" y="362711"/>
                  </a:lnTo>
                  <a:lnTo>
                    <a:pt x="1065188" y="323175"/>
                  </a:lnTo>
                  <a:lnTo>
                    <a:pt x="1055998" y="284876"/>
                  </a:lnTo>
                  <a:lnTo>
                    <a:pt x="1041080" y="248034"/>
                  </a:lnTo>
                  <a:lnTo>
                    <a:pt x="1020762" y="212870"/>
                  </a:lnTo>
                  <a:lnTo>
                    <a:pt x="995369" y="179606"/>
                  </a:lnTo>
                  <a:lnTo>
                    <a:pt x="965228" y="148461"/>
                  </a:lnTo>
                  <a:lnTo>
                    <a:pt x="930665" y="119658"/>
                  </a:lnTo>
                  <a:lnTo>
                    <a:pt x="892007" y="93416"/>
                  </a:lnTo>
                  <a:lnTo>
                    <a:pt x="849581" y="69957"/>
                  </a:lnTo>
                  <a:lnTo>
                    <a:pt x="803712" y="49501"/>
                  </a:lnTo>
                  <a:lnTo>
                    <a:pt x="754727" y="32269"/>
                  </a:lnTo>
                  <a:lnTo>
                    <a:pt x="702954" y="18483"/>
                  </a:lnTo>
                  <a:lnTo>
                    <a:pt x="648717" y="8361"/>
                  </a:lnTo>
                  <a:lnTo>
                    <a:pt x="592344" y="2127"/>
                  </a:lnTo>
                  <a:lnTo>
                    <a:pt x="534162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1566925" y="8239759"/>
            <a:ext cx="692150" cy="487045"/>
          </a:xfrm>
          <a:prstGeom prst="rect">
            <a:avLst/>
          </a:prstGeom>
        </p:spPr>
        <p:txBody>
          <a:bodyPr wrap="square" lIns="0" tIns="27940" rIns="0" bIns="0" rtlCol="0" vert="horz">
            <a:spAutoFit/>
          </a:bodyPr>
          <a:lstStyle/>
          <a:p>
            <a:pPr marL="12700" marR="5080">
              <a:lnSpc>
                <a:spcPts val="1780"/>
              </a:lnSpc>
              <a:spcBef>
                <a:spcPts val="220"/>
              </a:spcBef>
            </a:pPr>
            <a:r>
              <a:rPr dirty="0" sz="1550" spc="-5">
                <a:latin typeface="Times New Roman"/>
                <a:cs typeface="Times New Roman"/>
              </a:rPr>
              <a:t>Public </a:t>
            </a:r>
            <a:r>
              <a:rPr dirty="0" sz="1550">
                <a:latin typeface="Times New Roman"/>
                <a:cs typeface="Times New Roman"/>
              </a:rPr>
              <a:t> </a:t>
            </a:r>
            <a:r>
              <a:rPr dirty="0" sz="1550" spc="-5">
                <a:latin typeface="Times New Roman"/>
                <a:cs typeface="Times New Roman"/>
              </a:rPr>
              <a:t>holidays</a:t>
            </a:r>
            <a:endParaRPr sz="1550">
              <a:latin typeface="Times New Roman"/>
              <a:cs typeface="Times New Roma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024636" y="5833617"/>
            <a:ext cx="1577975" cy="1235075"/>
            <a:chOff x="1024636" y="5833617"/>
            <a:chExt cx="1577975" cy="1235075"/>
          </a:xfrm>
        </p:grpSpPr>
        <p:sp>
          <p:nvSpPr>
            <p:cNvPr id="26" name="object 26"/>
            <p:cNvSpPr/>
            <p:nvPr/>
          </p:nvSpPr>
          <p:spPr>
            <a:xfrm>
              <a:off x="1863089" y="6377939"/>
              <a:ext cx="733425" cy="684530"/>
            </a:xfrm>
            <a:custGeom>
              <a:avLst/>
              <a:gdLst/>
              <a:ahLst/>
              <a:cxnLst/>
              <a:rect l="l" t="t" r="r" b="b"/>
              <a:pathLst>
                <a:path w="733425" h="684529">
                  <a:moveTo>
                    <a:pt x="733044" y="684276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030986" y="5839967"/>
              <a:ext cx="970915" cy="627380"/>
            </a:xfrm>
            <a:custGeom>
              <a:avLst/>
              <a:gdLst/>
              <a:ahLst/>
              <a:cxnLst/>
              <a:rect l="l" t="t" r="r" b="b"/>
              <a:pathLst>
                <a:path w="970914" h="627379">
                  <a:moveTo>
                    <a:pt x="485394" y="0"/>
                  </a:moveTo>
                  <a:lnTo>
                    <a:pt x="428759" y="2107"/>
                  </a:lnTo>
                  <a:lnTo>
                    <a:pt x="374050" y="8273"/>
                  </a:lnTo>
                  <a:lnTo>
                    <a:pt x="321631" y="18264"/>
                  </a:lnTo>
                  <a:lnTo>
                    <a:pt x="271865" y="31848"/>
                  </a:lnTo>
                  <a:lnTo>
                    <a:pt x="225114" y="48791"/>
                  </a:lnTo>
                  <a:lnTo>
                    <a:pt x="181742" y="68859"/>
                  </a:lnTo>
                  <a:lnTo>
                    <a:pt x="142112" y="91820"/>
                  </a:lnTo>
                  <a:lnTo>
                    <a:pt x="106588" y="117441"/>
                  </a:lnTo>
                  <a:lnTo>
                    <a:pt x="75533" y="145487"/>
                  </a:lnTo>
                  <a:lnTo>
                    <a:pt x="49310" y="175726"/>
                  </a:lnTo>
                  <a:lnTo>
                    <a:pt x="28281" y="207924"/>
                  </a:lnTo>
                  <a:lnTo>
                    <a:pt x="3263" y="277266"/>
                  </a:lnTo>
                  <a:lnTo>
                    <a:pt x="0" y="313944"/>
                  </a:lnTo>
                  <a:lnTo>
                    <a:pt x="3263" y="350469"/>
                  </a:lnTo>
                  <a:lnTo>
                    <a:pt x="28281" y="419570"/>
                  </a:lnTo>
                  <a:lnTo>
                    <a:pt x="49310" y="451677"/>
                  </a:lnTo>
                  <a:lnTo>
                    <a:pt x="75533" y="481840"/>
                  </a:lnTo>
                  <a:lnTo>
                    <a:pt x="106588" y="509826"/>
                  </a:lnTo>
                  <a:lnTo>
                    <a:pt x="142112" y="535400"/>
                  </a:lnTo>
                  <a:lnTo>
                    <a:pt x="181742" y="558326"/>
                  </a:lnTo>
                  <a:lnTo>
                    <a:pt x="225114" y="578369"/>
                  </a:lnTo>
                  <a:lnTo>
                    <a:pt x="271865" y="595295"/>
                  </a:lnTo>
                  <a:lnTo>
                    <a:pt x="321631" y="608868"/>
                  </a:lnTo>
                  <a:lnTo>
                    <a:pt x="374050" y="618855"/>
                  </a:lnTo>
                  <a:lnTo>
                    <a:pt x="428759" y="625019"/>
                  </a:lnTo>
                  <a:lnTo>
                    <a:pt x="485394" y="627126"/>
                  </a:lnTo>
                  <a:lnTo>
                    <a:pt x="542028" y="625019"/>
                  </a:lnTo>
                  <a:lnTo>
                    <a:pt x="596737" y="618855"/>
                  </a:lnTo>
                  <a:lnTo>
                    <a:pt x="649156" y="608868"/>
                  </a:lnTo>
                  <a:lnTo>
                    <a:pt x="698922" y="595295"/>
                  </a:lnTo>
                  <a:lnTo>
                    <a:pt x="745673" y="578369"/>
                  </a:lnTo>
                  <a:lnTo>
                    <a:pt x="789045" y="558326"/>
                  </a:lnTo>
                  <a:lnTo>
                    <a:pt x="828675" y="535400"/>
                  </a:lnTo>
                  <a:lnTo>
                    <a:pt x="864199" y="509826"/>
                  </a:lnTo>
                  <a:lnTo>
                    <a:pt x="895254" y="481840"/>
                  </a:lnTo>
                  <a:lnTo>
                    <a:pt x="921477" y="451677"/>
                  </a:lnTo>
                  <a:lnTo>
                    <a:pt x="942506" y="419570"/>
                  </a:lnTo>
                  <a:lnTo>
                    <a:pt x="967524" y="350469"/>
                  </a:lnTo>
                  <a:lnTo>
                    <a:pt x="970788" y="313944"/>
                  </a:lnTo>
                  <a:lnTo>
                    <a:pt x="967524" y="277266"/>
                  </a:lnTo>
                  <a:lnTo>
                    <a:pt x="942506" y="207924"/>
                  </a:lnTo>
                  <a:lnTo>
                    <a:pt x="921477" y="175726"/>
                  </a:lnTo>
                  <a:lnTo>
                    <a:pt x="895254" y="145487"/>
                  </a:lnTo>
                  <a:lnTo>
                    <a:pt x="864199" y="117441"/>
                  </a:lnTo>
                  <a:lnTo>
                    <a:pt x="828674" y="91821"/>
                  </a:lnTo>
                  <a:lnTo>
                    <a:pt x="789045" y="68859"/>
                  </a:lnTo>
                  <a:lnTo>
                    <a:pt x="745673" y="48791"/>
                  </a:lnTo>
                  <a:lnTo>
                    <a:pt x="698922" y="31848"/>
                  </a:lnTo>
                  <a:lnTo>
                    <a:pt x="649156" y="18264"/>
                  </a:lnTo>
                  <a:lnTo>
                    <a:pt x="596737" y="8273"/>
                  </a:lnTo>
                  <a:lnTo>
                    <a:pt x="542028" y="2107"/>
                  </a:lnTo>
                  <a:lnTo>
                    <a:pt x="485394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1224025" y="5892038"/>
            <a:ext cx="692150" cy="487045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2700" marR="5080">
              <a:lnSpc>
                <a:spcPts val="1780"/>
              </a:lnSpc>
              <a:spcBef>
                <a:spcPts val="225"/>
              </a:spcBef>
            </a:pPr>
            <a:r>
              <a:rPr dirty="0" sz="1550" spc="-5">
                <a:latin typeface="Times New Roman"/>
                <a:cs typeface="Times New Roman"/>
              </a:rPr>
              <a:t>Bad </a:t>
            </a:r>
            <a:r>
              <a:rPr dirty="0" sz="1550">
                <a:latin typeface="Times New Roman"/>
                <a:cs typeface="Times New Roman"/>
              </a:rPr>
              <a:t> </a:t>
            </a:r>
            <a:r>
              <a:rPr dirty="0" sz="1550" spc="-5">
                <a:latin typeface="Times New Roman"/>
                <a:cs typeface="Times New Roman"/>
              </a:rPr>
              <a:t>holidays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084325" y="7017257"/>
            <a:ext cx="875665" cy="628015"/>
          </a:xfrm>
          <a:custGeom>
            <a:avLst/>
            <a:gdLst/>
            <a:ahLst/>
            <a:cxnLst/>
            <a:rect l="l" t="t" r="r" b="b"/>
            <a:pathLst>
              <a:path w="875664" h="628015">
                <a:moveTo>
                  <a:pt x="438150" y="0"/>
                </a:moveTo>
                <a:lnTo>
                  <a:pt x="383273" y="2452"/>
                </a:lnTo>
                <a:lnTo>
                  <a:pt x="330407" y="9612"/>
                </a:lnTo>
                <a:lnTo>
                  <a:pt x="279966" y="21182"/>
                </a:lnTo>
                <a:lnTo>
                  <a:pt x="232363" y="36864"/>
                </a:lnTo>
                <a:lnTo>
                  <a:pt x="188013" y="56360"/>
                </a:lnTo>
                <a:lnTo>
                  <a:pt x="147329" y="79374"/>
                </a:lnTo>
                <a:lnTo>
                  <a:pt x="110726" y="105606"/>
                </a:lnTo>
                <a:lnTo>
                  <a:pt x="78619" y="134761"/>
                </a:lnTo>
                <a:lnTo>
                  <a:pt x="51420" y="166539"/>
                </a:lnTo>
                <a:lnTo>
                  <a:pt x="29545" y="200644"/>
                </a:lnTo>
                <a:lnTo>
                  <a:pt x="13407" y="236779"/>
                </a:lnTo>
                <a:lnTo>
                  <a:pt x="3420" y="274644"/>
                </a:lnTo>
                <a:lnTo>
                  <a:pt x="0" y="313944"/>
                </a:lnTo>
                <a:lnTo>
                  <a:pt x="3420" y="353393"/>
                </a:lnTo>
                <a:lnTo>
                  <a:pt x="13407" y="391360"/>
                </a:lnTo>
                <a:lnTo>
                  <a:pt x="29545" y="427555"/>
                </a:lnTo>
                <a:lnTo>
                  <a:pt x="51420" y="461685"/>
                </a:lnTo>
                <a:lnTo>
                  <a:pt x="78619" y="493459"/>
                </a:lnTo>
                <a:lnTo>
                  <a:pt x="110726" y="522587"/>
                </a:lnTo>
                <a:lnTo>
                  <a:pt x="147329" y="548775"/>
                </a:lnTo>
                <a:lnTo>
                  <a:pt x="188013" y="571735"/>
                </a:lnTo>
                <a:lnTo>
                  <a:pt x="232363" y="591173"/>
                </a:lnTo>
                <a:lnTo>
                  <a:pt x="279966" y="606798"/>
                </a:lnTo>
                <a:lnTo>
                  <a:pt x="330407" y="618320"/>
                </a:lnTo>
                <a:lnTo>
                  <a:pt x="383273" y="625447"/>
                </a:lnTo>
                <a:lnTo>
                  <a:pt x="438150" y="627888"/>
                </a:lnTo>
                <a:lnTo>
                  <a:pt x="493013" y="625447"/>
                </a:lnTo>
                <a:lnTo>
                  <a:pt x="545843" y="618320"/>
                </a:lnTo>
                <a:lnTo>
                  <a:pt x="596230" y="606798"/>
                </a:lnTo>
                <a:lnTo>
                  <a:pt x="643764" y="591173"/>
                </a:lnTo>
                <a:lnTo>
                  <a:pt x="688035" y="571735"/>
                </a:lnTo>
                <a:lnTo>
                  <a:pt x="728633" y="548775"/>
                </a:lnTo>
                <a:lnTo>
                  <a:pt x="765148" y="522587"/>
                </a:lnTo>
                <a:lnTo>
                  <a:pt x="797170" y="493459"/>
                </a:lnTo>
                <a:lnTo>
                  <a:pt x="824289" y="461685"/>
                </a:lnTo>
                <a:lnTo>
                  <a:pt x="846095" y="427555"/>
                </a:lnTo>
                <a:lnTo>
                  <a:pt x="862179" y="391360"/>
                </a:lnTo>
                <a:lnTo>
                  <a:pt x="872129" y="353393"/>
                </a:lnTo>
                <a:lnTo>
                  <a:pt x="875538" y="313944"/>
                </a:lnTo>
                <a:lnTo>
                  <a:pt x="872129" y="274644"/>
                </a:lnTo>
                <a:lnTo>
                  <a:pt x="862179" y="236779"/>
                </a:lnTo>
                <a:lnTo>
                  <a:pt x="846095" y="200644"/>
                </a:lnTo>
                <a:lnTo>
                  <a:pt x="824289" y="166539"/>
                </a:lnTo>
                <a:lnTo>
                  <a:pt x="797170" y="134761"/>
                </a:lnTo>
                <a:lnTo>
                  <a:pt x="765148" y="105606"/>
                </a:lnTo>
                <a:lnTo>
                  <a:pt x="728633" y="79374"/>
                </a:lnTo>
                <a:lnTo>
                  <a:pt x="688035" y="56360"/>
                </a:lnTo>
                <a:lnTo>
                  <a:pt x="643764" y="36864"/>
                </a:lnTo>
                <a:lnTo>
                  <a:pt x="596230" y="21182"/>
                </a:lnTo>
                <a:lnTo>
                  <a:pt x="545843" y="9612"/>
                </a:lnTo>
                <a:lnTo>
                  <a:pt x="493013" y="2452"/>
                </a:lnTo>
                <a:lnTo>
                  <a:pt x="43815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1258316" y="7009128"/>
            <a:ext cx="692150" cy="487680"/>
          </a:xfrm>
          <a:prstGeom prst="rect">
            <a:avLst/>
          </a:prstGeom>
        </p:spPr>
        <p:txBody>
          <a:bodyPr wrap="square" lIns="0" tIns="27940" rIns="0" bIns="0" rtlCol="0" vert="horz">
            <a:spAutoFit/>
          </a:bodyPr>
          <a:lstStyle/>
          <a:p>
            <a:pPr marL="12700" marR="5080">
              <a:lnSpc>
                <a:spcPts val="1780"/>
              </a:lnSpc>
              <a:spcBef>
                <a:spcPts val="220"/>
              </a:spcBef>
            </a:pPr>
            <a:r>
              <a:rPr dirty="0" sz="1550" spc="-10">
                <a:latin typeface="Times New Roman"/>
                <a:cs typeface="Times New Roman"/>
              </a:rPr>
              <a:t>Good </a:t>
            </a:r>
            <a:r>
              <a:rPr dirty="0" sz="1550" spc="-5">
                <a:latin typeface="Times New Roman"/>
                <a:cs typeface="Times New Roman"/>
              </a:rPr>
              <a:t> </a:t>
            </a:r>
            <a:r>
              <a:rPr dirty="0" sz="1550" spc="-5">
                <a:latin typeface="Times New Roman"/>
                <a:cs typeface="Times New Roman"/>
              </a:rPr>
              <a:t>holidays</a:t>
            </a:r>
            <a:endParaRPr sz="1550">
              <a:latin typeface="Times New Roman"/>
              <a:cs typeface="Times New Roman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905507" y="6811264"/>
            <a:ext cx="3966210" cy="697865"/>
            <a:chOff x="1905507" y="6811264"/>
            <a:chExt cx="3966210" cy="697865"/>
          </a:xfrm>
        </p:grpSpPr>
        <p:sp>
          <p:nvSpPr>
            <p:cNvPr id="32" name="object 32"/>
            <p:cNvSpPr/>
            <p:nvPr/>
          </p:nvSpPr>
          <p:spPr>
            <a:xfrm>
              <a:off x="1911857" y="7209282"/>
              <a:ext cx="586740" cy="48895"/>
            </a:xfrm>
            <a:custGeom>
              <a:avLst/>
              <a:gdLst/>
              <a:ahLst/>
              <a:cxnLst/>
              <a:rect l="l" t="t" r="r" b="b"/>
              <a:pathLst>
                <a:path w="586739" h="48895">
                  <a:moveTo>
                    <a:pt x="586740" y="0"/>
                  </a:moveTo>
                  <a:lnTo>
                    <a:pt x="0" y="48768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4504181" y="6817614"/>
              <a:ext cx="1361440" cy="685165"/>
            </a:xfrm>
            <a:custGeom>
              <a:avLst/>
              <a:gdLst/>
              <a:ahLst/>
              <a:cxnLst/>
              <a:rect l="l" t="t" r="r" b="b"/>
              <a:pathLst>
                <a:path w="1361439" h="685165">
                  <a:moveTo>
                    <a:pt x="680465" y="0"/>
                  </a:moveTo>
                  <a:lnTo>
                    <a:pt x="618551" y="1404"/>
                  </a:lnTo>
                  <a:lnTo>
                    <a:pt x="558189" y="5537"/>
                  </a:lnTo>
                  <a:lnTo>
                    <a:pt x="499621" y="12276"/>
                  </a:lnTo>
                  <a:lnTo>
                    <a:pt x="443087" y="21499"/>
                  </a:lnTo>
                  <a:lnTo>
                    <a:pt x="388829" y="33082"/>
                  </a:lnTo>
                  <a:lnTo>
                    <a:pt x="337086" y="46905"/>
                  </a:lnTo>
                  <a:lnTo>
                    <a:pt x="288099" y="62844"/>
                  </a:lnTo>
                  <a:lnTo>
                    <a:pt x="242110" y="80778"/>
                  </a:lnTo>
                  <a:lnTo>
                    <a:pt x="199358" y="100584"/>
                  </a:lnTo>
                  <a:lnTo>
                    <a:pt x="160084" y="122139"/>
                  </a:lnTo>
                  <a:lnTo>
                    <a:pt x="124530" y="145322"/>
                  </a:lnTo>
                  <a:lnTo>
                    <a:pt x="92935" y="170010"/>
                  </a:lnTo>
                  <a:lnTo>
                    <a:pt x="42588" y="223413"/>
                  </a:lnTo>
                  <a:lnTo>
                    <a:pt x="10967" y="281369"/>
                  </a:lnTo>
                  <a:lnTo>
                    <a:pt x="0" y="342900"/>
                  </a:lnTo>
                  <a:lnTo>
                    <a:pt x="2782" y="374044"/>
                  </a:lnTo>
                  <a:lnTo>
                    <a:pt x="24316" y="433860"/>
                  </a:lnTo>
                  <a:lnTo>
                    <a:pt x="65541" y="489574"/>
                  </a:lnTo>
                  <a:lnTo>
                    <a:pt x="124530" y="540221"/>
                  </a:lnTo>
                  <a:lnTo>
                    <a:pt x="160084" y="563342"/>
                  </a:lnTo>
                  <a:lnTo>
                    <a:pt x="199358" y="584835"/>
                  </a:lnTo>
                  <a:lnTo>
                    <a:pt x="242110" y="604577"/>
                  </a:lnTo>
                  <a:lnTo>
                    <a:pt x="288099" y="622449"/>
                  </a:lnTo>
                  <a:lnTo>
                    <a:pt x="337086" y="638330"/>
                  </a:lnTo>
                  <a:lnTo>
                    <a:pt x="388829" y="652099"/>
                  </a:lnTo>
                  <a:lnTo>
                    <a:pt x="443087" y="663635"/>
                  </a:lnTo>
                  <a:lnTo>
                    <a:pt x="499621" y="672817"/>
                  </a:lnTo>
                  <a:lnTo>
                    <a:pt x="558189" y="679526"/>
                  </a:lnTo>
                  <a:lnTo>
                    <a:pt x="618551" y="683639"/>
                  </a:lnTo>
                  <a:lnTo>
                    <a:pt x="680465" y="685038"/>
                  </a:lnTo>
                  <a:lnTo>
                    <a:pt x="742494" y="683639"/>
                  </a:lnTo>
                  <a:lnTo>
                    <a:pt x="802943" y="679526"/>
                  </a:lnTo>
                  <a:lnTo>
                    <a:pt x="861575" y="672817"/>
                  </a:lnTo>
                  <a:lnTo>
                    <a:pt x="918151" y="663635"/>
                  </a:lnTo>
                  <a:lnTo>
                    <a:pt x="972434" y="652099"/>
                  </a:lnTo>
                  <a:lnTo>
                    <a:pt x="1024184" y="638330"/>
                  </a:lnTo>
                  <a:lnTo>
                    <a:pt x="1073164" y="622449"/>
                  </a:lnTo>
                  <a:lnTo>
                    <a:pt x="1119135" y="604577"/>
                  </a:lnTo>
                  <a:lnTo>
                    <a:pt x="1161859" y="584835"/>
                  </a:lnTo>
                  <a:lnTo>
                    <a:pt x="1201098" y="563342"/>
                  </a:lnTo>
                  <a:lnTo>
                    <a:pt x="1236612" y="540221"/>
                  </a:lnTo>
                  <a:lnTo>
                    <a:pt x="1268165" y="515591"/>
                  </a:lnTo>
                  <a:lnTo>
                    <a:pt x="1318431" y="462290"/>
                  </a:lnTo>
                  <a:lnTo>
                    <a:pt x="1349989" y="404404"/>
                  </a:lnTo>
                  <a:lnTo>
                    <a:pt x="1360931" y="342900"/>
                  </a:lnTo>
                  <a:lnTo>
                    <a:pt x="1358156" y="311748"/>
                  </a:lnTo>
                  <a:lnTo>
                    <a:pt x="1336667" y="251883"/>
                  </a:lnTo>
                  <a:lnTo>
                    <a:pt x="1295517" y="196081"/>
                  </a:lnTo>
                  <a:lnTo>
                    <a:pt x="1236612" y="145322"/>
                  </a:lnTo>
                  <a:lnTo>
                    <a:pt x="1201098" y="122139"/>
                  </a:lnTo>
                  <a:lnTo>
                    <a:pt x="1161859" y="100584"/>
                  </a:lnTo>
                  <a:lnTo>
                    <a:pt x="1119135" y="80778"/>
                  </a:lnTo>
                  <a:lnTo>
                    <a:pt x="1073164" y="62844"/>
                  </a:lnTo>
                  <a:lnTo>
                    <a:pt x="1024184" y="46905"/>
                  </a:lnTo>
                  <a:lnTo>
                    <a:pt x="972434" y="33082"/>
                  </a:lnTo>
                  <a:lnTo>
                    <a:pt x="918151" y="21499"/>
                  </a:lnTo>
                  <a:lnTo>
                    <a:pt x="861575" y="12276"/>
                  </a:lnTo>
                  <a:lnTo>
                    <a:pt x="802943" y="5537"/>
                  </a:lnTo>
                  <a:lnTo>
                    <a:pt x="742494" y="1404"/>
                  </a:lnTo>
                  <a:lnTo>
                    <a:pt x="680465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3868673" y="7110984"/>
              <a:ext cx="635635" cy="49530"/>
            </a:xfrm>
            <a:custGeom>
              <a:avLst/>
              <a:gdLst/>
              <a:ahLst/>
              <a:cxnLst/>
              <a:rect l="l" t="t" r="r" b="b"/>
              <a:pathLst>
                <a:path w="635635" h="49529">
                  <a:moveTo>
                    <a:pt x="0" y="49530"/>
                  </a:moveTo>
                  <a:lnTo>
                    <a:pt x="635508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4697221" y="6870444"/>
            <a:ext cx="998219" cy="487680"/>
          </a:xfrm>
          <a:prstGeom prst="rect">
            <a:avLst/>
          </a:prstGeom>
        </p:spPr>
        <p:txBody>
          <a:bodyPr wrap="square" lIns="0" tIns="27940" rIns="0" bIns="0" rtlCol="0" vert="horz">
            <a:spAutoFit/>
          </a:bodyPr>
          <a:lstStyle/>
          <a:p>
            <a:pPr marL="12700" marR="5080">
              <a:lnSpc>
                <a:spcPts val="1780"/>
              </a:lnSpc>
              <a:spcBef>
                <a:spcPts val="220"/>
              </a:spcBef>
            </a:pPr>
            <a:r>
              <a:rPr dirty="0" sz="1550" spc="-5">
                <a:latin typeface="Times New Roman"/>
                <a:cs typeface="Times New Roman"/>
              </a:rPr>
              <a:t>Plans &amp; </a:t>
            </a:r>
            <a:r>
              <a:rPr dirty="0" sz="1550">
                <a:latin typeface="Times New Roman"/>
                <a:cs typeface="Times New Roman"/>
              </a:rPr>
              <a:t> </a:t>
            </a:r>
            <a:r>
              <a:rPr dirty="0" sz="1550" spc="-5">
                <a:latin typeface="Times New Roman"/>
                <a:cs typeface="Times New Roman"/>
              </a:rPr>
              <a:t>preparations</a:t>
            </a:r>
            <a:endParaRPr sz="15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4580" y="342390"/>
            <a:ext cx="174498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 Elementary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41311" y="342390"/>
            <a:ext cx="22669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360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67219" y="9493248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17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972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829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339330" y="526034"/>
            <a:ext cx="80581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LECTURE</a:t>
            </a:r>
            <a:r>
              <a:rPr dirty="0" u="heavy" sz="1100" spc="-6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7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85600" y="847596"/>
            <a:ext cx="205803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PROCESS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WRITING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II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13173" y="1167640"/>
            <a:ext cx="2012314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latin typeface="Times New Roman"/>
                <a:cs typeface="Times New Roman"/>
              </a:rPr>
              <a:t>2.</a:t>
            </a:r>
            <a:r>
              <a:rPr dirty="0" sz="1100" spc="7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External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source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information: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70361" y="1255728"/>
            <a:ext cx="1235710" cy="74866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675"/>
              </a:spcBef>
              <a:buAutoNum type="arabicParenR"/>
              <a:tabLst>
                <a:tab pos="241935" algn="l"/>
              </a:tabLst>
            </a:pPr>
            <a:r>
              <a:rPr dirty="0" sz="1100" spc="-5">
                <a:latin typeface="Times New Roman"/>
                <a:cs typeface="Times New Roman"/>
              </a:rPr>
              <a:t>Libraries</a:t>
            </a:r>
            <a:endParaRPr sz="110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575"/>
              </a:spcBef>
              <a:buAutoNum type="arabicParenR"/>
              <a:tabLst>
                <a:tab pos="241935" algn="l"/>
              </a:tabLst>
            </a:pPr>
            <a:r>
              <a:rPr dirty="0" sz="1100" spc="-5">
                <a:latin typeface="Times New Roman"/>
                <a:cs typeface="Times New Roman"/>
              </a:rPr>
              <a:t>Internet</a:t>
            </a:r>
            <a:endParaRPr sz="110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585"/>
              </a:spcBef>
              <a:buAutoNum type="arabicParenR"/>
              <a:tabLst>
                <a:tab pos="241935" algn="l"/>
              </a:tabLst>
            </a:pPr>
            <a:r>
              <a:rPr dirty="0" sz="1100" spc="-5">
                <a:latin typeface="Times New Roman"/>
                <a:cs typeface="Times New Roman"/>
              </a:rPr>
              <a:t>Resource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persons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84593" y="2213108"/>
            <a:ext cx="288544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LIBRARY</a:t>
            </a:r>
            <a:r>
              <a:rPr dirty="0" u="heavy" sz="1100" spc="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CONGRESS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CLASSFICATION</a:t>
            </a:r>
            <a:endParaRPr sz="1100">
              <a:latin typeface="Times New Roman"/>
              <a:cs typeface="Times New Roman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1405889" y="2556510"/>
          <a:ext cx="5420995" cy="26631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05735"/>
                <a:gridCol w="358775"/>
                <a:gridCol w="2346325"/>
              </a:tblGrid>
              <a:tr h="205948">
                <a:tc>
                  <a:txBody>
                    <a:bodyPr/>
                    <a:lstStyle/>
                    <a:p>
                      <a:pPr marL="68580">
                        <a:lnSpc>
                          <a:spcPts val="1265"/>
                        </a:lnSpc>
                        <a:tabLst>
                          <a:tab pos="525145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A.	General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works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65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M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ts val="12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Music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41171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525780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	Philosophy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&amp; Religion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3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305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Fine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Arts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305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41171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20"/>
                        </a:spcBef>
                        <a:tabLst>
                          <a:tab pos="525780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	History of Civilization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9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P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94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Language and Literature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94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40795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525780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	General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History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3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Q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305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Science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305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40795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525145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E-F	History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–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Americas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3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305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Medicine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305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41171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525780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G	Geography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Anthropology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3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305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Agriculture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305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41171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20"/>
                        </a:spcBef>
                        <a:tabLst>
                          <a:tab pos="525780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H	Social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Sciences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9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94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Technology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94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40795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525780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J	Political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Sciences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3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U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305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Military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Science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305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40795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525145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K	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Law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3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V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305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Naval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Science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305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523276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525780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	Education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3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Z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305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Bibliography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305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4" name="object 14"/>
          <p:cNvSpPr txBox="1"/>
          <p:nvPr/>
        </p:nvSpPr>
        <p:spPr>
          <a:xfrm>
            <a:off x="1084580" y="5357879"/>
            <a:ext cx="273812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SIMPLIFIED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DEWEY</a:t>
            </a:r>
            <a:r>
              <a:rPr dirty="0" u="heavy" sz="1100" spc="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DECIMAL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SYSTEM</a:t>
            </a:r>
            <a:endParaRPr sz="1100">
              <a:latin typeface="Times New Roman"/>
              <a:cs typeface="Times New Roman"/>
            </a:endParaRPr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1405889" y="5705094"/>
          <a:ext cx="4958715" cy="28981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4030"/>
                <a:gridCol w="365125"/>
                <a:gridCol w="1846580"/>
                <a:gridCol w="401955"/>
                <a:gridCol w="457200"/>
                <a:gridCol w="1390014"/>
              </a:tblGrid>
              <a:tr h="205939">
                <a:tc gridSpan="3">
                  <a:txBody>
                    <a:bodyPr/>
                    <a:lstStyle/>
                    <a:p>
                      <a:pPr marL="67945">
                        <a:lnSpc>
                          <a:spcPts val="1265"/>
                        </a:lnSpc>
                        <a:tabLst>
                          <a:tab pos="524510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000	General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works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3">
                  <a:txBody>
                    <a:bodyPr/>
                    <a:lstStyle/>
                    <a:p>
                      <a:pPr marL="68580">
                        <a:lnSpc>
                          <a:spcPts val="1265"/>
                        </a:lnSpc>
                        <a:tabLst>
                          <a:tab pos="525145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350	Administration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40795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100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305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gridSpan="2">
                  <a:txBody>
                    <a:bodyPr/>
                    <a:lstStyle/>
                    <a:p>
                      <a:pPr marL="31115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946150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Philosophy</a:t>
                      </a:r>
                      <a:r>
                        <a:rPr dirty="0" sz="1100" spc="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&amp;	Psychology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305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52578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360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305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Welfare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305"/>
                </a:tc>
              </a:tr>
              <a:tr h="240795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200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305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gridSpan="2">
                  <a:txBody>
                    <a:bodyPr/>
                    <a:lstStyle/>
                    <a:p>
                      <a:pPr marL="3111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Religion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305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52578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370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305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Education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305"/>
                </a:tc>
              </a:tr>
              <a:tr h="241171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300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305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gridSpan="2"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Social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Sciences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305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52578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380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305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Public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Services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305"/>
                </a:tc>
              </a:tr>
              <a:tr h="28434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gridSpan="2"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20"/>
                        </a:spcBef>
                        <a:tabLst>
                          <a:tab pos="488315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310	Statistics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94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52578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390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94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Customs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Folklore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940"/>
                </a:tc>
              </a:tr>
              <a:tr h="197617">
                <a:tc gridSpan="2">
                  <a:txBody>
                    <a:bodyPr/>
                    <a:lstStyle/>
                    <a:p>
                      <a:pPr marL="525145">
                        <a:lnSpc>
                          <a:spcPts val="120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320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ts val="120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Political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Science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0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400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gridSpan="2">
                  <a:txBody>
                    <a:bodyPr/>
                    <a:lstStyle/>
                    <a:p>
                      <a:pPr marL="123189">
                        <a:lnSpc>
                          <a:spcPts val="120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Philosophy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40795">
                <a:tc gridSpan="2">
                  <a:txBody>
                    <a:bodyPr/>
                    <a:lstStyle/>
                    <a:p>
                      <a:pPr marL="52514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330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305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Economics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305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500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305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gridSpan="2"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Pure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Science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305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41178">
                <a:tc gridSpan="2">
                  <a:txBody>
                    <a:bodyPr/>
                    <a:lstStyle/>
                    <a:p>
                      <a:pPr marL="52514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340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305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Law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305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600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305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gridSpan="2"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Applied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Science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305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41171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700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94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gridSpan="2"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Fine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Arts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94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4079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800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305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gridSpan="2"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Literature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305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52327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900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305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gridSpan="2"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History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305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16" name="object 16"/>
          <p:cNvSpPr/>
          <p:nvPr/>
        </p:nvSpPr>
        <p:spPr>
          <a:xfrm>
            <a:off x="1405890" y="5702058"/>
            <a:ext cx="5417820" cy="2904490"/>
          </a:xfrm>
          <a:custGeom>
            <a:avLst/>
            <a:gdLst/>
            <a:ahLst/>
            <a:cxnLst/>
            <a:rect l="l" t="t" r="r" b="b"/>
            <a:pathLst>
              <a:path w="5417820" h="2904490">
                <a:moveTo>
                  <a:pt x="2705862" y="2897873"/>
                </a:moveTo>
                <a:lnTo>
                  <a:pt x="0" y="2897873"/>
                </a:lnTo>
                <a:lnTo>
                  <a:pt x="0" y="2903969"/>
                </a:lnTo>
                <a:lnTo>
                  <a:pt x="2705862" y="2903969"/>
                </a:lnTo>
                <a:lnTo>
                  <a:pt x="2705862" y="2897873"/>
                </a:lnTo>
                <a:close/>
              </a:path>
              <a:path w="5417820" h="2904490">
                <a:moveTo>
                  <a:pt x="5417820" y="0"/>
                </a:moveTo>
                <a:lnTo>
                  <a:pt x="5411724" y="0"/>
                </a:lnTo>
                <a:lnTo>
                  <a:pt x="0" y="0"/>
                </a:lnTo>
                <a:lnTo>
                  <a:pt x="0" y="6083"/>
                </a:lnTo>
                <a:lnTo>
                  <a:pt x="5411724" y="6083"/>
                </a:lnTo>
                <a:lnTo>
                  <a:pt x="5411724" y="2897873"/>
                </a:lnTo>
                <a:lnTo>
                  <a:pt x="2711958" y="2897873"/>
                </a:lnTo>
                <a:lnTo>
                  <a:pt x="2711958" y="2903969"/>
                </a:lnTo>
                <a:lnTo>
                  <a:pt x="5411724" y="2903969"/>
                </a:lnTo>
                <a:lnTo>
                  <a:pt x="5417807" y="2903969"/>
                </a:lnTo>
                <a:lnTo>
                  <a:pt x="5417807" y="2897873"/>
                </a:lnTo>
                <a:lnTo>
                  <a:pt x="5417807" y="6083"/>
                </a:lnTo>
                <a:lnTo>
                  <a:pt x="541782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084580" y="8743439"/>
            <a:ext cx="2016125" cy="5956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295"/>
              </a:lnSpc>
              <a:spcBef>
                <a:spcPts val="95"/>
              </a:spcBef>
            </a:pPr>
            <a:r>
              <a:rPr dirty="0" sz="1100" spc="-5">
                <a:latin typeface="Times New Roman"/>
                <a:cs typeface="Times New Roman"/>
              </a:rPr>
              <a:t>Top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ten search engines:</a:t>
            </a:r>
            <a:endParaRPr sz="1100">
              <a:latin typeface="Times New Roman"/>
              <a:cs typeface="Times New Roman"/>
            </a:endParaRPr>
          </a:p>
          <a:p>
            <a:pPr marL="469265" indent="-229235">
              <a:lnSpc>
                <a:spcPts val="1295"/>
              </a:lnSpc>
              <a:buAutoNum type="arabicPeriod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Google</a:t>
            </a:r>
            <a:endParaRPr sz="1100">
              <a:latin typeface="Times New Roman"/>
              <a:cs typeface="Times New Roman"/>
            </a:endParaRPr>
          </a:p>
          <a:p>
            <a:pPr marL="469265" indent="-229235">
              <a:lnSpc>
                <a:spcPct val="100000"/>
              </a:lnSpc>
              <a:spcBef>
                <a:spcPts val="580"/>
              </a:spcBef>
              <a:buAutoNum type="arabicPeriod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Alltheweb –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Fast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clear.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7380" y="342390"/>
            <a:ext cx="174498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 Elementary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84111" y="342390"/>
            <a:ext cx="22669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788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10019" y="9493248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18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400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257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27374" y="693369"/>
            <a:ext cx="6061710" cy="777684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469265" indent="-229235">
              <a:lnSpc>
                <a:spcPct val="100000"/>
              </a:lnSpc>
              <a:spcBef>
                <a:spcPts val="675"/>
              </a:spcBef>
              <a:buAutoNum type="arabicPeriod" startAt="3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Yahoo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–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Directories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search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engine</a:t>
            </a:r>
            <a:endParaRPr sz="1100">
              <a:latin typeface="Times New Roman"/>
              <a:cs typeface="Times New Roman"/>
            </a:endParaRPr>
          </a:p>
          <a:p>
            <a:pPr marL="469265" indent="-229235">
              <a:lnSpc>
                <a:spcPct val="100000"/>
              </a:lnSpc>
              <a:spcBef>
                <a:spcPts val="575"/>
              </a:spcBef>
              <a:buAutoNum type="arabicPeriod" startAt="3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Hotbot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-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Directories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search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engine</a:t>
            </a:r>
            <a:endParaRPr sz="1100">
              <a:latin typeface="Times New Roman"/>
              <a:cs typeface="Times New Roman"/>
            </a:endParaRPr>
          </a:p>
          <a:p>
            <a:pPr marL="469265" indent="-229235">
              <a:lnSpc>
                <a:spcPct val="100000"/>
              </a:lnSpc>
              <a:spcBef>
                <a:spcPts val="585"/>
              </a:spcBef>
              <a:buAutoNum type="arabicPeriod" startAt="3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About – sites vetted by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humans</a:t>
            </a:r>
            <a:endParaRPr sz="1100">
              <a:latin typeface="Times New Roman"/>
              <a:cs typeface="Times New Roman"/>
            </a:endParaRPr>
          </a:p>
          <a:p>
            <a:pPr marL="469265" indent="-229235">
              <a:lnSpc>
                <a:spcPct val="100000"/>
              </a:lnSpc>
              <a:spcBef>
                <a:spcPts val="575"/>
              </a:spcBef>
              <a:buAutoNum type="arabicPeriod" startAt="3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Excite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-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Directories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search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engine</a:t>
            </a:r>
            <a:endParaRPr sz="1100">
              <a:latin typeface="Times New Roman"/>
              <a:cs typeface="Times New Roman"/>
            </a:endParaRPr>
          </a:p>
          <a:p>
            <a:pPr marL="469265" indent="-229235">
              <a:lnSpc>
                <a:spcPct val="100000"/>
              </a:lnSpc>
              <a:spcBef>
                <a:spcPts val="575"/>
              </a:spcBef>
              <a:buAutoNum type="arabicPeriod" startAt="3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iWon</a:t>
            </a:r>
            <a:endParaRPr sz="1100">
              <a:latin typeface="Times New Roman"/>
              <a:cs typeface="Times New Roman"/>
            </a:endParaRPr>
          </a:p>
          <a:p>
            <a:pPr marL="469265" indent="-229235">
              <a:lnSpc>
                <a:spcPct val="100000"/>
              </a:lnSpc>
              <a:spcBef>
                <a:spcPts val="575"/>
              </a:spcBef>
              <a:buAutoNum type="arabicPeriod" startAt="3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MSN</a:t>
            </a:r>
            <a:endParaRPr sz="1100">
              <a:latin typeface="Times New Roman"/>
              <a:cs typeface="Times New Roman"/>
            </a:endParaRPr>
          </a:p>
          <a:p>
            <a:pPr marL="469265" indent="-229235">
              <a:lnSpc>
                <a:spcPct val="100000"/>
              </a:lnSpc>
              <a:spcBef>
                <a:spcPts val="585"/>
              </a:spcBef>
              <a:buAutoNum type="arabicPeriod" startAt="3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Completeplanet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–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directs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various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databases</a:t>
            </a:r>
            <a:endParaRPr sz="1100">
              <a:latin typeface="Times New Roman"/>
              <a:cs typeface="Times New Roman"/>
            </a:endParaRPr>
          </a:p>
          <a:p>
            <a:pPr marL="469900" indent="-229870">
              <a:lnSpc>
                <a:spcPct val="100000"/>
              </a:lnSpc>
              <a:spcBef>
                <a:spcPts val="575"/>
              </a:spcBef>
              <a:buAutoNum type="arabicPeriod" startAt="3"/>
              <a:tabLst>
                <a:tab pos="470534" algn="l"/>
              </a:tabLst>
            </a:pPr>
            <a:r>
              <a:rPr dirty="0" sz="1100" spc="-5">
                <a:latin typeface="Times New Roman"/>
                <a:cs typeface="Times New Roman"/>
              </a:rPr>
              <a:t>Altavista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-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Directories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search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engine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Times New Roman"/>
              <a:buAutoNum type="arabicPeriod" startAt="3"/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Highly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Valuable Links:</a:t>
            </a:r>
            <a:endParaRPr sz="1100">
              <a:latin typeface="Times New Roman"/>
              <a:cs typeface="Times New Roman"/>
            </a:endParaRPr>
          </a:p>
          <a:p>
            <a:pPr marL="12700" marR="3248025">
              <a:lnSpc>
                <a:spcPct val="144100"/>
              </a:lnSpc>
              <a:spcBef>
                <a:spcPts val="625"/>
              </a:spcBef>
            </a:pPr>
            <a:r>
              <a:rPr dirty="0" sz="1100" spc="-5">
                <a:latin typeface="Times New Roman"/>
                <a:cs typeface="Times New Roman"/>
              </a:rPr>
              <a:t>Online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Newspapers: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  <a:hlinkClick r:id="rId2"/>
              </a:rPr>
              <a:t>http://www.ipl.org/div/news/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Fact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File: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  <a:hlinkClick r:id="rId3"/>
              </a:rPr>
              <a:t>http://bartleby.com/151/</a:t>
            </a:r>
            <a:endParaRPr sz="1100">
              <a:latin typeface="Times New Roman"/>
              <a:cs typeface="Times New Roman"/>
            </a:endParaRPr>
          </a:p>
          <a:p>
            <a:pPr marL="12700" marR="2625090">
              <a:lnSpc>
                <a:spcPct val="143600"/>
              </a:lnSpc>
            </a:pPr>
            <a:r>
              <a:rPr dirty="0" sz="1100" spc="-5">
                <a:latin typeface="Times New Roman"/>
                <a:cs typeface="Times New Roman"/>
              </a:rPr>
              <a:t>Encyclopedia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Quotations: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  <a:hlinkClick r:id="rId4"/>
              </a:rPr>
              <a:t>http://bartleby.com/quotations/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Columbia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Encyclopedia: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  <a:hlinkClick r:id="rId5"/>
              </a:rPr>
              <a:t>http://bartleby.com/65/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Encyclopedia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History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  <a:hlinkClick r:id="rId6"/>
              </a:rPr>
              <a:t>http://www.bartleby.com/67/</a:t>
            </a:r>
            <a:endParaRPr sz="1100">
              <a:latin typeface="Times New Roman"/>
              <a:cs typeface="Times New Roman"/>
            </a:endParaRPr>
          </a:p>
          <a:p>
            <a:pPr marL="12700" marR="2009139">
              <a:lnSpc>
                <a:spcPct val="1436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Element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Style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by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William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Strunk: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  <a:hlinkClick r:id="rId7"/>
              </a:rPr>
              <a:t>http://www.bartleby.com/141/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Encyclopedia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Britannica: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  <a:hlinkClick r:id="rId8"/>
              </a:rPr>
              <a:t>http://www.britannica.com/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dirty="0" sz="1100" spc="-5">
                <a:latin typeface="Times New Roman"/>
                <a:cs typeface="Times New Roman"/>
              </a:rPr>
              <a:t>Encyclopedia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Americana: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  <a:hlinkClick r:id="rId9"/>
              </a:rPr>
              <a:t>http://www.americana.com/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ts val="1290"/>
              </a:lnSpc>
            </a:pPr>
            <a:r>
              <a:rPr dirty="0" sz="1100" spc="-5" b="1">
                <a:latin typeface="Times New Roman"/>
                <a:cs typeface="Times New Roman"/>
              </a:rPr>
              <a:t>ORGANIZING</a:t>
            </a:r>
            <a:endParaRPr sz="1100">
              <a:latin typeface="Times New Roman"/>
              <a:cs typeface="Times New Roman"/>
            </a:endParaRPr>
          </a:p>
          <a:p>
            <a:pPr algn="just" marL="12700" marR="5080">
              <a:lnSpc>
                <a:spcPts val="1270"/>
              </a:lnSpc>
              <a:spcBef>
                <a:spcPts val="55"/>
              </a:spcBef>
            </a:pPr>
            <a:r>
              <a:rPr dirty="0" sz="1100" spc="-5">
                <a:latin typeface="Times New Roman"/>
                <a:cs typeface="Times New Roman"/>
              </a:rPr>
              <a:t>After writers collect information pertaining to their topics, a useful next step is to organize it--decide </a:t>
            </a:r>
            <a:r>
              <a:rPr dirty="0" sz="1100">
                <a:latin typeface="Times New Roman"/>
                <a:cs typeface="Times New Roman"/>
              </a:rPr>
              <a:t>where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place information in the argument, as well as which information to omit.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 easy way to do this is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outlining.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Argumentative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narrative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papers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generally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three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sections.</a:t>
            </a:r>
            <a:endParaRPr sz="1100">
              <a:latin typeface="Times New Roman"/>
              <a:cs typeface="Times New Roman"/>
            </a:endParaRPr>
          </a:p>
          <a:p>
            <a:pPr algn="just" marL="12700">
              <a:lnSpc>
                <a:spcPts val="1190"/>
              </a:lnSpc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used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grab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readers’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attention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introduce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main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idea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claim,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often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endParaRPr sz="1100">
              <a:latin typeface="Times New Roman"/>
              <a:cs typeface="Times New Roman"/>
            </a:endParaRPr>
          </a:p>
          <a:p>
            <a:pPr algn="just" marL="12700">
              <a:lnSpc>
                <a:spcPts val="1265"/>
              </a:lnSpc>
            </a:pPr>
            <a:r>
              <a:rPr dirty="0" sz="1100" spc="-5">
                <a:latin typeface="Times New Roman"/>
                <a:cs typeface="Times New Roman"/>
              </a:rPr>
              <a:t>form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 thesis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statement.</a:t>
            </a:r>
            <a:endParaRPr sz="1100">
              <a:latin typeface="Times New Roman"/>
              <a:cs typeface="Times New Roman"/>
            </a:endParaRPr>
          </a:p>
          <a:p>
            <a:pPr marL="12700" marR="663575">
              <a:lnSpc>
                <a:spcPts val="1270"/>
              </a:lnSpc>
              <a:spcBef>
                <a:spcPts val="55"/>
              </a:spcBef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body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consists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several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supporting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paragraphs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help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elaborate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upon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claim.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Finally,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conclusion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serves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wrap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up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argument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reemphasize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writer’s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ideas.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ts val="1260"/>
              </a:lnSpc>
            </a:pPr>
            <a:r>
              <a:rPr dirty="0" sz="1100" spc="-5">
                <a:latin typeface="Times New Roman"/>
                <a:cs typeface="Times New Roman"/>
              </a:rPr>
              <a:t>After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gathering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information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collection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stage,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writer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should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think</a:t>
            </a:r>
            <a:r>
              <a:rPr dirty="0" sz="1100" spc="2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where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each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piece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information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belongs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course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argument.</a:t>
            </a:r>
            <a:r>
              <a:rPr dirty="0" sz="1100" spc="4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By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taking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time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organize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plan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paper,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writers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05"/>
              </a:lnSpc>
            </a:pPr>
            <a:r>
              <a:rPr dirty="0" sz="1100" spc="-5">
                <a:latin typeface="Times New Roman"/>
                <a:cs typeface="Times New Roman"/>
              </a:rPr>
              <a:t>save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time</a:t>
            </a:r>
            <a:r>
              <a:rPr dirty="0" sz="1100" spc="2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2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frustration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2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drafting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stage;</a:t>
            </a:r>
            <a:r>
              <a:rPr dirty="0" sz="1100" spc="2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2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find</a:t>
            </a:r>
            <a:r>
              <a:rPr dirty="0" sz="1100" spc="2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2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2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2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pattern</a:t>
            </a:r>
            <a:r>
              <a:rPr dirty="0" sz="1100" spc="2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2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95"/>
              </a:lnSpc>
            </a:pPr>
            <a:r>
              <a:rPr dirty="0" sz="1100" spc="-5">
                <a:latin typeface="Times New Roman"/>
                <a:cs typeface="Times New Roman"/>
              </a:rPr>
              <a:t>established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themselves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outlines.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DRAFTING:</a:t>
            </a:r>
            <a:endParaRPr sz="1100">
              <a:latin typeface="Times New Roman"/>
              <a:cs typeface="Times New Roman"/>
            </a:endParaRPr>
          </a:p>
          <a:p>
            <a:pPr lvl="1" marL="698500" indent="-228600">
              <a:lnSpc>
                <a:spcPct val="100000"/>
              </a:lnSpc>
              <a:spcBef>
                <a:spcPts val="20"/>
              </a:spcBef>
              <a:buFont typeface="Symbol"/>
              <a:buChar char=""/>
              <a:tabLst>
                <a:tab pos="697865" algn="l"/>
                <a:tab pos="698500" algn="l"/>
              </a:tabLst>
            </a:pPr>
            <a:r>
              <a:rPr dirty="0" sz="1100" spc="-5">
                <a:latin typeface="Times New Roman"/>
                <a:cs typeface="Times New Roman"/>
              </a:rPr>
              <a:t>Give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yourself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ample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time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work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project.</a:t>
            </a:r>
            <a:endParaRPr sz="1100">
              <a:latin typeface="Times New Roman"/>
              <a:cs typeface="Times New Roman"/>
            </a:endParaRPr>
          </a:p>
          <a:p>
            <a:pPr lvl="1" marL="698500" indent="-228600">
              <a:lnSpc>
                <a:spcPct val="100000"/>
              </a:lnSpc>
              <a:spcBef>
                <a:spcPts val="660"/>
              </a:spcBef>
              <a:buFont typeface="Symbol"/>
              <a:buChar char=""/>
              <a:tabLst>
                <a:tab pos="697865" algn="l"/>
                <a:tab pos="698500" algn="l"/>
              </a:tabLst>
            </a:pPr>
            <a:r>
              <a:rPr dirty="0" sz="1100" spc="-5">
                <a:latin typeface="Times New Roman"/>
                <a:cs typeface="Times New Roman"/>
              </a:rPr>
              <a:t>Find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comfortable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place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do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writing.</a:t>
            </a:r>
            <a:endParaRPr sz="1100">
              <a:latin typeface="Times New Roman"/>
              <a:cs typeface="Times New Roman"/>
            </a:endParaRPr>
          </a:p>
          <a:p>
            <a:pPr lvl="1" marL="698500" indent="-228600">
              <a:lnSpc>
                <a:spcPct val="100000"/>
              </a:lnSpc>
              <a:spcBef>
                <a:spcPts val="655"/>
              </a:spcBef>
              <a:buFont typeface="Symbol"/>
              <a:buChar char=""/>
              <a:tabLst>
                <a:tab pos="697865" algn="l"/>
                <a:tab pos="698500" algn="l"/>
              </a:tabLst>
            </a:pPr>
            <a:r>
              <a:rPr dirty="0" sz="1100" spc="-5">
                <a:latin typeface="Times New Roman"/>
                <a:cs typeface="Times New Roman"/>
              </a:rPr>
              <a:t>Avoid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distractions.</a:t>
            </a:r>
            <a:endParaRPr sz="1100">
              <a:latin typeface="Times New Roman"/>
              <a:cs typeface="Times New Roman"/>
            </a:endParaRPr>
          </a:p>
          <a:p>
            <a:pPr lvl="1" marL="698500" indent="-228600">
              <a:lnSpc>
                <a:spcPct val="100000"/>
              </a:lnSpc>
              <a:spcBef>
                <a:spcPts val="660"/>
              </a:spcBef>
              <a:buFont typeface="Symbol"/>
              <a:buChar char=""/>
              <a:tabLst>
                <a:tab pos="697865" algn="l"/>
                <a:tab pos="698500" algn="l"/>
              </a:tabLst>
            </a:pPr>
            <a:r>
              <a:rPr dirty="0" sz="1100" spc="-5">
                <a:latin typeface="Times New Roman"/>
                <a:cs typeface="Times New Roman"/>
              </a:rPr>
              <a:t>Take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breaks.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7374" y="8678661"/>
            <a:ext cx="1755775" cy="3530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29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REVISING: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90"/>
              </a:lnSpc>
            </a:pPr>
            <a:r>
              <a:rPr dirty="0" sz="1100" spc="-5">
                <a:latin typeface="Times New Roman"/>
                <a:cs typeface="Times New Roman"/>
              </a:rPr>
              <a:t>Review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higher-order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concerns: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84575" y="8925230"/>
            <a:ext cx="1934210" cy="528320"/>
          </a:xfrm>
          <a:prstGeom prst="rect">
            <a:avLst/>
          </a:prstGeom>
        </p:spPr>
        <p:txBody>
          <a:bodyPr wrap="square" lIns="0" tIns="9652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6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Clear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ideas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Organization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 paper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4580" y="342390"/>
            <a:ext cx="174498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 Elementary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41311" y="342390"/>
            <a:ext cx="22669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360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67219" y="9493248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19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972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829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084580" y="692602"/>
            <a:ext cx="4616450" cy="1010285"/>
          </a:xfrm>
          <a:prstGeom prst="rect">
            <a:avLst/>
          </a:prstGeom>
        </p:spPr>
        <p:txBody>
          <a:bodyPr wrap="square" lIns="0" tIns="96520" rIns="0" bIns="0" rtlCol="0" vert="horz">
            <a:spAutoFit/>
          </a:bodyPr>
          <a:lstStyle/>
          <a:p>
            <a:pPr marL="698500" indent="-228600">
              <a:lnSpc>
                <a:spcPct val="100000"/>
              </a:lnSpc>
              <a:spcBef>
                <a:spcPts val="760"/>
              </a:spcBef>
              <a:buFont typeface="Symbol"/>
              <a:buChar char=""/>
              <a:tabLst>
                <a:tab pos="697865" algn="l"/>
                <a:tab pos="698500" algn="l"/>
              </a:tabLst>
            </a:pPr>
            <a:r>
              <a:rPr dirty="0" sz="1100" spc="-5">
                <a:latin typeface="Times New Roman"/>
                <a:cs typeface="Times New Roman"/>
              </a:rPr>
              <a:t>Paragraph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structure</a:t>
            </a:r>
            <a:endParaRPr sz="1100">
              <a:latin typeface="Times New Roman"/>
              <a:cs typeface="Times New Roman"/>
            </a:endParaRPr>
          </a:p>
          <a:p>
            <a:pPr marL="698500" indent="-228600">
              <a:lnSpc>
                <a:spcPct val="100000"/>
              </a:lnSpc>
              <a:spcBef>
                <a:spcPts val="660"/>
              </a:spcBef>
              <a:buFont typeface="Symbol"/>
              <a:buChar char=""/>
              <a:tabLst>
                <a:tab pos="697865" algn="l"/>
                <a:tab pos="698500" algn="l"/>
              </a:tabLst>
            </a:pPr>
            <a:r>
              <a:rPr dirty="0" sz="1100" spc="-5">
                <a:latin typeface="Times New Roman"/>
                <a:cs typeface="Times New Roman"/>
              </a:rPr>
              <a:t>Strong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conclusion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dirty="0" sz="1100" spc="-10" b="1">
                <a:latin typeface="Times New Roman"/>
                <a:cs typeface="Times New Roman"/>
              </a:rPr>
              <a:t>PROOFREADING: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dirty="0" sz="1100" spc="-5" b="1">
                <a:latin typeface="Times New Roman"/>
                <a:cs typeface="Times New Roman"/>
              </a:rPr>
              <a:t>Ask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yourself</a:t>
            </a:r>
            <a:r>
              <a:rPr dirty="0" sz="1100" spc="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about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three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sensitive</a:t>
            </a:r>
            <a:r>
              <a:rPr dirty="0" sz="1100" spc="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areas: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Content,</a:t>
            </a:r>
            <a:r>
              <a:rPr dirty="0" sz="1100" spc="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format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and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mechanics:</a:t>
            </a:r>
            <a:endParaRPr sz="1100">
              <a:latin typeface="Times New Roman"/>
              <a:cs typeface="Times New Roman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1405889" y="1853946"/>
          <a:ext cx="5420995" cy="65252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05735"/>
                <a:gridCol w="2705735"/>
              </a:tblGrid>
              <a:tr h="2657094">
                <a:tc>
                  <a:txBody>
                    <a:bodyPr/>
                    <a:lstStyle/>
                    <a:p>
                      <a:pPr marL="296545">
                        <a:lnSpc>
                          <a:spcPts val="1270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A.</a:t>
                      </a:r>
                      <a:r>
                        <a:rPr dirty="0" sz="1100" spc="14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CONTENT: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297180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Did</a:t>
                      </a:r>
                      <a:r>
                        <a:rPr dirty="0" sz="1100" spc="-3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i: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525780" indent="-228600">
                        <a:lnSpc>
                          <a:spcPct val="100000"/>
                        </a:lnSpc>
                        <a:spcBef>
                          <a:spcPts val="570"/>
                        </a:spcBef>
                        <a:buAutoNum type="arabicPeriod"/>
                        <a:tabLst>
                          <a:tab pos="525780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Stick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my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point?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525780" marR="60960" indent="-228600">
                        <a:lnSpc>
                          <a:spcPct val="143600"/>
                        </a:lnSpc>
                        <a:spcBef>
                          <a:spcPts val="5"/>
                        </a:spcBef>
                        <a:buAutoNum type="arabicPeriod"/>
                        <a:tabLst>
                          <a:tab pos="525780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Use</a:t>
                      </a:r>
                      <a:r>
                        <a:rPr dirty="0" sz="1100" spc="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good</a:t>
                      </a:r>
                      <a:r>
                        <a:rPr dirty="0" sz="1100" spc="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source</a:t>
                      </a:r>
                      <a:r>
                        <a:rPr dirty="0" sz="1100" spc="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100" spc="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enough</a:t>
                      </a:r>
                      <a:r>
                        <a:rPr dirty="0" sz="1100" spc="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sources </a:t>
                      </a:r>
                      <a:r>
                        <a:rPr dirty="0" sz="1100" spc="-2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of information?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525780" indent="-228600">
                        <a:lnSpc>
                          <a:spcPct val="100000"/>
                        </a:lnSpc>
                        <a:spcBef>
                          <a:spcPts val="575"/>
                        </a:spcBef>
                        <a:buAutoNum type="arabicPeriod"/>
                        <a:tabLst>
                          <a:tab pos="525780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Organize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my</a:t>
                      </a:r>
                      <a:r>
                        <a:rPr dirty="0" sz="11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information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carefully?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525780" indent="-228600">
                        <a:lnSpc>
                          <a:spcPct val="100000"/>
                        </a:lnSpc>
                        <a:spcBef>
                          <a:spcPts val="580"/>
                        </a:spcBef>
                        <a:buAutoNum type="arabicPeriod"/>
                        <a:tabLst>
                          <a:tab pos="525780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Check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my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facts?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525780" indent="-228600">
                        <a:lnSpc>
                          <a:spcPct val="100000"/>
                        </a:lnSpc>
                        <a:spcBef>
                          <a:spcPts val="575"/>
                        </a:spcBef>
                        <a:buAutoNum type="arabicPeriod"/>
                        <a:tabLst>
                          <a:tab pos="525780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Use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illustration?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525780" indent="-228600">
                        <a:lnSpc>
                          <a:spcPct val="100000"/>
                        </a:lnSpc>
                        <a:spcBef>
                          <a:spcPts val="580"/>
                        </a:spcBef>
                        <a:buAutoNum type="arabicPeriod"/>
                        <a:tabLst>
                          <a:tab pos="525780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Consider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my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readers?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525780" indent="-228600">
                        <a:lnSpc>
                          <a:spcPct val="100000"/>
                        </a:lnSpc>
                        <a:spcBef>
                          <a:spcPts val="575"/>
                        </a:spcBef>
                        <a:buAutoNum type="arabicPeriod"/>
                        <a:tabLst>
                          <a:tab pos="525780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Use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sufficient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detail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description?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5780" indent="-228600">
                        <a:lnSpc>
                          <a:spcPts val="1270"/>
                        </a:lnSpc>
                        <a:buAutoNum type="alphaUcPeriod" startAt="2"/>
                        <a:tabLst>
                          <a:tab pos="525780" algn="l"/>
                        </a:tabLst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FORMAT: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297180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Did</a:t>
                      </a:r>
                      <a:r>
                        <a:rPr dirty="0" sz="1100" spc="-3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i: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lvl="1" marL="525780" indent="-228600">
                        <a:lnSpc>
                          <a:spcPct val="100000"/>
                        </a:lnSpc>
                        <a:spcBef>
                          <a:spcPts val="570"/>
                        </a:spcBef>
                        <a:buAutoNum type="arabicPeriod"/>
                        <a:tabLst>
                          <a:tab pos="525780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Choose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appropriate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title?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lvl="1" marL="525780" indent="-228600">
                        <a:lnSpc>
                          <a:spcPct val="100000"/>
                        </a:lnSpc>
                        <a:spcBef>
                          <a:spcPts val="580"/>
                        </a:spcBef>
                        <a:buAutoNum type="arabicPeriod"/>
                        <a:tabLst>
                          <a:tab pos="525780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Use quotations correctly?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lvl="1" marL="525780" indent="-228600">
                        <a:lnSpc>
                          <a:spcPct val="100000"/>
                        </a:lnSpc>
                        <a:spcBef>
                          <a:spcPts val="575"/>
                        </a:spcBef>
                        <a:buAutoNum type="arabicPeriod"/>
                        <a:tabLst>
                          <a:tab pos="525780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Use headings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subheadings?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lvl="1" marL="525780" indent="-228600">
                        <a:lnSpc>
                          <a:spcPct val="100000"/>
                        </a:lnSpc>
                        <a:spcBef>
                          <a:spcPts val="580"/>
                        </a:spcBef>
                        <a:buAutoNum type="arabicPeriod"/>
                        <a:tabLst>
                          <a:tab pos="525780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Label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graphs,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charts,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tables?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lvl="1" marL="525145" marR="60960" indent="-228600">
                        <a:lnSpc>
                          <a:spcPct val="143600"/>
                        </a:lnSpc>
                        <a:buAutoNum type="arabicPeriod"/>
                        <a:tabLst>
                          <a:tab pos="525780" algn="l"/>
                          <a:tab pos="1083945" algn="l"/>
                          <a:tab pos="1285240" algn="l"/>
                          <a:tab pos="1596390" algn="l"/>
                          <a:tab pos="1852930" algn="l"/>
                          <a:tab pos="2520315" algn="l"/>
                        </a:tabLst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Include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list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resources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or 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bibliography?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lvl="1" marL="525780" indent="-228600">
                        <a:lnSpc>
                          <a:spcPct val="100000"/>
                        </a:lnSpc>
                        <a:spcBef>
                          <a:spcPts val="580"/>
                        </a:spcBef>
                        <a:buAutoNum type="arabicPeriod"/>
                        <a:tabLst>
                          <a:tab pos="525780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Number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pages?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861815">
                <a:tc>
                  <a:txBody>
                    <a:bodyPr/>
                    <a:lstStyle/>
                    <a:p>
                      <a:pPr marL="297180">
                        <a:lnSpc>
                          <a:spcPts val="1270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C.</a:t>
                      </a:r>
                      <a:r>
                        <a:rPr dirty="0" sz="1100" spc="14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MECHANICS: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297180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Did</a:t>
                      </a:r>
                      <a:r>
                        <a:rPr dirty="0" sz="1100" spc="-3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I: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525780" marR="60960" indent="-228600">
                        <a:lnSpc>
                          <a:spcPts val="1900"/>
                        </a:lnSpc>
                        <a:spcBef>
                          <a:spcPts val="150"/>
                        </a:spcBef>
                        <a:buAutoNum type="arabicPeriod"/>
                        <a:tabLst>
                          <a:tab pos="526415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Check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sentences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100" spc="2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completeness </a:t>
                      </a:r>
                      <a:r>
                        <a:rPr dirty="0" sz="1100" spc="-2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and sense?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525780" indent="-229235">
                        <a:lnSpc>
                          <a:spcPct val="100000"/>
                        </a:lnSpc>
                        <a:spcBef>
                          <a:spcPts val="415"/>
                        </a:spcBef>
                        <a:buAutoNum type="arabicPeriod"/>
                        <a:tabLst>
                          <a:tab pos="526415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Check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consistent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verb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tense?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525780" indent="-229235">
                        <a:lnSpc>
                          <a:spcPct val="100000"/>
                        </a:lnSpc>
                        <a:spcBef>
                          <a:spcPts val="580"/>
                        </a:spcBef>
                        <a:buAutoNum type="arabicPeriod"/>
                        <a:tabLst>
                          <a:tab pos="526415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Check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consistent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point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view?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525780" indent="-229235">
                        <a:lnSpc>
                          <a:spcPct val="100000"/>
                        </a:lnSpc>
                        <a:spcBef>
                          <a:spcPts val="575"/>
                        </a:spcBef>
                        <a:buAutoNum type="arabicPeriod"/>
                        <a:tabLst>
                          <a:tab pos="526415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Check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subject-verb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agreement?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525780" indent="-229235">
                        <a:lnSpc>
                          <a:spcPct val="100000"/>
                        </a:lnSpc>
                        <a:spcBef>
                          <a:spcPts val="575"/>
                        </a:spcBef>
                        <a:buAutoNum type="arabicPeriod"/>
                        <a:tabLst>
                          <a:tab pos="526415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Check for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proper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use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pronouns?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525780" indent="-229235">
                        <a:lnSpc>
                          <a:spcPct val="100000"/>
                        </a:lnSpc>
                        <a:spcBef>
                          <a:spcPts val="575"/>
                        </a:spcBef>
                        <a:buAutoNum type="arabicPeriod"/>
                        <a:tabLst>
                          <a:tab pos="526415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Check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all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spellings?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525780" marR="59690" indent="-228600">
                        <a:lnSpc>
                          <a:spcPct val="143600"/>
                        </a:lnSpc>
                        <a:spcBef>
                          <a:spcPts val="10"/>
                        </a:spcBef>
                        <a:buAutoNum type="arabicPeriod"/>
                        <a:tabLst>
                          <a:tab pos="526415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Check</a:t>
                      </a:r>
                      <a:r>
                        <a:rPr dirty="0" sz="1100" spc="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100" spc="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end</a:t>
                      </a:r>
                      <a:r>
                        <a:rPr dirty="0" sz="1100" spc="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marks</a:t>
                      </a:r>
                      <a:r>
                        <a:rPr dirty="0" sz="1100" spc="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100" spc="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other </a:t>
                      </a:r>
                      <a:r>
                        <a:rPr dirty="0" sz="1100" spc="-2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punctuation?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525780" marR="60960" indent="-228600">
                        <a:lnSpc>
                          <a:spcPct val="143600"/>
                        </a:lnSpc>
                        <a:buAutoNum type="arabicPeriod"/>
                        <a:tabLst>
                          <a:tab pos="526415" algn="l"/>
                          <a:tab pos="1050925" algn="l"/>
                          <a:tab pos="1383030" algn="l"/>
                          <a:tab pos="1924050" algn="l"/>
                          <a:tab pos="2434590" algn="l"/>
                        </a:tabLst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Check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capital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letters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and 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underlining?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525780" indent="-229235">
                        <a:lnSpc>
                          <a:spcPct val="100000"/>
                        </a:lnSpc>
                        <a:spcBef>
                          <a:spcPts val="580"/>
                        </a:spcBef>
                        <a:buAutoNum type="arabicPeriod"/>
                        <a:tabLst>
                          <a:tab pos="526415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Check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paragraph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indentation?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525780" indent="-229235">
                        <a:lnSpc>
                          <a:spcPct val="100000"/>
                        </a:lnSpc>
                        <a:spcBef>
                          <a:spcPts val="575"/>
                        </a:spcBef>
                        <a:buAutoNum type="arabicPeriod"/>
                        <a:tabLst>
                          <a:tab pos="526415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Check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legibility?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1084580" y="8677146"/>
            <a:ext cx="215138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Source: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Purdue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University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Sources.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7380" y="342390"/>
            <a:ext cx="174498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 Elementary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84111" y="342390"/>
            <a:ext cx="22669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788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10019" y="9493248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20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400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257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882132" y="526034"/>
            <a:ext cx="80581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LECTURE</a:t>
            </a:r>
            <a:r>
              <a:rPr dirty="0" u="heavy" sz="1100" spc="-6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8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7374" y="847596"/>
            <a:ext cx="4626610" cy="8343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339340">
              <a:lnSpc>
                <a:spcPct val="100000"/>
              </a:lnSpc>
              <a:spcBef>
                <a:spcPts val="95"/>
              </a:spcBef>
            </a:pP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ALL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ABOUT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WORDS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290"/>
              </a:lnSpc>
            </a:pPr>
            <a:r>
              <a:rPr dirty="0" sz="1100" spc="-5" b="1">
                <a:latin typeface="Times New Roman"/>
                <a:cs typeface="Times New Roman"/>
              </a:rPr>
              <a:t>WHAT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ARE WORDS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MADE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OF?</a:t>
            </a:r>
            <a:endParaRPr sz="1100">
              <a:latin typeface="Times New Roman"/>
              <a:cs typeface="Times New Roman"/>
            </a:endParaRPr>
          </a:p>
          <a:p>
            <a:pPr marL="469900" marR="5080" indent="-422275">
              <a:lnSpc>
                <a:spcPts val="1270"/>
              </a:lnSpc>
              <a:spcBef>
                <a:spcPts val="55"/>
              </a:spcBef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study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called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MORPHOLOGY.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Look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sentence: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“The plogs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glorped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bliply”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7374" y="1810765"/>
            <a:ext cx="4892675" cy="3530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290"/>
              </a:lnSpc>
              <a:spcBef>
                <a:spcPts val="95"/>
              </a:spcBef>
            </a:pPr>
            <a:r>
              <a:rPr dirty="0" sz="1100" spc="-5">
                <a:latin typeface="Times New Roman"/>
                <a:cs typeface="Times New Roman"/>
              </a:rPr>
              <a:t>MORPHEMES: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morpheme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smallest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unit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semantic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meaning.</a:t>
            </a:r>
            <a:endParaRPr sz="1100">
              <a:latin typeface="Times New Roman"/>
              <a:cs typeface="Times New Roman"/>
            </a:endParaRPr>
          </a:p>
          <a:p>
            <a:pPr marL="240665">
              <a:lnSpc>
                <a:spcPts val="1290"/>
              </a:lnSpc>
            </a:pPr>
            <a:r>
              <a:rPr dirty="0" sz="1100" spc="-5">
                <a:latin typeface="Times New Roman"/>
                <a:cs typeface="Times New Roman"/>
              </a:rPr>
              <a:t>One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morpheme: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dog,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elephant,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child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55968" y="2058867"/>
            <a:ext cx="3056890" cy="74866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675"/>
              </a:spcBef>
              <a:buFont typeface="Wingdings"/>
              <a:buChar char="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morphemes: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elephant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child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ish.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Font typeface="Wingdings"/>
              <a:buChar char="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Three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morphemes: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child ish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ness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85"/>
              </a:spcBef>
              <a:buFont typeface="Wingdings"/>
              <a:buChar char="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Six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morphemes: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anti-dis-establish-ment-arian-ism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7361" y="3015481"/>
            <a:ext cx="4335145" cy="332612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Free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Morpheme: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alone.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E.g.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dog,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elephant,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child,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etc.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Bound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Morpheme: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can’t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alone.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E.g.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ish,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ness,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ism,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etc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295"/>
              </a:lnSpc>
            </a:pPr>
            <a:r>
              <a:rPr dirty="0" sz="1100" spc="-5" b="1">
                <a:latin typeface="Times New Roman"/>
                <a:cs typeface="Times New Roman"/>
              </a:rPr>
              <a:t>HOW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WORDS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ARE FORMED?</a:t>
            </a:r>
            <a:endParaRPr sz="1100">
              <a:latin typeface="Times New Roman"/>
              <a:cs typeface="Times New Roman"/>
            </a:endParaRPr>
          </a:p>
          <a:p>
            <a:pPr marL="240665">
              <a:lnSpc>
                <a:spcPts val="1295"/>
              </a:lnSpc>
            </a:pP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forms</a:t>
            </a:r>
            <a:endParaRPr sz="1100">
              <a:latin typeface="Times New Roman"/>
              <a:cs typeface="Times New Roman"/>
            </a:endParaRPr>
          </a:p>
          <a:p>
            <a:pPr marL="240665" marR="3003550">
              <a:lnSpc>
                <a:spcPct val="143600"/>
              </a:lnSpc>
            </a:pPr>
            <a:r>
              <a:rPr dirty="0" sz="1100" spc="-5">
                <a:latin typeface="Times New Roman"/>
                <a:cs typeface="Times New Roman"/>
              </a:rPr>
              <a:t>Portmanteau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Prefixes</a:t>
            </a:r>
            <a:endParaRPr sz="1100">
              <a:latin typeface="Times New Roman"/>
              <a:cs typeface="Times New Roman"/>
            </a:endParaRPr>
          </a:p>
          <a:p>
            <a:pPr marL="240665" marR="3286760">
              <a:lnSpc>
                <a:spcPts val="1900"/>
              </a:lnSpc>
              <a:spcBef>
                <a:spcPts val="155"/>
              </a:spcBef>
            </a:pPr>
            <a:r>
              <a:rPr dirty="0" sz="1100" spc="-5">
                <a:latin typeface="Times New Roman"/>
                <a:cs typeface="Times New Roman"/>
              </a:rPr>
              <a:t>Suffixes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</a:t>
            </a:r>
            <a:r>
              <a:rPr dirty="0" sz="1100">
                <a:latin typeface="Times New Roman"/>
                <a:cs typeface="Times New Roman"/>
              </a:rPr>
              <a:t>o</a:t>
            </a:r>
            <a:r>
              <a:rPr dirty="0" sz="1100" spc="-15">
                <a:latin typeface="Times New Roman"/>
                <a:cs typeface="Times New Roman"/>
              </a:rPr>
              <a:t>m</a:t>
            </a:r>
            <a:r>
              <a:rPr dirty="0" sz="1100" spc="-5">
                <a:latin typeface="Times New Roman"/>
                <a:cs typeface="Times New Roman"/>
              </a:rPr>
              <a:t>pound</a:t>
            </a:r>
            <a:r>
              <a:rPr dirty="0" sz="1100" spc="-15">
                <a:latin typeface="Times New Roman"/>
                <a:cs typeface="Times New Roman"/>
              </a:rPr>
              <a:t>i</a:t>
            </a:r>
            <a:r>
              <a:rPr dirty="0" sz="1100" spc="-10">
                <a:latin typeface="Times New Roman"/>
                <a:cs typeface="Times New Roman"/>
              </a:rPr>
              <a:t>n</a:t>
            </a:r>
            <a:r>
              <a:rPr dirty="0" sz="1100" spc="-5">
                <a:latin typeface="Times New Roman"/>
                <a:cs typeface="Times New Roman"/>
              </a:rPr>
              <a:t>g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450">
              <a:latin typeface="Times New Roman"/>
              <a:cs typeface="Times New Roman"/>
            </a:endParaRPr>
          </a:p>
          <a:p>
            <a:pPr marL="240665">
              <a:lnSpc>
                <a:spcPts val="1285"/>
              </a:lnSpc>
            </a:pPr>
            <a:r>
              <a:rPr dirty="0" sz="1100" spc="-5" b="1">
                <a:latin typeface="Times New Roman"/>
                <a:cs typeface="Times New Roman"/>
              </a:rPr>
              <a:t>WORDS</a:t>
            </a:r>
            <a:r>
              <a:rPr dirty="0" sz="1100" spc="-3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FORMS:</a:t>
            </a:r>
            <a:endParaRPr sz="1100">
              <a:latin typeface="Times New Roman"/>
              <a:cs typeface="Times New Roman"/>
            </a:endParaRPr>
          </a:p>
          <a:p>
            <a:pPr marL="697865">
              <a:lnSpc>
                <a:spcPts val="1285"/>
              </a:lnSpc>
            </a:pPr>
            <a:r>
              <a:rPr dirty="0" sz="1100" spc="-5" b="1">
                <a:latin typeface="Times New Roman"/>
                <a:cs typeface="Times New Roman"/>
              </a:rPr>
              <a:t>WORD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FORMS: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noun,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verb,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adjective,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adverb.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E.g.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decide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Times New Roman"/>
              <a:cs typeface="Times New Roman"/>
            </a:endParaRPr>
          </a:p>
          <a:p>
            <a:pPr marL="926465" indent="-229235">
              <a:lnSpc>
                <a:spcPct val="100000"/>
              </a:lnSpc>
              <a:buFont typeface="Wingdings"/>
              <a:buChar char=""/>
              <a:tabLst>
                <a:tab pos="927100" algn="l"/>
              </a:tabLst>
            </a:pP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must </a:t>
            </a:r>
            <a:r>
              <a:rPr dirty="0" sz="1100">
                <a:latin typeface="Times New Roman"/>
                <a:cs typeface="Times New Roman"/>
              </a:rPr>
              <a:t>come </a:t>
            </a:r>
            <a:r>
              <a:rPr dirty="0" sz="1100" spc="-5">
                <a:latin typeface="Times New Roman"/>
                <a:cs typeface="Times New Roman"/>
              </a:rPr>
              <a:t>to a </a:t>
            </a:r>
            <a:r>
              <a:rPr dirty="0" sz="1100" spc="-5" b="1">
                <a:latin typeface="Times New Roman"/>
                <a:cs typeface="Times New Roman"/>
              </a:rPr>
              <a:t>decision </a:t>
            </a:r>
            <a:r>
              <a:rPr dirty="0" sz="1100" spc="-5">
                <a:latin typeface="Times New Roman"/>
                <a:cs typeface="Times New Roman"/>
              </a:rPr>
              <a:t>soon.</a:t>
            </a:r>
            <a:endParaRPr sz="1100">
              <a:latin typeface="Times New Roman"/>
              <a:cs typeface="Times New Roman"/>
            </a:endParaRPr>
          </a:p>
          <a:p>
            <a:pPr marL="926465" indent="-229235">
              <a:lnSpc>
                <a:spcPct val="100000"/>
              </a:lnSpc>
              <a:spcBef>
                <a:spcPts val="575"/>
              </a:spcBef>
              <a:buFont typeface="Wingdings"/>
              <a:buChar char=""/>
              <a:tabLst>
                <a:tab pos="927100" algn="l"/>
              </a:tabLst>
            </a:pPr>
            <a:r>
              <a:rPr dirty="0" sz="1100" spc="-5">
                <a:latin typeface="Times New Roman"/>
                <a:cs typeface="Times New Roman"/>
              </a:rPr>
              <a:t>We beat them </a:t>
            </a:r>
            <a:r>
              <a:rPr dirty="0" sz="1100" spc="-5" b="1">
                <a:latin typeface="Times New Roman"/>
                <a:cs typeface="Times New Roman"/>
              </a:rPr>
              <a:t>decisively</a:t>
            </a:r>
            <a:r>
              <a:rPr dirty="0" sz="1100" spc="-5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  <a:p>
            <a:pPr marL="926465" indent="-229235">
              <a:lnSpc>
                <a:spcPct val="100000"/>
              </a:lnSpc>
              <a:spcBef>
                <a:spcPts val="580"/>
              </a:spcBef>
              <a:buFont typeface="Wingdings"/>
              <a:buChar char=""/>
              <a:tabLst>
                <a:tab pos="927100" algn="l"/>
              </a:tabLst>
            </a:pPr>
            <a:r>
              <a:rPr dirty="0" sz="1100" spc="-5">
                <a:latin typeface="Times New Roman"/>
                <a:cs typeface="Times New Roman"/>
              </a:rPr>
              <a:t>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never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make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up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mind.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 </a:t>
            </a:r>
            <a:r>
              <a:rPr dirty="0" sz="1100" spc="-5" b="1">
                <a:latin typeface="Times New Roman"/>
                <a:cs typeface="Times New Roman"/>
              </a:rPr>
              <a:t>indecisive</a:t>
            </a:r>
            <a:r>
              <a:rPr dirty="0" sz="1100" spc="-5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55954" y="6549642"/>
            <a:ext cx="126619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latin typeface="Times New Roman"/>
                <a:cs typeface="Times New Roman"/>
              </a:rPr>
              <a:t>Some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examples: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13156" y="6636211"/>
            <a:ext cx="3096260" cy="2435860"/>
          </a:xfrm>
          <a:prstGeom prst="rect">
            <a:avLst/>
          </a:prstGeom>
        </p:spPr>
        <p:txBody>
          <a:bodyPr wrap="square" lIns="0" tIns="8636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680"/>
              </a:spcBef>
              <a:buFont typeface="Wingdings"/>
              <a:buChar char="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Beauty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=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beautiful,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beautician,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beautify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85"/>
              </a:spcBef>
              <a:buFont typeface="Wingdings"/>
              <a:buChar char="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Pay =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payment,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payable, payee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Font typeface="Wingdings"/>
              <a:buChar char="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Receive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=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receptionist,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receipt,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receptive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Font typeface="Wingdings"/>
              <a:buChar char="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Hero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=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heroism,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heroically,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heroin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Font typeface="Wingdings"/>
              <a:buChar char="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Describe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=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descriptive,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description,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indescribable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85"/>
              </a:spcBef>
              <a:buFont typeface="Wingdings"/>
              <a:buChar char="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Sense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=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sensation,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insensitive,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senseless,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Font typeface="Wingdings"/>
              <a:buChar char="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Explain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=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explanatory,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inexplicable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Font typeface="Wingdings"/>
              <a:buChar char="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Prophecy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= prophet, prophecy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Font typeface="Wingdings"/>
              <a:buChar char="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Famous = fame, infamous, infamy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Font typeface="Wingdings"/>
              <a:buChar char="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Enthusiasm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=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Enthusiastically,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Enthusiast,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enthuse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4580" y="342390"/>
            <a:ext cx="608330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869305" algn="l"/>
              </a:tabLst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l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</a:t>
            </a:r>
            <a:r>
              <a:rPr dirty="0" sz="1100" spc="-15">
                <a:solidFill>
                  <a:srgbClr val="323232"/>
                </a:solidFill>
                <a:latin typeface="Times New Roman"/>
                <a:cs typeface="Times New Roman"/>
              </a:rPr>
              <a:t>m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entary</a:t>
            </a:r>
            <a:r>
              <a:rPr dirty="0" sz="1100" spc="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g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lish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360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67219" y="9493248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21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972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829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313180" y="686053"/>
            <a:ext cx="5831840" cy="353695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>
              <a:lnSpc>
                <a:spcPts val="1270"/>
              </a:lnSpc>
              <a:spcBef>
                <a:spcPts val="180"/>
              </a:spcBef>
            </a:pPr>
            <a:r>
              <a:rPr dirty="0" sz="1100" spc="-5" b="1">
                <a:latin typeface="Times New Roman"/>
                <a:cs typeface="Times New Roman"/>
              </a:rPr>
              <a:t>PORTMANTEAU</a:t>
            </a:r>
            <a:r>
              <a:rPr dirty="0" sz="1100" spc="-5">
                <a:latin typeface="Times New Roman"/>
                <a:cs typeface="Times New Roman"/>
              </a:rPr>
              <a:t>: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Portmanteau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derived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by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combining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portions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separate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blend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packed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70381" y="933402"/>
            <a:ext cx="2351405" cy="1954530"/>
          </a:xfrm>
          <a:prstGeom prst="rect">
            <a:avLst/>
          </a:prstGeom>
        </p:spPr>
        <p:txBody>
          <a:bodyPr wrap="square" lIns="0" tIns="8636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680"/>
              </a:spcBef>
              <a:buFont typeface="Wingdings"/>
              <a:buChar char="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Oxbridge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=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Oxford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+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Cambridge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85"/>
              </a:spcBef>
              <a:buFont typeface="Wingdings"/>
              <a:buChar char="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Because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= by +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cause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Font typeface="Wingdings"/>
              <a:buChar char="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Brunch =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Breakfast +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lunch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Font typeface="Wingdings"/>
              <a:buChar char="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Camcorder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=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camera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+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recorder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Font typeface="Wingdings"/>
              <a:buChar char="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Email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=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electronic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mail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85"/>
              </a:spcBef>
              <a:buFont typeface="Wingdings"/>
              <a:buChar char="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Fortnight =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fourteen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+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nights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Font typeface="Wingdings"/>
              <a:buChar char="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Hassle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= </a:t>
            </a:r>
            <a:r>
              <a:rPr dirty="0" sz="1100" spc="-10">
                <a:latin typeface="Times New Roman"/>
                <a:cs typeface="Times New Roman"/>
              </a:rPr>
              <a:t>haggle</a:t>
            </a:r>
            <a:r>
              <a:rPr dirty="0" sz="1100" spc="-5">
                <a:latin typeface="Times New Roman"/>
                <a:cs typeface="Times New Roman"/>
              </a:rPr>
              <a:t> + </a:t>
            </a:r>
            <a:r>
              <a:rPr dirty="0" sz="1100" spc="-10">
                <a:latin typeface="Times New Roman"/>
                <a:cs typeface="Times New Roman"/>
              </a:rPr>
              <a:t>tussle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Font typeface="Wingdings"/>
              <a:buChar char="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Intercom =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internal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+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13180" y="2934717"/>
            <a:ext cx="5833110" cy="1156970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algn="just" marL="12700" marR="5080">
              <a:lnSpc>
                <a:spcPct val="95800"/>
              </a:lnSpc>
              <a:spcBef>
                <a:spcPts val="150"/>
              </a:spcBef>
            </a:pPr>
            <a:r>
              <a:rPr dirty="0" sz="1100" spc="-5" b="1">
                <a:latin typeface="Times New Roman"/>
                <a:cs typeface="Times New Roman"/>
              </a:rPr>
              <a:t>PREFIXES:</a:t>
            </a:r>
            <a:r>
              <a:rPr dirty="0" sz="1100" spc="7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prefix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placed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beginning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modify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its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meaning.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list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most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common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prefixes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English,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together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basic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examples.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 can find more detail or precision for each </a:t>
            </a:r>
            <a:r>
              <a:rPr dirty="0" sz="1100">
                <a:latin typeface="Times New Roman"/>
                <a:cs typeface="Times New Roman"/>
              </a:rPr>
              <a:t>prefix </a:t>
            </a:r>
            <a:r>
              <a:rPr dirty="0" sz="1100" spc="-5">
                <a:latin typeface="Times New Roman"/>
                <a:cs typeface="Times New Roman"/>
              </a:rPr>
              <a:t>in any good dictionary. The origins of words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extremely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complicated. You should use this list as a guide only, to help you understand possible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meanings. But be very careful, because often what appears to be a prefix is not a prefix at all. Note also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 this list does not include elements </a:t>
            </a:r>
            <a:r>
              <a:rPr dirty="0" sz="1100">
                <a:latin typeface="Times New Roman"/>
                <a:cs typeface="Times New Roman"/>
              </a:rPr>
              <a:t>like </a:t>
            </a:r>
            <a:r>
              <a:rPr dirty="0" sz="1100" spc="-5">
                <a:latin typeface="Times New Roman"/>
                <a:cs typeface="Times New Roman"/>
              </a:rPr>
              <a:t>"auto-" or “bio-", because these are "combining forms", not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prefixes.</a:t>
            </a:r>
            <a:endParaRPr sz="1100">
              <a:latin typeface="Times New Roman"/>
              <a:cs typeface="Times New Roman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1117853" y="4243577"/>
          <a:ext cx="6002020" cy="52044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7515"/>
                <a:gridCol w="1127125"/>
                <a:gridCol w="1369695"/>
                <a:gridCol w="3047365"/>
              </a:tblGrid>
              <a:tr h="312801">
                <a:tc gridSpan="2"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Prefix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6040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28575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Meaning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6040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28575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Examples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6040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28575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  <a:tr h="313181"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a-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5404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also</a:t>
                      </a:r>
                      <a:r>
                        <a:rPr dirty="0" sz="1100" spc="-3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an-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5404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not,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without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5404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atheist,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anaemic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5404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  <a:tr h="313182">
                <a:tc gridSpan="2" rowSpan="2"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5404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to,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towards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5404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aside,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aback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5404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  <a:tr h="473202"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5404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6200" marR="68580">
                        <a:lnSpc>
                          <a:spcPts val="1270"/>
                        </a:lnSpc>
                        <a:spcBef>
                          <a:spcPts val="59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100" spc="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process</a:t>
                      </a:r>
                      <a:r>
                        <a:rPr dirty="0" sz="1100" spc="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of,</a:t>
                      </a:r>
                      <a:r>
                        <a:rPr dirty="0" sz="1100" spc="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100" spc="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dirty="0" sz="1100" spc="-2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particular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state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5565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a-hunting,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aglow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  <a:tr h="313181">
                <a:tc gridSpan="2" rowSpan="2"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of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anew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  <a:tr h="313181"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4769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completely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abashed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  <a:tr h="313182"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ab-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also</a:t>
                      </a:r>
                      <a:r>
                        <a:rPr dirty="0" sz="1100" spc="-2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abs-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away,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from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abdicate,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abstract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  <a:tr h="633984"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ad-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295"/>
                        </a:lnSpc>
                        <a:spcBef>
                          <a:spcPts val="509"/>
                        </a:spcBef>
                      </a:pP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also</a:t>
                      </a:r>
                      <a:r>
                        <a:rPr dirty="0" sz="1100" spc="25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a-,</a:t>
                      </a:r>
                      <a:r>
                        <a:rPr dirty="0" sz="1100" spc="2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ac-,</a:t>
                      </a:r>
                      <a:r>
                        <a:rPr dirty="0" sz="1100" spc="2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af-,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75565" marR="67945">
                        <a:lnSpc>
                          <a:spcPts val="1260"/>
                        </a:lnSpc>
                        <a:spcBef>
                          <a:spcPts val="6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ag-</a:t>
                      </a:r>
                      <a:r>
                        <a:rPr dirty="0" sz="1100" spc="2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al-,</a:t>
                      </a:r>
                      <a:r>
                        <a:rPr dirty="0" sz="1100" spc="20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an-,</a:t>
                      </a:r>
                      <a:r>
                        <a:rPr dirty="0" sz="1100" spc="2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ap-, </a:t>
                      </a:r>
                      <a:r>
                        <a:rPr dirty="0" sz="1100" spc="-2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at- as-, at-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 marL="76200" marR="67310">
                        <a:lnSpc>
                          <a:spcPct val="95700"/>
                        </a:lnSpc>
                        <a:spcBef>
                          <a:spcPts val="570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movement to, change </a:t>
                      </a:r>
                      <a:r>
                        <a:rPr dirty="0" sz="1100" spc="-2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into,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addition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or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increase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2390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 marL="76200" marR="64769">
                        <a:lnSpc>
                          <a:spcPct val="95700"/>
                        </a:lnSpc>
                        <a:spcBef>
                          <a:spcPts val="570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advance,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adulterate,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adjunct,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ascend,</a:t>
                      </a:r>
                      <a:r>
                        <a:rPr dirty="0" sz="1100" spc="2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affiliate,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affirm,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aggravate,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alleviate,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annotate,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apprehend,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arrive, assemble,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attend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2390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  <a:tr h="313182">
                <a:tc gridSpan="2"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ante-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before,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preceding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antecedent,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ante-room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  <a:tr h="473963"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anti-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also</a:t>
                      </a:r>
                      <a:r>
                        <a:rPr dirty="0" sz="1100" spc="-2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ant-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 marR="67945">
                        <a:lnSpc>
                          <a:spcPts val="1270"/>
                        </a:lnSpc>
                        <a:spcBef>
                          <a:spcPts val="595"/>
                        </a:spcBef>
                        <a:tabLst>
                          <a:tab pos="861694" algn="l"/>
                        </a:tabLst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opposi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g,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against, 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 opposite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5565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anti-aircraft,</a:t>
                      </a:r>
                      <a:r>
                        <a:rPr dirty="0" sz="1100" spc="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antibiotic,</a:t>
                      </a:r>
                      <a:r>
                        <a:rPr dirty="0" sz="1100" spc="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anticlimax,</a:t>
                      </a:r>
                      <a:r>
                        <a:rPr dirty="0" sz="1100" spc="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Antarctic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  <a:tr h="312420">
                <a:tc gridSpan="2" rowSpan="4"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be-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 rowSpan="4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all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over, all around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bespatter,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beset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  <a:tr h="313181"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4769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completely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bewitch,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bemuse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  <a:tr h="313182"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4769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having,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covered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with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bejewelled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  <a:tr h="473582"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4769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6200" marR="67310">
                        <a:lnSpc>
                          <a:spcPts val="1270"/>
                        </a:lnSpc>
                        <a:spcBef>
                          <a:spcPts val="59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affect</a:t>
                      </a:r>
                      <a:r>
                        <a:rPr dirty="0" sz="1100" spc="1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dirty="0" sz="1100" spc="1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(added</a:t>
                      </a:r>
                      <a:r>
                        <a:rPr dirty="0" sz="1100" spc="1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dirty="0" sz="1100" spc="-2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nouns)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5565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befog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7380" y="342390"/>
            <a:ext cx="174498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 Elementary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84111" y="342390"/>
            <a:ext cx="22669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788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10019" y="9493248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22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400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257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660654" y="548639"/>
          <a:ext cx="6002020" cy="86518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7515"/>
                <a:gridCol w="1127125"/>
                <a:gridCol w="1369695"/>
                <a:gridCol w="3047365"/>
              </a:tblGrid>
              <a:tr h="473583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9525">
                      <a:solidFill>
                        <a:srgbClr val="ECE9D8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6200" marR="69215">
                        <a:lnSpc>
                          <a:spcPts val="1270"/>
                        </a:lnSpc>
                        <a:spcBef>
                          <a:spcPts val="600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cause</a:t>
                      </a:r>
                      <a:r>
                        <a:rPr dirty="0" sz="1100" spc="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100" spc="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dirty="0" sz="1100" spc="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(added</a:t>
                      </a:r>
                      <a:r>
                        <a:rPr dirty="0" sz="1100" spc="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dirty="0" sz="1100" spc="-2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adjectives)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6200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28575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becalm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5405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28575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  <a:tr h="47396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com-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295"/>
                        </a:lnSpc>
                        <a:spcBef>
                          <a:spcPts val="509"/>
                        </a:spcBef>
                        <a:tabLst>
                          <a:tab pos="447040" algn="l"/>
                          <a:tab pos="798195" algn="l"/>
                        </a:tabLst>
                      </a:pP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also	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co-,	col-,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75565">
                        <a:lnSpc>
                          <a:spcPts val="129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con-,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cor-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 marR="67945">
                        <a:lnSpc>
                          <a:spcPts val="1270"/>
                        </a:lnSpc>
                        <a:spcBef>
                          <a:spcPts val="595"/>
                        </a:spcBef>
                        <a:tabLst>
                          <a:tab pos="892810" algn="l"/>
                        </a:tabLst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with,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jointly, 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completely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5565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combat,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codriver,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collude,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confide,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corrode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  <a:tr h="313182">
                <a:tc gridSpan="2"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contra-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5404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against,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opposite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5404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contraceptive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5404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  <a:tr h="473202">
                <a:tc gridSpan="2"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counter-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5404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6200" marR="68580">
                        <a:lnSpc>
                          <a:spcPts val="1260"/>
                        </a:lnSpc>
                        <a:spcBef>
                          <a:spcPts val="60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opposition,</a:t>
                      </a:r>
                      <a:r>
                        <a:rPr dirty="0" sz="1100" spc="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opposite </a:t>
                      </a:r>
                      <a:r>
                        <a:rPr dirty="0" sz="1100" spc="-2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direction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6835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counter-attack,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counteract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5404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  <a:tr h="313181">
                <a:tc gridSpan="2" rowSpan="3"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de-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 rowSpan="3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down,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away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descend,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despair,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depend,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deduct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  <a:tr h="313181"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4769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completely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5404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denude,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denigrate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5404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  <a:tr h="313182"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4769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removal,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reversal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de-ice,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decamp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  <a:tr h="312419">
                <a:tc>
                  <a:txBody>
                    <a:bodyPr/>
                    <a:lstStyle/>
                    <a:p>
                      <a:pPr algn="ctr" marR="6413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dia-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also</a:t>
                      </a:r>
                      <a:r>
                        <a:rPr dirty="0" sz="1100" spc="-3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di-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through,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across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diagonal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  <a:tr h="473963">
                <a:tc>
                  <a:txBody>
                    <a:bodyPr/>
                    <a:lstStyle/>
                    <a:p>
                      <a:pPr algn="ctr" marR="7239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dis-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also</a:t>
                      </a:r>
                      <a:r>
                        <a:rPr dirty="0" sz="1100" spc="-3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di-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 marR="68580">
                        <a:lnSpc>
                          <a:spcPts val="1270"/>
                        </a:lnSpc>
                        <a:spcBef>
                          <a:spcPts val="595"/>
                        </a:spcBef>
                        <a:tabLst>
                          <a:tab pos="800735" algn="l"/>
                        </a:tabLst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negation,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oval, 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expulsion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5565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disadvantage,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dismount,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disbud,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disbar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  <a:tr h="313181">
                <a:tc rowSpan="3"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en-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also</a:t>
                      </a:r>
                      <a:r>
                        <a:rPr dirty="0" sz="1100" spc="-3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em-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put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into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engulf,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enmesh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  <a:tr h="47396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4769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 marR="67945">
                        <a:lnSpc>
                          <a:spcPts val="1270"/>
                        </a:lnSpc>
                        <a:spcBef>
                          <a:spcPts val="595"/>
                        </a:spcBef>
                        <a:tabLst>
                          <a:tab pos="638175" algn="l"/>
                          <a:tab pos="1122045" algn="l"/>
                        </a:tabLst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bring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the 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condition of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5565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enlighten,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embitter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  <a:tr h="31241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4769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intensification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entangle,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enrage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  <a:tr h="313182">
                <a:tc rowSpan="4"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ex-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5404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 rowSpan="4"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also</a:t>
                      </a:r>
                      <a:r>
                        <a:rPr dirty="0" sz="1100" spc="-1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e-,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ef-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5404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out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5404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exit,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exclude,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expand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5404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  <a:tr h="313181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5404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5404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upward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5404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exalt,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extol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5404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  <a:tr h="313182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5404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5404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completely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5404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excruciate, exasperate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5404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  <a:tr h="313182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5404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5404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previous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ex-wife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  <a:tr h="312419">
                <a:tc gridSpan="2"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extra-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outside,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beyond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extracurricular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  <a:tr h="313182">
                <a:tc gridSpan="2"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hemi-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half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hemisphere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  <a:tr h="473963">
                <a:tc gridSpan="2"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hyper-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6200" marR="67310" indent="635">
                        <a:lnSpc>
                          <a:spcPts val="1270"/>
                        </a:lnSpc>
                        <a:spcBef>
                          <a:spcPts val="59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beyond,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more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than, </a:t>
                      </a:r>
                      <a:r>
                        <a:rPr dirty="0" sz="1100" spc="-2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more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than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normal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5565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hypersonic,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hyperactive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  <a:tr h="313181">
                <a:tc gridSpan="2"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hypo-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under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hypodermic,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hypothermia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  <a:tr h="313181">
                <a:tc rowSpan="2"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also</a:t>
                      </a:r>
                      <a:r>
                        <a:rPr dirty="0" sz="1100" spc="-1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il-,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im-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not,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without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infertile,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inappropriate,</a:t>
                      </a:r>
                      <a:r>
                        <a:rPr dirty="0" sz="11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impossible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  <a:tr h="473202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4769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also</a:t>
                      </a:r>
                      <a:r>
                        <a:rPr dirty="0" sz="1100" spc="-1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il-,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im-,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ir-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 marR="68580">
                        <a:lnSpc>
                          <a:spcPts val="1260"/>
                        </a:lnSpc>
                        <a:spcBef>
                          <a:spcPts val="605"/>
                        </a:spcBef>
                        <a:tabLst>
                          <a:tab pos="391160" algn="l"/>
                          <a:tab pos="815340" algn="l"/>
                        </a:tabLst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in,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into,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wards, 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inside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6835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influence,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influx, imbibe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  <a:tr h="313181">
                <a:tc gridSpan="2"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infra-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5404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below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5404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infrared, infrastructure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5404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  <a:tr h="307847">
                <a:tc gridSpan="2"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inter-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between,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among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interact,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interchange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4580" y="342390"/>
            <a:ext cx="174498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 Elementary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41311" y="342390"/>
            <a:ext cx="22669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360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67219" y="9493248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23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972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829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117853" y="548639"/>
          <a:ext cx="6002020" cy="88207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7515"/>
                <a:gridCol w="1127125"/>
                <a:gridCol w="1369695"/>
                <a:gridCol w="3047365"/>
              </a:tblGrid>
              <a:tr h="312801">
                <a:tc gridSpan="2"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intra-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5405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28575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inside,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within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5405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28575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intramural,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intravenous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5405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28575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  <a:tr h="313181">
                <a:tc gridSpan="2"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non-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absence,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negation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non-smoker, non-alcoholic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  <a:tr h="473963"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ob-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also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oc-,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of-,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op-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 marR="67945">
                        <a:lnSpc>
                          <a:spcPts val="1270"/>
                        </a:lnSpc>
                        <a:spcBef>
                          <a:spcPts val="595"/>
                        </a:spcBef>
                        <a:tabLst>
                          <a:tab pos="861694" algn="l"/>
                        </a:tabLst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blockin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against, 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concealing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5565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obstruct,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occult,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offend,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oppose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  <a:tr h="473202">
                <a:tc gridSpan="2" rowSpan="2"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out-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6200" marR="660400">
                        <a:lnSpc>
                          <a:spcPts val="1270"/>
                        </a:lnSpc>
                        <a:spcBef>
                          <a:spcPts val="595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surpassing, 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exceeding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5565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outperform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  <a:tr h="313181"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4769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external,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away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from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outbuilding,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outboard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  <a:tr h="473963">
                <a:tc gridSpan="2" rowSpan="2"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over-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6200" marR="605790">
                        <a:lnSpc>
                          <a:spcPts val="1270"/>
                        </a:lnSpc>
                        <a:spcBef>
                          <a:spcPts val="595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excessivel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, 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completely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5565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overconfident,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overburdened,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overjoyed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  <a:tr h="473202"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4769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6200" marR="67310">
                        <a:lnSpc>
                          <a:spcPts val="1270"/>
                        </a:lnSpc>
                        <a:spcBef>
                          <a:spcPts val="595"/>
                        </a:spcBef>
                        <a:tabLst>
                          <a:tab pos="558800" algn="l"/>
                          <a:tab pos="1010285" algn="l"/>
                        </a:tabLst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upper,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uter,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over, 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above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5565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overcoat,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overcast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  <a:tr h="313181">
                <a:tc gridSpan="2"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peri-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round,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about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perimeter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  <a:tr h="313181">
                <a:tc gridSpan="2"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post-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after in time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or order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postpone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  <a:tr h="473963">
                <a:tc gridSpan="2"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pre-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6200" marR="69215" indent="-635">
                        <a:lnSpc>
                          <a:spcPts val="1270"/>
                        </a:lnSpc>
                        <a:spcBef>
                          <a:spcPts val="59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before</a:t>
                      </a:r>
                      <a:r>
                        <a:rPr dirty="0" sz="1100" spc="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100" spc="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time,</a:t>
                      </a:r>
                      <a:r>
                        <a:rPr dirty="0" sz="1100" spc="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place, </a:t>
                      </a:r>
                      <a:r>
                        <a:rPr dirty="0" sz="1100" spc="-2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order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importance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5565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pre-adolescent,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prelude,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precondition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  <a:tr h="473201">
                <a:tc gridSpan="2" rowSpan="4"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pro-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 rowSpan="4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6200" marR="67310">
                        <a:lnSpc>
                          <a:spcPts val="1270"/>
                        </a:lnSpc>
                        <a:spcBef>
                          <a:spcPts val="59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favouring,</a:t>
                      </a:r>
                      <a:r>
                        <a:rPr dirty="0" sz="1100" spc="1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100" spc="1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support </a:t>
                      </a:r>
                      <a:r>
                        <a:rPr dirty="0" sz="1100" spc="-2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of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5565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pro-African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  <a:tr h="313182"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4769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acting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for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5404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proconsul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5404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  <a:tr h="473963"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4769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6200" marR="67945">
                        <a:lnSpc>
                          <a:spcPts val="1270"/>
                        </a:lnSpc>
                        <a:spcBef>
                          <a:spcPts val="59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motion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forwards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or </a:t>
                      </a:r>
                      <a:r>
                        <a:rPr dirty="0" sz="1100" spc="-2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away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5565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propulsion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5404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  <a:tr h="473201"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4769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6200" marR="67945">
                        <a:lnSpc>
                          <a:spcPts val="1270"/>
                        </a:lnSpc>
                        <a:spcBef>
                          <a:spcPts val="59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before</a:t>
                      </a:r>
                      <a:r>
                        <a:rPr dirty="0" sz="1100" spc="1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100" spc="1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time,</a:t>
                      </a:r>
                      <a:r>
                        <a:rPr dirty="0" sz="1100" spc="1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place </a:t>
                      </a:r>
                      <a:r>
                        <a:rPr dirty="0" sz="1100" spc="-2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or order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5565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prologue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  <a:tr h="313182">
                <a:tc gridSpan="2"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re-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again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repaint,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reappraise,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reawake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  <a:tr h="313181">
                <a:tc gridSpan="2"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semi-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half,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partly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semicircle, semi-conscious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  <a:tr h="313181">
                <a:tc rowSpan="3"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sub-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algn="just" marL="75565" marR="67945">
                        <a:lnSpc>
                          <a:spcPts val="1270"/>
                        </a:lnSpc>
                        <a:spcBef>
                          <a:spcPts val="595"/>
                        </a:spcBef>
                      </a:pP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also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suc-,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suf-, </a:t>
                      </a:r>
                      <a:r>
                        <a:rPr dirty="0" sz="1100" spc="-2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sug-,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sup-,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sur-, </a:t>
                      </a:r>
                      <a:r>
                        <a:rPr dirty="0" sz="1100" spc="-2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sus-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5565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at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lower position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submarine,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subsoil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  <a:tr h="313181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4769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75565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lower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rank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sub-lieutenant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  <a:tr h="473201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4769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75565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 marR="477520">
                        <a:lnSpc>
                          <a:spcPts val="1270"/>
                        </a:lnSpc>
                        <a:spcBef>
                          <a:spcPts val="59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nearly,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approxi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tely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5565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sub-tropical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  <a:tr h="473964"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syn-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also</a:t>
                      </a:r>
                      <a:r>
                        <a:rPr dirty="0" sz="1100" spc="-3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sym-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 marR="69215">
                        <a:lnSpc>
                          <a:spcPts val="1270"/>
                        </a:lnSpc>
                        <a:spcBef>
                          <a:spcPts val="595"/>
                        </a:spcBef>
                        <a:tabLst>
                          <a:tab pos="391160" algn="l"/>
                          <a:tab pos="949960" algn="l"/>
                        </a:tabLst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unio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acting 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together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5565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synchronize,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symmetry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  <a:tr h="313181">
                <a:tc gridSpan="2" rowSpan="2"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trans-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across,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beyond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transnational,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transatlantic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  <a:tr h="313181"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4769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into a different state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translate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  <a:tr h="307848">
                <a:tc gridSpan="2"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ultra-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beyond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ultraviolet,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ultrasonic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7380" y="342390"/>
            <a:ext cx="174498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 Elementary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84111" y="342390"/>
            <a:ext cx="22669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400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257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27380" y="8905742"/>
            <a:ext cx="6060440" cy="796290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12700" marR="5080">
              <a:lnSpc>
                <a:spcPts val="1260"/>
              </a:lnSpc>
              <a:spcBef>
                <a:spcPts val="190"/>
              </a:spcBef>
            </a:pPr>
            <a:r>
              <a:rPr dirty="0" sz="1100" spc="-5" b="1">
                <a:latin typeface="Times New Roman"/>
                <a:cs typeface="Times New Roman"/>
              </a:rPr>
              <a:t>Adjective</a:t>
            </a:r>
            <a:r>
              <a:rPr dirty="0" sz="1100" spc="3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Suffixes:</a:t>
            </a:r>
            <a:r>
              <a:rPr dirty="0" sz="1100" spc="3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common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endings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adjectives.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If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see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these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ending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end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word, you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certain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adjective.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50">
              <a:latin typeface="Times New Roman"/>
              <a:cs typeface="Times New Roman"/>
            </a:endParaRPr>
          </a:p>
          <a:p>
            <a:pPr marL="1564005">
              <a:lnSpc>
                <a:spcPct val="100000"/>
              </a:lnSpc>
              <a:tabLst>
                <a:tab pos="5894705" algn="l"/>
              </a:tabLst>
            </a:pPr>
            <a:r>
              <a:rPr dirty="0" sz="1200">
                <a:latin typeface="Times New Roman"/>
                <a:cs typeface="Times New Roman"/>
              </a:rPr>
              <a:t>© Copyrights Virtual Uni</a:t>
            </a:r>
            <a:r>
              <a:rPr dirty="0" sz="1200" spc="-5">
                <a:latin typeface="Times New Roman"/>
                <a:cs typeface="Times New Roman"/>
              </a:rPr>
              <a:t>v</a:t>
            </a:r>
            <a:r>
              <a:rPr dirty="0" sz="1200">
                <a:latin typeface="Times New Roman"/>
                <a:cs typeface="Times New Roman"/>
              </a:rPr>
              <a:t>ersity of Pakistan	24</a:t>
            </a:r>
            <a:endParaRPr sz="1200">
              <a:latin typeface="Times New Roman"/>
              <a:cs typeface="Times New Roman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660654" y="548639"/>
          <a:ext cx="6002020" cy="22193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64640"/>
                <a:gridCol w="1369695"/>
                <a:gridCol w="3047365"/>
              </a:tblGrid>
              <a:tr h="31280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9525">
                      <a:solidFill>
                        <a:srgbClr val="ECE9D8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extreme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5405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28575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ultramicroscopic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5405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28575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  <a:tr h="313181"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un-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not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unacceptable,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unreal,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unhappy,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unmanned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  <a:tr h="6347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1295"/>
                        </a:lnSpc>
                        <a:spcBef>
                          <a:spcPts val="515"/>
                        </a:spcBef>
                        <a:tabLst>
                          <a:tab pos="1176655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reversal	or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76200" marR="67310">
                        <a:lnSpc>
                          <a:spcPts val="1270"/>
                        </a:lnSpc>
                        <a:spcBef>
                          <a:spcPts val="5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cancellation</a:t>
                      </a:r>
                      <a:r>
                        <a:rPr dirty="0" sz="1100" spc="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spc="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action </a:t>
                      </a:r>
                      <a:r>
                        <a:rPr dirty="0" sz="1100" spc="-2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or state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5404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unplug,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unmask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5404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  <a:tr h="312420">
                <a:tc rowSpan="3"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under-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5404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28575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beneath,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below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5404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underarm,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undercarriage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5404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  <a:tr h="313181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5404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28575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lower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rank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5404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undersecretary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5404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  <a:tr h="313562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5404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28575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enough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28575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underdeveloped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28575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627380" y="2904996"/>
            <a:ext cx="6059805" cy="6743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SUFFIXES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ts val="1270"/>
              </a:lnSpc>
            </a:pPr>
            <a:r>
              <a:rPr dirty="0" sz="1100" spc="-5" b="1">
                <a:latin typeface="Times New Roman"/>
                <a:cs typeface="Times New Roman"/>
              </a:rPr>
              <a:t>Noun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Suffixes: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endings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nouns.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endings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know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must be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noun.</a:t>
            </a:r>
            <a:endParaRPr sz="1100">
              <a:latin typeface="Times New Roman"/>
              <a:cs typeface="Times New Roman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948689" y="3730751"/>
          <a:ext cx="5420995" cy="50380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1580"/>
                <a:gridCol w="4199890"/>
              </a:tblGrid>
              <a:tr h="1613153">
                <a:tc>
                  <a:txBody>
                    <a:bodyPr/>
                    <a:lstStyle/>
                    <a:p>
                      <a:pPr marL="68580">
                        <a:lnSpc>
                          <a:spcPts val="126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-dom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8580" marR="475615">
                        <a:lnSpc>
                          <a:spcPct val="191800"/>
                        </a:lnSpc>
                        <a:spcBef>
                          <a:spcPts val="76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wisdom(n)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king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(n)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3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at the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end of a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word means: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49860" indent="-82550">
                        <a:lnSpc>
                          <a:spcPts val="1265"/>
                        </a:lnSpc>
                        <a:buChar char="-"/>
                        <a:tabLst>
                          <a:tab pos="150495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state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condition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49860" indent="-82550">
                        <a:lnSpc>
                          <a:spcPts val="1265"/>
                        </a:lnSpc>
                        <a:buChar char="-"/>
                        <a:tabLst>
                          <a:tab pos="150495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domain,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position,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rank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49860" indent="-82550">
                        <a:lnSpc>
                          <a:spcPts val="1265"/>
                        </a:lnSpc>
                        <a:buChar char="-"/>
                        <a:tabLst>
                          <a:tab pos="150495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group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position,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office,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rank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7945" marR="60325">
                        <a:lnSpc>
                          <a:spcPts val="1260"/>
                        </a:lnSpc>
                        <a:spcBef>
                          <a:spcPts val="6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wise+dom</a:t>
                      </a:r>
                      <a:r>
                        <a:rPr dirty="0" sz="1100" spc="2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means</a:t>
                      </a:r>
                      <a:r>
                        <a:rPr dirty="0" sz="1100" spc="2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2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state</a:t>
                      </a:r>
                      <a:r>
                        <a:rPr dirty="0" sz="1100" spc="2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spc="2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understanding</a:t>
                      </a:r>
                      <a:r>
                        <a:rPr dirty="0" sz="1100" spc="2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what</a:t>
                      </a:r>
                      <a:r>
                        <a:rPr dirty="0" sz="1100" spc="2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dirty="0" sz="1100" spc="2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good,</a:t>
                      </a:r>
                      <a:r>
                        <a:rPr dirty="0" sz="1100" spc="2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right</a:t>
                      </a:r>
                      <a:r>
                        <a:rPr dirty="0" sz="1100" spc="2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dirty="0" sz="1100" spc="-2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lasting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ts val="123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king+dom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means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domain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area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belonging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king.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88442">
                <a:tc>
                  <a:txBody>
                    <a:bodyPr/>
                    <a:lstStyle/>
                    <a:p>
                      <a:pPr marL="68580" marR="420370">
                        <a:lnSpc>
                          <a:spcPts val="127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-ity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capabilit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(n)  flexibili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(n)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marR="60960">
                        <a:lnSpc>
                          <a:spcPts val="1270"/>
                        </a:lnSpc>
                        <a:tabLst>
                          <a:tab pos="966469" algn="l"/>
                          <a:tab pos="1567815" algn="l"/>
                          <a:tab pos="1983105" algn="l"/>
                          <a:tab pos="2754630" algn="l"/>
                          <a:tab pos="3115310" algn="l"/>
                          <a:tab pos="3595370" algn="l"/>
                          <a:tab pos="3669665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at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end</a:t>
                      </a:r>
                      <a:r>
                        <a:rPr dirty="0" sz="11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word</a:t>
                      </a:r>
                      <a:r>
                        <a:rPr dirty="0" sz="11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means</a:t>
                      </a:r>
                      <a:r>
                        <a:rPr dirty="0" sz="11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condition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quality</a:t>
                      </a:r>
                      <a:r>
                        <a:rPr dirty="0" sz="1100" spc="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u="sng" sz="1100" spc="-5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		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.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capable+ity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means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condition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being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capable. 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flexible+ity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means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quality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being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flexible.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87679">
                <a:tc>
                  <a:txBody>
                    <a:bodyPr/>
                    <a:lstStyle/>
                    <a:p>
                      <a:pPr marL="68580">
                        <a:lnSpc>
                          <a:spcPts val="126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-ment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contentment(n)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marR="60325">
                        <a:lnSpc>
                          <a:spcPts val="1260"/>
                        </a:lnSpc>
                        <a:spcBef>
                          <a:spcPts val="30"/>
                        </a:spcBef>
                        <a:tabLst>
                          <a:tab pos="1263650" algn="l"/>
                          <a:tab pos="2823210" algn="l"/>
                          <a:tab pos="4092575" algn="l"/>
                        </a:tabLst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at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end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word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eans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act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;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sta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; 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result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u="sng" sz="1100" spc="-5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ts val="119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content+ment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means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state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being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satisfied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(content).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88441">
                <a:tc>
                  <a:txBody>
                    <a:bodyPr/>
                    <a:lstStyle/>
                    <a:p>
                      <a:pPr marL="68580">
                        <a:lnSpc>
                          <a:spcPts val="126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-sion,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-tion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68580">
                        <a:lnSpc>
                          <a:spcPts val="1275"/>
                        </a:lnSpc>
                        <a:spcBef>
                          <a:spcPts val="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celebration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(n)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marR="285115">
                        <a:lnSpc>
                          <a:spcPts val="1270"/>
                        </a:lnSpc>
                        <a:spcBef>
                          <a:spcPts val="20"/>
                        </a:spcBef>
                        <a:tabLst>
                          <a:tab pos="2656840" algn="l"/>
                          <a:tab pos="3871595" algn="l"/>
                        </a:tabLst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at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end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word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means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act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;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state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. 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celebrate+tion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means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act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celebrating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7659">
                <a:tc>
                  <a:txBody>
                    <a:bodyPr/>
                    <a:lstStyle/>
                    <a:p>
                      <a:pPr marL="68580" marR="378460">
                        <a:lnSpc>
                          <a:spcPts val="1270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-ness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toughness</a:t>
                      </a: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(n)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marR="1406525">
                        <a:lnSpc>
                          <a:spcPts val="1270"/>
                        </a:lnSpc>
                        <a:tabLst>
                          <a:tab pos="2750185" algn="l"/>
                        </a:tabLst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at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end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word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means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state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. 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tough+ness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means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state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being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tough.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88442">
                <a:tc>
                  <a:txBody>
                    <a:bodyPr/>
                    <a:lstStyle/>
                    <a:p>
                      <a:pPr marL="68580">
                        <a:lnSpc>
                          <a:spcPts val="126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-ance,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-ence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68580">
                        <a:lnSpc>
                          <a:spcPts val="1275"/>
                        </a:lnSpc>
                        <a:spcBef>
                          <a:spcPts val="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assistance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(n)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marR="60325">
                        <a:lnSpc>
                          <a:spcPts val="1270"/>
                        </a:lnSpc>
                        <a:spcBef>
                          <a:spcPts val="20"/>
                        </a:spcBef>
                        <a:tabLst>
                          <a:tab pos="1341755" algn="l"/>
                          <a:tab pos="2823210" algn="l"/>
                          <a:tab pos="4092575" algn="l"/>
                        </a:tabLst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at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end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word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eans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act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;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sta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; 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quality</a:t>
                      </a:r>
                      <a:r>
                        <a:rPr dirty="0" sz="11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u="sng" sz="1100" spc="-5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ts val="118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assist+ance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means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act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giving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help.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marL="68580">
                        <a:lnSpc>
                          <a:spcPts val="126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-er,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-or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68580">
                        <a:lnSpc>
                          <a:spcPts val="1290"/>
                        </a:lnSpc>
                        <a:spcBef>
                          <a:spcPts val="5"/>
                        </a:spcBef>
                        <a:tabLst>
                          <a:tab pos="980440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fighter	(n)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8580">
                        <a:lnSpc>
                          <a:spcPts val="125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actor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(n)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30"/>
                        </a:lnSpc>
                        <a:tabLst>
                          <a:tab pos="3352800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at</a:t>
                      </a:r>
                      <a:r>
                        <a:rPr dirty="0" sz="1100" spc="4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4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end</a:t>
                      </a:r>
                      <a:r>
                        <a:rPr dirty="0" sz="1100" spc="4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spc="4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 spc="4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word</a:t>
                      </a:r>
                      <a:r>
                        <a:rPr dirty="0" sz="1100" spc="4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means</a:t>
                      </a:r>
                      <a:r>
                        <a:rPr dirty="0" sz="1100" spc="4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one</a:t>
                      </a:r>
                      <a:r>
                        <a:rPr dirty="0" sz="1100" spc="4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who</a:t>
                      </a:r>
                      <a:r>
                        <a:rPr dirty="0" u="sng" sz="1100" spc="-5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;</a:t>
                      </a:r>
                      <a:r>
                        <a:rPr dirty="0" sz="1100" spc="1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dirty="0" sz="1100" spc="4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which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ts val="1265"/>
                        </a:lnSpc>
                        <a:tabLst>
                          <a:tab pos="766445" algn="l"/>
                        </a:tabLst>
                      </a:pP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7945" marR="59055">
                        <a:lnSpc>
                          <a:spcPts val="1260"/>
                        </a:lnSpc>
                        <a:tabLst>
                          <a:tab pos="1144270" algn="l"/>
                          <a:tab pos="2124710" algn="l"/>
                          <a:tab pos="2950210" algn="l"/>
                          <a:tab pos="3814445" algn="l"/>
                        </a:tabLst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fight+er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means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one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who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fights 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act+or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means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one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who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acts.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88441">
                <a:tc>
                  <a:txBody>
                    <a:bodyPr/>
                    <a:lstStyle/>
                    <a:p>
                      <a:pPr marL="68580">
                        <a:lnSpc>
                          <a:spcPts val="126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-ist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68580">
                        <a:lnSpc>
                          <a:spcPts val="128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violinist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(n)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30"/>
                        </a:lnSpc>
                        <a:tabLst>
                          <a:tab pos="3407410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at</a:t>
                      </a:r>
                      <a:r>
                        <a:rPr dirty="0" sz="1100" spc="2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2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end</a:t>
                      </a:r>
                      <a:r>
                        <a:rPr dirty="0" sz="1100" spc="2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spc="2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 spc="2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word</a:t>
                      </a:r>
                      <a:r>
                        <a:rPr dirty="0" sz="1100" spc="2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also</a:t>
                      </a:r>
                      <a:r>
                        <a:rPr dirty="0" sz="1100" spc="2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means</a:t>
                      </a:r>
                      <a:r>
                        <a:rPr dirty="0" sz="1100" spc="2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one</a:t>
                      </a:r>
                      <a:r>
                        <a:rPr dirty="0" sz="1100" spc="2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who</a:t>
                      </a:r>
                      <a:r>
                        <a:rPr dirty="0" u="sng" sz="1100" spc="-5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;</a:t>
                      </a:r>
                      <a:r>
                        <a:rPr dirty="0" sz="1100" spc="2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dirty="0" sz="1100" spc="229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which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ts val="1265"/>
                        </a:lnSpc>
                        <a:tabLst>
                          <a:tab pos="766445" algn="l"/>
                        </a:tabLst>
                      </a:pP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ts val="125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violin+ist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means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one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who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plays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violin.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4580" y="342390"/>
            <a:ext cx="174498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 Elementary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41311" y="342390"/>
            <a:ext cx="22669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360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67219" y="9493248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25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972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829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405889" y="709422"/>
          <a:ext cx="5420995" cy="55257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1580"/>
                <a:gridCol w="4199890"/>
              </a:tblGrid>
              <a:tr h="648461">
                <a:tc>
                  <a:txBody>
                    <a:bodyPr/>
                    <a:lstStyle/>
                    <a:p>
                      <a:pPr marL="68580">
                        <a:lnSpc>
                          <a:spcPts val="126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-ive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68580" marR="343535">
                        <a:lnSpc>
                          <a:spcPts val="127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extensive(adj) 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selective(adj)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3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at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end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word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means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doing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tending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toward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doing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some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action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7945" marR="61594">
                        <a:lnSpc>
                          <a:spcPts val="1260"/>
                        </a:lnSpc>
                        <a:spcBef>
                          <a:spcPts val="6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extend+ive</a:t>
                      </a:r>
                      <a:r>
                        <a:rPr dirty="0" sz="1100" spc="1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means</a:t>
                      </a:r>
                      <a:r>
                        <a:rPr dirty="0" sz="1100" spc="1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doing</a:t>
                      </a:r>
                      <a:r>
                        <a:rPr dirty="0" sz="1100" spc="1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something</a:t>
                      </a:r>
                      <a:r>
                        <a:rPr dirty="0" sz="1100" spc="1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large</a:t>
                      </a:r>
                      <a:r>
                        <a:rPr dirty="0" sz="1100" spc="1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100" spc="1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range</a:t>
                      </a:r>
                      <a:r>
                        <a:rPr dirty="0" sz="1100" spc="1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dirty="0" sz="1100" spc="40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amount </a:t>
                      </a:r>
                      <a:r>
                        <a:rPr dirty="0" sz="1100" spc="-2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select+ive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means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tending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select.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10005">
                <a:tc>
                  <a:txBody>
                    <a:bodyPr/>
                    <a:lstStyle/>
                    <a:p>
                      <a:pPr marL="68580">
                        <a:lnSpc>
                          <a:spcPts val="123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-en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8580">
                        <a:lnSpc>
                          <a:spcPts val="129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wooden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(adj)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30"/>
                        </a:lnSpc>
                        <a:tabLst>
                          <a:tab pos="2796540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at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end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word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means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made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u="sng" sz="1100" spc="-5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7945" marR="60960">
                        <a:lnSpc>
                          <a:spcPts val="1270"/>
                        </a:lnSpc>
                        <a:spcBef>
                          <a:spcPts val="55"/>
                        </a:spcBef>
                        <a:tabLst>
                          <a:tab pos="1195070" algn="l"/>
                          <a:tab pos="2157095" algn="l"/>
                          <a:tab pos="3064510" algn="l"/>
                          <a:tab pos="3785870" algn="l"/>
                        </a:tabLst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wood+en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ans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ade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wood. 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Note:</a:t>
                      </a:r>
                      <a:r>
                        <a:rPr dirty="0" sz="1100" spc="4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When</a:t>
                      </a:r>
                      <a:r>
                        <a:rPr dirty="0" sz="11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word</a:t>
                      </a:r>
                      <a:r>
                        <a:rPr dirty="0" sz="1100" spc="4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dirty="0" sz="1100" spc="4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dirty="0" sz="11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adjective,</a:t>
                      </a:r>
                      <a:r>
                        <a:rPr dirty="0" sz="11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-en</a:t>
                      </a:r>
                      <a:r>
                        <a:rPr dirty="0" sz="1100" spc="4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means</a:t>
                      </a:r>
                      <a:r>
                        <a:rPr dirty="0" sz="1100" spc="50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made</a:t>
                      </a:r>
                      <a:r>
                        <a:rPr dirty="0" sz="11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of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ts val="1200"/>
                        </a:lnSpc>
                        <a:tabLst>
                          <a:tab pos="765175" algn="l"/>
                        </a:tabLst>
                      </a:pP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dirty="0" sz="1100" spc="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We</a:t>
                      </a:r>
                      <a:r>
                        <a:rPr dirty="0" sz="1100" spc="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have</a:t>
                      </a:r>
                      <a:r>
                        <a:rPr dirty="0" sz="1100" spc="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seen</a:t>
                      </a:r>
                      <a:r>
                        <a:rPr dirty="0" sz="1100" spc="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-en</a:t>
                      </a:r>
                      <a:r>
                        <a:rPr dirty="0" sz="1100" spc="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at</a:t>
                      </a:r>
                      <a:r>
                        <a:rPr dirty="0" sz="1100" spc="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end</a:t>
                      </a:r>
                      <a:r>
                        <a:rPr dirty="0" sz="1100" spc="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spc="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 spc="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verb.</a:t>
                      </a:r>
                      <a:r>
                        <a:rPr dirty="0" sz="1100" spc="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There</a:t>
                      </a:r>
                      <a:r>
                        <a:rPr dirty="0" sz="1100" spc="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dirty="0" sz="1100" spc="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means</a:t>
                      </a:r>
                      <a:r>
                        <a:rPr dirty="0" sz="1100" spc="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to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ts val="1250"/>
                        </a:lnSpc>
                        <a:tabLst>
                          <a:tab pos="1104900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make	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648462">
                <a:tc>
                  <a:txBody>
                    <a:bodyPr/>
                    <a:lstStyle/>
                    <a:p>
                      <a:pPr marL="68580">
                        <a:lnSpc>
                          <a:spcPts val="1260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-ic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68580" marR="60960">
                        <a:lnSpc>
                          <a:spcPts val="1270"/>
                        </a:lnSpc>
                        <a:tabLst>
                          <a:tab pos="878840" algn="l"/>
                        </a:tabLst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heroic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(adj) 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poetic (adj)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30"/>
                        </a:lnSpc>
                        <a:tabLst>
                          <a:tab pos="3777615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at</a:t>
                      </a:r>
                      <a:r>
                        <a:rPr dirty="0" sz="1100" spc="5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5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end</a:t>
                      </a:r>
                      <a:r>
                        <a:rPr dirty="0" sz="1100" spc="5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spc="5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 spc="5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word</a:t>
                      </a:r>
                      <a:r>
                        <a:rPr dirty="0" sz="1100" spc="5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means</a:t>
                      </a:r>
                      <a:r>
                        <a:rPr dirty="0" sz="1100" spc="5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characteristic</a:t>
                      </a:r>
                      <a:r>
                        <a:rPr dirty="0" sz="1100" spc="5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u="sng" sz="1100" spc="-5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;</a:t>
                      </a:r>
                      <a:r>
                        <a:rPr dirty="0" sz="1100" spc="2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like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ts val="1265"/>
                        </a:lnSpc>
                        <a:tabLst>
                          <a:tab pos="766445" algn="l"/>
                        </a:tabLst>
                      </a:pP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7945" marR="60960">
                        <a:lnSpc>
                          <a:spcPts val="1270"/>
                        </a:lnSpc>
                        <a:tabLst>
                          <a:tab pos="909955" algn="l"/>
                          <a:tab pos="1681480" algn="l"/>
                          <a:tab pos="2840990" algn="l"/>
                          <a:tab pos="3371850" algn="l"/>
                          <a:tab pos="3848100" algn="l"/>
                        </a:tabLst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hero+ic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means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characteristic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hero. 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poet+ic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means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characteristic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(or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like) poets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poetry.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49223">
                <a:tc>
                  <a:txBody>
                    <a:bodyPr/>
                    <a:lstStyle/>
                    <a:p>
                      <a:pPr marL="68580">
                        <a:lnSpc>
                          <a:spcPts val="126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-al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68580" marR="60325">
                        <a:lnSpc>
                          <a:spcPts val="1270"/>
                        </a:lnSpc>
                        <a:tabLst>
                          <a:tab pos="878840" algn="l"/>
                        </a:tabLst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financial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(adj) 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manual (adj)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marR="60960">
                        <a:lnSpc>
                          <a:spcPts val="1270"/>
                        </a:lnSpc>
                        <a:spcBef>
                          <a:spcPts val="20"/>
                        </a:spcBef>
                        <a:tabLst>
                          <a:tab pos="1372870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sometimes</a:t>
                      </a:r>
                      <a:r>
                        <a:rPr dirty="0" sz="1100" spc="229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makes</a:t>
                      </a:r>
                      <a:r>
                        <a:rPr dirty="0" sz="1100" spc="2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dirty="0" sz="1100" spc="2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adjective;</a:t>
                      </a:r>
                      <a:r>
                        <a:rPr dirty="0" sz="1100" spc="2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when</a:t>
                      </a:r>
                      <a:r>
                        <a:rPr dirty="0" sz="1100" spc="2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dirty="0" sz="1100" spc="229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makes</a:t>
                      </a:r>
                      <a:r>
                        <a:rPr dirty="0" sz="1100" spc="2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dirty="0" sz="1100" spc="2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adjective</a:t>
                      </a:r>
                      <a:r>
                        <a:rPr dirty="0" sz="1100" spc="2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dirty="0" sz="1100" spc="229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means </a:t>
                      </a:r>
                      <a:r>
                        <a:rPr dirty="0" sz="1100" spc="-2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relating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u="sng" sz="1100" spc="-5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ts val="120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finance+al</a:t>
                      </a:r>
                      <a:r>
                        <a:rPr dirty="0" sz="1100" spc="6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means</a:t>
                      </a:r>
                      <a:r>
                        <a:rPr dirty="0" sz="1100" spc="6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relating</a:t>
                      </a:r>
                      <a:r>
                        <a:rPr dirty="0" sz="1100" spc="6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100" spc="6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finance.</a:t>
                      </a:r>
                      <a:r>
                        <a:rPr dirty="0" sz="1100" spc="6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(Finance</a:t>
                      </a:r>
                      <a:r>
                        <a:rPr dirty="0" sz="1100" spc="6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means</a:t>
                      </a:r>
                      <a:r>
                        <a:rPr dirty="0" sz="1100" spc="6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money.)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ts val="125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manu+al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means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relating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hand.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(Manus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means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hand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Latin.)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marL="68580">
                        <a:lnSpc>
                          <a:spcPts val="126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-able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68580" marR="60960">
                        <a:lnSpc>
                          <a:spcPts val="1260"/>
                        </a:lnSpc>
                        <a:tabLst>
                          <a:tab pos="878840" algn="l"/>
                        </a:tabLst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portable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(adj) 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pleasurable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(adj)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marR="60325">
                        <a:lnSpc>
                          <a:spcPts val="1270"/>
                        </a:lnSpc>
                        <a:spcBef>
                          <a:spcPts val="20"/>
                        </a:spcBef>
                        <a:tabLst>
                          <a:tab pos="1159510" algn="l"/>
                          <a:tab pos="2841625" algn="l"/>
                          <a:tab pos="3907790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at</a:t>
                      </a:r>
                      <a:r>
                        <a:rPr dirty="0" sz="1100" spc="2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2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end</a:t>
                      </a:r>
                      <a:r>
                        <a:rPr dirty="0" sz="1100" spc="2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spc="2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 spc="2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word</a:t>
                      </a:r>
                      <a:r>
                        <a:rPr dirty="0" sz="1100" spc="2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means</a:t>
                      </a:r>
                      <a:r>
                        <a:rPr dirty="0" sz="1100" spc="2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able</a:t>
                      </a:r>
                      <a:r>
                        <a:rPr dirty="0" u="sng" sz="1100" spc="-5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;</a:t>
                      </a:r>
                      <a:r>
                        <a:rPr dirty="0" sz="1100" spc="2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can</a:t>
                      </a:r>
                      <a:r>
                        <a:rPr dirty="0" u="sng" sz="1100" spc="-5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;</a:t>
                      </a:r>
                      <a:r>
                        <a:rPr dirty="0" sz="1100" spc="1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or </a:t>
                      </a:r>
                      <a:r>
                        <a:rPr dirty="0" sz="1100" spc="-2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giving</a:t>
                      </a:r>
                      <a:r>
                        <a:rPr dirty="0" u="sng" sz="1100" spc="-5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7945" marR="60325">
                        <a:lnSpc>
                          <a:spcPts val="1260"/>
                        </a:lnSpc>
                        <a:tabLst>
                          <a:tab pos="795020" algn="l"/>
                          <a:tab pos="1341755" algn="l"/>
                          <a:tab pos="1726564" algn="l"/>
                          <a:tab pos="2048510" algn="l"/>
                          <a:tab pos="2665730" algn="l"/>
                          <a:tab pos="3088640" algn="l"/>
                          <a:tab pos="3387090" algn="l"/>
                          <a:tab pos="3709035" algn="l"/>
                        </a:tabLst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port+able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means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carried;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able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carried. 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pleasure+able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means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giving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pleasure.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87679">
                <a:tc>
                  <a:txBody>
                    <a:bodyPr/>
                    <a:lstStyle/>
                    <a:p>
                      <a:pPr marL="68580">
                        <a:lnSpc>
                          <a:spcPts val="123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-y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8580" marR="60325">
                        <a:lnSpc>
                          <a:spcPts val="1270"/>
                        </a:lnSpc>
                        <a:tabLst>
                          <a:tab pos="878840" algn="l"/>
                        </a:tabLst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hairy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(adj) 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rainy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(adj)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30"/>
                        </a:lnSpc>
                        <a:tabLst>
                          <a:tab pos="2722880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at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end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word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means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having</a:t>
                      </a:r>
                      <a:r>
                        <a:rPr dirty="0" u="sng" sz="1100" spc="-5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7945" marR="60960">
                        <a:lnSpc>
                          <a:spcPts val="1270"/>
                        </a:lnSpc>
                        <a:tabLst>
                          <a:tab pos="730885" algn="l"/>
                          <a:tab pos="1383030" algn="l"/>
                          <a:tab pos="2059939" algn="l"/>
                          <a:tab pos="2573020" algn="l"/>
                          <a:tab pos="2976880" algn="l"/>
                          <a:tab pos="3420110" algn="l"/>
                          <a:tab pos="3832225" algn="l"/>
                        </a:tabLst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hair+y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means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ha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ing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hair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(a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lot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hair). 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rain+y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means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having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rain.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88442">
                <a:tc>
                  <a:txBody>
                    <a:bodyPr/>
                    <a:lstStyle/>
                    <a:p>
                      <a:pPr marL="68580">
                        <a:lnSpc>
                          <a:spcPts val="126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-ous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68580">
                        <a:lnSpc>
                          <a:spcPts val="1275"/>
                        </a:lnSpc>
                        <a:spcBef>
                          <a:spcPts val="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mysterious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(adj)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marR="282575">
                        <a:lnSpc>
                          <a:spcPts val="1270"/>
                        </a:lnSpc>
                        <a:spcBef>
                          <a:spcPts val="20"/>
                        </a:spcBef>
                        <a:tabLst>
                          <a:tab pos="2688590" algn="l"/>
                          <a:tab pos="3873500" algn="l"/>
                        </a:tabLst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at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end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word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means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full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;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hav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. 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mystery+ous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means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full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mystery.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marL="68580">
                        <a:lnSpc>
                          <a:spcPts val="126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-ful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68580" marR="60960">
                        <a:lnSpc>
                          <a:spcPts val="1270"/>
                        </a:lnSpc>
                        <a:tabLst>
                          <a:tab pos="878205" algn="l"/>
                        </a:tabLst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hopeful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(adj) 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beautiful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(adj)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marR="60960">
                        <a:lnSpc>
                          <a:spcPts val="1270"/>
                        </a:lnSpc>
                        <a:tabLst>
                          <a:tab pos="1219835" algn="l"/>
                          <a:tab pos="1271270" algn="l"/>
                          <a:tab pos="2222500" algn="l"/>
                          <a:tab pos="2688590" algn="l"/>
                          <a:tab pos="3011805" algn="l"/>
                          <a:tab pos="3062605" algn="l"/>
                          <a:tab pos="3723004" algn="l"/>
                          <a:tab pos="3823970" algn="l"/>
                          <a:tab pos="3873500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at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end</a:t>
                      </a:r>
                      <a:r>
                        <a:rPr dirty="0" sz="11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word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means</a:t>
                      </a:r>
                      <a:r>
                        <a:rPr dirty="0" sz="11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full</a:t>
                      </a:r>
                      <a:r>
                        <a:rPr dirty="0" sz="11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u="sng" sz="1100" spc="-5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		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;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having</a:t>
                      </a:r>
                      <a:r>
                        <a:rPr dirty="0" u="sng" sz="1100" spc="-5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			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.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hope+ful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means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ll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	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hope.  beaut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+ful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	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ans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full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beauty. 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Note: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suffix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-ful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always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spelled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one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l;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word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full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has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two.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88441">
                <a:tc>
                  <a:txBody>
                    <a:bodyPr/>
                    <a:lstStyle/>
                    <a:p>
                      <a:pPr marL="68580">
                        <a:lnSpc>
                          <a:spcPts val="1230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-less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8580" marR="60960">
                        <a:lnSpc>
                          <a:spcPts val="1260"/>
                        </a:lnSpc>
                        <a:tabLst>
                          <a:tab pos="878840" algn="l"/>
                        </a:tabLst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powerless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(adj) 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homeless(adj)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30"/>
                        </a:lnSpc>
                        <a:tabLst>
                          <a:tab pos="2769235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at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end</a:t>
                      </a:r>
                      <a:r>
                        <a:rPr dirty="0" sz="11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word</a:t>
                      </a:r>
                      <a:r>
                        <a:rPr dirty="0" sz="11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means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without</a:t>
                      </a:r>
                      <a:r>
                        <a:rPr dirty="0" u="sng" sz="1100" spc="-5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7945" marR="60325">
                        <a:lnSpc>
                          <a:spcPts val="1260"/>
                        </a:lnSpc>
                        <a:tabLst>
                          <a:tab pos="1458595" algn="l"/>
                          <a:tab pos="2567940" algn="l"/>
                          <a:tab pos="3747135" algn="l"/>
                        </a:tabLst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power+less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means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without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power. 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home+less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means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without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home.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1084580" y="6372095"/>
            <a:ext cx="6060440" cy="353695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>
              <a:lnSpc>
                <a:spcPts val="1270"/>
              </a:lnSpc>
              <a:spcBef>
                <a:spcPts val="180"/>
              </a:spcBef>
            </a:pPr>
            <a:r>
              <a:rPr dirty="0" sz="1100" spc="-5" b="1">
                <a:latin typeface="Times New Roman"/>
                <a:cs typeface="Times New Roman"/>
              </a:rPr>
              <a:t>Verb</a:t>
            </a:r>
            <a:r>
              <a:rPr dirty="0" sz="1100" spc="5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Suffixes:</a:t>
            </a:r>
            <a:r>
              <a:rPr dirty="0" sz="1100" spc="5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common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endings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verbs.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If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these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endings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word,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then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most likely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 verb.</a:t>
            </a:r>
            <a:endParaRPr sz="1100">
              <a:latin typeface="Times New Roman"/>
              <a:cs typeface="Times New Roman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1405889" y="6877050"/>
          <a:ext cx="5420995" cy="17995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1580"/>
                <a:gridCol w="4199890"/>
              </a:tblGrid>
              <a:tr h="488441">
                <a:tc>
                  <a:txBody>
                    <a:bodyPr/>
                    <a:lstStyle/>
                    <a:p>
                      <a:pPr marL="68580">
                        <a:lnSpc>
                          <a:spcPts val="123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-en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8580" marR="60960">
                        <a:lnSpc>
                          <a:spcPts val="1270"/>
                        </a:lnSpc>
                        <a:tabLst>
                          <a:tab pos="979169" algn="l"/>
                        </a:tabLst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brighten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(v) 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soften (v)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30"/>
                        </a:lnSpc>
                        <a:tabLst>
                          <a:tab pos="2788285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at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end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word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means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make</a:t>
                      </a:r>
                      <a:r>
                        <a:rPr dirty="0" u="sng" sz="1100" spc="-5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7945" marR="61594">
                        <a:lnSpc>
                          <a:spcPts val="1270"/>
                        </a:lnSpc>
                        <a:tabLst>
                          <a:tab pos="1208405" algn="l"/>
                          <a:tab pos="2159635" algn="l"/>
                          <a:tab pos="2864485" algn="l"/>
                          <a:tab pos="3761104" algn="l"/>
                        </a:tabLst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bright+en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ans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ake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bright. 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soft+en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means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make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soft.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marL="68580" marR="425450">
                        <a:lnSpc>
                          <a:spcPts val="1270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-ize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publicize</a:t>
                      </a: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(v)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30"/>
                        </a:lnSpc>
                        <a:tabLst>
                          <a:tab pos="2788285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at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end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word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means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make</a:t>
                      </a:r>
                      <a:r>
                        <a:rPr dirty="0" u="sng" sz="1100" spc="-5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ts val="125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public+ize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means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make</a:t>
                      </a:r>
                      <a:r>
                        <a:rPr dirty="0" sz="11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public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make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public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aware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of.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48461">
                <a:tc>
                  <a:txBody>
                    <a:bodyPr/>
                    <a:lstStyle/>
                    <a:p>
                      <a:pPr marL="68580">
                        <a:lnSpc>
                          <a:spcPts val="126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-ate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68580" marR="289560">
                        <a:lnSpc>
                          <a:spcPts val="126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activate(v)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differentiate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v)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 marL="67945" marR="60960">
                        <a:lnSpc>
                          <a:spcPts val="1270"/>
                        </a:lnSpc>
                        <a:spcBef>
                          <a:spcPts val="20"/>
                        </a:spcBef>
                        <a:tabLst>
                          <a:tab pos="1231900" algn="l"/>
                          <a:tab pos="2176145" algn="l"/>
                          <a:tab pos="2872105" algn="l"/>
                          <a:tab pos="3762375" algn="l"/>
                          <a:tab pos="4092575" algn="l"/>
                        </a:tabLst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at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then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end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word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mea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have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characterized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	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.  active+a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ans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make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ac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ive. 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different+ate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means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make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show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difference.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8422">
                <a:tc>
                  <a:txBody>
                    <a:bodyPr/>
                    <a:lstStyle/>
                    <a:p>
                      <a:pPr marL="68580" marR="505459">
                        <a:lnSpc>
                          <a:spcPts val="127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-ify or -fy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plif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(v)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marR="850265">
                        <a:lnSpc>
                          <a:spcPts val="127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at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end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word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means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cause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become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make. </a:t>
                      </a:r>
                      <a:r>
                        <a:rPr dirty="0" sz="1100" spc="-2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simple+ify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means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make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simple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simpler.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1084580" y="8813544"/>
            <a:ext cx="6061710" cy="353060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12700" marR="5080">
              <a:lnSpc>
                <a:spcPts val="1260"/>
              </a:lnSpc>
              <a:spcBef>
                <a:spcPts val="190"/>
              </a:spcBef>
            </a:pPr>
            <a:r>
              <a:rPr dirty="0" sz="1100" spc="-5" b="1">
                <a:latin typeface="Times New Roman"/>
                <a:cs typeface="Times New Roman"/>
              </a:rPr>
              <a:t>Adverb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Suffixes: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most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common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ending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adverb.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ending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fairly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certain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adverb.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However,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keep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adverbs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way.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94460" y="9321545"/>
            <a:ext cx="1211580" cy="167640"/>
          </a:xfrm>
          <a:prstGeom prst="rect">
            <a:avLst/>
          </a:prstGeom>
          <a:ln w="6095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68580">
              <a:lnSpc>
                <a:spcPts val="1260"/>
              </a:lnSpc>
            </a:pPr>
            <a:r>
              <a:rPr dirty="0" sz="1100" spc="-5">
                <a:latin typeface="Times New Roman"/>
                <a:cs typeface="Times New Roman"/>
              </a:rPr>
              <a:t>-ly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606039" y="9321545"/>
            <a:ext cx="4229100" cy="167640"/>
          </a:xfrm>
          <a:prstGeom prst="rect">
            <a:avLst/>
          </a:prstGeom>
          <a:ln w="6095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67945">
              <a:lnSpc>
                <a:spcPts val="1260"/>
              </a:lnSpc>
            </a:pPr>
            <a:r>
              <a:rPr dirty="0" sz="1100" spc="-5">
                <a:latin typeface="Times New Roman"/>
                <a:cs typeface="Times New Roman"/>
              </a:rPr>
              <a:t>at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end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almost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always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makes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adverb;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occasionally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7380" y="342390"/>
            <a:ext cx="174498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 Elementary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84111" y="342390"/>
            <a:ext cx="22669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788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10019" y="9493248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26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400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257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937260" y="551687"/>
            <a:ext cx="1211580" cy="327660"/>
          </a:xfrm>
          <a:prstGeom prst="rect">
            <a:avLst/>
          </a:prstGeom>
          <a:ln w="6096">
            <a:solidFill>
              <a:srgbClr val="000000"/>
            </a:solidFill>
          </a:ln>
        </p:spPr>
        <p:txBody>
          <a:bodyPr wrap="square" lIns="0" tIns="635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1000">
              <a:latin typeface="Times New Roman"/>
              <a:cs typeface="Times New Roman"/>
            </a:endParaRPr>
          </a:p>
          <a:p>
            <a:pPr marL="67945">
              <a:lnSpc>
                <a:spcPct val="1000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quickly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(adv)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48840" y="551687"/>
            <a:ext cx="4229100" cy="327660"/>
          </a:xfrm>
          <a:prstGeom prst="rect">
            <a:avLst/>
          </a:prstGeom>
          <a:ln w="6095">
            <a:solidFill>
              <a:srgbClr val="000000"/>
            </a:solidFill>
          </a:ln>
        </p:spPr>
        <p:txBody>
          <a:bodyPr wrap="square" lIns="0" tIns="2540" rIns="0" bIns="0" rtlCol="0" vert="horz">
            <a:spAutoFit/>
          </a:bodyPr>
          <a:lstStyle/>
          <a:p>
            <a:pPr marL="67945" marR="3108325">
              <a:lnSpc>
                <a:spcPts val="1270"/>
              </a:lnSpc>
              <a:spcBef>
                <a:spcPts val="20"/>
              </a:spcBef>
            </a:pPr>
            <a:r>
              <a:rPr dirty="0" sz="1100" spc="-5">
                <a:latin typeface="Times New Roman"/>
                <a:cs typeface="Times New Roman"/>
              </a:rPr>
              <a:t>make an adjective.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quick+ly.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55973" y="1020571"/>
            <a:ext cx="117348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COMPOUNDING: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13175" y="1107890"/>
            <a:ext cx="3941445" cy="123063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675"/>
              </a:spcBef>
              <a:buFont typeface="Wingdings"/>
              <a:buChar char=""/>
              <a:tabLst>
                <a:tab pos="241300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News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+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stand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+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paper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+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clip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=</a:t>
            </a:r>
            <a:r>
              <a:rPr dirty="0" sz="1100" spc="2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newsstand,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newspaper,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news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clip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Font typeface="Wingdings"/>
              <a:buChar char=""/>
              <a:tabLst>
                <a:tab pos="241300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Flower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+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petal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+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bud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+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pot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=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flower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Patel,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flower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bud,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flower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pot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Font typeface="Wingdings"/>
              <a:buChar char=""/>
              <a:tabLst>
                <a:tab pos="241300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Lady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+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bug</a:t>
            </a:r>
            <a:r>
              <a:rPr dirty="0" sz="1100" spc="-5">
                <a:latin typeface="Times New Roman"/>
                <a:cs typeface="Times New Roman"/>
              </a:rPr>
              <a:t> +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finger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+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purse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=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ladybug,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ladyfinger,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lady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purse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85"/>
              </a:spcBef>
              <a:buFont typeface="Wingdings"/>
              <a:buChar char=""/>
              <a:tabLst>
                <a:tab pos="241300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Eye </a:t>
            </a:r>
            <a:r>
              <a:rPr dirty="0" sz="1100" spc="-5">
                <a:latin typeface="Times New Roman"/>
                <a:cs typeface="Times New Roman"/>
              </a:rPr>
              <a:t>+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color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+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brow</a:t>
            </a:r>
            <a:r>
              <a:rPr dirty="0" sz="1100" spc="-5">
                <a:latin typeface="Times New Roman"/>
                <a:cs typeface="Times New Roman"/>
              </a:rPr>
              <a:t> +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lid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=</a:t>
            </a:r>
            <a:r>
              <a:rPr dirty="0" sz="1100">
                <a:latin typeface="Times New Roman"/>
                <a:cs typeface="Times New Roman"/>
              </a:rPr>
              <a:t> eye </a:t>
            </a:r>
            <a:r>
              <a:rPr dirty="0" sz="1100" spc="-5">
                <a:latin typeface="Times New Roman"/>
                <a:cs typeface="Times New Roman"/>
              </a:rPr>
              <a:t>color,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eyebrow,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eyelid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Font typeface="Wingdings"/>
              <a:buChar char=""/>
              <a:tabLst>
                <a:tab pos="241300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Hand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+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bag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+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shake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+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glove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=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Handbag,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handshake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+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glove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7383" y="2546860"/>
            <a:ext cx="1817370" cy="3530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290"/>
              </a:lnSpc>
              <a:spcBef>
                <a:spcPts val="95"/>
              </a:spcBef>
            </a:pPr>
            <a:r>
              <a:rPr dirty="0" sz="1100" spc="-10" b="1">
                <a:latin typeface="Times New Roman"/>
                <a:cs typeface="Times New Roman"/>
              </a:rPr>
              <a:t>FIG</a:t>
            </a:r>
            <a:r>
              <a:rPr dirty="0" sz="1100" b="1">
                <a:latin typeface="Times New Roman"/>
                <a:cs typeface="Times New Roman"/>
              </a:rPr>
              <a:t>U</a:t>
            </a:r>
            <a:r>
              <a:rPr dirty="0" sz="1100" spc="-10" b="1">
                <a:latin typeface="Times New Roman"/>
                <a:cs typeface="Times New Roman"/>
              </a:rPr>
              <a:t>RA</a:t>
            </a:r>
            <a:r>
              <a:rPr dirty="0" sz="1100" b="1">
                <a:latin typeface="Times New Roman"/>
                <a:cs typeface="Times New Roman"/>
              </a:rPr>
              <a:t>T</a:t>
            </a:r>
            <a:r>
              <a:rPr dirty="0" sz="1100" spc="-5" b="1">
                <a:latin typeface="Times New Roman"/>
                <a:cs typeface="Times New Roman"/>
              </a:rPr>
              <a:t>I</a:t>
            </a:r>
            <a:r>
              <a:rPr dirty="0" sz="1100" spc="-10" b="1">
                <a:latin typeface="Times New Roman"/>
                <a:cs typeface="Times New Roman"/>
              </a:rPr>
              <a:t>V</a:t>
            </a:r>
            <a:r>
              <a:rPr dirty="0" sz="1100" spc="-5" b="1">
                <a:latin typeface="Times New Roman"/>
                <a:cs typeface="Times New Roman"/>
              </a:rPr>
              <a:t>E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10" b="1">
                <a:latin typeface="Times New Roman"/>
                <a:cs typeface="Times New Roman"/>
              </a:rPr>
              <a:t>L</a:t>
            </a:r>
            <a:r>
              <a:rPr dirty="0" sz="1100" b="1">
                <a:latin typeface="Times New Roman"/>
                <a:cs typeface="Times New Roman"/>
              </a:rPr>
              <a:t>A</a:t>
            </a:r>
            <a:r>
              <a:rPr dirty="0" sz="1100" spc="-10" b="1">
                <a:latin typeface="Times New Roman"/>
                <a:cs typeface="Times New Roman"/>
              </a:rPr>
              <a:t>NG</a:t>
            </a:r>
            <a:r>
              <a:rPr dirty="0" sz="1100" b="1">
                <a:latin typeface="Times New Roman"/>
                <a:cs typeface="Times New Roman"/>
              </a:rPr>
              <a:t>U</a:t>
            </a:r>
            <a:r>
              <a:rPr dirty="0" sz="1100" spc="-10" b="1">
                <a:latin typeface="Times New Roman"/>
                <a:cs typeface="Times New Roman"/>
              </a:rPr>
              <a:t>A</a:t>
            </a:r>
            <a:r>
              <a:rPr dirty="0" sz="1100" spc="-10" b="1">
                <a:latin typeface="Times New Roman"/>
                <a:cs typeface="Times New Roman"/>
              </a:rPr>
              <a:t>GE: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90"/>
              </a:lnSpc>
            </a:pPr>
            <a:r>
              <a:rPr dirty="0" sz="1100" spc="-5">
                <a:latin typeface="Times New Roman"/>
                <a:cs typeface="Times New Roman"/>
              </a:rPr>
              <a:t>LITERAL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FIGURATIVE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55977" y="2793443"/>
            <a:ext cx="3779520" cy="508634"/>
          </a:xfrm>
          <a:prstGeom prst="rect">
            <a:avLst/>
          </a:prstGeom>
        </p:spPr>
        <p:txBody>
          <a:bodyPr wrap="square" lIns="0" tIns="8636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680"/>
              </a:spcBef>
              <a:buFont typeface="Wingdings"/>
              <a:buChar char="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robber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struck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arm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piece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wood.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(literal)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85"/>
              </a:spcBef>
              <a:buFont typeface="Wingdings"/>
              <a:buChar char="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Suddenly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clever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struck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me.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(figurative)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27363" y="3437314"/>
            <a:ext cx="6062345" cy="556704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469900" indent="-228600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469900" algn="l"/>
              </a:tabLst>
            </a:pP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Sharp knife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sharp tongue</a:t>
            </a:r>
            <a:r>
              <a:rPr dirty="0" sz="1100" spc="-5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  <a:p>
            <a:pPr marL="469900" indent="-229235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470534" algn="l"/>
              </a:tabLst>
            </a:pP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Tea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is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sweet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sweet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baby</a:t>
            </a:r>
            <a:r>
              <a:rPr dirty="0" sz="1100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469900" algn="l"/>
              </a:tabLst>
            </a:pP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Yacht</a:t>
            </a:r>
            <a:r>
              <a:rPr dirty="0" u="sng" sz="110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sailed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gracefully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he</a:t>
            </a:r>
            <a:r>
              <a:rPr dirty="0" u="sng" sz="110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sailed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through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exams.</a:t>
            </a:r>
            <a:endParaRPr sz="1100">
              <a:latin typeface="Times New Roman"/>
              <a:cs typeface="Times New Roman"/>
            </a:endParaRPr>
          </a:p>
          <a:p>
            <a:pPr marL="469900" indent="-229235">
              <a:lnSpc>
                <a:spcPct val="100000"/>
              </a:lnSpc>
              <a:spcBef>
                <a:spcPts val="580"/>
              </a:spcBef>
              <a:buAutoNum type="arabicPeriod"/>
              <a:tabLst>
                <a:tab pos="470534" algn="l"/>
              </a:tabLst>
            </a:pP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Brush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your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hair</a:t>
            </a:r>
            <a:r>
              <a:rPr dirty="0" sz="1100" spc="-5">
                <a:latin typeface="Times New Roman"/>
                <a:cs typeface="Times New Roman"/>
              </a:rPr>
              <a:t> 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brush up your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English</a:t>
            </a:r>
            <a:r>
              <a:rPr dirty="0" sz="1100" spc="-5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  <a:p>
            <a:pPr marL="469900" indent="-229235">
              <a:lnSpc>
                <a:spcPct val="100000"/>
              </a:lnSpc>
              <a:spcBef>
                <a:spcPts val="580"/>
              </a:spcBef>
              <a:buAutoNum type="arabicPeriod"/>
              <a:tabLst>
                <a:tab pos="470534" algn="l"/>
              </a:tabLst>
            </a:pP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Swollen jaw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and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swollen head</a:t>
            </a:r>
            <a:r>
              <a:rPr dirty="0" sz="1100" spc="-5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  <a:p>
            <a:pPr marL="469900" indent="-229235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470534" algn="l"/>
              </a:tabLst>
            </a:pP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Combed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his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hair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combed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jungle</a:t>
            </a:r>
            <a:r>
              <a:rPr dirty="0" sz="1100" spc="-5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  <a:p>
            <a:pPr marL="469900" indent="-229235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470534" algn="l"/>
              </a:tabLst>
            </a:pP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Fish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coastal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water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only</a:t>
            </a:r>
            <a:r>
              <a:rPr dirty="0" u="sng" sz="110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fish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 sea</a:t>
            </a:r>
            <a:r>
              <a:rPr dirty="0" sz="1100" spc="-5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  <a:p>
            <a:pPr marL="469900" indent="-229235">
              <a:lnSpc>
                <a:spcPct val="100000"/>
              </a:lnSpc>
              <a:spcBef>
                <a:spcPts val="580"/>
              </a:spcBef>
              <a:buAutoNum type="arabicPeriod"/>
              <a:tabLst>
                <a:tab pos="470534" algn="l"/>
              </a:tabLst>
            </a:pP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Diamonds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are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expensive</a:t>
            </a:r>
            <a:r>
              <a:rPr dirty="0" sz="1100" spc="-5">
                <a:latin typeface="Times New Roman"/>
                <a:cs typeface="Times New Roman"/>
              </a:rPr>
              <a:t>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he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is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rough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diamond</a:t>
            </a:r>
            <a:r>
              <a:rPr dirty="0" sz="1100" spc="-5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  <a:p>
            <a:pPr marL="469900" indent="-229235">
              <a:lnSpc>
                <a:spcPct val="100000"/>
              </a:lnSpc>
              <a:spcBef>
                <a:spcPts val="580"/>
              </a:spcBef>
              <a:buAutoNum type="arabicPeriod"/>
              <a:tabLst>
                <a:tab pos="470534" algn="l"/>
              </a:tabLst>
            </a:pP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Boat sank</a:t>
            </a:r>
            <a:r>
              <a:rPr dirty="0" sz="1100" spc="-5">
                <a:latin typeface="Times New Roman"/>
                <a:cs typeface="Times New Roman"/>
              </a:rPr>
              <a:t> and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heart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sank</a:t>
            </a:r>
            <a:r>
              <a:rPr dirty="0" sz="1100" spc="-5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  <a:p>
            <a:pPr marL="469900" indent="-229235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470534" algn="l"/>
              </a:tabLst>
            </a:pP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Drop</a:t>
            </a:r>
            <a:r>
              <a:rPr dirty="0" sz="1100" spc="-5">
                <a:latin typeface="Times New Roman"/>
                <a:cs typeface="Times New Roman"/>
              </a:rPr>
              <a:t> an idea. (abandon)</a:t>
            </a:r>
            <a:endParaRPr sz="1100">
              <a:latin typeface="Times New Roman"/>
              <a:cs typeface="Times New Roman"/>
            </a:endParaRPr>
          </a:p>
          <a:p>
            <a:pPr marL="469900" indent="-229235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470534" algn="l"/>
              </a:tabLst>
            </a:pP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 glaring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error.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(obvious)</a:t>
            </a:r>
            <a:endParaRPr sz="1100">
              <a:latin typeface="Times New Roman"/>
              <a:cs typeface="Times New Roman"/>
            </a:endParaRPr>
          </a:p>
          <a:p>
            <a:pPr marL="469900" indent="-229235">
              <a:lnSpc>
                <a:spcPct val="100000"/>
              </a:lnSpc>
              <a:spcBef>
                <a:spcPts val="580"/>
              </a:spcBef>
              <a:buAutoNum type="arabicPeriod"/>
              <a:tabLst>
                <a:tab pos="470534" algn="l"/>
              </a:tabLst>
            </a:pP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ploughed</a:t>
            </a:r>
            <a:r>
              <a:rPr dirty="0" u="sng" sz="110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my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way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through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Mathematics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problems.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ts val="1290"/>
              </a:lnSpc>
            </a:pPr>
            <a:r>
              <a:rPr dirty="0" sz="1100" spc="-5" b="1">
                <a:latin typeface="Times New Roman"/>
                <a:cs typeface="Times New Roman"/>
              </a:rPr>
              <a:t>COLLOCATIONS:</a:t>
            </a:r>
            <a:endParaRPr sz="1100">
              <a:latin typeface="Times New Roman"/>
              <a:cs typeface="Times New Roman"/>
            </a:endParaRPr>
          </a:p>
          <a:p>
            <a:pPr algn="just" marL="12700" marR="5715">
              <a:lnSpc>
                <a:spcPct val="95800"/>
              </a:lnSpc>
              <a:spcBef>
                <a:spcPts val="25"/>
              </a:spcBef>
            </a:pPr>
            <a:r>
              <a:rPr dirty="0" sz="1100" spc="-5">
                <a:latin typeface="Times New Roman"/>
                <a:cs typeface="Times New Roman"/>
              </a:rPr>
              <a:t>Collocation is the relationship between two words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groups of words that often go together and form a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common expression. If the expression is heard often, the words become 'glued' together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our minds</a:t>
            </a:r>
            <a:r>
              <a:rPr dirty="0" sz="1100" spc="-5" b="1" i="1">
                <a:latin typeface="Times New Roman"/>
                <a:cs typeface="Times New Roman"/>
              </a:rPr>
              <a:t>. </a:t>
            </a:r>
            <a:r>
              <a:rPr dirty="0" sz="1100" b="1" i="1">
                <a:latin typeface="Times New Roman"/>
                <a:cs typeface="Times New Roman"/>
              </a:rPr>
              <a:t> </a:t>
            </a:r>
            <a:r>
              <a:rPr dirty="0" sz="1100" spc="-5" b="1" i="1">
                <a:latin typeface="Times New Roman"/>
                <a:cs typeface="Times New Roman"/>
              </a:rPr>
              <a:t>'Crystal </a:t>
            </a:r>
            <a:r>
              <a:rPr dirty="0" sz="1100" b="1" i="1">
                <a:latin typeface="Times New Roman"/>
                <a:cs typeface="Times New Roman"/>
              </a:rPr>
              <a:t>clear', </a:t>
            </a:r>
            <a:r>
              <a:rPr dirty="0" sz="1100" spc="-5" b="1" i="1">
                <a:latin typeface="Times New Roman"/>
                <a:cs typeface="Times New Roman"/>
              </a:rPr>
              <a:t>'middle management' 'nuclear family'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 spc="-5" b="1" i="1">
                <a:latin typeface="Times New Roman"/>
                <a:cs typeface="Times New Roman"/>
              </a:rPr>
              <a:t>'cosmetic surgery</a:t>
            </a:r>
            <a:r>
              <a:rPr dirty="0" sz="1100" spc="-5">
                <a:latin typeface="Times New Roman"/>
                <a:cs typeface="Times New Roman"/>
              </a:rPr>
              <a:t>' are examples of collocated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pairs of words. Some </a:t>
            </a:r>
            <a:r>
              <a:rPr dirty="0" sz="1100">
                <a:latin typeface="Times New Roman"/>
                <a:cs typeface="Times New Roman"/>
              </a:rPr>
              <a:t>words </a:t>
            </a:r>
            <a:r>
              <a:rPr dirty="0" sz="1100" spc="-5">
                <a:latin typeface="Times New Roman"/>
                <a:cs typeface="Times New Roman"/>
              </a:rPr>
              <a:t>are often found together because they make up a compound noun, for example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b="1" i="1">
                <a:latin typeface="Times New Roman"/>
                <a:cs typeface="Times New Roman"/>
              </a:rPr>
              <a:t>'riding</a:t>
            </a:r>
            <a:r>
              <a:rPr dirty="0" sz="1100" b="1" i="1">
                <a:latin typeface="Times New Roman"/>
                <a:cs typeface="Times New Roman"/>
              </a:rPr>
              <a:t> </a:t>
            </a:r>
            <a:r>
              <a:rPr dirty="0" sz="1100" spc="-5" b="1" i="1">
                <a:latin typeface="Times New Roman"/>
                <a:cs typeface="Times New Roman"/>
              </a:rPr>
              <a:t>boots</a:t>
            </a:r>
            <a:r>
              <a:rPr dirty="0" sz="1100" spc="-5">
                <a:latin typeface="Times New Roman"/>
                <a:cs typeface="Times New Roman"/>
              </a:rPr>
              <a:t>'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b="1" i="1">
                <a:latin typeface="Times New Roman"/>
                <a:cs typeface="Times New Roman"/>
              </a:rPr>
              <a:t>'motor</a:t>
            </a:r>
            <a:r>
              <a:rPr dirty="0" sz="1100" b="1" i="1">
                <a:latin typeface="Times New Roman"/>
                <a:cs typeface="Times New Roman"/>
              </a:rPr>
              <a:t> </a:t>
            </a:r>
            <a:r>
              <a:rPr dirty="0" sz="1100" spc="-5" b="1" i="1">
                <a:latin typeface="Times New Roman"/>
                <a:cs typeface="Times New Roman"/>
              </a:rPr>
              <a:t>cyclist</a:t>
            </a:r>
            <a:r>
              <a:rPr dirty="0" sz="1100" spc="-5">
                <a:latin typeface="Times New Roman"/>
                <a:cs typeface="Times New Roman"/>
              </a:rPr>
              <a:t>'.</a:t>
            </a:r>
            <a:endParaRPr sz="1100">
              <a:latin typeface="Times New Roman"/>
              <a:cs typeface="Times New Roman"/>
            </a:endParaRPr>
          </a:p>
          <a:p>
            <a:pPr algn="just" marL="12700" marR="5080">
              <a:lnSpc>
                <a:spcPct val="95800"/>
              </a:lnSpc>
            </a:pPr>
            <a:r>
              <a:rPr dirty="0" sz="1100" spc="-5">
                <a:latin typeface="Times New Roman"/>
                <a:cs typeface="Times New Roman"/>
              </a:rPr>
              <a:t>Examples of phrases: a person can be '</a:t>
            </a:r>
            <a:r>
              <a:rPr dirty="0" sz="1100" spc="-5" b="1" i="1">
                <a:latin typeface="Times New Roman"/>
                <a:cs typeface="Times New Roman"/>
              </a:rPr>
              <a:t>locked in mortal combat</a:t>
            </a:r>
            <a:r>
              <a:rPr dirty="0" sz="1100" spc="-5">
                <a:latin typeface="Times New Roman"/>
                <a:cs typeface="Times New Roman"/>
              </a:rPr>
              <a:t>', meaning involved in a serious fight, or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b="1" i="1">
                <a:latin typeface="Times New Roman"/>
                <a:cs typeface="Times New Roman"/>
              </a:rPr>
              <a:t>'bright eyed and bushy tailed</a:t>
            </a:r>
            <a:r>
              <a:rPr dirty="0" sz="1100" spc="-5">
                <a:latin typeface="Times New Roman"/>
                <a:cs typeface="Times New Roman"/>
              </a:rPr>
              <a:t>', meaning fresh and ready to go;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'</a:t>
            </a:r>
            <a:r>
              <a:rPr dirty="0" sz="1100" spc="-10" b="1" i="1">
                <a:latin typeface="Times New Roman"/>
                <a:cs typeface="Times New Roman"/>
              </a:rPr>
              <a:t>red </a:t>
            </a:r>
            <a:r>
              <a:rPr dirty="0" sz="1100" spc="-5" b="1" i="1">
                <a:latin typeface="Times New Roman"/>
                <a:cs typeface="Times New Roman"/>
              </a:rPr>
              <a:t>in the face</a:t>
            </a:r>
            <a:r>
              <a:rPr dirty="0" sz="1100" spc="-5">
                <a:latin typeface="Times New Roman"/>
                <a:cs typeface="Times New Roman"/>
              </a:rPr>
              <a:t>', meaning 'embarrassed', or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b="1" i="1">
                <a:latin typeface="Times New Roman"/>
                <a:cs typeface="Times New Roman"/>
              </a:rPr>
              <a:t>'blue in the face</a:t>
            </a:r>
            <a:r>
              <a:rPr dirty="0" sz="1100" spc="-5">
                <a:latin typeface="Times New Roman"/>
                <a:cs typeface="Times New Roman"/>
              </a:rPr>
              <a:t>' meaning 'angry'. It is not a common expression for </a:t>
            </a:r>
            <a:r>
              <a:rPr dirty="0" sz="1100" spc="-10">
                <a:latin typeface="Times New Roman"/>
                <a:cs typeface="Times New Roman"/>
              </a:rPr>
              <a:t>someone </a:t>
            </a:r>
            <a:r>
              <a:rPr dirty="0" sz="1100" spc="-5">
                <a:latin typeface="Times New Roman"/>
                <a:cs typeface="Times New Roman"/>
              </a:rPr>
              <a:t>to be 'yellow in the face' </a:t>
            </a:r>
            <a:r>
              <a:rPr dirty="0" sz="1100" spc="-1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 'green in the face' however. Therefore 'red' and 'blue' collocate </a:t>
            </a:r>
            <a:r>
              <a:rPr dirty="0" sz="1100">
                <a:latin typeface="Times New Roman"/>
                <a:cs typeface="Times New Roman"/>
              </a:rPr>
              <a:t>with </a:t>
            </a:r>
            <a:r>
              <a:rPr dirty="0" sz="1100" spc="-5">
                <a:latin typeface="Times New Roman"/>
                <a:cs typeface="Times New Roman"/>
              </a:rPr>
              <a:t>'in the face', but 'yellow in the face' or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'green 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face'</a:t>
            </a:r>
            <a:r>
              <a:rPr dirty="0" sz="1100">
                <a:latin typeface="Times New Roman"/>
                <a:cs typeface="Times New Roman"/>
              </a:rPr>
              <a:t> are </a:t>
            </a:r>
            <a:r>
              <a:rPr dirty="0" sz="1100" spc="-10">
                <a:latin typeface="Times New Roman"/>
                <a:cs typeface="Times New Roman"/>
              </a:rPr>
              <a:t>probably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mistakes.</a:t>
            </a:r>
            <a:endParaRPr sz="1100">
              <a:latin typeface="Times New Roman"/>
              <a:cs typeface="Times New Roman"/>
            </a:endParaRPr>
          </a:p>
          <a:p>
            <a:pPr algn="just" marL="12700" marR="5080">
              <a:lnSpc>
                <a:spcPts val="1270"/>
              </a:lnSpc>
              <a:spcBef>
                <a:spcPts val="30"/>
              </a:spcBef>
            </a:pPr>
            <a:r>
              <a:rPr dirty="0" sz="1100" spc="-5">
                <a:latin typeface="Times New Roman"/>
                <a:cs typeface="Times New Roman"/>
              </a:rPr>
              <a:t>English has many of these collocated expressions and some linguists (e.g. Khellmer 1991) argue that our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mental lexicon is made up of many collocated words and phrases as well as individual items. Some </a:t>
            </a:r>
            <a:r>
              <a:rPr dirty="0" sz="1100">
                <a:latin typeface="Times New Roman"/>
                <a:cs typeface="Times New Roman"/>
              </a:rPr>
              <a:t>words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 different collocations which reflect their different meanings, e.g. </a:t>
            </a:r>
            <a:r>
              <a:rPr dirty="0" sz="1100" spc="-5" b="1" i="1">
                <a:latin typeface="Times New Roman"/>
                <a:cs typeface="Times New Roman"/>
              </a:rPr>
              <a:t>'bank</a:t>
            </a:r>
            <a:r>
              <a:rPr dirty="0" sz="1100" spc="-5">
                <a:latin typeface="Times New Roman"/>
                <a:cs typeface="Times New Roman"/>
              </a:rPr>
              <a:t>' </a:t>
            </a:r>
            <a:r>
              <a:rPr dirty="0" sz="1100" spc="-10">
                <a:latin typeface="Times New Roman"/>
                <a:cs typeface="Times New Roman"/>
              </a:rPr>
              <a:t>collocates </a:t>
            </a:r>
            <a:r>
              <a:rPr dirty="0" sz="1100" spc="-5">
                <a:latin typeface="Times New Roman"/>
                <a:cs typeface="Times New Roman"/>
              </a:rPr>
              <a:t>with </a:t>
            </a:r>
            <a:r>
              <a:rPr dirty="0" sz="1100" spc="-5" b="1" i="1">
                <a:latin typeface="Times New Roman"/>
                <a:cs typeface="Times New Roman"/>
              </a:rPr>
              <a:t>'river</a:t>
            </a:r>
            <a:r>
              <a:rPr dirty="0" sz="1100" spc="-5">
                <a:latin typeface="Times New Roman"/>
                <a:cs typeface="Times New Roman"/>
              </a:rPr>
              <a:t>' and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b="1" i="1">
                <a:latin typeface="Times New Roman"/>
                <a:cs typeface="Times New Roman"/>
              </a:rPr>
              <a:t>'investment</a:t>
            </a:r>
            <a:r>
              <a:rPr dirty="0" sz="1100" spc="-5">
                <a:latin typeface="Times New Roman"/>
                <a:cs typeface="Times New Roman"/>
              </a:rPr>
              <a:t>'.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4580" y="342390"/>
            <a:ext cx="174498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 Elementary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41311" y="342390"/>
            <a:ext cx="22669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360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67219" y="9493248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27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972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829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084580" y="686815"/>
            <a:ext cx="174498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COLLOCATIONS: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TYPES: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13372" y="1657289"/>
            <a:ext cx="2011680" cy="50736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1100" spc="-5">
                <a:latin typeface="Times New Roman"/>
                <a:cs typeface="Times New Roman"/>
              </a:rPr>
              <a:t>strongly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suggest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/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barely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sz="1100" spc="-5">
                <a:latin typeface="Times New Roman"/>
                <a:cs typeface="Times New Roman"/>
              </a:rPr>
              <a:t>utterly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amazed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/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completely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useless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70574" y="2139633"/>
            <a:ext cx="2016760" cy="5073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436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totally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unacceptable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behavior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guilty 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/ blamed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 /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happy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13173" y="933398"/>
            <a:ext cx="4642485" cy="1954530"/>
          </a:xfrm>
          <a:prstGeom prst="rect">
            <a:avLst/>
          </a:prstGeom>
        </p:spPr>
        <p:txBody>
          <a:bodyPr wrap="square" lIns="0" tIns="8636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680"/>
              </a:spcBef>
              <a:buFont typeface="Times New Roman"/>
              <a:buAutoNum type="arabicPeriod"/>
              <a:tabLst>
                <a:tab pos="241300" algn="l"/>
                <a:tab pos="1155065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Verb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+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noun	</a:t>
            </a:r>
            <a:r>
              <a:rPr dirty="0" sz="1100" spc="-5">
                <a:latin typeface="Times New Roman"/>
                <a:cs typeface="Times New Roman"/>
              </a:rPr>
              <a:t>throw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party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/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accept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responsibility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85"/>
              </a:spcBef>
              <a:buFont typeface="Times New Roman"/>
              <a:buAutoNum type="arabicPeriod"/>
              <a:tabLst>
                <a:tab pos="241300" algn="l"/>
                <a:tab pos="1612265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Adjective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+</a:t>
            </a:r>
            <a:r>
              <a:rPr dirty="0" sz="1100" spc="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noun	</a:t>
            </a:r>
            <a:r>
              <a:rPr dirty="0" sz="1100" spc="-5">
                <a:latin typeface="Times New Roman"/>
                <a:cs typeface="Times New Roman"/>
              </a:rPr>
              <a:t>square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/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grim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determination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Font typeface="Times New Roman"/>
              <a:buAutoNum type="arabicPeriod"/>
              <a:tabLst>
                <a:tab pos="241300" algn="l"/>
                <a:tab pos="2069464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Verb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+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adjective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+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noun	</a:t>
            </a:r>
            <a:r>
              <a:rPr dirty="0" sz="1100" spc="-5">
                <a:latin typeface="Times New Roman"/>
                <a:cs typeface="Times New Roman"/>
              </a:rPr>
              <a:t>take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vigorous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exercise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/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make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steady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progress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Font typeface="Times New Roman"/>
              <a:buAutoNum type="arabicPeriod"/>
              <a:tabLst>
                <a:tab pos="241300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Adverb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+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verb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Font typeface="Times New Roman"/>
              <a:buAutoNum type="arabicPeriod"/>
              <a:tabLst>
                <a:tab pos="241300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Adverb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+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adjective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85"/>
              </a:spcBef>
              <a:buFont typeface="Times New Roman"/>
              <a:buAutoNum type="arabicPeriod"/>
              <a:tabLst>
                <a:tab pos="241300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Adverb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+ adjective + </a:t>
            </a:r>
            <a:r>
              <a:rPr dirty="0" sz="1100" b="1">
                <a:latin typeface="Times New Roman"/>
                <a:cs typeface="Times New Roman"/>
              </a:rPr>
              <a:t>noun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Font typeface="Times New Roman"/>
              <a:buAutoNum type="arabicPeriod"/>
              <a:tabLst>
                <a:tab pos="241300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Adjective +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preposition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Font typeface="Times New Roman"/>
              <a:buAutoNum type="arabicPeriod"/>
              <a:tabLst>
                <a:tab pos="241300" algn="l"/>
                <a:tab pos="1155065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Noun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+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noun	</a:t>
            </a:r>
            <a:r>
              <a:rPr dirty="0" sz="1100" spc="-5">
                <a:latin typeface="Times New Roman"/>
                <a:cs typeface="Times New Roman"/>
              </a:rPr>
              <a:t>pay packet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/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window frame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097280" y="7119366"/>
            <a:ext cx="4321810" cy="6985"/>
          </a:xfrm>
          <a:custGeom>
            <a:avLst/>
            <a:gdLst/>
            <a:ahLst/>
            <a:cxnLst/>
            <a:rect l="l" t="t" r="r" b="b"/>
            <a:pathLst>
              <a:path w="4321810" h="6984">
                <a:moveTo>
                  <a:pt x="4321302" y="0"/>
                </a:moveTo>
                <a:lnTo>
                  <a:pt x="0" y="0"/>
                </a:lnTo>
                <a:lnTo>
                  <a:pt x="0" y="6858"/>
                </a:lnTo>
                <a:lnTo>
                  <a:pt x="4321302" y="6858"/>
                </a:lnTo>
                <a:lnTo>
                  <a:pt x="43213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084552" y="3096261"/>
            <a:ext cx="6061075" cy="52533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DENOTATIONS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AND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CONNOTATIONS: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5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buFont typeface="Wingdings"/>
              <a:buChar char=""/>
              <a:tabLst>
                <a:tab pos="469900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Denotation: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literal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</a:t>
            </a:r>
            <a:endParaRPr sz="1100">
              <a:latin typeface="Times New Roman"/>
              <a:cs typeface="Times New Roman"/>
            </a:endParaRPr>
          </a:p>
          <a:p>
            <a:pPr marL="469265" indent="-229235">
              <a:lnSpc>
                <a:spcPct val="100000"/>
              </a:lnSpc>
              <a:spcBef>
                <a:spcPts val="575"/>
              </a:spcBef>
              <a:buFont typeface="Wingdings"/>
              <a:buChar char=""/>
              <a:tabLst>
                <a:tab pos="469900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Connotation: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association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(emotional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otherwise)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evokes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650">
              <a:latin typeface="Times New Roman"/>
              <a:cs typeface="Times New Roman"/>
            </a:endParaRPr>
          </a:p>
          <a:p>
            <a:pPr algn="just" marL="12700" marR="5080" indent="-635">
              <a:lnSpc>
                <a:spcPts val="1270"/>
              </a:lnSpc>
            </a:pPr>
            <a:r>
              <a:rPr dirty="0" sz="1100" spc="-5">
                <a:latin typeface="Times New Roman"/>
                <a:cs typeface="Times New Roman"/>
              </a:rPr>
              <a:t>For example: For some people, the word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PIG</a:t>
            </a:r>
            <a:r>
              <a:rPr dirty="0" sz="1100" spc="-5">
                <a:latin typeface="Times New Roman"/>
                <a:cs typeface="Times New Roman"/>
              </a:rPr>
              <a:t> might have connotations of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dirty</a:t>
            </a:r>
            <a:r>
              <a:rPr dirty="0" sz="1100" spc="-5">
                <a:latin typeface="Times New Roman"/>
                <a:cs typeface="Times New Roman"/>
              </a:rPr>
              <a:t> and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smelly</a:t>
            </a:r>
            <a:r>
              <a:rPr dirty="0" sz="1100" spc="-5">
                <a:latin typeface="Times New Roman"/>
                <a:cs typeface="Times New Roman"/>
              </a:rPr>
              <a:t>; others will think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inquisitive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cheeky</a:t>
            </a:r>
            <a:r>
              <a:rPr dirty="0" sz="1100" spc="-5">
                <a:latin typeface="Times New Roman"/>
                <a:cs typeface="Times New Roman"/>
              </a:rPr>
              <a:t>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Moreover,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might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TERRORISTS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FREEDOM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FIGHTERS</a:t>
            </a:r>
            <a:r>
              <a:rPr dirty="0" sz="1100" spc="-5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ts val="1295"/>
              </a:lnSpc>
            </a:pPr>
            <a:r>
              <a:rPr dirty="0" sz="1100" spc="-5">
                <a:latin typeface="Times New Roman"/>
                <a:cs typeface="Times New Roman"/>
              </a:rPr>
              <a:t>Another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example: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65"/>
              </a:lnSpc>
              <a:tabLst>
                <a:tab pos="926465" algn="l"/>
              </a:tabLst>
            </a:pPr>
            <a:r>
              <a:rPr dirty="0" u="sng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Negative	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There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are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over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2,000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vagrants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city.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65"/>
              </a:lnSpc>
              <a:tabLst>
                <a:tab pos="926465" algn="l"/>
              </a:tabLst>
            </a:pPr>
            <a:r>
              <a:rPr dirty="0" u="sng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Neutral	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There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are</a:t>
            </a:r>
            <a:r>
              <a:rPr dirty="0" u="sng" sz="110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over</a:t>
            </a:r>
            <a:r>
              <a:rPr dirty="0" u="sng" sz="110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2,000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people</a:t>
            </a:r>
            <a:r>
              <a:rPr dirty="0" u="sng" sz="1100" spc="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with</a:t>
            </a:r>
            <a:r>
              <a:rPr dirty="0" u="sng" sz="1100" spc="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no</a:t>
            </a:r>
            <a:r>
              <a:rPr dirty="0" u="sng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fixed</a:t>
            </a:r>
            <a:r>
              <a:rPr dirty="0" u="sng" sz="1100" spc="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address</a:t>
            </a:r>
            <a:r>
              <a:rPr dirty="0" u="sng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</a:t>
            </a:r>
            <a:r>
              <a:rPr dirty="0" u="sng" sz="1100" spc="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dirty="0" u="sng" sz="110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city.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95"/>
              </a:lnSpc>
              <a:tabLst>
                <a:tab pos="926465" algn="l"/>
              </a:tabLst>
            </a:pPr>
            <a:r>
              <a:rPr dirty="0" u="sng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Positive	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There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are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over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2,000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homeless</a:t>
            </a:r>
            <a:r>
              <a:rPr dirty="0" u="sng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city.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950">
              <a:latin typeface="Times New Roman"/>
              <a:cs typeface="Times New Roman"/>
            </a:endParaRPr>
          </a:p>
          <a:p>
            <a:pPr marL="12700">
              <a:lnSpc>
                <a:spcPts val="1295"/>
              </a:lnSpc>
            </a:pPr>
            <a:r>
              <a:rPr dirty="0" sz="1100" spc="-5" b="1">
                <a:latin typeface="Times New Roman"/>
                <a:cs typeface="Times New Roman"/>
              </a:rPr>
              <a:t>More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examples: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265"/>
              </a:lnSpc>
              <a:tabLst>
                <a:tab pos="1840864" algn="l"/>
                <a:tab pos="3422650" algn="l"/>
              </a:tabLst>
            </a:pP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Favorable	Neutral	Unfavorable</a:t>
            </a:r>
            <a:endParaRPr sz="1100">
              <a:latin typeface="Times New Roman"/>
              <a:cs typeface="Times New Roman"/>
            </a:endParaRPr>
          </a:p>
          <a:p>
            <a:pPr marL="469900" indent="-457834">
              <a:lnSpc>
                <a:spcPts val="1295"/>
              </a:lnSpc>
              <a:buAutoNum type="arabicPeriod"/>
              <a:tabLst>
                <a:tab pos="469900" algn="l"/>
                <a:tab pos="470534" algn="l"/>
                <a:tab pos="1841500" algn="l"/>
                <a:tab pos="3212465" algn="l"/>
              </a:tabLst>
            </a:pP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relaxed	inactive	lazy</a:t>
            </a:r>
            <a:endParaRPr sz="1100">
              <a:latin typeface="Times New Roman"/>
              <a:cs typeface="Times New Roman"/>
            </a:endParaRPr>
          </a:p>
          <a:p>
            <a:pPr marL="12700" marR="2320290">
              <a:lnSpc>
                <a:spcPct val="143600"/>
              </a:lnSpc>
              <a:buAutoNum type="arabicPeriod"/>
              <a:tabLst>
                <a:tab pos="469265" algn="l"/>
                <a:tab pos="469900" algn="l"/>
                <a:tab pos="1840230" algn="l"/>
                <a:tab pos="3212465" algn="l"/>
              </a:tabLst>
            </a:pP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prudent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1100" spc="-27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ti</a:t>
            </a:r>
            <a:r>
              <a:rPr dirty="0" u="sng" sz="1100" spc="-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id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cowardly 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3.	modest	shy	mousy</a:t>
            </a:r>
            <a:endParaRPr sz="1100">
              <a:latin typeface="Times New Roman"/>
              <a:cs typeface="Times New Roman"/>
            </a:endParaRPr>
          </a:p>
          <a:p>
            <a:pPr marL="469900" indent="-457834">
              <a:lnSpc>
                <a:spcPct val="100000"/>
              </a:lnSpc>
              <a:spcBef>
                <a:spcPts val="575"/>
              </a:spcBef>
              <a:buAutoNum type="arabicPeriod" startAt="4"/>
              <a:tabLst>
                <a:tab pos="469900" algn="l"/>
                <a:tab pos="470534" algn="l"/>
                <a:tab pos="1842135" algn="l"/>
                <a:tab pos="3213735" algn="l"/>
              </a:tabLst>
            </a:pP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time-tested	old	out-of-date</a:t>
            </a:r>
            <a:endParaRPr sz="1100">
              <a:latin typeface="Times New Roman"/>
              <a:cs typeface="Times New Roman"/>
            </a:endParaRPr>
          </a:p>
          <a:p>
            <a:pPr marL="12700" marR="1718310">
              <a:lnSpc>
                <a:spcPct val="143600"/>
              </a:lnSpc>
              <a:spcBef>
                <a:spcPts val="5"/>
              </a:spcBef>
              <a:buAutoNum type="arabicPeriod" startAt="4"/>
              <a:tabLst>
                <a:tab pos="469265" algn="l"/>
                <a:tab pos="470534" algn="l"/>
                <a:tab pos="1840864" algn="l"/>
                <a:tab pos="3213100" algn="l"/>
                <a:tab pos="3667760" algn="l"/>
              </a:tabLst>
            </a:pPr>
            <a:r>
              <a:rPr dirty="0" sz="1100" spc="-5">
                <a:latin typeface="Times New Roman"/>
                <a:cs typeface="Times New Roman"/>
              </a:rPr>
              <a:t>dignified</a:t>
            </a:r>
            <a:r>
              <a:rPr dirty="0" sz="1100" spc="-5">
                <a:latin typeface="Times New Roman"/>
                <a:cs typeface="Times New Roman"/>
              </a:rPr>
              <a:t>	</a:t>
            </a:r>
            <a:r>
              <a:rPr dirty="0" sz="1100" spc="-5">
                <a:latin typeface="Times New Roman"/>
                <a:cs typeface="Times New Roman"/>
              </a:rPr>
              <a:t>reserved</a:t>
            </a:r>
            <a:r>
              <a:rPr dirty="0" sz="1100" spc="-5">
                <a:latin typeface="Times New Roman"/>
                <a:cs typeface="Times New Roman"/>
              </a:rPr>
              <a:t>		</a:t>
            </a:r>
            <a:r>
              <a:rPr dirty="0" sz="1100" spc="-5">
                <a:latin typeface="Times New Roman"/>
                <a:cs typeface="Times New Roman"/>
              </a:rPr>
              <a:t>stiff-necked 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6.	persevering	persistent	stubborn</a:t>
            </a:r>
            <a:endParaRPr sz="1100">
              <a:latin typeface="Times New Roman"/>
              <a:cs typeface="Times New Roman"/>
            </a:endParaRPr>
          </a:p>
          <a:p>
            <a:pPr marL="12700" marR="2188845" indent="-635">
              <a:lnSpc>
                <a:spcPct val="143600"/>
              </a:lnSpc>
              <a:spcBef>
                <a:spcPts val="5"/>
              </a:spcBef>
              <a:tabLst>
                <a:tab pos="469265" algn="l"/>
                <a:tab pos="1840230" algn="l"/>
                <a:tab pos="3211830" algn="l"/>
              </a:tabLst>
            </a:pP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7.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up-to-date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ne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newfangled 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8.	thrifty	conservative	miserly</a:t>
            </a:r>
            <a:endParaRPr sz="1100">
              <a:latin typeface="Times New Roman"/>
              <a:cs typeface="Times New Roman"/>
            </a:endParaRPr>
          </a:p>
          <a:p>
            <a:pPr marL="12700" marR="2304415">
              <a:lnSpc>
                <a:spcPct val="143600"/>
              </a:lnSpc>
              <a:spcBef>
                <a:spcPts val="5"/>
              </a:spcBef>
              <a:tabLst>
                <a:tab pos="469265" algn="l"/>
                <a:tab pos="1841500" algn="l"/>
                <a:tab pos="3212465" algn="l"/>
              </a:tabLst>
            </a:pP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9.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self-confident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proud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conceited 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10.	inquisitive	curious	nosy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7380" y="342390"/>
            <a:ext cx="174498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 Elementary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84111" y="342390"/>
            <a:ext cx="22669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788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10019" y="9493248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28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400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257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27373" y="526796"/>
            <a:ext cx="6060440" cy="91566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267325">
              <a:lnSpc>
                <a:spcPct val="100000"/>
              </a:lnSpc>
              <a:spcBef>
                <a:spcPts val="95"/>
              </a:spcBef>
            </a:pP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LECTURE</a:t>
            </a:r>
            <a:r>
              <a:rPr dirty="0" u="heavy" sz="1100" spc="-6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9</a:t>
            </a:r>
            <a:endParaRPr sz="1100">
              <a:latin typeface="Times New Roman"/>
              <a:cs typeface="Times New Roman"/>
            </a:endParaRPr>
          </a:p>
          <a:p>
            <a:pPr marL="12700" marR="1480185" indent="1475105">
              <a:lnSpc>
                <a:spcPct val="191800"/>
              </a:lnSpc>
              <a:spcBef>
                <a:spcPts val="625"/>
              </a:spcBef>
            </a:pP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DICTIONARY-A</a:t>
            </a:r>
            <a:r>
              <a:rPr dirty="0" u="heavy" sz="1100" spc="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WRITER’S</a:t>
            </a:r>
            <a:r>
              <a:rPr dirty="0" u="heavy" sz="1100" spc="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LANGUAGE</a:t>
            </a:r>
            <a:r>
              <a:rPr dirty="0" u="heavy" sz="1100" spc="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TOOL </a:t>
            </a:r>
            <a:r>
              <a:rPr dirty="0" sz="1100" spc="-260" b="1">
                <a:latin typeface="Times New Roman"/>
                <a:cs typeface="Times New Roman"/>
              </a:rPr>
              <a:t> </a:t>
            </a:r>
            <a:r>
              <a:rPr dirty="0" sz="1100" spc="-10" b="1">
                <a:latin typeface="Times New Roman"/>
                <a:cs typeface="Times New Roman"/>
              </a:rPr>
              <a:t>TYPES</a:t>
            </a:r>
            <a:r>
              <a:rPr dirty="0" sz="1100" spc="-5" b="1">
                <a:latin typeface="Times New Roman"/>
                <a:cs typeface="Times New Roman"/>
              </a:rPr>
              <a:t> OF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DICTIONARIES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7373" y="1569199"/>
            <a:ext cx="164528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34085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Unabridged	dictionaries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55412" y="1569199"/>
            <a:ext cx="423227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91795" algn="l"/>
                <a:tab pos="1196975" algn="l"/>
                <a:tab pos="1730375" algn="l"/>
                <a:tab pos="2047239" algn="l"/>
                <a:tab pos="2713355" algn="l"/>
                <a:tab pos="3060700" algn="l"/>
                <a:tab pos="3834765" algn="l"/>
              </a:tabLst>
            </a:pPr>
            <a:r>
              <a:rPr dirty="0" sz="1100" spc="-5">
                <a:latin typeface="Times New Roman"/>
                <a:cs typeface="Times New Roman"/>
              </a:rPr>
              <a:t>are	commonly	found	in	libraries	on	dictionary	stands.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7373" y="1729980"/>
            <a:ext cx="207518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6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comprehensively</a:t>
            </a:r>
            <a:r>
              <a:rPr dirty="0" sz="1100" spc="6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cover</a:t>
            </a:r>
            <a:r>
              <a:rPr dirty="0" sz="1100" spc="6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7373" y="1729980"/>
            <a:ext cx="6061075" cy="353695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 indent="2169160">
              <a:lnSpc>
                <a:spcPts val="1270"/>
              </a:lnSpc>
              <a:spcBef>
                <a:spcPts val="180"/>
              </a:spcBef>
              <a:tabLst>
                <a:tab pos="640715" algn="l"/>
                <a:tab pos="1082675" algn="l"/>
                <a:tab pos="1586230" algn="l"/>
                <a:tab pos="2160270" algn="l"/>
                <a:tab pos="2857500" algn="l"/>
                <a:tab pos="3291840" algn="l"/>
                <a:tab pos="3796029" algn="l"/>
                <a:tab pos="4408170" algn="l"/>
                <a:tab pos="4796155" algn="l"/>
                <a:tab pos="5361305" algn="l"/>
              </a:tabLst>
            </a:pP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4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4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4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known</a:t>
            </a:r>
            <a:r>
              <a:rPr dirty="0" sz="1100" spc="4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</a:t>
            </a:r>
            <a:r>
              <a:rPr dirty="0" sz="1100" spc="4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4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time</a:t>
            </a:r>
            <a:r>
              <a:rPr dirty="0" sz="1100" spc="4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4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4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6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printed.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Check</a:t>
            </a:r>
            <a:r>
              <a:rPr dirty="0" sz="1100">
                <a:latin typeface="Times New Roman"/>
                <a:cs typeface="Times New Roman"/>
              </a:rPr>
              <a:t>	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	</a:t>
            </a:r>
            <a:r>
              <a:rPr dirty="0" sz="1100" spc="-5">
                <a:latin typeface="Times New Roman"/>
                <a:cs typeface="Times New Roman"/>
              </a:rPr>
              <a:t>date</a:t>
            </a:r>
            <a:r>
              <a:rPr dirty="0" sz="1100">
                <a:latin typeface="Times New Roman"/>
                <a:cs typeface="Times New Roman"/>
              </a:rPr>
              <a:t>	</a:t>
            </a:r>
            <a:r>
              <a:rPr dirty="0" sz="1100" spc="-5">
                <a:latin typeface="Times New Roman"/>
                <a:cs typeface="Times New Roman"/>
              </a:rPr>
              <a:t>when</a:t>
            </a:r>
            <a:r>
              <a:rPr dirty="0" sz="1100">
                <a:latin typeface="Times New Roman"/>
                <a:cs typeface="Times New Roman"/>
              </a:rPr>
              <a:t>	</a:t>
            </a:r>
            <a:r>
              <a:rPr dirty="0" sz="1100" spc="-5">
                <a:latin typeface="Times New Roman"/>
                <a:cs typeface="Times New Roman"/>
              </a:rPr>
              <a:t>look</a:t>
            </a:r>
            <a:r>
              <a:rPr dirty="0" sz="1100" spc="-10">
                <a:latin typeface="Times New Roman"/>
                <a:cs typeface="Times New Roman"/>
              </a:rPr>
              <a:t>i</a:t>
            </a:r>
            <a:r>
              <a:rPr dirty="0" sz="1100" spc="-5">
                <a:latin typeface="Times New Roman"/>
                <a:cs typeface="Times New Roman"/>
              </a:rPr>
              <a:t>ng</a:t>
            </a:r>
            <a:r>
              <a:rPr dirty="0" sz="1100">
                <a:latin typeface="Times New Roman"/>
                <a:cs typeface="Times New Roman"/>
              </a:rPr>
              <a:t>	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>
                <a:latin typeface="Times New Roman"/>
                <a:cs typeface="Times New Roman"/>
              </a:rPr>
              <a:t>	</a:t>
            </a:r>
            <a:r>
              <a:rPr dirty="0" sz="1100" spc="-5">
                <a:latin typeface="Times New Roman"/>
                <a:cs typeface="Times New Roman"/>
              </a:rPr>
              <a:t>new</a:t>
            </a:r>
            <a:r>
              <a:rPr dirty="0" sz="1100">
                <a:latin typeface="Times New Roman"/>
                <a:cs typeface="Times New Roman"/>
              </a:rPr>
              <a:t>	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>
                <a:latin typeface="Times New Roman"/>
                <a:cs typeface="Times New Roman"/>
              </a:rPr>
              <a:t>	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>
                <a:latin typeface="Times New Roman"/>
                <a:cs typeface="Times New Roman"/>
              </a:rPr>
              <a:t>	</a:t>
            </a:r>
            <a:r>
              <a:rPr dirty="0" sz="1100" spc="-5">
                <a:latin typeface="Times New Roman"/>
                <a:cs typeface="Times New Roman"/>
              </a:rPr>
              <a:t>s</a:t>
            </a:r>
            <a:r>
              <a:rPr dirty="0" sz="1100" spc="-15">
                <a:latin typeface="Times New Roman"/>
                <a:cs typeface="Times New Roman"/>
              </a:rPr>
              <a:t>l</a:t>
            </a:r>
            <a:r>
              <a:rPr dirty="0" sz="1100" spc="-5">
                <a:latin typeface="Times New Roman"/>
                <a:cs typeface="Times New Roman"/>
              </a:rPr>
              <a:t>ang</a:t>
            </a:r>
            <a:r>
              <a:rPr dirty="0" sz="1100">
                <a:latin typeface="Times New Roman"/>
                <a:cs typeface="Times New Roman"/>
              </a:rPr>
              <a:t>	</a:t>
            </a:r>
            <a:r>
              <a:rPr dirty="0" sz="1100" spc="-5">
                <a:latin typeface="Times New Roman"/>
                <a:cs typeface="Times New Roman"/>
              </a:rPr>
              <a:t>exp</a:t>
            </a:r>
            <a:r>
              <a:rPr dirty="0" sz="1100" spc="-15">
                <a:latin typeface="Times New Roman"/>
                <a:cs typeface="Times New Roman"/>
              </a:rPr>
              <a:t>r</a:t>
            </a:r>
            <a:r>
              <a:rPr dirty="0" sz="1100" spc="-5">
                <a:latin typeface="Times New Roman"/>
                <a:cs typeface="Times New Roman"/>
              </a:rPr>
              <a:t>essions.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27373" y="2051542"/>
            <a:ext cx="6061075" cy="25234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latin typeface="Times New Roman"/>
                <a:cs typeface="Times New Roman"/>
              </a:rPr>
              <a:t>Titles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unabridged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dictionaries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are: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50">
              <a:latin typeface="Times New Roman"/>
              <a:cs typeface="Times New Roman"/>
            </a:endParaRPr>
          </a:p>
          <a:p>
            <a:pPr marL="469900" indent="-229235">
              <a:lnSpc>
                <a:spcPct val="100000"/>
              </a:lnSpc>
              <a:buSzPct val="90909"/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00" spc="-5">
                <a:latin typeface="Times New Roman"/>
                <a:cs typeface="Times New Roman"/>
              </a:rPr>
              <a:t>Webster's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Third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New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International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Dictionary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(Ref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1625.W36)</a:t>
            </a:r>
            <a:endParaRPr sz="1100">
              <a:latin typeface="Times New Roman"/>
              <a:cs typeface="Times New Roman"/>
            </a:endParaRPr>
          </a:p>
          <a:p>
            <a:pPr marL="469900" indent="-229235">
              <a:lnSpc>
                <a:spcPct val="100000"/>
              </a:lnSpc>
              <a:spcBef>
                <a:spcPts val="585"/>
              </a:spcBef>
              <a:buSzPct val="90909"/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00" spc="-5">
                <a:latin typeface="Times New Roman"/>
                <a:cs typeface="Times New Roman"/>
              </a:rPr>
              <a:t>Random House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Dictionary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(Ref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1625.R3)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Symbol"/>
              <a:buChar char=""/>
            </a:pPr>
            <a:endParaRPr sz="1600">
              <a:latin typeface="Times New Roman"/>
              <a:cs typeface="Times New Roman"/>
            </a:endParaRPr>
          </a:p>
          <a:p>
            <a:pPr algn="just" marL="12700" marR="5080">
              <a:lnSpc>
                <a:spcPct val="95700"/>
              </a:lnSpc>
            </a:pPr>
            <a:r>
              <a:rPr dirty="0" sz="1100" spc="-5" b="1">
                <a:latin typeface="Times New Roman"/>
                <a:cs typeface="Times New Roman"/>
              </a:rPr>
              <a:t>An</a:t>
            </a:r>
            <a:r>
              <a:rPr dirty="0" sz="1100" spc="5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abridged</a:t>
            </a:r>
            <a:r>
              <a:rPr dirty="0" sz="1100" spc="5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dictionary</a:t>
            </a:r>
            <a:r>
              <a:rPr dirty="0" sz="1100" spc="7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has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been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shortened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by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including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only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most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common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vocabulary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 a group. For example, an abridged collegiate dictionary would have words needed by the average college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student.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Titles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abridged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dictionaries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are: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Times New Roman"/>
              <a:cs typeface="Times New Roman"/>
            </a:endParaRPr>
          </a:p>
          <a:p>
            <a:pPr marL="469900" indent="-229235">
              <a:lnSpc>
                <a:spcPct val="100000"/>
              </a:lnSpc>
              <a:buSzPct val="90909"/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00" spc="-5">
                <a:latin typeface="Times New Roman"/>
                <a:cs typeface="Times New Roman"/>
              </a:rPr>
              <a:t>Random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House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College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edition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(Ref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1625.R34)</a:t>
            </a:r>
            <a:endParaRPr sz="1100">
              <a:latin typeface="Times New Roman"/>
              <a:cs typeface="Times New Roman"/>
            </a:endParaRPr>
          </a:p>
          <a:p>
            <a:pPr marL="469900" indent="-229235">
              <a:lnSpc>
                <a:spcPct val="100000"/>
              </a:lnSpc>
              <a:spcBef>
                <a:spcPts val="580"/>
              </a:spcBef>
              <a:buSzPct val="90909"/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00" spc="-5">
                <a:latin typeface="Times New Roman"/>
                <a:cs typeface="Times New Roman"/>
              </a:rPr>
              <a:t>Webster's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Collegiate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Dictionary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(Ref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PE1628.M36)</a:t>
            </a:r>
            <a:endParaRPr sz="1100">
              <a:latin typeface="Times New Roman"/>
              <a:cs typeface="Times New Roman"/>
            </a:endParaRPr>
          </a:p>
          <a:p>
            <a:pPr marL="469900" indent="-229235">
              <a:lnSpc>
                <a:spcPct val="100000"/>
              </a:lnSpc>
              <a:spcBef>
                <a:spcPts val="575"/>
              </a:spcBef>
              <a:buSzPct val="90909"/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00" spc="-5">
                <a:latin typeface="Times New Roman"/>
                <a:cs typeface="Times New Roman"/>
              </a:rPr>
              <a:t>Funk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&amp;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Wagnalls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College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Dictionary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(Ref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1628.S586)</a:t>
            </a:r>
            <a:endParaRPr sz="1100">
              <a:latin typeface="Times New Roman"/>
              <a:cs typeface="Times New Roman"/>
            </a:endParaRPr>
          </a:p>
          <a:p>
            <a:pPr marL="469900" indent="-229235">
              <a:lnSpc>
                <a:spcPct val="100000"/>
              </a:lnSpc>
              <a:spcBef>
                <a:spcPts val="580"/>
              </a:spcBef>
              <a:buSzPct val="90909"/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00" spc="-5">
                <a:latin typeface="Times New Roman"/>
                <a:cs typeface="Times New Roman"/>
              </a:rPr>
              <a:t>American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Heritage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Dictionary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(Ref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1625.A54)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08540" y="4782563"/>
            <a:ext cx="462661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51535" algn="l"/>
                <a:tab pos="1745614" algn="l"/>
                <a:tab pos="2320290" algn="l"/>
                <a:tab pos="2771775" algn="l"/>
                <a:tab pos="3649979" algn="l"/>
                <a:tab pos="4046220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historical	dictionary	</a:t>
            </a:r>
            <a:r>
              <a:rPr dirty="0" sz="1100" spc="-5">
                <a:latin typeface="Times New Roman"/>
                <a:cs typeface="Times New Roman"/>
              </a:rPr>
              <a:t>gives	the	etymology	or	derivation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27378" y="4782563"/>
            <a:ext cx="5232400" cy="3530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29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A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90"/>
              </a:lnSpc>
              <a:tabLst>
                <a:tab pos="269240" algn="l"/>
                <a:tab pos="713740" algn="l"/>
                <a:tab pos="970915" algn="l"/>
                <a:tab pos="1297940" algn="l"/>
                <a:tab pos="1703070" algn="l"/>
                <a:tab pos="1975485" algn="l"/>
                <a:tab pos="2831465" algn="l"/>
                <a:tab pos="3228340" algn="l"/>
                <a:tab pos="3625215" algn="l"/>
                <a:tab pos="4044950" algn="l"/>
                <a:tab pos="4683760" algn="l"/>
              </a:tabLst>
            </a:pPr>
            <a:r>
              <a:rPr dirty="0" sz="1100" spc="-5">
                <a:latin typeface="Times New Roman"/>
                <a:cs typeface="Times New Roman"/>
              </a:rPr>
              <a:t>A	word	at	the	time	of	Shakespeare	may	now	have	different	meanings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889807" y="4782563"/>
            <a:ext cx="799465" cy="3530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r" marR="5715">
              <a:lnSpc>
                <a:spcPts val="1290"/>
              </a:lnSpc>
              <a:spcBef>
                <a:spcPts val="95"/>
              </a:spcBef>
              <a:tabLst>
                <a:tab pos="395605" algn="l"/>
              </a:tabLst>
            </a:pPr>
            <a:r>
              <a:rPr dirty="0" sz="1100" spc="-5">
                <a:latin typeface="Times New Roman"/>
                <a:cs typeface="Times New Roman"/>
              </a:rPr>
              <a:t>of	words.</a:t>
            </a:r>
            <a:endParaRPr sz="1100">
              <a:latin typeface="Times New Roman"/>
              <a:cs typeface="Times New Roman"/>
            </a:endParaRPr>
          </a:p>
          <a:p>
            <a:pPr algn="r" marR="5080">
              <a:lnSpc>
                <a:spcPts val="1290"/>
              </a:lnSpc>
              <a:tabLst>
                <a:tab pos="396875" algn="l"/>
              </a:tabLst>
            </a:pPr>
            <a:r>
              <a:rPr dirty="0" sz="1100" spc="-5">
                <a:latin typeface="Times New Roman"/>
                <a:cs typeface="Times New Roman"/>
              </a:rPr>
              <a:t>than	then.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27378" y="5103359"/>
            <a:ext cx="4674235" cy="9969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latin typeface="Times New Roman"/>
                <a:cs typeface="Times New Roman"/>
              </a:rPr>
              <a:t>Reading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historical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materials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require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using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specialized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dictionaries.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buSzPct val="90909"/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Oxford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Dictionary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(Ref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1625.O87)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580"/>
              </a:spcBef>
              <a:buSzPct val="90909"/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Dictionary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American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Historical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Principles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(Ref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2835.C7)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575"/>
              </a:spcBef>
              <a:buSzPct val="90909"/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Dictionary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Americanisms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Historical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Principles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(Ref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2835.D5)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355465" y="6308087"/>
            <a:ext cx="438531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073785" algn="l"/>
                <a:tab pos="2072005" algn="l"/>
                <a:tab pos="2862580" algn="l"/>
                <a:tab pos="3675379" algn="l"/>
                <a:tab pos="4201160" algn="l"/>
              </a:tabLst>
            </a:pPr>
            <a:r>
              <a:rPr dirty="0" sz="1100" spc="-5">
                <a:latin typeface="Times New Roman"/>
                <a:cs typeface="Times New Roman"/>
              </a:rPr>
              <a:t>dictionaries</a:t>
            </a:r>
            <a:r>
              <a:rPr dirty="0" sz="1100" spc="-5">
                <a:latin typeface="Times New Roman"/>
                <a:cs typeface="Times New Roman"/>
              </a:rPr>
              <a:t>	</a:t>
            </a:r>
            <a:r>
              <a:rPr dirty="0" sz="1100" spc="-5">
                <a:latin typeface="Times New Roman"/>
                <a:cs typeface="Times New Roman"/>
              </a:rPr>
              <a:t>e</a:t>
            </a:r>
            <a:r>
              <a:rPr dirty="0" sz="1100" spc="-15">
                <a:latin typeface="Times New Roman"/>
                <a:cs typeface="Times New Roman"/>
              </a:rPr>
              <a:t>m</a:t>
            </a:r>
            <a:r>
              <a:rPr dirty="0" sz="1100" spc="-5">
                <a:latin typeface="Times New Roman"/>
                <a:cs typeface="Times New Roman"/>
              </a:rPr>
              <a:t>p</a:t>
            </a:r>
            <a:r>
              <a:rPr dirty="0" sz="1100">
                <a:latin typeface="Times New Roman"/>
                <a:cs typeface="Times New Roman"/>
              </a:rPr>
              <a:t>h</a:t>
            </a:r>
            <a:r>
              <a:rPr dirty="0" sz="1100" spc="-5">
                <a:latin typeface="Times New Roman"/>
                <a:cs typeface="Times New Roman"/>
              </a:rPr>
              <a:t>asize</a:t>
            </a:r>
            <a:r>
              <a:rPr dirty="0" sz="1100">
                <a:latin typeface="Times New Roman"/>
                <a:cs typeface="Times New Roman"/>
              </a:rPr>
              <a:t>	</a:t>
            </a:r>
            <a:r>
              <a:rPr dirty="0" sz="1100" spc="-5">
                <a:latin typeface="Times New Roman"/>
                <a:cs typeface="Times New Roman"/>
              </a:rPr>
              <a:t>certain</a:t>
            </a:r>
            <a:r>
              <a:rPr dirty="0" sz="1100">
                <a:latin typeface="Times New Roman"/>
                <a:cs typeface="Times New Roman"/>
              </a:rPr>
              <a:t>	</a:t>
            </a:r>
            <a:r>
              <a:rPr dirty="0" sz="1100" spc="-5">
                <a:latin typeface="Times New Roman"/>
                <a:cs typeface="Times New Roman"/>
              </a:rPr>
              <a:t>aspects</a:t>
            </a:r>
            <a:r>
              <a:rPr dirty="0" sz="1100">
                <a:latin typeface="Times New Roman"/>
                <a:cs typeface="Times New Roman"/>
              </a:rPr>
              <a:t>	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	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94494" y="6468868"/>
            <a:ext cx="473456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10870" algn="l"/>
                <a:tab pos="1169670" algn="l"/>
                <a:tab pos="1954530" algn="l"/>
                <a:tab pos="2428875" algn="l"/>
                <a:tab pos="2802890" algn="l"/>
                <a:tab pos="3114040" algn="l"/>
                <a:tab pos="3377565" algn="l"/>
                <a:tab pos="4115435" algn="l"/>
                <a:tab pos="4612640" algn="l"/>
              </a:tabLst>
            </a:pPr>
            <a:r>
              <a:rPr dirty="0" sz="1100" spc="-5">
                <a:latin typeface="Times New Roman"/>
                <a:cs typeface="Times New Roman"/>
              </a:rPr>
              <a:t>includes</a:t>
            </a:r>
            <a:r>
              <a:rPr dirty="0" sz="1100" spc="-5">
                <a:latin typeface="Times New Roman"/>
                <a:cs typeface="Times New Roman"/>
              </a:rPr>
              <a:t>	</a:t>
            </a:r>
            <a:r>
              <a:rPr dirty="0" sz="1100" spc="-5">
                <a:latin typeface="Times New Roman"/>
                <a:cs typeface="Times New Roman"/>
              </a:rPr>
              <a:t>popular</a:t>
            </a:r>
            <a:r>
              <a:rPr dirty="0" sz="1100" spc="-5">
                <a:latin typeface="Times New Roman"/>
                <a:cs typeface="Times New Roman"/>
              </a:rPr>
              <a:t>	</a:t>
            </a:r>
            <a:r>
              <a:rPr dirty="0" sz="1100" spc="-5">
                <a:latin typeface="Times New Roman"/>
                <a:cs typeface="Times New Roman"/>
              </a:rPr>
              <a:t>expressions</a:t>
            </a:r>
            <a:r>
              <a:rPr dirty="0" sz="1100" spc="-5">
                <a:latin typeface="Times New Roman"/>
                <a:cs typeface="Times New Roman"/>
              </a:rPr>
              <a:t>	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 spc="-5">
                <a:latin typeface="Times New Roman"/>
                <a:cs typeface="Times New Roman"/>
              </a:rPr>
              <a:t>	</a:t>
            </a:r>
            <a:r>
              <a:rPr dirty="0" sz="1100" spc="-5">
                <a:latin typeface="Times New Roman"/>
                <a:cs typeface="Times New Roman"/>
              </a:rPr>
              <a:t>may</a:t>
            </a:r>
            <a:r>
              <a:rPr dirty="0" sz="1100" spc="-5">
                <a:latin typeface="Times New Roman"/>
                <a:cs typeface="Times New Roman"/>
              </a:rPr>
              <a:t>	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 spc="-5">
                <a:latin typeface="Times New Roman"/>
                <a:cs typeface="Times New Roman"/>
              </a:rPr>
              <a:t>	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	</a:t>
            </a:r>
            <a:r>
              <a:rPr dirty="0" sz="1100" spc="-5">
                <a:latin typeface="Times New Roman"/>
                <a:cs typeface="Times New Roman"/>
              </a:rPr>
              <a:t>considered</a:t>
            </a:r>
            <a:r>
              <a:rPr dirty="0" sz="1100" spc="-5">
                <a:latin typeface="Times New Roman"/>
                <a:cs typeface="Times New Roman"/>
              </a:rPr>
              <a:t>	</a:t>
            </a:r>
            <a:r>
              <a:rPr dirty="0" sz="1100" spc="-5">
                <a:latin typeface="Times New Roman"/>
                <a:cs typeface="Times New Roman"/>
              </a:rPr>
              <a:t>proper</a:t>
            </a:r>
            <a:r>
              <a:rPr dirty="0" sz="1100" spc="-5">
                <a:latin typeface="Times New Roman"/>
                <a:cs typeface="Times New Roman"/>
              </a:rPr>
              <a:t>	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27378" y="6308087"/>
            <a:ext cx="360045" cy="51435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algn="just" marL="12700" marR="5080">
              <a:lnSpc>
                <a:spcPts val="1270"/>
              </a:lnSpc>
              <a:spcBef>
                <a:spcPts val="180"/>
              </a:spcBef>
            </a:pPr>
            <a:r>
              <a:rPr dirty="0" sz="1100" spc="-5">
                <a:latin typeface="Times New Roman"/>
                <a:cs typeface="Times New Roman"/>
              </a:rPr>
              <a:t>Some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Slang  </a:t>
            </a:r>
            <a:r>
              <a:rPr dirty="0" sz="1100" spc="-5">
                <a:latin typeface="Times New Roman"/>
                <a:cs typeface="Times New Roman"/>
              </a:rPr>
              <a:t>Some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93620" y="6629650"/>
            <a:ext cx="429768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55955" algn="l"/>
                <a:tab pos="1243965" algn="l"/>
                <a:tab pos="1854835" algn="l"/>
                <a:tab pos="2595245" algn="l"/>
                <a:tab pos="3392804" algn="l"/>
                <a:tab pos="3857625" algn="l"/>
              </a:tabLst>
            </a:pPr>
            <a:r>
              <a:rPr dirty="0" sz="1100">
                <a:latin typeface="Times New Roman"/>
                <a:cs typeface="Times New Roman"/>
              </a:rPr>
              <a:t>slang	</a:t>
            </a:r>
            <a:r>
              <a:rPr dirty="0" sz="1100" spc="-5">
                <a:latin typeface="Times New Roman"/>
                <a:cs typeface="Times New Roman"/>
              </a:rPr>
              <a:t>may	have	vulgar,	obscene	or	profane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913730" y="6308087"/>
            <a:ext cx="775970" cy="51435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algn="just" marL="12700" marR="5080" indent="210185">
              <a:lnSpc>
                <a:spcPts val="1270"/>
              </a:lnSpc>
              <a:spcBef>
                <a:spcPts val="180"/>
              </a:spcBef>
            </a:pPr>
            <a:r>
              <a:rPr dirty="0" sz="1100" spc="-5">
                <a:latin typeface="Times New Roman"/>
                <a:cs typeface="Times New Roman"/>
              </a:rPr>
              <a:t>language.  </a:t>
            </a:r>
            <a:r>
              <a:rPr dirty="0" sz="1100" spc="-5">
                <a:latin typeface="Times New Roman"/>
                <a:cs typeface="Times New Roman"/>
              </a:rPr>
              <a:t>formal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use.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conno</a:t>
            </a:r>
            <a:r>
              <a:rPr dirty="0" sz="1100" spc="-10">
                <a:latin typeface="Times New Roman"/>
                <a:cs typeface="Times New Roman"/>
              </a:rPr>
              <a:t>t</a:t>
            </a:r>
            <a:r>
              <a:rPr dirty="0" sz="1100" spc="-5">
                <a:latin typeface="Times New Roman"/>
                <a:cs typeface="Times New Roman"/>
              </a:rPr>
              <a:t>ations.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27378" y="6790431"/>
            <a:ext cx="606044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academic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settings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formal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usually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does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include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slang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non-standard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forms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expression.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27378" y="6951212"/>
            <a:ext cx="1469390" cy="3530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290"/>
              </a:lnSpc>
              <a:spcBef>
                <a:spcPts val="95"/>
              </a:spcBef>
              <a:tabLst>
                <a:tab pos="617220" algn="l"/>
                <a:tab pos="1238885" algn="l"/>
              </a:tabLst>
            </a:pPr>
            <a:r>
              <a:rPr dirty="0" sz="1100" spc="-5">
                <a:latin typeface="Times New Roman"/>
                <a:cs typeface="Times New Roman"/>
              </a:rPr>
              <a:t>Usage</a:t>
            </a:r>
            <a:r>
              <a:rPr dirty="0" sz="1100" spc="-5">
                <a:latin typeface="Times New Roman"/>
                <a:cs typeface="Times New Roman"/>
              </a:rPr>
              <a:t>	</a:t>
            </a:r>
            <a:r>
              <a:rPr dirty="0" sz="1100" spc="-5">
                <a:latin typeface="Times New Roman"/>
                <a:cs typeface="Times New Roman"/>
              </a:rPr>
              <a:t>g</a:t>
            </a:r>
            <a:r>
              <a:rPr dirty="0" sz="1100">
                <a:latin typeface="Times New Roman"/>
                <a:cs typeface="Times New Roman"/>
              </a:rPr>
              <a:t>u</a:t>
            </a:r>
            <a:r>
              <a:rPr dirty="0" sz="1100" spc="-5">
                <a:latin typeface="Times New Roman"/>
                <a:cs typeface="Times New Roman"/>
              </a:rPr>
              <a:t>ides</a:t>
            </a:r>
            <a:r>
              <a:rPr dirty="0" sz="1100">
                <a:latin typeface="Times New Roman"/>
                <a:cs typeface="Times New Roman"/>
              </a:rPr>
              <a:t>	</a:t>
            </a:r>
            <a:r>
              <a:rPr dirty="0" sz="1100" spc="-5">
                <a:latin typeface="Times New Roman"/>
                <a:cs typeface="Times New Roman"/>
              </a:rPr>
              <a:t>will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90"/>
              </a:lnSpc>
              <a:tabLst>
                <a:tab pos="616585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A	thesaurus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317491" y="6951212"/>
            <a:ext cx="1821814" cy="353060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12700" marR="5080" indent="10160">
              <a:lnSpc>
                <a:spcPts val="1260"/>
              </a:lnSpc>
              <a:spcBef>
                <a:spcPts val="190"/>
              </a:spcBef>
              <a:tabLst>
                <a:tab pos="433705" algn="l"/>
                <a:tab pos="609600" algn="l"/>
                <a:tab pos="861694" algn="l"/>
                <a:tab pos="1174750" algn="l"/>
                <a:tab pos="1645920" algn="l"/>
              </a:tabLst>
            </a:pPr>
            <a:r>
              <a:rPr dirty="0" sz="1100" spc="-5">
                <a:latin typeface="Times New Roman"/>
                <a:cs typeface="Times New Roman"/>
              </a:rPr>
              <a:t>set</a:t>
            </a:r>
            <a:r>
              <a:rPr dirty="0" sz="1100" spc="-5">
                <a:latin typeface="Times New Roman"/>
                <a:cs typeface="Times New Roman"/>
              </a:rPr>
              <a:t>	</a:t>
            </a:r>
            <a:r>
              <a:rPr dirty="0" sz="1100" spc="-5">
                <a:latin typeface="Times New Roman"/>
                <a:cs typeface="Times New Roman"/>
              </a:rPr>
              <a:t>t</a:t>
            </a:r>
            <a:r>
              <a:rPr dirty="0" sz="1100">
                <a:latin typeface="Times New Roman"/>
                <a:cs typeface="Times New Roman"/>
              </a:rPr>
              <a:t>h</a:t>
            </a:r>
            <a:r>
              <a:rPr dirty="0" sz="1100" spc="-5">
                <a:latin typeface="Times New Roman"/>
                <a:cs typeface="Times New Roman"/>
              </a:rPr>
              <a:t>e</a:t>
            </a:r>
            <a:r>
              <a:rPr dirty="0" sz="1100">
                <a:latin typeface="Times New Roman"/>
                <a:cs typeface="Times New Roman"/>
              </a:rPr>
              <a:t>		</a:t>
            </a:r>
            <a:r>
              <a:rPr dirty="0" sz="1100" spc="-5">
                <a:latin typeface="Times New Roman"/>
                <a:cs typeface="Times New Roman"/>
              </a:rPr>
              <a:t>standa</a:t>
            </a:r>
            <a:r>
              <a:rPr dirty="0" sz="1100">
                <a:latin typeface="Times New Roman"/>
                <a:cs typeface="Times New Roman"/>
              </a:rPr>
              <a:t>r</a:t>
            </a:r>
            <a:r>
              <a:rPr dirty="0" sz="1100" spc="-5">
                <a:latin typeface="Times New Roman"/>
                <a:cs typeface="Times New Roman"/>
              </a:rPr>
              <a:t>d</a:t>
            </a:r>
            <a:r>
              <a:rPr dirty="0" sz="1100" spc="-5">
                <a:latin typeface="Times New Roman"/>
                <a:cs typeface="Times New Roman"/>
              </a:rPr>
              <a:t>s</a:t>
            </a:r>
            <a:r>
              <a:rPr dirty="0" sz="1100">
                <a:latin typeface="Times New Roman"/>
                <a:cs typeface="Times New Roman"/>
              </a:rPr>
              <a:t>	</a:t>
            </a:r>
            <a:r>
              <a:rPr dirty="0" sz="1100" spc="-5">
                <a:latin typeface="Times New Roman"/>
                <a:cs typeface="Times New Roman"/>
              </a:rPr>
              <a:t>for  </a:t>
            </a:r>
            <a:r>
              <a:rPr dirty="0" sz="1100" spc="-5">
                <a:latin typeface="Times New Roman"/>
                <a:cs typeface="Times New Roman"/>
              </a:rPr>
              <a:t>is		a		dictionary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369920" y="6951212"/>
            <a:ext cx="415290" cy="3530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r" marR="22860">
              <a:lnSpc>
                <a:spcPts val="1290"/>
              </a:lnSpc>
              <a:spcBef>
                <a:spcPts val="95"/>
              </a:spcBef>
            </a:pPr>
            <a:r>
              <a:rPr dirty="0" sz="1100" spc="-5">
                <a:latin typeface="Times New Roman"/>
                <a:cs typeface="Times New Roman"/>
              </a:rPr>
              <a:t>fo</a:t>
            </a:r>
            <a:r>
              <a:rPr dirty="0" sz="1100">
                <a:latin typeface="Times New Roman"/>
                <a:cs typeface="Times New Roman"/>
              </a:rPr>
              <a:t>r</a:t>
            </a:r>
            <a:r>
              <a:rPr dirty="0" sz="1100" spc="-15">
                <a:latin typeface="Times New Roman"/>
                <a:cs typeface="Times New Roman"/>
              </a:rPr>
              <a:t>m</a:t>
            </a:r>
            <a:r>
              <a:rPr dirty="0" sz="1100" spc="-5">
                <a:latin typeface="Times New Roman"/>
                <a:cs typeface="Times New Roman"/>
              </a:rPr>
              <a:t>al</a:t>
            </a:r>
            <a:endParaRPr sz="1100">
              <a:latin typeface="Times New Roman"/>
              <a:cs typeface="Times New Roman"/>
            </a:endParaRPr>
          </a:p>
          <a:p>
            <a:pPr algn="r" marR="5080">
              <a:lnSpc>
                <a:spcPts val="1290"/>
              </a:lnSpc>
            </a:pPr>
            <a:r>
              <a:rPr dirty="0" sz="1100" spc="-5">
                <a:latin typeface="Times New Roman"/>
                <a:cs typeface="Times New Roman"/>
              </a:rPr>
              <a:t>that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998564" y="6951212"/>
            <a:ext cx="1689735" cy="353060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277495" marR="5080" indent="-265430">
              <a:lnSpc>
                <a:spcPts val="1260"/>
              </a:lnSpc>
              <a:spcBef>
                <a:spcPts val="190"/>
              </a:spcBef>
              <a:tabLst>
                <a:tab pos="671830" algn="l"/>
                <a:tab pos="1043940" algn="l"/>
                <a:tab pos="1075055" algn="l"/>
              </a:tabLst>
            </a:pPr>
            <a:r>
              <a:rPr dirty="0" sz="1100" spc="-5">
                <a:latin typeface="Times New Roman"/>
                <a:cs typeface="Times New Roman"/>
              </a:rPr>
              <a:t>writing</a:t>
            </a:r>
            <a:r>
              <a:rPr dirty="0" sz="1100" spc="-5">
                <a:latin typeface="Times New Roman"/>
                <a:cs typeface="Times New Roman"/>
              </a:rPr>
              <a:t>	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-5">
                <a:latin typeface="Times New Roman"/>
                <a:cs typeface="Times New Roman"/>
              </a:rPr>
              <a:t>	</a:t>
            </a:r>
            <a:r>
              <a:rPr dirty="0" sz="1100" spc="-5">
                <a:latin typeface="Times New Roman"/>
                <a:cs typeface="Times New Roman"/>
              </a:rPr>
              <a:t>expression.  giv</a:t>
            </a:r>
            <a:r>
              <a:rPr dirty="0" sz="1100" spc="-15">
                <a:latin typeface="Times New Roman"/>
                <a:cs typeface="Times New Roman"/>
              </a:rPr>
              <a:t>e</a:t>
            </a:r>
            <a:r>
              <a:rPr dirty="0" sz="1100" spc="-5">
                <a:latin typeface="Times New Roman"/>
                <a:cs typeface="Times New Roman"/>
              </a:rPr>
              <a:t>s</a:t>
            </a:r>
            <a:r>
              <a:rPr dirty="0" sz="1100">
                <a:latin typeface="Times New Roman"/>
                <a:cs typeface="Times New Roman"/>
              </a:rPr>
              <a:t>			</a:t>
            </a:r>
            <a:r>
              <a:rPr dirty="0" sz="1100" spc="-5">
                <a:latin typeface="Times New Roman"/>
                <a:cs typeface="Times New Roman"/>
              </a:rPr>
              <a:t>s</a:t>
            </a:r>
            <a:r>
              <a:rPr dirty="0" sz="1100">
                <a:latin typeface="Times New Roman"/>
                <a:cs typeface="Times New Roman"/>
              </a:rPr>
              <a:t>y</a:t>
            </a:r>
            <a:r>
              <a:rPr dirty="0" sz="1100" spc="-10">
                <a:latin typeface="Times New Roman"/>
                <a:cs typeface="Times New Roman"/>
              </a:rPr>
              <a:t>n</a:t>
            </a:r>
            <a:r>
              <a:rPr dirty="0" sz="1100" spc="-5">
                <a:latin typeface="Times New Roman"/>
                <a:cs typeface="Times New Roman"/>
              </a:rPr>
              <a:t>o</a:t>
            </a:r>
            <a:r>
              <a:rPr dirty="0" sz="1100" spc="-10">
                <a:latin typeface="Times New Roman"/>
                <a:cs typeface="Times New Roman"/>
              </a:rPr>
              <a:t>n</a:t>
            </a:r>
            <a:r>
              <a:rPr dirty="0" sz="1100">
                <a:latin typeface="Times New Roman"/>
                <a:cs typeface="Times New Roman"/>
              </a:rPr>
              <a:t>y</a:t>
            </a:r>
            <a:r>
              <a:rPr dirty="0" sz="1100" spc="-15">
                <a:latin typeface="Times New Roman"/>
                <a:cs typeface="Times New Roman"/>
              </a:rPr>
              <a:t>m</a:t>
            </a:r>
            <a:r>
              <a:rPr dirty="0" sz="1100" spc="-10">
                <a:latin typeface="Times New Roman"/>
                <a:cs typeface="Times New Roman"/>
              </a:rPr>
              <a:t>s</a:t>
            </a:r>
            <a:r>
              <a:rPr dirty="0" sz="1100" spc="-5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27378" y="7433556"/>
            <a:ext cx="6061710" cy="995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>
              <a:lnSpc>
                <a:spcPts val="129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USING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DICTIONARY</a:t>
            </a:r>
            <a:endParaRPr sz="1100">
              <a:latin typeface="Times New Roman"/>
              <a:cs typeface="Times New Roman"/>
            </a:endParaRPr>
          </a:p>
          <a:p>
            <a:pPr algn="just" marL="12700" marR="5080">
              <a:lnSpc>
                <a:spcPct val="95800"/>
              </a:lnSpc>
              <a:spcBef>
                <a:spcPts val="25"/>
              </a:spcBef>
              <a:tabLst>
                <a:tab pos="933450" algn="l"/>
                <a:tab pos="1948180" algn="l"/>
                <a:tab pos="2885440" algn="l"/>
                <a:tab pos="3845560" algn="l"/>
                <a:tab pos="4867910" algn="l"/>
                <a:tab pos="5680075" algn="l"/>
              </a:tabLst>
            </a:pPr>
            <a:r>
              <a:rPr dirty="0" sz="1100" spc="-5">
                <a:latin typeface="Times New Roman"/>
                <a:cs typeface="Times New Roman"/>
              </a:rPr>
              <a:t>Remember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preliminary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pages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(first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pages)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often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explain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abbreviations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special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features.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E</a:t>
            </a:r>
            <a:r>
              <a:rPr dirty="0" sz="1100" spc="-5">
                <a:latin typeface="Times New Roman"/>
                <a:cs typeface="Times New Roman"/>
              </a:rPr>
              <a:t>nd</a:t>
            </a:r>
            <a:r>
              <a:rPr dirty="0" sz="1100">
                <a:latin typeface="Times New Roman"/>
                <a:cs typeface="Times New Roman"/>
              </a:rPr>
              <a:t>	</a:t>
            </a:r>
            <a:r>
              <a:rPr dirty="0" sz="1100" spc="-10">
                <a:latin typeface="Times New Roman"/>
                <a:cs typeface="Times New Roman"/>
              </a:rPr>
              <a:t>pa</a:t>
            </a:r>
            <a:r>
              <a:rPr dirty="0" sz="1100" spc="-5">
                <a:latin typeface="Times New Roman"/>
                <a:cs typeface="Times New Roman"/>
              </a:rPr>
              <a:t>g</a:t>
            </a:r>
            <a:r>
              <a:rPr dirty="0" sz="1100" spc="-10">
                <a:latin typeface="Times New Roman"/>
                <a:cs typeface="Times New Roman"/>
              </a:rPr>
              <a:t>e</a:t>
            </a:r>
            <a:r>
              <a:rPr dirty="0" sz="1100" spc="-5">
                <a:latin typeface="Times New Roman"/>
                <a:cs typeface="Times New Roman"/>
              </a:rPr>
              <a:t>s</a:t>
            </a:r>
            <a:r>
              <a:rPr dirty="0" sz="1100">
                <a:latin typeface="Times New Roman"/>
                <a:cs typeface="Times New Roman"/>
              </a:rPr>
              <a:t>	</a:t>
            </a:r>
            <a:r>
              <a:rPr dirty="0" sz="1100" spc="-10">
                <a:latin typeface="Times New Roman"/>
                <a:cs typeface="Times New Roman"/>
              </a:rPr>
              <a:t>ma</a:t>
            </a:r>
            <a:r>
              <a:rPr dirty="0" sz="1100" spc="-5">
                <a:latin typeface="Times New Roman"/>
                <a:cs typeface="Times New Roman"/>
              </a:rPr>
              <a:t>y</a:t>
            </a:r>
            <a:r>
              <a:rPr dirty="0" sz="1100">
                <a:latin typeface="Times New Roman"/>
                <a:cs typeface="Times New Roman"/>
              </a:rPr>
              <a:t>	</a:t>
            </a:r>
            <a:r>
              <a:rPr dirty="0" sz="1100" spc="-10">
                <a:latin typeface="Times New Roman"/>
                <a:cs typeface="Times New Roman"/>
              </a:rPr>
              <a:t>ha</a:t>
            </a:r>
            <a:r>
              <a:rPr dirty="0" sz="1100" spc="-5">
                <a:latin typeface="Times New Roman"/>
                <a:cs typeface="Times New Roman"/>
              </a:rPr>
              <a:t>ve</a:t>
            </a:r>
            <a:r>
              <a:rPr dirty="0" sz="1100">
                <a:latin typeface="Times New Roman"/>
                <a:cs typeface="Times New Roman"/>
              </a:rPr>
              <a:t>	</a:t>
            </a:r>
            <a:r>
              <a:rPr dirty="0" sz="1100" spc="-10">
                <a:latin typeface="Times New Roman"/>
                <a:cs typeface="Times New Roman"/>
              </a:rPr>
              <a:t>ta</a:t>
            </a:r>
            <a:r>
              <a:rPr dirty="0" sz="1100" spc="-5">
                <a:latin typeface="Times New Roman"/>
                <a:cs typeface="Times New Roman"/>
              </a:rPr>
              <a:t>bl</a:t>
            </a:r>
            <a:r>
              <a:rPr dirty="0" sz="1100" spc="-10">
                <a:latin typeface="Times New Roman"/>
                <a:cs typeface="Times New Roman"/>
              </a:rPr>
              <a:t>e</a:t>
            </a:r>
            <a:r>
              <a:rPr dirty="0" sz="1100" spc="-5">
                <a:latin typeface="Times New Roman"/>
                <a:cs typeface="Times New Roman"/>
              </a:rPr>
              <a:t>s</a:t>
            </a:r>
            <a:r>
              <a:rPr dirty="0" sz="1100">
                <a:latin typeface="Times New Roman"/>
                <a:cs typeface="Times New Roman"/>
              </a:rPr>
              <a:t>	</a:t>
            </a:r>
            <a:r>
              <a:rPr dirty="0" sz="1100" spc="-10">
                <a:latin typeface="Times New Roman"/>
                <a:cs typeface="Times New Roman"/>
              </a:rPr>
              <a:t>o</a:t>
            </a:r>
            <a:r>
              <a:rPr dirty="0" sz="1100" spc="-5">
                <a:latin typeface="Times New Roman"/>
                <a:cs typeface="Times New Roman"/>
              </a:rPr>
              <a:t>r</a:t>
            </a:r>
            <a:r>
              <a:rPr dirty="0" sz="1100">
                <a:latin typeface="Times New Roman"/>
                <a:cs typeface="Times New Roman"/>
              </a:rPr>
              <a:t>	</a:t>
            </a:r>
            <a:r>
              <a:rPr dirty="0" sz="1100" spc="-10">
                <a:latin typeface="Times New Roman"/>
                <a:cs typeface="Times New Roman"/>
              </a:rPr>
              <a:t>c</a:t>
            </a:r>
            <a:r>
              <a:rPr dirty="0" sz="1100" spc="-5">
                <a:latin typeface="Times New Roman"/>
                <a:cs typeface="Times New Roman"/>
              </a:rPr>
              <a:t>h</a:t>
            </a:r>
            <a:r>
              <a:rPr dirty="0" sz="1100" spc="-10">
                <a:latin typeface="Times New Roman"/>
                <a:cs typeface="Times New Roman"/>
              </a:rPr>
              <a:t>arts. 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auxiliary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pages</a:t>
            </a:r>
            <a:r>
              <a:rPr dirty="0" sz="1100" spc="3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(other</a:t>
            </a:r>
            <a:r>
              <a:rPr dirty="0" sz="1100" spc="3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pages)</a:t>
            </a:r>
            <a:r>
              <a:rPr dirty="0" sz="1100" spc="3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may</a:t>
            </a:r>
            <a:r>
              <a:rPr dirty="0" sz="1100" spc="3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also</a:t>
            </a:r>
            <a:r>
              <a:rPr dirty="0" sz="1100" spc="3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3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information,</a:t>
            </a:r>
            <a:r>
              <a:rPr dirty="0" sz="1100" spc="3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such</a:t>
            </a:r>
            <a:r>
              <a:rPr dirty="0" sz="1100" spc="3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3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3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list</a:t>
            </a:r>
            <a:r>
              <a:rPr dirty="0" sz="1100" spc="3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3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colleges</a:t>
            </a:r>
            <a:r>
              <a:rPr dirty="0" sz="1100" spc="3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3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cities.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265">
                <a:latin typeface="Times New Roman"/>
                <a:cs typeface="Times New Roman"/>
              </a:rPr>
              <a:t>   </a:t>
            </a:r>
            <a:r>
              <a:rPr dirty="0" sz="1100" spc="2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separate</a:t>
            </a:r>
            <a:r>
              <a:rPr dirty="0" sz="1100" spc="265">
                <a:latin typeface="Times New Roman"/>
                <a:cs typeface="Times New Roman"/>
              </a:rPr>
              <a:t>   </a:t>
            </a:r>
            <a:r>
              <a:rPr dirty="0" sz="1100" spc="2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appendix</a:t>
            </a:r>
            <a:r>
              <a:rPr dirty="0" sz="1100" spc="265">
                <a:latin typeface="Times New Roman"/>
                <a:cs typeface="Times New Roman"/>
              </a:rPr>
              <a:t>   </a:t>
            </a:r>
            <a:r>
              <a:rPr dirty="0" sz="1100" spc="27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may</a:t>
            </a:r>
            <a:r>
              <a:rPr dirty="0" sz="1100" spc="254">
                <a:latin typeface="Times New Roman"/>
                <a:cs typeface="Times New Roman"/>
              </a:rPr>
              <a:t>   </a:t>
            </a:r>
            <a:r>
              <a:rPr dirty="0" sz="1100" spc="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give</a:t>
            </a:r>
            <a:r>
              <a:rPr dirty="0" sz="1100" spc="265">
                <a:latin typeface="Times New Roman"/>
                <a:cs typeface="Times New Roman"/>
              </a:rPr>
              <a:t>   </a:t>
            </a:r>
            <a:r>
              <a:rPr dirty="0" sz="1100" spc="2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geographical</a:t>
            </a:r>
            <a:r>
              <a:rPr dirty="0" sz="1100" spc="330">
                <a:latin typeface="Times New Roman"/>
                <a:cs typeface="Times New Roman"/>
              </a:rPr>
              <a:t>   </a:t>
            </a:r>
            <a:r>
              <a:rPr dirty="0" sz="1100" spc="3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330">
                <a:latin typeface="Times New Roman"/>
                <a:cs typeface="Times New Roman"/>
              </a:rPr>
              <a:t>   </a:t>
            </a:r>
            <a:r>
              <a:rPr dirty="0" sz="1100" spc="3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biographical</a:t>
            </a:r>
            <a:r>
              <a:rPr dirty="0" sz="1100" spc="330">
                <a:latin typeface="Times New Roman"/>
                <a:cs typeface="Times New Roman"/>
              </a:rPr>
              <a:t>   </a:t>
            </a:r>
            <a:r>
              <a:rPr dirty="0" sz="1100" spc="3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entries.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table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contents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list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illustrations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help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locate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information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preliminary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auxiliary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27378" y="8396709"/>
            <a:ext cx="5387975" cy="6743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295"/>
              </a:lnSpc>
              <a:spcBef>
                <a:spcPts val="95"/>
              </a:spcBef>
            </a:pPr>
            <a:r>
              <a:rPr dirty="0" sz="1100" spc="-5">
                <a:latin typeface="Times New Roman"/>
                <a:cs typeface="Times New Roman"/>
              </a:rPr>
              <a:t>pages.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65"/>
              </a:lnSpc>
            </a:pPr>
            <a:r>
              <a:rPr dirty="0" sz="1100" spc="-5">
                <a:latin typeface="Times New Roman"/>
                <a:cs typeface="Times New Roman"/>
              </a:rPr>
              <a:t>Especially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school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textbooks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may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vocabulary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glossary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section.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ts val="1260"/>
              </a:lnSpc>
              <a:spcBef>
                <a:spcPts val="65"/>
              </a:spcBef>
            </a:pPr>
            <a:r>
              <a:rPr dirty="0" sz="1100" spc="-5">
                <a:latin typeface="Times New Roman"/>
                <a:cs typeface="Times New Roman"/>
              </a:rPr>
              <a:t>Glossary</a:t>
            </a:r>
            <a:r>
              <a:rPr dirty="0" sz="1100" spc="43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4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4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list</a:t>
            </a:r>
            <a:r>
              <a:rPr dirty="0" sz="1100" spc="6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6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technical</a:t>
            </a:r>
            <a:r>
              <a:rPr dirty="0" sz="1100" spc="6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7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6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expressions</a:t>
            </a:r>
            <a:r>
              <a:rPr dirty="0" sz="1100" spc="6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used</a:t>
            </a:r>
            <a:r>
              <a:rPr dirty="0" sz="1100" spc="6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7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6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field</a:t>
            </a:r>
            <a:r>
              <a:rPr dirty="0" sz="1100" spc="6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6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mentioned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before,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appendix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auxiliary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sections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books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may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contain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glossary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section.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112330" y="8718272"/>
            <a:ext cx="57721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6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book.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27378" y="9039067"/>
            <a:ext cx="538353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56944" algn="l"/>
                <a:tab pos="1598930" algn="l"/>
                <a:tab pos="2132330" algn="l"/>
                <a:tab pos="2915285" algn="l"/>
                <a:tab pos="3324860" algn="l"/>
                <a:tab pos="4184650" algn="l"/>
                <a:tab pos="4695190" algn="l"/>
              </a:tabLst>
            </a:pPr>
            <a:r>
              <a:rPr dirty="0" sz="1100" spc="-5">
                <a:latin typeface="Times New Roman"/>
                <a:cs typeface="Times New Roman"/>
              </a:rPr>
              <a:t>Dictionary	order	has	become	a	synonym	for	alphabetical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332587" y="9039067"/>
            <a:ext cx="35560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latin typeface="Times New Roman"/>
                <a:cs typeface="Times New Roman"/>
              </a:rPr>
              <a:t>order.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4580" y="342390"/>
            <a:ext cx="608330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869305" algn="l"/>
              </a:tabLst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l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</a:t>
            </a:r>
            <a:r>
              <a:rPr dirty="0" sz="1100" spc="-15">
                <a:solidFill>
                  <a:srgbClr val="323232"/>
                </a:solidFill>
                <a:latin typeface="Times New Roman"/>
                <a:cs typeface="Times New Roman"/>
              </a:rPr>
              <a:t>m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entary</a:t>
            </a:r>
            <a:r>
              <a:rPr dirty="0" sz="1100" spc="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g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lish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360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67219" y="9493248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29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972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829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084580" y="686819"/>
            <a:ext cx="6061075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29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KINDS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OF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INFORMATION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ts val="1260"/>
              </a:lnSpc>
              <a:spcBef>
                <a:spcPts val="65"/>
              </a:spcBef>
            </a:pPr>
            <a:r>
              <a:rPr dirty="0" sz="1100" spc="-5">
                <a:latin typeface="Times New Roman"/>
                <a:cs typeface="Times New Roman"/>
              </a:rPr>
              <a:t>Elementary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students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often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tested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ability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dictionaries.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Team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games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develop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skill with: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13180" y="1094944"/>
            <a:ext cx="1258570" cy="195326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675"/>
              </a:spcBef>
              <a:buSzPct val="90909"/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alphabetical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order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SzPct val="90909"/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guide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85"/>
              </a:spcBef>
              <a:buSzPct val="90909"/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pronunciation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SzPct val="90909"/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syllabication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SzPct val="90909"/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derivation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SzPct val="90909"/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etymology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85"/>
              </a:spcBef>
              <a:buSzPct val="90909"/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synonyms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SzPct val="90909"/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antonyms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84578" y="3256276"/>
            <a:ext cx="6061710" cy="26022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latin typeface="Times New Roman"/>
                <a:cs typeface="Times New Roman"/>
              </a:rPr>
              <a:t>Guide</a:t>
            </a:r>
            <a:r>
              <a:rPr dirty="0" sz="1100" spc="3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3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3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placed</a:t>
            </a:r>
            <a:r>
              <a:rPr dirty="0" sz="1100" spc="3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</a:t>
            </a:r>
            <a:r>
              <a:rPr dirty="0" sz="1100" spc="3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3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</a:t>
            </a:r>
            <a:r>
              <a:rPr dirty="0" sz="1100" spc="3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3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3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page</a:t>
            </a:r>
            <a:r>
              <a:rPr dirty="0" sz="1100" spc="3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3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help</a:t>
            </a:r>
            <a:r>
              <a:rPr dirty="0" sz="1100" spc="3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3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user</a:t>
            </a:r>
            <a:r>
              <a:rPr dirty="0" sz="1100" spc="3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find</a:t>
            </a:r>
            <a:r>
              <a:rPr dirty="0" sz="1100" spc="3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3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correct</a:t>
            </a:r>
            <a:r>
              <a:rPr dirty="0" sz="1100" spc="3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page</a:t>
            </a:r>
            <a:r>
              <a:rPr dirty="0" sz="1100" spc="3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alphabetically.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 marR="5080" indent="-635">
              <a:lnSpc>
                <a:spcPts val="1270"/>
              </a:lnSpc>
              <a:tabLst>
                <a:tab pos="507365" algn="l"/>
                <a:tab pos="1459230" algn="l"/>
                <a:tab pos="1946910" algn="l"/>
                <a:tab pos="2418715" algn="l"/>
                <a:tab pos="3300729" algn="l"/>
                <a:tab pos="3694429" algn="l"/>
                <a:tab pos="4281170" algn="l"/>
                <a:tab pos="4629150" algn="l"/>
                <a:tab pos="5231130" algn="l"/>
                <a:tab pos="5663565" algn="l"/>
              </a:tabLst>
            </a:pPr>
            <a:r>
              <a:rPr dirty="0" sz="1100" spc="-5">
                <a:latin typeface="Times New Roman"/>
                <a:cs typeface="Times New Roman"/>
              </a:rPr>
              <a:t>Pronunciation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involves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using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various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symbols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represent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sounds.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News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broadcasting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organizations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>
                <a:latin typeface="Times New Roman"/>
                <a:cs typeface="Times New Roman"/>
              </a:rPr>
              <a:t>	</a:t>
            </a:r>
            <a:r>
              <a:rPr dirty="0" sz="1100" spc="-5">
                <a:latin typeface="Times New Roman"/>
                <a:cs typeface="Times New Roman"/>
              </a:rPr>
              <a:t>develop</a:t>
            </a:r>
            <a:r>
              <a:rPr dirty="0" sz="1100" spc="-15">
                <a:latin typeface="Times New Roman"/>
                <a:cs typeface="Times New Roman"/>
              </a:rPr>
              <a:t>m</a:t>
            </a:r>
            <a:r>
              <a:rPr dirty="0" sz="1100" spc="-5">
                <a:latin typeface="Times New Roman"/>
                <a:cs typeface="Times New Roman"/>
              </a:rPr>
              <a:t>ent</a:t>
            </a:r>
            <a:r>
              <a:rPr dirty="0" sz="1100">
                <a:latin typeface="Times New Roman"/>
                <a:cs typeface="Times New Roman"/>
              </a:rPr>
              <a:t>	</a:t>
            </a:r>
            <a:r>
              <a:rPr dirty="0" sz="1100">
                <a:latin typeface="Times New Roman"/>
                <a:cs typeface="Times New Roman"/>
              </a:rPr>
              <a:t>t</a:t>
            </a:r>
            <a:r>
              <a:rPr dirty="0" sz="1100" spc="-5">
                <a:latin typeface="Times New Roman"/>
                <a:cs typeface="Times New Roman"/>
              </a:rPr>
              <a:t>heir</a:t>
            </a:r>
            <a:r>
              <a:rPr dirty="0" sz="1100">
                <a:latin typeface="Times New Roman"/>
                <a:cs typeface="Times New Roman"/>
              </a:rPr>
              <a:t>	</a:t>
            </a:r>
            <a:r>
              <a:rPr dirty="0" sz="1100" spc="-5">
                <a:latin typeface="Times New Roman"/>
                <a:cs typeface="Times New Roman"/>
              </a:rPr>
              <a:t>own</a:t>
            </a:r>
            <a:r>
              <a:rPr dirty="0" sz="1100">
                <a:latin typeface="Times New Roman"/>
                <a:cs typeface="Times New Roman"/>
              </a:rPr>
              <a:t>	</a:t>
            </a:r>
            <a:r>
              <a:rPr dirty="0" sz="1100" spc="-5">
                <a:latin typeface="Times New Roman"/>
                <a:cs typeface="Times New Roman"/>
              </a:rPr>
              <a:t>diction</a:t>
            </a:r>
            <a:r>
              <a:rPr dirty="0" sz="1100" spc="-15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ries</a:t>
            </a:r>
            <a:r>
              <a:rPr dirty="0" sz="1100">
                <a:latin typeface="Times New Roman"/>
                <a:cs typeface="Times New Roman"/>
              </a:rPr>
              <a:t>	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>
                <a:latin typeface="Times New Roman"/>
                <a:cs typeface="Times New Roman"/>
              </a:rPr>
              <a:t>	</a:t>
            </a:r>
            <a:r>
              <a:rPr dirty="0" sz="1100" spc="-5">
                <a:latin typeface="Times New Roman"/>
                <a:cs typeface="Times New Roman"/>
              </a:rPr>
              <a:t>na</a:t>
            </a:r>
            <a:r>
              <a:rPr dirty="0" sz="1100" spc="-15">
                <a:latin typeface="Times New Roman"/>
                <a:cs typeface="Times New Roman"/>
              </a:rPr>
              <a:t>m</a:t>
            </a:r>
            <a:r>
              <a:rPr dirty="0" sz="1100" spc="-5">
                <a:latin typeface="Times New Roman"/>
                <a:cs typeface="Times New Roman"/>
              </a:rPr>
              <a:t>es</a:t>
            </a:r>
            <a:r>
              <a:rPr dirty="0" sz="1100">
                <a:latin typeface="Times New Roman"/>
                <a:cs typeface="Times New Roman"/>
              </a:rPr>
              <a:t>	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	</a:t>
            </a:r>
            <a:r>
              <a:rPr dirty="0" sz="1100" spc="-5">
                <a:latin typeface="Times New Roman"/>
                <a:cs typeface="Times New Roman"/>
              </a:rPr>
              <a:t>people</a:t>
            </a:r>
            <a:r>
              <a:rPr dirty="0" sz="1100">
                <a:latin typeface="Times New Roman"/>
                <a:cs typeface="Times New Roman"/>
              </a:rPr>
              <a:t>	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	</a:t>
            </a:r>
            <a:r>
              <a:rPr dirty="0" sz="1100" spc="-5">
                <a:latin typeface="Times New Roman"/>
                <a:cs typeface="Times New Roman"/>
              </a:rPr>
              <a:t>places.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Syllabication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shows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how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divided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separated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print.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ts val="1260"/>
              </a:lnSpc>
              <a:tabLst>
                <a:tab pos="907415" algn="l"/>
                <a:tab pos="1530985" algn="l"/>
                <a:tab pos="2099945" algn="l"/>
                <a:tab pos="2622550" algn="l"/>
                <a:tab pos="3260725" algn="l"/>
                <a:tab pos="3729354" algn="l"/>
                <a:tab pos="4281805" algn="l"/>
                <a:tab pos="4687570" algn="l"/>
                <a:tab pos="5256530" algn="l"/>
                <a:tab pos="5725160" algn="l"/>
              </a:tabLst>
            </a:pPr>
            <a:r>
              <a:rPr dirty="0" sz="1100" spc="-5">
                <a:latin typeface="Times New Roman"/>
                <a:cs typeface="Times New Roman"/>
              </a:rPr>
              <a:t>Derivation</a:t>
            </a:r>
            <a:r>
              <a:rPr dirty="0" sz="1100" spc="-5">
                <a:latin typeface="Times New Roman"/>
                <a:cs typeface="Times New Roman"/>
              </a:rPr>
              <a:t>	</a:t>
            </a:r>
            <a:r>
              <a:rPr dirty="0" sz="1100" spc="-5">
                <a:latin typeface="Times New Roman"/>
                <a:cs typeface="Times New Roman"/>
              </a:rPr>
              <a:t>traces</a:t>
            </a:r>
            <a:r>
              <a:rPr dirty="0" sz="1100" spc="-5">
                <a:latin typeface="Times New Roman"/>
                <a:cs typeface="Times New Roman"/>
              </a:rPr>
              <a:t>	</a:t>
            </a: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 spc="-5">
                <a:latin typeface="Times New Roman"/>
                <a:cs typeface="Times New Roman"/>
              </a:rPr>
              <a:t>	</a:t>
            </a:r>
            <a:r>
              <a:rPr dirty="0" sz="1100" spc="-5">
                <a:latin typeface="Times New Roman"/>
                <a:cs typeface="Times New Roman"/>
              </a:rPr>
              <a:t>root</a:t>
            </a:r>
            <a:r>
              <a:rPr dirty="0" sz="1100" spc="-5">
                <a:latin typeface="Times New Roman"/>
                <a:cs typeface="Times New Roman"/>
              </a:rPr>
              <a:t>	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-5">
                <a:latin typeface="Times New Roman"/>
                <a:cs typeface="Times New Roman"/>
              </a:rPr>
              <a:t>	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-5">
                <a:latin typeface="Times New Roman"/>
                <a:cs typeface="Times New Roman"/>
              </a:rPr>
              <a:t>	</a:t>
            </a:r>
            <a:r>
              <a:rPr dirty="0" sz="1100" spc="-5">
                <a:latin typeface="Times New Roman"/>
                <a:cs typeface="Times New Roman"/>
              </a:rPr>
              <a:t>used</a:t>
            </a:r>
            <a:r>
              <a:rPr dirty="0" sz="1100" spc="-5">
                <a:latin typeface="Times New Roman"/>
                <a:cs typeface="Times New Roman"/>
              </a:rPr>
              <a:t>	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5">
                <a:latin typeface="Times New Roman"/>
                <a:cs typeface="Times New Roman"/>
              </a:rPr>
              <a:t>	</a:t>
            </a:r>
            <a:r>
              <a:rPr dirty="0" sz="1100" spc="-5">
                <a:latin typeface="Times New Roman"/>
                <a:cs typeface="Times New Roman"/>
              </a:rPr>
              <a:t>fo</a:t>
            </a:r>
            <a:r>
              <a:rPr dirty="0" sz="1100">
                <a:latin typeface="Times New Roman"/>
                <a:cs typeface="Times New Roman"/>
              </a:rPr>
              <a:t>r</a:t>
            </a:r>
            <a:r>
              <a:rPr dirty="0" sz="1100" spc="-5">
                <a:latin typeface="Times New Roman"/>
                <a:cs typeface="Times New Roman"/>
              </a:rPr>
              <a:t>m</a:t>
            </a:r>
            <a:r>
              <a:rPr dirty="0" sz="1100">
                <a:latin typeface="Times New Roman"/>
                <a:cs typeface="Times New Roman"/>
              </a:rPr>
              <a:t>	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	</a:t>
            </a:r>
            <a:r>
              <a:rPr dirty="0" sz="1100" spc="-5">
                <a:latin typeface="Times New Roman"/>
                <a:cs typeface="Times New Roman"/>
              </a:rPr>
              <a:t>word.  </a:t>
            </a:r>
            <a:r>
              <a:rPr dirty="0" sz="1100" spc="-5">
                <a:latin typeface="Times New Roman"/>
                <a:cs typeface="Times New Roman"/>
              </a:rPr>
              <a:t>Understanding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from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comes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helps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explain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differences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phonetic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rules.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ts val="1270"/>
              </a:lnSpc>
            </a:pPr>
            <a:r>
              <a:rPr dirty="0" sz="1100" spc="-5">
                <a:latin typeface="Times New Roman"/>
                <a:cs typeface="Times New Roman"/>
              </a:rPr>
              <a:t>"Goethe"</a:t>
            </a:r>
            <a:r>
              <a:rPr dirty="0" sz="1100" spc="2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may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 spc="2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seem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pronounced</a:t>
            </a:r>
            <a:r>
              <a:rPr dirty="0" sz="1100" spc="2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way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spelled</a:t>
            </a:r>
            <a:r>
              <a:rPr dirty="0" sz="1100" spc="2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except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those</a:t>
            </a:r>
            <a:r>
              <a:rPr dirty="0" sz="1100" spc="2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who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understand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German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result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many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cultures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from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drawn.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 marR="5715">
              <a:lnSpc>
                <a:spcPts val="127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Etymology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study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word's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history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including</a:t>
            </a:r>
            <a:r>
              <a:rPr dirty="0" sz="1100" spc="2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both</a:t>
            </a:r>
            <a:r>
              <a:rPr dirty="0" sz="1100" spc="2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derivation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2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how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word's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usage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changed.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30"/>
              </a:lnSpc>
            </a:pPr>
            <a:r>
              <a:rPr dirty="0" sz="1100" spc="-5">
                <a:latin typeface="Times New Roman"/>
                <a:cs typeface="Times New Roman"/>
              </a:rPr>
              <a:t>Usage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reflects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how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unique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ways.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84592" y="5987256"/>
            <a:ext cx="1102995" cy="513715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12700" marR="5080">
              <a:lnSpc>
                <a:spcPct val="95700"/>
              </a:lnSpc>
              <a:spcBef>
                <a:spcPts val="155"/>
              </a:spcBef>
              <a:tabLst>
                <a:tab pos="701040" algn="l"/>
                <a:tab pos="854710" algn="l"/>
              </a:tabLst>
            </a:pPr>
            <a:r>
              <a:rPr dirty="0" sz="1100" spc="-5">
                <a:latin typeface="Times New Roman"/>
                <a:cs typeface="Times New Roman"/>
              </a:rPr>
              <a:t>Meaning		or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Synonyms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anton</a:t>
            </a:r>
            <a:r>
              <a:rPr dirty="0" sz="1100">
                <a:latin typeface="Times New Roman"/>
                <a:cs typeface="Times New Roman"/>
              </a:rPr>
              <a:t>y</a:t>
            </a:r>
            <a:r>
              <a:rPr dirty="0" sz="1100" spc="-15">
                <a:latin typeface="Times New Roman"/>
                <a:cs typeface="Times New Roman"/>
              </a:rPr>
              <a:t>m</a:t>
            </a:r>
            <a:r>
              <a:rPr dirty="0" sz="1100" spc="-5">
                <a:latin typeface="Times New Roman"/>
                <a:cs typeface="Times New Roman"/>
              </a:rPr>
              <a:t>s</a:t>
            </a:r>
            <a:r>
              <a:rPr dirty="0" sz="1100">
                <a:latin typeface="Times New Roman"/>
                <a:cs typeface="Times New Roman"/>
              </a:rPr>
              <a:t>	</a:t>
            </a:r>
            <a:r>
              <a:rPr dirty="0" sz="1100">
                <a:latin typeface="Times New Roman"/>
                <a:cs typeface="Times New Roman"/>
              </a:rPr>
              <a:t>(</a:t>
            </a:r>
            <a:r>
              <a:rPr dirty="0" sz="1100" spc="-10">
                <a:latin typeface="Times New Roman"/>
                <a:cs typeface="Times New Roman"/>
              </a:rPr>
              <a:t>w</a:t>
            </a:r>
            <a:r>
              <a:rPr dirty="0" sz="1100" spc="-5">
                <a:latin typeface="Times New Roman"/>
                <a:cs typeface="Times New Roman"/>
              </a:rPr>
              <a:t>ords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77624" y="5987256"/>
            <a:ext cx="680720" cy="513715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12700" marR="5080" indent="110489">
              <a:lnSpc>
                <a:spcPct val="95700"/>
              </a:lnSpc>
              <a:spcBef>
                <a:spcPts val="155"/>
              </a:spcBef>
              <a:tabLst>
                <a:tab pos="407034" algn="l"/>
              </a:tabLst>
            </a:pPr>
            <a:r>
              <a:rPr dirty="0" sz="1100" spc="-5">
                <a:latin typeface="Times New Roman"/>
                <a:cs typeface="Times New Roman"/>
              </a:rPr>
              <a:t>definition  </a:t>
            </a:r>
            <a:r>
              <a:rPr dirty="0" sz="1100" spc="-5">
                <a:latin typeface="Times New Roman"/>
                <a:cs typeface="Times New Roman"/>
              </a:rPr>
              <a:t>(words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	the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269462" y="5987256"/>
            <a:ext cx="274320" cy="353695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 indent="7620">
              <a:lnSpc>
                <a:spcPts val="1270"/>
              </a:lnSpc>
              <a:spcBef>
                <a:spcPts val="180"/>
              </a:spcBef>
            </a:pPr>
            <a:r>
              <a:rPr dirty="0" sz="1100" spc="-5">
                <a:latin typeface="Times New Roman"/>
                <a:cs typeface="Times New Roman"/>
              </a:rPr>
              <a:t>is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16185" y="5987256"/>
            <a:ext cx="1029969" cy="3536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ts val="1295"/>
              </a:lnSpc>
              <a:spcBef>
                <a:spcPts val="95"/>
              </a:spcBef>
              <a:tabLst>
                <a:tab pos="887730" algn="l"/>
              </a:tabLst>
            </a:pPr>
            <a:r>
              <a:rPr dirty="0" sz="1100" spc="-5">
                <a:latin typeface="Times New Roman"/>
                <a:cs typeface="Times New Roman"/>
              </a:rPr>
              <a:t>explained	or</a:t>
            </a:r>
            <a:endParaRPr sz="1100">
              <a:latin typeface="Times New Roman"/>
              <a:cs typeface="Times New Roman"/>
            </a:endParaRPr>
          </a:p>
          <a:p>
            <a:pPr algn="ctr" marR="14604">
              <a:lnSpc>
                <a:spcPts val="1295"/>
              </a:lnSpc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896064" y="5987256"/>
            <a:ext cx="560705" cy="353695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 indent="169545">
              <a:lnSpc>
                <a:spcPts val="1270"/>
              </a:lnSpc>
              <a:spcBef>
                <a:spcPts val="180"/>
              </a:spcBef>
            </a:pPr>
            <a:r>
              <a:rPr dirty="0" sz="1100" spc="-5">
                <a:latin typeface="Times New Roman"/>
                <a:cs typeface="Times New Roman"/>
              </a:rPr>
              <a:t>shown  </a:t>
            </a:r>
            <a:r>
              <a:rPr dirty="0" sz="1100" spc="-5">
                <a:latin typeface="Times New Roman"/>
                <a:cs typeface="Times New Roman"/>
              </a:rPr>
              <a:t>same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776406" y="5987256"/>
            <a:ext cx="563880" cy="353695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23495" marR="5080" indent="-11430">
              <a:lnSpc>
                <a:spcPts val="1270"/>
              </a:lnSpc>
              <a:spcBef>
                <a:spcPts val="180"/>
              </a:spcBef>
            </a:pPr>
            <a:r>
              <a:rPr dirty="0" sz="1100" spc="-5">
                <a:latin typeface="Times New Roman"/>
                <a:cs typeface="Times New Roman"/>
              </a:rPr>
              <a:t>through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5">
                <a:latin typeface="Times New Roman"/>
                <a:cs typeface="Times New Roman"/>
              </a:rPr>
              <a:t>m</a:t>
            </a:r>
            <a:r>
              <a:rPr dirty="0" sz="1100" spc="-5">
                <a:latin typeface="Times New Roman"/>
                <a:cs typeface="Times New Roman"/>
              </a:rPr>
              <a:t>eaning)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556500" y="5987256"/>
            <a:ext cx="589280" cy="3536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r" marR="5080">
              <a:lnSpc>
                <a:spcPts val="1295"/>
              </a:lnSpc>
              <a:spcBef>
                <a:spcPts val="95"/>
              </a:spcBef>
            </a:pPr>
            <a:r>
              <a:rPr dirty="0" sz="1100" spc="-5">
                <a:latin typeface="Times New Roman"/>
                <a:cs typeface="Times New Roman"/>
              </a:rPr>
              <a:t>examples.</a:t>
            </a:r>
            <a:endParaRPr sz="1100">
              <a:latin typeface="Times New Roman"/>
              <a:cs typeface="Times New Roman"/>
            </a:endParaRPr>
          </a:p>
          <a:p>
            <a:pPr algn="r" marR="5715">
              <a:lnSpc>
                <a:spcPts val="1295"/>
              </a:lnSpc>
            </a:pPr>
            <a:r>
              <a:rPr dirty="0" sz="1100" spc="-5">
                <a:latin typeface="Times New Roman"/>
                <a:cs typeface="Times New Roman"/>
              </a:rPr>
              <a:t>and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019447" y="6308051"/>
            <a:ext cx="412686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32460" algn="l"/>
                <a:tab pos="1306195" algn="l"/>
                <a:tab pos="1677670" algn="l"/>
                <a:tab pos="2390140" algn="l"/>
                <a:tab pos="2645410" algn="l"/>
                <a:tab pos="2923540" algn="l"/>
                <a:tab pos="3535045" algn="l"/>
              </a:tabLst>
            </a:pPr>
            <a:r>
              <a:rPr dirty="0" sz="1100" spc="-5">
                <a:latin typeface="Times New Roman"/>
                <a:cs typeface="Times New Roman"/>
              </a:rPr>
              <a:t>opposite	meaning)	also	contribute	to	an	accurate	definition.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84592" y="6629614"/>
            <a:ext cx="5447030" cy="11569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latin typeface="Times New Roman"/>
                <a:cs typeface="Times New Roman"/>
              </a:rPr>
              <a:t>Illustrative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quotations,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such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those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from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Shakespeare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give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insight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into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derivation.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ts val="1260"/>
              </a:lnSpc>
              <a:tabLst>
                <a:tab pos="558800" algn="l"/>
                <a:tab pos="996950" algn="l"/>
                <a:tab pos="1558925" algn="l"/>
                <a:tab pos="1911985" algn="l"/>
                <a:tab pos="2753995" algn="l"/>
                <a:tab pos="3230245" algn="l"/>
                <a:tab pos="3907790" algn="l"/>
                <a:tab pos="4252595" algn="l"/>
                <a:tab pos="4914265" algn="l"/>
              </a:tabLst>
            </a:pPr>
            <a:r>
              <a:rPr dirty="0" sz="1100" spc="-5">
                <a:latin typeface="Times New Roman"/>
                <a:cs typeface="Times New Roman"/>
              </a:rPr>
              <a:t>Maps</a:t>
            </a:r>
            <a:r>
              <a:rPr dirty="0" sz="1100" spc="-5">
                <a:latin typeface="Times New Roman"/>
                <a:cs typeface="Times New Roman"/>
              </a:rPr>
              <a:t>	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5">
                <a:latin typeface="Times New Roman"/>
                <a:cs typeface="Times New Roman"/>
              </a:rPr>
              <a:t>	</a:t>
            </a:r>
            <a:r>
              <a:rPr dirty="0" sz="1100" spc="-5">
                <a:latin typeface="Times New Roman"/>
                <a:cs typeface="Times New Roman"/>
              </a:rPr>
              <a:t>plates</a:t>
            </a:r>
            <a:r>
              <a:rPr dirty="0" sz="1100" spc="-5">
                <a:latin typeface="Times New Roman"/>
                <a:cs typeface="Times New Roman"/>
              </a:rPr>
              <a:t>	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	</a:t>
            </a:r>
            <a:r>
              <a:rPr dirty="0" sz="1100" spc="-5">
                <a:latin typeface="Times New Roman"/>
                <a:cs typeface="Times New Roman"/>
              </a:rPr>
              <a:t>illustration</a:t>
            </a:r>
            <a:r>
              <a:rPr dirty="0" sz="1100" spc="-5">
                <a:latin typeface="Times New Roman"/>
                <a:cs typeface="Times New Roman"/>
              </a:rPr>
              <a:t>	</a:t>
            </a:r>
            <a:r>
              <a:rPr dirty="0" sz="1100" spc="-5">
                <a:latin typeface="Times New Roman"/>
                <a:cs typeface="Times New Roman"/>
              </a:rPr>
              <a:t>g</a:t>
            </a:r>
            <a:r>
              <a:rPr dirty="0" sz="1100" spc="-15">
                <a:latin typeface="Times New Roman"/>
                <a:cs typeface="Times New Roman"/>
              </a:rPr>
              <a:t>i</a:t>
            </a:r>
            <a:r>
              <a:rPr dirty="0" sz="1100" spc="-5">
                <a:latin typeface="Times New Roman"/>
                <a:cs typeface="Times New Roman"/>
              </a:rPr>
              <a:t>ve</a:t>
            </a:r>
            <a:r>
              <a:rPr dirty="0" sz="1100">
                <a:latin typeface="Times New Roman"/>
                <a:cs typeface="Times New Roman"/>
              </a:rPr>
              <a:t>	</a:t>
            </a:r>
            <a:r>
              <a:rPr dirty="0" sz="1100" spc="-5">
                <a:latin typeface="Times New Roman"/>
                <a:cs typeface="Times New Roman"/>
              </a:rPr>
              <a:t>p</a:t>
            </a:r>
            <a:r>
              <a:rPr dirty="0" sz="1100" spc="-15">
                <a:latin typeface="Times New Roman"/>
                <a:cs typeface="Times New Roman"/>
              </a:rPr>
              <a:t>i</a:t>
            </a:r>
            <a:r>
              <a:rPr dirty="0" sz="1100" spc="-5">
                <a:latin typeface="Times New Roman"/>
                <a:cs typeface="Times New Roman"/>
              </a:rPr>
              <a:t>ctures</a:t>
            </a:r>
            <a:r>
              <a:rPr dirty="0" sz="1100">
                <a:latin typeface="Times New Roman"/>
                <a:cs typeface="Times New Roman"/>
              </a:rPr>
              <a:t>	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	</a:t>
            </a:r>
            <a:r>
              <a:rPr dirty="0" sz="1100" spc="-5">
                <a:latin typeface="Times New Roman"/>
                <a:cs typeface="Times New Roman"/>
              </a:rPr>
              <a:t>p</a:t>
            </a:r>
            <a:r>
              <a:rPr dirty="0" sz="1100" spc="-15">
                <a:latin typeface="Times New Roman"/>
                <a:cs typeface="Times New Roman"/>
              </a:rPr>
              <a:t>r</a:t>
            </a:r>
            <a:r>
              <a:rPr dirty="0" sz="1100" spc="-5">
                <a:latin typeface="Times New Roman"/>
                <a:cs typeface="Times New Roman"/>
              </a:rPr>
              <a:t>ovide</a:t>
            </a:r>
            <a:r>
              <a:rPr dirty="0" sz="1100">
                <a:latin typeface="Times New Roman"/>
                <a:cs typeface="Times New Roman"/>
              </a:rPr>
              <a:t>	</a:t>
            </a:r>
            <a:r>
              <a:rPr dirty="0" sz="1100" spc="-5">
                <a:latin typeface="Times New Roman"/>
                <a:cs typeface="Times New Roman"/>
              </a:rPr>
              <a:t>reference 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maps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show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Guam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located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relation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islands.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 marL="12700" marR="67310">
              <a:lnSpc>
                <a:spcPts val="1270"/>
              </a:lnSpc>
              <a:tabLst>
                <a:tab pos="1055370" algn="l"/>
                <a:tab pos="1610360" algn="l"/>
                <a:tab pos="2103120" algn="l"/>
                <a:tab pos="2781935" algn="l"/>
                <a:tab pos="3297554" algn="l"/>
                <a:tab pos="3827779" algn="l"/>
                <a:tab pos="4288790" algn="l"/>
                <a:tab pos="5254625" algn="l"/>
              </a:tabLst>
            </a:pPr>
            <a:r>
              <a:rPr dirty="0" sz="1100" spc="-5">
                <a:latin typeface="Times New Roman"/>
                <a:cs typeface="Times New Roman"/>
              </a:rPr>
              <a:t>Geographical</a:t>
            </a:r>
            <a:r>
              <a:rPr dirty="0" sz="1100" spc="-5">
                <a:latin typeface="Times New Roman"/>
                <a:cs typeface="Times New Roman"/>
              </a:rPr>
              <a:t>	</a:t>
            </a:r>
            <a:r>
              <a:rPr dirty="0" sz="1100" spc="-5">
                <a:latin typeface="Times New Roman"/>
                <a:cs typeface="Times New Roman"/>
              </a:rPr>
              <a:t>facts</a:t>
            </a:r>
            <a:r>
              <a:rPr dirty="0" sz="1100" spc="-5">
                <a:latin typeface="Times New Roman"/>
                <a:cs typeface="Times New Roman"/>
              </a:rPr>
              <a:t>	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5">
                <a:latin typeface="Times New Roman"/>
                <a:cs typeface="Times New Roman"/>
              </a:rPr>
              <a:t>	</a:t>
            </a:r>
            <a:r>
              <a:rPr dirty="0" sz="1100" spc="-5">
                <a:latin typeface="Times New Roman"/>
                <a:cs typeface="Times New Roman"/>
              </a:rPr>
              <a:t>history</a:t>
            </a:r>
            <a:r>
              <a:rPr dirty="0" sz="1100" spc="-5">
                <a:latin typeface="Times New Roman"/>
                <a:cs typeface="Times New Roman"/>
              </a:rPr>
              <a:t>	</a:t>
            </a:r>
            <a:r>
              <a:rPr dirty="0" sz="1100" spc="-5">
                <a:latin typeface="Times New Roman"/>
                <a:cs typeface="Times New Roman"/>
              </a:rPr>
              <a:t>also</a:t>
            </a:r>
            <a:r>
              <a:rPr dirty="0" sz="1100" spc="-5">
                <a:latin typeface="Times New Roman"/>
                <a:cs typeface="Times New Roman"/>
              </a:rPr>
              <a:t>	</a:t>
            </a:r>
            <a:r>
              <a:rPr dirty="0" sz="1100" spc="-5">
                <a:latin typeface="Times New Roman"/>
                <a:cs typeface="Times New Roman"/>
              </a:rPr>
              <a:t>give</a:t>
            </a:r>
            <a:r>
              <a:rPr dirty="0" sz="1100" spc="-5">
                <a:latin typeface="Times New Roman"/>
                <a:cs typeface="Times New Roman"/>
              </a:rPr>
              <a:t>	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5">
                <a:latin typeface="Times New Roman"/>
                <a:cs typeface="Times New Roman"/>
              </a:rPr>
              <a:t>	</a:t>
            </a:r>
            <a:r>
              <a:rPr dirty="0" sz="1100" spc="-5">
                <a:latin typeface="Times New Roman"/>
                <a:cs typeface="Times New Roman"/>
              </a:rPr>
              <a:t>significance</a:t>
            </a:r>
            <a:r>
              <a:rPr dirty="0" sz="1100" spc="-5">
                <a:latin typeface="Times New Roman"/>
                <a:cs typeface="Times New Roman"/>
              </a:rPr>
              <a:t>	</a:t>
            </a:r>
            <a:r>
              <a:rPr dirty="0" sz="1100" spc="-5">
                <a:latin typeface="Times New Roman"/>
                <a:cs typeface="Times New Roman"/>
              </a:rPr>
              <a:t>of  </a:t>
            </a:r>
            <a:r>
              <a:rPr dirty="0" sz="1100" spc="-5">
                <a:latin typeface="Times New Roman"/>
                <a:cs typeface="Times New Roman"/>
              </a:rPr>
              <a:t>Guam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site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major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battle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World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II.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742087" y="6951177"/>
            <a:ext cx="40195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latin typeface="Times New Roman"/>
                <a:cs typeface="Times New Roman"/>
              </a:rPr>
              <a:t>points.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734552" y="7432754"/>
            <a:ext cx="40957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latin typeface="Times New Roman"/>
                <a:cs typeface="Times New Roman"/>
              </a:rPr>
              <a:t>places.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84592" y="7915097"/>
            <a:ext cx="6062345" cy="1316990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12700" marR="6350">
              <a:lnSpc>
                <a:spcPts val="1260"/>
              </a:lnSpc>
              <a:spcBef>
                <a:spcPts val="190"/>
              </a:spcBef>
              <a:tabLst>
                <a:tab pos="892175" algn="l"/>
                <a:tab pos="1316355" algn="l"/>
                <a:tab pos="1647825" algn="l"/>
                <a:tab pos="2203450" algn="l"/>
                <a:tab pos="2806065" algn="l"/>
                <a:tab pos="3279140" algn="l"/>
                <a:tab pos="3780154" algn="l"/>
                <a:tab pos="4203700" algn="l"/>
                <a:tab pos="4752975" algn="l"/>
                <a:tab pos="5021580" algn="l"/>
                <a:tab pos="5655310" algn="l"/>
              </a:tabLst>
            </a:pPr>
            <a:r>
              <a:rPr dirty="0" sz="1100" spc="-10">
                <a:latin typeface="Times New Roman"/>
                <a:cs typeface="Times New Roman"/>
              </a:rPr>
              <a:t>Biographica</a:t>
            </a:r>
            <a:r>
              <a:rPr dirty="0" sz="1100" spc="-5">
                <a:latin typeface="Times New Roman"/>
                <a:cs typeface="Times New Roman"/>
              </a:rPr>
              <a:t>l</a:t>
            </a:r>
            <a:r>
              <a:rPr dirty="0" sz="1100">
                <a:latin typeface="Times New Roman"/>
                <a:cs typeface="Times New Roman"/>
              </a:rPr>
              <a:t>	</a:t>
            </a:r>
            <a:r>
              <a:rPr dirty="0" sz="1100" spc="-10">
                <a:latin typeface="Times New Roman"/>
                <a:cs typeface="Times New Roman"/>
              </a:rPr>
              <a:t>fac</a:t>
            </a:r>
            <a:r>
              <a:rPr dirty="0" sz="1100">
                <a:latin typeface="Times New Roman"/>
                <a:cs typeface="Times New Roman"/>
              </a:rPr>
              <a:t>t</a:t>
            </a:r>
            <a:r>
              <a:rPr dirty="0" sz="1100" spc="-5">
                <a:latin typeface="Times New Roman"/>
                <a:cs typeface="Times New Roman"/>
              </a:rPr>
              <a:t>s</a:t>
            </a:r>
            <a:r>
              <a:rPr dirty="0" sz="1100">
                <a:latin typeface="Times New Roman"/>
                <a:cs typeface="Times New Roman"/>
              </a:rPr>
              <a:t>	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>
                <a:latin typeface="Times New Roman"/>
                <a:cs typeface="Times New Roman"/>
              </a:rPr>
              <a:t>r</a:t>
            </a:r>
            <a:r>
              <a:rPr dirty="0" sz="1100" spc="-5">
                <a:latin typeface="Times New Roman"/>
                <a:cs typeface="Times New Roman"/>
              </a:rPr>
              <a:t>e</a:t>
            </a:r>
            <a:r>
              <a:rPr dirty="0" sz="1100">
                <a:latin typeface="Times New Roman"/>
                <a:cs typeface="Times New Roman"/>
              </a:rPr>
              <a:t>	</a:t>
            </a:r>
            <a:r>
              <a:rPr dirty="0" sz="1100" spc="-10">
                <a:latin typeface="Times New Roman"/>
                <a:cs typeface="Times New Roman"/>
              </a:rPr>
              <a:t>neede</a:t>
            </a:r>
            <a:r>
              <a:rPr dirty="0" sz="1100" spc="-5">
                <a:latin typeface="Times New Roman"/>
                <a:cs typeface="Times New Roman"/>
              </a:rPr>
              <a:t>d</a:t>
            </a:r>
            <a:r>
              <a:rPr dirty="0" sz="1100">
                <a:latin typeface="Times New Roman"/>
                <a:cs typeface="Times New Roman"/>
              </a:rPr>
              <a:t>	</a:t>
            </a:r>
            <a:r>
              <a:rPr dirty="0" sz="1100" spc="-10">
                <a:latin typeface="Times New Roman"/>
                <a:cs typeface="Times New Roman"/>
              </a:rPr>
              <a:t>becaus</a:t>
            </a:r>
            <a:r>
              <a:rPr dirty="0" sz="1100" spc="-5">
                <a:latin typeface="Times New Roman"/>
                <a:cs typeface="Times New Roman"/>
              </a:rPr>
              <a:t>e</a:t>
            </a:r>
            <a:r>
              <a:rPr dirty="0" sz="1100">
                <a:latin typeface="Times New Roman"/>
                <a:cs typeface="Times New Roman"/>
              </a:rPr>
              <a:t>	</a:t>
            </a:r>
            <a:r>
              <a:rPr dirty="0" sz="1100" spc="-5">
                <a:latin typeface="Times New Roman"/>
                <a:cs typeface="Times New Roman"/>
              </a:rPr>
              <a:t>ma</a:t>
            </a:r>
            <a:r>
              <a:rPr dirty="0" sz="1100" spc="-10">
                <a:latin typeface="Times New Roman"/>
                <a:cs typeface="Times New Roman"/>
              </a:rPr>
              <a:t>n</a:t>
            </a:r>
            <a:r>
              <a:rPr dirty="0" sz="1100" spc="-5">
                <a:latin typeface="Times New Roman"/>
                <a:cs typeface="Times New Roman"/>
              </a:rPr>
              <a:t>y</a:t>
            </a:r>
            <a:r>
              <a:rPr dirty="0" sz="1100">
                <a:latin typeface="Times New Roman"/>
                <a:cs typeface="Times New Roman"/>
              </a:rPr>
              <a:t>	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>
                <a:latin typeface="Times New Roman"/>
                <a:cs typeface="Times New Roman"/>
              </a:rPr>
              <a:t>	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>
                <a:latin typeface="Times New Roman"/>
                <a:cs typeface="Times New Roman"/>
              </a:rPr>
              <a:t>	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>
                <a:latin typeface="Times New Roman"/>
                <a:cs typeface="Times New Roman"/>
              </a:rPr>
              <a:t>i</a:t>
            </a:r>
            <a:r>
              <a:rPr dirty="0" sz="1100" spc="-5">
                <a:latin typeface="Times New Roman"/>
                <a:cs typeface="Times New Roman"/>
              </a:rPr>
              <a:t>g</a:t>
            </a:r>
            <a:r>
              <a:rPr dirty="0" sz="1100" spc="-5">
                <a:latin typeface="Times New Roman"/>
                <a:cs typeface="Times New Roman"/>
              </a:rPr>
              <a:t>ins</a:t>
            </a:r>
            <a:r>
              <a:rPr dirty="0" sz="1100">
                <a:latin typeface="Times New Roman"/>
                <a:cs typeface="Times New Roman"/>
              </a:rPr>
              <a:t>	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	</a:t>
            </a:r>
            <a:r>
              <a:rPr dirty="0" sz="1100" spc="-5">
                <a:latin typeface="Times New Roman"/>
                <a:cs typeface="Times New Roman"/>
              </a:rPr>
              <a:t>personal</a:t>
            </a:r>
            <a:r>
              <a:rPr dirty="0" sz="1100">
                <a:latin typeface="Times New Roman"/>
                <a:cs typeface="Times New Roman"/>
              </a:rPr>
              <a:t>	</a:t>
            </a:r>
            <a:r>
              <a:rPr dirty="0" sz="1100" spc="-5">
                <a:latin typeface="Times New Roman"/>
                <a:cs typeface="Times New Roman"/>
              </a:rPr>
              <a:t>names. 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"curie"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associated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scientists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discovered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35"/>
              </a:lnSpc>
            </a:pP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dictionary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contains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geographical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biographical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information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called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encyclopedic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dictionary.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Some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dictionaries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may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separate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section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geographical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biographical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information.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290"/>
              </a:lnSpc>
              <a:spcBef>
                <a:spcPts val="5"/>
              </a:spcBef>
            </a:pPr>
            <a:r>
              <a:rPr dirty="0" sz="1100" spc="-5" b="1">
                <a:latin typeface="Times New Roman"/>
                <a:cs typeface="Times New Roman"/>
              </a:rPr>
              <a:t>PURCHASING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DICTIONARY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90"/>
              </a:lnSpc>
            </a:pPr>
            <a:r>
              <a:rPr dirty="0" sz="1100" spc="-5">
                <a:latin typeface="Times New Roman"/>
                <a:cs typeface="Times New Roman"/>
              </a:rPr>
              <a:t>Check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dictionary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minimum offers: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7380" y="342390"/>
            <a:ext cx="174498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 Elementary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84111" y="342390"/>
            <a:ext cx="22669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788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10019" y="9493248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30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400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257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855980" y="452574"/>
            <a:ext cx="2019300" cy="123063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Publication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date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Full definition and examples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Pronunciations (more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one)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85"/>
              </a:spcBef>
              <a:buAutoNum type="arabicPeriod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class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Label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(register)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7386" y="1891544"/>
            <a:ext cx="6061710" cy="35655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>
              <a:lnSpc>
                <a:spcPts val="129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HISTORY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AND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VALUE</a:t>
            </a:r>
            <a:endParaRPr sz="1100">
              <a:latin typeface="Times New Roman"/>
              <a:cs typeface="Times New Roman"/>
            </a:endParaRPr>
          </a:p>
          <a:p>
            <a:pPr algn="just" marL="12700" marR="5080">
              <a:lnSpc>
                <a:spcPct val="95700"/>
              </a:lnSpc>
              <a:spcBef>
                <a:spcPts val="30"/>
              </a:spcBef>
            </a:pPr>
            <a:r>
              <a:rPr dirty="0" sz="1100" spc="-5">
                <a:latin typeface="Times New Roman"/>
                <a:cs typeface="Times New Roman"/>
              </a:rPr>
              <a:t>William Caxton (c1483) produced a French-English dictionary. Travellers needed a bilingual dictionary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when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visiting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countries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different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own.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Ancient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writings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were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useful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until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 could be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translated.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100">
              <a:latin typeface="Times New Roman"/>
              <a:cs typeface="Times New Roman"/>
            </a:endParaRPr>
          </a:p>
          <a:p>
            <a:pPr algn="just" marL="12700" marR="5080">
              <a:lnSpc>
                <a:spcPts val="1270"/>
              </a:lnSpc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65">
                <a:latin typeface="Times New Roman"/>
                <a:cs typeface="Times New Roman"/>
              </a:rPr>
              <a:t>  </a:t>
            </a:r>
            <a:r>
              <a:rPr dirty="0" sz="1100" spc="-5">
                <a:latin typeface="Times New Roman"/>
                <a:cs typeface="Times New Roman"/>
              </a:rPr>
              <a:t>discovery</a:t>
            </a:r>
            <a:r>
              <a:rPr dirty="0" sz="1100" spc="265">
                <a:latin typeface="Times New Roman"/>
                <a:cs typeface="Times New Roman"/>
              </a:rPr>
              <a:t> 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265">
                <a:latin typeface="Times New Roman"/>
                <a:cs typeface="Times New Roman"/>
              </a:rPr>
              <a:t> 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65">
                <a:latin typeface="Times New Roman"/>
                <a:cs typeface="Times New Roman"/>
              </a:rPr>
              <a:t>  </a:t>
            </a:r>
            <a:r>
              <a:rPr dirty="0" sz="1100" spc="-5">
                <a:latin typeface="Times New Roman"/>
                <a:cs typeface="Times New Roman"/>
              </a:rPr>
              <a:t>Rosetta</a:t>
            </a:r>
            <a:r>
              <a:rPr dirty="0" sz="1100" spc="265">
                <a:latin typeface="Times New Roman"/>
                <a:cs typeface="Times New Roman"/>
              </a:rPr>
              <a:t>  </a:t>
            </a:r>
            <a:r>
              <a:rPr dirty="0" sz="1100" spc="-5">
                <a:latin typeface="Times New Roman"/>
                <a:cs typeface="Times New Roman"/>
              </a:rPr>
              <a:t>Stone</a:t>
            </a:r>
            <a:r>
              <a:rPr dirty="0" sz="1100" spc="265">
                <a:latin typeface="Times New Roman"/>
                <a:cs typeface="Times New Roman"/>
              </a:rPr>
              <a:t> 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265">
                <a:latin typeface="Times New Roman"/>
                <a:cs typeface="Times New Roman"/>
              </a:rPr>
              <a:t>  </a:t>
            </a:r>
            <a:r>
              <a:rPr dirty="0" sz="1100" spc="-5">
                <a:latin typeface="Times New Roman"/>
                <a:cs typeface="Times New Roman"/>
              </a:rPr>
              <a:t>1799</a:t>
            </a:r>
            <a:r>
              <a:rPr dirty="0" sz="1100" spc="265">
                <a:latin typeface="Times New Roman"/>
                <a:cs typeface="Times New Roman"/>
              </a:rPr>
              <a:t>  </a:t>
            </a:r>
            <a:r>
              <a:rPr dirty="0" sz="1100" spc="-5">
                <a:latin typeface="Times New Roman"/>
                <a:cs typeface="Times New Roman"/>
              </a:rPr>
              <a:t>helped</a:t>
            </a:r>
            <a:r>
              <a:rPr dirty="0" sz="1100" spc="265">
                <a:latin typeface="Times New Roman"/>
                <a:cs typeface="Times New Roman"/>
              </a:rPr>
              <a:t>  </a:t>
            </a:r>
            <a:r>
              <a:rPr dirty="0" sz="1100" spc="-5">
                <a:latin typeface="Times New Roman"/>
                <a:cs typeface="Times New Roman"/>
              </a:rPr>
              <a:t>unlock</a:t>
            </a:r>
            <a:r>
              <a:rPr dirty="0" sz="1100" spc="265">
                <a:latin typeface="Times New Roman"/>
                <a:cs typeface="Times New Roman"/>
              </a:rPr>
              <a:t>  </a:t>
            </a:r>
            <a:r>
              <a:rPr dirty="0" sz="1100" spc="-5">
                <a:latin typeface="Times New Roman"/>
                <a:cs typeface="Times New Roman"/>
              </a:rPr>
              <a:t>many</a:t>
            </a:r>
            <a:r>
              <a:rPr dirty="0" sz="1100" spc="265">
                <a:latin typeface="Times New Roman"/>
                <a:cs typeface="Times New Roman"/>
              </a:rPr>
              <a:t>  </a:t>
            </a:r>
            <a:r>
              <a:rPr dirty="0" sz="1100" spc="-5">
                <a:latin typeface="Times New Roman"/>
                <a:cs typeface="Times New Roman"/>
              </a:rPr>
              <a:t>ancient</a:t>
            </a:r>
            <a:r>
              <a:rPr dirty="0" sz="1100" spc="265">
                <a:latin typeface="Times New Roman"/>
                <a:cs typeface="Times New Roman"/>
              </a:rPr>
              <a:t>  </a:t>
            </a:r>
            <a:r>
              <a:rPr dirty="0" sz="1100" spc="-5">
                <a:latin typeface="Times New Roman"/>
                <a:cs typeface="Times New Roman"/>
              </a:rPr>
              <a:t>languages.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stone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written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Greek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Egyptian.</a:t>
            </a:r>
            <a:endParaRPr sz="1100">
              <a:latin typeface="Times New Roman"/>
              <a:cs typeface="Times New Roman"/>
            </a:endParaRPr>
          </a:p>
          <a:p>
            <a:pPr algn="just" marL="12700">
              <a:lnSpc>
                <a:spcPts val="1230"/>
              </a:lnSpc>
            </a:pP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1822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messages</a:t>
            </a:r>
            <a:r>
              <a:rPr dirty="0" sz="1100">
                <a:latin typeface="Times New Roman"/>
                <a:cs typeface="Times New Roman"/>
              </a:rPr>
              <a:t> were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finally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deciphered.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00">
              <a:latin typeface="Times New Roman"/>
              <a:cs typeface="Times New Roman"/>
            </a:endParaRPr>
          </a:p>
          <a:p>
            <a:pPr algn="just" marL="12700" marR="5080">
              <a:lnSpc>
                <a:spcPts val="1270"/>
              </a:lnSpc>
            </a:pP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509">
                <a:latin typeface="Times New Roman"/>
                <a:cs typeface="Times New Roman"/>
              </a:rPr>
              <a:t> </a:t>
            </a:r>
            <a:r>
              <a:rPr dirty="0" sz="1100" spc="5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1755,</a:t>
            </a:r>
            <a:r>
              <a:rPr dirty="0" sz="1100" spc="509">
                <a:latin typeface="Times New Roman"/>
                <a:cs typeface="Times New Roman"/>
              </a:rPr>
              <a:t> </a:t>
            </a:r>
            <a:r>
              <a:rPr dirty="0" sz="1100" spc="5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Samuel</a:t>
            </a:r>
            <a:r>
              <a:rPr dirty="0" sz="1100" spc="340">
                <a:latin typeface="Times New Roman"/>
                <a:cs typeface="Times New Roman"/>
              </a:rPr>
              <a:t>  </a:t>
            </a:r>
            <a:r>
              <a:rPr dirty="0" sz="1100" spc="3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Johnson</a:t>
            </a:r>
            <a:r>
              <a:rPr dirty="0" sz="1100" spc="335">
                <a:latin typeface="Times New Roman"/>
                <a:cs typeface="Times New Roman"/>
              </a:rPr>
              <a:t>  </a:t>
            </a:r>
            <a:r>
              <a:rPr dirty="0" sz="1100" spc="3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produced</a:t>
            </a:r>
            <a:r>
              <a:rPr dirty="0" sz="1100" spc="335">
                <a:latin typeface="Times New Roman"/>
                <a:cs typeface="Times New Roman"/>
              </a:rPr>
              <a:t>  </a:t>
            </a:r>
            <a:r>
              <a:rPr dirty="0" sz="1100" spc="3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340">
                <a:latin typeface="Times New Roman"/>
                <a:cs typeface="Times New Roman"/>
              </a:rPr>
              <a:t>  </a:t>
            </a:r>
            <a:r>
              <a:rPr dirty="0" sz="1100" spc="3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earliest     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340">
                <a:latin typeface="Times New Roman"/>
                <a:cs typeface="Times New Roman"/>
              </a:rPr>
              <a:t>  </a:t>
            </a:r>
            <a:r>
              <a:rPr dirty="0" sz="1100" spc="3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340">
                <a:latin typeface="Times New Roman"/>
                <a:cs typeface="Times New Roman"/>
              </a:rPr>
              <a:t>  </a:t>
            </a:r>
            <a:r>
              <a:rPr dirty="0" sz="1100" spc="3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dictionary.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facsimile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reprint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dictionary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available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here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McKay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Library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Reference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collection.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(Ref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1620.J6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1979) 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>
                <a:latin typeface="Times New Roman"/>
                <a:cs typeface="Times New Roman"/>
              </a:rPr>
              <a:t> facsimile </a:t>
            </a:r>
            <a:r>
              <a:rPr dirty="0" sz="1100" spc="-5">
                <a:latin typeface="Times New Roman"/>
                <a:cs typeface="Times New Roman"/>
              </a:rPr>
              <a:t>reprint,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letters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appear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written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1755.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Alternate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spellings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given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without preference.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derivation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shown.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 marR="5080">
              <a:lnSpc>
                <a:spcPts val="1270"/>
              </a:lnSpc>
            </a:pPr>
            <a:r>
              <a:rPr dirty="0" sz="1100" spc="-5">
                <a:latin typeface="Times New Roman"/>
                <a:cs typeface="Times New Roman"/>
              </a:rPr>
              <a:t>Noah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Webster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printed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first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modern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dictionary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1828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set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spelling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pronunciation.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00"/>
              </a:lnSpc>
            </a:pPr>
            <a:r>
              <a:rPr dirty="0" sz="1100" spc="-5">
                <a:latin typeface="Times New Roman"/>
                <a:cs typeface="Times New Roman"/>
              </a:rPr>
              <a:t>His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dictionaries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also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distinguished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American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usage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usage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England.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95"/>
              </a:lnSpc>
              <a:tabLst>
                <a:tab pos="594995" algn="l"/>
                <a:tab pos="1355725" algn="l"/>
                <a:tab pos="2193925" algn="l"/>
                <a:tab pos="3094355" algn="l"/>
                <a:tab pos="4034154" algn="l"/>
                <a:tab pos="5112385" algn="l"/>
                <a:tab pos="5671185" algn="l"/>
              </a:tabLst>
            </a:pPr>
            <a:r>
              <a:rPr dirty="0" sz="1100" spc="-5">
                <a:latin typeface="Times New Roman"/>
                <a:cs typeface="Times New Roman"/>
              </a:rPr>
              <a:t>Sir	James	Murray	gathered	historical	background	on	words.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00">
              <a:latin typeface="Times New Roman"/>
              <a:cs typeface="Times New Roman"/>
            </a:endParaRPr>
          </a:p>
          <a:p>
            <a:pPr algn="just" marL="12700" marR="5715">
              <a:lnSpc>
                <a:spcPts val="1270"/>
              </a:lnSpc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Oxford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Dictionary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traces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origin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usage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through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time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examples.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While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British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usage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emphasized,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recent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editions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include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usage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parts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world.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dictionary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now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available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Internet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subscription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under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7386" y="5586445"/>
            <a:ext cx="3694429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29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SUMMARY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ts val="1260"/>
              </a:lnSpc>
              <a:spcBef>
                <a:spcPts val="65"/>
              </a:spcBef>
              <a:tabLst>
                <a:tab pos="1065530" algn="l"/>
                <a:tab pos="1607185" algn="l"/>
                <a:tab pos="2520315" algn="l"/>
                <a:tab pos="3409950" algn="l"/>
              </a:tabLst>
            </a:pPr>
            <a:r>
              <a:rPr dirty="0" sz="1100" spc="-5">
                <a:latin typeface="Times New Roman"/>
                <a:cs typeface="Times New Roman"/>
              </a:rPr>
              <a:t>Dictionaries</a:t>
            </a:r>
            <a:r>
              <a:rPr dirty="0" sz="1100" spc="-5">
                <a:latin typeface="Times New Roman"/>
                <a:cs typeface="Times New Roman"/>
              </a:rPr>
              <a:t>	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-5">
                <a:latin typeface="Times New Roman"/>
                <a:cs typeface="Times New Roman"/>
              </a:rPr>
              <a:t>	</a:t>
            </a:r>
            <a:r>
              <a:rPr dirty="0" sz="1100" spc="-5">
                <a:latin typeface="Times New Roman"/>
                <a:cs typeface="Times New Roman"/>
              </a:rPr>
              <a:t>i</a:t>
            </a:r>
            <a:r>
              <a:rPr dirty="0" sz="1100" spc="-15">
                <a:latin typeface="Times New Roman"/>
                <a:cs typeface="Times New Roman"/>
              </a:rPr>
              <a:t>m</a:t>
            </a:r>
            <a:r>
              <a:rPr dirty="0" sz="1100" spc="-5">
                <a:latin typeface="Times New Roman"/>
                <a:cs typeface="Times New Roman"/>
              </a:rPr>
              <a:t>por</a:t>
            </a:r>
            <a:r>
              <a:rPr dirty="0" sz="1100">
                <a:latin typeface="Times New Roman"/>
                <a:cs typeface="Times New Roman"/>
              </a:rPr>
              <a:t>t</a:t>
            </a:r>
            <a:r>
              <a:rPr dirty="0" sz="1100" spc="-1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nt</a:t>
            </a:r>
            <a:r>
              <a:rPr dirty="0" sz="1100">
                <a:latin typeface="Times New Roman"/>
                <a:cs typeface="Times New Roman"/>
              </a:rPr>
              <a:t>	</a:t>
            </a:r>
            <a:r>
              <a:rPr dirty="0" sz="1100" spc="-5">
                <a:latin typeface="Times New Roman"/>
                <a:cs typeface="Times New Roman"/>
              </a:rPr>
              <a:t>reference</a:t>
            </a:r>
            <a:r>
              <a:rPr dirty="0" sz="1100">
                <a:latin typeface="Times New Roman"/>
                <a:cs typeface="Times New Roman"/>
              </a:rPr>
              <a:t>	</a:t>
            </a:r>
            <a:r>
              <a:rPr dirty="0" sz="1100" spc="-5">
                <a:latin typeface="Times New Roman"/>
                <a:cs typeface="Times New Roman"/>
              </a:rPr>
              <a:t>tools  </a:t>
            </a:r>
            <a:r>
              <a:rPr dirty="0" sz="1100" spc="-5">
                <a:latin typeface="Times New Roman"/>
                <a:cs typeface="Times New Roman"/>
              </a:rPr>
              <a:t>Different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kinds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dictionaries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available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various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needs.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67372" y="5746459"/>
            <a:ext cx="18859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latin typeface="Times New Roman"/>
                <a:cs typeface="Times New Roman"/>
              </a:rPr>
              <a:t>for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201101" y="5746459"/>
            <a:ext cx="41275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latin typeface="Times New Roman"/>
                <a:cs typeface="Times New Roman"/>
              </a:rPr>
              <a:t>writers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60052" y="5746459"/>
            <a:ext cx="13398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latin typeface="Times New Roman"/>
                <a:cs typeface="Times New Roman"/>
              </a:rPr>
              <a:t>to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439685" y="5746459"/>
            <a:ext cx="246379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latin typeface="Times New Roman"/>
                <a:cs typeface="Times New Roman"/>
              </a:rPr>
              <a:t>use.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4580" y="342390"/>
            <a:ext cx="174498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 Elementary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41311" y="342390"/>
            <a:ext cx="22669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360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67219" y="9493248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31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972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829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269228" y="526034"/>
            <a:ext cx="87566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LECTURE</a:t>
            </a:r>
            <a:r>
              <a:rPr dirty="0" u="heavy" sz="1100" spc="-4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10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84566" y="847596"/>
            <a:ext cx="6061075" cy="85451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PARTS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SPEECH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295"/>
              </a:lnSpc>
            </a:pPr>
            <a:r>
              <a:rPr dirty="0" sz="1100" spc="-5" b="1">
                <a:latin typeface="Times New Roman"/>
                <a:cs typeface="Times New Roman"/>
              </a:rPr>
              <a:t>Parts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of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speech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can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be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divided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into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two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distinct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divisions:</a:t>
            </a:r>
            <a:endParaRPr sz="1100">
              <a:latin typeface="Times New Roman"/>
              <a:cs typeface="Times New Roman"/>
            </a:endParaRPr>
          </a:p>
          <a:p>
            <a:pPr marL="469900" indent="-229235">
              <a:lnSpc>
                <a:spcPts val="1295"/>
              </a:lnSpc>
              <a:buAutoNum type="arabicPeriod"/>
              <a:tabLst>
                <a:tab pos="470534" algn="l"/>
              </a:tabLst>
            </a:pPr>
            <a:r>
              <a:rPr dirty="0" sz="1100" spc="-5">
                <a:latin typeface="Times New Roman"/>
                <a:cs typeface="Times New Roman"/>
              </a:rPr>
              <a:t>Picture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(Nouns,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Verbs,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Adjectives,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Adverbs)</a:t>
            </a:r>
            <a:endParaRPr sz="1100">
              <a:latin typeface="Times New Roman"/>
              <a:cs typeface="Times New Roman"/>
            </a:endParaRPr>
          </a:p>
          <a:p>
            <a:pPr marL="469900" indent="-229235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470534" algn="l"/>
              </a:tabLst>
            </a:pPr>
            <a:r>
              <a:rPr dirty="0" sz="1100" spc="-5">
                <a:latin typeface="Times New Roman"/>
                <a:cs typeface="Times New Roman"/>
              </a:rPr>
              <a:t>Function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(Pronouns,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Prepositions,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Conjunctions,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Interjections)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ts val="1290"/>
              </a:lnSpc>
              <a:spcBef>
                <a:spcPts val="5"/>
              </a:spcBef>
            </a:pPr>
            <a:r>
              <a:rPr dirty="0" sz="1100" spc="-5" b="1">
                <a:latin typeface="Times New Roman"/>
                <a:cs typeface="Times New Roman"/>
              </a:rPr>
              <a:t>WHAT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IS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NOUN?</a:t>
            </a:r>
            <a:endParaRPr sz="1100">
              <a:latin typeface="Times New Roman"/>
              <a:cs typeface="Times New Roman"/>
            </a:endParaRPr>
          </a:p>
          <a:p>
            <a:pPr marL="12700" marR="5715" indent="-635">
              <a:lnSpc>
                <a:spcPts val="1270"/>
              </a:lnSpc>
              <a:spcBef>
                <a:spcPts val="50"/>
              </a:spcBef>
            </a:pP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noun</a:t>
            </a:r>
            <a:r>
              <a:rPr dirty="0" sz="1100" spc="3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used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name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person,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animal,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place,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thing,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abstract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idea.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Nouns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usually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first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small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children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highlighted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nouns: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200"/>
              </a:lnSpc>
            </a:pPr>
            <a:r>
              <a:rPr dirty="0" sz="1100" spc="-5">
                <a:latin typeface="Times New Roman"/>
                <a:cs typeface="Times New Roman"/>
              </a:rPr>
              <a:t>Late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last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year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neighbors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bought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goat</a:t>
            </a:r>
            <a:r>
              <a:rPr dirty="0" sz="1100" spc="-5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265"/>
              </a:lnSpc>
            </a:pPr>
            <a:r>
              <a:rPr dirty="0" sz="1100" spc="-5" b="1">
                <a:latin typeface="Times New Roman"/>
                <a:cs typeface="Times New Roman"/>
              </a:rPr>
              <a:t>Portia White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opera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singer</a:t>
            </a:r>
            <a:r>
              <a:rPr dirty="0" sz="1100" spc="-5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265"/>
              </a:lnSpc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bus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inspector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looked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passengers'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passes</a:t>
            </a:r>
            <a:r>
              <a:rPr dirty="0" sz="1100" spc="-5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265"/>
              </a:lnSpc>
            </a:pPr>
            <a:r>
              <a:rPr dirty="0" sz="1100" spc="-5">
                <a:latin typeface="Times New Roman"/>
                <a:cs typeface="Times New Roman"/>
              </a:rPr>
              <a:t>According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Plutarch</a:t>
            </a:r>
            <a:r>
              <a:rPr dirty="0" sz="1100" spc="-5">
                <a:latin typeface="Times New Roman"/>
                <a:cs typeface="Times New Roman"/>
              </a:rPr>
              <a:t>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library</a:t>
            </a:r>
            <a:r>
              <a:rPr dirty="0" sz="1100" spc="2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Alexandria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destroyed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48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B.C.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295"/>
              </a:lnSpc>
            </a:pPr>
            <a:r>
              <a:rPr dirty="0" sz="1100" spc="-5" b="1">
                <a:latin typeface="Times New Roman"/>
                <a:cs typeface="Times New Roman"/>
              </a:rPr>
              <a:t>Philosophy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little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comfort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starving</a:t>
            </a:r>
            <a:r>
              <a:rPr dirty="0" sz="1100" spc="-5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 marR="6350">
              <a:lnSpc>
                <a:spcPts val="1260"/>
              </a:lnSpc>
            </a:pP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noun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function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subject,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direct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object,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indirect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object,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subject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complement,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object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complement,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appositive,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adjective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adverb.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00">
              <a:latin typeface="Times New Roman"/>
              <a:cs typeface="Times New Roman"/>
            </a:endParaRPr>
          </a:p>
          <a:p>
            <a:pPr algn="just" marL="12700">
              <a:lnSpc>
                <a:spcPts val="1290"/>
              </a:lnSpc>
            </a:pPr>
            <a:r>
              <a:rPr dirty="0" sz="1100" spc="-5" b="1">
                <a:latin typeface="Times New Roman"/>
                <a:cs typeface="Times New Roman"/>
              </a:rPr>
              <a:t>Noun</a:t>
            </a:r>
            <a:r>
              <a:rPr dirty="0" sz="1100" spc="-3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Gender</a:t>
            </a:r>
            <a:endParaRPr sz="1100">
              <a:latin typeface="Times New Roman"/>
              <a:cs typeface="Times New Roman"/>
            </a:endParaRPr>
          </a:p>
          <a:p>
            <a:pPr algn="just" marL="469900" marR="5080">
              <a:lnSpc>
                <a:spcPts val="1270"/>
              </a:lnSpc>
              <a:spcBef>
                <a:spcPts val="55"/>
              </a:spcBef>
            </a:pPr>
            <a:r>
              <a:rPr dirty="0" sz="1100" spc="-5">
                <a:latin typeface="Times New Roman"/>
                <a:cs typeface="Times New Roman"/>
              </a:rPr>
              <a:t>Many common nouns, like "engineer" or "teacher," can refer to men or women, for example, a man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 called an "author" while a woman was called an "authoress"; in hotels a service person male is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"waiter"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female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“waitress”.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00">
              <a:latin typeface="Times New Roman"/>
              <a:cs typeface="Times New Roman"/>
            </a:endParaRPr>
          </a:p>
          <a:p>
            <a:pPr algn="just" marL="12700">
              <a:lnSpc>
                <a:spcPts val="1290"/>
              </a:lnSpc>
            </a:pPr>
            <a:r>
              <a:rPr dirty="0" sz="1100" spc="-5" b="1">
                <a:latin typeface="Times New Roman"/>
                <a:cs typeface="Times New Roman"/>
              </a:rPr>
              <a:t>Noun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Plurals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ts val="1270"/>
              </a:lnSpc>
              <a:spcBef>
                <a:spcPts val="55"/>
              </a:spcBef>
            </a:pPr>
            <a:r>
              <a:rPr dirty="0" sz="1100" spc="-5">
                <a:latin typeface="Times New Roman"/>
                <a:cs typeface="Times New Roman"/>
              </a:rPr>
              <a:t>Most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nouns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change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indicate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number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adding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"-s"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"-es",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illustrated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following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pairs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sentences: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truth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truths;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Box 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boxes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etc.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000">
              <a:latin typeface="Times New Roman"/>
              <a:cs typeface="Times New Roman"/>
            </a:endParaRPr>
          </a:p>
          <a:p>
            <a:pPr algn="just" marL="12700">
              <a:lnSpc>
                <a:spcPts val="1290"/>
              </a:lnSpc>
            </a:pPr>
            <a:r>
              <a:rPr dirty="0" sz="1100" spc="-5" b="1">
                <a:latin typeface="Times New Roman"/>
                <a:cs typeface="Times New Roman"/>
              </a:rPr>
              <a:t>Possessive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Nouns</a:t>
            </a:r>
            <a:endParaRPr sz="1100">
              <a:latin typeface="Times New Roman"/>
              <a:cs typeface="Times New Roman"/>
            </a:endParaRPr>
          </a:p>
          <a:p>
            <a:pPr algn="just" marL="12700" marR="5715">
              <a:lnSpc>
                <a:spcPts val="1270"/>
              </a:lnSpc>
              <a:spcBef>
                <a:spcPts val="55"/>
              </a:spcBef>
            </a:pPr>
            <a:r>
              <a:rPr dirty="0" sz="1100" spc="-5">
                <a:latin typeface="Times New Roman"/>
                <a:cs typeface="Times New Roman"/>
              </a:rPr>
              <a:t>In the possessive case, a noun or pronoun changes its </a:t>
            </a:r>
            <a:r>
              <a:rPr dirty="0" sz="1100">
                <a:latin typeface="Times New Roman"/>
                <a:cs typeface="Times New Roman"/>
              </a:rPr>
              <a:t>form </a:t>
            </a:r>
            <a:r>
              <a:rPr dirty="0" sz="1100" spc="-5">
                <a:latin typeface="Times New Roman"/>
                <a:cs typeface="Times New Roman"/>
              </a:rPr>
              <a:t>to show that it owns or is closely related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something else. Usually, nouns become possessive by adding a combination of an apostrophe and the letter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"s."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195"/>
              </a:lnSpc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suitcase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Cassandra's</a:t>
            </a:r>
            <a:r>
              <a:rPr dirty="0" sz="1100" spc="-5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265"/>
              </a:lnSpc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only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luggage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lost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 b="1">
                <a:latin typeface="Times New Roman"/>
                <a:cs typeface="Times New Roman"/>
              </a:rPr>
              <a:t>prime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minister's</a:t>
            </a:r>
            <a:r>
              <a:rPr dirty="0" sz="1100" spc="-5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265"/>
              </a:lnSpc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children's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mittens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were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scattered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floor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porch.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295"/>
              </a:lnSpc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concert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interrupted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by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dogs'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barking,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ducks'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quacking,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babies'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squalling.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>
              <a:lnSpc>
                <a:spcPts val="1290"/>
              </a:lnSpc>
            </a:pPr>
            <a:r>
              <a:rPr dirty="0" sz="1100" spc="-5" b="1">
                <a:latin typeface="Times New Roman"/>
                <a:cs typeface="Times New Roman"/>
              </a:rPr>
              <a:t>Types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of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Nouns</a:t>
            </a:r>
            <a:endParaRPr sz="1100">
              <a:latin typeface="Times New Roman"/>
              <a:cs typeface="Times New Roman"/>
            </a:endParaRPr>
          </a:p>
          <a:p>
            <a:pPr algn="just" marL="12700" marR="5715">
              <a:lnSpc>
                <a:spcPts val="1260"/>
              </a:lnSpc>
              <a:spcBef>
                <a:spcPts val="60"/>
              </a:spcBef>
            </a:pPr>
            <a:r>
              <a:rPr dirty="0" sz="1100" spc="-5">
                <a:latin typeface="Times New Roman"/>
                <a:cs typeface="Times New Roman"/>
              </a:rPr>
              <a:t>There are many different types of nouns. If you are interested in the details of these different types, </a:t>
            </a:r>
            <a:r>
              <a:rPr dirty="0" sz="1100">
                <a:latin typeface="Times New Roman"/>
                <a:cs typeface="Times New Roman"/>
              </a:rPr>
              <a:t>you </a:t>
            </a:r>
            <a:r>
              <a:rPr dirty="0" sz="1100" spc="-5">
                <a:latin typeface="Times New Roman"/>
                <a:cs typeface="Times New Roman"/>
              </a:rPr>
              <a:t>can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sections.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00">
              <a:latin typeface="Times New Roman"/>
              <a:cs typeface="Times New Roman"/>
            </a:endParaRPr>
          </a:p>
          <a:p>
            <a:pPr algn="just" marL="12700">
              <a:lnSpc>
                <a:spcPts val="1290"/>
              </a:lnSpc>
            </a:pPr>
            <a:r>
              <a:rPr dirty="0" sz="1100" spc="-5" b="1">
                <a:latin typeface="Times New Roman"/>
                <a:cs typeface="Times New Roman"/>
              </a:rPr>
              <a:t>Proper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Nouns</a:t>
            </a:r>
            <a:endParaRPr sz="1100">
              <a:latin typeface="Times New Roman"/>
              <a:cs typeface="Times New Roman"/>
            </a:endParaRPr>
          </a:p>
          <a:p>
            <a:pPr algn="just" marL="12700" marR="5080">
              <a:lnSpc>
                <a:spcPct val="95800"/>
              </a:lnSpc>
              <a:spcBef>
                <a:spcPts val="30"/>
              </a:spcBef>
            </a:pPr>
            <a:r>
              <a:rPr dirty="0" sz="1100" spc="-5">
                <a:latin typeface="Times New Roman"/>
                <a:cs typeface="Times New Roman"/>
              </a:rPr>
              <a:t>You always write a </a:t>
            </a:r>
            <a:r>
              <a:rPr dirty="0" sz="1100" spc="-5" b="1">
                <a:latin typeface="Times New Roman"/>
                <a:cs typeface="Times New Roman"/>
              </a:rPr>
              <a:t>proper noun </a:t>
            </a:r>
            <a:r>
              <a:rPr dirty="0" sz="1100">
                <a:latin typeface="Times New Roman"/>
                <a:cs typeface="Times New Roman"/>
              </a:rPr>
              <a:t>with </a:t>
            </a:r>
            <a:r>
              <a:rPr dirty="0" sz="1100" spc="-5">
                <a:latin typeface="Times New Roman"/>
                <a:cs typeface="Times New Roman"/>
              </a:rPr>
              <a:t>a capital </a:t>
            </a:r>
            <a:r>
              <a:rPr dirty="0" sz="1100">
                <a:latin typeface="Times New Roman"/>
                <a:cs typeface="Times New Roman"/>
              </a:rPr>
              <a:t>letter, </a:t>
            </a:r>
            <a:r>
              <a:rPr dirty="0" sz="1100" spc="-5">
                <a:latin typeface="Times New Roman"/>
                <a:cs typeface="Times New Roman"/>
              </a:rPr>
              <a:t>since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noun represents the name of a specific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person,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place,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thing.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names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days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week,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months,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historical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documents,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institutions,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organizations, religions, their holy texts and their adherents are proper nouns. A proper noun is the opposite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 a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noun</a:t>
            </a:r>
            <a:endParaRPr sz="1100">
              <a:latin typeface="Times New Roman"/>
              <a:cs typeface="Times New Roman"/>
            </a:endParaRPr>
          </a:p>
          <a:p>
            <a:pPr algn="just" marL="469900" marR="276860">
              <a:lnSpc>
                <a:spcPts val="1270"/>
              </a:lnSpc>
              <a:spcBef>
                <a:spcPts val="25"/>
              </a:spcBef>
            </a:pP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 spc="-5" b="1">
                <a:latin typeface="Times New Roman"/>
                <a:cs typeface="Times New Roman"/>
              </a:rPr>
              <a:t>Maroons </a:t>
            </a:r>
            <a:r>
              <a:rPr dirty="0" sz="1100" spc="-5">
                <a:latin typeface="Times New Roman"/>
                <a:cs typeface="Times New Roman"/>
              </a:rPr>
              <a:t>were transported from </a:t>
            </a:r>
            <a:r>
              <a:rPr dirty="0" sz="1100" spc="-5" b="1">
                <a:latin typeface="Times New Roman"/>
                <a:cs typeface="Times New Roman"/>
              </a:rPr>
              <a:t>Jamaica </a:t>
            </a:r>
            <a:r>
              <a:rPr dirty="0" sz="1100" spc="-5">
                <a:latin typeface="Times New Roman"/>
                <a:cs typeface="Times New Roman"/>
              </a:rPr>
              <a:t>and forced to build the fortifications in </a:t>
            </a:r>
            <a:r>
              <a:rPr dirty="0" sz="1100" spc="-5" b="1">
                <a:latin typeface="Times New Roman"/>
                <a:cs typeface="Times New Roman"/>
              </a:rPr>
              <a:t>Halifax</a:t>
            </a:r>
            <a:r>
              <a:rPr dirty="0" sz="1100" spc="-5">
                <a:latin typeface="Times New Roman"/>
                <a:cs typeface="Times New Roman"/>
              </a:rPr>
              <a:t>.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people dread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Monday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mornings.</a:t>
            </a:r>
            <a:endParaRPr sz="1100">
              <a:latin typeface="Times New Roman"/>
              <a:cs typeface="Times New Roman"/>
            </a:endParaRPr>
          </a:p>
          <a:p>
            <a:pPr algn="just" marL="469900">
              <a:lnSpc>
                <a:spcPts val="1230"/>
              </a:lnSpc>
            </a:pPr>
            <a:r>
              <a:rPr dirty="0" sz="1100" spc="-5" b="1">
                <a:latin typeface="Times New Roman"/>
                <a:cs typeface="Times New Roman"/>
              </a:rPr>
              <a:t>Abraham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appears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Talmud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Koran</a:t>
            </a:r>
            <a:r>
              <a:rPr dirty="0" sz="1100" spc="-5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>
              <a:lnSpc>
                <a:spcPts val="1290"/>
              </a:lnSpc>
            </a:pPr>
            <a:r>
              <a:rPr dirty="0" sz="1100" spc="-5" b="1">
                <a:latin typeface="Times New Roman"/>
                <a:cs typeface="Times New Roman"/>
              </a:rPr>
              <a:t>Common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Nouns</a:t>
            </a:r>
            <a:endParaRPr sz="1100">
              <a:latin typeface="Times New Roman"/>
              <a:cs typeface="Times New Roman"/>
            </a:endParaRPr>
          </a:p>
          <a:p>
            <a:pPr marL="469900" marR="1318260" indent="-457834">
              <a:lnSpc>
                <a:spcPts val="1270"/>
              </a:lnSpc>
              <a:spcBef>
                <a:spcPts val="55"/>
              </a:spcBef>
            </a:pP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common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noun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noun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referring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person,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place,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general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sense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--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According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sign</a:t>
            </a:r>
            <a:r>
              <a:rPr dirty="0" sz="1100" spc="-5">
                <a:latin typeface="Times New Roman"/>
                <a:cs typeface="Times New Roman"/>
              </a:rPr>
              <a:t>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nearest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town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60 </a:t>
            </a:r>
            <a:r>
              <a:rPr dirty="0" sz="1100" spc="-5" b="1">
                <a:latin typeface="Times New Roman"/>
                <a:cs typeface="Times New Roman"/>
              </a:rPr>
              <a:t>miles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away.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7380" y="342390"/>
            <a:ext cx="174498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 Elementary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84111" y="342390"/>
            <a:ext cx="22669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788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10019" y="9493248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32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400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257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27308" y="686053"/>
            <a:ext cx="6062345" cy="82251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699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road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crew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startled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sight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three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large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moose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crossing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road</a:t>
            </a:r>
            <a:r>
              <a:rPr dirty="0" sz="1100" spc="-5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290"/>
              </a:lnSpc>
            </a:pPr>
            <a:r>
              <a:rPr dirty="0" sz="1100" spc="-5" b="1">
                <a:latin typeface="Times New Roman"/>
                <a:cs typeface="Times New Roman"/>
              </a:rPr>
              <a:t>Concrete</a:t>
            </a:r>
            <a:r>
              <a:rPr dirty="0" sz="1100" spc="-35" b="1">
                <a:latin typeface="Times New Roman"/>
                <a:cs typeface="Times New Roman"/>
              </a:rPr>
              <a:t> </a:t>
            </a:r>
            <a:r>
              <a:rPr dirty="0" sz="1100" spc="-10" b="1">
                <a:latin typeface="Times New Roman"/>
                <a:cs typeface="Times New Roman"/>
              </a:rPr>
              <a:t>Nouns</a:t>
            </a:r>
            <a:endParaRPr sz="1100">
              <a:latin typeface="Times New Roman"/>
              <a:cs typeface="Times New Roman"/>
            </a:endParaRPr>
          </a:p>
          <a:p>
            <a:pPr marL="12700" marR="61594">
              <a:lnSpc>
                <a:spcPts val="1270"/>
              </a:lnSpc>
              <a:spcBef>
                <a:spcPts val="55"/>
              </a:spcBef>
            </a:pP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concrete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noun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noun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names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anything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anyone)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perceive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through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physical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Senses: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touch,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sight,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taste,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hearing,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smell.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concrete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noun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opposite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abstract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noun.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00"/>
              </a:lnSpc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highlighted</a:t>
            </a:r>
            <a:r>
              <a:rPr dirty="0" sz="1100" spc="2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concrete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nouns: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265"/>
              </a:lnSpc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judge </a:t>
            </a:r>
            <a:r>
              <a:rPr dirty="0" sz="1100" spc="-5">
                <a:latin typeface="Times New Roman"/>
                <a:cs typeface="Times New Roman"/>
              </a:rPr>
              <a:t>handed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files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clerk</a:t>
            </a:r>
            <a:r>
              <a:rPr dirty="0" sz="1100" spc="-5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265"/>
              </a:lnSpc>
            </a:pPr>
            <a:r>
              <a:rPr dirty="0" sz="1100" spc="-5">
                <a:latin typeface="Times New Roman"/>
                <a:cs typeface="Times New Roman"/>
              </a:rPr>
              <a:t>Whenever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take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dog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beach</a:t>
            </a:r>
            <a:r>
              <a:rPr dirty="0" sz="1100" spc="-5">
                <a:latin typeface="Times New Roman"/>
                <a:cs typeface="Times New Roman"/>
              </a:rPr>
              <a:t>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spends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hours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chasing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waves</a:t>
            </a:r>
            <a:r>
              <a:rPr dirty="0" sz="1100" spc="-5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290"/>
              </a:lnSpc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book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binder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replaced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flimsy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paper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cover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sturdy,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cloth-covered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board</a:t>
            </a:r>
            <a:r>
              <a:rPr dirty="0" sz="1100" spc="-5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>
              <a:lnSpc>
                <a:spcPts val="1290"/>
              </a:lnSpc>
            </a:pPr>
            <a:r>
              <a:rPr dirty="0" sz="1100" spc="-5" b="1">
                <a:latin typeface="Times New Roman"/>
                <a:cs typeface="Times New Roman"/>
              </a:rPr>
              <a:t>Abstract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Nouns</a:t>
            </a:r>
            <a:endParaRPr sz="1100">
              <a:latin typeface="Times New Roman"/>
              <a:cs typeface="Times New Roman"/>
            </a:endParaRPr>
          </a:p>
          <a:p>
            <a:pPr algn="just" marL="12700" marR="5715">
              <a:lnSpc>
                <a:spcPct val="95700"/>
              </a:lnSpc>
              <a:spcBef>
                <a:spcPts val="25"/>
              </a:spcBef>
            </a:pPr>
            <a:r>
              <a:rPr dirty="0" sz="1100" spc="-5">
                <a:latin typeface="Times New Roman"/>
                <a:cs typeface="Times New Roman"/>
              </a:rPr>
              <a:t>An </a:t>
            </a:r>
            <a:r>
              <a:rPr dirty="0" sz="1100" spc="-5" b="1">
                <a:latin typeface="Times New Roman"/>
                <a:cs typeface="Times New Roman"/>
              </a:rPr>
              <a:t>abstract noun </a:t>
            </a:r>
            <a:r>
              <a:rPr dirty="0" sz="1100" spc="-5">
                <a:latin typeface="Times New Roman"/>
                <a:cs typeface="Times New Roman"/>
              </a:rPr>
              <a:t>is a noun which names anything which you </a:t>
            </a:r>
            <a:r>
              <a:rPr dirty="0" sz="1100" spc="-10">
                <a:latin typeface="Times New Roman"/>
                <a:cs typeface="Times New Roman"/>
              </a:rPr>
              <a:t>can </a:t>
            </a:r>
            <a:r>
              <a:rPr dirty="0" sz="1100" spc="-5" i="1">
                <a:latin typeface="Times New Roman"/>
                <a:cs typeface="Times New Roman"/>
              </a:rPr>
              <a:t>not </a:t>
            </a:r>
            <a:r>
              <a:rPr dirty="0" sz="1100" spc="-5">
                <a:latin typeface="Times New Roman"/>
                <a:cs typeface="Times New Roman"/>
              </a:rPr>
              <a:t>perceive through your five physical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senses, and is the opposite of a concrete noun. The </a:t>
            </a:r>
            <a:r>
              <a:rPr dirty="0" sz="1100" spc="-5" b="1">
                <a:latin typeface="Times New Roman"/>
                <a:cs typeface="Times New Roman"/>
              </a:rPr>
              <a:t>highlighted </a:t>
            </a:r>
            <a:r>
              <a:rPr dirty="0" sz="1100" spc="-5">
                <a:latin typeface="Times New Roman"/>
                <a:cs typeface="Times New Roman"/>
              </a:rPr>
              <a:t>words in the following </a:t>
            </a:r>
            <a:r>
              <a:rPr dirty="0" sz="1100" spc="-10">
                <a:latin typeface="Times New Roman"/>
                <a:cs typeface="Times New Roman"/>
              </a:rPr>
              <a:t>sentences </a:t>
            </a:r>
            <a:r>
              <a:rPr dirty="0" sz="1100" spc="-5">
                <a:latin typeface="Times New Roman"/>
                <a:cs typeface="Times New Roman"/>
              </a:rPr>
              <a:t>are </a:t>
            </a:r>
            <a:r>
              <a:rPr dirty="0" sz="1100" spc="-10">
                <a:latin typeface="Times New Roman"/>
                <a:cs typeface="Times New Roman"/>
              </a:rPr>
              <a:t>all </a:t>
            </a:r>
            <a:r>
              <a:rPr dirty="0" sz="1100" spc="-5">
                <a:latin typeface="Times New Roman"/>
                <a:cs typeface="Times New Roman"/>
              </a:rPr>
              <a:t> abstract nouns: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240"/>
              </a:lnSpc>
            </a:pPr>
            <a:r>
              <a:rPr dirty="0" sz="1100" spc="-5">
                <a:latin typeface="Times New Roman"/>
                <a:cs typeface="Times New Roman"/>
              </a:rPr>
              <a:t>Buying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extinguisher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afterthought</a:t>
            </a:r>
            <a:r>
              <a:rPr dirty="0" sz="1100" spc="-5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  <a:p>
            <a:pPr marL="469900" marR="2083435">
              <a:lnSpc>
                <a:spcPts val="1270"/>
              </a:lnSpc>
              <a:spcBef>
                <a:spcPts val="60"/>
              </a:spcBef>
            </a:pPr>
            <a:r>
              <a:rPr dirty="0" sz="1100" spc="-5">
                <a:latin typeface="Times New Roman"/>
                <a:cs typeface="Times New Roman"/>
              </a:rPr>
              <a:t>Tillie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amused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people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nostalgic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childhood</a:t>
            </a:r>
            <a:r>
              <a:rPr dirty="0" sz="1100" spc="-5">
                <a:latin typeface="Times New Roman"/>
                <a:cs typeface="Times New Roman"/>
              </a:rPr>
              <a:t>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Justice </a:t>
            </a:r>
            <a:r>
              <a:rPr dirty="0" sz="1100" spc="-5">
                <a:latin typeface="Times New Roman"/>
                <a:cs typeface="Times New Roman"/>
              </a:rPr>
              <a:t>often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seems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slip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 our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grasp.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230"/>
              </a:lnSpc>
            </a:pPr>
            <a:r>
              <a:rPr dirty="0" sz="1100" spc="-5">
                <a:latin typeface="Times New Roman"/>
                <a:cs typeface="Times New Roman"/>
              </a:rPr>
              <a:t>Some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scientists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believe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schizophrenia</a:t>
            </a:r>
            <a:r>
              <a:rPr dirty="0" sz="1100" spc="2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transmitted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genetically.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>
              <a:lnSpc>
                <a:spcPts val="1290"/>
              </a:lnSpc>
            </a:pPr>
            <a:r>
              <a:rPr dirty="0" sz="1100" spc="-5" b="1">
                <a:latin typeface="Times New Roman"/>
                <a:cs typeface="Times New Roman"/>
              </a:rPr>
              <a:t>Countable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Nouns</a:t>
            </a:r>
            <a:endParaRPr sz="1100">
              <a:latin typeface="Times New Roman"/>
              <a:cs typeface="Times New Roman"/>
            </a:endParaRPr>
          </a:p>
          <a:p>
            <a:pPr algn="just" marL="12700" marR="6350">
              <a:lnSpc>
                <a:spcPts val="1270"/>
              </a:lnSpc>
              <a:spcBef>
                <a:spcPts val="55"/>
              </a:spcBef>
            </a:pPr>
            <a:r>
              <a:rPr dirty="0" sz="1100" spc="-5">
                <a:latin typeface="Times New Roman"/>
                <a:cs typeface="Times New Roman"/>
              </a:rPr>
              <a:t>A </a:t>
            </a:r>
            <a:r>
              <a:rPr dirty="0" sz="1100" spc="-5" b="1">
                <a:latin typeface="Times New Roman"/>
                <a:cs typeface="Times New Roman"/>
              </a:rPr>
              <a:t>countable noun </a:t>
            </a:r>
            <a:r>
              <a:rPr dirty="0" sz="1100" spc="-5">
                <a:latin typeface="Times New Roman"/>
                <a:cs typeface="Times New Roman"/>
              </a:rPr>
              <a:t>(or </a:t>
            </a:r>
            <a:r>
              <a:rPr dirty="0" sz="1100" spc="-5" b="1">
                <a:latin typeface="Times New Roman"/>
                <a:cs typeface="Times New Roman"/>
              </a:rPr>
              <a:t>count noun</a:t>
            </a:r>
            <a:r>
              <a:rPr dirty="0" sz="1100" spc="-5">
                <a:latin typeface="Times New Roman"/>
                <a:cs typeface="Times New Roman"/>
              </a:rPr>
              <a:t>) is a noun with both a singular and a plural form, and it names anything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(or anyone) that </a:t>
            </a:r>
            <a:r>
              <a:rPr dirty="0" sz="1100">
                <a:latin typeface="Times New Roman"/>
                <a:cs typeface="Times New Roman"/>
              </a:rPr>
              <a:t>you </a:t>
            </a:r>
            <a:r>
              <a:rPr dirty="0" sz="1100" spc="-5">
                <a:latin typeface="Times New Roman"/>
                <a:cs typeface="Times New Roman"/>
              </a:rPr>
              <a:t>can </a:t>
            </a:r>
            <a:r>
              <a:rPr dirty="0" sz="1100" spc="-5" i="1">
                <a:latin typeface="Times New Roman"/>
                <a:cs typeface="Times New Roman"/>
              </a:rPr>
              <a:t>count</a:t>
            </a:r>
            <a:r>
              <a:rPr dirty="0" sz="1100" spc="-5">
                <a:latin typeface="Times New Roman"/>
                <a:cs typeface="Times New Roman"/>
              </a:rPr>
              <a:t>. In each of the following sentences, the </a:t>
            </a:r>
            <a:r>
              <a:rPr dirty="0" sz="1100" spc="-5" b="1">
                <a:latin typeface="Times New Roman"/>
                <a:cs typeface="Times New Roman"/>
              </a:rPr>
              <a:t>highlighted </a:t>
            </a:r>
            <a:r>
              <a:rPr dirty="0" sz="1100" spc="-5">
                <a:latin typeface="Times New Roman"/>
                <a:cs typeface="Times New Roman"/>
              </a:rPr>
              <a:t>words are countable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nouns:</a:t>
            </a:r>
            <a:endParaRPr sz="1100">
              <a:latin typeface="Times New Roman"/>
              <a:cs typeface="Times New Roman"/>
            </a:endParaRPr>
          </a:p>
          <a:p>
            <a:pPr algn="just" marL="469900">
              <a:lnSpc>
                <a:spcPts val="1195"/>
              </a:lnSpc>
            </a:pP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painted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table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chairs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blue.</a:t>
            </a:r>
            <a:endParaRPr sz="1100">
              <a:latin typeface="Times New Roman"/>
              <a:cs typeface="Times New Roman"/>
            </a:endParaRPr>
          </a:p>
          <a:p>
            <a:pPr algn="just" marL="469900" marR="2670810" indent="-635">
              <a:lnSpc>
                <a:spcPts val="1270"/>
              </a:lnSpc>
              <a:spcBef>
                <a:spcPts val="50"/>
              </a:spcBef>
            </a:pPr>
            <a:r>
              <a:rPr dirty="0" sz="1100" spc="-5">
                <a:latin typeface="Times New Roman"/>
                <a:cs typeface="Times New Roman"/>
              </a:rPr>
              <a:t>Miriam found six silver </a:t>
            </a:r>
            <a:r>
              <a:rPr dirty="0" sz="1100" spc="-5" b="1">
                <a:latin typeface="Times New Roman"/>
                <a:cs typeface="Times New Roman"/>
              </a:rPr>
              <a:t>dollars </a:t>
            </a:r>
            <a:r>
              <a:rPr dirty="0" sz="1100" spc="-5">
                <a:latin typeface="Times New Roman"/>
                <a:cs typeface="Times New Roman"/>
              </a:rPr>
              <a:t>in the </a:t>
            </a:r>
            <a:r>
              <a:rPr dirty="0" sz="1100" spc="-5" b="1">
                <a:latin typeface="Times New Roman"/>
                <a:cs typeface="Times New Roman"/>
              </a:rPr>
              <a:t>toe </a:t>
            </a:r>
            <a:r>
              <a:rPr dirty="0" sz="1100" spc="-5">
                <a:latin typeface="Times New Roman"/>
                <a:cs typeface="Times New Roman"/>
              </a:rPr>
              <a:t>of a </a:t>
            </a:r>
            <a:r>
              <a:rPr dirty="0" sz="1100" spc="-5" b="1">
                <a:latin typeface="Times New Roman"/>
                <a:cs typeface="Times New Roman"/>
              </a:rPr>
              <a:t>sock</a:t>
            </a:r>
            <a:r>
              <a:rPr dirty="0" sz="1100" spc="-5">
                <a:latin typeface="Times New Roman"/>
                <a:cs typeface="Times New Roman"/>
              </a:rPr>
              <a:t>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oak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tree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lost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three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branches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hurricane</a:t>
            </a:r>
            <a:r>
              <a:rPr dirty="0" sz="1100" spc="-5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ts val="1290"/>
              </a:lnSpc>
            </a:pPr>
            <a:r>
              <a:rPr dirty="0" sz="1100" spc="-5" b="1">
                <a:latin typeface="Times New Roman"/>
                <a:cs typeface="Times New Roman"/>
              </a:rPr>
              <a:t>Non-Countable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Nouns</a:t>
            </a:r>
            <a:endParaRPr sz="1100">
              <a:latin typeface="Times New Roman"/>
              <a:cs typeface="Times New Roman"/>
            </a:endParaRPr>
          </a:p>
          <a:p>
            <a:pPr marL="12700" marR="5715" indent="-635">
              <a:lnSpc>
                <a:spcPts val="1260"/>
              </a:lnSpc>
              <a:spcBef>
                <a:spcPts val="65"/>
              </a:spcBef>
            </a:pP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non-countable</a:t>
            </a:r>
            <a:r>
              <a:rPr dirty="0" sz="1100" spc="7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noun</a:t>
            </a:r>
            <a:r>
              <a:rPr dirty="0" sz="1100" spc="8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(or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mass</a:t>
            </a:r>
            <a:r>
              <a:rPr dirty="0" sz="1100" spc="7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noun</a:t>
            </a:r>
            <a:r>
              <a:rPr dirty="0" sz="1100" spc="-5">
                <a:latin typeface="Times New Roman"/>
                <a:cs typeface="Times New Roman"/>
              </a:rPr>
              <a:t>)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noun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does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plural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form,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refers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something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could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would) not usually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count.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205"/>
              </a:lnSpc>
            </a:pPr>
            <a:r>
              <a:rPr dirty="0" sz="1100" spc="-5">
                <a:latin typeface="Times New Roman"/>
                <a:cs typeface="Times New Roman"/>
              </a:rPr>
              <a:t>Joseph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Priestly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discovered </a:t>
            </a:r>
            <a:r>
              <a:rPr dirty="0" sz="1100" spc="-5" b="1">
                <a:latin typeface="Times New Roman"/>
                <a:cs typeface="Times New Roman"/>
              </a:rPr>
              <a:t>oxygen</a:t>
            </a:r>
            <a:r>
              <a:rPr dirty="0" sz="1100" spc="-5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295"/>
              </a:lnSpc>
            </a:pP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decided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sell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furniture.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>
              <a:lnSpc>
                <a:spcPts val="1290"/>
              </a:lnSpc>
            </a:pPr>
            <a:r>
              <a:rPr dirty="0" sz="1100" spc="-5" b="1">
                <a:latin typeface="Times New Roman"/>
                <a:cs typeface="Times New Roman"/>
              </a:rPr>
              <a:t>Collective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Nouns</a:t>
            </a:r>
            <a:endParaRPr sz="1100">
              <a:latin typeface="Times New Roman"/>
              <a:cs typeface="Times New Roman"/>
            </a:endParaRPr>
          </a:p>
          <a:p>
            <a:pPr algn="just" marL="12700" marR="5080" indent="-635">
              <a:lnSpc>
                <a:spcPct val="95700"/>
              </a:lnSpc>
              <a:spcBef>
                <a:spcPts val="25"/>
              </a:spcBef>
            </a:pPr>
            <a:r>
              <a:rPr dirty="0" sz="1100" spc="-5">
                <a:latin typeface="Times New Roman"/>
                <a:cs typeface="Times New Roman"/>
              </a:rPr>
              <a:t>A </a:t>
            </a:r>
            <a:r>
              <a:rPr dirty="0" sz="1100" spc="-5" b="1">
                <a:latin typeface="Times New Roman"/>
                <a:cs typeface="Times New Roman"/>
              </a:rPr>
              <a:t>collective noun </a:t>
            </a:r>
            <a:r>
              <a:rPr dirty="0" sz="1100" spc="-5">
                <a:latin typeface="Times New Roman"/>
                <a:cs typeface="Times New Roman"/>
              </a:rPr>
              <a:t>is a noun naming a group of things, animals,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persons. You could count the individual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members of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group, but you usually think of the group as a whole is generally as one unit. </a:t>
            </a:r>
            <a:r>
              <a:rPr dirty="0" sz="1100" spc="-1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each of 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highlighted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collective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noun:</a:t>
            </a:r>
            <a:endParaRPr sz="1100">
              <a:latin typeface="Times New Roman"/>
              <a:cs typeface="Times New Roman"/>
            </a:endParaRPr>
          </a:p>
          <a:p>
            <a:pPr marL="469900" marR="2395220">
              <a:lnSpc>
                <a:spcPts val="1270"/>
              </a:lnSpc>
              <a:spcBef>
                <a:spcPts val="30"/>
              </a:spcBef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flock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geese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spends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most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time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pasture.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jury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dining 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take-out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chicken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tonight.</a:t>
            </a:r>
            <a:endParaRPr sz="1100">
              <a:latin typeface="Times New Roman"/>
              <a:cs typeface="Times New Roman"/>
            </a:endParaRPr>
          </a:p>
          <a:p>
            <a:pPr marL="469900" marR="2233930">
              <a:lnSpc>
                <a:spcPts val="1260"/>
              </a:lnSpc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steering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committee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meets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every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Wednesday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afternoon.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class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startled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by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bursting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light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bulb.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00">
              <a:latin typeface="Times New Roman"/>
              <a:cs typeface="Times New Roman"/>
            </a:endParaRPr>
          </a:p>
          <a:p>
            <a:pPr algn="just" marL="12700">
              <a:lnSpc>
                <a:spcPts val="1290"/>
              </a:lnSpc>
              <a:spcBef>
                <a:spcPts val="5"/>
              </a:spcBef>
            </a:pPr>
            <a:r>
              <a:rPr dirty="0" sz="1100" spc="-5" b="1">
                <a:latin typeface="Times New Roman"/>
                <a:cs typeface="Times New Roman"/>
              </a:rPr>
              <a:t>WHAT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IS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10" b="1">
                <a:latin typeface="Times New Roman"/>
                <a:cs typeface="Times New Roman"/>
              </a:rPr>
              <a:t>VERB?</a:t>
            </a:r>
            <a:endParaRPr sz="1100">
              <a:latin typeface="Times New Roman"/>
              <a:cs typeface="Times New Roman"/>
            </a:endParaRPr>
          </a:p>
          <a:p>
            <a:pPr algn="just" marL="12700" marR="6350" indent="-635">
              <a:lnSpc>
                <a:spcPts val="1270"/>
              </a:lnSpc>
              <a:spcBef>
                <a:spcPts val="50"/>
              </a:spcBef>
            </a:pPr>
            <a:r>
              <a:rPr dirty="0" sz="1100" spc="-5">
                <a:latin typeface="Times New Roman"/>
                <a:cs typeface="Times New Roman"/>
              </a:rPr>
              <a:t>The verb is perhaps the most important part of the sentence. A </a:t>
            </a:r>
            <a:r>
              <a:rPr dirty="0" sz="1100" spc="-5" b="1">
                <a:latin typeface="Times New Roman"/>
                <a:cs typeface="Times New Roman"/>
              </a:rPr>
              <a:t>verb </a:t>
            </a:r>
            <a:r>
              <a:rPr dirty="0" sz="1100" spc="-5">
                <a:latin typeface="Times New Roman"/>
                <a:cs typeface="Times New Roman"/>
              </a:rPr>
              <a:t>or compound verb asserts something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 the subject of the sentence and express actions, events, or states of being. The verb or compound verb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critical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element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predicate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sentence.</a:t>
            </a:r>
            <a:endParaRPr sz="1100">
              <a:latin typeface="Times New Roman"/>
              <a:cs typeface="Times New Roman"/>
            </a:endParaRPr>
          </a:p>
          <a:p>
            <a:pPr algn="just" marL="12700">
              <a:lnSpc>
                <a:spcPts val="1190"/>
              </a:lnSpc>
            </a:pP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each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sentences,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verb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compound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verb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highlighted</a:t>
            </a:r>
            <a:r>
              <a:rPr dirty="0" sz="1100" spc="-5">
                <a:latin typeface="Times New Roman"/>
                <a:cs typeface="Times New Roman"/>
              </a:rPr>
              <a:t>: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265"/>
              </a:lnSpc>
            </a:pPr>
            <a:r>
              <a:rPr dirty="0" sz="1100" spc="-10">
                <a:latin typeface="Times New Roman"/>
                <a:cs typeface="Times New Roman"/>
              </a:rPr>
              <a:t>Dracula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bites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victims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neck.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265"/>
              </a:lnSpc>
            </a:pP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early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October,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Giselle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will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plant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twenty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tulip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bulbs.</a:t>
            </a:r>
            <a:endParaRPr sz="1100">
              <a:latin typeface="Times New Roman"/>
              <a:cs typeface="Times New Roman"/>
            </a:endParaRPr>
          </a:p>
          <a:p>
            <a:pPr marL="469900" marR="102870">
              <a:lnSpc>
                <a:spcPts val="1270"/>
              </a:lnSpc>
              <a:spcBef>
                <a:spcPts val="60"/>
              </a:spcBef>
            </a:pPr>
            <a:r>
              <a:rPr dirty="0" sz="1100" spc="-5">
                <a:latin typeface="Times New Roman"/>
                <a:cs typeface="Times New Roman"/>
              </a:rPr>
              <a:t>My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first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teacher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was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Miss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Crawford,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remember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janitor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Mr.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Weatherbee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vividly.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Karl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Creelman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bicycled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around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1899,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diaries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bicycle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were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destroyed</a:t>
            </a:r>
            <a:r>
              <a:rPr dirty="0" sz="1100" spc="-5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360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67219" y="9493248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33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972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84566" y="342390"/>
            <a:ext cx="6083300" cy="85686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869305" algn="l"/>
              </a:tabLst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l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</a:t>
            </a:r>
            <a:r>
              <a:rPr dirty="0" sz="1100" spc="-15">
                <a:solidFill>
                  <a:srgbClr val="323232"/>
                </a:solidFill>
                <a:latin typeface="Times New Roman"/>
                <a:cs typeface="Times New Roman"/>
              </a:rPr>
              <a:t>m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entary</a:t>
            </a:r>
            <a:r>
              <a:rPr dirty="0" sz="1100" spc="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g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lish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290"/>
              </a:lnSpc>
            </a:pPr>
            <a:r>
              <a:rPr dirty="0" sz="1100" spc="-5" b="1">
                <a:latin typeface="Times New Roman"/>
                <a:cs typeface="Times New Roman"/>
              </a:rPr>
              <a:t>WHAT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IS </a:t>
            </a:r>
            <a:r>
              <a:rPr dirty="0" sz="1100" b="1">
                <a:latin typeface="Times New Roman"/>
                <a:cs typeface="Times New Roman"/>
              </a:rPr>
              <a:t>AN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ADJECTIVE?</a:t>
            </a:r>
            <a:endParaRPr sz="1100">
              <a:latin typeface="Times New Roman"/>
              <a:cs typeface="Times New Roman"/>
            </a:endParaRPr>
          </a:p>
          <a:p>
            <a:pPr marL="12700" marR="27940" indent="-635">
              <a:lnSpc>
                <a:spcPts val="1260"/>
              </a:lnSpc>
              <a:spcBef>
                <a:spcPts val="60"/>
              </a:spcBef>
            </a:pP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adjective</a:t>
            </a:r>
            <a:r>
              <a:rPr dirty="0" sz="1100" spc="7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modifies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noun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pronoun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by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describing,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identifying,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quantifying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words.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adjective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usually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precedes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noun 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pronoun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modifies.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05"/>
              </a:lnSpc>
            </a:pP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following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examples,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highlighted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adjectives: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265"/>
              </a:lnSpc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truck-shaped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balloon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floated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over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treetops.</a:t>
            </a:r>
            <a:endParaRPr sz="1100">
              <a:latin typeface="Times New Roman"/>
              <a:cs typeface="Times New Roman"/>
            </a:endParaRPr>
          </a:p>
          <a:p>
            <a:pPr marL="469900" marR="1860550" indent="-635">
              <a:lnSpc>
                <a:spcPts val="1270"/>
              </a:lnSpc>
              <a:spcBef>
                <a:spcPts val="60"/>
              </a:spcBef>
            </a:pPr>
            <a:r>
              <a:rPr dirty="0" sz="1100" spc="-5">
                <a:latin typeface="Times New Roman"/>
                <a:cs typeface="Times New Roman"/>
              </a:rPr>
              <a:t>Mrs.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Morrison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papered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kitchen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walls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hideous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wall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paper.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small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foundered 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wine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dark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sea.</a:t>
            </a:r>
            <a:endParaRPr sz="1100">
              <a:latin typeface="Times New Roman"/>
              <a:cs typeface="Times New Roman"/>
            </a:endParaRPr>
          </a:p>
          <a:p>
            <a:pPr marL="467359">
              <a:lnSpc>
                <a:spcPts val="1200"/>
              </a:lnSpc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coal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mines are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dark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dank</a:t>
            </a:r>
            <a:r>
              <a:rPr dirty="0" sz="1100" spc="-5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  <a:p>
            <a:pPr marL="469900" marR="1710689">
              <a:lnSpc>
                <a:spcPts val="1270"/>
              </a:lnSpc>
              <a:spcBef>
                <a:spcPts val="50"/>
              </a:spcBef>
            </a:pPr>
            <a:r>
              <a:rPr dirty="0" sz="1100" spc="-5" b="1">
                <a:latin typeface="Times New Roman"/>
                <a:cs typeface="Times New Roman"/>
              </a:rPr>
              <a:t>Many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stores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already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begun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play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irritating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10" b="1">
                <a:latin typeface="Times New Roman"/>
                <a:cs typeface="Times New Roman"/>
              </a:rPr>
              <a:t>Christmas</a:t>
            </a:r>
            <a:r>
              <a:rPr dirty="0" sz="1100" spc="2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music.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battered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10" b="1">
                <a:latin typeface="Times New Roman"/>
                <a:cs typeface="Times New Roman"/>
              </a:rPr>
              <a:t>music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box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mahogany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sideboard.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230"/>
              </a:lnSpc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back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room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filled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large</a:t>
            </a:r>
            <a:r>
              <a:rPr dirty="0" sz="1100" spc="-5">
                <a:latin typeface="Times New Roman"/>
                <a:cs typeface="Times New Roman"/>
              </a:rPr>
              <a:t>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yellow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rain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boots.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>
              <a:lnSpc>
                <a:spcPts val="1285"/>
              </a:lnSpc>
            </a:pPr>
            <a:r>
              <a:rPr dirty="0" sz="1100" spc="-5" b="1">
                <a:latin typeface="Times New Roman"/>
                <a:cs typeface="Times New Roman"/>
              </a:rPr>
              <a:t>Possessive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Adjectives</a:t>
            </a:r>
            <a:endParaRPr sz="1100">
              <a:latin typeface="Times New Roman"/>
              <a:cs typeface="Times New Roman"/>
            </a:endParaRPr>
          </a:p>
          <a:p>
            <a:pPr algn="just" marL="12700" marR="27305">
              <a:lnSpc>
                <a:spcPts val="1270"/>
              </a:lnSpc>
              <a:spcBef>
                <a:spcPts val="55"/>
              </a:spcBef>
            </a:pPr>
            <a:r>
              <a:rPr dirty="0" sz="1100" spc="-5">
                <a:latin typeface="Times New Roman"/>
                <a:cs typeface="Times New Roman"/>
              </a:rPr>
              <a:t>A </a:t>
            </a:r>
            <a:r>
              <a:rPr dirty="0" sz="1100" spc="-5" b="1">
                <a:latin typeface="Times New Roman"/>
                <a:cs typeface="Times New Roman"/>
              </a:rPr>
              <a:t>possessive adjective </a:t>
            </a:r>
            <a:r>
              <a:rPr dirty="0" sz="1100" spc="-5">
                <a:latin typeface="Times New Roman"/>
                <a:cs typeface="Times New Roman"/>
              </a:rPr>
              <a:t>(``my,'' ``your,'' ``his,'' ``her,'' ``its,'' ``our,'' ``their'')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similar or identical to a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possessive pronoun; however, it is used as an adjective and modifies a noun or a noun phrase, as in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following sentences:</a:t>
            </a:r>
            <a:endParaRPr sz="1100">
              <a:latin typeface="Times New Roman"/>
              <a:cs typeface="Times New Roman"/>
            </a:endParaRPr>
          </a:p>
          <a:p>
            <a:pPr algn="just" marL="469900">
              <a:lnSpc>
                <a:spcPts val="1195"/>
              </a:lnSpc>
            </a:pP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 </a:t>
            </a:r>
            <a:r>
              <a:rPr dirty="0" sz="1100" spc="-5" b="1">
                <a:latin typeface="Times New Roman"/>
                <a:cs typeface="Times New Roman"/>
              </a:rPr>
              <a:t>your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phone number?</a:t>
            </a:r>
            <a:endParaRPr sz="1100">
              <a:latin typeface="Times New Roman"/>
              <a:cs typeface="Times New Roman"/>
            </a:endParaRPr>
          </a:p>
          <a:p>
            <a:pPr algn="just" marL="469900">
              <a:lnSpc>
                <a:spcPts val="1295"/>
              </a:lnSpc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bakery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sold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his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favorite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type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bread.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 algn="just" marL="12700">
              <a:lnSpc>
                <a:spcPts val="1290"/>
              </a:lnSpc>
              <a:spcBef>
                <a:spcPts val="5"/>
              </a:spcBef>
            </a:pPr>
            <a:r>
              <a:rPr dirty="0" sz="1100" spc="-5" b="1">
                <a:latin typeface="Times New Roman"/>
                <a:cs typeface="Times New Roman"/>
              </a:rPr>
              <a:t>Demonstrative Adjectives</a:t>
            </a:r>
            <a:endParaRPr sz="1100">
              <a:latin typeface="Times New Roman"/>
              <a:cs typeface="Times New Roman"/>
            </a:endParaRPr>
          </a:p>
          <a:p>
            <a:pPr algn="just" marL="12700" marR="26034">
              <a:lnSpc>
                <a:spcPts val="1270"/>
              </a:lnSpc>
              <a:spcBef>
                <a:spcPts val="50"/>
              </a:spcBef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demonstrative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adjectives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``this,''</a:t>
            </a:r>
            <a:r>
              <a:rPr dirty="0" sz="1100" spc="-5">
                <a:latin typeface="Times New Roman"/>
                <a:cs typeface="Times New Roman"/>
              </a:rPr>
              <a:t> ``these,''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``that,''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``those,''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``what''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identical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demonstrative pronouns, but are used as adjectives to modify nouns or noun phrases, as in the following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sentences: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195"/>
              </a:lnSpc>
            </a:pPr>
            <a:r>
              <a:rPr dirty="0" sz="1100" spc="-5" b="1">
                <a:latin typeface="Times New Roman"/>
                <a:cs typeface="Times New Roman"/>
              </a:rPr>
              <a:t>This </a:t>
            </a:r>
            <a:r>
              <a:rPr dirty="0" sz="1100" spc="-5">
                <a:latin typeface="Times New Roman"/>
                <a:cs typeface="Times New Roman"/>
              </a:rPr>
              <a:t>apartment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needs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 fumigated.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265"/>
              </a:lnSpc>
            </a:pPr>
            <a:r>
              <a:rPr dirty="0" sz="1100" spc="-5">
                <a:latin typeface="Times New Roman"/>
                <a:cs typeface="Times New Roman"/>
              </a:rPr>
              <a:t>Even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though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friend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preferred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those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plates,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bought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these.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265"/>
              </a:lnSpc>
            </a:pPr>
            <a:r>
              <a:rPr dirty="0" sz="1100" spc="-5" b="1">
                <a:latin typeface="Times New Roman"/>
                <a:cs typeface="Times New Roman"/>
              </a:rPr>
              <a:t>Which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plants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should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watered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twice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week?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295"/>
              </a:lnSpc>
            </a:pPr>
            <a:r>
              <a:rPr dirty="0" sz="1100" spc="-5" b="1">
                <a:latin typeface="Times New Roman"/>
                <a:cs typeface="Times New Roman"/>
              </a:rPr>
              <a:t>What </a:t>
            </a:r>
            <a:r>
              <a:rPr dirty="0" sz="1100" spc="-5">
                <a:latin typeface="Times New Roman"/>
                <a:cs typeface="Times New Roman"/>
              </a:rPr>
              <a:t>book are you reading?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285"/>
              </a:lnSpc>
            </a:pPr>
            <a:r>
              <a:rPr dirty="0" sz="1100" spc="-5" b="1">
                <a:latin typeface="Times New Roman"/>
                <a:cs typeface="Times New Roman"/>
              </a:rPr>
              <a:t>Indefinite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Adjectives</a:t>
            </a:r>
            <a:endParaRPr sz="1100">
              <a:latin typeface="Times New Roman"/>
              <a:cs typeface="Times New Roman"/>
            </a:endParaRPr>
          </a:p>
          <a:p>
            <a:pPr marL="12700" marR="26034">
              <a:lnSpc>
                <a:spcPts val="1270"/>
              </a:lnSpc>
              <a:spcBef>
                <a:spcPts val="55"/>
              </a:spcBef>
            </a:pP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indefinite</a:t>
            </a:r>
            <a:r>
              <a:rPr dirty="0" sz="1100" spc="16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adjective</a:t>
            </a:r>
            <a:r>
              <a:rPr dirty="0" sz="1100" spc="16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similar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indefinite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pronoun,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except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modifies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noun,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pronoun,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noun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phrase,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sentences: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200"/>
              </a:lnSpc>
            </a:pPr>
            <a:r>
              <a:rPr dirty="0" sz="1100" spc="-5" b="1">
                <a:latin typeface="Times New Roman"/>
                <a:cs typeface="Times New Roman"/>
              </a:rPr>
              <a:t>Many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people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believe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corporations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under-taxed.</a:t>
            </a:r>
            <a:endParaRPr sz="1100">
              <a:latin typeface="Times New Roman"/>
              <a:cs typeface="Times New Roman"/>
            </a:endParaRPr>
          </a:p>
          <a:p>
            <a:pPr marL="12700" marR="26670">
              <a:lnSpc>
                <a:spcPts val="1270"/>
              </a:lnSpc>
              <a:spcBef>
                <a:spcPts val="55"/>
              </a:spcBef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indefinite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adjective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``many''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modifies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noun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``people''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noun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phrase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``many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people''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subject 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sentence.</a:t>
            </a:r>
            <a:endParaRPr sz="1100">
              <a:latin typeface="Times New Roman"/>
              <a:cs typeface="Times New Roman"/>
            </a:endParaRPr>
          </a:p>
          <a:p>
            <a:pPr marL="469900" marR="1638935">
              <a:lnSpc>
                <a:spcPts val="1260"/>
              </a:lnSpc>
            </a:pPr>
            <a:r>
              <a:rPr dirty="0" sz="1100" spc="-5">
                <a:latin typeface="Times New Roman"/>
                <a:cs typeface="Times New Roman"/>
              </a:rPr>
              <a:t>I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any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mail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arrives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after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moved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Sudbury.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found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 few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goldfish floating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belly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up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swan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pound.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00">
              <a:latin typeface="Times New Roman"/>
              <a:cs typeface="Times New Roman"/>
            </a:endParaRPr>
          </a:p>
          <a:p>
            <a:pPr algn="just" marL="12700">
              <a:lnSpc>
                <a:spcPts val="1290"/>
              </a:lnSpc>
            </a:pPr>
            <a:r>
              <a:rPr dirty="0" sz="1100" spc="-5" b="1">
                <a:latin typeface="Times New Roman"/>
                <a:cs typeface="Times New Roman"/>
              </a:rPr>
              <a:t>WHAT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IS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AN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ADVERB?</a:t>
            </a:r>
            <a:endParaRPr sz="1100">
              <a:latin typeface="Times New Roman"/>
              <a:cs typeface="Times New Roman"/>
            </a:endParaRPr>
          </a:p>
          <a:p>
            <a:pPr algn="just" marL="12700" marR="26670" indent="-635">
              <a:lnSpc>
                <a:spcPct val="95800"/>
              </a:lnSpc>
              <a:spcBef>
                <a:spcPts val="25"/>
              </a:spcBef>
            </a:pPr>
            <a:r>
              <a:rPr dirty="0" sz="1100" spc="-5">
                <a:latin typeface="Times New Roman"/>
                <a:cs typeface="Times New Roman"/>
              </a:rPr>
              <a:t>An </a:t>
            </a:r>
            <a:r>
              <a:rPr dirty="0" sz="1100" spc="-5" b="1">
                <a:latin typeface="Times New Roman"/>
                <a:cs typeface="Times New Roman"/>
              </a:rPr>
              <a:t>adverb </a:t>
            </a:r>
            <a:r>
              <a:rPr dirty="0" sz="1100" spc="-10">
                <a:latin typeface="Times New Roman"/>
                <a:cs typeface="Times New Roman"/>
              </a:rPr>
              <a:t>can </a:t>
            </a:r>
            <a:r>
              <a:rPr dirty="0" sz="1100" spc="-5">
                <a:latin typeface="Times New Roman"/>
                <a:cs typeface="Times New Roman"/>
              </a:rPr>
              <a:t>modify a verb, an adjective, another adverb, a phrase, or a clause. An adverb indicates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manner, time, place, cause, or degree and answers questions such as "how," "when," "where," "how much".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While some adverbs can be identified by their characteristic </a:t>
            </a:r>
            <a:r>
              <a:rPr dirty="0" sz="1100">
                <a:latin typeface="Times New Roman"/>
                <a:cs typeface="Times New Roman"/>
              </a:rPr>
              <a:t>"ly" </a:t>
            </a:r>
            <a:r>
              <a:rPr dirty="0" sz="1100" spc="-5">
                <a:latin typeface="Times New Roman"/>
                <a:cs typeface="Times New Roman"/>
              </a:rPr>
              <a:t>suffix, most of them must be identified by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untangling the grammatical relationships within the sentence or </a:t>
            </a:r>
            <a:r>
              <a:rPr dirty="0" sz="1100">
                <a:latin typeface="Times New Roman"/>
                <a:cs typeface="Times New Roman"/>
              </a:rPr>
              <a:t>clause </a:t>
            </a:r>
            <a:r>
              <a:rPr dirty="0" sz="1100" spc="-5">
                <a:latin typeface="Times New Roman"/>
                <a:cs typeface="Times New Roman"/>
              </a:rPr>
              <a:t>as a whole. Unlike an adjective, an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adverb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found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various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places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sentence.</a:t>
            </a:r>
            <a:endParaRPr sz="1100">
              <a:latin typeface="Times New Roman"/>
              <a:cs typeface="Times New Roman"/>
            </a:endParaRPr>
          </a:p>
          <a:p>
            <a:pPr algn="just" marL="469900" marR="2081530" indent="-457200">
              <a:lnSpc>
                <a:spcPts val="1270"/>
              </a:lnSpc>
              <a:spcBef>
                <a:spcPts val="30"/>
              </a:spcBef>
            </a:pPr>
            <a:r>
              <a:rPr dirty="0" sz="1100" spc="-5">
                <a:latin typeface="Times New Roman"/>
                <a:cs typeface="Times New Roman"/>
              </a:rPr>
              <a:t>In the following examples, each of the </a:t>
            </a:r>
            <a:r>
              <a:rPr dirty="0" sz="1100" spc="-5" b="1">
                <a:latin typeface="Times New Roman"/>
                <a:cs typeface="Times New Roman"/>
              </a:rPr>
              <a:t>highlighted </a:t>
            </a:r>
            <a:r>
              <a:rPr dirty="0" sz="1100" spc="-5">
                <a:latin typeface="Times New Roman"/>
                <a:cs typeface="Times New Roman"/>
              </a:rPr>
              <a:t>words is an adverb: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seamstress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quickly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made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mourning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clothes.</a:t>
            </a:r>
            <a:endParaRPr sz="1100">
              <a:latin typeface="Times New Roman"/>
              <a:cs typeface="Times New Roman"/>
            </a:endParaRPr>
          </a:p>
          <a:p>
            <a:pPr algn="just" marL="12700" marR="27305">
              <a:lnSpc>
                <a:spcPts val="1260"/>
              </a:lnSpc>
            </a:pPr>
            <a:r>
              <a:rPr dirty="0" sz="1100" spc="-5">
                <a:latin typeface="Times New Roman"/>
                <a:cs typeface="Times New Roman"/>
              </a:rPr>
              <a:t>In this sentence, the adverb "quickly" modifies the verb "made" and indicates in what manner (or how fast)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clothing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constructed.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205"/>
              </a:lnSpc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midwives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waited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patiently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through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labor.</a:t>
            </a:r>
            <a:endParaRPr sz="1100">
              <a:latin typeface="Times New Roman"/>
              <a:cs typeface="Times New Roman"/>
            </a:endParaRPr>
          </a:p>
          <a:p>
            <a:pPr marL="469900" marR="2366010">
              <a:lnSpc>
                <a:spcPts val="1270"/>
              </a:lnSpc>
              <a:spcBef>
                <a:spcPts val="60"/>
              </a:spcBef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boldly</a:t>
            </a:r>
            <a:r>
              <a:rPr dirty="0" sz="1100" spc="-5">
                <a:latin typeface="Times New Roman"/>
                <a:cs typeface="Times New Roman"/>
              </a:rPr>
              <a:t>-spoken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would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return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haunt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rebel.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urged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number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expeditiously</a:t>
            </a:r>
            <a:r>
              <a:rPr dirty="0" sz="1100" spc="-5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230"/>
              </a:lnSpc>
            </a:pPr>
            <a:r>
              <a:rPr dirty="0" sz="1100" spc="-5" b="1">
                <a:latin typeface="Times New Roman"/>
                <a:cs typeface="Times New Roman"/>
              </a:rPr>
              <a:t>Unfortunately</a:t>
            </a:r>
            <a:r>
              <a:rPr dirty="0" sz="1100" spc="-5">
                <a:latin typeface="Times New Roman"/>
                <a:cs typeface="Times New Roman"/>
              </a:rPr>
              <a:t>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bank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closed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three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today</a:t>
            </a:r>
            <a:r>
              <a:rPr dirty="0" sz="1100" spc="-5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829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788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10019" y="9493248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34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400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27380" y="342390"/>
            <a:ext cx="6083300" cy="2303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869305" algn="l"/>
              </a:tabLst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l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</a:t>
            </a:r>
            <a:r>
              <a:rPr dirty="0" sz="1100" spc="-15">
                <a:solidFill>
                  <a:srgbClr val="323232"/>
                </a:solidFill>
                <a:latin typeface="Times New Roman"/>
                <a:cs typeface="Times New Roman"/>
              </a:rPr>
              <a:t>m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entary</a:t>
            </a:r>
            <a:r>
              <a:rPr dirty="0" sz="1100" spc="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g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lish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290"/>
              </a:lnSpc>
            </a:pPr>
            <a:r>
              <a:rPr dirty="0" sz="1100" spc="-5" b="1">
                <a:latin typeface="Times New Roman"/>
                <a:cs typeface="Times New Roman"/>
              </a:rPr>
              <a:t>WHAT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IS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PRONOUN?</a:t>
            </a:r>
            <a:endParaRPr sz="1100">
              <a:latin typeface="Times New Roman"/>
              <a:cs typeface="Times New Roman"/>
            </a:endParaRPr>
          </a:p>
          <a:p>
            <a:pPr marL="12700" marR="27305" indent="-635">
              <a:lnSpc>
                <a:spcPts val="1260"/>
              </a:lnSpc>
              <a:spcBef>
                <a:spcPts val="60"/>
              </a:spcBef>
            </a:pP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pronoun</a:t>
            </a:r>
            <a:r>
              <a:rPr dirty="0" sz="1100" spc="18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replace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noun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another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pronoun.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pronouns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like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"he,"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"which,"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"none,"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"you"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make your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less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cumbersome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less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repetitive.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05"/>
              </a:lnSpc>
            </a:pPr>
            <a:r>
              <a:rPr dirty="0" sz="1100" spc="-5">
                <a:latin typeface="Times New Roman"/>
                <a:cs typeface="Times New Roman"/>
              </a:rPr>
              <a:t>Grammarians</a:t>
            </a:r>
            <a:r>
              <a:rPr dirty="0" sz="1100" spc="2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classify</a:t>
            </a:r>
            <a:r>
              <a:rPr dirty="0" sz="1100" spc="2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pronouns</a:t>
            </a:r>
            <a:r>
              <a:rPr dirty="0" sz="1100" spc="2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into</a:t>
            </a:r>
            <a:r>
              <a:rPr dirty="0" sz="1100" spc="2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several</a:t>
            </a:r>
            <a:r>
              <a:rPr dirty="0" sz="1100" spc="2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types,  </a:t>
            </a:r>
            <a:r>
              <a:rPr dirty="0" sz="1100" spc="-5">
                <a:latin typeface="Times New Roman"/>
                <a:cs typeface="Times New Roman"/>
              </a:rPr>
              <a:t>including</a:t>
            </a:r>
            <a:r>
              <a:rPr dirty="0" sz="1100" spc="2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personal</a:t>
            </a:r>
            <a:r>
              <a:rPr dirty="0" sz="1100" spc="2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pronoun,</a:t>
            </a:r>
            <a:r>
              <a:rPr dirty="0" sz="1100" spc="2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demonstrative</a:t>
            </a:r>
            <a:endParaRPr sz="1100">
              <a:latin typeface="Times New Roman"/>
              <a:cs typeface="Times New Roman"/>
            </a:endParaRPr>
          </a:p>
          <a:p>
            <a:pPr marL="12700" marR="27940">
              <a:lnSpc>
                <a:spcPts val="1270"/>
              </a:lnSpc>
              <a:spcBef>
                <a:spcPts val="60"/>
              </a:spcBef>
            </a:pPr>
            <a:r>
              <a:rPr dirty="0" sz="1100" spc="-5">
                <a:latin typeface="Times New Roman"/>
                <a:cs typeface="Times New Roman"/>
              </a:rPr>
              <a:t>pronoun,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interrogative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pronoun,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indefinite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pronoun,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relative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pronoun,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reflexive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pronoun,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intensive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pronoun.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ts val="1285"/>
              </a:lnSpc>
              <a:spcBef>
                <a:spcPts val="5"/>
              </a:spcBef>
            </a:pPr>
            <a:r>
              <a:rPr dirty="0" sz="1100" spc="-5" b="1">
                <a:latin typeface="Times New Roman"/>
                <a:cs typeface="Times New Roman"/>
              </a:rPr>
              <a:t>Personal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Pronouns</a:t>
            </a:r>
            <a:endParaRPr sz="1100">
              <a:latin typeface="Times New Roman"/>
              <a:cs typeface="Times New Roman"/>
            </a:endParaRPr>
          </a:p>
          <a:p>
            <a:pPr marL="12700" marR="27940">
              <a:lnSpc>
                <a:spcPts val="1270"/>
              </a:lnSpc>
              <a:spcBef>
                <a:spcPts val="50"/>
              </a:spcBef>
            </a:pP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personal</a:t>
            </a:r>
            <a:r>
              <a:rPr dirty="0" sz="1100" spc="8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pronoun</a:t>
            </a:r>
            <a:r>
              <a:rPr dirty="0" sz="1100" spc="8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refers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specific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person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thing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changes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its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indicate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person,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number,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gender, 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case.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Subjective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Personal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Pronouns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257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991361" y="2797302"/>
          <a:ext cx="5335905" cy="21818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32230"/>
                <a:gridCol w="1331595"/>
                <a:gridCol w="1332229"/>
                <a:gridCol w="1331595"/>
              </a:tblGrid>
              <a:tr h="2175509">
                <a:tc>
                  <a:txBody>
                    <a:bodyPr/>
                    <a:lstStyle/>
                    <a:p>
                      <a:pPr marL="68580">
                        <a:lnSpc>
                          <a:spcPts val="1270"/>
                        </a:lnSpc>
                        <a:tabLst>
                          <a:tab pos="741680" algn="l"/>
                        </a:tabLst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Subject	Personal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Pronouns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I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8580" marR="1014730">
                        <a:lnSpc>
                          <a:spcPct val="14360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We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You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8580" marR="968375">
                        <a:lnSpc>
                          <a:spcPct val="143600"/>
                        </a:lnSpc>
                        <a:spcBef>
                          <a:spcPts val="5"/>
                        </a:spcBef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He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She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It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They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70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Possessive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8580" marR="680085">
                        <a:lnSpc>
                          <a:spcPct val="143400"/>
                        </a:lnSpc>
                        <a:spcBef>
                          <a:spcPts val="10"/>
                        </a:spcBef>
                      </a:pPr>
                      <a:r>
                        <a:rPr dirty="0" sz="1100" b="1">
                          <a:latin typeface="Times New Roman"/>
                          <a:cs typeface="Times New Roman"/>
                        </a:rPr>
                        <a:t>Pronouns 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My/mine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Our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8580" marR="615315">
                        <a:lnSpc>
                          <a:spcPts val="1900"/>
                        </a:lnSpc>
                        <a:spcBef>
                          <a:spcPts val="15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Yours</a:t>
                      </a:r>
                      <a:r>
                        <a:rPr dirty="0" sz="11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truly </a:t>
                      </a:r>
                      <a:r>
                        <a:rPr dirty="0" sz="1100" spc="-2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His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Her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8580" marR="951865">
                        <a:lnSpc>
                          <a:spcPct val="143600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Its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Their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70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Object</a:t>
                      </a:r>
                      <a:r>
                        <a:rPr dirty="0" sz="1100" spc="-2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Pronoun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68580" marR="928369">
                        <a:lnSpc>
                          <a:spcPct val="14370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Me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Us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You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Him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Her </a:t>
                      </a:r>
                      <a:r>
                        <a:rPr dirty="0" sz="1100" spc="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It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Them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70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Reflexive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pronoun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68580" marR="588010">
                        <a:lnSpc>
                          <a:spcPct val="14370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Myself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Ourselves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Yourself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Himself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Herself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Itself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selve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627380" y="5116316"/>
            <a:ext cx="1163320" cy="353695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>
              <a:lnSpc>
                <a:spcPts val="1270"/>
              </a:lnSpc>
              <a:spcBef>
                <a:spcPts val="180"/>
              </a:spcBef>
            </a:pPr>
            <a:r>
              <a:rPr dirty="0" sz="1100" spc="-5">
                <a:latin typeface="Times New Roman"/>
                <a:cs typeface="Times New Roman"/>
              </a:rPr>
              <a:t>Subject pronoun: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Possessive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pronoun: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98984" y="5116316"/>
            <a:ext cx="2849880" cy="353695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 indent="-635">
              <a:lnSpc>
                <a:spcPts val="1270"/>
              </a:lnSpc>
              <a:spcBef>
                <a:spcPts val="180"/>
              </a:spcBef>
            </a:pPr>
            <a:r>
              <a:rPr dirty="0" sz="1100" spc="-5" b="1">
                <a:latin typeface="Times New Roman"/>
                <a:cs typeface="Times New Roman"/>
              </a:rPr>
              <a:t>You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surely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strangest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child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met.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smallest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gift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mine</a:t>
            </a:r>
            <a:r>
              <a:rPr dirty="0" sz="1100" spc="-5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7380" y="5437878"/>
            <a:ext cx="6061075" cy="3405504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12700" marR="2713355">
              <a:lnSpc>
                <a:spcPts val="1260"/>
              </a:lnSpc>
              <a:spcBef>
                <a:spcPts val="190"/>
              </a:spcBef>
              <a:tabLst>
                <a:tab pos="1383665" algn="l"/>
              </a:tabLst>
            </a:pPr>
            <a:r>
              <a:rPr dirty="0" sz="1100" spc="-5">
                <a:latin typeface="Times New Roman"/>
                <a:cs typeface="Times New Roman"/>
              </a:rPr>
              <a:t>Object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pronoun:Aroma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forced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her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parents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her</a:t>
            </a:r>
            <a:r>
              <a:rPr dirty="0" sz="1100" spc="-5">
                <a:latin typeface="Times New Roman"/>
                <a:cs typeface="Times New Roman"/>
              </a:rPr>
              <a:t>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Reflexive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pronoun:	You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 help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yourself</a:t>
            </a:r>
            <a:r>
              <a:rPr dirty="0" sz="1100" spc="-5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10"/>
              </a:lnSpc>
            </a:pPr>
            <a:r>
              <a:rPr dirty="0" sz="1100" spc="-5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65"/>
              </a:lnSpc>
            </a:pPr>
            <a:r>
              <a:rPr dirty="0" sz="1100" spc="-5" b="1">
                <a:latin typeface="Times New Roman"/>
                <a:cs typeface="Times New Roman"/>
              </a:rPr>
              <a:t>Demonstrative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Pronouns</a:t>
            </a:r>
            <a:endParaRPr sz="1100">
              <a:latin typeface="Times New Roman"/>
              <a:cs typeface="Times New Roman"/>
            </a:endParaRPr>
          </a:p>
          <a:p>
            <a:pPr algn="just" marL="12700" marR="5715">
              <a:lnSpc>
                <a:spcPct val="95700"/>
              </a:lnSpc>
              <a:spcBef>
                <a:spcPts val="25"/>
              </a:spcBef>
            </a:pPr>
            <a:r>
              <a:rPr dirty="0" sz="1100" spc="-5">
                <a:latin typeface="Times New Roman"/>
                <a:cs typeface="Times New Roman"/>
              </a:rPr>
              <a:t>A </a:t>
            </a:r>
            <a:r>
              <a:rPr dirty="0" sz="1100" spc="-5" b="1">
                <a:latin typeface="Times New Roman"/>
                <a:cs typeface="Times New Roman"/>
              </a:rPr>
              <a:t>demonstrative pronoun </a:t>
            </a:r>
            <a:r>
              <a:rPr dirty="0" sz="1100" spc="-5">
                <a:latin typeface="Times New Roman"/>
                <a:cs typeface="Times New Roman"/>
              </a:rPr>
              <a:t>points to and identifies a noun or a pronoun. "This" and "these" refer to things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 are nearby either in space or in time, while "that" and "those" refer to things that are farther </a:t>
            </a:r>
            <a:r>
              <a:rPr dirty="0" sz="1100">
                <a:latin typeface="Times New Roman"/>
                <a:cs typeface="Times New Roman"/>
              </a:rPr>
              <a:t>away </a:t>
            </a:r>
            <a:r>
              <a:rPr dirty="0" sz="1100" spc="-5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space 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time.</a:t>
            </a:r>
            <a:endParaRPr sz="1100">
              <a:latin typeface="Times New Roman"/>
              <a:cs typeface="Times New Roman"/>
            </a:endParaRPr>
          </a:p>
          <a:p>
            <a:pPr algn="just" marL="469900">
              <a:lnSpc>
                <a:spcPts val="1240"/>
              </a:lnSpc>
            </a:pPr>
            <a:r>
              <a:rPr dirty="0" sz="1100" spc="-5" b="1">
                <a:latin typeface="Times New Roman"/>
                <a:cs typeface="Times New Roman"/>
              </a:rPr>
              <a:t>This </a:t>
            </a:r>
            <a:r>
              <a:rPr dirty="0" sz="1100" spc="-5">
                <a:latin typeface="Times New Roman"/>
                <a:cs typeface="Times New Roman"/>
              </a:rPr>
              <a:t>must not continue.</a:t>
            </a:r>
            <a:endParaRPr sz="1100">
              <a:latin typeface="Times New Roman"/>
              <a:cs typeface="Times New Roman"/>
            </a:endParaRPr>
          </a:p>
          <a:p>
            <a:pPr algn="just" marL="469900" marR="3561715">
              <a:lnSpc>
                <a:spcPts val="1270"/>
              </a:lnSpc>
              <a:spcBef>
                <a:spcPts val="55"/>
              </a:spcBef>
            </a:pPr>
            <a:r>
              <a:rPr dirty="0" sz="1100" spc="-5" b="1">
                <a:latin typeface="Times New Roman"/>
                <a:cs typeface="Times New Roman"/>
              </a:rPr>
              <a:t>This </a:t>
            </a:r>
            <a:r>
              <a:rPr dirty="0" sz="1100" spc="-5">
                <a:latin typeface="Times New Roman"/>
                <a:cs typeface="Times New Roman"/>
              </a:rPr>
              <a:t>is puny; </a:t>
            </a:r>
            <a:r>
              <a:rPr dirty="0" sz="1100" spc="-5" b="1">
                <a:latin typeface="Times New Roman"/>
                <a:cs typeface="Times New Roman"/>
              </a:rPr>
              <a:t>that </a:t>
            </a:r>
            <a:r>
              <a:rPr dirty="0" sz="1100" spc="-5">
                <a:latin typeface="Times New Roman"/>
                <a:cs typeface="Times New Roman"/>
              </a:rPr>
              <a:t>is the tree I want.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Three customers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wanted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these</a:t>
            </a:r>
            <a:r>
              <a:rPr dirty="0" sz="1100" spc="-5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00">
              <a:latin typeface="Times New Roman"/>
              <a:cs typeface="Times New Roman"/>
            </a:endParaRPr>
          </a:p>
          <a:p>
            <a:pPr algn="just" marL="12700">
              <a:lnSpc>
                <a:spcPts val="1285"/>
              </a:lnSpc>
            </a:pPr>
            <a:r>
              <a:rPr dirty="0" sz="1100" spc="-5" b="1">
                <a:latin typeface="Times New Roman"/>
                <a:cs typeface="Times New Roman"/>
              </a:rPr>
              <a:t>Interrogative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Pronouns</a:t>
            </a:r>
            <a:endParaRPr sz="1100">
              <a:latin typeface="Times New Roman"/>
              <a:cs typeface="Times New Roman"/>
            </a:endParaRPr>
          </a:p>
          <a:p>
            <a:pPr algn="just" marL="12700" marR="5080" indent="-635">
              <a:lnSpc>
                <a:spcPts val="1270"/>
              </a:lnSpc>
              <a:spcBef>
                <a:spcPts val="55"/>
              </a:spcBef>
            </a:pP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interrogative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pronoun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ask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questions.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interrogative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pronouns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"who,"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"whom,"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"which," "what" and the compounds formed with the suffix "ever" ("whoever," "whomever," "whichever,"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"whatever").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195"/>
              </a:lnSpc>
            </a:pPr>
            <a:r>
              <a:rPr dirty="0" sz="1100" spc="-5" b="1">
                <a:latin typeface="Times New Roman"/>
                <a:cs typeface="Times New Roman"/>
              </a:rPr>
              <a:t>Which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wants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dentist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first?</a:t>
            </a:r>
            <a:endParaRPr sz="1100">
              <a:latin typeface="Times New Roman"/>
              <a:cs typeface="Times New Roman"/>
            </a:endParaRPr>
          </a:p>
          <a:p>
            <a:pPr marL="469900" marR="3416935">
              <a:lnSpc>
                <a:spcPct val="95700"/>
              </a:lnSpc>
              <a:spcBef>
                <a:spcPts val="30"/>
              </a:spcBef>
            </a:pPr>
            <a:r>
              <a:rPr dirty="0" sz="1100" spc="-5" b="1">
                <a:latin typeface="Times New Roman"/>
                <a:cs typeface="Times New Roman"/>
              </a:rPr>
              <a:t>Who </a:t>
            </a:r>
            <a:r>
              <a:rPr dirty="0" sz="1100" spc="-5">
                <a:latin typeface="Times New Roman"/>
                <a:cs typeface="Times New Roman"/>
              </a:rPr>
              <a:t>wrote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novel Rockbound?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Whom </a:t>
            </a:r>
            <a:r>
              <a:rPr dirty="0" sz="1100" spc="-5">
                <a:latin typeface="Times New Roman"/>
                <a:cs typeface="Times New Roman"/>
              </a:rPr>
              <a:t>do you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think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should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invite?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 spc="-5" b="1">
                <a:latin typeface="Times New Roman"/>
                <a:cs typeface="Times New Roman"/>
              </a:rPr>
              <a:t>whom </a:t>
            </a:r>
            <a:r>
              <a:rPr dirty="0" sz="1100" spc="-5">
                <a:latin typeface="Times New Roman"/>
                <a:cs typeface="Times New Roman"/>
              </a:rPr>
              <a:t>do you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wish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speak?</a:t>
            </a:r>
            <a:endParaRPr sz="1100">
              <a:latin typeface="Times New Roman"/>
              <a:cs typeface="Times New Roman"/>
            </a:endParaRPr>
          </a:p>
          <a:p>
            <a:pPr marL="469900" marR="2874010">
              <a:lnSpc>
                <a:spcPts val="1270"/>
              </a:lnSpc>
              <a:spcBef>
                <a:spcPts val="30"/>
              </a:spcBef>
            </a:pPr>
            <a:r>
              <a:rPr dirty="0" sz="1100" spc="-5" b="1">
                <a:latin typeface="Times New Roman"/>
                <a:cs typeface="Times New Roman"/>
              </a:rPr>
              <a:t>Who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meet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delegates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station?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 spc="-5" b="1">
                <a:latin typeface="Times New Roman"/>
                <a:cs typeface="Times New Roman"/>
              </a:rPr>
              <a:t>whom </a:t>
            </a:r>
            <a:r>
              <a:rPr dirty="0" sz="1100" spc="-5">
                <a:latin typeface="Times New Roman"/>
                <a:cs typeface="Times New Roman"/>
              </a:rPr>
              <a:t>did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</a:t>
            </a:r>
            <a:r>
              <a:rPr dirty="0" sz="1100" spc="-5">
                <a:latin typeface="Times New Roman"/>
                <a:cs typeface="Times New Roman"/>
              </a:rPr>
              <a:t> give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paper?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972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9829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84580" y="342390"/>
            <a:ext cx="6083300" cy="93592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95"/>
              </a:spcBef>
              <a:tabLst>
                <a:tab pos="5856605" algn="l"/>
              </a:tabLst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l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</a:t>
            </a:r>
            <a:r>
              <a:rPr dirty="0" sz="1100" spc="-15">
                <a:solidFill>
                  <a:srgbClr val="323232"/>
                </a:solidFill>
                <a:latin typeface="Times New Roman"/>
                <a:cs typeface="Times New Roman"/>
              </a:rPr>
              <a:t>m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entary</a:t>
            </a:r>
            <a:r>
              <a:rPr dirty="0" sz="1100" spc="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g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lish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>
              <a:lnSpc>
                <a:spcPts val="1290"/>
              </a:lnSpc>
            </a:pPr>
            <a:r>
              <a:rPr dirty="0" sz="1100" spc="-5" b="1">
                <a:latin typeface="Times New Roman"/>
                <a:cs typeface="Times New Roman"/>
              </a:rPr>
              <a:t>Relative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Pronouns</a:t>
            </a:r>
            <a:endParaRPr sz="1100">
              <a:latin typeface="Times New Roman"/>
              <a:cs typeface="Times New Roman"/>
            </a:endParaRPr>
          </a:p>
          <a:p>
            <a:pPr algn="just" marL="12700" marR="27940" indent="-635">
              <a:lnSpc>
                <a:spcPct val="95700"/>
              </a:lnSpc>
              <a:spcBef>
                <a:spcPts val="25"/>
              </a:spcBef>
            </a:pP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relative</a:t>
            </a:r>
            <a:r>
              <a:rPr dirty="0" sz="1100" spc="18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pronoun</a:t>
            </a:r>
            <a:r>
              <a:rPr dirty="0" sz="1100" spc="18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used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link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phrase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clause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another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phrase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clause.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relative pronouns are "who," "whom," "that," and "which." The compounds "whoever", "whomever",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"whichever"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also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relative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pronouns.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240"/>
              </a:lnSpc>
            </a:pPr>
            <a:r>
              <a:rPr dirty="0" sz="1100" spc="-5">
                <a:latin typeface="Times New Roman"/>
                <a:cs typeface="Times New Roman"/>
              </a:rPr>
              <a:t>You may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invite </a:t>
            </a:r>
            <a:r>
              <a:rPr dirty="0" sz="1100" spc="-5" b="1">
                <a:latin typeface="Times New Roman"/>
                <a:cs typeface="Times New Roman"/>
              </a:rPr>
              <a:t>whomever </a:t>
            </a:r>
            <a:r>
              <a:rPr dirty="0" sz="1100">
                <a:latin typeface="Times New Roman"/>
                <a:cs typeface="Times New Roman"/>
              </a:rPr>
              <a:t>you</a:t>
            </a:r>
            <a:r>
              <a:rPr dirty="0" sz="1100" spc="-5">
                <a:latin typeface="Times New Roman"/>
                <a:cs typeface="Times New Roman"/>
              </a:rPr>
              <a:t> like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party.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265"/>
              </a:lnSpc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candidate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who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wins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greatest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popular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vote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always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elected.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265"/>
              </a:lnSpc>
            </a:pPr>
            <a:r>
              <a:rPr dirty="0" sz="1100" spc="-5" b="1">
                <a:latin typeface="Times New Roman"/>
                <a:cs typeface="Times New Roman"/>
              </a:rPr>
              <a:t>Whoever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broke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window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replace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it.</a:t>
            </a:r>
            <a:endParaRPr sz="1100">
              <a:latin typeface="Times New Roman"/>
              <a:cs typeface="Times New Roman"/>
            </a:endParaRPr>
          </a:p>
          <a:p>
            <a:pPr marL="469900" marR="880744">
              <a:lnSpc>
                <a:spcPts val="1260"/>
              </a:lnSpc>
              <a:spcBef>
                <a:spcPts val="65"/>
              </a:spcBef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crate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which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left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corridor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now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been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moved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storage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closet.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whichever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manuscript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arrives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first.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00">
              <a:latin typeface="Times New Roman"/>
              <a:cs typeface="Times New Roman"/>
            </a:endParaRPr>
          </a:p>
          <a:p>
            <a:pPr algn="just" marL="12700">
              <a:lnSpc>
                <a:spcPts val="1290"/>
              </a:lnSpc>
            </a:pPr>
            <a:r>
              <a:rPr dirty="0" sz="1100" spc="-5" b="1">
                <a:latin typeface="Times New Roman"/>
                <a:cs typeface="Times New Roman"/>
              </a:rPr>
              <a:t>Indefinite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Pronouns</a:t>
            </a:r>
            <a:endParaRPr sz="1100">
              <a:latin typeface="Times New Roman"/>
              <a:cs typeface="Times New Roman"/>
            </a:endParaRPr>
          </a:p>
          <a:p>
            <a:pPr algn="just" marL="12700" marR="27305">
              <a:lnSpc>
                <a:spcPts val="1270"/>
              </a:lnSpc>
              <a:spcBef>
                <a:spcPts val="55"/>
              </a:spcBef>
            </a:pPr>
            <a:r>
              <a:rPr dirty="0" sz="1100" spc="-5">
                <a:latin typeface="Times New Roman"/>
                <a:cs typeface="Times New Roman"/>
              </a:rPr>
              <a:t>An </a:t>
            </a:r>
            <a:r>
              <a:rPr dirty="0" sz="1100" spc="-5" b="1">
                <a:latin typeface="Times New Roman"/>
                <a:cs typeface="Times New Roman"/>
              </a:rPr>
              <a:t>indefinite pronoun </a:t>
            </a:r>
            <a:r>
              <a:rPr dirty="0" sz="1100" spc="-5">
                <a:latin typeface="Times New Roman"/>
                <a:cs typeface="Times New Roman"/>
              </a:rPr>
              <a:t>is a pronoun referring to an identifiable but not specified person or thing. An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indefinite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pronoun conveys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idea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any,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none, 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 marR="27305">
              <a:lnSpc>
                <a:spcPts val="1270"/>
              </a:lnSpc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most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indefinite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pronouns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"all,"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"another,"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"any,"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"anybody,"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"anyone,"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"anything,"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"each,"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"everybody,"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"everyone,"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"everything,"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"few,"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"many,"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"nobody,"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"none,"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"one,"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"several,"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"some," "somebody," and "someone." The </a:t>
            </a:r>
            <a:r>
              <a:rPr dirty="0" sz="1100" spc="-5" b="1">
                <a:latin typeface="Times New Roman"/>
                <a:cs typeface="Times New Roman"/>
              </a:rPr>
              <a:t>highlighted </a:t>
            </a:r>
            <a:r>
              <a:rPr dirty="0" sz="1100" spc="-5">
                <a:latin typeface="Times New Roman"/>
                <a:cs typeface="Times New Roman"/>
              </a:rPr>
              <a:t>words in the following sentences are indefinite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pronouns: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185"/>
              </a:lnSpc>
            </a:pPr>
            <a:r>
              <a:rPr dirty="0" sz="1100" spc="-5" b="1">
                <a:latin typeface="Times New Roman"/>
                <a:cs typeface="Times New Roman"/>
              </a:rPr>
              <a:t>Many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invited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lunch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only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twelve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showed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up.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265"/>
              </a:lnSpc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office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been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searched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everything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thrown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floor.</a:t>
            </a:r>
            <a:endParaRPr sz="1100">
              <a:latin typeface="Times New Roman"/>
              <a:cs typeface="Times New Roman"/>
            </a:endParaRPr>
          </a:p>
          <a:p>
            <a:pPr marL="469900" marR="841375">
              <a:lnSpc>
                <a:spcPts val="1270"/>
              </a:lnSpc>
              <a:spcBef>
                <a:spcPts val="55"/>
              </a:spcBef>
            </a:pP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donated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everything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found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attic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woman's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shelter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garage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sale.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Although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looked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everywhere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extra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copies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magazine,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found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none</a:t>
            </a:r>
            <a:r>
              <a:rPr dirty="0" sz="1100" spc="-5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00">
              <a:latin typeface="Times New Roman"/>
              <a:cs typeface="Times New Roman"/>
            </a:endParaRPr>
          </a:p>
          <a:p>
            <a:pPr algn="just" marL="12700">
              <a:lnSpc>
                <a:spcPts val="1285"/>
              </a:lnSpc>
            </a:pPr>
            <a:r>
              <a:rPr dirty="0" sz="1100" spc="-5" b="1">
                <a:latin typeface="Times New Roman"/>
                <a:cs typeface="Times New Roman"/>
              </a:rPr>
              <a:t>Reflexive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Pronouns</a:t>
            </a:r>
            <a:endParaRPr sz="1100">
              <a:latin typeface="Times New Roman"/>
              <a:cs typeface="Times New Roman"/>
            </a:endParaRPr>
          </a:p>
          <a:p>
            <a:pPr algn="just" marL="12700" marR="26670" indent="-635">
              <a:lnSpc>
                <a:spcPts val="1270"/>
              </a:lnSpc>
              <a:spcBef>
                <a:spcPts val="55"/>
              </a:spcBef>
            </a:pPr>
            <a:r>
              <a:rPr dirty="0" sz="1100" spc="-5">
                <a:latin typeface="Times New Roman"/>
                <a:cs typeface="Times New Roman"/>
              </a:rPr>
              <a:t>You can use a </a:t>
            </a:r>
            <a:r>
              <a:rPr dirty="0" sz="1100" spc="-5" b="1">
                <a:latin typeface="Times New Roman"/>
                <a:cs typeface="Times New Roman"/>
              </a:rPr>
              <a:t>reflexive pronoun </a:t>
            </a:r>
            <a:r>
              <a:rPr dirty="0" sz="1100" spc="-5">
                <a:latin typeface="Times New Roman"/>
                <a:cs typeface="Times New Roman"/>
              </a:rPr>
              <a:t>to refer back to the subject of the clause or sentence. The reflexive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pronouns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"myself,"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"yourself,"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"herself,"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"himself,"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"itself,"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"ourselves,"</a:t>
            </a:r>
            <a:r>
              <a:rPr dirty="0" sz="1100" spc="2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"yourselves,"</a:t>
            </a:r>
            <a:r>
              <a:rPr dirty="0" sz="1100" spc="2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"themselves."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Each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 spc="-5" b="1">
                <a:latin typeface="Times New Roman"/>
                <a:cs typeface="Times New Roman"/>
              </a:rPr>
              <a:t>highlighted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reflexive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pronoun:</a:t>
            </a:r>
            <a:endParaRPr sz="1100">
              <a:latin typeface="Times New Roman"/>
              <a:cs typeface="Times New Roman"/>
            </a:endParaRPr>
          </a:p>
          <a:p>
            <a:pPr algn="just" marL="469900">
              <a:lnSpc>
                <a:spcPts val="1195"/>
              </a:lnSpc>
            </a:pPr>
            <a:r>
              <a:rPr dirty="0" sz="1100" spc="-5">
                <a:latin typeface="Times New Roman"/>
                <a:cs typeface="Times New Roman"/>
              </a:rPr>
              <a:t>Diabetics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give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themselves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insulin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shots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several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times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day.</a:t>
            </a:r>
            <a:endParaRPr sz="1100">
              <a:latin typeface="Times New Roman"/>
              <a:cs typeface="Times New Roman"/>
            </a:endParaRPr>
          </a:p>
          <a:p>
            <a:pPr algn="just" marL="469900" marR="104775">
              <a:lnSpc>
                <a:spcPts val="1260"/>
              </a:lnSpc>
              <a:spcBef>
                <a:spcPts val="65"/>
              </a:spcBef>
            </a:pPr>
            <a:r>
              <a:rPr dirty="0" sz="1100" spc="-5">
                <a:latin typeface="Times New Roman"/>
                <a:cs typeface="Times New Roman"/>
              </a:rPr>
              <a:t>The Dean often does the photocopying </a:t>
            </a:r>
            <a:r>
              <a:rPr dirty="0" sz="1100" spc="-10" b="1">
                <a:latin typeface="Times New Roman"/>
                <a:cs typeface="Times New Roman"/>
              </a:rPr>
              <a:t>herself </a:t>
            </a:r>
            <a:r>
              <a:rPr dirty="0" sz="1100" spc="-5">
                <a:latin typeface="Times New Roman"/>
                <a:cs typeface="Times New Roman"/>
              </a:rPr>
              <a:t>so that the secretaries can do more important work.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After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party,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asked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10" b="1">
                <a:latin typeface="Times New Roman"/>
                <a:cs typeface="Times New Roman"/>
              </a:rPr>
              <a:t>myself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faxed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invitations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everyone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office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building.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00">
              <a:latin typeface="Times New Roman"/>
              <a:cs typeface="Times New Roman"/>
            </a:endParaRPr>
          </a:p>
          <a:p>
            <a:pPr algn="just" marL="12700">
              <a:lnSpc>
                <a:spcPts val="1290"/>
              </a:lnSpc>
            </a:pPr>
            <a:r>
              <a:rPr dirty="0" sz="1100" spc="-5" b="1">
                <a:latin typeface="Times New Roman"/>
                <a:cs typeface="Times New Roman"/>
              </a:rPr>
              <a:t>WHAT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IS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PREPOSITION?</a:t>
            </a:r>
            <a:endParaRPr sz="1100">
              <a:latin typeface="Times New Roman"/>
              <a:cs typeface="Times New Roman"/>
            </a:endParaRPr>
          </a:p>
          <a:p>
            <a:pPr marL="12700" marR="28575">
              <a:lnSpc>
                <a:spcPts val="1270"/>
              </a:lnSpc>
              <a:spcBef>
                <a:spcPts val="55"/>
              </a:spcBef>
            </a:pP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preposition</a:t>
            </a:r>
            <a:r>
              <a:rPr dirty="0" sz="1100" spc="4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links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nouns,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pronouns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phrases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sentence.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phrase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preposition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introduces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called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object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preposition.</a:t>
            </a:r>
            <a:endParaRPr sz="1100">
              <a:latin typeface="Times New Roman"/>
              <a:cs typeface="Times New Roman"/>
            </a:endParaRPr>
          </a:p>
          <a:p>
            <a:pPr marL="12700" marR="28575">
              <a:lnSpc>
                <a:spcPts val="1260"/>
              </a:lnSpc>
            </a:pP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preposition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usually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indicates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temporal,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spatial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logical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relationship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its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object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rest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 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examples: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205"/>
              </a:lnSpc>
            </a:pPr>
            <a:r>
              <a:rPr dirty="0" sz="1100" spc="-5">
                <a:latin typeface="Times New Roman"/>
                <a:cs typeface="Times New Roman"/>
              </a:rPr>
              <a:t>The book is </a:t>
            </a:r>
            <a:r>
              <a:rPr dirty="0" sz="1100" spc="-5" b="1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the table.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265"/>
              </a:lnSpc>
            </a:pPr>
            <a:r>
              <a:rPr dirty="0" sz="1100" spc="-5">
                <a:latin typeface="Times New Roman"/>
                <a:cs typeface="Times New Roman"/>
              </a:rPr>
              <a:t>The book 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beneath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table.</a:t>
            </a:r>
            <a:endParaRPr sz="1100">
              <a:latin typeface="Times New Roman"/>
              <a:cs typeface="Times New Roman"/>
            </a:endParaRPr>
          </a:p>
          <a:p>
            <a:pPr marL="469900" marR="3491229">
              <a:lnSpc>
                <a:spcPts val="1270"/>
              </a:lnSpc>
              <a:spcBef>
                <a:spcPts val="55"/>
              </a:spcBef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book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leaning </a:t>
            </a:r>
            <a:r>
              <a:rPr dirty="0" sz="1100" spc="-5" b="1">
                <a:latin typeface="Times New Roman"/>
                <a:cs typeface="Times New Roman"/>
              </a:rPr>
              <a:t>against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table.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book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 b="1">
                <a:latin typeface="Times New Roman"/>
                <a:cs typeface="Times New Roman"/>
              </a:rPr>
              <a:t>beside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table.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195"/>
              </a:lnSpc>
            </a:pPr>
            <a:r>
              <a:rPr dirty="0" sz="1100" spc="-5">
                <a:latin typeface="Times New Roman"/>
                <a:cs typeface="Times New Roman"/>
              </a:rPr>
              <a:t>She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held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book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over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table.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265"/>
              </a:lnSpc>
            </a:pPr>
            <a:r>
              <a:rPr dirty="0" sz="1100" spc="-5">
                <a:latin typeface="Times New Roman"/>
                <a:cs typeface="Times New Roman"/>
              </a:rPr>
              <a:t>She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book </a:t>
            </a:r>
            <a:r>
              <a:rPr dirty="0" sz="1100" spc="-5" b="1">
                <a:latin typeface="Times New Roman"/>
                <a:cs typeface="Times New Roman"/>
              </a:rPr>
              <a:t>during </a:t>
            </a:r>
            <a:r>
              <a:rPr dirty="0" sz="1100" spc="-10">
                <a:latin typeface="Times New Roman"/>
                <a:cs typeface="Times New Roman"/>
              </a:rPr>
              <a:t>class.</a:t>
            </a:r>
            <a:endParaRPr sz="1100">
              <a:latin typeface="Times New Roman"/>
              <a:cs typeface="Times New Roman"/>
            </a:endParaRPr>
          </a:p>
          <a:p>
            <a:pPr algn="just" marL="12700">
              <a:lnSpc>
                <a:spcPts val="1265"/>
              </a:lnSpc>
            </a:pP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each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preceding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sentences,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preposition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locates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noun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"book"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space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time.</a:t>
            </a:r>
            <a:endParaRPr sz="1100">
              <a:latin typeface="Times New Roman"/>
              <a:cs typeface="Times New Roman"/>
            </a:endParaRPr>
          </a:p>
          <a:p>
            <a:pPr algn="just" marL="12700" marR="26670">
              <a:lnSpc>
                <a:spcPts val="1270"/>
              </a:lnSpc>
              <a:spcBef>
                <a:spcPts val="55"/>
              </a:spcBef>
            </a:pPr>
            <a:r>
              <a:rPr dirty="0" sz="1100" spc="-5">
                <a:latin typeface="Times New Roman"/>
                <a:cs typeface="Times New Roman"/>
              </a:rPr>
              <a:t>A prepositional phrase is made up of the preposition, its object and any associated adjectives or adverbs. A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prepositional phrase can function as a noun, an adjective, or an adverb. The most common prepositions are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"about,"</a:t>
            </a:r>
            <a:r>
              <a:rPr dirty="0" sz="1100" spc="4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"above,"</a:t>
            </a:r>
            <a:r>
              <a:rPr dirty="0" sz="1100" spc="4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"across,"</a:t>
            </a:r>
            <a:r>
              <a:rPr dirty="0" sz="1100" spc="4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"after,"</a:t>
            </a:r>
            <a:r>
              <a:rPr dirty="0" sz="1100" spc="40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"against,"</a:t>
            </a:r>
            <a:r>
              <a:rPr dirty="0" sz="1100" spc="4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"along,"</a:t>
            </a:r>
            <a:r>
              <a:rPr dirty="0" sz="1100" spc="4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"among,"</a:t>
            </a:r>
            <a:r>
              <a:rPr dirty="0" sz="1100" spc="40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"around,"</a:t>
            </a:r>
            <a:r>
              <a:rPr dirty="0" sz="1100" spc="4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"at,"</a:t>
            </a:r>
            <a:r>
              <a:rPr dirty="0" sz="1100" spc="4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"before,"</a:t>
            </a:r>
            <a:r>
              <a:rPr dirty="0" sz="1100" spc="40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"behind,"</a:t>
            </a:r>
            <a:endParaRPr sz="1100">
              <a:latin typeface="Times New Roman"/>
              <a:cs typeface="Times New Roman"/>
            </a:endParaRPr>
          </a:p>
          <a:p>
            <a:pPr algn="just" marL="12700">
              <a:lnSpc>
                <a:spcPts val="1190"/>
              </a:lnSpc>
            </a:pPr>
            <a:r>
              <a:rPr dirty="0" sz="1100" spc="-5">
                <a:latin typeface="Times New Roman"/>
                <a:cs typeface="Times New Roman"/>
              </a:rPr>
              <a:t>"below,"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"beneath,"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"beside,"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"between,"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"beyond,"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"but,"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"by,"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"despite,"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"down,"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"during,"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"except,"</a:t>
            </a:r>
            <a:endParaRPr sz="1100">
              <a:latin typeface="Times New Roman"/>
              <a:cs typeface="Times New Roman"/>
            </a:endParaRPr>
          </a:p>
          <a:p>
            <a:pPr algn="just" marL="12700">
              <a:lnSpc>
                <a:spcPts val="1265"/>
              </a:lnSpc>
            </a:pPr>
            <a:r>
              <a:rPr dirty="0" sz="1100" spc="-5">
                <a:latin typeface="Times New Roman"/>
                <a:cs typeface="Times New Roman"/>
              </a:rPr>
              <a:t>"for,"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"from,"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"in,"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"inside,"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"into,"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"like,"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"near,"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"of,"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"off,"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"on,"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"onto,"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"out,"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"outside,"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"over,"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"past,"</a:t>
            </a:r>
            <a:endParaRPr sz="1100">
              <a:latin typeface="Times New Roman"/>
              <a:cs typeface="Times New Roman"/>
            </a:endParaRPr>
          </a:p>
          <a:p>
            <a:pPr algn="just" marL="12700" marR="26034">
              <a:lnSpc>
                <a:spcPts val="1270"/>
              </a:lnSpc>
              <a:spcBef>
                <a:spcPts val="60"/>
              </a:spcBef>
            </a:pPr>
            <a:r>
              <a:rPr dirty="0" sz="1100" spc="-5">
                <a:latin typeface="Times New Roman"/>
                <a:cs typeface="Times New Roman"/>
              </a:rPr>
              <a:t>"since," "through," "throughout," "till," "to," "toward," "under," "underneath," "until," "up," "upon," "with,"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"within," 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"without."</a:t>
            </a:r>
            <a:endParaRPr sz="1100">
              <a:latin typeface="Times New Roman"/>
              <a:cs typeface="Times New Roman"/>
            </a:endParaRPr>
          </a:p>
          <a:p>
            <a:pPr marL="469900" marR="1913889" indent="-457200">
              <a:lnSpc>
                <a:spcPts val="1260"/>
              </a:lnSpc>
            </a:pPr>
            <a:r>
              <a:rPr dirty="0" sz="1100" spc="-5">
                <a:latin typeface="Times New Roman"/>
                <a:cs typeface="Times New Roman"/>
              </a:rPr>
              <a:t>Each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highlighted</a:t>
            </a:r>
            <a:r>
              <a:rPr dirty="0" sz="1100" spc="2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following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preposition: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children climbed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mountain </a:t>
            </a:r>
            <a:r>
              <a:rPr dirty="0" sz="1100" spc="-5" b="1">
                <a:latin typeface="Times New Roman"/>
                <a:cs typeface="Times New Roman"/>
              </a:rPr>
              <a:t>without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fear.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05"/>
              </a:lnSpc>
            </a:pP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sentence,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preposition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"without"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introduces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noun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"fear"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prepositional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phrase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"without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95"/>
              </a:lnSpc>
            </a:pPr>
            <a:r>
              <a:rPr dirty="0" sz="1100" spc="-5">
                <a:latin typeface="Times New Roman"/>
                <a:cs typeface="Times New Roman"/>
              </a:rPr>
              <a:t>fear"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functions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adverb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describing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how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children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climbed.</a:t>
            </a:r>
            <a:endParaRPr sz="1100">
              <a:latin typeface="Times New Roman"/>
              <a:cs typeface="Times New Roman"/>
            </a:endParaRPr>
          </a:p>
          <a:p>
            <a:pPr algn="r" marR="27305">
              <a:lnSpc>
                <a:spcPct val="100000"/>
              </a:lnSpc>
              <a:spcBef>
                <a:spcPts val="990"/>
              </a:spcBef>
              <a:tabLst>
                <a:tab pos="4330700" algn="l"/>
              </a:tabLst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	35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00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257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27377" y="342390"/>
            <a:ext cx="6083300" cy="93592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95"/>
              </a:spcBef>
              <a:tabLst>
                <a:tab pos="5856605" algn="l"/>
              </a:tabLst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l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</a:t>
            </a:r>
            <a:r>
              <a:rPr dirty="0" sz="1100" spc="-15">
                <a:solidFill>
                  <a:srgbClr val="323232"/>
                </a:solidFill>
                <a:latin typeface="Times New Roman"/>
                <a:cs typeface="Times New Roman"/>
              </a:rPr>
              <a:t>m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entary</a:t>
            </a:r>
            <a:r>
              <a:rPr dirty="0" sz="1100" spc="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g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lish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50">
              <a:latin typeface="Times New Roman"/>
              <a:cs typeface="Times New Roman"/>
            </a:endParaRPr>
          </a:p>
          <a:p>
            <a:pPr marL="469900" marR="1264285">
              <a:lnSpc>
                <a:spcPts val="1270"/>
              </a:lnSpc>
            </a:pPr>
            <a:r>
              <a:rPr dirty="0" sz="1100" spc="-5">
                <a:latin typeface="Times New Roman"/>
                <a:cs typeface="Times New Roman"/>
              </a:rPr>
              <a:t>There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rejoicing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throughout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government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was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defeated.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spider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crawled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slowly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along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banister.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195"/>
              </a:lnSpc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dog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hiding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under</a:t>
            </a:r>
            <a:r>
              <a:rPr dirty="0" sz="1100" spc="4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porch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because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knows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punished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for</a:t>
            </a:r>
            <a:r>
              <a:rPr dirty="0" sz="1100" spc="3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chewing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up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new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pair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265"/>
              </a:lnSpc>
            </a:pPr>
            <a:r>
              <a:rPr dirty="0" sz="1100" spc="-5" b="1">
                <a:latin typeface="Times New Roman"/>
                <a:cs typeface="Times New Roman"/>
              </a:rPr>
              <a:t>of</a:t>
            </a:r>
            <a:r>
              <a:rPr dirty="0" sz="1100" spc="-3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shoes.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295"/>
              </a:lnSpc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screenwriter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searched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for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manuscript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certain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somewhere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in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office.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>
              <a:lnSpc>
                <a:spcPts val="1290"/>
              </a:lnSpc>
            </a:pPr>
            <a:r>
              <a:rPr dirty="0" sz="1100" spc="-5" b="1">
                <a:latin typeface="Times New Roman"/>
                <a:cs typeface="Times New Roman"/>
              </a:rPr>
              <a:t>WHAT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IS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CONJUNCTION?</a:t>
            </a:r>
            <a:endParaRPr sz="1100">
              <a:latin typeface="Times New Roman"/>
              <a:cs typeface="Times New Roman"/>
            </a:endParaRPr>
          </a:p>
          <a:p>
            <a:pPr marL="469900" marR="902969" indent="-457200">
              <a:lnSpc>
                <a:spcPts val="1260"/>
              </a:lnSpc>
              <a:spcBef>
                <a:spcPts val="60"/>
              </a:spcBef>
            </a:pP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conjunction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link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phrases,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clauses,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following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example: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 ate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pizza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and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pasta.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235"/>
              </a:lnSpc>
            </a:pPr>
            <a:r>
              <a:rPr dirty="0" sz="1100" spc="-5">
                <a:latin typeface="Times New Roman"/>
                <a:cs typeface="Times New Roman"/>
              </a:rPr>
              <a:t>Call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movers </a:t>
            </a:r>
            <a:r>
              <a:rPr dirty="0" sz="1100" spc="-5" b="1">
                <a:latin typeface="Times New Roman"/>
                <a:cs typeface="Times New Roman"/>
              </a:rPr>
              <a:t>when </a:t>
            </a:r>
            <a:r>
              <a:rPr dirty="0" sz="1100">
                <a:latin typeface="Times New Roman"/>
                <a:cs typeface="Times New Roman"/>
              </a:rPr>
              <a:t>you</a:t>
            </a:r>
            <a:r>
              <a:rPr dirty="0" sz="1100" spc="-5">
                <a:latin typeface="Times New Roman"/>
                <a:cs typeface="Times New Roman"/>
              </a:rPr>
              <a:t> are ready.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>
              <a:lnSpc>
                <a:spcPts val="1290"/>
              </a:lnSpc>
            </a:pPr>
            <a:r>
              <a:rPr dirty="0" sz="1100" spc="-5" b="1">
                <a:latin typeface="Times New Roman"/>
                <a:cs typeface="Times New Roman"/>
              </a:rPr>
              <a:t>Coordinating Conjunctions</a:t>
            </a:r>
            <a:endParaRPr sz="1100">
              <a:latin typeface="Times New Roman"/>
              <a:cs typeface="Times New Roman"/>
            </a:endParaRPr>
          </a:p>
          <a:p>
            <a:pPr algn="just" marL="12700" marR="26670">
              <a:lnSpc>
                <a:spcPct val="95700"/>
              </a:lnSpc>
              <a:spcBef>
                <a:spcPts val="30"/>
              </a:spcBef>
            </a:pPr>
            <a:r>
              <a:rPr dirty="0" sz="1100" spc="-5">
                <a:latin typeface="Times New Roman"/>
                <a:cs typeface="Times New Roman"/>
              </a:rPr>
              <a:t>You use a </a:t>
            </a:r>
            <a:r>
              <a:rPr dirty="0" sz="1100" spc="-5" b="1">
                <a:latin typeface="Times New Roman"/>
                <a:cs typeface="Times New Roman"/>
              </a:rPr>
              <a:t>coordinating conjunction </a:t>
            </a:r>
            <a:r>
              <a:rPr dirty="0" sz="1100" spc="-5">
                <a:latin typeface="Times New Roman"/>
                <a:cs typeface="Times New Roman"/>
              </a:rPr>
              <a:t>("and," "but," "or," "nor," "for," "so," or "yet") to join individual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words, phrases, and independent clauses. Note that you can also use the conjunctions "but" and "for" as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prepositions.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sentences,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each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highlighted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coordinating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conjunction:</a:t>
            </a:r>
            <a:endParaRPr sz="1100">
              <a:latin typeface="Times New Roman"/>
              <a:cs typeface="Times New Roman"/>
            </a:endParaRPr>
          </a:p>
          <a:p>
            <a:pPr algn="just" marL="469900">
              <a:lnSpc>
                <a:spcPts val="1265"/>
              </a:lnSpc>
            </a:pPr>
            <a:r>
              <a:rPr dirty="0" sz="1100" spc="-5">
                <a:latin typeface="Times New Roman"/>
                <a:cs typeface="Times New Roman"/>
              </a:rPr>
              <a:t>Lilacs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and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violets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usually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purple.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>
              <a:lnSpc>
                <a:spcPts val="1290"/>
              </a:lnSpc>
            </a:pP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coordinating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conjunction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"and"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links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nouns.</a:t>
            </a:r>
            <a:endParaRPr sz="1100">
              <a:latin typeface="Times New Roman"/>
              <a:cs typeface="Times New Roman"/>
            </a:endParaRPr>
          </a:p>
          <a:p>
            <a:pPr algn="just" marL="469900" marR="29209">
              <a:lnSpc>
                <a:spcPts val="1270"/>
              </a:lnSpc>
              <a:spcBef>
                <a:spcPts val="55"/>
              </a:spcBef>
            </a:pPr>
            <a:r>
              <a:rPr dirty="0" sz="1100" spc="-5">
                <a:latin typeface="Times New Roman"/>
                <a:cs typeface="Times New Roman"/>
              </a:rPr>
              <a:t>This movie is particularly interesting to feminist </a:t>
            </a:r>
            <a:r>
              <a:rPr dirty="0" sz="1100">
                <a:latin typeface="Times New Roman"/>
                <a:cs typeface="Times New Roman"/>
              </a:rPr>
              <a:t>film </a:t>
            </a:r>
            <a:r>
              <a:rPr dirty="0" sz="1100" spc="-5">
                <a:latin typeface="Times New Roman"/>
                <a:cs typeface="Times New Roman"/>
              </a:rPr>
              <a:t>theorists, </a:t>
            </a:r>
            <a:r>
              <a:rPr dirty="0" sz="1100" spc="-5" b="1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the screenplay was written by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Mae West.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ts val="1290"/>
              </a:lnSpc>
              <a:spcBef>
                <a:spcPts val="5"/>
              </a:spcBef>
            </a:pPr>
            <a:r>
              <a:rPr dirty="0" sz="1100" spc="-5" b="1">
                <a:latin typeface="Times New Roman"/>
                <a:cs typeface="Times New Roman"/>
              </a:rPr>
              <a:t>Subordinating Conjunctions</a:t>
            </a:r>
            <a:endParaRPr sz="1100">
              <a:latin typeface="Times New Roman"/>
              <a:cs typeface="Times New Roman"/>
            </a:endParaRPr>
          </a:p>
          <a:p>
            <a:pPr marL="12700" marR="27305" indent="-635">
              <a:lnSpc>
                <a:spcPts val="1270"/>
              </a:lnSpc>
              <a:spcBef>
                <a:spcPts val="50"/>
              </a:spcBef>
            </a:pP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subordinating</a:t>
            </a:r>
            <a:r>
              <a:rPr dirty="0" sz="1100" spc="14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conjunction</a:t>
            </a:r>
            <a:r>
              <a:rPr dirty="0" sz="1100" spc="13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introduces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dependent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clause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indicates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nature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relationship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among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independent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clause(s)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dependent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clause(s).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195"/>
              </a:lnSpc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most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common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subordinating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conjunctions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"after,"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"although,"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"as,"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"because,"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"before,"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"how,"</a:t>
            </a:r>
            <a:endParaRPr sz="1100">
              <a:latin typeface="Times New Roman"/>
              <a:cs typeface="Times New Roman"/>
            </a:endParaRPr>
          </a:p>
          <a:p>
            <a:pPr marL="12700" marR="27305">
              <a:lnSpc>
                <a:spcPts val="1270"/>
              </a:lnSpc>
              <a:spcBef>
                <a:spcPts val="60"/>
              </a:spcBef>
            </a:pPr>
            <a:r>
              <a:rPr dirty="0" sz="1100" spc="-5">
                <a:latin typeface="Times New Roman"/>
                <a:cs typeface="Times New Roman"/>
              </a:rPr>
              <a:t>"if,"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"once,"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"since,"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"than,"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"that,"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"though,"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"till,"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"until,"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"when,"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"where,"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"whether,"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"while."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Each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highlighted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subordinating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conjunction: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200"/>
              </a:lnSpc>
            </a:pPr>
            <a:r>
              <a:rPr dirty="0" sz="1100" spc="-5" b="1">
                <a:latin typeface="Times New Roman"/>
                <a:cs typeface="Times New Roman"/>
              </a:rPr>
              <a:t>After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had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drive,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Alice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felt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independent.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65"/>
              </a:lnSpc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subordinating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conjunction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"after"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introduces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dependent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clause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"After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had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learned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drive."</a:t>
            </a:r>
            <a:endParaRPr sz="1100">
              <a:latin typeface="Times New Roman"/>
              <a:cs typeface="Times New Roman"/>
            </a:endParaRPr>
          </a:p>
          <a:p>
            <a:pPr marL="469900" marR="1483360">
              <a:lnSpc>
                <a:spcPts val="1270"/>
              </a:lnSpc>
              <a:spcBef>
                <a:spcPts val="55"/>
              </a:spcBef>
            </a:pPr>
            <a:r>
              <a:rPr dirty="0" sz="1100" spc="-5" b="1">
                <a:latin typeface="Times New Roman"/>
                <a:cs typeface="Times New Roman"/>
              </a:rPr>
              <a:t>If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paperwork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arrives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time,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cheque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mailed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Tuesday.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Gerald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begun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over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again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when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computer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crashed.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000">
              <a:latin typeface="Times New Roman"/>
              <a:cs typeface="Times New Roman"/>
            </a:endParaRPr>
          </a:p>
          <a:p>
            <a:pPr algn="just" marL="12700">
              <a:lnSpc>
                <a:spcPts val="1290"/>
              </a:lnSpc>
              <a:spcBef>
                <a:spcPts val="5"/>
              </a:spcBef>
            </a:pPr>
            <a:r>
              <a:rPr dirty="0" sz="1100" spc="-5" b="1">
                <a:latin typeface="Times New Roman"/>
                <a:cs typeface="Times New Roman"/>
              </a:rPr>
              <a:t>Correlative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Conjunctions</a:t>
            </a:r>
            <a:endParaRPr sz="1100">
              <a:latin typeface="Times New Roman"/>
              <a:cs typeface="Times New Roman"/>
            </a:endParaRPr>
          </a:p>
          <a:p>
            <a:pPr algn="just" marL="12700" marR="26670">
              <a:lnSpc>
                <a:spcPct val="95800"/>
              </a:lnSpc>
              <a:spcBef>
                <a:spcPts val="25"/>
              </a:spcBef>
            </a:pPr>
            <a:r>
              <a:rPr dirty="0" sz="1100" spc="-5" b="1">
                <a:latin typeface="Times New Roman"/>
                <a:cs typeface="Times New Roman"/>
              </a:rPr>
              <a:t>Correlative conjunctions </a:t>
            </a:r>
            <a:r>
              <a:rPr dirty="0" sz="1100" spc="-5">
                <a:latin typeface="Times New Roman"/>
                <a:cs typeface="Times New Roman"/>
              </a:rPr>
              <a:t>always appear in pairs -- you use them to link equivalent sentence elements. 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most common correlative conjunctions are "both...and," "either...or," "neither...nor,", "not only...but also,"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"so...as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“and”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whether...or."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(Technically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correlative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conjunctions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consist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simply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coordinating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conjunction linked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 adjective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adverb.)</a:t>
            </a:r>
            <a:endParaRPr sz="1100">
              <a:latin typeface="Times New Roman"/>
              <a:cs typeface="Times New Roman"/>
            </a:endParaRPr>
          </a:p>
          <a:p>
            <a:pPr algn="ctr" marR="1622425">
              <a:lnSpc>
                <a:spcPts val="1240"/>
              </a:lnSpc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highlighted</a:t>
            </a:r>
            <a:r>
              <a:rPr dirty="0" sz="1100" spc="2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following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sentences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correlative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conjunctions:</a:t>
            </a:r>
            <a:endParaRPr sz="1100">
              <a:latin typeface="Times New Roman"/>
              <a:cs typeface="Times New Roman"/>
            </a:endParaRPr>
          </a:p>
          <a:p>
            <a:pPr algn="ctr" marR="1678939">
              <a:lnSpc>
                <a:spcPts val="1265"/>
              </a:lnSpc>
            </a:pPr>
            <a:r>
              <a:rPr dirty="0" sz="1100" spc="-5" b="1">
                <a:latin typeface="Times New Roman"/>
                <a:cs typeface="Times New Roman"/>
              </a:rPr>
              <a:t>Both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grandfather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and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father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worked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steel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plant.</a:t>
            </a:r>
            <a:endParaRPr sz="1100">
              <a:latin typeface="Times New Roman"/>
              <a:cs typeface="Times New Roman"/>
            </a:endParaRPr>
          </a:p>
          <a:p>
            <a:pPr marL="12700" marR="26034">
              <a:lnSpc>
                <a:spcPts val="1260"/>
              </a:lnSpc>
              <a:spcBef>
                <a:spcPts val="65"/>
              </a:spcBef>
            </a:pP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sentence,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correlative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conjunction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"both...and"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used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link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noun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phrases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act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compound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subject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sentence: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"my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grandfather"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"my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father".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205"/>
              </a:lnSpc>
            </a:pPr>
            <a:r>
              <a:rPr dirty="0" sz="1100" spc="-5">
                <a:latin typeface="Times New Roman"/>
                <a:cs typeface="Times New Roman"/>
              </a:rPr>
              <a:t>Bring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either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Jello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salad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or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potato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scallop.</a:t>
            </a:r>
            <a:endParaRPr sz="1100">
              <a:latin typeface="Times New Roman"/>
              <a:cs typeface="Times New Roman"/>
            </a:endParaRPr>
          </a:p>
          <a:p>
            <a:pPr marL="469900" marR="953769">
              <a:lnSpc>
                <a:spcPts val="1270"/>
              </a:lnSpc>
              <a:spcBef>
                <a:spcPts val="55"/>
              </a:spcBef>
            </a:pPr>
            <a:r>
              <a:rPr dirty="0" sz="1100" spc="-5">
                <a:latin typeface="Times New Roman"/>
                <a:cs typeface="Times New Roman"/>
              </a:rPr>
              <a:t>Corinne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trying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decide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 b="1">
                <a:latin typeface="Times New Roman"/>
                <a:cs typeface="Times New Roman"/>
              </a:rPr>
              <a:t>whether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medical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school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or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law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school.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explosion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destroyed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not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only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school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but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also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neighboring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pub.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ts val="1285"/>
              </a:lnSpc>
            </a:pPr>
            <a:r>
              <a:rPr dirty="0" sz="1100" spc="-5" b="1">
                <a:latin typeface="Times New Roman"/>
                <a:cs typeface="Times New Roman"/>
              </a:rPr>
              <a:t>WHAT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IS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AN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INTERJECTION?</a:t>
            </a:r>
            <a:endParaRPr sz="1100">
              <a:latin typeface="Times New Roman"/>
              <a:cs typeface="Times New Roman"/>
            </a:endParaRPr>
          </a:p>
          <a:p>
            <a:pPr marL="12700" marR="28575">
              <a:lnSpc>
                <a:spcPts val="1270"/>
              </a:lnSpc>
              <a:spcBef>
                <a:spcPts val="50"/>
              </a:spcBef>
            </a:pP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interjection</a:t>
            </a:r>
            <a:r>
              <a:rPr dirty="0" sz="1100" spc="12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added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convey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emotion.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grammatically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related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 part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00"/>
              </a:lnSpc>
            </a:pP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2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usually</a:t>
            </a:r>
            <a:r>
              <a:rPr dirty="0" sz="1100" spc="2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</a:t>
            </a:r>
            <a:r>
              <a:rPr dirty="0" sz="1100" spc="2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2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interjection</a:t>
            </a:r>
            <a:r>
              <a:rPr dirty="0" sz="1100" spc="2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2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2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exclamation</a:t>
            </a:r>
            <a:r>
              <a:rPr dirty="0" sz="1100" spc="2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mark.</a:t>
            </a:r>
            <a:r>
              <a:rPr dirty="0" sz="1100" spc="2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Interjections</a:t>
            </a:r>
            <a:r>
              <a:rPr dirty="0" sz="1100" spc="2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2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uncommon</a:t>
            </a:r>
            <a:r>
              <a:rPr dirty="0" sz="1100" spc="2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2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formal</a:t>
            </a:r>
            <a:endParaRPr sz="1100">
              <a:latin typeface="Times New Roman"/>
              <a:cs typeface="Times New Roman"/>
            </a:endParaRPr>
          </a:p>
          <a:p>
            <a:pPr marL="12700" marR="28575">
              <a:lnSpc>
                <a:spcPts val="1270"/>
              </a:lnSpc>
              <a:spcBef>
                <a:spcPts val="60"/>
              </a:spcBef>
            </a:pPr>
            <a:r>
              <a:rPr dirty="0" sz="1100" spc="-5">
                <a:latin typeface="Times New Roman"/>
                <a:cs typeface="Times New Roman"/>
              </a:rPr>
              <a:t>academic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prose,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except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direct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quotations.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highlighted</a:t>
            </a:r>
            <a:r>
              <a:rPr dirty="0" sz="1100" spc="7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following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sentences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interjections: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195"/>
              </a:lnSpc>
            </a:pPr>
            <a:r>
              <a:rPr dirty="0" sz="1100" spc="-5" b="1">
                <a:latin typeface="Times New Roman"/>
                <a:cs typeface="Times New Roman"/>
              </a:rPr>
              <a:t>Ouch</a:t>
            </a:r>
            <a:r>
              <a:rPr dirty="0" sz="1100" spc="-5">
                <a:latin typeface="Times New Roman"/>
                <a:cs typeface="Times New Roman"/>
              </a:rPr>
              <a:t>,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hurt!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265"/>
              </a:lnSpc>
            </a:pPr>
            <a:r>
              <a:rPr dirty="0" sz="1100" spc="-5" b="1">
                <a:latin typeface="Times New Roman"/>
                <a:cs typeface="Times New Roman"/>
              </a:rPr>
              <a:t>Oh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no</a:t>
            </a:r>
            <a:r>
              <a:rPr dirty="0" sz="1100" spc="-5">
                <a:latin typeface="Times New Roman"/>
                <a:cs typeface="Times New Roman"/>
              </a:rPr>
              <a:t>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forgot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 </a:t>
            </a:r>
            <a:r>
              <a:rPr dirty="0" sz="1100">
                <a:latin typeface="Times New Roman"/>
                <a:cs typeface="Times New Roman"/>
              </a:rPr>
              <a:t>was </a:t>
            </a:r>
            <a:r>
              <a:rPr dirty="0" sz="1100" spc="-5">
                <a:latin typeface="Times New Roman"/>
                <a:cs typeface="Times New Roman"/>
              </a:rPr>
              <a:t>today.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295"/>
              </a:lnSpc>
            </a:pPr>
            <a:r>
              <a:rPr dirty="0" sz="1100" spc="-5" b="1">
                <a:latin typeface="Times New Roman"/>
                <a:cs typeface="Times New Roman"/>
              </a:rPr>
              <a:t>Hey</a:t>
            </a:r>
            <a:r>
              <a:rPr dirty="0" sz="1100" spc="-5">
                <a:latin typeface="Times New Roman"/>
                <a:cs typeface="Times New Roman"/>
              </a:rPr>
              <a:t>!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Put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down!</a:t>
            </a:r>
            <a:endParaRPr sz="1100">
              <a:latin typeface="Times New Roman"/>
              <a:cs typeface="Times New Roman"/>
            </a:endParaRPr>
          </a:p>
          <a:p>
            <a:pPr algn="r" marR="27305">
              <a:lnSpc>
                <a:spcPct val="100000"/>
              </a:lnSpc>
              <a:spcBef>
                <a:spcPts val="990"/>
              </a:spcBef>
              <a:tabLst>
                <a:tab pos="4330700" algn="l"/>
              </a:tabLst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	36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4580" y="342390"/>
            <a:ext cx="174498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 Elementary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41311" y="342390"/>
            <a:ext cx="22669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360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67219" y="9493248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37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972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829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084592" y="525272"/>
            <a:ext cx="4373880" cy="83629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69265">
              <a:lnSpc>
                <a:spcPts val="1295"/>
              </a:lnSpc>
              <a:spcBef>
                <a:spcPts val="95"/>
              </a:spcBef>
            </a:pPr>
            <a:r>
              <a:rPr dirty="0" sz="1100" spc="-5">
                <a:latin typeface="Times New Roman"/>
                <a:cs typeface="Times New Roman"/>
              </a:rPr>
              <a:t>I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heard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guy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another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guy,</a:t>
            </a:r>
            <a:r>
              <a:rPr dirty="0" sz="1100" spc="-5">
                <a:latin typeface="Times New Roman"/>
                <a:cs typeface="Times New Roman"/>
              </a:rPr>
              <a:t> "He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new</a:t>
            </a:r>
            <a:r>
              <a:rPr dirty="0" sz="1100">
                <a:latin typeface="Times New Roman"/>
                <a:cs typeface="Times New Roman"/>
              </a:rPr>
              <a:t> car,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eh</a:t>
            </a:r>
            <a:r>
              <a:rPr dirty="0" sz="1100" spc="-5">
                <a:latin typeface="Times New Roman"/>
                <a:cs typeface="Times New Roman"/>
              </a:rPr>
              <a:t>?"</a:t>
            </a:r>
            <a:endParaRPr sz="1100">
              <a:latin typeface="Times New Roman"/>
              <a:cs typeface="Times New Roman"/>
            </a:endParaRPr>
          </a:p>
          <a:p>
            <a:pPr marL="469265">
              <a:lnSpc>
                <a:spcPts val="1295"/>
              </a:lnSpc>
            </a:pPr>
            <a:r>
              <a:rPr dirty="0" sz="1100" spc="-5">
                <a:latin typeface="Times New Roman"/>
                <a:cs typeface="Times New Roman"/>
              </a:rPr>
              <a:t>I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don't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know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but,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good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lord</a:t>
            </a:r>
            <a:r>
              <a:rPr dirty="0" sz="1100" spc="-5">
                <a:latin typeface="Times New Roman"/>
                <a:cs typeface="Times New Roman"/>
              </a:rPr>
              <a:t>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think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taxes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high!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Source:</a:t>
            </a:r>
            <a:r>
              <a:rPr dirty="0" sz="1100" spc="145" b="1"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2"/>
              </a:rPr>
              <a:t>http://www.arts.uottawa.ca/writcent/hypergrammar/partsp.html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7380" y="342390"/>
            <a:ext cx="174498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 Elementary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84111" y="342390"/>
            <a:ext cx="22669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788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10019" y="9493248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38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400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257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812028" y="526034"/>
            <a:ext cx="87566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LECTURE</a:t>
            </a:r>
            <a:r>
              <a:rPr dirty="0" u="heavy" sz="1100" spc="-4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7382" y="847596"/>
            <a:ext cx="4300855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125345">
              <a:lnSpc>
                <a:spcPct val="100000"/>
              </a:lnSpc>
              <a:spcBef>
                <a:spcPts val="95"/>
              </a:spcBef>
            </a:pP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BASIC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CLAUSE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PATTERNS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Take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look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Chain.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Start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from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bottom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move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up.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7299" y="1555810"/>
            <a:ext cx="4722002" cy="3614903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627375" y="5463793"/>
            <a:ext cx="4293235" cy="11569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latin typeface="Times New Roman"/>
                <a:cs typeface="Times New Roman"/>
              </a:rPr>
              <a:t>(Clue: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Grapheme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into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morpheme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phrase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into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clause.)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100">
              <a:latin typeface="Times New Roman"/>
              <a:cs typeface="Times New Roman"/>
            </a:endParaRPr>
          </a:p>
          <a:p>
            <a:pPr marL="240665" marR="1891030" indent="-228600">
              <a:lnSpc>
                <a:spcPct val="95700"/>
              </a:lnSpc>
            </a:pP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clause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grammatical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unit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that: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Includes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subject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predicate</a:t>
            </a:r>
            <a:r>
              <a:rPr dirty="0" sz="1100" spc="-5">
                <a:latin typeface="Times New Roman"/>
                <a:cs typeface="Times New Roman"/>
              </a:rPr>
              <a:t>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Expresses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proposition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(idea)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There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five</a:t>
            </a:r>
            <a:r>
              <a:rPr dirty="0" sz="1100" spc="-5">
                <a:latin typeface="Times New Roman"/>
                <a:cs typeface="Times New Roman"/>
              </a:rPr>
              <a:t> basic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clause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patterns:</a:t>
            </a:r>
            <a:endParaRPr sz="1100">
              <a:latin typeface="Times New Roman"/>
              <a:cs typeface="Times New Roman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836919" y="6777932"/>
          <a:ext cx="4150360" cy="1117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52245"/>
                <a:gridCol w="590550"/>
                <a:gridCol w="513080"/>
                <a:gridCol w="1594485"/>
              </a:tblGrid>
              <a:tr h="197609">
                <a:tc>
                  <a:txBody>
                    <a:bodyPr/>
                    <a:lstStyle/>
                    <a:p>
                      <a:pPr marL="31750">
                        <a:lnSpc>
                          <a:spcPts val="120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1.</a:t>
                      </a:r>
                      <a:r>
                        <a:rPr dirty="0" sz="1100" spc="3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V: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79705">
                        <a:lnSpc>
                          <a:spcPts val="1200"/>
                        </a:lnSpc>
                      </a:pPr>
                      <a:r>
                        <a:rPr dirty="0" u="sng" sz="1100" spc="-5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The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1200"/>
                        </a:lnSpc>
                      </a:pP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children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56565">
                        <a:lnSpc>
                          <a:spcPts val="1200"/>
                        </a:lnSpc>
                      </a:pPr>
                      <a:r>
                        <a:rPr dirty="0" u="sng" sz="1100" spc="-5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played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40792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2.</a:t>
                      </a:r>
                      <a:r>
                        <a:rPr dirty="0" sz="1100" spc="40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V +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C: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305"/>
                </a:tc>
                <a:tc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u="sng" sz="1100" spc="-5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You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305"/>
                </a:tc>
                <a:tc>
                  <a:txBody>
                    <a:bodyPr/>
                    <a:lstStyle/>
                    <a:p>
                      <a:pPr marL="81280" marR="317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u="sng" sz="1100" spc="-5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are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305"/>
                </a:tc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u="sng" sz="1100" spc="-5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beautiful.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305"/>
                </a:tc>
              </a:tr>
              <a:tr h="240792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3.</a:t>
                      </a:r>
                      <a:r>
                        <a:rPr dirty="0" sz="1100" spc="40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V +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O: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305"/>
                </a:tc>
                <a:tc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u="sng" sz="1100" spc="-5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Jinnah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305"/>
                </a:tc>
                <a:tc>
                  <a:txBody>
                    <a:bodyPr/>
                    <a:lstStyle/>
                    <a:p>
                      <a:pPr marL="46355" marR="317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inspired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305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u="sng" sz="1100" spc="-5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everyone.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305"/>
                </a:tc>
              </a:tr>
              <a:tr h="240791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4.</a:t>
                      </a:r>
                      <a:r>
                        <a:rPr dirty="0" sz="1100" spc="409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+ V + IO +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DO: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305"/>
                </a:tc>
                <a:tc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u="sng" sz="1100" spc="-1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Ali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305"/>
                </a:tc>
                <a:tc>
                  <a:txBody>
                    <a:bodyPr/>
                    <a:lstStyle/>
                    <a:p>
                      <a:pPr marL="46355" marR="317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u="sng" sz="1100" spc="-5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gave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30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913765" algn="l"/>
                        </a:tabLst>
                      </a:pPr>
                      <a:r>
                        <a:rPr dirty="0" u="sng" sz="1100" spc="-5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his</a:t>
                      </a:r>
                      <a:r>
                        <a:rPr dirty="0" u="sng" sz="1100" spc="1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u="sng" sz="1100" spc="-5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friend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u="sng" sz="1100" spc="-5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u="sng" sz="1100" spc="-3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u="sng" sz="1100" spc="-5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ruby</a:t>
                      </a:r>
                      <a:r>
                        <a:rPr dirty="0" u="sng" sz="1100" spc="-15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u="sng" sz="1100" spc="-5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ring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305"/>
                </a:tc>
              </a:tr>
              <a:tr h="197611">
                <a:tc>
                  <a:txBody>
                    <a:bodyPr/>
                    <a:lstStyle/>
                    <a:p>
                      <a:pPr marL="31750">
                        <a:lnSpc>
                          <a:spcPts val="1240"/>
                        </a:lnSpc>
                        <a:spcBef>
                          <a:spcPts val="2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5.</a:t>
                      </a:r>
                      <a:r>
                        <a:rPr dirty="0" sz="1100" spc="409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+ V + O +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OC: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305"/>
                </a:tc>
                <a:tc>
                  <a:txBody>
                    <a:bodyPr/>
                    <a:lstStyle/>
                    <a:p>
                      <a:pPr marL="179705">
                        <a:lnSpc>
                          <a:spcPts val="1240"/>
                        </a:lnSpc>
                        <a:spcBef>
                          <a:spcPts val="215"/>
                        </a:spcBef>
                      </a:pPr>
                      <a:r>
                        <a:rPr dirty="0" u="sng" sz="1100" spc="-1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Ali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305"/>
                </a:tc>
                <a:tc>
                  <a:txBody>
                    <a:bodyPr/>
                    <a:lstStyle/>
                    <a:p>
                      <a:pPr marL="46355" marR="3175">
                        <a:lnSpc>
                          <a:spcPts val="1240"/>
                        </a:lnSpc>
                        <a:spcBef>
                          <a:spcPts val="215"/>
                        </a:spcBef>
                      </a:pPr>
                      <a:r>
                        <a:rPr dirty="0" u="sng" sz="1100" spc="-5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calls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305"/>
                </a:tc>
                <a:tc>
                  <a:txBody>
                    <a:bodyPr/>
                    <a:lstStyle/>
                    <a:p>
                      <a:pPr>
                        <a:lnSpc>
                          <a:spcPts val="1240"/>
                        </a:lnSpc>
                        <a:spcBef>
                          <a:spcPts val="215"/>
                        </a:spcBef>
                        <a:tabLst>
                          <a:tab pos="913765" algn="l"/>
                        </a:tabLst>
                      </a:pPr>
                      <a:r>
                        <a:rPr dirty="0" u="sng" sz="1100" spc="-5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his</a:t>
                      </a:r>
                      <a:r>
                        <a:rPr dirty="0" u="sng" sz="1100" spc="5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u="sng" sz="1100" spc="-5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Mom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u="sng" sz="1100" spc="-5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u="sng" sz="1100" spc="-35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u="sng" sz="1100" spc="-5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saint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305"/>
                </a:tc>
              </a:tr>
            </a:tbl>
          </a:graphicData>
        </a:graphic>
      </p:graphicFrame>
      <p:sp>
        <p:nvSpPr>
          <p:cNvPr id="13" name="object 13"/>
          <p:cNvSpPr txBox="1"/>
          <p:nvPr/>
        </p:nvSpPr>
        <p:spPr>
          <a:xfrm>
            <a:off x="627381" y="8275574"/>
            <a:ext cx="4863465" cy="11569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Do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this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Exercise.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Identify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basic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clause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patterns.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50">
              <a:latin typeface="Times New Roman"/>
              <a:cs typeface="Times New Roman"/>
            </a:endParaRPr>
          </a:p>
          <a:p>
            <a:pPr marL="926465" indent="-229235">
              <a:lnSpc>
                <a:spcPct val="100000"/>
              </a:lnSpc>
              <a:buAutoNum type="arabicPeriod"/>
              <a:tabLst>
                <a:tab pos="927100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We painted the town red.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AutoNum type="arabicPeriod"/>
            </a:pPr>
            <a:endParaRPr sz="1100">
              <a:latin typeface="Times New Roman"/>
              <a:cs typeface="Times New Roman"/>
            </a:endParaRPr>
          </a:p>
          <a:p>
            <a:pPr marL="240665" marR="5080">
              <a:lnSpc>
                <a:spcPts val="1260"/>
              </a:lnSpc>
            </a:pPr>
            <a:r>
              <a:rPr dirty="0" sz="1100" spc="-5" b="1">
                <a:latin typeface="Times New Roman"/>
                <a:cs typeface="Times New Roman"/>
              </a:rPr>
              <a:t>Answer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for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example: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We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(S)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painted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(V;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action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verb)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town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(DO)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red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(IO). </a:t>
            </a:r>
            <a:r>
              <a:rPr dirty="0" sz="1100" spc="-26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Now do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yourself.</a:t>
            </a:r>
            <a:endParaRPr sz="1100">
              <a:latin typeface="Times New Roman"/>
              <a:cs typeface="Times New Roman"/>
            </a:endParaRPr>
          </a:p>
          <a:p>
            <a:pPr marL="926465" indent="-229235">
              <a:lnSpc>
                <a:spcPts val="1235"/>
              </a:lnSpc>
              <a:buAutoNum type="arabicPeriod" startAt="2"/>
              <a:tabLst>
                <a:tab pos="927100" algn="l"/>
              </a:tabLst>
            </a:pP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passed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boy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collection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basket.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4580" y="342390"/>
            <a:ext cx="174498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 Elementary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41311" y="342390"/>
            <a:ext cx="22669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360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67219" y="9493248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39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972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829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770379" y="693369"/>
            <a:ext cx="2442210" cy="171259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675"/>
              </a:spcBef>
              <a:buAutoNum type="arabicPeriod" startAt="3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passed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collection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basket.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AutoNum type="arabicPeriod" startAt="3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Adam appears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interested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project.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85"/>
              </a:spcBef>
              <a:buAutoNum type="arabicPeriod" startAt="3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Hussan is 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Math teacher.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AutoNum type="arabicPeriod" startAt="3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His motive </a:t>
            </a:r>
            <a:r>
              <a:rPr dirty="0" sz="1100">
                <a:latin typeface="Times New Roman"/>
                <a:cs typeface="Times New Roman"/>
              </a:rPr>
              <a:t>was</a:t>
            </a:r>
            <a:r>
              <a:rPr dirty="0" sz="1100" spc="-5">
                <a:latin typeface="Times New Roman"/>
                <a:cs typeface="Times New Roman"/>
              </a:rPr>
              <a:t> mysterious.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AutoNum type="arabicPeriod" startAt="3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I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bought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suit.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AutoNum type="arabicPeriod" startAt="3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 woman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row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coughed.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85"/>
              </a:spcBef>
              <a:buAutoNum type="arabicPeriod" startAt="3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Caroline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gave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Steven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choice.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84570" y="3096261"/>
            <a:ext cx="4239895" cy="3536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295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Source: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</a:t>
            </a:r>
            <a:r>
              <a:rPr dirty="0" sz="1100" spc="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University</a:t>
            </a:r>
            <a:r>
              <a:rPr dirty="0" sz="1100" spc="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of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Nottingham,</a:t>
            </a:r>
            <a:r>
              <a:rPr dirty="0" sz="1100" spc="2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Department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of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English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Studies.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295"/>
              </a:lnSpc>
            </a:pPr>
            <a:r>
              <a:rPr dirty="0" sz="1100" spc="-5" b="1">
                <a:latin typeface="Times New Roman"/>
                <a:cs typeface="Times New Roman"/>
              </a:rPr>
              <a:t>Campbell.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Easy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Writer,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Harper.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1993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7380" y="342390"/>
            <a:ext cx="174498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 Elementary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84111" y="342390"/>
            <a:ext cx="22669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788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10019" y="9493248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40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400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257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812028" y="526034"/>
            <a:ext cx="87566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LECTURE</a:t>
            </a:r>
            <a:r>
              <a:rPr dirty="0" u="heavy" sz="1100" spc="-4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12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7375" y="847596"/>
            <a:ext cx="6059170" cy="163766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95"/>
              </a:spcBef>
            </a:pP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ACTIVE AND PASSSIVE VOICE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290"/>
              </a:lnSpc>
            </a:pPr>
            <a:r>
              <a:rPr dirty="0" sz="1100" spc="-5" b="1">
                <a:latin typeface="Times New Roman"/>
                <a:cs typeface="Times New Roman"/>
              </a:rPr>
              <a:t>Active Voice,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Passive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Voice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70"/>
              </a:lnSpc>
            </a:pPr>
            <a:r>
              <a:rPr dirty="0" sz="1100" spc="-5">
                <a:latin typeface="Times New Roman"/>
                <a:cs typeface="Times New Roman"/>
              </a:rPr>
              <a:t>There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special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verbs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called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voice</a:t>
            </a:r>
            <a:r>
              <a:rPr dirty="0" sz="1100" spc="-5">
                <a:latin typeface="Times New Roman"/>
                <a:cs typeface="Times New Roman"/>
              </a:rPr>
              <a:t>: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ts val="1300"/>
              </a:lnSpc>
              <a:buFont typeface="Times New Roman"/>
              <a:buAutoNum type="arabicPeriod"/>
              <a:tabLst>
                <a:tab pos="469900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Active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voice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575"/>
              </a:spcBef>
              <a:buFont typeface="Times New Roman"/>
              <a:buAutoNum type="arabicPeriod"/>
              <a:tabLst>
                <a:tab pos="469900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Passive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voice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650">
              <a:latin typeface="Times New Roman"/>
              <a:cs typeface="Times New Roman"/>
            </a:endParaRPr>
          </a:p>
          <a:p>
            <a:pPr marL="12700" marR="5080">
              <a:lnSpc>
                <a:spcPts val="127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active</a:t>
            </a:r>
            <a:r>
              <a:rPr dirty="0" sz="1100" spc="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voice</a:t>
            </a:r>
            <a:r>
              <a:rPr dirty="0" sz="1100" spc="10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"normal"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voice.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voice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most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time.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probably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already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familiar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active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voice.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active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voice,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object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receives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verb:</a:t>
            </a:r>
            <a:endParaRPr sz="1100">
              <a:latin typeface="Times New Roman"/>
              <a:cs typeface="Times New Roman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2641854" y="2637281"/>
          <a:ext cx="2039620" cy="9531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9109"/>
                <a:gridCol w="579754"/>
                <a:gridCol w="423544"/>
                <a:gridCol w="515619"/>
              </a:tblGrid>
              <a:tr h="31280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73660">
                        <a:lnSpc>
                          <a:spcPct val="100000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active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28575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1100" spc="-10" b="1">
                          <a:latin typeface="Times New Roman"/>
                          <a:cs typeface="Times New Roman"/>
                        </a:rPr>
                        <a:t>subject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6040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28575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1100" spc="-10" b="1">
                          <a:latin typeface="Times New Roman"/>
                          <a:cs typeface="Times New Roman"/>
                        </a:rPr>
                        <a:t>verb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6040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28575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object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6040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28575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  <a:tr h="313182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28575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1100" b="1">
                          <a:latin typeface="Times New Roman"/>
                          <a:cs typeface="Times New Roman"/>
                        </a:rPr>
                        <a:t>&gt;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6040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07847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28575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Cats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eat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fish.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627380" y="3732529"/>
            <a:ext cx="537591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passive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voice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less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usual.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passive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voice,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10" b="1">
                <a:latin typeface="Times New Roman"/>
                <a:cs typeface="Times New Roman"/>
              </a:rPr>
              <a:t>subject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receives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action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verb:</a:t>
            </a:r>
            <a:endParaRPr sz="1100">
              <a:latin typeface="Times New Roman"/>
              <a:cs typeface="Times New Roman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2456688" y="4076700"/>
          <a:ext cx="2407920" cy="9537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7850"/>
                <a:gridCol w="580390"/>
                <a:gridCol w="652779"/>
                <a:gridCol w="577850"/>
              </a:tblGrid>
              <a:tr h="313563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73660">
                        <a:lnSpc>
                          <a:spcPct val="100000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passive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28575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1100" spc="-10" b="1">
                          <a:latin typeface="Times New Roman"/>
                          <a:cs typeface="Times New Roman"/>
                        </a:rPr>
                        <a:t>subject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6040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1100" spc="-10" b="1">
                          <a:latin typeface="Times New Roman"/>
                          <a:cs typeface="Times New Roman"/>
                        </a:rPr>
                        <a:t>verb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6040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object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6040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  <a:tr h="313182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28575">
                      <a:solidFill>
                        <a:srgbClr val="ACA89A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1100" b="1">
                          <a:latin typeface="Times New Roman"/>
                          <a:cs typeface="Times New Roman"/>
                        </a:rPr>
                        <a:t>&lt;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6040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  <a:tr h="307847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28575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Fish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28575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are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eaten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28575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cats.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28575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object 13"/>
          <p:cNvSpPr txBox="1"/>
          <p:nvPr/>
        </p:nvSpPr>
        <p:spPr>
          <a:xfrm>
            <a:off x="627380" y="5172709"/>
            <a:ext cx="396684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object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active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verb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becomes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10" b="1">
                <a:latin typeface="Times New Roman"/>
                <a:cs typeface="Times New Roman"/>
              </a:rPr>
              <a:t>subject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passive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verb:</a:t>
            </a:r>
            <a:endParaRPr sz="1100">
              <a:latin typeface="Times New Roman"/>
              <a:cs typeface="Times New Roman"/>
            </a:endParaRPr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2200655" y="5516879"/>
          <a:ext cx="2920365" cy="9588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7850"/>
                <a:gridCol w="765810"/>
                <a:gridCol w="606425"/>
                <a:gridCol w="949325"/>
              </a:tblGrid>
              <a:tr h="31356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1100" spc="-10" b="1">
                          <a:latin typeface="Times New Roman"/>
                          <a:cs typeface="Times New Roman"/>
                        </a:rPr>
                        <a:t>subject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6040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1100" spc="-10" b="1">
                          <a:latin typeface="Times New Roman"/>
                          <a:cs typeface="Times New Roman"/>
                        </a:rPr>
                        <a:t>verb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6040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object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6040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  <a:tr h="313182"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active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6040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Everybody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drinks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water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  <a:tr h="312800"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passive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6040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Water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6040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drunk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everybody.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855973" y="6613655"/>
            <a:ext cx="141351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1.</a:t>
            </a:r>
            <a:r>
              <a:rPr dirty="0" sz="1100" spc="66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ACTIVE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TENSES:</a:t>
            </a:r>
            <a:endParaRPr sz="1100">
              <a:latin typeface="Times New Roman"/>
              <a:cs typeface="Times New Roman"/>
            </a:endParaRPr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606551" y="6957059"/>
          <a:ext cx="6106795" cy="2481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83055"/>
                <a:gridCol w="1063625"/>
                <a:gridCol w="438150"/>
                <a:gridCol w="1176020"/>
                <a:gridCol w="262889"/>
                <a:gridCol w="1569085"/>
              </a:tblGrid>
              <a:tr h="227837">
                <a:tc gridSpan="6"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Simple</a:t>
                      </a:r>
                      <a:r>
                        <a:rPr dirty="0" sz="1100" spc="-2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Present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3495">
                    <a:lnL w="9525">
                      <a:solidFill>
                        <a:srgbClr val="ECE9D8"/>
                      </a:solidFill>
                      <a:prstDash val="solid"/>
                    </a:lnL>
                    <a:lnR w="9525">
                      <a:solidFill>
                        <a:srgbClr val="ACA89A"/>
                      </a:solidFill>
                      <a:prstDash val="solid"/>
                    </a:lnR>
                    <a:lnT w="9525">
                      <a:solidFill>
                        <a:srgbClr val="ECE9D8"/>
                      </a:solidFill>
                      <a:prstDash val="solid"/>
                    </a:lnT>
                    <a:lnB w="9525">
                      <a:solidFill>
                        <a:srgbClr val="ACA89A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64235">
                <a:tc>
                  <a:txBody>
                    <a:bodyPr/>
                    <a:lstStyle/>
                    <a:p>
                      <a:pPr marL="38735" marR="20320">
                        <a:lnSpc>
                          <a:spcPts val="1270"/>
                        </a:lnSpc>
                        <a:spcBef>
                          <a:spcPts val="110"/>
                        </a:spcBef>
                        <a:tabLst>
                          <a:tab pos="754380" algn="l"/>
                          <a:tab pos="1438275" algn="l"/>
                        </a:tabLst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Present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Action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or 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Condition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970">
                    <a:lnL w="9525">
                      <a:solidFill>
                        <a:srgbClr val="ECE9D8"/>
                      </a:solidFill>
                      <a:prstDash val="solid"/>
                    </a:lnL>
                    <a:lnR w="9525">
                      <a:solidFill>
                        <a:srgbClr val="ACA89A"/>
                      </a:solidFill>
                      <a:prstDash val="solid"/>
                    </a:lnR>
                    <a:lnT w="9525">
                      <a:solidFill>
                        <a:srgbClr val="ACA89A"/>
                      </a:solidFill>
                      <a:prstDash val="solid"/>
                    </a:lnT>
                    <a:lnB w="9525">
                      <a:solidFill>
                        <a:srgbClr val="ACA89A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General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Truths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3185">
                    <a:lnL w="9525">
                      <a:solidFill>
                        <a:srgbClr val="ACA89A"/>
                      </a:solidFill>
                      <a:prstDash val="solid"/>
                    </a:lnL>
                    <a:lnR w="9525">
                      <a:solidFill>
                        <a:srgbClr val="ACA89A"/>
                      </a:solidFill>
                      <a:prstDash val="solid"/>
                    </a:lnR>
                    <a:lnT w="9525">
                      <a:solidFill>
                        <a:srgbClr val="ACA89A"/>
                      </a:solidFill>
                      <a:prstDash val="solid"/>
                    </a:lnT>
                    <a:lnB w="9525">
                      <a:solidFill>
                        <a:srgbClr val="ACA89A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28575" marR="20955">
                        <a:lnSpc>
                          <a:spcPts val="1270"/>
                        </a:lnSpc>
                        <a:spcBef>
                          <a:spcPts val="110"/>
                        </a:spcBef>
                        <a:tabLst>
                          <a:tab pos="928369" algn="l"/>
                        </a:tabLst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Non-action;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Habitual 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Action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970">
                    <a:lnL w="9525">
                      <a:solidFill>
                        <a:srgbClr val="ACA89A"/>
                      </a:solidFill>
                      <a:prstDash val="solid"/>
                    </a:lnL>
                    <a:lnR w="9525">
                      <a:solidFill>
                        <a:srgbClr val="ACA89A"/>
                      </a:solidFill>
                      <a:prstDash val="solid"/>
                    </a:lnR>
                    <a:lnT w="9525">
                      <a:solidFill>
                        <a:srgbClr val="ACA89A"/>
                      </a:solidFill>
                      <a:prstDash val="solid"/>
                    </a:lnT>
                    <a:lnB w="9525">
                      <a:solidFill>
                        <a:srgbClr val="ACA89A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Future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Time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3185">
                    <a:lnL w="9525">
                      <a:solidFill>
                        <a:srgbClr val="ACA89A"/>
                      </a:solidFill>
                      <a:prstDash val="solid"/>
                    </a:lnL>
                    <a:lnR w="9525">
                      <a:solidFill>
                        <a:srgbClr val="ACA89A"/>
                      </a:solidFill>
                      <a:prstDash val="solid"/>
                    </a:lnR>
                    <a:lnT w="9525">
                      <a:solidFill>
                        <a:srgbClr val="ACA89A"/>
                      </a:solidFill>
                      <a:prstDash val="solid"/>
                    </a:lnT>
                    <a:lnB w="9525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  <a:tr h="685038">
                <a:tc>
                  <a:txBody>
                    <a:bodyPr/>
                    <a:lstStyle/>
                    <a:p>
                      <a:pPr marL="495934" indent="-229235">
                        <a:lnSpc>
                          <a:spcPts val="1295"/>
                        </a:lnSpc>
                        <a:spcBef>
                          <a:spcPts val="770"/>
                        </a:spcBef>
                        <a:buSzPct val="90909"/>
                        <a:buFont typeface="Symbol"/>
                        <a:buChar char=""/>
                        <a:tabLst>
                          <a:tab pos="495934" algn="l"/>
                          <a:tab pos="496570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hear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you.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495934" marR="20955" indent="-228600">
                        <a:lnSpc>
                          <a:spcPts val="1260"/>
                        </a:lnSpc>
                        <a:spcBef>
                          <a:spcPts val="65"/>
                        </a:spcBef>
                        <a:buSzPct val="90909"/>
                        <a:buFont typeface="Symbol"/>
                        <a:buChar char=""/>
                        <a:tabLst>
                          <a:tab pos="495934" algn="l"/>
                          <a:tab pos="496570" algn="l"/>
                          <a:tab pos="896619" algn="l"/>
                          <a:tab pos="1383665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Her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 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bus.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7790">
                    <a:lnL w="9525">
                      <a:solidFill>
                        <a:srgbClr val="ECE9D8"/>
                      </a:solidFill>
                      <a:prstDash val="solid"/>
                    </a:lnL>
                    <a:lnR w="9525">
                      <a:solidFill>
                        <a:srgbClr val="ACA89A"/>
                      </a:solidFill>
                      <a:prstDash val="solid"/>
                    </a:lnR>
                    <a:lnT w="9525">
                      <a:solidFill>
                        <a:srgbClr val="ACA89A"/>
                      </a:solidFill>
                      <a:prstDash val="solid"/>
                    </a:lnT>
                    <a:lnB w="9525">
                      <a:solidFill>
                        <a:srgbClr val="ECE9D8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485140" marR="19685" indent="-228600">
                        <a:lnSpc>
                          <a:spcPts val="127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There</a:t>
                      </a:r>
                      <a:r>
                        <a:rPr dirty="0" sz="1100" spc="1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are</a:t>
                      </a:r>
                      <a:r>
                        <a:rPr dirty="0" sz="1100" spc="1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thirty</a:t>
                      </a:r>
                      <a:r>
                        <a:rPr dirty="0" sz="1100" spc="1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days </a:t>
                      </a:r>
                      <a:r>
                        <a:rPr dirty="0" sz="1100" spc="-2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September.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>
                    <a:lnL w="9525">
                      <a:solidFill>
                        <a:srgbClr val="ACA89A"/>
                      </a:solidFill>
                      <a:prstDash val="solid"/>
                    </a:lnL>
                    <a:lnR w="9525">
                      <a:solidFill>
                        <a:srgbClr val="ACA89A"/>
                      </a:solidFill>
                      <a:prstDash val="solid"/>
                    </a:lnR>
                    <a:lnT w="9525">
                      <a:solidFill>
                        <a:srgbClr val="ACA89A"/>
                      </a:solidFill>
                      <a:prstDash val="solid"/>
                    </a:lnT>
                    <a:lnB w="9525">
                      <a:solidFill>
                        <a:srgbClr val="ECE9D8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485775" indent="-228600">
                        <a:lnSpc>
                          <a:spcPts val="1295"/>
                        </a:lnSpc>
                        <a:spcBef>
                          <a:spcPts val="140"/>
                        </a:spcBef>
                        <a:buSzPct val="90909"/>
                        <a:buFont typeface="Symbol"/>
                        <a:buChar char=""/>
                        <a:tabLst>
                          <a:tab pos="485140" algn="l"/>
                          <a:tab pos="485775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like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music.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485775" indent="-228600">
                        <a:lnSpc>
                          <a:spcPts val="1265"/>
                        </a:lnSpc>
                        <a:buSzPct val="90909"/>
                        <a:buFont typeface="Symbol"/>
                        <a:buChar char=""/>
                        <a:tabLst>
                          <a:tab pos="485140" algn="l"/>
                          <a:tab pos="485775" algn="l"/>
                          <a:tab pos="807720" algn="l"/>
                          <a:tab pos="1270000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	run	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485775" marR="20955">
                        <a:lnSpc>
                          <a:spcPts val="1270"/>
                        </a:lnSpc>
                        <a:spcBef>
                          <a:spcPts val="55"/>
                        </a:spcBef>
                        <a:tabLst>
                          <a:tab pos="1207770" algn="l"/>
                        </a:tabLst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Tuesda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and 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Sundays.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7780">
                    <a:lnL w="9525">
                      <a:solidFill>
                        <a:srgbClr val="ACA89A"/>
                      </a:solidFill>
                      <a:prstDash val="solid"/>
                    </a:lnL>
                    <a:lnR w="9525">
                      <a:solidFill>
                        <a:srgbClr val="ACA89A"/>
                      </a:solidFill>
                      <a:prstDash val="solid"/>
                    </a:lnR>
                    <a:lnT w="9525">
                      <a:solidFill>
                        <a:srgbClr val="ACA89A"/>
                      </a:solidFill>
                      <a:prstDash val="solid"/>
                    </a:lnT>
                    <a:lnB w="9525">
                      <a:solidFill>
                        <a:srgbClr val="ECE9D8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485775" marR="31115" indent="-228600">
                        <a:lnSpc>
                          <a:spcPts val="1270"/>
                        </a:lnSpc>
                        <a:buSzPct val="90909"/>
                        <a:buFont typeface="Symbol"/>
                        <a:buChar char=""/>
                        <a:tabLst>
                          <a:tab pos="485140" algn="l"/>
                          <a:tab pos="485775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train</a:t>
                      </a:r>
                      <a:r>
                        <a:rPr dirty="0" sz="1100" spc="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leaves</a:t>
                      </a:r>
                      <a:r>
                        <a:rPr dirty="0" sz="1100" spc="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at </a:t>
                      </a:r>
                      <a:r>
                        <a:rPr dirty="0" sz="1100" spc="-2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4:00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p.m.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>
                    <a:lnL w="9525">
                      <a:solidFill>
                        <a:srgbClr val="ACA89A"/>
                      </a:solidFill>
                      <a:prstDash val="solid"/>
                    </a:lnL>
                    <a:lnR w="9525">
                      <a:solidFill>
                        <a:srgbClr val="ACA89A"/>
                      </a:solidFill>
                      <a:prstDash val="solid"/>
                    </a:lnR>
                    <a:lnT w="9525">
                      <a:solidFill>
                        <a:srgbClr val="ACA89A"/>
                      </a:solidFill>
                      <a:prstDash val="solid"/>
                    </a:lnT>
                    <a:lnB w="9525">
                      <a:solidFill>
                        <a:srgbClr val="ECE9D8"/>
                      </a:solidFill>
                      <a:prstDash val="solid"/>
                    </a:lnB>
                  </a:tcPr>
                </a:tc>
              </a:tr>
              <a:tr h="227837">
                <a:tc gridSpan="6"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Present</a:t>
                      </a:r>
                      <a:r>
                        <a:rPr dirty="0" sz="1100" spc="-1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Progressive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2860">
                    <a:lnL w="9525">
                      <a:solidFill>
                        <a:srgbClr val="ECE9D8"/>
                      </a:solidFill>
                      <a:prstDash val="solid"/>
                    </a:lnL>
                    <a:lnR w="9525">
                      <a:solidFill>
                        <a:srgbClr val="ACA89A"/>
                      </a:solidFill>
                      <a:prstDash val="solid"/>
                    </a:lnR>
                    <a:lnT w="9525">
                      <a:solidFill>
                        <a:srgbClr val="ECE9D8"/>
                      </a:solidFill>
                      <a:prstDash val="solid"/>
                    </a:lnT>
                    <a:lnB w="9525">
                      <a:solidFill>
                        <a:srgbClr val="ACA89A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03454">
                <a:tc gridSpan="4"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Activity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Progress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75">
                    <a:lnL w="9525">
                      <a:solidFill>
                        <a:srgbClr val="ECE9D8"/>
                      </a:solidFill>
                      <a:prstDash val="solid"/>
                    </a:lnL>
                    <a:lnR w="9525">
                      <a:solidFill>
                        <a:srgbClr val="ACA89A"/>
                      </a:solidFill>
                      <a:prstDash val="solid"/>
                    </a:lnR>
                    <a:lnT w="9525">
                      <a:solidFill>
                        <a:srgbClr val="ACA89A"/>
                      </a:solidFill>
                      <a:prstDash val="solid"/>
                    </a:lnT>
                    <a:lnB w="9525">
                      <a:solidFill>
                        <a:srgbClr val="ACA89A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29209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Verbs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Perception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75">
                    <a:lnL w="9525">
                      <a:solidFill>
                        <a:srgbClr val="ACA89A"/>
                      </a:solidFill>
                      <a:prstDash val="solid"/>
                    </a:lnL>
                    <a:lnR w="9525">
                      <a:solidFill>
                        <a:srgbClr val="ACA89A"/>
                      </a:solidFill>
                      <a:prstDash val="solid"/>
                    </a:lnR>
                    <a:lnT w="9525">
                      <a:solidFill>
                        <a:srgbClr val="ACA89A"/>
                      </a:solidFill>
                      <a:prstDash val="solid"/>
                    </a:lnT>
                    <a:lnB w="9525">
                      <a:solidFill>
                        <a:srgbClr val="ACA89A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37566">
                <a:tc gridSpan="4">
                  <a:txBody>
                    <a:bodyPr/>
                    <a:lstStyle/>
                    <a:p>
                      <a:pPr marL="495934" indent="-229235">
                        <a:lnSpc>
                          <a:spcPct val="100000"/>
                        </a:lnSpc>
                        <a:spcBef>
                          <a:spcPts val="670"/>
                        </a:spcBef>
                        <a:buSzPct val="90909"/>
                        <a:buFont typeface="Symbol"/>
                        <a:buChar char=""/>
                        <a:tabLst>
                          <a:tab pos="495934" algn="l"/>
                          <a:tab pos="496570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 am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playing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soccer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now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5090">
                    <a:lnL w="9525">
                      <a:solidFill>
                        <a:srgbClr val="ECE9D8"/>
                      </a:solidFill>
                      <a:prstDash val="solid"/>
                    </a:lnL>
                    <a:lnR w="9525">
                      <a:solidFill>
                        <a:srgbClr val="ACA89A"/>
                      </a:solidFill>
                      <a:prstDash val="solid"/>
                    </a:lnR>
                    <a:lnT w="9525">
                      <a:solidFill>
                        <a:srgbClr val="ACA89A"/>
                      </a:solidFill>
                      <a:prstDash val="solid"/>
                    </a:lnT>
                    <a:lnB w="9525">
                      <a:solidFill>
                        <a:srgbClr val="ECE9D8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485775" indent="-228600">
                        <a:lnSpc>
                          <a:spcPct val="100000"/>
                        </a:lnSpc>
                        <a:spcBef>
                          <a:spcPts val="670"/>
                        </a:spcBef>
                        <a:buSzPct val="90909"/>
                        <a:buFont typeface="Symbol"/>
                        <a:buChar char=""/>
                        <a:tabLst>
                          <a:tab pos="485140" algn="l"/>
                          <a:tab pos="485775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He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feeling sad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5090">
                    <a:lnL w="9525">
                      <a:solidFill>
                        <a:srgbClr val="ACA89A"/>
                      </a:solidFill>
                      <a:prstDash val="solid"/>
                    </a:lnL>
                    <a:lnR w="9525">
                      <a:solidFill>
                        <a:srgbClr val="ACA89A"/>
                      </a:solidFill>
                      <a:prstDash val="solid"/>
                    </a:lnR>
                    <a:lnT w="9525">
                      <a:solidFill>
                        <a:srgbClr val="ACA89A"/>
                      </a:solidFill>
                      <a:prstDash val="solid"/>
                    </a:lnT>
                    <a:lnB w="9525">
                      <a:solidFill>
                        <a:srgbClr val="ECE9D8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27837">
                <a:tc gridSpan="6"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Simple</a:t>
                      </a:r>
                      <a:r>
                        <a:rPr dirty="0" sz="1100" spc="-3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Past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2860">
                    <a:lnL w="9525">
                      <a:solidFill>
                        <a:srgbClr val="ECE9D8"/>
                      </a:solidFill>
                      <a:prstDash val="solid"/>
                    </a:lnL>
                    <a:lnR w="9525">
                      <a:solidFill>
                        <a:srgbClr val="ACA89A"/>
                      </a:solidFill>
                      <a:prstDash val="solid"/>
                    </a:lnR>
                    <a:lnT w="9525">
                      <a:solidFill>
                        <a:srgbClr val="ECE9D8"/>
                      </a:solidFill>
                      <a:prstDash val="solid"/>
                    </a:lnT>
                    <a:lnB w="9525">
                      <a:solidFill>
                        <a:srgbClr val="ACA89A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98500">
                <a:tc gridSpan="2"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Completed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Action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75">
                    <a:lnL w="9525">
                      <a:solidFill>
                        <a:srgbClr val="ECE9D8"/>
                      </a:solidFill>
                      <a:prstDash val="solid"/>
                    </a:lnL>
                    <a:lnR w="9525">
                      <a:solidFill>
                        <a:srgbClr val="ACA89A"/>
                      </a:solidFill>
                      <a:prstDash val="solid"/>
                    </a:lnR>
                    <a:lnT w="9525">
                      <a:solidFill>
                        <a:srgbClr val="ACA89A"/>
                      </a:solidFill>
                      <a:prstDash val="solid"/>
                    </a:lnT>
                    <a:lnB w="9525">
                      <a:solidFill>
                        <a:srgbClr val="ACA89A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4">
                  <a:txBody>
                    <a:bodyPr/>
                    <a:lstStyle/>
                    <a:p>
                      <a:pPr marL="29209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Completed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Condition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75">
                    <a:lnL w="9525">
                      <a:solidFill>
                        <a:srgbClr val="ACA89A"/>
                      </a:solidFill>
                      <a:prstDash val="solid"/>
                    </a:lnL>
                    <a:lnR w="9525">
                      <a:solidFill>
                        <a:srgbClr val="ACA89A"/>
                      </a:solidFill>
                      <a:prstDash val="solid"/>
                    </a:lnR>
                    <a:lnT w="9525">
                      <a:solidFill>
                        <a:srgbClr val="ACA89A"/>
                      </a:solidFill>
                      <a:prstDash val="solid"/>
                    </a:lnT>
                    <a:lnB w="9525">
                      <a:solidFill>
                        <a:srgbClr val="ACA89A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4580" y="342390"/>
            <a:ext cx="174498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 Elementary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41311" y="342390"/>
            <a:ext cx="22669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360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67219" y="9493248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41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972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829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063752" y="558164"/>
          <a:ext cx="6106795" cy="59563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12340"/>
                <a:gridCol w="434339"/>
                <a:gridCol w="647064"/>
                <a:gridCol w="197485"/>
                <a:gridCol w="257175"/>
                <a:gridCol w="256539"/>
                <a:gridCol w="2089785"/>
              </a:tblGrid>
              <a:tr h="198500">
                <a:tc gridSpan="2">
                  <a:txBody>
                    <a:bodyPr/>
                    <a:lstStyle/>
                    <a:p>
                      <a:pPr marL="495934" indent="-229235">
                        <a:lnSpc>
                          <a:spcPct val="100000"/>
                        </a:lnSpc>
                        <a:spcBef>
                          <a:spcPts val="100"/>
                        </a:spcBef>
                        <a:buSzPct val="90909"/>
                        <a:buFont typeface="Symbol"/>
                        <a:buChar char=""/>
                        <a:tabLst>
                          <a:tab pos="495934" algn="l"/>
                          <a:tab pos="496570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We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visited the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museum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yesterday.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700">
                    <a:lnL w="9525">
                      <a:solidFill>
                        <a:srgbClr val="ECE9D8"/>
                      </a:solidFill>
                      <a:prstDash val="solid"/>
                    </a:lnL>
                    <a:lnR w="9525">
                      <a:solidFill>
                        <a:srgbClr val="ACA89A"/>
                      </a:solidFill>
                      <a:prstDash val="solid"/>
                    </a:lnR>
                    <a:lnT w="9525">
                      <a:solidFill>
                        <a:srgbClr val="ACA89A"/>
                      </a:solidFill>
                      <a:prstDash val="solid"/>
                    </a:lnT>
                    <a:lnB w="9525">
                      <a:solidFill>
                        <a:srgbClr val="ECE9D8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5">
                  <a:txBody>
                    <a:bodyPr/>
                    <a:lstStyle/>
                    <a:p>
                      <a:pPr marL="485775" indent="-228600">
                        <a:lnSpc>
                          <a:spcPct val="100000"/>
                        </a:lnSpc>
                        <a:spcBef>
                          <a:spcPts val="100"/>
                        </a:spcBef>
                        <a:buSzPct val="90909"/>
                        <a:buFont typeface="Symbol"/>
                        <a:buChar char=""/>
                        <a:tabLst>
                          <a:tab pos="485140" algn="l"/>
                          <a:tab pos="485775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weather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was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rainy</a:t>
                      </a:r>
                      <a:r>
                        <a:rPr dirty="0" sz="11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last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week.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700">
                    <a:lnL w="9525">
                      <a:solidFill>
                        <a:srgbClr val="ACA89A"/>
                      </a:solidFill>
                      <a:prstDash val="solid"/>
                    </a:lnL>
                    <a:lnR w="9525">
                      <a:solidFill>
                        <a:srgbClr val="ACA89A"/>
                      </a:solidFill>
                      <a:prstDash val="solid"/>
                    </a:lnR>
                    <a:lnT w="9525">
                      <a:solidFill>
                        <a:srgbClr val="ACA89A"/>
                      </a:solidFill>
                      <a:prstDash val="solid"/>
                    </a:lnT>
                    <a:lnB w="9525">
                      <a:solidFill>
                        <a:srgbClr val="ECE9D8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27838">
                <a:tc gridSpan="7"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Past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Progressive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3495">
                    <a:lnL w="9525">
                      <a:solidFill>
                        <a:srgbClr val="ECE9D8"/>
                      </a:solidFill>
                      <a:prstDash val="solid"/>
                    </a:lnL>
                    <a:lnR w="9525">
                      <a:solidFill>
                        <a:srgbClr val="ACA89A"/>
                      </a:solidFill>
                      <a:prstDash val="solid"/>
                    </a:lnR>
                    <a:lnT w="9525">
                      <a:solidFill>
                        <a:srgbClr val="ECE9D8"/>
                      </a:solidFill>
                      <a:prstDash val="solid"/>
                    </a:lnT>
                    <a:lnB w="9525">
                      <a:solidFill>
                        <a:srgbClr val="ACA89A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03453">
                <a:tc gridSpan="6"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Past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Action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took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place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over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period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time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75">
                    <a:lnL w="9525">
                      <a:solidFill>
                        <a:srgbClr val="ECE9D8"/>
                      </a:solidFill>
                      <a:prstDash val="solid"/>
                    </a:lnL>
                    <a:lnR w="9525">
                      <a:solidFill>
                        <a:srgbClr val="ACA89A"/>
                      </a:solidFill>
                      <a:prstDash val="solid"/>
                    </a:lnR>
                    <a:lnT w="9525">
                      <a:solidFill>
                        <a:srgbClr val="ACA89A"/>
                      </a:solidFill>
                      <a:prstDash val="solid"/>
                    </a:lnT>
                    <a:lnB w="9525">
                      <a:solidFill>
                        <a:srgbClr val="ACA89A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9209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Past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Action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interrupted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another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75">
                    <a:lnL w="9525">
                      <a:solidFill>
                        <a:srgbClr val="ACA89A"/>
                      </a:solidFill>
                      <a:prstDash val="solid"/>
                    </a:lnL>
                    <a:lnR w="9525">
                      <a:solidFill>
                        <a:srgbClr val="ACA89A"/>
                      </a:solidFill>
                      <a:prstDash val="solid"/>
                    </a:lnR>
                    <a:lnT w="9525">
                      <a:solidFill>
                        <a:srgbClr val="ACA89A"/>
                      </a:solidFill>
                      <a:prstDash val="solid"/>
                    </a:lnT>
                    <a:lnB w="9525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  <a:tr h="364235">
                <a:tc gridSpan="6">
                  <a:txBody>
                    <a:bodyPr/>
                    <a:lstStyle/>
                    <a:p>
                      <a:pPr marL="495934" indent="-229235">
                        <a:lnSpc>
                          <a:spcPct val="100000"/>
                        </a:lnSpc>
                        <a:spcBef>
                          <a:spcPts val="770"/>
                        </a:spcBef>
                        <a:buSzPct val="90909"/>
                        <a:buFont typeface="Symbol"/>
                        <a:buChar char=""/>
                        <a:tabLst>
                          <a:tab pos="495934" algn="l"/>
                          <a:tab pos="496570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They</a:t>
                      </a:r>
                      <a:r>
                        <a:rPr dirty="0" sz="11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were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climbing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twenty-seven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days.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7790">
                    <a:lnL w="9525">
                      <a:solidFill>
                        <a:srgbClr val="ECE9D8"/>
                      </a:solidFill>
                      <a:prstDash val="solid"/>
                    </a:lnL>
                    <a:lnR w="9525">
                      <a:solidFill>
                        <a:srgbClr val="ACA89A"/>
                      </a:solidFill>
                      <a:prstDash val="solid"/>
                    </a:lnR>
                    <a:lnT w="9525">
                      <a:solidFill>
                        <a:srgbClr val="ACA89A"/>
                      </a:solidFill>
                      <a:prstDash val="solid"/>
                    </a:lnT>
                    <a:lnB w="9525">
                      <a:solidFill>
                        <a:srgbClr val="ECE9D8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85775" marR="30480" indent="-228600">
                        <a:lnSpc>
                          <a:spcPts val="1270"/>
                        </a:lnSpc>
                        <a:spcBef>
                          <a:spcPts val="225"/>
                        </a:spcBef>
                        <a:buSzPct val="90909"/>
                        <a:buFont typeface="Symbol"/>
                        <a:buChar char=""/>
                        <a:tabLst>
                          <a:tab pos="485140" algn="l"/>
                          <a:tab pos="485775" algn="l"/>
                          <a:tab pos="812800" algn="l"/>
                          <a:tab pos="1218565" algn="l"/>
                          <a:tab pos="1693545" algn="l"/>
                        </a:tabLst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We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were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eating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din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er 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when she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told me.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8575">
                    <a:lnL w="9525">
                      <a:solidFill>
                        <a:srgbClr val="ACA89A"/>
                      </a:solidFill>
                      <a:prstDash val="solid"/>
                    </a:lnL>
                    <a:lnR w="9525">
                      <a:solidFill>
                        <a:srgbClr val="ACA89A"/>
                      </a:solidFill>
                      <a:prstDash val="solid"/>
                    </a:lnR>
                    <a:lnT w="9525">
                      <a:solidFill>
                        <a:srgbClr val="ACA89A"/>
                      </a:solidFill>
                      <a:prstDash val="solid"/>
                    </a:lnT>
                    <a:lnB w="9525">
                      <a:solidFill>
                        <a:srgbClr val="ECE9D8"/>
                      </a:solidFill>
                      <a:prstDash val="solid"/>
                    </a:lnB>
                  </a:tcPr>
                </a:tc>
              </a:tr>
              <a:tr h="227076">
                <a:tc gridSpan="7"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Future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2860">
                    <a:lnL w="9525">
                      <a:solidFill>
                        <a:srgbClr val="ECE9D8"/>
                      </a:solidFill>
                      <a:prstDash val="solid"/>
                    </a:lnL>
                    <a:lnR w="9525">
                      <a:solidFill>
                        <a:srgbClr val="ACA89A"/>
                      </a:solidFill>
                      <a:prstDash val="solid"/>
                    </a:lnR>
                    <a:lnT w="9525">
                      <a:solidFill>
                        <a:srgbClr val="ECE9D8"/>
                      </a:solidFill>
                      <a:prstDash val="solid"/>
                    </a:lnT>
                    <a:lnB w="9525">
                      <a:solidFill>
                        <a:srgbClr val="ACA89A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64235">
                <a:tc gridSpan="3">
                  <a:txBody>
                    <a:bodyPr/>
                    <a:lstStyle/>
                    <a:p>
                      <a:pPr marL="38735" marR="20320">
                        <a:lnSpc>
                          <a:spcPts val="1270"/>
                        </a:lnSpc>
                        <a:spcBef>
                          <a:spcPts val="110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dirty="0" sz="1100" spc="2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will/won't</a:t>
                      </a:r>
                      <a:r>
                        <a:rPr dirty="0" sz="1100" spc="229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--</a:t>
                      </a:r>
                      <a:r>
                        <a:rPr dirty="0" sz="1100" spc="2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Activity</a:t>
                      </a:r>
                      <a:r>
                        <a:rPr dirty="0" sz="1100" spc="2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dirty="0" sz="1100" spc="2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event</a:t>
                      </a:r>
                      <a:r>
                        <a:rPr dirty="0" sz="1100" spc="229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dirty="0" sz="1100" spc="2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will</a:t>
                      </a:r>
                      <a:r>
                        <a:rPr dirty="0" sz="1100" spc="229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dirty="0" sz="1100" spc="2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won't </a:t>
                      </a:r>
                      <a:r>
                        <a:rPr dirty="0" sz="1100" spc="-2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exist or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happen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future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970">
                    <a:lnL w="9525">
                      <a:solidFill>
                        <a:srgbClr val="ECE9D8"/>
                      </a:solidFill>
                      <a:prstDash val="solid"/>
                    </a:lnL>
                    <a:lnR w="9525">
                      <a:solidFill>
                        <a:srgbClr val="ACA89A"/>
                      </a:solidFill>
                      <a:prstDash val="solid"/>
                    </a:lnR>
                    <a:lnT w="9525">
                      <a:solidFill>
                        <a:srgbClr val="ACA89A"/>
                      </a:solidFill>
                      <a:prstDash val="solid"/>
                    </a:lnT>
                    <a:lnB w="9525">
                      <a:solidFill>
                        <a:srgbClr val="ACA89A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4">
                  <a:txBody>
                    <a:bodyPr/>
                    <a:lstStyle/>
                    <a:p>
                      <a:pPr marL="27940" marR="30480">
                        <a:lnSpc>
                          <a:spcPts val="1270"/>
                        </a:lnSpc>
                        <a:spcBef>
                          <a:spcPts val="110"/>
                        </a:spcBef>
                        <a:tabLst>
                          <a:tab pos="443865" algn="l"/>
                          <a:tab pos="898525" algn="l"/>
                          <a:tab pos="1143635" algn="l"/>
                          <a:tab pos="1373505" algn="l"/>
                          <a:tab pos="1843405" algn="l"/>
                          <a:tab pos="2088514" algn="l"/>
                          <a:tab pos="2651760" algn="l"/>
                        </a:tabLst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going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--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future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relation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to 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circumstances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present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970">
                    <a:lnL w="9525">
                      <a:solidFill>
                        <a:srgbClr val="ACA89A"/>
                      </a:solidFill>
                      <a:prstDash val="solid"/>
                    </a:lnL>
                    <a:lnR w="9525">
                      <a:solidFill>
                        <a:srgbClr val="ACA89A"/>
                      </a:solidFill>
                      <a:prstDash val="solid"/>
                    </a:lnR>
                    <a:lnT w="9525">
                      <a:solidFill>
                        <a:srgbClr val="ACA89A"/>
                      </a:solidFill>
                      <a:prstDash val="solid"/>
                    </a:lnT>
                    <a:lnB w="9525">
                      <a:solidFill>
                        <a:srgbClr val="ACA89A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64235">
                <a:tc gridSpan="3">
                  <a:txBody>
                    <a:bodyPr/>
                    <a:lstStyle/>
                    <a:p>
                      <a:pPr marL="495934" indent="-229235">
                        <a:lnSpc>
                          <a:spcPts val="1295"/>
                        </a:lnSpc>
                        <a:spcBef>
                          <a:spcPts val="140"/>
                        </a:spcBef>
                        <a:buSzPct val="90909"/>
                        <a:buFont typeface="Symbol"/>
                        <a:buChar char=""/>
                        <a:tabLst>
                          <a:tab pos="495934" algn="l"/>
                          <a:tab pos="496570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I'll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get up late tomorrow.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495934" indent="-229235">
                        <a:lnSpc>
                          <a:spcPts val="1295"/>
                        </a:lnSpc>
                        <a:buSzPct val="90909"/>
                        <a:buFont typeface="Symbol"/>
                        <a:buChar char=""/>
                        <a:tabLst>
                          <a:tab pos="495934" algn="l"/>
                          <a:tab pos="496570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won't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get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up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early.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7780">
                    <a:lnL w="9525">
                      <a:solidFill>
                        <a:srgbClr val="ECE9D8"/>
                      </a:solidFill>
                      <a:prstDash val="solid"/>
                    </a:lnL>
                    <a:lnR w="9525">
                      <a:solidFill>
                        <a:srgbClr val="ACA89A"/>
                      </a:solidFill>
                      <a:prstDash val="solid"/>
                    </a:lnR>
                    <a:lnT w="9525">
                      <a:solidFill>
                        <a:srgbClr val="ACA89A"/>
                      </a:solidFill>
                      <a:prstDash val="solid"/>
                    </a:lnT>
                    <a:lnB w="9525">
                      <a:solidFill>
                        <a:srgbClr val="ECE9D8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4">
                  <a:txBody>
                    <a:bodyPr/>
                    <a:lstStyle/>
                    <a:p>
                      <a:pPr marL="485775" indent="-228600">
                        <a:lnSpc>
                          <a:spcPts val="1295"/>
                        </a:lnSpc>
                        <a:spcBef>
                          <a:spcPts val="140"/>
                        </a:spcBef>
                        <a:buSzPct val="90909"/>
                        <a:buFont typeface="Symbol"/>
                        <a:buChar char=""/>
                        <a:tabLst>
                          <a:tab pos="485140" algn="l"/>
                          <a:tab pos="485775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I'm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hungry.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485775" indent="-228600">
                        <a:lnSpc>
                          <a:spcPts val="1295"/>
                        </a:lnSpc>
                        <a:buSzPct val="90909"/>
                        <a:buFont typeface="Symbol"/>
                        <a:buChar char=""/>
                        <a:tabLst>
                          <a:tab pos="485140" algn="l"/>
                          <a:tab pos="485775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I'm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going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to get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something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eat.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7780">
                    <a:lnL w="9525">
                      <a:solidFill>
                        <a:srgbClr val="ACA89A"/>
                      </a:solidFill>
                      <a:prstDash val="solid"/>
                    </a:lnL>
                    <a:lnR w="9525">
                      <a:solidFill>
                        <a:srgbClr val="ACA89A"/>
                      </a:solidFill>
                      <a:prstDash val="solid"/>
                    </a:lnR>
                    <a:lnT w="9525">
                      <a:solidFill>
                        <a:srgbClr val="ACA89A"/>
                      </a:solidFill>
                      <a:prstDash val="solid"/>
                    </a:lnT>
                    <a:lnB w="9525">
                      <a:solidFill>
                        <a:srgbClr val="ECE9D8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27075">
                <a:tc gridSpan="7"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100" spc="-10" b="1">
                          <a:latin typeface="Times New Roman"/>
                          <a:cs typeface="Times New Roman"/>
                        </a:rPr>
                        <a:t>Present</a:t>
                      </a:r>
                      <a:r>
                        <a:rPr dirty="0" sz="1100" spc="-2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Perfect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2860">
                    <a:lnL w="9525">
                      <a:solidFill>
                        <a:srgbClr val="ECE9D8"/>
                      </a:solidFill>
                      <a:prstDash val="solid"/>
                    </a:lnL>
                    <a:lnR w="9525">
                      <a:solidFill>
                        <a:srgbClr val="ACA89A"/>
                      </a:solidFill>
                      <a:prstDash val="solid"/>
                    </a:lnR>
                    <a:lnT w="9525">
                      <a:solidFill>
                        <a:srgbClr val="ECE9D8"/>
                      </a:solidFill>
                      <a:prstDash val="solid"/>
                    </a:lnT>
                    <a:lnB w="9525">
                      <a:solidFill>
                        <a:srgbClr val="ACA89A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525018">
                <a:tc>
                  <a:txBody>
                    <a:bodyPr/>
                    <a:lstStyle/>
                    <a:p>
                      <a:pPr algn="just" marL="38735" marR="20320">
                        <a:lnSpc>
                          <a:spcPts val="1270"/>
                        </a:lnSpc>
                        <a:spcBef>
                          <a:spcPts val="110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With verbs of state that begin in the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past and lead up to and include the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present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970">
                    <a:lnL w="9525">
                      <a:solidFill>
                        <a:srgbClr val="ECE9D8"/>
                      </a:solidFill>
                      <a:prstDash val="solid"/>
                    </a:lnL>
                    <a:lnR w="9525">
                      <a:solidFill>
                        <a:srgbClr val="ACA89A"/>
                      </a:solidFill>
                      <a:prstDash val="solid"/>
                    </a:lnR>
                    <a:lnT w="9525">
                      <a:solidFill>
                        <a:srgbClr val="ACA89A"/>
                      </a:solidFill>
                      <a:prstDash val="solid"/>
                    </a:lnT>
                    <a:lnB w="9525">
                      <a:solidFill>
                        <a:srgbClr val="ACA89A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27940" marR="20320">
                        <a:lnSpc>
                          <a:spcPts val="1270"/>
                        </a:lnSpc>
                        <a:spcBef>
                          <a:spcPts val="740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100" spc="2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express</a:t>
                      </a:r>
                      <a:r>
                        <a:rPr dirty="0" sz="1100" spc="2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habitual </a:t>
                      </a:r>
                      <a:r>
                        <a:rPr dirty="0" sz="1100" spc="-2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continued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action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3980">
                    <a:lnL w="9525">
                      <a:solidFill>
                        <a:srgbClr val="ACA89A"/>
                      </a:solidFill>
                      <a:prstDash val="solid"/>
                    </a:lnL>
                    <a:lnR w="9525">
                      <a:solidFill>
                        <a:srgbClr val="ACA89A"/>
                      </a:solidFill>
                      <a:prstDash val="solid"/>
                    </a:lnR>
                    <a:lnT w="9525">
                      <a:solidFill>
                        <a:srgbClr val="ACA89A"/>
                      </a:solidFill>
                      <a:prstDash val="solid"/>
                    </a:lnT>
                    <a:lnB w="9525">
                      <a:solidFill>
                        <a:srgbClr val="ACA89A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3">
                  <a:txBody>
                    <a:bodyPr/>
                    <a:lstStyle/>
                    <a:p>
                      <a:pPr algn="just" marL="27940" marR="28575">
                        <a:lnSpc>
                          <a:spcPts val="1270"/>
                        </a:lnSpc>
                        <a:spcBef>
                          <a:spcPts val="110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events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occurring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at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an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indefinite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or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unspecified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past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--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ever,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never, before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970">
                    <a:lnL w="9525">
                      <a:solidFill>
                        <a:srgbClr val="ACA89A"/>
                      </a:solidFill>
                      <a:prstDash val="solid"/>
                    </a:lnL>
                    <a:lnR w="9525">
                      <a:solidFill>
                        <a:srgbClr val="ACA89A"/>
                      </a:solidFill>
                      <a:prstDash val="solid"/>
                    </a:lnR>
                    <a:lnT w="9525">
                      <a:solidFill>
                        <a:srgbClr val="ACA89A"/>
                      </a:solidFill>
                      <a:prstDash val="solid"/>
                    </a:lnT>
                    <a:lnB w="9525">
                      <a:solidFill>
                        <a:srgbClr val="ACA89A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524256">
                <a:tc>
                  <a:txBody>
                    <a:bodyPr/>
                    <a:lstStyle/>
                    <a:p>
                      <a:pPr marL="495934" marR="20320" indent="-228600">
                        <a:lnSpc>
                          <a:spcPts val="1270"/>
                        </a:lnSpc>
                        <a:spcBef>
                          <a:spcPts val="855"/>
                        </a:spcBef>
                        <a:buSzPct val="90909"/>
                        <a:buFont typeface="Symbol"/>
                        <a:buChar char=""/>
                        <a:tabLst>
                          <a:tab pos="495934" algn="l"/>
                          <a:tab pos="496570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He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has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lived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here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many </a:t>
                      </a:r>
                      <a:r>
                        <a:rPr dirty="0" sz="1100" spc="-2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years.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8585">
                    <a:lnL w="9525">
                      <a:solidFill>
                        <a:srgbClr val="ECE9D8"/>
                      </a:solidFill>
                      <a:prstDash val="solid"/>
                    </a:lnL>
                    <a:lnR w="9525">
                      <a:solidFill>
                        <a:srgbClr val="ACA89A"/>
                      </a:solidFill>
                      <a:prstDash val="solid"/>
                    </a:lnR>
                    <a:lnT w="9525">
                      <a:solidFill>
                        <a:srgbClr val="ACA89A"/>
                      </a:solidFill>
                      <a:prstDash val="solid"/>
                    </a:lnT>
                    <a:lnB w="9525">
                      <a:solidFill>
                        <a:srgbClr val="ECE9D8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algn="just" marL="485140" marR="20955" indent="-228600">
                        <a:lnSpc>
                          <a:spcPts val="1270"/>
                        </a:lnSpc>
                        <a:spcBef>
                          <a:spcPts val="215"/>
                        </a:spcBef>
                        <a:buSzPct val="90909"/>
                        <a:buFont typeface="Symbol"/>
                        <a:buChar char=""/>
                        <a:tabLst>
                          <a:tab pos="485775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He has worn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glasses</a:t>
                      </a:r>
                      <a:r>
                        <a:rPr dirty="0" sz="1100" spc="5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all </a:t>
                      </a:r>
                      <a:r>
                        <a:rPr dirty="0" sz="1100" spc="-2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his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life.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305">
                    <a:lnL w="9525">
                      <a:solidFill>
                        <a:srgbClr val="ACA89A"/>
                      </a:solidFill>
                      <a:prstDash val="solid"/>
                    </a:lnL>
                    <a:lnR w="9525">
                      <a:solidFill>
                        <a:srgbClr val="ACA89A"/>
                      </a:solidFill>
                      <a:prstDash val="solid"/>
                    </a:lnR>
                    <a:lnT w="9525">
                      <a:solidFill>
                        <a:srgbClr val="ACA89A"/>
                      </a:solidFill>
                      <a:prstDash val="solid"/>
                    </a:lnT>
                    <a:lnB w="9525">
                      <a:solidFill>
                        <a:srgbClr val="ECE9D8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3">
                  <a:txBody>
                    <a:bodyPr/>
                    <a:lstStyle/>
                    <a:p>
                      <a:pPr marL="485775" marR="30480" indent="-228600">
                        <a:lnSpc>
                          <a:spcPts val="1270"/>
                        </a:lnSpc>
                        <a:spcBef>
                          <a:spcPts val="855"/>
                        </a:spcBef>
                        <a:buSzPct val="90909"/>
                        <a:buFont typeface="Symbol"/>
                        <a:buChar char=""/>
                        <a:tabLst>
                          <a:tab pos="485140" algn="l"/>
                          <a:tab pos="485775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Have</a:t>
                      </a:r>
                      <a:r>
                        <a:rPr dirty="0" sz="1100" spc="11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you</a:t>
                      </a:r>
                      <a:r>
                        <a:rPr dirty="0" sz="1100" spc="10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ever</a:t>
                      </a:r>
                      <a:r>
                        <a:rPr dirty="0" sz="1100" spc="11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been</a:t>
                      </a:r>
                      <a:r>
                        <a:rPr dirty="0" sz="1100" spc="1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100" spc="11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Tokyo </a:t>
                      </a:r>
                      <a:r>
                        <a:rPr dirty="0" sz="1100" spc="-2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before?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8585">
                    <a:lnL w="9525">
                      <a:solidFill>
                        <a:srgbClr val="ACA89A"/>
                      </a:solidFill>
                      <a:prstDash val="solid"/>
                    </a:lnL>
                    <a:lnR w="9525">
                      <a:solidFill>
                        <a:srgbClr val="ACA89A"/>
                      </a:solidFill>
                      <a:prstDash val="solid"/>
                    </a:lnR>
                    <a:lnT w="9525">
                      <a:solidFill>
                        <a:srgbClr val="ACA89A"/>
                      </a:solidFill>
                      <a:prstDash val="solid"/>
                    </a:lnT>
                    <a:lnB w="9525">
                      <a:solidFill>
                        <a:srgbClr val="ECE9D8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27837">
                <a:tc gridSpan="7"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Present</a:t>
                      </a:r>
                      <a:r>
                        <a:rPr dirty="0" sz="1100" spc="-1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Perfect</a:t>
                      </a:r>
                      <a:r>
                        <a:rPr dirty="0" sz="1100" spc="-1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Progressive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3495">
                    <a:lnL w="9525">
                      <a:solidFill>
                        <a:srgbClr val="ECE9D8"/>
                      </a:solidFill>
                      <a:prstDash val="solid"/>
                    </a:lnL>
                    <a:lnR w="9525">
                      <a:solidFill>
                        <a:srgbClr val="ACA89A"/>
                      </a:solidFill>
                      <a:prstDash val="solid"/>
                    </a:lnR>
                    <a:lnT w="9525">
                      <a:solidFill>
                        <a:srgbClr val="ECE9D8"/>
                      </a:solidFill>
                      <a:prstDash val="solid"/>
                    </a:lnT>
                    <a:lnB w="9525">
                      <a:solidFill>
                        <a:srgbClr val="ACA89A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64236">
                <a:tc gridSpan="7">
                  <a:txBody>
                    <a:bodyPr/>
                    <a:lstStyle/>
                    <a:p>
                      <a:pPr marL="38735" marR="29209">
                        <a:lnSpc>
                          <a:spcPts val="1270"/>
                        </a:lnSpc>
                        <a:spcBef>
                          <a:spcPts val="110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100" spc="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express</a:t>
                      </a:r>
                      <a:r>
                        <a:rPr dirty="0" sz="1100" spc="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duration</a:t>
                      </a:r>
                      <a:r>
                        <a:rPr dirty="0" sz="1100" spc="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spc="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dirty="0" sz="1100" spc="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action</a:t>
                      </a:r>
                      <a:r>
                        <a:rPr dirty="0" sz="1100" spc="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dirty="0" sz="1100" spc="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began</a:t>
                      </a:r>
                      <a:r>
                        <a:rPr dirty="0" sz="1100" spc="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100" spc="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past,</a:t>
                      </a:r>
                      <a:r>
                        <a:rPr dirty="0" sz="1100" spc="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has</a:t>
                      </a:r>
                      <a:r>
                        <a:rPr dirty="0" sz="1100" spc="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continued</a:t>
                      </a:r>
                      <a:r>
                        <a:rPr dirty="0" sz="1100" spc="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into</a:t>
                      </a:r>
                      <a:r>
                        <a:rPr dirty="0" sz="1100" spc="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present,</a:t>
                      </a:r>
                      <a:r>
                        <a:rPr dirty="0" sz="1100" spc="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100" spc="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may</a:t>
                      </a:r>
                      <a:r>
                        <a:rPr dirty="0" sz="1100" spc="10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continue </a:t>
                      </a:r>
                      <a:r>
                        <a:rPr dirty="0" sz="1100" spc="-2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into the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future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970">
                    <a:lnL w="9525">
                      <a:solidFill>
                        <a:srgbClr val="ECE9D8"/>
                      </a:solidFill>
                      <a:prstDash val="solid"/>
                    </a:lnL>
                    <a:lnR w="9525">
                      <a:solidFill>
                        <a:srgbClr val="ACA89A"/>
                      </a:solidFill>
                      <a:prstDash val="solid"/>
                    </a:lnR>
                    <a:lnT w="9525">
                      <a:solidFill>
                        <a:srgbClr val="ACA89A"/>
                      </a:solidFill>
                      <a:prstDash val="solid"/>
                    </a:lnT>
                    <a:lnB w="9525">
                      <a:solidFill>
                        <a:srgbClr val="ACA89A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03453">
                <a:tc gridSpan="7">
                  <a:txBody>
                    <a:bodyPr/>
                    <a:lstStyle/>
                    <a:p>
                      <a:pPr marL="495934" indent="-229235">
                        <a:lnSpc>
                          <a:spcPct val="100000"/>
                        </a:lnSpc>
                        <a:spcBef>
                          <a:spcPts val="140"/>
                        </a:spcBef>
                        <a:buSzPct val="90909"/>
                        <a:buFont typeface="Symbol"/>
                        <a:buChar char=""/>
                        <a:tabLst>
                          <a:tab pos="495934" algn="l"/>
                          <a:tab pos="496570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David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has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been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working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two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hours,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he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hasn't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finished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yet.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7780">
                    <a:lnL w="9525">
                      <a:solidFill>
                        <a:srgbClr val="ECE9D8"/>
                      </a:solidFill>
                      <a:prstDash val="solid"/>
                    </a:lnL>
                    <a:lnR w="9525">
                      <a:solidFill>
                        <a:srgbClr val="ACA89A"/>
                      </a:solidFill>
                      <a:prstDash val="solid"/>
                    </a:lnR>
                    <a:lnT w="9525">
                      <a:solidFill>
                        <a:srgbClr val="ACA89A"/>
                      </a:solidFill>
                      <a:prstDash val="solid"/>
                    </a:lnT>
                    <a:lnB w="9525">
                      <a:solidFill>
                        <a:srgbClr val="ECE9D8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27076">
                <a:tc gridSpan="7"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Past</a:t>
                      </a:r>
                      <a:r>
                        <a:rPr dirty="0" sz="1100" spc="-2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Perfect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2860">
                    <a:lnL w="9525">
                      <a:solidFill>
                        <a:srgbClr val="ECE9D8"/>
                      </a:solidFill>
                      <a:prstDash val="solid"/>
                    </a:lnL>
                    <a:lnR w="9525">
                      <a:solidFill>
                        <a:srgbClr val="ACA89A"/>
                      </a:solidFill>
                      <a:prstDash val="solid"/>
                    </a:lnR>
                    <a:lnT w="9525">
                      <a:solidFill>
                        <a:srgbClr val="ECE9D8"/>
                      </a:solidFill>
                      <a:prstDash val="solid"/>
                    </a:lnT>
                    <a:lnB w="9525">
                      <a:solidFill>
                        <a:srgbClr val="ACA89A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525017"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marL="38735" marR="20320">
                        <a:lnSpc>
                          <a:spcPts val="127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100" spc="1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describe</a:t>
                      </a:r>
                      <a:r>
                        <a:rPr dirty="0" sz="1100" spc="1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 spc="1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past</a:t>
                      </a:r>
                      <a:r>
                        <a:rPr dirty="0" sz="1100" spc="1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event</a:t>
                      </a:r>
                      <a:r>
                        <a:rPr dirty="0" sz="1100" spc="1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dirty="0" sz="1100" spc="1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condition</a:t>
                      </a:r>
                      <a:r>
                        <a:rPr dirty="0" sz="1100" spc="1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completed</a:t>
                      </a:r>
                      <a:r>
                        <a:rPr dirty="0" sz="1100" spc="1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before</a:t>
                      </a:r>
                      <a:r>
                        <a:rPr dirty="0" sz="1100" spc="1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another </a:t>
                      </a:r>
                      <a:r>
                        <a:rPr dirty="0" sz="1100" spc="-2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event in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past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9525">
                      <a:solidFill>
                        <a:srgbClr val="ECE9D8"/>
                      </a:solidFill>
                      <a:prstDash val="solid"/>
                    </a:lnL>
                    <a:lnR w="9525">
                      <a:solidFill>
                        <a:srgbClr val="ACA89A"/>
                      </a:solidFill>
                      <a:prstDash val="solid"/>
                    </a:lnR>
                    <a:lnT w="9525">
                      <a:solidFill>
                        <a:srgbClr val="ACA89A"/>
                      </a:solidFill>
                      <a:prstDash val="solid"/>
                    </a:lnT>
                    <a:lnB w="9525">
                      <a:solidFill>
                        <a:srgbClr val="ACA89A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28575">
                        <a:lnSpc>
                          <a:spcPct val="10000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reported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speech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9525">
                      <a:solidFill>
                        <a:srgbClr val="ACA89A"/>
                      </a:solidFill>
                      <a:prstDash val="solid"/>
                    </a:lnL>
                    <a:lnR w="9525">
                      <a:solidFill>
                        <a:srgbClr val="ACA89A"/>
                      </a:solidFill>
                      <a:prstDash val="solid"/>
                    </a:lnR>
                    <a:lnT w="9525">
                      <a:solidFill>
                        <a:srgbClr val="ACA89A"/>
                      </a:solidFill>
                      <a:prstDash val="solid"/>
                    </a:lnT>
                    <a:lnB w="9525">
                      <a:solidFill>
                        <a:srgbClr val="ACA89A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64236">
                <a:tc gridSpan="5">
                  <a:txBody>
                    <a:bodyPr/>
                    <a:lstStyle/>
                    <a:p>
                      <a:pPr marL="495934" indent="-229235">
                        <a:lnSpc>
                          <a:spcPct val="100000"/>
                        </a:lnSpc>
                        <a:spcBef>
                          <a:spcPts val="770"/>
                        </a:spcBef>
                        <a:buSzPct val="90909"/>
                        <a:buFont typeface="Symbol"/>
                        <a:buChar char=""/>
                        <a:tabLst>
                          <a:tab pos="495934" algn="l"/>
                          <a:tab pos="496570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When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arrived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home,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he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had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already</a:t>
                      </a:r>
                      <a:r>
                        <a:rPr dirty="0" sz="11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called.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7790">
                    <a:lnL w="9525">
                      <a:solidFill>
                        <a:srgbClr val="ECE9D8"/>
                      </a:solidFill>
                      <a:prstDash val="solid"/>
                    </a:lnL>
                    <a:lnR w="9525">
                      <a:solidFill>
                        <a:srgbClr val="ACA89A"/>
                      </a:solidFill>
                      <a:prstDash val="solid"/>
                    </a:lnR>
                    <a:lnT w="9525">
                      <a:solidFill>
                        <a:srgbClr val="ACA89A"/>
                      </a:solidFill>
                      <a:prstDash val="solid"/>
                    </a:lnT>
                    <a:lnB w="9525">
                      <a:solidFill>
                        <a:srgbClr val="ECE9D8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485775" marR="30480" indent="-228600">
                        <a:lnSpc>
                          <a:spcPts val="1270"/>
                        </a:lnSpc>
                        <a:spcBef>
                          <a:spcPts val="225"/>
                        </a:spcBef>
                        <a:buSzPct val="90909"/>
                        <a:buFont typeface="Symbol"/>
                        <a:buChar char=""/>
                        <a:tabLst>
                          <a:tab pos="485140" algn="l"/>
                          <a:tab pos="485775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Jane</a:t>
                      </a:r>
                      <a:r>
                        <a:rPr dirty="0" sz="1100" spc="20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said</a:t>
                      </a:r>
                      <a:r>
                        <a:rPr dirty="0" sz="1100" spc="2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dirty="0" sz="1100" spc="2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she</a:t>
                      </a:r>
                      <a:r>
                        <a:rPr dirty="0" sz="1100" spc="2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had</a:t>
                      </a:r>
                      <a:r>
                        <a:rPr dirty="0" sz="1100" spc="2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gone</a:t>
                      </a:r>
                      <a:r>
                        <a:rPr dirty="0" sz="1100" spc="2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dirty="0" sz="1100" spc="-2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 movies.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8575">
                    <a:lnL w="9525">
                      <a:solidFill>
                        <a:srgbClr val="ACA89A"/>
                      </a:solidFill>
                      <a:prstDash val="solid"/>
                    </a:lnL>
                    <a:lnR w="9525">
                      <a:solidFill>
                        <a:srgbClr val="ACA89A"/>
                      </a:solidFill>
                      <a:prstDash val="solid"/>
                    </a:lnR>
                    <a:lnT w="9525">
                      <a:solidFill>
                        <a:srgbClr val="ACA89A"/>
                      </a:solidFill>
                      <a:prstDash val="solid"/>
                    </a:lnT>
                    <a:lnB w="9525">
                      <a:solidFill>
                        <a:srgbClr val="ECE9D8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27075">
                <a:tc gridSpan="7"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Future</a:t>
                      </a:r>
                      <a:r>
                        <a:rPr dirty="0" sz="1100" spc="-3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perfect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3495">
                    <a:lnL w="9525">
                      <a:solidFill>
                        <a:srgbClr val="ECE9D8"/>
                      </a:solidFill>
                      <a:prstDash val="solid"/>
                    </a:lnL>
                    <a:lnR w="9525">
                      <a:solidFill>
                        <a:srgbClr val="ACA89A"/>
                      </a:solidFill>
                      <a:prstDash val="solid"/>
                    </a:lnR>
                    <a:lnT w="9525">
                      <a:solidFill>
                        <a:srgbClr val="ECE9D8"/>
                      </a:solidFill>
                      <a:prstDash val="solid"/>
                    </a:lnT>
                    <a:lnB w="9525">
                      <a:solidFill>
                        <a:srgbClr val="ACA89A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03453">
                <a:tc gridSpan="7"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express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action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will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completed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dirty="0" sz="1100" spc="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before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specified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future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75">
                    <a:lnL w="9525">
                      <a:solidFill>
                        <a:srgbClr val="ECE9D8"/>
                      </a:solidFill>
                      <a:prstDash val="solid"/>
                    </a:lnL>
                    <a:lnR w="9525">
                      <a:solidFill>
                        <a:srgbClr val="ACA89A"/>
                      </a:solidFill>
                      <a:prstDash val="solid"/>
                    </a:lnR>
                    <a:lnT w="9525">
                      <a:solidFill>
                        <a:srgbClr val="ACA89A"/>
                      </a:solidFill>
                      <a:prstDash val="solid"/>
                    </a:lnT>
                    <a:lnB w="9525">
                      <a:solidFill>
                        <a:srgbClr val="ACA89A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78713">
                <a:tc gridSpan="7">
                  <a:txBody>
                    <a:bodyPr/>
                    <a:lstStyle/>
                    <a:p>
                      <a:pPr marL="495934" indent="-229235">
                        <a:lnSpc>
                          <a:spcPts val="1295"/>
                        </a:lnSpc>
                        <a:spcBef>
                          <a:spcPts val="140"/>
                        </a:spcBef>
                        <a:buSzPct val="90909"/>
                        <a:buFont typeface="Symbol"/>
                        <a:buChar char=""/>
                        <a:tabLst>
                          <a:tab pos="495934" algn="l"/>
                          <a:tab pos="496570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next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month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we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will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have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finished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this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job.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495934" indent="-229235">
                        <a:lnSpc>
                          <a:spcPts val="1295"/>
                        </a:lnSpc>
                        <a:buSzPct val="90909"/>
                        <a:buFont typeface="Symbol"/>
                        <a:buChar char=""/>
                        <a:tabLst>
                          <a:tab pos="495934" algn="l"/>
                          <a:tab pos="496570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He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won't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have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finished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his work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until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2:00.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7780">
                    <a:lnL w="9525">
                      <a:solidFill>
                        <a:srgbClr val="ECE9D8"/>
                      </a:solidFill>
                      <a:prstDash val="solid"/>
                    </a:lnL>
                    <a:lnR w="9525">
                      <a:solidFill>
                        <a:srgbClr val="ACA89A"/>
                      </a:solidFill>
                      <a:prstDash val="solid"/>
                    </a:lnR>
                    <a:lnT w="9525">
                      <a:solidFill>
                        <a:srgbClr val="ACA89A"/>
                      </a:solidFill>
                      <a:prstDash val="solid"/>
                    </a:lnT>
                    <a:lnB w="9525">
                      <a:solidFill>
                        <a:srgbClr val="ACA89A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1084582" y="6666991"/>
            <a:ext cx="3259454" cy="995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665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2.</a:t>
            </a:r>
            <a:r>
              <a:rPr dirty="0" sz="1100" spc="400" b="1"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PASSIVE VOICE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ts val="1295"/>
              </a:lnSpc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passive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voice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simple: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ts val="1270"/>
              </a:lnSpc>
              <a:spcBef>
                <a:spcPts val="60"/>
              </a:spcBef>
            </a:pPr>
            <a:r>
              <a:rPr dirty="0" sz="1100" spc="-5">
                <a:latin typeface="Times New Roman"/>
                <a:cs typeface="Times New Roman"/>
              </a:rPr>
              <a:t>Subject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+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auxiliary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verb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(be)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+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verb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(past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participle)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verb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always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past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participle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30"/>
              </a:lnSpc>
            </a:pPr>
            <a:r>
              <a:rPr dirty="0" sz="1100" spc="-5">
                <a:latin typeface="Times New Roman"/>
                <a:cs typeface="Times New Roman"/>
              </a:rPr>
              <a:t>Look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 these examples:</a:t>
            </a:r>
            <a:endParaRPr sz="1100">
              <a:latin typeface="Times New Roman"/>
              <a:cs typeface="Times New Roman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1423416" y="7813547"/>
          <a:ext cx="5389880" cy="15843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7080"/>
                <a:gridCol w="1413509"/>
                <a:gridCol w="331469"/>
                <a:gridCol w="1748155"/>
                <a:gridCol w="1108710"/>
              </a:tblGrid>
              <a:tr h="313563"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1100" spc="-10" b="1">
                          <a:latin typeface="Times New Roman"/>
                          <a:cs typeface="Times New Roman"/>
                        </a:rPr>
                        <a:t>subject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6040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auxiliary</a:t>
                      </a:r>
                      <a:r>
                        <a:rPr dirty="0" sz="1100" spc="-1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verb</a:t>
                      </a:r>
                      <a:r>
                        <a:rPr dirty="0" sz="1100" spc="-1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(to be)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6040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main verb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(past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participle)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6040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  <a:tr h="312420"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Water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drunk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everyone.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  <a:tr h="313181"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100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people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are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employed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this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company.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  <a:tr h="313181"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I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5404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am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5404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paid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5404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euro.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5404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  <a:tr h="312801"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5404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are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5404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not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5404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paid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5404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dollars.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5404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7380" y="342390"/>
            <a:ext cx="174498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 Elementary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84111" y="342390"/>
            <a:ext cx="22669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788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10019" y="9493248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42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400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257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966216" y="548639"/>
          <a:ext cx="5389880" cy="3327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7080"/>
                <a:gridCol w="1413509"/>
                <a:gridCol w="331469"/>
                <a:gridCol w="1748155"/>
                <a:gridCol w="1108710"/>
              </a:tblGrid>
              <a:tr h="313182"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Are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5405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28575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5405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28575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28575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paid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5405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28575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yen?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5405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28575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627380" y="858265"/>
            <a:ext cx="1468120" cy="3530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29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Use of the Passive Voice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90"/>
              </a:lnSpc>
            </a:pPr>
            <a:r>
              <a:rPr dirty="0" sz="1100" spc="-5">
                <a:latin typeface="Times New Roman"/>
                <a:cs typeface="Times New Roman"/>
              </a:rPr>
              <a:t>We use the passive when: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55980" y="1104845"/>
            <a:ext cx="3094990" cy="508634"/>
          </a:xfrm>
          <a:prstGeom prst="rect">
            <a:avLst/>
          </a:prstGeom>
        </p:spPr>
        <p:txBody>
          <a:bodyPr wrap="square" lIns="0" tIns="8636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680"/>
              </a:spcBef>
              <a:buSzPct val="90909"/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make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 spc="-5" b="1">
                <a:latin typeface="Times New Roman"/>
                <a:cs typeface="Times New Roman"/>
              </a:rPr>
              <a:t>active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object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important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85"/>
              </a:spcBef>
              <a:buSzPct val="90909"/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we do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know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active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subject</a:t>
            </a:r>
            <a:endParaRPr sz="1100">
              <a:latin typeface="Times New Roman"/>
              <a:cs typeface="Times New Roman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700277" y="1844801"/>
          <a:ext cx="5922010" cy="12795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81580"/>
                <a:gridCol w="1363980"/>
                <a:gridCol w="1008380"/>
                <a:gridCol w="1047114"/>
              </a:tblGrid>
              <a:tr h="31280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28575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1100" spc="-10" b="1">
                          <a:latin typeface="Times New Roman"/>
                          <a:cs typeface="Times New Roman"/>
                        </a:rPr>
                        <a:t>subject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6040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28575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1100" spc="-10" b="1">
                          <a:latin typeface="Times New Roman"/>
                          <a:cs typeface="Times New Roman"/>
                        </a:rPr>
                        <a:t>verb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6040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28575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object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6040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28575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  <a:tr h="473963">
                <a:tc>
                  <a:txBody>
                    <a:bodyPr/>
                    <a:lstStyle/>
                    <a:p>
                      <a:pPr marL="73660" marR="68580">
                        <a:lnSpc>
                          <a:spcPts val="1270"/>
                        </a:lnSpc>
                        <a:spcBef>
                          <a:spcPts val="595"/>
                        </a:spcBef>
                        <a:tabLst>
                          <a:tab pos="483870" algn="l"/>
                          <a:tab pos="1281430" algn="l"/>
                          <a:tab pos="1559560" algn="l"/>
                          <a:tab pos="2063750" algn="l"/>
                        </a:tabLst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give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portance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active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object 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(President Kennedy)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5565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President</a:t>
                      </a:r>
                      <a:r>
                        <a:rPr dirty="0" sz="1100" spc="-1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Kennedy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was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killed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0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 marR="132715">
                        <a:lnSpc>
                          <a:spcPts val="1270"/>
                        </a:lnSpc>
                        <a:spcBef>
                          <a:spcPts val="59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Lee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Harvey </a:t>
                      </a:r>
                      <a:r>
                        <a:rPr dirty="0" sz="1100" spc="-2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Oswald.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5565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  <a:tr h="47358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73660">
                        <a:lnSpc>
                          <a:spcPct val="10000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active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subject unknown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0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My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wallet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0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29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has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been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stolen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75565">
                        <a:lnSpc>
                          <a:spcPts val="129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dirty="0" sz="1100" b="1">
                          <a:latin typeface="Times New Roman"/>
                          <a:cs typeface="Times New Roman"/>
                        </a:rPr>
                        <a:t>?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627380" y="3262374"/>
            <a:ext cx="6061075" cy="6737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>
              <a:lnSpc>
                <a:spcPts val="1285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Conjugation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for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Passive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Voice</a:t>
            </a:r>
            <a:endParaRPr sz="1100">
              <a:latin typeface="Times New Roman"/>
              <a:cs typeface="Times New Roman"/>
            </a:endParaRPr>
          </a:p>
          <a:p>
            <a:pPr algn="just" marL="12700" marR="5080">
              <a:lnSpc>
                <a:spcPts val="1270"/>
              </a:lnSpc>
              <a:spcBef>
                <a:spcPts val="55"/>
              </a:spcBef>
            </a:pPr>
            <a:r>
              <a:rPr dirty="0" sz="1100" spc="-5">
                <a:latin typeface="Times New Roman"/>
                <a:cs typeface="Times New Roman"/>
              </a:rPr>
              <a:t>We can </a:t>
            </a:r>
            <a:r>
              <a:rPr dirty="0" sz="1100">
                <a:latin typeface="Times New Roman"/>
                <a:cs typeface="Times New Roman"/>
              </a:rPr>
              <a:t>form </a:t>
            </a:r>
            <a:r>
              <a:rPr dirty="0" sz="1100" spc="-5">
                <a:latin typeface="Times New Roman"/>
                <a:cs typeface="Times New Roman"/>
              </a:rPr>
              <a:t>the passive in any tense. In fact, conjugation of verbs in the passive tense is rather </a:t>
            </a:r>
            <a:r>
              <a:rPr dirty="0" sz="1100">
                <a:latin typeface="Times New Roman"/>
                <a:cs typeface="Times New Roman"/>
              </a:rPr>
              <a:t>easy, </a:t>
            </a:r>
            <a:r>
              <a:rPr dirty="0" sz="1100" spc="-5">
                <a:latin typeface="Times New Roman"/>
                <a:cs typeface="Times New Roman"/>
              </a:rPr>
              <a:t>as 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main verb is always in past participle form and the auxiliary verb is always </a:t>
            </a:r>
            <a:r>
              <a:rPr dirty="0" sz="1100" spc="-5" b="1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. To form the required tense,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conjugate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auxiliary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verb.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 example: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55980" y="3831285"/>
            <a:ext cx="2291715" cy="74803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675"/>
              </a:spcBef>
              <a:buSzPct val="90909"/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present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simple: It </a:t>
            </a:r>
            <a:r>
              <a:rPr dirty="0" sz="1100" spc="-5" b="1">
                <a:latin typeface="Times New Roman"/>
                <a:cs typeface="Times New Roman"/>
              </a:rPr>
              <a:t>is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made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SzPct val="90909"/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present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continuous: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is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being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made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SzPct val="90909"/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present perfect: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has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been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made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27378" y="4627121"/>
            <a:ext cx="324929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latin typeface="Times New Roman"/>
                <a:cs typeface="Times New Roman"/>
              </a:rPr>
              <a:t>Here</a:t>
            </a:r>
            <a:r>
              <a:rPr dirty="0" sz="1100">
                <a:latin typeface="Times New Roman"/>
                <a:cs typeface="Times New Roman"/>
              </a:rPr>
              <a:t> are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some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examples </a:t>
            </a:r>
            <a:r>
              <a:rPr dirty="0" sz="1100">
                <a:latin typeface="Times New Roman"/>
                <a:cs typeface="Times New Roman"/>
              </a:rPr>
              <a:t>with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most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possible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tenses:</a:t>
            </a:r>
            <a:endParaRPr sz="1100">
              <a:latin typeface="Times New Roman"/>
              <a:cs typeface="Times New Roman"/>
            </a:endParaRPr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694944" y="4971288"/>
          <a:ext cx="5931535" cy="44024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86180"/>
                <a:gridCol w="781050"/>
                <a:gridCol w="1828799"/>
                <a:gridCol w="2114550"/>
              </a:tblGrid>
              <a:tr h="312800">
                <a:tc gridSpan="2"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infinitive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5405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dirty="0" sz="1100" spc="-2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washed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5405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  <a:tr h="31318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Active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6040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Passive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6040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  <a:tr h="313181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73660">
                        <a:lnSpc>
                          <a:spcPct val="10000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simple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present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wash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it.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washed.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  <a:tr h="313181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past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washed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was</a:t>
                      </a:r>
                      <a:r>
                        <a:rPr dirty="0" sz="1100" spc="-1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washed.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  <a:tr h="313181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future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will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wash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it.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will</a:t>
                      </a:r>
                      <a:r>
                        <a:rPr dirty="0" sz="1100" spc="-1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dirty="0" sz="1100" spc="-1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washed.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  <a:tr h="313182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conditional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would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wash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it.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would</a:t>
                      </a:r>
                      <a:r>
                        <a:rPr dirty="0" sz="1100" spc="-1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be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washed.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  <a:tr h="312419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73660">
                        <a:lnSpc>
                          <a:spcPct val="10000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continuous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present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am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washing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it.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dirty="0" sz="1100" spc="-1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being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washed.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  <a:tr h="313181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past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5404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was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washing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it.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5404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was being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washed.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5404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  <a:tr h="313181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future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will be washing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it.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will be being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washed.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  <a:tr h="313181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conditional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would be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washing it.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would be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being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washed.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  <a:tr h="313182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73660">
                        <a:lnSpc>
                          <a:spcPct val="10000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perfect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simple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present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have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washed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it.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has</a:t>
                      </a:r>
                      <a:r>
                        <a:rPr dirty="0" sz="1100" spc="-1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been</a:t>
                      </a:r>
                      <a:r>
                        <a:rPr dirty="0" sz="1100" spc="-1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washed.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  <a:tr h="31241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past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had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washed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it.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had</a:t>
                      </a:r>
                      <a:r>
                        <a:rPr dirty="0" sz="1100" spc="-1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been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washed.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  <a:tr h="313181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future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 will have washed it.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It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will have been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washed.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  <a:tr h="313563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conditional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 would have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washed it.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It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would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have been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washed.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4580" y="342390"/>
            <a:ext cx="174498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 Elementary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41311" y="342390"/>
            <a:ext cx="22669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360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67219" y="9493248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43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972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829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152144" y="548639"/>
          <a:ext cx="5931535" cy="12712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86180"/>
                <a:gridCol w="781050"/>
                <a:gridCol w="1828799"/>
                <a:gridCol w="2114550"/>
              </a:tblGrid>
              <a:tr h="312801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3660"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perfect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continuous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28575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present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5405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28575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 have been washing it.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5405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28575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has been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being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washed.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5405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28575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  <a:tr h="313181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28575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past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 had been washing it.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had been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being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washed.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  <a:tr h="313181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28575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future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 will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have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been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washing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it.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will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have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been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being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washed.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  <a:tr h="312801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ECE9D8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28575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conditional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5404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 would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have been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washing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it.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5404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would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have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been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being</a:t>
                      </a:r>
                      <a:r>
                        <a:rPr dirty="0" sz="1100" spc="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washed.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5404">
                    <a:lnL w="19050">
                      <a:solidFill>
                        <a:srgbClr val="ACA89A"/>
                      </a:solidFill>
                      <a:prstDash val="solid"/>
                    </a:lnL>
                    <a:lnR w="19050">
                      <a:solidFill>
                        <a:srgbClr val="ACA89A"/>
                      </a:solidFill>
                      <a:prstDash val="solid"/>
                    </a:lnR>
                    <a:lnT w="19050">
                      <a:solidFill>
                        <a:srgbClr val="ACA89A"/>
                      </a:solidFill>
                      <a:prstDash val="solid"/>
                    </a:lnT>
                    <a:lnB w="19050">
                      <a:solidFill>
                        <a:srgbClr val="ACA89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1084580" y="2118617"/>
            <a:ext cx="483234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Source: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98983" y="2118617"/>
            <a:ext cx="3287395" cy="353695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>
              <a:lnSpc>
                <a:spcPts val="1270"/>
              </a:lnSpc>
              <a:spcBef>
                <a:spcPts val="180"/>
              </a:spcBef>
            </a:pPr>
            <a:r>
              <a:rPr dirty="0" sz="1100" spc="-5" b="1">
                <a:latin typeface="Times New Roman"/>
                <a:cs typeface="Times New Roman"/>
                <a:hlinkClick r:id="rId2"/>
              </a:rPr>
              <a:t>http://owl.english.purdue.edu 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3"/>
              </a:rPr>
              <a:t>http://www.englishclub.com/grammar/verbs-voice.htm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7380" y="342390"/>
            <a:ext cx="174498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 Elementary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84111" y="342390"/>
            <a:ext cx="22669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788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10019" y="9493248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44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400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257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812028" y="526034"/>
            <a:ext cx="87566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LECTURE</a:t>
            </a:r>
            <a:r>
              <a:rPr dirty="0" u="heavy" sz="1100" spc="-4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13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7381" y="847596"/>
            <a:ext cx="6060440" cy="6737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MODIFIERS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AND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SENTENCE TYPES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 marR="5080" indent="457200">
              <a:lnSpc>
                <a:spcPts val="1270"/>
              </a:lnSpc>
              <a:tabLst>
                <a:tab pos="4126865" algn="l"/>
              </a:tabLst>
            </a:pPr>
            <a:r>
              <a:rPr dirty="0" sz="1100" spc="-5">
                <a:latin typeface="Times New Roman"/>
                <a:cs typeface="Times New Roman"/>
              </a:rPr>
              <a:t>Modifiers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parts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modify,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describe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kernel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(kernel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means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basic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clause).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thought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decorations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because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elaborate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	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essential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parts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clause.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7381" y="1650750"/>
            <a:ext cx="119697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Types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of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Modifiers: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55975" y="1738072"/>
            <a:ext cx="1443990" cy="988694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Adjectives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Adverbs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Appositives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80"/>
              </a:spcBef>
              <a:buAutoNum type="arabicPeriod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Prepositional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phrases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7367" y="2934728"/>
            <a:ext cx="6061075" cy="353695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>
              <a:lnSpc>
                <a:spcPts val="1270"/>
              </a:lnSpc>
              <a:spcBef>
                <a:spcPts val="180"/>
              </a:spcBef>
            </a:pPr>
            <a:r>
              <a:rPr dirty="0" sz="1100" spc="-5" b="1">
                <a:latin typeface="Times New Roman"/>
                <a:cs typeface="Times New Roman"/>
              </a:rPr>
              <a:t>ADJECTIVE</a:t>
            </a:r>
            <a:r>
              <a:rPr dirty="0" sz="1100" spc="4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MODIFIERS:</a:t>
            </a:r>
            <a:r>
              <a:rPr dirty="0" sz="1100" spc="4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modify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noun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pronoun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by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providing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information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give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 more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specific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27367" y="3417071"/>
            <a:ext cx="260096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bold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adjectives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55947" y="3503640"/>
            <a:ext cx="3322954" cy="749300"/>
          </a:xfrm>
          <a:prstGeom prst="rect">
            <a:avLst/>
          </a:prstGeom>
        </p:spPr>
        <p:txBody>
          <a:bodyPr wrap="square" lIns="0" tIns="86360" rIns="0" bIns="0" rtlCol="0" vert="horz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680"/>
              </a:spcBef>
              <a:buAutoNum type="arabicPeriod"/>
              <a:tabLst>
                <a:tab pos="241935" algn="l"/>
              </a:tabLst>
            </a:pP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aggressive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team.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/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team 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aggressive</a:t>
            </a:r>
            <a:r>
              <a:rPr dirty="0" sz="1100" spc="-5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85"/>
              </a:spcBef>
              <a:buAutoNum type="arabicPeriod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She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terrific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attitude.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/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attitude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terrific</a:t>
            </a:r>
            <a:r>
              <a:rPr dirty="0" sz="1100" spc="-5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beautiful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sculpture.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/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sculpture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beautiful</a:t>
            </a:r>
            <a:r>
              <a:rPr dirty="0" sz="1100" spc="-5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27297" y="4461006"/>
            <a:ext cx="5793740" cy="2362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latin typeface="Times New Roman"/>
                <a:cs typeface="Times New Roman"/>
              </a:rPr>
              <a:t>Do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Exercise: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Identify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adjectives.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241935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I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was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struck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by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dramatic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contrast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between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her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sunburn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arms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and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pale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white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face.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dirty="0" sz="1100" spc="-5">
                <a:latin typeface="Times New Roman"/>
                <a:cs typeface="Times New Roman"/>
              </a:rPr>
              <a:t>(Solution: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dramatic,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sunburn,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pale,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white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adjectives.)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Now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 do it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yourself.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buAutoNum type="arabicPeriod" startAt="2"/>
              <a:tabLst>
                <a:tab pos="241935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tallest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group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served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old-fashioned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blackberry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pie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ladies.</a:t>
            </a:r>
            <a:endParaRPr sz="110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575"/>
              </a:spcBef>
              <a:buAutoNum type="arabicPeriod" startAt="2"/>
              <a:tabLst>
                <a:tab pos="241935" algn="l"/>
              </a:tabLst>
            </a:pPr>
            <a:r>
              <a:rPr dirty="0" sz="1100" spc="-5">
                <a:latin typeface="Times New Roman"/>
                <a:cs typeface="Times New Roman"/>
              </a:rPr>
              <a:t>Hot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buttered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popcorn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sold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from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rickety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wagon.</a:t>
            </a:r>
            <a:endParaRPr sz="110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585"/>
              </a:spcBef>
              <a:buAutoNum type="arabicPeriod" startAt="2"/>
              <a:tabLst>
                <a:tab pos="241935" algn="l"/>
              </a:tabLst>
            </a:pP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roll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sticky,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twisted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transparent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tape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dusty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windowsill.</a:t>
            </a:r>
            <a:endParaRPr sz="110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575"/>
              </a:spcBef>
              <a:buAutoNum type="arabicPeriod" startAt="2"/>
              <a:tabLst>
                <a:tab pos="241935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discussion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group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took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up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subject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damaged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relationships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possible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ways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heal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them.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AutoNum type="arabicPeriod" startAt="2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fizzled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fireworks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disappointed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crowd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home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before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10’o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clock.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27297" y="7031218"/>
            <a:ext cx="6059170" cy="353695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>
              <a:lnSpc>
                <a:spcPts val="1270"/>
              </a:lnSpc>
              <a:spcBef>
                <a:spcPts val="180"/>
              </a:spcBef>
            </a:pPr>
            <a:r>
              <a:rPr dirty="0" sz="1100" spc="-5" b="1">
                <a:latin typeface="Times New Roman"/>
                <a:cs typeface="Times New Roman"/>
              </a:rPr>
              <a:t>ADVREB</a:t>
            </a:r>
            <a:r>
              <a:rPr dirty="0" sz="1100" spc="14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MODIFIERS:</a:t>
            </a:r>
            <a:r>
              <a:rPr dirty="0" sz="1100" spc="16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modify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verbs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give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meanings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verbs.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appear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almost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anywhere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a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All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bold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types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adverb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modifiers.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55863" y="7280088"/>
            <a:ext cx="4726940" cy="171196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241935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sucked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thumbs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loudly</a:t>
            </a:r>
            <a:r>
              <a:rPr dirty="0" sz="1100" spc="-5">
                <a:latin typeface="Times New Roman"/>
                <a:cs typeface="Times New Roman"/>
              </a:rPr>
              <a:t>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Adverb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manner)</a:t>
            </a:r>
            <a:endParaRPr sz="110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241935" algn="l"/>
              </a:tabLst>
            </a:pPr>
            <a:r>
              <a:rPr dirty="0" sz="1100" spc="-5">
                <a:latin typeface="Times New Roman"/>
                <a:cs typeface="Times New Roman"/>
              </a:rPr>
              <a:t>I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tiptoed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quietly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corridor.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(adverb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manner)</a:t>
            </a:r>
            <a:endParaRPr sz="110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575"/>
              </a:spcBef>
              <a:buFont typeface="Times New Roman"/>
              <a:buAutoNum type="arabicPeriod"/>
              <a:tabLst>
                <a:tab pos="241935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Eventually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truth.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(adverb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time)</a:t>
            </a:r>
            <a:endParaRPr sz="110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580"/>
              </a:spcBef>
              <a:buAutoNum type="arabicPeriod"/>
              <a:tabLst>
                <a:tab pos="241935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doctor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later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spoke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press.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(adverb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time)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80"/>
              </a:spcBef>
              <a:buAutoNum type="arabicPeriod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She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spends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much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time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there</a:t>
            </a:r>
            <a:r>
              <a:rPr dirty="0" sz="1100" spc="-5">
                <a:latin typeface="Times New Roman"/>
                <a:cs typeface="Times New Roman"/>
              </a:rPr>
              <a:t>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(adverb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place)</a:t>
            </a:r>
            <a:endParaRPr sz="110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241935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secretary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delivered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package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here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early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evening.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(adverb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place)</a:t>
            </a:r>
            <a:endParaRPr sz="110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241935" algn="l"/>
              </a:tabLst>
            </a:pPr>
            <a:r>
              <a:rPr dirty="0" sz="1100" spc="-5">
                <a:latin typeface="Times New Roman"/>
                <a:cs typeface="Times New Roman"/>
              </a:rPr>
              <a:t>She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never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smokes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public.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(adverb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frequency)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360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67219" y="9493248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45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972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84580" y="342390"/>
            <a:ext cx="6083300" cy="17424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869305" algn="l"/>
              </a:tabLst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l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</a:t>
            </a:r>
            <a:r>
              <a:rPr dirty="0" sz="1100" spc="-15">
                <a:solidFill>
                  <a:srgbClr val="323232"/>
                </a:solidFill>
                <a:latin typeface="Times New Roman"/>
                <a:cs typeface="Times New Roman"/>
              </a:rPr>
              <a:t>m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entary</a:t>
            </a:r>
            <a:r>
              <a:rPr dirty="0" sz="1100" spc="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g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lish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 marR="28575">
              <a:lnSpc>
                <a:spcPts val="1270"/>
              </a:lnSpc>
            </a:pPr>
            <a:r>
              <a:rPr dirty="0" sz="1100" spc="-5" b="1">
                <a:latin typeface="Times New Roman"/>
                <a:cs typeface="Times New Roman"/>
              </a:rPr>
              <a:t>APPOSITIVE</a:t>
            </a:r>
            <a:r>
              <a:rPr dirty="0" sz="1100" spc="114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MODIFIERS:</a:t>
            </a:r>
            <a:r>
              <a:rPr dirty="0" sz="1100" spc="114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noun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phrases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describe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nouns.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bold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types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appositive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adverbs.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00">
              <a:latin typeface="Times New Roman"/>
              <a:cs typeface="Times New Roman"/>
            </a:endParaRPr>
          </a:p>
          <a:p>
            <a:pPr marL="469265" indent="-22923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George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Washington,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first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president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of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United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States</a:t>
            </a:r>
            <a:r>
              <a:rPr dirty="0" sz="1100" spc="-5">
                <a:latin typeface="Times New Roman"/>
                <a:cs typeface="Times New Roman"/>
              </a:rPr>
              <a:t>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loved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peanut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soup.</a:t>
            </a:r>
            <a:endParaRPr sz="1100">
              <a:latin typeface="Times New Roman"/>
              <a:cs typeface="Times New Roman"/>
            </a:endParaRPr>
          </a:p>
          <a:p>
            <a:pPr marL="469265" indent="-229235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Andrew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Johnson,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skilled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tailor</a:t>
            </a:r>
            <a:r>
              <a:rPr dirty="0" sz="1100" spc="-5">
                <a:latin typeface="Times New Roman"/>
                <a:cs typeface="Times New Roman"/>
              </a:rPr>
              <a:t>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made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most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own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clothes.</a:t>
            </a:r>
            <a:endParaRPr sz="1100">
              <a:latin typeface="Times New Roman"/>
              <a:cs typeface="Times New Roman"/>
            </a:endParaRPr>
          </a:p>
          <a:p>
            <a:pPr marL="469265" indent="-229235">
              <a:lnSpc>
                <a:spcPct val="100000"/>
              </a:lnSpc>
              <a:spcBef>
                <a:spcPts val="580"/>
              </a:spcBef>
              <a:buAutoNum type="arabicPeriod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child,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intelligent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and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strong</a:t>
            </a:r>
            <a:r>
              <a:rPr dirty="0" sz="1100" spc="-5">
                <a:latin typeface="Times New Roman"/>
                <a:cs typeface="Times New Roman"/>
              </a:rPr>
              <a:t>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took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after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parents.</a:t>
            </a:r>
            <a:endParaRPr sz="1100">
              <a:latin typeface="Times New Roman"/>
              <a:cs typeface="Times New Roman"/>
            </a:endParaRPr>
          </a:p>
          <a:p>
            <a:pPr marL="469265" indent="-229235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woman,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cautiously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at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first</a:t>
            </a:r>
            <a:r>
              <a:rPr dirty="0" sz="1100" spc="-5">
                <a:latin typeface="Times New Roman"/>
                <a:cs typeface="Times New Roman"/>
              </a:rPr>
              <a:t>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planted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seeds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under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layer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reddish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dirt.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829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084538" y="2292340"/>
            <a:ext cx="6059805" cy="353695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>
              <a:lnSpc>
                <a:spcPts val="1270"/>
              </a:lnSpc>
              <a:spcBef>
                <a:spcPts val="180"/>
              </a:spcBef>
            </a:pPr>
            <a:r>
              <a:rPr dirty="0" sz="1100" spc="-5" b="1">
                <a:latin typeface="Times New Roman"/>
                <a:cs typeface="Times New Roman"/>
              </a:rPr>
              <a:t>PREPOSITIONAL</a:t>
            </a:r>
            <a:r>
              <a:rPr dirty="0" sz="1100" spc="25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MODIFIERS:</a:t>
            </a:r>
            <a:r>
              <a:rPr dirty="0" sz="1100" spc="254" b="1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They</a:t>
            </a:r>
            <a:r>
              <a:rPr dirty="0" sz="1100" spc="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direction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relation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ship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words.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bold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types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prepositional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modifiers.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13131" y="2541210"/>
            <a:ext cx="3160395" cy="74803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 boy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dialed 911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in a panic</a:t>
            </a:r>
            <a:r>
              <a:rPr dirty="0" sz="1100" spc="-5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wrote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novel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at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seaside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hotel</a:t>
            </a:r>
            <a:r>
              <a:rPr dirty="0" sz="1100" spc="-5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My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mother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graduated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from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law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school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in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May</a:t>
            </a:r>
            <a:r>
              <a:rPr dirty="0" sz="1100" spc="-5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84538" y="3497070"/>
            <a:ext cx="282257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SENTENCE TYPES: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Sentences are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classified </a:t>
            </a:r>
            <a:r>
              <a:rPr dirty="0" sz="1100" spc="-10">
                <a:latin typeface="Times New Roman"/>
                <a:cs typeface="Times New Roman"/>
              </a:rPr>
              <a:t>as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13131" y="3585158"/>
            <a:ext cx="1844675" cy="98933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SIMPLE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COMPOUND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COMPLEX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85"/>
              </a:spcBef>
              <a:buAutoNum type="arabicPeriod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COMPPOUND-COMPLEX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84524" y="4782567"/>
            <a:ext cx="6061075" cy="46901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SIMPLE: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independent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clause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only.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E.g.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Without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music,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life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would be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mistake</a:t>
            </a:r>
            <a:r>
              <a:rPr dirty="0" sz="1100" spc="-5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Times New Roman"/>
              <a:cs typeface="Times New Roman"/>
            </a:endParaRPr>
          </a:p>
          <a:p>
            <a:pPr lvl="1" marL="469900" indent="-229235">
              <a:lnSpc>
                <a:spcPct val="100000"/>
              </a:lnSpc>
              <a:buAutoNum type="arabicPeriod"/>
              <a:tabLst>
                <a:tab pos="470534" algn="l"/>
              </a:tabLst>
            </a:pPr>
            <a:r>
              <a:rPr dirty="0" sz="1100" spc="-5">
                <a:latin typeface="Times New Roman"/>
                <a:cs typeface="Times New Roman"/>
              </a:rPr>
              <a:t>Bob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went to the store.</a:t>
            </a:r>
            <a:endParaRPr sz="1100">
              <a:latin typeface="Times New Roman"/>
              <a:cs typeface="Times New Roman"/>
            </a:endParaRPr>
          </a:p>
          <a:p>
            <a:pPr lvl="1" marL="469900" indent="-229235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470534" algn="l"/>
              </a:tabLst>
            </a:pPr>
            <a:r>
              <a:rPr dirty="0" sz="1100" spc="-5">
                <a:latin typeface="Times New Roman"/>
                <a:cs typeface="Times New Roman"/>
              </a:rPr>
              <a:t>Bob 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Sue went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store.</a:t>
            </a:r>
            <a:endParaRPr sz="1100">
              <a:latin typeface="Times New Roman"/>
              <a:cs typeface="Times New Roman"/>
            </a:endParaRPr>
          </a:p>
          <a:p>
            <a:pPr lvl="1" marL="469900" marR="5080" indent="-228600">
              <a:lnSpc>
                <a:spcPts val="1900"/>
              </a:lnSpc>
              <a:spcBef>
                <a:spcPts val="160"/>
              </a:spcBef>
              <a:buAutoNum type="arabicPeriod"/>
              <a:tabLst>
                <a:tab pos="470534" algn="l"/>
              </a:tabLst>
            </a:pPr>
            <a:r>
              <a:rPr dirty="0" sz="1100" spc="-5">
                <a:latin typeface="Times New Roman"/>
                <a:cs typeface="Times New Roman"/>
              </a:rPr>
              <a:t>Bob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Sue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went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store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corner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near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center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town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buy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groceries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drinks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party.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1100" spc="-5">
                <a:latin typeface="Times New Roman"/>
                <a:cs typeface="Times New Roman"/>
              </a:rPr>
              <a:t>(This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last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quite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still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simple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there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only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clause.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+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V))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ts val="1270"/>
              </a:lnSpc>
            </a:pPr>
            <a:r>
              <a:rPr dirty="0" sz="1100" spc="-5" b="1">
                <a:latin typeface="Times New Roman"/>
                <a:cs typeface="Times New Roman"/>
              </a:rPr>
              <a:t>COMPOUND</a:t>
            </a:r>
            <a:r>
              <a:rPr dirty="0" sz="1100" spc="4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SENTENCES:</a:t>
            </a:r>
            <a:r>
              <a:rPr dirty="0" sz="1100" spc="4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independent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clauses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joined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coordinating</a:t>
            </a:r>
            <a:r>
              <a:rPr dirty="0" sz="1100" spc="3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conjunction: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“and,”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“but,”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“or,”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“so,”</a:t>
            </a:r>
            <a:r>
              <a:rPr dirty="0" sz="1100">
                <a:latin typeface="Times New Roman"/>
                <a:cs typeface="Times New Roman"/>
              </a:rPr>
              <a:t> “yet,”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“for.”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 marR="2226310">
              <a:lnSpc>
                <a:spcPts val="1270"/>
              </a:lnSpc>
            </a:pPr>
            <a:r>
              <a:rPr dirty="0" sz="1100" spc="-5">
                <a:latin typeface="Times New Roman"/>
                <a:cs typeface="Times New Roman"/>
              </a:rPr>
              <a:t>E.g.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one</a:t>
            </a:r>
            <a:r>
              <a:rPr dirty="0" u="sng" sz="110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arrow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is</a:t>
            </a:r>
            <a:r>
              <a:rPr dirty="0" u="sng" sz="110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easily</a:t>
            </a:r>
            <a:r>
              <a:rPr dirty="0" u="sng" sz="1100" spc="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broken</a:t>
            </a:r>
            <a:r>
              <a:rPr dirty="0" sz="1100" spc="-5">
                <a:latin typeface="Times New Roman"/>
                <a:cs typeface="Times New Roman"/>
              </a:rPr>
              <a:t>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but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you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can’t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break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dirty="0" u="sng" sz="110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bundle</a:t>
            </a:r>
            <a:r>
              <a:rPr dirty="0" u="sng" sz="110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ten</a:t>
            </a:r>
            <a:r>
              <a:rPr dirty="0" sz="1100" spc="-5">
                <a:latin typeface="Times New Roman"/>
                <a:cs typeface="Times New Roman"/>
              </a:rPr>
              <a:t>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independent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clauses</a:t>
            </a:r>
            <a:r>
              <a:rPr dirty="0" sz="1100">
                <a:latin typeface="Times New Roman"/>
                <a:cs typeface="Times New Roman"/>
              </a:rPr>
              <a:t> joined </a:t>
            </a:r>
            <a:r>
              <a:rPr dirty="0" sz="1100" spc="-5">
                <a:latin typeface="Times New Roman"/>
                <a:cs typeface="Times New Roman"/>
              </a:rPr>
              <a:t>by </a:t>
            </a:r>
            <a:r>
              <a:rPr dirty="0" sz="1100" spc="-5" b="1">
                <a:latin typeface="Times New Roman"/>
                <a:cs typeface="Times New Roman"/>
              </a:rPr>
              <a:t>and.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30"/>
              </a:lnSpc>
            </a:pPr>
            <a:r>
              <a:rPr dirty="0" sz="1100" spc="-5" b="1">
                <a:latin typeface="Times New Roman"/>
                <a:cs typeface="Times New Roman"/>
              </a:rPr>
              <a:t>More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examples: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 algn="ctr" marR="1950085">
              <a:lnSpc>
                <a:spcPts val="1295"/>
              </a:lnSpc>
            </a:pPr>
            <a:r>
              <a:rPr dirty="0" sz="1100" spc="-5">
                <a:latin typeface="Times New Roman"/>
                <a:cs typeface="Times New Roman"/>
              </a:rPr>
              <a:t>Bob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went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store</a:t>
            </a:r>
            <a:r>
              <a:rPr dirty="0" sz="1100" spc="-5" b="1">
                <a:latin typeface="Times New Roman"/>
                <a:cs typeface="Times New Roman"/>
              </a:rPr>
              <a:t>,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and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went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office.</a:t>
            </a:r>
            <a:endParaRPr sz="1100">
              <a:latin typeface="Times New Roman"/>
              <a:cs typeface="Times New Roman"/>
            </a:endParaRPr>
          </a:p>
          <a:p>
            <a:pPr algn="ctr" marR="1963420">
              <a:lnSpc>
                <a:spcPts val="1295"/>
              </a:lnSpc>
            </a:pPr>
            <a:r>
              <a:rPr dirty="0" sz="1100" spc="-5" b="1">
                <a:latin typeface="Times New Roman"/>
                <a:cs typeface="Times New Roman"/>
              </a:rPr>
              <a:t>Conjunction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50">
              <a:latin typeface="Times New Roman"/>
              <a:cs typeface="Times New Roman"/>
            </a:endParaRPr>
          </a:p>
          <a:p>
            <a:pPr algn="ctr" marR="530860">
              <a:lnSpc>
                <a:spcPts val="1290"/>
              </a:lnSpc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negotiations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were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successful,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so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diplomats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returned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homes.</a:t>
            </a:r>
            <a:endParaRPr sz="1100">
              <a:latin typeface="Times New Roman"/>
              <a:cs typeface="Times New Roman"/>
            </a:endParaRPr>
          </a:p>
          <a:p>
            <a:pPr algn="ctr" marR="777240">
              <a:lnSpc>
                <a:spcPts val="1290"/>
              </a:lnSpc>
            </a:pPr>
            <a:r>
              <a:rPr dirty="0" sz="1100" spc="-5" b="1">
                <a:latin typeface="Times New Roman"/>
                <a:cs typeface="Times New Roman"/>
              </a:rPr>
              <a:t>Conjunction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 algn="ctr" marR="2123440">
              <a:lnSpc>
                <a:spcPts val="1295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party,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dance.</a:t>
            </a:r>
            <a:endParaRPr sz="1100">
              <a:latin typeface="Times New Roman"/>
              <a:cs typeface="Times New Roman"/>
            </a:endParaRPr>
          </a:p>
          <a:p>
            <a:pPr algn="ctr" marR="2244725">
              <a:lnSpc>
                <a:spcPts val="1265"/>
              </a:lnSpc>
            </a:pPr>
            <a:r>
              <a:rPr dirty="0" sz="1100" spc="-5" b="1">
                <a:latin typeface="Times New Roman"/>
                <a:cs typeface="Times New Roman"/>
              </a:rPr>
              <a:t>Conjunction</a:t>
            </a:r>
            <a:endParaRPr sz="1100">
              <a:latin typeface="Times New Roman"/>
              <a:cs typeface="Times New Roman"/>
            </a:endParaRPr>
          </a:p>
          <a:p>
            <a:pPr algn="ctr" marR="859155">
              <a:lnSpc>
                <a:spcPts val="1265"/>
              </a:lnSpc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negotiations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ended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successfully</a:t>
            </a:r>
            <a:r>
              <a:rPr dirty="0" sz="1100" spc="-5" b="1">
                <a:latin typeface="Times New Roman"/>
                <a:cs typeface="Times New Roman"/>
              </a:rPr>
              <a:t>;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therefore,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fighting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stopped.</a:t>
            </a:r>
            <a:endParaRPr sz="1100">
              <a:latin typeface="Times New Roman"/>
              <a:cs typeface="Times New Roman"/>
            </a:endParaRPr>
          </a:p>
          <a:p>
            <a:pPr algn="ctr" marR="8255">
              <a:lnSpc>
                <a:spcPts val="1290"/>
              </a:lnSpc>
            </a:pPr>
            <a:r>
              <a:rPr dirty="0" sz="1100" spc="-5" b="1">
                <a:latin typeface="Times New Roman"/>
                <a:cs typeface="Times New Roman"/>
              </a:rPr>
              <a:t>Conjunction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788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10019" y="9493248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46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400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27314" y="342390"/>
            <a:ext cx="6083935" cy="59880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869305" algn="l"/>
              </a:tabLst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l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</a:t>
            </a:r>
            <a:r>
              <a:rPr dirty="0" sz="1100" spc="-15">
                <a:solidFill>
                  <a:srgbClr val="323232"/>
                </a:solidFill>
                <a:latin typeface="Times New Roman"/>
                <a:cs typeface="Times New Roman"/>
              </a:rPr>
              <a:t>m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entary</a:t>
            </a:r>
            <a:r>
              <a:rPr dirty="0" sz="1100" spc="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g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lish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 marR="26670" indent="-635">
              <a:lnSpc>
                <a:spcPts val="1270"/>
              </a:lnSpc>
            </a:pPr>
            <a:r>
              <a:rPr dirty="0" sz="1100" spc="-5" b="1">
                <a:latin typeface="Times New Roman"/>
                <a:cs typeface="Times New Roman"/>
              </a:rPr>
              <a:t>COMPLEX</a:t>
            </a:r>
            <a:r>
              <a:rPr dirty="0" sz="1100" spc="19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SENTENCES:</a:t>
            </a:r>
            <a:r>
              <a:rPr dirty="0" sz="1100" spc="19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independent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subordinate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clauses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joined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by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subordinator.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E.g.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u="sng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If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you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scatter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thorns</a:t>
            </a:r>
            <a:r>
              <a:rPr dirty="0" sz="1100" spc="-5">
                <a:latin typeface="Times New Roman"/>
                <a:cs typeface="Times New Roman"/>
              </a:rPr>
              <a:t>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don’t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go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bare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foot</a:t>
            </a:r>
            <a:r>
              <a:rPr dirty="0" sz="1100" spc="-5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One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subordinating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clause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beginning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subordinator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‘if’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joined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independent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clause.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50">
              <a:latin typeface="Times New Roman"/>
              <a:cs typeface="Times New Roman"/>
            </a:endParaRPr>
          </a:p>
          <a:p>
            <a:pPr marL="728980">
              <a:lnSpc>
                <a:spcPts val="1290"/>
              </a:lnSpc>
              <a:tabLst>
                <a:tab pos="1419225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Because	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problem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proved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difficult,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decided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from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committee.</a:t>
            </a:r>
            <a:endParaRPr sz="1100">
              <a:latin typeface="Times New Roman"/>
              <a:cs typeface="Times New Roman"/>
            </a:endParaRPr>
          </a:p>
          <a:p>
            <a:pPr marL="658495">
              <a:lnSpc>
                <a:spcPts val="1290"/>
              </a:lnSpc>
              <a:tabLst>
                <a:tab pos="1885314" algn="l"/>
                <a:tab pos="3658870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Subordinator	</a:t>
            </a:r>
            <a:r>
              <a:rPr dirty="0" sz="1100" spc="-5">
                <a:latin typeface="Times New Roman"/>
                <a:cs typeface="Times New Roman"/>
              </a:rPr>
              <a:t>sentence	sentence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50">
              <a:latin typeface="Times New Roman"/>
              <a:cs typeface="Times New Roman"/>
            </a:endParaRPr>
          </a:p>
          <a:p>
            <a:pPr marL="658495">
              <a:lnSpc>
                <a:spcPts val="1295"/>
              </a:lnSpc>
            </a:pPr>
            <a:r>
              <a:rPr dirty="0" sz="1100" spc="-5">
                <a:latin typeface="Times New Roman"/>
                <a:cs typeface="Times New Roman"/>
              </a:rPr>
              <a:t>The proposal </a:t>
            </a:r>
            <a:r>
              <a:rPr dirty="0" sz="1100">
                <a:latin typeface="Times New Roman"/>
                <a:cs typeface="Times New Roman"/>
              </a:rPr>
              <a:t>[that]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wrote </a:t>
            </a:r>
            <a:r>
              <a:rPr dirty="0" sz="1100" spc="-5">
                <a:latin typeface="Times New Roman"/>
                <a:cs typeface="Times New Roman"/>
              </a:rPr>
              <a:t>was accepted.</a:t>
            </a:r>
            <a:endParaRPr sz="1100">
              <a:latin typeface="Times New Roman"/>
              <a:cs typeface="Times New Roman"/>
            </a:endParaRPr>
          </a:p>
          <a:p>
            <a:pPr marL="1217930">
              <a:lnSpc>
                <a:spcPts val="1295"/>
              </a:lnSpc>
            </a:pPr>
            <a:r>
              <a:rPr dirty="0" sz="1100" spc="-5" b="1">
                <a:latin typeface="Times New Roman"/>
                <a:cs typeface="Times New Roman"/>
              </a:rPr>
              <a:t>Subordinator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 marL="658495">
              <a:lnSpc>
                <a:spcPts val="1295"/>
              </a:lnSpc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issue,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which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thought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solved,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came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back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haunt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us.</a:t>
            </a:r>
            <a:endParaRPr sz="1100">
              <a:latin typeface="Times New Roman"/>
              <a:cs typeface="Times New Roman"/>
            </a:endParaRPr>
          </a:p>
          <a:p>
            <a:pPr marL="1148715">
              <a:lnSpc>
                <a:spcPts val="1295"/>
              </a:lnSpc>
            </a:pPr>
            <a:r>
              <a:rPr dirty="0" sz="1100" spc="-5" b="1">
                <a:latin typeface="Times New Roman"/>
                <a:cs typeface="Times New Roman"/>
              </a:rPr>
              <a:t>Subordinator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Important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subordinators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to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make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complex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sentences: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00">
              <a:latin typeface="Times New Roman"/>
              <a:cs typeface="Times New Roman"/>
            </a:endParaRPr>
          </a:p>
          <a:p>
            <a:pPr lvl="1" marL="469900" indent="-229235">
              <a:lnSpc>
                <a:spcPct val="10000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Time: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when,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while,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since,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before,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after,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until,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once</a:t>
            </a:r>
            <a:endParaRPr sz="1100">
              <a:latin typeface="Times New Roman"/>
              <a:cs typeface="Times New Roman"/>
            </a:endParaRPr>
          </a:p>
          <a:p>
            <a:pPr lvl="1" marL="469900" indent="-229235">
              <a:lnSpc>
                <a:spcPct val="100000"/>
              </a:lnSpc>
              <a:spcBef>
                <a:spcPts val="660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Place: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where,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wherever</a:t>
            </a:r>
            <a:endParaRPr sz="1100">
              <a:latin typeface="Times New Roman"/>
              <a:cs typeface="Times New Roman"/>
            </a:endParaRPr>
          </a:p>
          <a:p>
            <a:pPr lvl="1" marL="469900" indent="-229235">
              <a:lnSpc>
                <a:spcPct val="100000"/>
              </a:lnSpc>
              <a:spcBef>
                <a:spcPts val="655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00" spc="-10" b="1">
                <a:latin typeface="Times New Roman"/>
                <a:cs typeface="Times New Roman"/>
              </a:rPr>
              <a:t>Cause: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because,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since,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now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inasmuch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endParaRPr sz="1100">
              <a:latin typeface="Times New Roman"/>
              <a:cs typeface="Times New Roman"/>
            </a:endParaRPr>
          </a:p>
          <a:p>
            <a:pPr lvl="1" marL="469900" indent="-229235">
              <a:lnSpc>
                <a:spcPct val="100000"/>
              </a:lnSpc>
              <a:spcBef>
                <a:spcPts val="660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Condition: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if,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unless,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condition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endParaRPr sz="1100">
              <a:latin typeface="Times New Roman"/>
              <a:cs typeface="Times New Roman"/>
            </a:endParaRPr>
          </a:p>
          <a:p>
            <a:pPr lvl="1" marL="469900" indent="-229235">
              <a:lnSpc>
                <a:spcPct val="100000"/>
              </a:lnSpc>
              <a:spcBef>
                <a:spcPts val="650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Contrast/Concession: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although,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though,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despite,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spite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endParaRPr sz="1100">
              <a:latin typeface="Times New Roman"/>
              <a:cs typeface="Times New Roman"/>
            </a:endParaRPr>
          </a:p>
          <a:p>
            <a:pPr lvl="1" marL="469900" indent="-229235">
              <a:lnSpc>
                <a:spcPct val="100000"/>
              </a:lnSpc>
              <a:spcBef>
                <a:spcPts val="655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Adversative: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while,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where,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whereas</a:t>
            </a:r>
            <a:endParaRPr sz="1100">
              <a:latin typeface="Times New Roman"/>
              <a:cs typeface="Times New Roman"/>
            </a:endParaRPr>
          </a:p>
          <a:p>
            <a:pPr lvl="1" marL="469900" indent="-228600">
              <a:lnSpc>
                <a:spcPct val="100000"/>
              </a:lnSpc>
              <a:spcBef>
                <a:spcPts val="66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10" b="1">
                <a:latin typeface="Times New Roman"/>
                <a:cs typeface="Times New Roman"/>
              </a:rPr>
              <a:t>Other: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who,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whoever,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whom,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what,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why,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how....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650">
              <a:latin typeface="Times New Roman"/>
              <a:cs typeface="Times New Roman"/>
            </a:endParaRPr>
          </a:p>
          <a:p>
            <a:pPr marL="12700" marR="27305">
              <a:lnSpc>
                <a:spcPts val="1270"/>
              </a:lnSpc>
            </a:pPr>
            <a:r>
              <a:rPr dirty="0" sz="1100" spc="-5" b="1">
                <a:latin typeface="Times New Roman"/>
                <a:cs typeface="Times New Roman"/>
              </a:rPr>
              <a:t>COMPPOUND-COMPLEX:</a:t>
            </a:r>
            <a:r>
              <a:rPr dirty="0" sz="1100" spc="9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least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independent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clauses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least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subordinating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clause.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e.g.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Tell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me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what</a:t>
            </a:r>
            <a:r>
              <a:rPr dirty="0" u="sng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you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eat</a:t>
            </a:r>
            <a:r>
              <a:rPr dirty="0" sz="1100" spc="-5">
                <a:latin typeface="Times New Roman"/>
                <a:cs typeface="Times New Roman"/>
              </a:rPr>
              <a:t>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and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will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tell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you </a:t>
            </a:r>
            <a:r>
              <a:rPr dirty="0" u="sng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what 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you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are</a:t>
            </a:r>
            <a:r>
              <a:rPr dirty="0" sz="1100" spc="-5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00">
              <a:latin typeface="Times New Roman"/>
              <a:cs typeface="Times New Roman"/>
            </a:endParaRPr>
          </a:p>
          <a:p>
            <a:pPr marL="658495">
              <a:lnSpc>
                <a:spcPts val="1295"/>
              </a:lnSpc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proposal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that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wrote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accepted,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and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started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project.</a:t>
            </a:r>
            <a:endParaRPr sz="1100">
              <a:latin typeface="Times New Roman"/>
              <a:cs typeface="Times New Roman"/>
            </a:endParaRPr>
          </a:p>
          <a:p>
            <a:pPr marL="1217930">
              <a:lnSpc>
                <a:spcPts val="1295"/>
              </a:lnSpc>
              <a:tabLst>
                <a:tab pos="2794000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Subordinator	Conjunction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257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627375" y="6459723"/>
            <a:ext cx="151066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SENTENCE</a:t>
            </a:r>
            <a:r>
              <a:rPr dirty="0" sz="1100" spc="-4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PURPOSE: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5954" y="6547045"/>
            <a:ext cx="2923540" cy="988694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675"/>
              </a:spcBef>
              <a:buFont typeface="Wingdings"/>
              <a:buChar char=""/>
              <a:tabLst>
                <a:tab pos="241935" algn="l"/>
              </a:tabLst>
            </a:pPr>
            <a:r>
              <a:rPr dirty="0" sz="1100" spc="-5">
                <a:latin typeface="Times New Roman"/>
                <a:cs typeface="Times New Roman"/>
              </a:rPr>
              <a:t>DECLARATIVE: </a:t>
            </a:r>
            <a:r>
              <a:rPr dirty="0" sz="1100" spc="-5" i="1">
                <a:latin typeface="Times New Roman"/>
                <a:cs typeface="Times New Roman"/>
              </a:rPr>
              <a:t>to make statements.</a:t>
            </a:r>
            <a:endParaRPr sz="110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575"/>
              </a:spcBef>
              <a:buFont typeface="Wingdings"/>
              <a:buChar char=""/>
              <a:tabLst>
                <a:tab pos="241935" algn="l"/>
              </a:tabLst>
            </a:pPr>
            <a:r>
              <a:rPr dirty="0" sz="1100" spc="-5">
                <a:latin typeface="Times New Roman"/>
                <a:cs typeface="Times New Roman"/>
              </a:rPr>
              <a:t>IMPERATIVE: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to</a:t>
            </a:r>
            <a:r>
              <a:rPr dirty="0" sz="1100" spc="1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issue</a:t>
            </a:r>
            <a:r>
              <a:rPr dirty="0" sz="1100" spc="5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requests</a:t>
            </a:r>
            <a:r>
              <a:rPr dirty="0" sz="1100" spc="1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or</a:t>
            </a:r>
            <a:r>
              <a:rPr dirty="0" sz="1100" spc="5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commands</a:t>
            </a:r>
            <a:r>
              <a:rPr dirty="0" sz="1100" spc="-5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Font typeface="Wingdings"/>
              <a:buChar char="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INTEROGATIVE: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to</a:t>
            </a:r>
            <a:r>
              <a:rPr dirty="0" sz="1100" spc="5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ask</a:t>
            </a:r>
            <a:r>
              <a:rPr dirty="0" sz="110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questions.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80"/>
              </a:spcBef>
              <a:buFont typeface="Wingdings"/>
              <a:buChar char="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EXCLAMATORY: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to</a:t>
            </a:r>
            <a:r>
              <a:rPr dirty="0" sz="110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make</a:t>
            </a:r>
            <a:r>
              <a:rPr dirty="0" sz="110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exclamations.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7347" y="7743700"/>
            <a:ext cx="325374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latin typeface="Times New Roman"/>
                <a:cs typeface="Times New Roman"/>
              </a:rPr>
              <a:t>See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tell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purpose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followings: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55940" y="7831789"/>
            <a:ext cx="2270760" cy="98933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675"/>
              </a:spcBef>
              <a:buFont typeface="Wingdings"/>
              <a:buChar char="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Love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neighbor.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Font typeface="Wingdings"/>
              <a:buChar char="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I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flag,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burn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it!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85"/>
              </a:spcBef>
              <a:buFont typeface="Wingdings"/>
              <a:buChar char="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echo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always has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last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word.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Font typeface="Wingdings"/>
              <a:buChar char="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second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thoughts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always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wisest?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4580" y="342390"/>
            <a:ext cx="174498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 Elementary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41311" y="342390"/>
            <a:ext cx="22669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360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67219" y="9493248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47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972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829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269228" y="526796"/>
            <a:ext cx="87566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LECTURE</a:t>
            </a:r>
            <a:r>
              <a:rPr dirty="0" u="heavy" sz="1100" spc="-4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14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17063" y="927605"/>
            <a:ext cx="139509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REPORTED</a:t>
            </a:r>
            <a:r>
              <a:rPr dirty="0" u="heavy" sz="1100" spc="-3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SPEECH</a:t>
            </a:r>
            <a:endParaRPr sz="1100">
              <a:latin typeface="Times New Roman"/>
              <a:cs typeface="Times New Roman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1440180" y="1271778"/>
          <a:ext cx="5352415" cy="1143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37155"/>
                <a:gridCol w="2705735"/>
              </a:tblGrid>
              <a:tr h="166877">
                <a:tc>
                  <a:txBody>
                    <a:bodyPr/>
                    <a:lstStyle/>
                    <a:p>
                      <a:pPr marL="182245">
                        <a:lnSpc>
                          <a:spcPts val="1215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Direct</a:t>
                      </a:r>
                      <a:r>
                        <a:rPr dirty="0" sz="1100" spc="-2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Speech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0345">
                        <a:lnSpc>
                          <a:spcPts val="1215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Indirect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Speech: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555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ts val="1260"/>
                        </a:lnSpc>
                        <a:spcBef>
                          <a:spcPts val="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25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speaker</a:t>
                      </a:r>
                      <a:r>
                        <a:rPr dirty="0" sz="1100" spc="25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said,</a:t>
                      </a:r>
                      <a:r>
                        <a:rPr dirty="0" sz="1100" spc="25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“When</a:t>
                      </a:r>
                      <a:r>
                        <a:rPr dirty="0" sz="1100" spc="25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25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inquiry</a:t>
                      </a:r>
                      <a:r>
                        <a:rPr dirty="0" sz="1100" spc="25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was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68580">
                        <a:lnSpc>
                          <a:spcPts val="126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1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speaker</a:t>
                      </a:r>
                      <a:r>
                        <a:rPr dirty="0" sz="1100" spc="1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said</a:t>
                      </a:r>
                      <a:r>
                        <a:rPr dirty="0" sz="1100" spc="1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dirty="0" sz="1100" spc="1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when</a:t>
                      </a:r>
                      <a:r>
                        <a:rPr dirty="0" sz="1100" spc="1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1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inquiry</a:t>
                      </a:r>
                      <a:r>
                        <a:rPr dirty="0" sz="1100" spc="1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had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60397">
                <a:tc>
                  <a:txBody>
                    <a:bodyPr/>
                    <a:lstStyle/>
                    <a:p>
                      <a:pPr marL="67945">
                        <a:lnSpc>
                          <a:spcPts val="1165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set</a:t>
                      </a:r>
                      <a:r>
                        <a:rPr dirty="0" sz="1100" spc="484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up</a:t>
                      </a:r>
                      <a:r>
                        <a:rPr dirty="0" sz="1100" spc="49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last</a:t>
                      </a:r>
                      <a:r>
                        <a:rPr dirty="0" sz="1100" spc="484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year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dirty="0" sz="1100" spc="4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4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Government</a:t>
                      </a:r>
                      <a:r>
                        <a:rPr dirty="0" sz="1100" spc="4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was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65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been</a:t>
                      </a:r>
                      <a:r>
                        <a:rPr dirty="0" sz="1100" spc="46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set</a:t>
                      </a:r>
                      <a:r>
                        <a:rPr dirty="0" sz="1100" spc="47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up</a:t>
                      </a:r>
                      <a:r>
                        <a:rPr dirty="0" sz="1100" spc="47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100" spc="4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4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preceding</a:t>
                      </a:r>
                      <a:r>
                        <a:rPr dirty="0" sz="1100" spc="47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year</a:t>
                      </a:r>
                      <a:r>
                        <a:rPr dirty="0" sz="1100" spc="46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60781">
                <a:tc>
                  <a:txBody>
                    <a:bodyPr/>
                    <a:lstStyle/>
                    <a:p>
                      <a:pPr marL="67945">
                        <a:lnSpc>
                          <a:spcPts val="1165"/>
                        </a:lnSpc>
                      </a:pPr>
                      <a:r>
                        <a:rPr dirty="0" sz="1100" spc="-10" b="1">
                          <a:latin typeface="Times New Roman"/>
                          <a:cs typeface="Times New Roman"/>
                        </a:rPr>
                        <a:t>prompted</a:t>
                      </a:r>
                      <a:r>
                        <a:rPr dirty="0" sz="1100" spc="409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by  </a:t>
                      </a:r>
                      <a:r>
                        <a:rPr dirty="0" sz="1100" spc="1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both</a:t>
                      </a:r>
                      <a:r>
                        <a:rPr dirty="0" sz="1100" spc="6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national</a:t>
                      </a:r>
                      <a:r>
                        <a:rPr dirty="0" sz="1100" spc="6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100" spc="6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local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Government</a:t>
                      </a:r>
                      <a:r>
                        <a:rPr dirty="0" sz="1100" spc="4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had</a:t>
                      </a:r>
                      <a:r>
                        <a:rPr dirty="0" sz="1100" spc="48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been</a:t>
                      </a:r>
                      <a:r>
                        <a:rPr dirty="0" sz="1100" spc="48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prompted</a:t>
                      </a:r>
                      <a:r>
                        <a:rPr dirty="0" sz="1100" spc="48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dirty="0" sz="1100" spc="4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both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23288">
                <a:tc>
                  <a:txBody>
                    <a:bodyPr/>
                    <a:lstStyle/>
                    <a:p>
                      <a:pPr marL="67945">
                        <a:lnSpc>
                          <a:spcPts val="122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motives.”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2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national and local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motives.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1084580" y="2552191"/>
            <a:ext cx="6060440" cy="4049395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6350">
              <a:lnSpc>
                <a:spcPts val="1270"/>
              </a:lnSpc>
              <a:spcBef>
                <a:spcPts val="180"/>
              </a:spcBef>
            </a:pPr>
            <a:r>
              <a:rPr dirty="0" sz="1100" spc="-5">
                <a:latin typeface="Times New Roman"/>
                <a:cs typeface="Times New Roman"/>
              </a:rPr>
              <a:t>Indirect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Speech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(also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referred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'reported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speech')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refers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reporting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someone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has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said.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almost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always used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spoken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ts val="1260"/>
              </a:lnSpc>
            </a:pPr>
            <a:r>
              <a:rPr dirty="0" sz="1100" spc="-5">
                <a:latin typeface="Times New Roman"/>
                <a:cs typeface="Times New Roman"/>
              </a:rPr>
              <a:t>If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reporting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verb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(i.e.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said)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past,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reported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clause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past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form.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usually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step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back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past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from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original.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ts val="1290"/>
              </a:lnSpc>
              <a:spcBef>
                <a:spcPts val="5"/>
              </a:spcBef>
            </a:pPr>
            <a:r>
              <a:rPr dirty="0" sz="1100" spc="-5" b="1">
                <a:latin typeface="Times New Roman"/>
                <a:cs typeface="Times New Roman"/>
              </a:rPr>
              <a:t>For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example:</a:t>
            </a:r>
            <a:endParaRPr sz="1100">
              <a:latin typeface="Times New Roman"/>
              <a:cs typeface="Times New Roman"/>
            </a:endParaRPr>
          </a:p>
          <a:p>
            <a:pPr marL="240665">
              <a:lnSpc>
                <a:spcPts val="1265"/>
              </a:lnSpc>
            </a:pPr>
            <a:r>
              <a:rPr dirty="0" sz="1100" spc="-5">
                <a:latin typeface="Times New Roman"/>
                <a:cs typeface="Times New Roman"/>
              </a:rPr>
              <a:t>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said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test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difficult.</a:t>
            </a:r>
            <a:endParaRPr sz="1100">
              <a:latin typeface="Times New Roman"/>
              <a:cs typeface="Times New Roman"/>
            </a:endParaRPr>
          </a:p>
          <a:p>
            <a:pPr marL="240665" marR="3645535">
              <a:lnSpc>
                <a:spcPts val="1270"/>
              </a:lnSpc>
              <a:spcBef>
                <a:spcPts val="55"/>
              </a:spcBef>
            </a:pPr>
            <a:r>
              <a:rPr dirty="0" sz="1100" spc="-5">
                <a:latin typeface="Times New Roman"/>
                <a:cs typeface="Times New Roman"/>
              </a:rPr>
              <a:t>She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said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watched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TV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every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day.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Jack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said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came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school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every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day.</a:t>
            </a:r>
            <a:endParaRPr sz="1100">
              <a:latin typeface="Times New Roman"/>
              <a:cs typeface="Times New Roman"/>
            </a:endParaRPr>
          </a:p>
          <a:p>
            <a:pPr marL="240665">
              <a:lnSpc>
                <a:spcPts val="1195"/>
              </a:lnSpc>
            </a:pPr>
            <a:r>
              <a:rPr dirty="0" sz="1100" spc="-5">
                <a:latin typeface="Times New Roman"/>
                <a:cs typeface="Times New Roman"/>
              </a:rPr>
              <a:t>If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simple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present,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present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perfect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future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used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reporting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verb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(i.e.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says)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tense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295"/>
              </a:lnSpc>
            </a:pPr>
            <a:r>
              <a:rPr dirty="0" sz="1100" spc="-5">
                <a:latin typeface="Times New Roman"/>
                <a:cs typeface="Times New Roman"/>
              </a:rPr>
              <a:t>retained.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290"/>
              </a:lnSpc>
            </a:pPr>
            <a:r>
              <a:rPr dirty="0" sz="1100" spc="-5" b="1">
                <a:latin typeface="Times New Roman"/>
                <a:cs typeface="Times New Roman"/>
              </a:rPr>
              <a:t>For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example:</a:t>
            </a:r>
            <a:endParaRPr sz="1100">
              <a:latin typeface="Times New Roman"/>
              <a:cs typeface="Times New Roman"/>
            </a:endParaRPr>
          </a:p>
          <a:p>
            <a:pPr marL="240665">
              <a:lnSpc>
                <a:spcPts val="1260"/>
              </a:lnSpc>
            </a:pPr>
            <a:r>
              <a:rPr dirty="0" sz="1100" spc="-5">
                <a:latin typeface="Times New Roman"/>
                <a:cs typeface="Times New Roman"/>
              </a:rPr>
              <a:t>He </a:t>
            </a:r>
            <a:r>
              <a:rPr dirty="0" sz="1100">
                <a:latin typeface="Times New Roman"/>
                <a:cs typeface="Times New Roman"/>
              </a:rPr>
              <a:t>says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test 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difficult.</a:t>
            </a:r>
            <a:endParaRPr sz="1100">
              <a:latin typeface="Times New Roman"/>
              <a:cs typeface="Times New Roman"/>
            </a:endParaRPr>
          </a:p>
          <a:p>
            <a:pPr marL="240665" marR="3124835">
              <a:lnSpc>
                <a:spcPts val="1270"/>
              </a:lnSpc>
              <a:spcBef>
                <a:spcPts val="55"/>
              </a:spcBef>
            </a:pPr>
            <a:r>
              <a:rPr dirty="0" sz="1100" spc="-5">
                <a:latin typeface="Times New Roman"/>
                <a:cs typeface="Times New Roman"/>
              </a:rPr>
              <a:t>She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said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watches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TV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every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day.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Jack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say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school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every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day.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If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reporting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general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truth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present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tense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retained.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spc="-5" b="1">
                <a:latin typeface="Times New Roman"/>
                <a:cs typeface="Times New Roman"/>
              </a:rPr>
              <a:t>For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example: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teacher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said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phrasal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verbs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important.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spc="-10" b="1">
                <a:latin typeface="Times New Roman"/>
                <a:cs typeface="Times New Roman"/>
              </a:rPr>
              <a:t>RULES</a:t>
            </a:r>
            <a:r>
              <a:rPr dirty="0" sz="1100" spc="-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FOR </a:t>
            </a:r>
            <a:r>
              <a:rPr dirty="0" sz="1100" spc="-5" b="1">
                <a:latin typeface="Times New Roman"/>
                <a:cs typeface="Times New Roman"/>
              </a:rPr>
              <a:t>CHANGING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DIRECT INTO INDIRECT: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 marL="240665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1.</a:t>
            </a:r>
            <a:r>
              <a:rPr dirty="0" sz="1100" spc="409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Pronoun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Change:</a:t>
            </a:r>
            <a:endParaRPr sz="1100">
              <a:latin typeface="Times New Roman"/>
              <a:cs typeface="Times New Roman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1405889" y="6752081"/>
          <a:ext cx="5420995" cy="508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05735"/>
                <a:gridCol w="2705735"/>
              </a:tblGrid>
              <a:tr h="167640">
                <a:tc>
                  <a:txBody>
                    <a:bodyPr/>
                    <a:lstStyle/>
                    <a:p>
                      <a:pPr marL="67945">
                        <a:lnSpc>
                          <a:spcPts val="1220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First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person</a:t>
                      </a:r>
                      <a:r>
                        <a:rPr dirty="0" sz="1100" spc="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pronoun</a:t>
                      </a:r>
                      <a:r>
                        <a:rPr dirty="0" sz="1100" spc="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according</a:t>
                      </a:r>
                      <a:r>
                        <a:rPr dirty="0" sz="1100" spc="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100" spc="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the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20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Subject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6877">
                <a:tc>
                  <a:txBody>
                    <a:bodyPr/>
                    <a:lstStyle/>
                    <a:p>
                      <a:pPr marL="68580">
                        <a:lnSpc>
                          <a:spcPts val="1215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Second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person</a:t>
                      </a:r>
                      <a:r>
                        <a:rPr dirty="0" sz="1100" spc="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pronoun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according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to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215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Object.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6877">
                <a:tc>
                  <a:txBody>
                    <a:bodyPr/>
                    <a:lstStyle/>
                    <a:p>
                      <a:pPr marL="68580">
                        <a:lnSpc>
                          <a:spcPts val="1215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Third</a:t>
                      </a:r>
                      <a:r>
                        <a:rPr dirty="0" sz="1100" spc="-1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person pronoun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15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No</a:t>
                      </a:r>
                      <a:r>
                        <a:rPr dirty="0" sz="1100" spc="-3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change.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1825751" y="7420356"/>
          <a:ext cx="4581525" cy="1940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4000"/>
                <a:gridCol w="1524000"/>
                <a:gridCol w="1524000"/>
              </a:tblGrid>
              <a:tr h="165902">
                <a:tc>
                  <a:txBody>
                    <a:bodyPr/>
                    <a:lstStyle/>
                    <a:p>
                      <a:pPr marL="67945">
                        <a:lnSpc>
                          <a:spcPts val="1205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Subject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Pronoun: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05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Possessive</a:t>
                      </a:r>
                      <a:r>
                        <a:rPr dirty="0" sz="1100" spc="-1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Pronoun: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05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Object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Pronoun: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60781">
                <a:tc>
                  <a:txBody>
                    <a:bodyPr/>
                    <a:lstStyle/>
                    <a:p>
                      <a:pPr marL="67945">
                        <a:lnSpc>
                          <a:spcPts val="1165"/>
                        </a:lnSpc>
                      </a:pP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First</a:t>
                      </a:r>
                      <a:r>
                        <a:rPr dirty="0" sz="1100" spc="-2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Person: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65"/>
                        </a:lnSpc>
                      </a:pP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First</a:t>
                      </a:r>
                      <a:r>
                        <a:rPr dirty="0" sz="1100" spc="-2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Person: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65"/>
                        </a:lnSpc>
                      </a:pP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First</a:t>
                      </a:r>
                      <a:r>
                        <a:rPr dirty="0" sz="1100" spc="-2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Person: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60397">
                <a:tc>
                  <a:txBody>
                    <a:bodyPr/>
                    <a:lstStyle/>
                    <a:p>
                      <a:pPr marL="67945">
                        <a:lnSpc>
                          <a:spcPts val="1165"/>
                        </a:lnSpc>
                      </a:pPr>
                      <a:r>
                        <a:rPr dirty="0" sz="1100" b="1">
                          <a:latin typeface="Times New Roman"/>
                          <a:cs typeface="Times New Roman"/>
                        </a:rPr>
                        <a:t>I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65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My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65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Me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60397">
                <a:tc>
                  <a:txBody>
                    <a:bodyPr/>
                    <a:lstStyle/>
                    <a:p>
                      <a:pPr marL="67945">
                        <a:lnSpc>
                          <a:spcPts val="1165"/>
                        </a:lnSpc>
                      </a:pPr>
                      <a:r>
                        <a:rPr dirty="0" sz="1100" spc="-10" b="1">
                          <a:latin typeface="Times New Roman"/>
                          <a:cs typeface="Times New Roman"/>
                        </a:rPr>
                        <a:t>We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65"/>
                        </a:lnSpc>
                      </a:pPr>
                      <a:r>
                        <a:rPr dirty="0" sz="1100" spc="-10" b="1">
                          <a:latin typeface="Times New Roman"/>
                          <a:cs typeface="Times New Roman"/>
                        </a:rPr>
                        <a:t>Our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65"/>
                        </a:lnSpc>
                      </a:pPr>
                      <a:r>
                        <a:rPr dirty="0" sz="1100" spc="-10" b="1">
                          <a:latin typeface="Times New Roman"/>
                          <a:cs typeface="Times New Roman"/>
                        </a:rPr>
                        <a:t>Us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60781">
                <a:tc>
                  <a:txBody>
                    <a:bodyPr/>
                    <a:lstStyle/>
                    <a:p>
                      <a:pPr marL="67945">
                        <a:lnSpc>
                          <a:spcPts val="1165"/>
                        </a:lnSpc>
                      </a:pP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Second</a:t>
                      </a:r>
                      <a:r>
                        <a:rPr dirty="0" sz="1100" spc="-2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Person: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65"/>
                        </a:lnSpc>
                      </a:pP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Second</a:t>
                      </a:r>
                      <a:r>
                        <a:rPr dirty="0" sz="1100" spc="-2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Person: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65"/>
                        </a:lnSpc>
                      </a:pP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Second</a:t>
                      </a:r>
                      <a:r>
                        <a:rPr dirty="0" sz="1100" spc="-2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Person: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60781">
                <a:tc>
                  <a:txBody>
                    <a:bodyPr/>
                    <a:lstStyle/>
                    <a:p>
                      <a:pPr marL="67945">
                        <a:lnSpc>
                          <a:spcPts val="1165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You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65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Your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65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You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60781">
                <a:tc>
                  <a:txBody>
                    <a:bodyPr/>
                    <a:lstStyle/>
                    <a:p>
                      <a:pPr marL="67945">
                        <a:lnSpc>
                          <a:spcPts val="1165"/>
                        </a:lnSpc>
                      </a:pP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Third</a:t>
                      </a:r>
                      <a:r>
                        <a:rPr dirty="0" sz="1100" spc="-2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Person: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65"/>
                        </a:lnSpc>
                      </a:pP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Third</a:t>
                      </a:r>
                      <a:r>
                        <a:rPr dirty="0" sz="1100" spc="-2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Person: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65"/>
                        </a:lnSpc>
                      </a:pP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Third</a:t>
                      </a:r>
                      <a:r>
                        <a:rPr dirty="0" sz="1100" spc="-2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Person: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60781">
                <a:tc>
                  <a:txBody>
                    <a:bodyPr/>
                    <a:lstStyle/>
                    <a:p>
                      <a:pPr marL="67945">
                        <a:lnSpc>
                          <a:spcPts val="1165"/>
                        </a:lnSpc>
                      </a:pPr>
                      <a:r>
                        <a:rPr dirty="0" sz="1100" spc="-10" b="1">
                          <a:latin typeface="Times New Roman"/>
                          <a:cs typeface="Times New Roman"/>
                        </a:rPr>
                        <a:t>He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65"/>
                        </a:lnSpc>
                      </a:pPr>
                      <a:r>
                        <a:rPr dirty="0" sz="1100" spc="-10" b="1">
                          <a:latin typeface="Times New Roman"/>
                          <a:cs typeface="Times New Roman"/>
                        </a:rPr>
                        <a:t>His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65"/>
                        </a:lnSpc>
                      </a:pPr>
                      <a:r>
                        <a:rPr dirty="0" sz="1100" spc="-10" b="1">
                          <a:latin typeface="Times New Roman"/>
                          <a:cs typeface="Times New Roman"/>
                        </a:rPr>
                        <a:t>Him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60397">
                <a:tc>
                  <a:txBody>
                    <a:bodyPr/>
                    <a:lstStyle/>
                    <a:p>
                      <a:pPr marL="67945">
                        <a:lnSpc>
                          <a:spcPts val="1165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She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65"/>
                        </a:lnSpc>
                      </a:pPr>
                      <a:r>
                        <a:rPr dirty="0" sz="1100" spc="-10" b="1">
                          <a:latin typeface="Times New Roman"/>
                          <a:cs typeface="Times New Roman"/>
                        </a:rPr>
                        <a:t>Her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65"/>
                        </a:lnSpc>
                      </a:pPr>
                      <a:r>
                        <a:rPr dirty="0" sz="1100" spc="-10" b="1">
                          <a:latin typeface="Times New Roman"/>
                          <a:cs typeface="Times New Roman"/>
                        </a:rPr>
                        <a:t>Her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60397">
                <a:tc>
                  <a:txBody>
                    <a:bodyPr/>
                    <a:lstStyle/>
                    <a:p>
                      <a:pPr marL="67945">
                        <a:lnSpc>
                          <a:spcPts val="1165"/>
                        </a:lnSpc>
                      </a:pPr>
                      <a:r>
                        <a:rPr dirty="0" sz="1100" spc="-10" b="1">
                          <a:latin typeface="Times New Roman"/>
                          <a:cs typeface="Times New Roman"/>
                        </a:rPr>
                        <a:t>It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65"/>
                        </a:lnSpc>
                      </a:pPr>
                      <a:r>
                        <a:rPr dirty="0" sz="1100" spc="-10" b="1">
                          <a:latin typeface="Times New Roman"/>
                          <a:cs typeface="Times New Roman"/>
                        </a:rPr>
                        <a:t>Its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65"/>
                        </a:lnSpc>
                      </a:pPr>
                      <a:r>
                        <a:rPr dirty="0" sz="1100" spc="-10" b="1">
                          <a:latin typeface="Times New Roman"/>
                          <a:cs typeface="Times New Roman"/>
                        </a:rPr>
                        <a:t>It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22556">
                <a:tc>
                  <a:txBody>
                    <a:bodyPr/>
                    <a:lstStyle/>
                    <a:p>
                      <a:pPr marL="67945">
                        <a:lnSpc>
                          <a:spcPts val="1225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They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25"/>
                        </a:lnSpc>
                      </a:pPr>
                      <a:r>
                        <a:rPr dirty="0" sz="1100" spc="-10" b="1">
                          <a:latin typeface="Times New Roman"/>
                          <a:cs typeface="Times New Roman"/>
                        </a:rPr>
                        <a:t>Their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25"/>
                        </a:lnSpc>
                      </a:pPr>
                      <a:r>
                        <a:rPr dirty="0" sz="1100" spc="-10" b="1">
                          <a:latin typeface="Times New Roman"/>
                          <a:cs typeface="Times New Roman"/>
                        </a:rPr>
                        <a:t>Them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7380" y="342390"/>
            <a:ext cx="174498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 Elementary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84111" y="342390"/>
            <a:ext cx="22669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400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257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27377" y="6548865"/>
            <a:ext cx="6062980" cy="31527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69265" indent="-229235">
              <a:lnSpc>
                <a:spcPts val="1295"/>
              </a:lnSpc>
              <a:spcBef>
                <a:spcPts val="9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Direct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speech:</a:t>
            </a:r>
            <a:endParaRPr sz="1100">
              <a:latin typeface="Times New Roman"/>
              <a:cs typeface="Times New Roman"/>
            </a:endParaRPr>
          </a:p>
          <a:p>
            <a:pPr marL="240665" marR="5080">
              <a:lnSpc>
                <a:spcPts val="1270"/>
              </a:lnSpc>
              <a:spcBef>
                <a:spcPts val="60"/>
              </a:spcBef>
            </a:pPr>
            <a:r>
              <a:rPr dirty="0" sz="1100" spc="-5">
                <a:latin typeface="Times New Roman"/>
                <a:cs typeface="Times New Roman"/>
              </a:rPr>
              <a:t>“In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many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parts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country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farmers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who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were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formerly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ploughing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nearly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land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now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most 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under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grass.”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50">
              <a:latin typeface="Times New Roman"/>
              <a:cs typeface="Times New Roman"/>
            </a:endParaRPr>
          </a:p>
          <a:p>
            <a:pPr marL="469265" indent="-229235">
              <a:lnSpc>
                <a:spcPts val="1295"/>
              </a:lnSpc>
              <a:spcBef>
                <a:spcPts val="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Indirect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speech:</a:t>
            </a:r>
            <a:endParaRPr sz="1100">
              <a:latin typeface="Times New Roman"/>
              <a:cs typeface="Times New Roman"/>
            </a:endParaRPr>
          </a:p>
          <a:p>
            <a:pPr marL="241300" marR="5715" indent="-635">
              <a:lnSpc>
                <a:spcPts val="1260"/>
              </a:lnSpc>
              <a:spcBef>
                <a:spcPts val="65"/>
              </a:spcBef>
            </a:pPr>
            <a:r>
              <a:rPr dirty="0" sz="1100" spc="-5">
                <a:latin typeface="Times New Roman"/>
                <a:cs typeface="Times New Roman"/>
              </a:rPr>
              <a:t>He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said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many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parts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country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farmers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who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had</a:t>
            </a:r>
            <a:r>
              <a:rPr dirty="0" sz="1100" spc="13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formerly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been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ploughing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nearly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land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then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had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most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under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grass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00">
              <a:latin typeface="Times New Roman"/>
              <a:cs typeface="Times New Roman"/>
            </a:endParaRPr>
          </a:p>
          <a:p>
            <a:pPr algn="just" marL="12700">
              <a:lnSpc>
                <a:spcPts val="1290"/>
              </a:lnSpc>
            </a:pPr>
            <a:r>
              <a:rPr dirty="0" sz="1100" spc="-5" b="1">
                <a:latin typeface="Times New Roman"/>
                <a:cs typeface="Times New Roman"/>
              </a:rPr>
              <a:t>Indirect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Questions</a:t>
            </a:r>
            <a:endParaRPr sz="1100">
              <a:latin typeface="Times New Roman"/>
              <a:cs typeface="Times New Roman"/>
            </a:endParaRPr>
          </a:p>
          <a:p>
            <a:pPr algn="just" marL="12700" marR="5080">
              <a:lnSpc>
                <a:spcPct val="95700"/>
              </a:lnSpc>
              <a:spcBef>
                <a:spcPts val="25"/>
              </a:spcBef>
            </a:pPr>
            <a:r>
              <a:rPr dirty="0" sz="1100" spc="-5">
                <a:latin typeface="Times New Roman"/>
                <a:cs typeface="Times New Roman"/>
              </a:rPr>
              <a:t>When reporting questions, it is especially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important to pay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attention to sentence order. When reporting </a:t>
            </a:r>
            <a:r>
              <a:rPr dirty="0" sz="1100">
                <a:latin typeface="Times New Roman"/>
                <a:cs typeface="Times New Roman"/>
              </a:rPr>
              <a:t> yes/no </a:t>
            </a:r>
            <a:r>
              <a:rPr dirty="0" sz="1100" spc="-5">
                <a:latin typeface="Times New Roman"/>
                <a:cs typeface="Times New Roman"/>
              </a:rPr>
              <a:t>questions connect the reported question using 'if'. When reporting questions using question words </a:t>
            </a:r>
            <a:r>
              <a:rPr dirty="0" sz="1100">
                <a:latin typeface="Times New Roman"/>
                <a:cs typeface="Times New Roman"/>
              </a:rPr>
              <a:t> (why, </a:t>
            </a:r>
            <a:r>
              <a:rPr dirty="0" sz="1100" spc="-5">
                <a:latin typeface="Times New Roman"/>
                <a:cs typeface="Times New Roman"/>
              </a:rPr>
              <a:t>where,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when,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etc.)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question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For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example:</a:t>
            </a:r>
            <a:endParaRPr sz="1100">
              <a:latin typeface="Times New Roman"/>
              <a:cs typeface="Times New Roman"/>
            </a:endParaRPr>
          </a:p>
          <a:p>
            <a:pPr marL="469265" indent="-229235">
              <a:lnSpc>
                <a:spcPct val="100000"/>
              </a:lnSpc>
              <a:spcBef>
                <a:spcPts val="2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She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asked,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"Do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want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me?"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BECOMES</a:t>
            </a:r>
            <a:r>
              <a:rPr dirty="0" sz="1100" spc="45" i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She</a:t>
            </a:r>
            <a:r>
              <a:rPr dirty="0" sz="1100" spc="4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asked</a:t>
            </a:r>
            <a:r>
              <a:rPr dirty="0" sz="1100" spc="4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me</a:t>
            </a:r>
            <a:r>
              <a:rPr dirty="0" sz="1100" spc="4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if</a:t>
            </a:r>
            <a:r>
              <a:rPr dirty="0" sz="1100" spc="4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</a:t>
            </a:r>
            <a:r>
              <a:rPr dirty="0" sz="1100" spc="5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wanted</a:t>
            </a:r>
            <a:r>
              <a:rPr dirty="0" sz="1100" spc="4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to</a:t>
            </a:r>
            <a:r>
              <a:rPr dirty="0" sz="1100" spc="4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come</a:t>
            </a:r>
            <a:r>
              <a:rPr dirty="0" sz="1100" spc="4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with</a:t>
            </a:r>
            <a:endParaRPr sz="110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  <a:spcBef>
                <a:spcPts val="585"/>
              </a:spcBef>
            </a:pPr>
            <a:r>
              <a:rPr dirty="0" sz="1100" spc="-5" b="1">
                <a:latin typeface="Times New Roman"/>
                <a:cs typeface="Times New Roman"/>
              </a:rPr>
              <a:t>her.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 marL="1564005">
              <a:lnSpc>
                <a:spcPct val="100000"/>
              </a:lnSpc>
              <a:spcBef>
                <a:spcPts val="710"/>
              </a:spcBef>
              <a:tabLst>
                <a:tab pos="5894705" algn="l"/>
              </a:tabLst>
            </a:pPr>
            <a:r>
              <a:rPr dirty="0" sz="1200">
                <a:latin typeface="Times New Roman"/>
                <a:cs typeface="Times New Roman"/>
              </a:rPr>
              <a:t>© Copyrights Virtual Uni</a:t>
            </a:r>
            <a:r>
              <a:rPr dirty="0" sz="1200" spc="-5">
                <a:latin typeface="Times New Roman"/>
                <a:cs typeface="Times New Roman"/>
              </a:rPr>
              <a:t>v</a:t>
            </a:r>
            <a:r>
              <a:rPr dirty="0" sz="1200">
                <a:latin typeface="Times New Roman"/>
                <a:cs typeface="Times New Roman"/>
              </a:rPr>
              <a:t>ersity of Pakistan	48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7380" y="686053"/>
            <a:ext cx="2847340" cy="9963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295"/>
              </a:lnSpc>
              <a:spcBef>
                <a:spcPts val="95"/>
              </a:spcBef>
            </a:pP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example:</a:t>
            </a:r>
            <a:endParaRPr sz="1100">
              <a:latin typeface="Times New Roman"/>
              <a:cs typeface="Times New Roman"/>
            </a:endParaRPr>
          </a:p>
          <a:p>
            <a:pPr marL="469265" indent="-229235">
              <a:lnSpc>
                <a:spcPts val="1265"/>
              </a:lnSpc>
              <a:buAutoNum type="arabicPeriod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He said, “I like you.”</a:t>
            </a:r>
            <a:endParaRPr sz="1100">
              <a:latin typeface="Times New Roman"/>
              <a:cs typeface="Times New Roman"/>
            </a:endParaRPr>
          </a:p>
          <a:p>
            <a:pPr marL="469265">
              <a:lnSpc>
                <a:spcPts val="1290"/>
              </a:lnSpc>
            </a:pPr>
            <a:r>
              <a:rPr dirty="0" sz="1100" spc="-5">
                <a:latin typeface="Times New Roman"/>
                <a:cs typeface="Times New Roman"/>
              </a:rPr>
              <a:t>He told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 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liked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50">
              <a:latin typeface="Times New Roman"/>
              <a:cs typeface="Times New Roman"/>
            </a:endParaRPr>
          </a:p>
          <a:p>
            <a:pPr marL="469265" indent="-229235">
              <a:lnSpc>
                <a:spcPts val="1295"/>
              </a:lnSpc>
              <a:buAutoNum type="arabicPeriod" startAt="2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He said,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“I</a:t>
            </a:r>
            <a:r>
              <a:rPr dirty="0" sz="1100">
                <a:latin typeface="Times New Roman"/>
                <a:cs typeface="Times New Roman"/>
              </a:rPr>
              <a:t> will </a:t>
            </a:r>
            <a:r>
              <a:rPr dirty="0" sz="1100" spc="-5">
                <a:latin typeface="Times New Roman"/>
                <a:cs typeface="Times New Roman"/>
              </a:rPr>
              <a:t>accept</a:t>
            </a:r>
            <a:r>
              <a:rPr dirty="0" sz="1100">
                <a:latin typeface="Times New Roman"/>
                <a:cs typeface="Times New Roman"/>
              </a:rPr>
              <a:t> your </a:t>
            </a:r>
            <a:r>
              <a:rPr dirty="0" sz="1100" spc="-5">
                <a:latin typeface="Times New Roman"/>
                <a:cs typeface="Times New Roman"/>
              </a:rPr>
              <a:t>offer.”</a:t>
            </a:r>
            <a:endParaRPr sz="1100">
              <a:latin typeface="Times New Roman"/>
              <a:cs typeface="Times New Roman"/>
            </a:endParaRPr>
          </a:p>
          <a:p>
            <a:pPr marL="469265">
              <a:lnSpc>
                <a:spcPts val="1295"/>
              </a:lnSpc>
            </a:pPr>
            <a:r>
              <a:rPr dirty="0" sz="1100" spc="-5">
                <a:latin typeface="Times New Roman"/>
                <a:cs typeface="Times New Roman"/>
              </a:rPr>
              <a:t>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told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would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accept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my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offer.</a:t>
            </a:r>
            <a:endParaRPr sz="1100">
              <a:latin typeface="Times New Roman"/>
              <a:cs typeface="Times New Roman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608246" y="1839405"/>
          <a:ext cx="4505960" cy="45612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4235"/>
                <a:gridCol w="859790"/>
                <a:gridCol w="838835"/>
                <a:gridCol w="1943735"/>
              </a:tblGrid>
              <a:tr h="153996">
                <a:tc gridSpan="4">
                  <a:txBody>
                    <a:bodyPr/>
                    <a:lstStyle/>
                    <a:p>
                      <a:pPr marL="260350">
                        <a:lnSpc>
                          <a:spcPts val="1115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2.</a:t>
                      </a:r>
                      <a:r>
                        <a:rPr dirty="0" sz="1100" spc="69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Adjective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 and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adverb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changes: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11148">
                <a:tc gridSpan="2">
                  <a:txBody>
                    <a:bodyPr/>
                    <a:lstStyle/>
                    <a:p>
                      <a:pPr marL="946150" indent="-229235">
                        <a:lnSpc>
                          <a:spcPct val="100000"/>
                        </a:lnSpc>
                        <a:buFont typeface="Symbol"/>
                        <a:buChar char=""/>
                        <a:tabLst>
                          <a:tab pos="945515" algn="l"/>
                          <a:tab pos="946785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This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becomes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That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51079">
                <a:tc gridSpan="2">
                  <a:txBody>
                    <a:bodyPr/>
                    <a:lstStyle/>
                    <a:p>
                      <a:pPr marL="946150" indent="-229235">
                        <a:lnSpc>
                          <a:spcPct val="100000"/>
                        </a:lnSpc>
                        <a:spcBef>
                          <a:spcPts val="320"/>
                        </a:spcBef>
                        <a:buFont typeface="Symbol"/>
                        <a:buChar char=""/>
                        <a:tabLst>
                          <a:tab pos="945515" algn="l"/>
                          <a:tab pos="946785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These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64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becomes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640"/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Those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640"/>
                </a:tc>
              </a:tr>
              <a:tr h="250696">
                <a:tc gridSpan="2">
                  <a:txBody>
                    <a:bodyPr/>
                    <a:lstStyle/>
                    <a:p>
                      <a:pPr marL="946150" indent="-229235">
                        <a:lnSpc>
                          <a:spcPct val="100000"/>
                        </a:lnSpc>
                        <a:spcBef>
                          <a:spcPts val="315"/>
                        </a:spcBef>
                        <a:buFont typeface="Symbol"/>
                        <a:buChar char=""/>
                        <a:tabLst>
                          <a:tab pos="945515" algn="l"/>
                          <a:tab pos="946785" algn="l"/>
                        </a:tabLst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Here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becomes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There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/>
                </a:tc>
              </a:tr>
              <a:tr h="251079">
                <a:tc gridSpan="2">
                  <a:txBody>
                    <a:bodyPr/>
                    <a:lstStyle/>
                    <a:p>
                      <a:pPr marL="946150" indent="-229235">
                        <a:lnSpc>
                          <a:spcPct val="100000"/>
                        </a:lnSpc>
                        <a:spcBef>
                          <a:spcPts val="315"/>
                        </a:spcBef>
                        <a:buFont typeface="Symbol"/>
                        <a:buChar char=""/>
                        <a:tabLst>
                          <a:tab pos="945515" algn="l"/>
                          <a:tab pos="946785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Now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becomes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/>
                </a:tc>
              </a:tr>
              <a:tr h="251079">
                <a:tc gridSpan="2">
                  <a:txBody>
                    <a:bodyPr/>
                    <a:lstStyle/>
                    <a:p>
                      <a:pPr marL="946150" indent="-229235">
                        <a:lnSpc>
                          <a:spcPct val="100000"/>
                        </a:lnSpc>
                        <a:spcBef>
                          <a:spcPts val="320"/>
                        </a:spcBef>
                        <a:buFont typeface="Symbol"/>
                        <a:buChar char=""/>
                        <a:tabLst>
                          <a:tab pos="945515" algn="l"/>
                          <a:tab pos="946785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Today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64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becomes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640"/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day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640"/>
                </a:tc>
              </a:tr>
              <a:tr h="251079">
                <a:tc gridSpan="2">
                  <a:txBody>
                    <a:bodyPr/>
                    <a:lstStyle/>
                    <a:p>
                      <a:pPr marL="946150" indent="-229235">
                        <a:lnSpc>
                          <a:spcPct val="100000"/>
                        </a:lnSpc>
                        <a:spcBef>
                          <a:spcPts val="315"/>
                        </a:spcBef>
                        <a:buFont typeface="Symbol"/>
                        <a:buChar char=""/>
                        <a:tabLst>
                          <a:tab pos="945515" algn="l"/>
                          <a:tab pos="946785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Yesterday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779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becomes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 marL="21336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Preceding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day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previous day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/>
                </a:tc>
              </a:tr>
              <a:tr h="211148">
                <a:tc gridSpan="2">
                  <a:txBody>
                    <a:bodyPr/>
                    <a:lstStyle/>
                    <a:p>
                      <a:pPr marL="946150" indent="-229235">
                        <a:lnSpc>
                          <a:spcPts val="1240"/>
                        </a:lnSpc>
                        <a:spcBef>
                          <a:spcPts val="320"/>
                        </a:spcBef>
                        <a:buFont typeface="Symbol"/>
                        <a:buChar char=""/>
                        <a:tabLst>
                          <a:tab pos="945515" algn="l"/>
                          <a:tab pos="946785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Tomorrow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64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ts val="1240"/>
                        </a:lnSpc>
                        <a:spcBef>
                          <a:spcPts val="320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becomes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640"/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ts val="1240"/>
                        </a:lnSpc>
                        <a:spcBef>
                          <a:spcPts val="320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Next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day or following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day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640"/>
                </a:tc>
              </a:tr>
              <a:tr h="401099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260350">
                        <a:lnSpc>
                          <a:spcPts val="1240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3.</a:t>
                      </a:r>
                      <a:r>
                        <a:rPr dirty="0" sz="1100" spc="40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Verb</a:t>
                      </a:r>
                      <a:r>
                        <a:rPr dirty="0" sz="1100" spc="-1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changes: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445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11089">
                <a:tc>
                  <a:txBody>
                    <a:bodyPr/>
                    <a:lstStyle/>
                    <a:p>
                      <a:pPr algn="r" marR="74295">
                        <a:lnSpc>
                          <a:spcPct val="100000"/>
                        </a:lnSpc>
                      </a:pPr>
                      <a:r>
                        <a:rPr dirty="0" sz="1100">
                          <a:latin typeface="Symbol"/>
                          <a:cs typeface="Symbol"/>
                        </a:rPr>
                        <a:t></a:t>
                      </a:r>
                      <a:endParaRPr sz="1100">
                        <a:latin typeface="Symbol"/>
                        <a:cs typeface="Symbo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See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(pres.)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becomes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saw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(past)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50696">
                <a:tc>
                  <a:txBody>
                    <a:bodyPr/>
                    <a:lstStyle/>
                    <a:p>
                      <a:pPr algn="r" marR="7429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>
                          <a:latin typeface="Symbol"/>
                          <a:cs typeface="Symbol"/>
                        </a:rPr>
                        <a:t></a:t>
                      </a:r>
                      <a:endParaRPr sz="1100">
                        <a:latin typeface="Symbol"/>
                        <a:cs typeface="Symbol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Saw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had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seen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/>
                </a:tc>
              </a:tr>
              <a:tr h="251079">
                <a:tc>
                  <a:txBody>
                    <a:bodyPr/>
                    <a:lstStyle/>
                    <a:p>
                      <a:pPr algn="r" marR="7429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>
                          <a:latin typeface="Symbol"/>
                          <a:cs typeface="Symbol"/>
                        </a:rPr>
                        <a:t></a:t>
                      </a:r>
                      <a:endParaRPr sz="1100">
                        <a:latin typeface="Symbol"/>
                        <a:cs typeface="Symbol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seen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was</a:t>
                      </a:r>
                      <a:r>
                        <a:rPr dirty="0" sz="11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seen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/>
                </a:tc>
              </a:tr>
              <a:tr h="251079">
                <a:tc>
                  <a:txBody>
                    <a:bodyPr/>
                    <a:lstStyle/>
                    <a:p>
                      <a:pPr algn="r" marR="7429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100">
                          <a:latin typeface="Symbol"/>
                          <a:cs typeface="Symbol"/>
                        </a:rPr>
                        <a:t></a:t>
                      </a:r>
                      <a:endParaRPr sz="1100">
                        <a:latin typeface="Symbol"/>
                        <a:cs typeface="Symbol"/>
                      </a:endParaRPr>
                    </a:p>
                  </a:txBody>
                  <a:tcPr marL="0" marR="0" marB="0" marT="40640"/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Has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seen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64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had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seen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640"/>
                </a:tc>
              </a:tr>
              <a:tr h="251079">
                <a:tc>
                  <a:txBody>
                    <a:bodyPr/>
                    <a:lstStyle/>
                    <a:p>
                      <a:pPr algn="r" marR="7429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>
                          <a:latin typeface="Symbol"/>
                          <a:cs typeface="Symbol"/>
                        </a:rPr>
                        <a:t></a:t>
                      </a:r>
                      <a:endParaRPr sz="1100">
                        <a:latin typeface="Symbol"/>
                        <a:cs typeface="Symbol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Was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seeing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had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been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seen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/>
                </a:tc>
              </a:tr>
              <a:tr h="251079">
                <a:tc>
                  <a:txBody>
                    <a:bodyPr/>
                    <a:lstStyle/>
                    <a:p>
                      <a:pPr algn="r" marR="7429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100">
                          <a:latin typeface="Symbol"/>
                          <a:cs typeface="Symbol"/>
                        </a:rPr>
                        <a:t></a:t>
                      </a:r>
                      <a:endParaRPr sz="1100">
                        <a:latin typeface="Symbol"/>
                        <a:cs typeface="Symbol"/>
                      </a:endParaRPr>
                    </a:p>
                  </a:txBody>
                  <a:tcPr marL="0" marR="0" marB="0" marT="40640"/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Shall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/will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64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should/would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640"/>
                </a:tc>
              </a:tr>
              <a:tr h="250696">
                <a:tc>
                  <a:txBody>
                    <a:bodyPr/>
                    <a:lstStyle/>
                    <a:p>
                      <a:pPr algn="r" marR="7429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>
                          <a:latin typeface="Symbol"/>
                          <a:cs typeface="Symbol"/>
                        </a:rPr>
                        <a:t></a:t>
                      </a:r>
                      <a:endParaRPr sz="1100">
                        <a:latin typeface="Symbol"/>
                        <a:cs typeface="Symbol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were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/>
                </a:tc>
              </a:tr>
              <a:tr h="334102">
                <a:tc>
                  <a:txBody>
                    <a:bodyPr/>
                    <a:lstStyle/>
                    <a:p>
                      <a:pPr algn="r" marR="7429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>
                          <a:latin typeface="Symbol"/>
                          <a:cs typeface="Symbol"/>
                        </a:rPr>
                        <a:t></a:t>
                      </a:r>
                      <a:endParaRPr sz="1100">
                        <a:latin typeface="Symbol"/>
                        <a:cs typeface="Symbol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Can/may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could/might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/>
                </a:tc>
              </a:tr>
              <a:tr h="277762">
                <a:tc>
                  <a:txBody>
                    <a:bodyPr/>
                    <a:lstStyle/>
                    <a:p>
                      <a:pPr algn="r" marR="85090">
                        <a:lnSpc>
                          <a:spcPts val="1240"/>
                        </a:lnSpc>
                        <a:spcBef>
                          <a:spcPts val="850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example: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795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360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67219" y="9493248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49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972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84572" y="342390"/>
            <a:ext cx="6083300" cy="31470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869305" algn="l"/>
              </a:tabLst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l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</a:t>
            </a:r>
            <a:r>
              <a:rPr dirty="0" sz="1100" spc="-15">
                <a:solidFill>
                  <a:srgbClr val="323232"/>
                </a:solidFill>
                <a:latin typeface="Times New Roman"/>
                <a:cs typeface="Times New Roman"/>
              </a:rPr>
              <a:t>m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entary</a:t>
            </a:r>
            <a:r>
              <a:rPr dirty="0" sz="1100" spc="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g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lish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00">
              <a:latin typeface="Times New Roman"/>
              <a:cs typeface="Times New Roman"/>
            </a:endParaRPr>
          </a:p>
          <a:p>
            <a:pPr marL="469900" marR="28575" indent="-229235">
              <a:lnSpc>
                <a:spcPct val="144500"/>
              </a:lnSpc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Dave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asked,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"Where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did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last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weekend?"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BECOMES</a:t>
            </a:r>
            <a:r>
              <a:rPr dirty="0" sz="1100" spc="30" i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Dave</a:t>
            </a:r>
            <a:r>
              <a:rPr dirty="0" sz="1100" spc="2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asked</a:t>
            </a:r>
            <a:r>
              <a:rPr dirty="0" sz="1100" spc="3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me</a:t>
            </a:r>
            <a:r>
              <a:rPr dirty="0" sz="1100" spc="2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where</a:t>
            </a:r>
            <a:r>
              <a:rPr dirty="0" sz="1100" spc="2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</a:t>
            </a:r>
            <a:r>
              <a:rPr dirty="0" sz="1100" spc="2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had</a:t>
            </a:r>
            <a:r>
              <a:rPr dirty="0" sz="1100" spc="3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gone</a:t>
            </a:r>
            <a:r>
              <a:rPr dirty="0" sz="1100" spc="2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 </a:t>
            </a:r>
            <a:r>
              <a:rPr dirty="0" sz="1100" spc="-26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previous weekend.</a:t>
            </a:r>
            <a:endParaRPr sz="1100">
              <a:latin typeface="Times New Roman"/>
              <a:cs typeface="Times New Roman"/>
            </a:endParaRPr>
          </a:p>
          <a:p>
            <a:pPr marL="469900" marR="28575" indent="-228600">
              <a:lnSpc>
                <a:spcPct val="144100"/>
              </a:lnSpc>
              <a:spcBef>
                <a:spcPts val="65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00" spc="-5">
                <a:latin typeface="Times New Roman"/>
                <a:cs typeface="Times New Roman"/>
              </a:rPr>
              <a:t>He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asked,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"Why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studying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English?"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BECOMES</a:t>
            </a:r>
            <a:r>
              <a:rPr dirty="0" sz="1100" spc="250" i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She</a:t>
            </a:r>
            <a:r>
              <a:rPr dirty="0" sz="1100" spc="24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asked</a:t>
            </a:r>
            <a:r>
              <a:rPr dirty="0" sz="1100" spc="25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me</a:t>
            </a:r>
            <a:r>
              <a:rPr dirty="0" sz="1100" spc="25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why</a:t>
            </a:r>
            <a:r>
              <a:rPr dirty="0" sz="1100" spc="25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</a:t>
            </a:r>
            <a:r>
              <a:rPr dirty="0" sz="1100" spc="25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was</a:t>
            </a:r>
            <a:r>
              <a:rPr dirty="0" sz="1100" spc="25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studying </a:t>
            </a:r>
            <a:r>
              <a:rPr dirty="0" sz="1100" spc="-26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English.</a:t>
            </a:r>
            <a:endParaRPr sz="1100">
              <a:latin typeface="Times New Roman"/>
              <a:cs typeface="Times New Roman"/>
            </a:endParaRPr>
          </a:p>
          <a:p>
            <a:pPr marL="469900" indent="-229235">
              <a:lnSpc>
                <a:spcPct val="100000"/>
              </a:lnSpc>
              <a:spcBef>
                <a:spcPts val="650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00" spc="-5">
                <a:latin typeface="Times New Roman"/>
                <a:cs typeface="Times New Roman"/>
              </a:rPr>
              <a:t>“Will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come?”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BECOMES</a:t>
            </a:r>
            <a:r>
              <a:rPr dirty="0" sz="1100" spc="5" i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He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asked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would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he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come.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Symbol"/>
              <a:buChar char=""/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ts val="1285"/>
              </a:lnSpc>
            </a:pPr>
            <a:r>
              <a:rPr dirty="0" sz="1100" spc="-5" b="1">
                <a:latin typeface="Times New Roman"/>
                <a:cs typeface="Times New Roman"/>
              </a:rPr>
              <a:t>Direct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commands:</a:t>
            </a:r>
            <a:endParaRPr sz="1100">
              <a:latin typeface="Times New Roman"/>
              <a:cs typeface="Times New Roman"/>
            </a:endParaRPr>
          </a:p>
          <a:p>
            <a:pPr marL="241300">
              <a:lnSpc>
                <a:spcPts val="1265"/>
              </a:lnSpc>
            </a:pPr>
            <a:r>
              <a:rPr dirty="0" sz="1100" spc="-5">
                <a:latin typeface="Times New Roman"/>
                <a:cs typeface="Times New Roman"/>
              </a:rPr>
              <a:t>“Give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help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can.”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BECOMES</a:t>
            </a:r>
            <a:r>
              <a:rPr dirty="0" sz="1100" spc="85" i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asked</a:t>
            </a:r>
            <a:r>
              <a:rPr dirty="0" sz="1100" spc="7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that</a:t>
            </a:r>
            <a:r>
              <a:rPr dirty="0" sz="1100" spc="7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they</a:t>
            </a:r>
            <a:r>
              <a:rPr dirty="0" sz="1100" spc="8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should</a:t>
            </a:r>
            <a:r>
              <a:rPr dirty="0" sz="1100" spc="7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give</a:t>
            </a:r>
            <a:r>
              <a:rPr dirty="0" sz="1100" spc="7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all</a:t>
            </a:r>
            <a:r>
              <a:rPr dirty="0" sz="1100" spc="7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</a:t>
            </a:r>
            <a:r>
              <a:rPr dirty="0" sz="1100" spc="7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help</a:t>
            </a:r>
            <a:r>
              <a:rPr dirty="0" sz="1100" spc="7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they</a:t>
            </a:r>
            <a:r>
              <a:rPr dirty="0" sz="1100" spc="8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could.</a:t>
            </a:r>
            <a:r>
              <a:rPr dirty="0" sz="1100" spc="80" b="1">
                <a:latin typeface="Times New Roman"/>
                <a:cs typeface="Times New Roman"/>
              </a:rPr>
              <a:t> </a:t>
            </a:r>
            <a:r>
              <a:rPr dirty="0" sz="1100" spc="-10" b="1" i="1">
                <a:latin typeface="Times New Roman"/>
                <a:cs typeface="Times New Roman"/>
              </a:rPr>
              <a:t>Or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270"/>
              </a:lnSpc>
            </a:pPr>
            <a:r>
              <a:rPr dirty="0" sz="1100" spc="-5" b="1">
                <a:latin typeface="Times New Roman"/>
                <a:cs typeface="Times New Roman"/>
              </a:rPr>
              <a:t>He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asked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them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to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give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all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help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they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could.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 i="1">
                <a:latin typeface="Times New Roman"/>
                <a:cs typeface="Times New Roman"/>
              </a:rPr>
              <a:t>Or</a:t>
            </a:r>
            <a:r>
              <a:rPr dirty="0" sz="1100" spc="10" b="1" i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Let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them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give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all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help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they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could.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95"/>
              </a:lnSpc>
            </a:pPr>
            <a:r>
              <a:rPr dirty="0" sz="1100" spc="-10" b="1">
                <a:latin typeface="Times New Roman"/>
                <a:cs typeface="Times New Roman"/>
              </a:rPr>
              <a:t>Desires:</a:t>
            </a:r>
            <a:endParaRPr sz="1100">
              <a:latin typeface="Times New Roman"/>
              <a:cs typeface="Times New Roman"/>
            </a:endParaRPr>
          </a:p>
          <a:p>
            <a:pPr marL="469900" marR="26670" indent="-228600">
              <a:lnSpc>
                <a:spcPts val="1270"/>
              </a:lnSpc>
              <a:spcBef>
                <a:spcPts val="10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“Hurrah!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won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match.”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BECOMES</a:t>
            </a:r>
            <a:r>
              <a:rPr dirty="0" sz="1100" spc="140" i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exclaimed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joy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had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won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match.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spc="-5" b="1">
                <a:latin typeface="Times New Roman"/>
                <a:cs typeface="Times New Roman"/>
              </a:rPr>
              <a:t>Check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again: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829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084572" y="3604983"/>
            <a:ext cx="2344420" cy="1551305"/>
          </a:xfrm>
          <a:prstGeom prst="rect">
            <a:avLst/>
          </a:prstGeom>
        </p:spPr>
        <p:txBody>
          <a:bodyPr wrap="square" lIns="0" tIns="628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dirty="0" sz="1100" spc="-5">
                <a:latin typeface="Times New Roman"/>
                <a:cs typeface="Times New Roman"/>
              </a:rPr>
              <a:t>He said,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"I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live 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Paris."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dirty="0" sz="1100" spc="-5">
                <a:latin typeface="Times New Roman"/>
                <a:cs typeface="Times New Roman"/>
              </a:rPr>
              <a:t>He said,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"I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 cooking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dinner."</a:t>
            </a:r>
            <a:endParaRPr sz="1100">
              <a:latin typeface="Times New Roman"/>
              <a:cs typeface="Times New Roman"/>
            </a:endParaRPr>
          </a:p>
          <a:p>
            <a:pPr marL="12700" marR="5080" indent="-635">
              <a:lnSpc>
                <a:spcPct val="130000"/>
              </a:lnSpc>
            </a:pPr>
            <a:r>
              <a:rPr dirty="0" sz="1100" spc="-5">
                <a:latin typeface="Times New Roman"/>
                <a:cs typeface="Times New Roman"/>
              </a:rPr>
              <a:t>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said,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"I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visited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London twice."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said,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"I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New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York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last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week."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said,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"I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already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eaten."</a:t>
            </a:r>
            <a:endParaRPr sz="1100">
              <a:latin typeface="Times New Roman"/>
              <a:cs typeface="Times New Roman"/>
            </a:endParaRPr>
          </a:p>
          <a:p>
            <a:pPr marL="12700" marR="93980">
              <a:lnSpc>
                <a:spcPct val="130000"/>
              </a:lnSpc>
            </a:pPr>
            <a:r>
              <a:rPr dirty="0" sz="1100" spc="-5">
                <a:latin typeface="Times New Roman"/>
                <a:cs typeface="Times New Roman"/>
              </a:rPr>
              <a:t>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said,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"I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 going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new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job."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said,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"I</a:t>
            </a:r>
            <a:r>
              <a:rPr dirty="0" sz="1100">
                <a:latin typeface="Times New Roman"/>
                <a:cs typeface="Times New Roman"/>
              </a:rPr>
              <a:t> will </a:t>
            </a:r>
            <a:r>
              <a:rPr dirty="0" sz="1100" spc="-5">
                <a:latin typeface="Times New Roman"/>
                <a:cs typeface="Times New Roman"/>
              </a:rPr>
              <a:t>give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Jack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call."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47767" y="3605750"/>
            <a:ext cx="3025140" cy="1551305"/>
          </a:xfrm>
          <a:prstGeom prst="rect">
            <a:avLst/>
          </a:prstGeom>
        </p:spPr>
        <p:txBody>
          <a:bodyPr wrap="square" lIns="0" tIns="628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dirty="0" sz="1100" spc="-5" b="1">
                <a:latin typeface="Times New Roman"/>
                <a:cs typeface="Times New Roman"/>
              </a:rPr>
              <a:t>He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said he </a:t>
            </a:r>
            <a:r>
              <a:rPr dirty="0" sz="1100" b="1">
                <a:latin typeface="Times New Roman"/>
                <a:cs typeface="Times New Roman"/>
              </a:rPr>
              <a:t>lived</a:t>
            </a:r>
            <a:r>
              <a:rPr dirty="0" sz="1100" spc="-5" b="1">
                <a:latin typeface="Times New Roman"/>
                <a:cs typeface="Times New Roman"/>
              </a:rPr>
              <a:t> in Paris.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dirty="0" sz="1100" spc="-5" b="1">
                <a:latin typeface="Times New Roman"/>
                <a:cs typeface="Times New Roman"/>
              </a:rPr>
              <a:t>He said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he </a:t>
            </a:r>
            <a:r>
              <a:rPr dirty="0" sz="1100" b="1">
                <a:latin typeface="Times New Roman"/>
                <a:cs typeface="Times New Roman"/>
              </a:rPr>
              <a:t>was </a:t>
            </a:r>
            <a:r>
              <a:rPr dirty="0" sz="1100" spc="-5" b="1">
                <a:latin typeface="Times New Roman"/>
                <a:cs typeface="Times New Roman"/>
              </a:rPr>
              <a:t>cooking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dinner.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dirty="0" sz="1100" spc="-5" b="1">
                <a:latin typeface="Times New Roman"/>
                <a:cs typeface="Times New Roman"/>
              </a:rPr>
              <a:t>He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said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he</a:t>
            </a:r>
            <a:r>
              <a:rPr dirty="0" sz="1100" b="1">
                <a:latin typeface="Times New Roman"/>
                <a:cs typeface="Times New Roman"/>
              </a:rPr>
              <a:t> had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visited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London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twice.</a:t>
            </a:r>
            <a:endParaRPr sz="1100">
              <a:latin typeface="Times New Roman"/>
              <a:cs typeface="Times New Roman"/>
            </a:endParaRPr>
          </a:p>
          <a:p>
            <a:pPr marL="12700" marR="5080" indent="-635">
              <a:lnSpc>
                <a:spcPct val="130000"/>
              </a:lnSpc>
            </a:pPr>
            <a:r>
              <a:rPr dirty="0" sz="1100" spc="-5" b="1">
                <a:latin typeface="Times New Roman"/>
                <a:cs typeface="Times New Roman"/>
              </a:rPr>
              <a:t>He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said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he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had </a:t>
            </a:r>
            <a:r>
              <a:rPr dirty="0" sz="1100" spc="-5" b="1">
                <a:latin typeface="Times New Roman"/>
                <a:cs typeface="Times New Roman"/>
              </a:rPr>
              <a:t>gone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to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New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York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week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before. </a:t>
            </a:r>
            <a:r>
              <a:rPr dirty="0" sz="1100" spc="-26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He said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he</a:t>
            </a:r>
            <a:r>
              <a:rPr dirty="0" sz="1100" b="1">
                <a:latin typeface="Times New Roman"/>
                <a:cs typeface="Times New Roman"/>
              </a:rPr>
              <a:t> had </a:t>
            </a:r>
            <a:r>
              <a:rPr dirty="0" sz="1100" spc="-5" b="1">
                <a:latin typeface="Times New Roman"/>
                <a:cs typeface="Times New Roman"/>
              </a:rPr>
              <a:t>already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eaten.</a:t>
            </a:r>
            <a:endParaRPr sz="1100">
              <a:latin typeface="Times New Roman"/>
              <a:cs typeface="Times New Roman"/>
            </a:endParaRPr>
          </a:p>
          <a:p>
            <a:pPr marL="12700" marR="692150">
              <a:lnSpc>
                <a:spcPct val="130000"/>
              </a:lnSpc>
            </a:pPr>
            <a:r>
              <a:rPr dirty="0" sz="1100" spc="-5" b="1">
                <a:latin typeface="Times New Roman"/>
                <a:cs typeface="Times New Roman"/>
              </a:rPr>
              <a:t>He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said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he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was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going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10" b="1">
                <a:latin typeface="Times New Roman"/>
                <a:cs typeface="Times New Roman"/>
              </a:rPr>
              <a:t>to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find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new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job. </a:t>
            </a:r>
            <a:r>
              <a:rPr dirty="0" sz="1100" spc="-26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He said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he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would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give Jack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call.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84600" y="5482915"/>
            <a:ext cx="466598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Source:</a:t>
            </a:r>
            <a:r>
              <a:rPr dirty="0" sz="1100" spc="140" b="1"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2"/>
              </a:rPr>
              <a:t>http://esl.about.com/od/grammarintermediate/a/reported_speech.htm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7380" y="342390"/>
            <a:ext cx="174498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 Elementary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84111" y="342390"/>
            <a:ext cx="22669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788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10019" y="9493248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50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400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257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812028" y="526034"/>
            <a:ext cx="87566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LECTURE</a:t>
            </a:r>
            <a:r>
              <a:rPr dirty="0" u="heavy" sz="1100" spc="-4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15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7378" y="847596"/>
            <a:ext cx="4305935" cy="5143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766570">
              <a:lnSpc>
                <a:spcPct val="100000"/>
              </a:lnSpc>
              <a:spcBef>
                <a:spcPts val="95"/>
              </a:spcBef>
            </a:pP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GRAMMATICAL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SENTENCE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–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ISSUES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SUBJECT-VERB AGREEMENT: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7378" y="1651505"/>
            <a:ext cx="32004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G1-a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84288" y="1651505"/>
            <a:ext cx="440245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Make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verb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agree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with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its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subject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not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with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word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that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comes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between.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84580" y="1818080"/>
            <a:ext cx="3921125" cy="98933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675"/>
              </a:spcBef>
              <a:buSzPct val="90909"/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tulip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in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pot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on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balcony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needs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watering.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SzPct val="90909"/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High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levels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air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pollution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cause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damage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respiratory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tract.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SzPct val="90909"/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good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golf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clubs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costs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eight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hundred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dollars.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85"/>
              </a:spcBef>
              <a:buSzPct val="90909"/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The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governor</a:t>
            </a:r>
            <a:r>
              <a:rPr dirty="0" sz="1100" spc="-5">
                <a:latin typeface="Times New Roman"/>
                <a:cs typeface="Times New Roman"/>
              </a:rPr>
              <a:t>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well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 his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press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secretary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was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shot.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27370" y="3017005"/>
            <a:ext cx="32829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G1-b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84698" y="3017005"/>
            <a:ext cx="347662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Treat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most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compound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subject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connected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by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and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as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plural.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84580" y="3183582"/>
            <a:ext cx="5022850" cy="50736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675"/>
              </a:spcBef>
              <a:buSzPct val="90909"/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Leon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and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Jan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often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jog </a:t>
            </a:r>
            <a:r>
              <a:rPr dirty="0" sz="1100" spc="-5">
                <a:latin typeface="Times New Roman"/>
                <a:cs typeface="Times New Roman"/>
              </a:rPr>
              <a:t>together.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SzPct val="90909"/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Jill’s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natural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ability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here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desire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help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career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ministry.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27384" y="3900177"/>
            <a:ext cx="31305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G1-c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84370" y="3826717"/>
            <a:ext cx="5604510" cy="5073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-635">
              <a:lnSpc>
                <a:spcPct val="143600"/>
              </a:lnSpc>
              <a:spcBef>
                <a:spcPts val="100"/>
              </a:spcBef>
            </a:pPr>
            <a:r>
              <a:rPr dirty="0" sz="1100" spc="-5" b="1">
                <a:latin typeface="Times New Roman"/>
                <a:cs typeface="Times New Roman"/>
              </a:rPr>
              <a:t>With</a:t>
            </a:r>
            <a:r>
              <a:rPr dirty="0" sz="1100" spc="204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compound</a:t>
            </a:r>
            <a:r>
              <a:rPr dirty="0" sz="1100" spc="204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subjects</a:t>
            </a:r>
            <a:r>
              <a:rPr dirty="0" sz="1100" spc="204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connected</a:t>
            </a:r>
            <a:r>
              <a:rPr dirty="0" sz="1100" spc="2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by</a:t>
            </a:r>
            <a:r>
              <a:rPr dirty="0" sz="1100" spc="204" b="1">
                <a:latin typeface="Times New Roman"/>
                <a:cs typeface="Times New Roman"/>
              </a:rPr>
              <a:t> </a:t>
            </a:r>
            <a:r>
              <a:rPr dirty="0" sz="1100" spc="-5" b="1" i="1">
                <a:latin typeface="Times New Roman"/>
                <a:cs typeface="Times New Roman"/>
              </a:rPr>
              <a:t>or,</a:t>
            </a:r>
            <a:r>
              <a:rPr dirty="0" sz="1100" spc="210" b="1" i="1">
                <a:latin typeface="Times New Roman"/>
                <a:cs typeface="Times New Roman"/>
              </a:rPr>
              <a:t> </a:t>
            </a:r>
            <a:r>
              <a:rPr dirty="0" sz="1100" spc="-5" b="1" i="1">
                <a:latin typeface="Times New Roman"/>
                <a:cs typeface="Times New Roman"/>
              </a:rPr>
              <a:t>nor</a:t>
            </a:r>
            <a:r>
              <a:rPr dirty="0" sz="1100" spc="-5" b="1">
                <a:latin typeface="Times New Roman"/>
                <a:cs typeface="Times New Roman"/>
              </a:rPr>
              <a:t>,</a:t>
            </a:r>
            <a:r>
              <a:rPr dirty="0" sz="1100" spc="204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make</a:t>
            </a:r>
            <a:r>
              <a:rPr dirty="0" sz="1100" spc="204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</a:t>
            </a:r>
            <a:r>
              <a:rPr dirty="0" sz="1100" spc="2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verb</a:t>
            </a:r>
            <a:r>
              <a:rPr dirty="0" sz="1100" spc="204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agree</a:t>
            </a:r>
            <a:r>
              <a:rPr dirty="0" sz="1100" spc="21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with</a:t>
            </a:r>
            <a:r>
              <a:rPr dirty="0" sz="1100" spc="2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</a:t>
            </a:r>
            <a:r>
              <a:rPr dirty="0" sz="1100" spc="204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part</a:t>
            </a:r>
            <a:r>
              <a:rPr dirty="0" sz="1100" spc="204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of</a:t>
            </a:r>
            <a:r>
              <a:rPr dirty="0" sz="1100" spc="204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 </a:t>
            </a:r>
            <a:r>
              <a:rPr dirty="0" sz="1100" spc="-26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subject nearer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to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verb.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84580" y="4308297"/>
            <a:ext cx="4257040" cy="74803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675"/>
              </a:spcBef>
              <a:buSzPct val="90909"/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driver’s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license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credit </a:t>
            </a:r>
            <a:r>
              <a:rPr dirty="0" sz="1100" spc="-5" b="1">
                <a:latin typeface="Times New Roman"/>
                <a:cs typeface="Times New Roman"/>
              </a:rPr>
              <a:t>card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is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required.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SzPct val="90909"/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If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relative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neighbour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is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abusing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child,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notify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police.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SzPct val="90909"/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Neither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estate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agent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clients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were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able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house.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27384" y="5265681"/>
            <a:ext cx="32829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G1-d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84712" y="5265681"/>
            <a:ext cx="260286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Treat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most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indefinite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pronouns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as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singular.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84580" y="5431485"/>
            <a:ext cx="3031490" cy="749300"/>
          </a:xfrm>
          <a:prstGeom prst="rect">
            <a:avLst/>
          </a:prstGeom>
        </p:spPr>
        <p:txBody>
          <a:bodyPr wrap="square" lIns="0" tIns="8636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680"/>
              </a:spcBef>
              <a:buSzPct val="90909"/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Everyone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team </a:t>
            </a:r>
            <a:r>
              <a:rPr dirty="0" sz="1100" spc="-5" b="1">
                <a:latin typeface="Times New Roman"/>
                <a:cs typeface="Times New Roman"/>
              </a:rPr>
              <a:t>supports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coach.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85"/>
              </a:spcBef>
              <a:buSzPct val="90909"/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Each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furrows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seeded.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SzPct val="90909"/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None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trades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requires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college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education.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27384" y="6390393"/>
            <a:ext cx="31242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G1-e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84672" y="6390393"/>
            <a:ext cx="4189729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Treat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collective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nouns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as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singular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unless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</a:t>
            </a:r>
            <a:r>
              <a:rPr dirty="0" sz="1100" spc="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meaning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is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clearly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plural.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84586" y="6556961"/>
            <a:ext cx="732155" cy="5073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436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SINGU</a:t>
            </a:r>
            <a:r>
              <a:rPr dirty="0" sz="1100">
                <a:latin typeface="Times New Roman"/>
                <a:cs typeface="Times New Roman"/>
              </a:rPr>
              <a:t>L</a:t>
            </a:r>
            <a:r>
              <a:rPr dirty="0" sz="1100" spc="-5">
                <a:latin typeface="Times New Roman"/>
                <a:cs typeface="Times New Roman"/>
              </a:rPr>
              <a:t>AR  </a:t>
            </a:r>
            <a:r>
              <a:rPr dirty="0" sz="1100" spc="-5">
                <a:latin typeface="Times New Roman"/>
                <a:cs typeface="Times New Roman"/>
              </a:rPr>
              <a:t>PLURAL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998989" y="6556961"/>
            <a:ext cx="2423795" cy="50736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49530">
              <a:lnSpc>
                <a:spcPct val="100000"/>
              </a:lnSpc>
              <a:spcBef>
                <a:spcPts val="675"/>
              </a:spcBef>
            </a:pP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 spc="-5" b="1">
                <a:latin typeface="Times New Roman"/>
                <a:cs typeface="Times New Roman"/>
              </a:rPr>
              <a:t>class respects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teacher.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sz="1100" spc="-5" b="1">
                <a:latin typeface="Times New Roman"/>
                <a:cs typeface="Times New Roman"/>
              </a:rPr>
              <a:t>The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class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are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debating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among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themselves.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84580" y="7037778"/>
            <a:ext cx="5604510" cy="749300"/>
          </a:xfrm>
          <a:prstGeom prst="rect">
            <a:avLst/>
          </a:prstGeom>
        </p:spPr>
        <p:txBody>
          <a:bodyPr wrap="square" lIns="0" tIns="8636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680"/>
              </a:spcBef>
              <a:buSzPct val="90909"/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The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scout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troop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meets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basement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Tuesdays.</a:t>
            </a:r>
            <a:endParaRPr sz="1100">
              <a:latin typeface="Times New Roman"/>
              <a:cs typeface="Times New Roman"/>
            </a:endParaRPr>
          </a:p>
          <a:p>
            <a:pPr marL="241300" marR="5080" indent="-228600">
              <a:lnSpc>
                <a:spcPct val="143600"/>
              </a:lnSpc>
              <a:spcBef>
                <a:spcPts val="5"/>
              </a:spcBef>
              <a:buSzPct val="90909"/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young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couple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were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arguing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politics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while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holding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hands.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(focus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individualities)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27384" y="7996692"/>
            <a:ext cx="29718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G1-f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084572" y="7924000"/>
            <a:ext cx="4551045" cy="505459"/>
          </a:xfrm>
          <a:prstGeom prst="rect">
            <a:avLst/>
          </a:prstGeom>
        </p:spPr>
        <p:txBody>
          <a:bodyPr wrap="square" lIns="0" tIns="850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dirty="0" sz="1100" spc="-5" b="1">
                <a:latin typeface="Times New Roman"/>
                <a:cs typeface="Times New Roman"/>
              </a:rPr>
              <a:t>Make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verb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agree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with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its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subject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even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when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the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subject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follows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verb.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dirty="0" sz="1100" spc="-5">
                <a:latin typeface="Times New Roman"/>
                <a:cs typeface="Times New Roman"/>
              </a:rPr>
              <a:t>There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are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surprisingly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few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children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our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neighbourhood.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084580" y="8403282"/>
            <a:ext cx="4366895" cy="508634"/>
          </a:xfrm>
          <a:prstGeom prst="rect">
            <a:avLst/>
          </a:prstGeom>
        </p:spPr>
        <p:txBody>
          <a:bodyPr wrap="square" lIns="0" tIns="8636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680"/>
              </a:spcBef>
              <a:buSzPct val="90909"/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were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social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worker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crew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twenty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volunteers.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85"/>
              </a:spcBef>
              <a:buSzPct val="90909"/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back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room</a:t>
            </a:r>
            <a:r>
              <a:rPr dirty="0" sz="1100">
                <a:latin typeface="Times New Roman"/>
                <a:cs typeface="Times New Roman"/>
              </a:rPr>
              <a:t> are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small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aquarium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enormous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terrarium.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4580" y="342390"/>
            <a:ext cx="174498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 Elementary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41311" y="342390"/>
            <a:ext cx="22669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360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67219" y="9493248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51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972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829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084580" y="686815"/>
            <a:ext cx="454152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69265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G1-g	Make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verb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agree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with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its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subject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not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with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subject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complement.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41780" y="774140"/>
            <a:ext cx="5012055" cy="50736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675"/>
              </a:spcBef>
              <a:buSzPct val="90909"/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tent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sleeping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required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equipment.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SzPct val="90909"/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A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major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force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toady’s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economy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is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women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–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earners,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consumers,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investors.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84584" y="1490733"/>
            <a:ext cx="32829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G1-h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41912" y="1490733"/>
            <a:ext cx="398526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Who,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which,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and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that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take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verbs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that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agree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with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their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antecedents.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41780" y="1657296"/>
            <a:ext cx="5605145" cy="98933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675"/>
              </a:spcBef>
              <a:buSzPct val="90909"/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Take a suit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that </a:t>
            </a:r>
            <a:r>
              <a:rPr dirty="0" sz="1100" spc="-5">
                <a:latin typeface="Times New Roman"/>
                <a:cs typeface="Times New Roman"/>
              </a:rPr>
              <a:t>travels</a:t>
            </a:r>
            <a:r>
              <a:rPr dirty="0" sz="1100">
                <a:latin typeface="Times New Roman"/>
                <a:cs typeface="Times New Roman"/>
              </a:rPr>
              <a:t> well.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SzPct val="90909"/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Our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ability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 spc="-5" b="1">
                <a:latin typeface="Times New Roman"/>
                <a:cs typeface="Times New Roman"/>
              </a:rPr>
              <a:t>things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set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apart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from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animals.</a:t>
            </a:r>
            <a:endParaRPr sz="1100">
              <a:latin typeface="Times New Roman"/>
              <a:cs typeface="Times New Roman"/>
            </a:endParaRPr>
          </a:p>
          <a:p>
            <a:pPr marL="241300" marR="5080" indent="-229235">
              <a:lnSpc>
                <a:spcPct val="143600"/>
              </a:lnSpc>
              <a:spcBef>
                <a:spcPts val="5"/>
              </a:spcBef>
              <a:buSzPct val="90909"/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Dr.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Barker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knew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Frank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only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one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sons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was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responsible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enough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handle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estate.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84598" y="2856240"/>
            <a:ext cx="28956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G1-i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41777" y="2782780"/>
            <a:ext cx="5602605" cy="5073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-635">
              <a:lnSpc>
                <a:spcPct val="143600"/>
              </a:lnSpc>
              <a:spcBef>
                <a:spcPts val="100"/>
              </a:spcBef>
            </a:pPr>
            <a:r>
              <a:rPr dirty="0" sz="1100" spc="-5" b="1">
                <a:latin typeface="Times New Roman"/>
                <a:cs typeface="Times New Roman"/>
              </a:rPr>
              <a:t>Words</a:t>
            </a:r>
            <a:r>
              <a:rPr dirty="0" sz="1100" spc="15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such</a:t>
            </a:r>
            <a:r>
              <a:rPr dirty="0" sz="1100" spc="15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as</a:t>
            </a:r>
            <a:r>
              <a:rPr dirty="0" sz="1100" spc="15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athletics,</a:t>
            </a:r>
            <a:r>
              <a:rPr dirty="0" sz="1100" spc="16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economics,</a:t>
            </a:r>
            <a:r>
              <a:rPr dirty="0" sz="1100" spc="16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mathematics,</a:t>
            </a:r>
            <a:r>
              <a:rPr dirty="0" sz="1100" spc="16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physics,</a:t>
            </a:r>
            <a:r>
              <a:rPr dirty="0" sz="1100" spc="15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statistics,</a:t>
            </a:r>
            <a:r>
              <a:rPr dirty="0" sz="1100" spc="15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measles,</a:t>
            </a:r>
            <a:r>
              <a:rPr dirty="0" sz="1100" spc="15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and</a:t>
            </a:r>
            <a:r>
              <a:rPr dirty="0" sz="1100" spc="15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news</a:t>
            </a:r>
            <a:r>
              <a:rPr dirty="0" sz="1100" spc="15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are </a:t>
            </a:r>
            <a:r>
              <a:rPr dirty="0" sz="1100" spc="-26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usually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singular,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despite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their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plural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form.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41780" y="3337051"/>
            <a:ext cx="366014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SzPct val="90909"/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Statistics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among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most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difficult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courses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program.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84584" y="3739381"/>
            <a:ext cx="29718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G1-j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41940" y="3739381"/>
            <a:ext cx="358076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Titles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of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works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and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words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mentioned</a:t>
            </a:r>
            <a:r>
              <a:rPr dirty="0" sz="1100" spc="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as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words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are</a:t>
            </a:r>
            <a:r>
              <a:rPr dirty="0" sz="1100" spc="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singular.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84577" y="3906723"/>
            <a:ext cx="4464050" cy="122936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698500" indent="-228600">
              <a:lnSpc>
                <a:spcPct val="100000"/>
              </a:lnSpc>
              <a:spcBef>
                <a:spcPts val="675"/>
              </a:spcBef>
              <a:buSzPct val="90909"/>
              <a:buFont typeface="Symbol"/>
              <a:buChar char=""/>
              <a:tabLst>
                <a:tab pos="697865" algn="l"/>
                <a:tab pos="698500" algn="l"/>
              </a:tabLst>
            </a:pPr>
            <a:r>
              <a:rPr dirty="0" sz="1100" spc="-5" b="1" i="1">
                <a:latin typeface="Times New Roman"/>
                <a:cs typeface="Times New Roman"/>
              </a:rPr>
              <a:t>Lost</a:t>
            </a:r>
            <a:r>
              <a:rPr dirty="0" sz="1100" spc="10" b="1" i="1">
                <a:latin typeface="Times New Roman"/>
                <a:cs typeface="Times New Roman"/>
              </a:rPr>
              <a:t> </a:t>
            </a:r>
            <a:r>
              <a:rPr dirty="0" sz="1100" spc="-5" b="1" i="1">
                <a:latin typeface="Times New Roman"/>
                <a:cs typeface="Times New Roman"/>
              </a:rPr>
              <a:t>Cities</a:t>
            </a:r>
            <a:r>
              <a:rPr dirty="0" sz="1100" spc="10" b="1" i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describes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discoveries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many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ancient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civilizations.</a:t>
            </a:r>
            <a:endParaRPr sz="1100">
              <a:latin typeface="Times New Roman"/>
              <a:cs typeface="Times New Roman"/>
            </a:endParaRPr>
          </a:p>
          <a:p>
            <a:pPr marL="698500" indent="-228600">
              <a:lnSpc>
                <a:spcPct val="100000"/>
              </a:lnSpc>
              <a:spcBef>
                <a:spcPts val="575"/>
              </a:spcBef>
              <a:buSzPct val="90909"/>
              <a:buFont typeface="Symbol"/>
              <a:buChar char=""/>
              <a:tabLst>
                <a:tab pos="697865" algn="l"/>
                <a:tab pos="698500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Controlled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substance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is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euphemism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illegal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drugs.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PROBLEMS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PRONOUNS: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469265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G3-a	Make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pronouns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and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antecedents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agree.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41765" y="5191443"/>
            <a:ext cx="731520" cy="5073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43600"/>
              </a:lnSpc>
              <a:spcBef>
                <a:spcPts val="100"/>
              </a:spcBef>
            </a:pPr>
            <a:r>
              <a:rPr dirty="0" sz="1100" spc="-10">
                <a:latin typeface="Times New Roman"/>
                <a:cs typeface="Times New Roman"/>
              </a:rPr>
              <a:t>SINGU</a:t>
            </a:r>
            <a:r>
              <a:rPr dirty="0" sz="1100">
                <a:latin typeface="Times New Roman"/>
                <a:cs typeface="Times New Roman"/>
              </a:rPr>
              <a:t>L</a:t>
            </a:r>
            <a:r>
              <a:rPr dirty="0" sz="1100" spc="-10">
                <a:latin typeface="Times New Roman"/>
                <a:cs typeface="Times New Roman"/>
              </a:rPr>
              <a:t>AR  </a:t>
            </a:r>
            <a:r>
              <a:rPr dirty="0" sz="1100" spc="-5">
                <a:latin typeface="Times New Roman"/>
                <a:cs typeface="Times New Roman"/>
              </a:rPr>
              <a:t>PLURAL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913360" y="5191443"/>
            <a:ext cx="1978025" cy="5073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-635">
              <a:lnSpc>
                <a:spcPct val="1436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doctor </a:t>
            </a:r>
            <a:r>
              <a:rPr dirty="0" sz="1100" spc="-5">
                <a:latin typeface="Times New Roman"/>
                <a:cs typeface="Times New Roman"/>
              </a:rPr>
              <a:t>finished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her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rounds.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doctors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finished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their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rounds.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84584" y="5747257"/>
            <a:ext cx="5169535" cy="2280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98500" indent="-229235">
              <a:lnSpc>
                <a:spcPct val="100000"/>
              </a:lnSpc>
              <a:spcBef>
                <a:spcPts val="95"/>
              </a:spcBef>
              <a:buSzPct val="90909"/>
              <a:buFont typeface="Symbol"/>
              <a:buChar char=""/>
              <a:tabLst>
                <a:tab pos="697865" algn="l"/>
                <a:tab pos="698500" algn="l"/>
              </a:tabLst>
            </a:pPr>
            <a:r>
              <a:rPr dirty="0" sz="1100" spc="-5">
                <a:latin typeface="Times New Roman"/>
                <a:cs typeface="Times New Roman"/>
              </a:rPr>
              <a:t>When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someone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been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drinking,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he/she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likely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speed.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Symbol"/>
              <a:buChar char=""/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Generic</a:t>
            </a:r>
            <a:r>
              <a:rPr dirty="0" sz="1100" spc="-4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Nouns</a:t>
            </a:r>
            <a:endParaRPr sz="1100">
              <a:latin typeface="Times New Roman"/>
              <a:cs typeface="Times New Roman"/>
            </a:endParaRPr>
          </a:p>
          <a:p>
            <a:pPr marL="698500" indent="-229235">
              <a:lnSpc>
                <a:spcPct val="100000"/>
              </a:lnSpc>
              <a:spcBef>
                <a:spcPts val="570"/>
              </a:spcBef>
              <a:buSzPct val="90909"/>
              <a:buFont typeface="Symbol"/>
              <a:buChar char=""/>
              <a:tabLst>
                <a:tab pos="697865" algn="l"/>
                <a:tab pos="698500" algn="l"/>
              </a:tabLst>
            </a:pPr>
            <a:r>
              <a:rPr dirty="0" sz="1100" spc="-5">
                <a:latin typeface="Times New Roman"/>
                <a:cs typeface="Times New Roman"/>
              </a:rPr>
              <a:t>Every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runner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must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rigorously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wants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[not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they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want]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excel.</a:t>
            </a:r>
            <a:endParaRPr sz="1100">
              <a:latin typeface="Times New Roman"/>
              <a:cs typeface="Times New Roman"/>
            </a:endParaRPr>
          </a:p>
          <a:p>
            <a:pPr marL="698500" indent="-229235">
              <a:lnSpc>
                <a:spcPct val="100000"/>
              </a:lnSpc>
              <a:spcBef>
                <a:spcPts val="575"/>
              </a:spcBef>
              <a:buSzPct val="90909"/>
              <a:buFont typeface="Symbol"/>
              <a:buChar char=""/>
              <a:tabLst>
                <a:tab pos="697865" algn="l"/>
                <a:tab pos="698500" algn="l"/>
              </a:tabLst>
            </a:pP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medical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student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must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hard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he/she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wants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succeed.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Symbol"/>
              <a:buChar char=""/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spc="-5" b="1">
                <a:latin typeface="Times New Roman"/>
                <a:cs typeface="Times New Roman"/>
              </a:rPr>
              <a:t>Compound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antecedents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Treat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compound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antecedents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jointed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</a:t>
            </a:r>
            <a:r>
              <a:rPr dirty="0" sz="1100" spc="-5" b="1">
                <a:latin typeface="Times New Roman"/>
                <a:cs typeface="Times New Roman"/>
              </a:rPr>
              <a:t>and’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plural.</a:t>
            </a:r>
            <a:endParaRPr sz="1100">
              <a:latin typeface="Times New Roman"/>
              <a:cs typeface="Times New Roman"/>
            </a:endParaRPr>
          </a:p>
          <a:p>
            <a:pPr marL="698500" indent="-229235">
              <a:lnSpc>
                <a:spcPct val="100000"/>
              </a:lnSpc>
              <a:spcBef>
                <a:spcPts val="580"/>
              </a:spcBef>
              <a:buSzPct val="90909"/>
              <a:buFont typeface="Symbol"/>
              <a:buChar char=""/>
              <a:tabLst>
                <a:tab pos="697865" algn="l"/>
                <a:tab pos="698500" algn="l"/>
              </a:tabLst>
            </a:pPr>
            <a:r>
              <a:rPr dirty="0" sz="1100" spc="-5">
                <a:latin typeface="Times New Roman"/>
                <a:cs typeface="Times New Roman"/>
              </a:rPr>
              <a:t>Joanne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John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moved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mountains,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build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cabin.</a:t>
            </a:r>
            <a:endParaRPr sz="1100">
              <a:latin typeface="Times New Roman"/>
              <a:cs typeface="Times New Roman"/>
            </a:endParaRPr>
          </a:p>
          <a:p>
            <a:pPr marL="698500" indent="-229235">
              <a:lnSpc>
                <a:spcPct val="100000"/>
              </a:lnSpc>
              <a:spcBef>
                <a:spcPts val="575"/>
              </a:spcBef>
              <a:buSzPct val="90909"/>
              <a:buFont typeface="Symbol"/>
              <a:buChar char=""/>
              <a:tabLst>
                <a:tab pos="697865" algn="l"/>
                <a:tab pos="698500" algn="l"/>
              </a:tabLst>
            </a:pPr>
            <a:r>
              <a:rPr dirty="0" sz="1100" spc="-5">
                <a:latin typeface="Times New Roman"/>
                <a:cs typeface="Times New Roman"/>
              </a:rPr>
              <a:t>Either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Aroma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Viola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should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receive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first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prize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sculpture.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84584" y="8236714"/>
            <a:ext cx="32829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G3-b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541577" y="8236714"/>
            <a:ext cx="192532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Make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pronoun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references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clear.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541780" y="8486337"/>
            <a:ext cx="4922520" cy="987425"/>
          </a:xfrm>
          <a:prstGeom prst="rect">
            <a:avLst/>
          </a:prstGeom>
        </p:spPr>
        <p:txBody>
          <a:bodyPr wrap="square" lIns="0" tIns="850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dirty="0" sz="1100" spc="-10" b="1">
                <a:latin typeface="Times New Roman"/>
                <a:cs typeface="Times New Roman"/>
              </a:rPr>
              <a:t>Ambiguous </a:t>
            </a:r>
            <a:r>
              <a:rPr dirty="0" sz="1100" spc="-5" b="1">
                <a:latin typeface="Times New Roman"/>
                <a:cs typeface="Times New Roman"/>
              </a:rPr>
              <a:t>references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dirty="0" sz="1100" spc="-5">
                <a:latin typeface="Times New Roman"/>
                <a:cs typeface="Times New Roman"/>
              </a:rPr>
              <a:t>Ambiguous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reference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occurs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pronoun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could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refer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possible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antecedents.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SzPct val="90909"/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When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Gloria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pitcher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glass-topped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table</a:t>
            </a:r>
            <a:r>
              <a:rPr dirty="0" sz="1100" spc="-5">
                <a:latin typeface="Times New Roman"/>
                <a:cs typeface="Times New Roman"/>
              </a:rPr>
              <a:t>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it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broke.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(What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broke?)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SzPct val="90909"/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Tom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told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James</a:t>
            </a:r>
            <a:r>
              <a:rPr dirty="0" sz="1100" spc="-5">
                <a:latin typeface="Times New Roman"/>
                <a:cs typeface="Times New Roman"/>
              </a:rPr>
              <a:t>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he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lottery.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(Who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won?)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84111" y="342390"/>
            <a:ext cx="22669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788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10019" y="9493248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52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400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27380" y="342390"/>
            <a:ext cx="2985135" cy="8591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 Elementary</a:t>
            </a:r>
            <a:r>
              <a:rPr dirty="0" sz="1100" spc="5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 marR="5080">
              <a:lnSpc>
                <a:spcPct val="143600"/>
              </a:lnSpc>
              <a:tabLst>
                <a:tab pos="469265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G1-c	Use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personal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pronouns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in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proper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case. </a:t>
            </a:r>
            <a:r>
              <a:rPr dirty="0" sz="1100" spc="-26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Subjective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case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(I,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we,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you,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he,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she,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it,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they)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257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27370" y="1174959"/>
            <a:ext cx="6060440" cy="6612255"/>
          </a:xfrm>
          <a:prstGeom prst="rect">
            <a:avLst/>
          </a:prstGeom>
        </p:spPr>
        <p:txBody>
          <a:bodyPr wrap="square" lIns="0" tIns="86360" rIns="0" bIns="0" rtlCol="0" vert="horz">
            <a:spAutoFit/>
          </a:bodyPr>
          <a:lstStyle/>
          <a:p>
            <a:pPr marL="698500" indent="-229235">
              <a:lnSpc>
                <a:spcPct val="100000"/>
              </a:lnSpc>
              <a:spcBef>
                <a:spcPts val="680"/>
              </a:spcBef>
              <a:buSzPct val="90909"/>
              <a:buFont typeface="Symbol"/>
              <a:buChar char=""/>
              <a:tabLst>
                <a:tab pos="697865" algn="l"/>
                <a:tab pos="699135" algn="l"/>
              </a:tabLst>
            </a:pPr>
            <a:r>
              <a:rPr dirty="0" sz="1100" spc="-5">
                <a:latin typeface="Times New Roman"/>
                <a:cs typeface="Times New Roman"/>
              </a:rPr>
              <a:t>Sandra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confessed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artist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she.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dirty="0" sz="1100" spc="-5" b="1">
                <a:latin typeface="Times New Roman"/>
                <a:cs typeface="Times New Roman"/>
              </a:rPr>
              <a:t>Objective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case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(me,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us,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you,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him,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her,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it,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them)</a:t>
            </a:r>
            <a:endParaRPr sz="1100">
              <a:latin typeface="Times New Roman"/>
              <a:cs typeface="Times New Roman"/>
            </a:endParaRPr>
          </a:p>
          <a:p>
            <a:pPr marL="698500" indent="-229235">
              <a:lnSpc>
                <a:spcPct val="100000"/>
              </a:lnSpc>
              <a:spcBef>
                <a:spcPts val="570"/>
              </a:spcBef>
              <a:buSzPct val="90909"/>
              <a:buFont typeface="Symbol"/>
              <a:buChar char=""/>
              <a:tabLst>
                <a:tab pos="697865" algn="l"/>
                <a:tab pos="699135" algn="l"/>
              </a:tabLst>
            </a:pPr>
            <a:r>
              <a:rPr dirty="0" sz="1100" spc="-5">
                <a:latin typeface="Times New Roman"/>
                <a:cs typeface="Times New Roman"/>
              </a:rPr>
              <a:t>Bruce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found Tony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brought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him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home.</a:t>
            </a:r>
            <a:endParaRPr sz="1100">
              <a:latin typeface="Times New Roman"/>
              <a:cs typeface="Times New Roman"/>
            </a:endParaRPr>
          </a:p>
          <a:p>
            <a:pPr marL="698500" indent="-229235">
              <a:lnSpc>
                <a:spcPct val="100000"/>
              </a:lnSpc>
              <a:spcBef>
                <a:spcPts val="575"/>
              </a:spcBef>
              <a:buSzPct val="90909"/>
              <a:buFont typeface="Symbol"/>
              <a:buChar char=""/>
              <a:tabLst>
                <a:tab pos="697865" algn="l"/>
                <a:tab pos="699135" algn="l"/>
              </a:tabLst>
            </a:pPr>
            <a:r>
              <a:rPr dirty="0" sz="1100" spc="-5">
                <a:latin typeface="Times New Roman"/>
                <a:cs typeface="Times New Roman"/>
              </a:rPr>
              <a:t>Alice gave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 surprise</a:t>
            </a:r>
            <a:r>
              <a:rPr dirty="0" sz="1100">
                <a:latin typeface="Times New Roman"/>
                <a:cs typeface="Times New Roman"/>
              </a:rPr>
              <a:t> party.</a:t>
            </a:r>
            <a:endParaRPr sz="1100">
              <a:latin typeface="Times New Roman"/>
              <a:cs typeface="Times New Roman"/>
            </a:endParaRPr>
          </a:p>
          <a:p>
            <a:pPr marL="698500" indent="-229235">
              <a:lnSpc>
                <a:spcPct val="100000"/>
              </a:lnSpc>
              <a:spcBef>
                <a:spcPts val="580"/>
              </a:spcBef>
              <a:buSzPct val="90909"/>
              <a:buFont typeface="Symbol"/>
              <a:buChar char=""/>
              <a:tabLst>
                <a:tab pos="697865" algn="l"/>
                <a:tab pos="699135" algn="l"/>
              </a:tabLst>
            </a:pPr>
            <a:r>
              <a:rPr dirty="0" sz="1100" spc="-5">
                <a:latin typeface="Times New Roman"/>
                <a:cs typeface="Times New Roman"/>
              </a:rPr>
              <a:t>Jessica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wondered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call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her.</a:t>
            </a:r>
            <a:endParaRPr sz="1100">
              <a:latin typeface="Times New Roman"/>
              <a:cs typeface="Times New Roman"/>
            </a:endParaRPr>
          </a:p>
          <a:p>
            <a:pPr marL="698500" indent="-229235">
              <a:lnSpc>
                <a:spcPct val="100000"/>
              </a:lnSpc>
              <a:spcBef>
                <a:spcPts val="575"/>
              </a:spcBef>
              <a:buSzPct val="90909"/>
              <a:buFont typeface="Symbol"/>
              <a:buChar char=""/>
              <a:tabLst>
                <a:tab pos="697865" algn="l"/>
                <a:tab pos="699135" algn="l"/>
              </a:tabLst>
            </a:pPr>
            <a:r>
              <a:rPr dirty="0" sz="1100" spc="-5">
                <a:latin typeface="Times New Roman"/>
                <a:cs typeface="Times New Roman"/>
              </a:rPr>
              <a:t>Joel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ran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away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from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home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because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stepfather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(him)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quarrelled.</a:t>
            </a:r>
            <a:endParaRPr sz="1100">
              <a:latin typeface="Times New Roman"/>
              <a:cs typeface="Times New Roman"/>
            </a:endParaRPr>
          </a:p>
          <a:p>
            <a:pPr marL="698500" indent="-229235">
              <a:lnSpc>
                <a:spcPct val="100000"/>
              </a:lnSpc>
              <a:spcBef>
                <a:spcPts val="580"/>
              </a:spcBef>
              <a:buSzPct val="90909"/>
              <a:buFont typeface="Symbol"/>
              <a:buChar char=""/>
              <a:tabLst>
                <a:tab pos="697865" algn="l"/>
                <a:tab pos="699135" algn="l"/>
              </a:tabLst>
            </a:pPr>
            <a:r>
              <a:rPr dirty="0" sz="1100" spc="-5">
                <a:latin typeface="Times New Roman"/>
                <a:cs typeface="Times New Roman"/>
              </a:rPr>
              <a:t>Geoffrey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went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my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family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(not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I)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King’s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Dominion.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dirty="0" sz="1100" spc="-5" b="1">
                <a:latin typeface="Times New Roman"/>
                <a:cs typeface="Times New Roman"/>
              </a:rPr>
              <a:t>Appositives</a:t>
            </a:r>
            <a:endParaRPr sz="1100">
              <a:latin typeface="Times New Roman"/>
              <a:cs typeface="Times New Roman"/>
            </a:endParaRPr>
          </a:p>
          <a:p>
            <a:pPr marL="698500" marR="5080" indent="-228600">
              <a:lnSpc>
                <a:spcPts val="1900"/>
              </a:lnSpc>
              <a:spcBef>
                <a:spcPts val="150"/>
              </a:spcBef>
              <a:buSzPct val="90909"/>
              <a:buFont typeface="Symbol"/>
              <a:buChar char=""/>
              <a:tabLst>
                <a:tab pos="697865" algn="l"/>
                <a:tab pos="699135" algn="l"/>
              </a:tabLst>
            </a:pPr>
            <a:r>
              <a:rPr dirty="0" sz="1100" spc="-5">
                <a:latin typeface="Times New Roman"/>
                <a:cs typeface="Times New Roman"/>
              </a:rPr>
              <a:t>At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drama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festival,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actors,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Christina</a:t>
            </a:r>
            <a:r>
              <a:rPr dirty="0" sz="1100" spc="6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and</a:t>
            </a:r>
            <a:r>
              <a:rPr dirty="0" sz="1100" spc="6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</a:t>
            </a:r>
            <a:r>
              <a:rPr dirty="0" sz="1100" spc="5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(not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me),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were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selected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last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scene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 King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Lear.</a:t>
            </a:r>
            <a:endParaRPr sz="1100">
              <a:latin typeface="Times New Roman"/>
              <a:cs typeface="Times New Roman"/>
            </a:endParaRPr>
          </a:p>
          <a:p>
            <a:pPr marL="698500" indent="-229235">
              <a:lnSpc>
                <a:spcPct val="100000"/>
              </a:lnSpc>
              <a:spcBef>
                <a:spcPts val="420"/>
              </a:spcBef>
              <a:buSzPct val="90909"/>
              <a:buFont typeface="Symbol"/>
              <a:buChar char=""/>
              <a:tabLst>
                <a:tab pos="697865" algn="l"/>
                <a:tab pos="699135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reporter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interviewed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only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witnesses,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shopkeeper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(not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I).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Symbol"/>
              <a:buChar char=""/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We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or us before a noun</a:t>
            </a:r>
            <a:endParaRPr sz="1100">
              <a:latin typeface="Times New Roman"/>
              <a:cs typeface="Times New Roman"/>
            </a:endParaRPr>
          </a:p>
          <a:p>
            <a:pPr marL="698500" indent="-229235">
              <a:lnSpc>
                <a:spcPct val="100000"/>
              </a:lnSpc>
              <a:spcBef>
                <a:spcPts val="570"/>
              </a:spcBef>
              <a:buSzPct val="90909"/>
              <a:buFont typeface="Symbol"/>
              <a:buChar char=""/>
              <a:tabLst>
                <a:tab pos="697865" algn="l"/>
                <a:tab pos="699135" algn="l"/>
              </a:tabLst>
            </a:pP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(not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us)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tenants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would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rather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fight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move.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Symbol"/>
              <a:buChar char=""/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Comparisons with,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than or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as</a:t>
            </a:r>
            <a:endParaRPr sz="1100">
              <a:latin typeface="Times New Roman"/>
              <a:cs typeface="Times New Roman"/>
            </a:endParaRPr>
          </a:p>
          <a:p>
            <a:pPr marL="698500" indent="-229235">
              <a:lnSpc>
                <a:spcPct val="100000"/>
              </a:lnSpc>
              <a:spcBef>
                <a:spcPts val="570"/>
              </a:spcBef>
              <a:buSzPct val="90909"/>
              <a:buFont typeface="Symbol"/>
              <a:buChar char=""/>
              <a:tabLst>
                <a:tab pos="697865" algn="l"/>
                <a:tab pos="699135" algn="l"/>
              </a:tabLst>
            </a:pPr>
            <a:r>
              <a:rPr dirty="0" sz="1100" spc="-5">
                <a:latin typeface="Times New Roman"/>
                <a:cs typeface="Times New Roman"/>
              </a:rPr>
              <a:t>My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husband is six</a:t>
            </a:r>
            <a:r>
              <a:rPr dirty="0" sz="1100">
                <a:latin typeface="Times New Roman"/>
                <a:cs typeface="Times New Roman"/>
              </a:rPr>
              <a:t> years </a:t>
            </a:r>
            <a:r>
              <a:rPr dirty="0" sz="1100" spc="-5">
                <a:latin typeface="Times New Roman"/>
                <a:cs typeface="Times New Roman"/>
              </a:rPr>
              <a:t>older </a:t>
            </a:r>
            <a:r>
              <a:rPr dirty="0" sz="1100" spc="-5" b="1">
                <a:latin typeface="Times New Roman"/>
                <a:cs typeface="Times New Roman"/>
              </a:rPr>
              <a:t>than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(not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me).</a:t>
            </a:r>
            <a:endParaRPr sz="1100">
              <a:latin typeface="Times New Roman"/>
              <a:cs typeface="Times New Roman"/>
            </a:endParaRPr>
          </a:p>
          <a:p>
            <a:pPr marL="698500" indent="-229235">
              <a:lnSpc>
                <a:spcPct val="100000"/>
              </a:lnSpc>
              <a:spcBef>
                <a:spcPts val="580"/>
              </a:spcBef>
              <a:buSzPct val="90909"/>
              <a:buFont typeface="Symbol"/>
              <a:buChar char=""/>
              <a:tabLst>
                <a:tab pos="697865" algn="l"/>
                <a:tab pos="699135" algn="l"/>
              </a:tabLst>
            </a:pP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respected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candidate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much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(not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she).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Symbol"/>
              <a:buChar char=""/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Subjects of infinitives</a:t>
            </a:r>
            <a:endParaRPr sz="1100">
              <a:latin typeface="Times New Roman"/>
              <a:cs typeface="Times New Roman"/>
            </a:endParaRPr>
          </a:p>
          <a:p>
            <a:pPr marL="698500" indent="-229235">
              <a:lnSpc>
                <a:spcPct val="100000"/>
              </a:lnSpc>
              <a:spcBef>
                <a:spcPts val="570"/>
              </a:spcBef>
              <a:buSzPct val="90909"/>
              <a:buFont typeface="Symbol"/>
              <a:buChar char=""/>
              <a:tabLst>
                <a:tab pos="697865" algn="l"/>
                <a:tab pos="699135" algn="l"/>
              </a:tabLst>
            </a:pP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expected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Chris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him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(not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he)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doubles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championship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Symbol"/>
              <a:buChar char=""/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spc="-5" b="1">
                <a:latin typeface="Times New Roman"/>
                <a:cs typeface="Times New Roman"/>
              </a:rPr>
              <a:t>Possessive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case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to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modify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gerund</a:t>
            </a:r>
            <a:endParaRPr sz="1100">
              <a:latin typeface="Times New Roman"/>
              <a:cs typeface="Times New Roman"/>
            </a:endParaRPr>
          </a:p>
          <a:p>
            <a:pPr marL="698500" indent="-229235">
              <a:lnSpc>
                <a:spcPct val="100000"/>
              </a:lnSpc>
              <a:spcBef>
                <a:spcPts val="565"/>
              </a:spcBef>
              <a:buSzPct val="90909"/>
              <a:buFont typeface="Symbol"/>
              <a:buChar char=""/>
              <a:tabLst>
                <a:tab pos="697865" algn="l"/>
                <a:tab pos="699135" algn="l"/>
              </a:tabLst>
            </a:pPr>
            <a:r>
              <a:rPr dirty="0" sz="1100" spc="-5">
                <a:latin typeface="Times New Roman"/>
                <a:cs typeface="Times New Roman"/>
              </a:rPr>
              <a:t>My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father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mother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always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tolerated </a:t>
            </a:r>
            <a:r>
              <a:rPr dirty="0" sz="1100" spc="-5" b="1">
                <a:latin typeface="Times New Roman"/>
                <a:cs typeface="Times New Roman"/>
              </a:rPr>
              <a:t>our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(not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us)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talking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after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lights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were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out.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Symbol"/>
              <a:buChar char=""/>
            </a:pPr>
            <a:endParaRPr sz="1050">
              <a:latin typeface="Times New Roman"/>
              <a:cs typeface="Times New Roman"/>
            </a:endParaRPr>
          </a:p>
          <a:p>
            <a:pPr marL="12700" marR="3286760">
              <a:lnSpc>
                <a:spcPct val="144100"/>
              </a:lnSpc>
              <a:tabLst>
                <a:tab pos="469265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G3-d	Use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who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and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whom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in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proper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case</a:t>
            </a:r>
            <a:r>
              <a:rPr dirty="0" sz="1100" spc="-5">
                <a:latin typeface="Times New Roman"/>
                <a:cs typeface="Times New Roman"/>
              </a:rPr>
              <a:t>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In subordinate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clauses</a:t>
            </a:r>
            <a:endParaRPr sz="1100">
              <a:latin typeface="Times New Roman"/>
              <a:cs typeface="Times New Roman"/>
            </a:endParaRPr>
          </a:p>
          <a:p>
            <a:pPr marL="698500" indent="-229235">
              <a:lnSpc>
                <a:spcPct val="100000"/>
              </a:lnSpc>
              <a:spcBef>
                <a:spcPts val="575"/>
              </a:spcBef>
              <a:buSzPct val="90909"/>
              <a:buFont typeface="Symbol"/>
              <a:buChar char=""/>
              <a:tabLst>
                <a:tab pos="697865" algn="l"/>
                <a:tab pos="699135" algn="l"/>
              </a:tabLst>
            </a:pPr>
            <a:r>
              <a:rPr dirty="0" sz="1100" spc="-5">
                <a:latin typeface="Times New Roman"/>
                <a:cs typeface="Times New Roman"/>
              </a:rPr>
              <a:t>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tells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story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whoever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(not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whomever)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listen.</a:t>
            </a:r>
            <a:endParaRPr sz="1100">
              <a:latin typeface="Times New Roman"/>
              <a:cs typeface="Times New Roman"/>
            </a:endParaRPr>
          </a:p>
          <a:p>
            <a:pPr marL="698500" indent="-229235">
              <a:lnSpc>
                <a:spcPct val="100000"/>
              </a:lnSpc>
              <a:spcBef>
                <a:spcPts val="575"/>
              </a:spcBef>
              <a:buSzPct val="90909"/>
              <a:buFont typeface="Symbol"/>
              <a:buChar char=""/>
              <a:tabLst>
                <a:tab pos="697865" algn="l"/>
                <a:tab pos="699135" algn="l"/>
              </a:tabLst>
            </a:pP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work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senior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engineers,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whom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(not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who)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meet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later.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7384" y="7995921"/>
            <a:ext cx="75120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In</a:t>
            </a:r>
            <a:r>
              <a:rPr dirty="0" sz="1100" spc="-4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questions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84580" y="8083245"/>
            <a:ext cx="3358515" cy="50736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675"/>
              </a:spcBef>
              <a:buSzPct val="90909"/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Who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(not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whom)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responsible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dastardly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deed?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SzPct val="90909"/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Whom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(not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who)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committee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select?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7384" y="8959851"/>
            <a:ext cx="489648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Source: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Hacker,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Dianna.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‘A</a:t>
            </a:r>
            <a:r>
              <a:rPr dirty="0" sz="1100" spc="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Writer’s</a:t>
            </a:r>
            <a:r>
              <a:rPr dirty="0" sz="1100" spc="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Reference’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Boston:</a:t>
            </a:r>
            <a:r>
              <a:rPr dirty="0" sz="1100" spc="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St.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Martin’s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Press.</a:t>
            </a:r>
            <a:r>
              <a:rPr dirty="0" sz="1100" spc="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1992.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4580" y="342390"/>
            <a:ext cx="174498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 Elementary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41311" y="342390"/>
            <a:ext cx="22669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360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67219" y="9493248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53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972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829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084581" y="526034"/>
            <a:ext cx="6060440" cy="16383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196840">
              <a:lnSpc>
                <a:spcPct val="100000"/>
              </a:lnSpc>
              <a:spcBef>
                <a:spcPts val="95"/>
              </a:spcBef>
            </a:pP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LECTURE</a:t>
            </a:r>
            <a:r>
              <a:rPr dirty="0" u="heavy" sz="1100" spc="-4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16</a:t>
            </a:r>
            <a:endParaRPr sz="1100">
              <a:latin typeface="Times New Roman"/>
              <a:cs typeface="Times New Roman"/>
            </a:endParaRPr>
          </a:p>
          <a:p>
            <a:pPr marL="12700" marR="1687195" indent="1682114">
              <a:lnSpc>
                <a:spcPct val="191400"/>
              </a:lnSpc>
              <a:spcBef>
                <a:spcPts val="5"/>
              </a:spcBef>
            </a:pP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GRAMMATICAL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SENTENCE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–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ISSUES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II </a:t>
            </a:r>
            <a:r>
              <a:rPr dirty="0" sz="1100" spc="-260" b="1"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ADJECTIVES AND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ADVERBS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469265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G4-a	Use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adverbs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not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adjectives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as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subject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complements</a:t>
            </a:r>
            <a:endParaRPr sz="1100">
              <a:latin typeface="Times New Roman"/>
              <a:cs typeface="Times New Roman"/>
            </a:endParaRPr>
          </a:p>
          <a:p>
            <a:pPr marL="698500" indent="-229235">
              <a:lnSpc>
                <a:spcPct val="100000"/>
              </a:lnSpc>
              <a:spcBef>
                <a:spcPts val="570"/>
              </a:spcBef>
              <a:buSzPct val="90909"/>
              <a:buFont typeface="Symbol"/>
              <a:buChar char=""/>
              <a:tabLst>
                <a:tab pos="697865" algn="l"/>
                <a:tab pos="6985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arrangement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worked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10" b="1">
                <a:latin typeface="Times New Roman"/>
                <a:cs typeface="Times New Roman"/>
              </a:rPr>
              <a:t>perfectly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everyone.</a:t>
            </a:r>
            <a:endParaRPr sz="1100">
              <a:latin typeface="Times New Roman"/>
              <a:cs typeface="Times New Roman"/>
            </a:endParaRPr>
          </a:p>
          <a:p>
            <a:pPr marL="698500" indent="-229235">
              <a:lnSpc>
                <a:spcPct val="100000"/>
              </a:lnSpc>
              <a:spcBef>
                <a:spcPts val="575"/>
              </a:spcBef>
              <a:buSzPct val="90909"/>
              <a:buFont typeface="Symbol"/>
              <a:buChar char=""/>
              <a:tabLst>
                <a:tab pos="697865" algn="l"/>
                <a:tab pos="698500" algn="l"/>
              </a:tabLst>
            </a:pPr>
            <a:r>
              <a:rPr dirty="0" sz="1100" spc="-5">
                <a:latin typeface="Times New Roman"/>
                <a:cs typeface="Times New Roman"/>
              </a:rPr>
              <a:t>I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surprised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hear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Louise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done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well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84584" y="2373877"/>
            <a:ext cx="32829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G4-b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41786" y="2373877"/>
            <a:ext cx="304355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Use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adjectives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not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adverbs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as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subject</a:t>
            </a:r>
            <a:r>
              <a:rPr dirty="0" sz="1100" spc="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complements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84570" y="2541220"/>
            <a:ext cx="4776470" cy="115062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698500" indent="-229235">
              <a:lnSpc>
                <a:spcPct val="100000"/>
              </a:lnSpc>
              <a:spcBef>
                <a:spcPts val="675"/>
              </a:spcBef>
              <a:buSzPct val="90909"/>
              <a:buFont typeface="Symbol"/>
              <a:buChar char=""/>
              <a:tabLst>
                <a:tab pos="697865" algn="l"/>
                <a:tab pos="699135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lilacs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backyard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smell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especially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sweet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(not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sweetly)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year.</a:t>
            </a:r>
            <a:endParaRPr sz="1100">
              <a:latin typeface="Times New Roman"/>
              <a:cs typeface="Times New Roman"/>
            </a:endParaRPr>
          </a:p>
          <a:p>
            <a:pPr marL="698500" indent="-229235">
              <a:lnSpc>
                <a:spcPct val="100000"/>
              </a:lnSpc>
              <a:spcBef>
                <a:spcPts val="575"/>
              </a:spcBef>
              <a:buSzPct val="90909"/>
              <a:buFont typeface="Symbol"/>
              <a:buChar char=""/>
              <a:tabLst>
                <a:tab pos="697865" algn="l"/>
                <a:tab pos="699135" algn="l"/>
              </a:tabLst>
            </a:pPr>
            <a:r>
              <a:rPr dirty="0" sz="1100" spc="-5">
                <a:latin typeface="Times New Roman"/>
                <a:cs typeface="Times New Roman"/>
              </a:rPr>
              <a:t>Sarmad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looked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good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new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raincoat.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 marR="1649730">
              <a:lnSpc>
                <a:spcPct val="143600"/>
              </a:lnSpc>
              <a:tabLst>
                <a:tab pos="469265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G4-c	Use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comparatives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and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superlatives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with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care </a:t>
            </a:r>
            <a:r>
              <a:rPr dirty="0" sz="1100" spc="-26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Comparative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versus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superlative</a:t>
            </a:r>
            <a:endParaRPr sz="1100">
              <a:latin typeface="Times New Roman"/>
              <a:cs typeface="Times New Roman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1065520" y="3767271"/>
          <a:ext cx="3957320" cy="1358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9325"/>
                <a:gridCol w="1758314"/>
                <a:gridCol w="1247775"/>
              </a:tblGrid>
              <a:tr h="197616">
                <a:tc>
                  <a:txBody>
                    <a:bodyPr/>
                    <a:lstStyle/>
                    <a:p>
                      <a:pPr marL="31750">
                        <a:lnSpc>
                          <a:spcPts val="1200"/>
                        </a:lnSpc>
                      </a:pPr>
                      <a:r>
                        <a:rPr dirty="0" u="heavy" sz="1100" spc="-5" b="1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Positive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53390">
                        <a:lnSpc>
                          <a:spcPts val="1200"/>
                        </a:lnSpc>
                      </a:pPr>
                      <a:r>
                        <a:rPr dirty="0" u="heavy" sz="1100" spc="-5" b="1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Comparative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21334">
                        <a:lnSpc>
                          <a:spcPts val="1200"/>
                        </a:lnSpc>
                      </a:pPr>
                      <a:r>
                        <a:rPr dirty="0" u="heavy" sz="1100" spc="-5" b="1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Superlative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40788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Soft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305"/>
                </a:tc>
                <a:tc>
                  <a:txBody>
                    <a:bodyPr/>
                    <a:lstStyle/>
                    <a:p>
                      <a:pPr marL="45275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softer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305"/>
                </a:tc>
                <a:tc>
                  <a:txBody>
                    <a:bodyPr/>
                    <a:lstStyle/>
                    <a:p>
                      <a:pPr marL="52260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softest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305"/>
                </a:tc>
              </a:tr>
              <a:tr h="24079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Careful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305"/>
                </a:tc>
                <a:tc>
                  <a:txBody>
                    <a:bodyPr/>
                    <a:lstStyle/>
                    <a:p>
                      <a:pPr marL="451484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more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careful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305"/>
                </a:tc>
                <a:tc>
                  <a:txBody>
                    <a:bodyPr/>
                    <a:lstStyle/>
                    <a:p>
                      <a:pPr marL="52197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most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careful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305"/>
                </a:tc>
              </a:tr>
              <a:tr h="24079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Easy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305"/>
                </a:tc>
                <a:tc>
                  <a:txBody>
                    <a:bodyPr/>
                    <a:lstStyle/>
                    <a:p>
                      <a:pPr marL="45339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easier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305"/>
                </a:tc>
                <a:tc>
                  <a:txBody>
                    <a:bodyPr/>
                    <a:lstStyle/>
                    <a:p>
                      <a:pPr marL="52324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easiest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305"/>
                </a:tc>
              </a:tr>
              <a:tr h="24079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Good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305"/>
                </a:tc>
                <a:tc>
                  <a:txBody>
                    <a:bodyPr/>
                    <a:lstStyle/>
                    <a:p>
                      <a:pPr marL="45275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better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305"/>
                </a:tc>
                <a:tc>
                  <a:txBody>
                    <a:bodyPr/>
                    <a:lstStyle/>
                    <a:p>
                      <a:pPr marL="52324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best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305"/>
                </a:tc>
              </a:tr>
              <a:tr h="197610">
                <a:tc>
                  <a:txBody>
                    <a:bodyPr/>
                    <a:lstStyle/>
                    <a:p>
                      <a:pPr marL="31750">
                        <a:lnSpc>
                          <a:spcPts val="1240"/>
                        </a:lnSpc>
                        <a:spcBef>
                          <a:spcPts val="2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Bad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305"/>
                </a:tc>
                <a:tc>
                  <a:txBody>
                    <a:bodyPr/>
                    <a:lstStyle/>
                    <a:p>
                      <a:pPr marL="453390">
                        <a:lnSpc>
                          <a:spcPts val="1240"/>
                        </a:lnSpc>
                        <a:spcBef>
                          <a:spcPts val="2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worse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305"/>
                </a:tc>
                <a:tc>
                  <a:txBody>
                    <a:bodyPr/>
                    <a:lstStyle/>
                    <a:p>
                      <a:pPr marL="523240">
                        <a:lnSpc>
                          <a:spcPts val="1240"/>
                        </a:lnSpc>
                        <a:spcBef>
                          <a:spcPts val="21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worst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305"/>
                </a:tc>
              </a:tr>
            </a:tbl>
          </a:graphicData>
        </a:graphic>
      </p:graphicFrame>
      <p:sp>
        <p:nvSpPr>
          <p:cNvPr id="13" name="object 13"/>
          <p:cNvSpPr txBox="1"/>
          <p:nvPr/>
        </p:nvSpPr>
        <p:spPr>
          <a:xfrm>
            <a:off x="1541780" y="5352237"/>
            <a:ext cx="5603240" cy="74803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675"/>
              </a:spcBef>
              <a:buSzPct val="90909"/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two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brands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toothpaste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 b="1">
                <a:latin typeface="Times New Roman"/>
                <a:cs typeface="Times New Roman"/>
              </a:rPr>
              <a:t>better</a:t>
            </a:r>
            <a:r>
              <a:rPr dirty="0" sz="1100" spc="-10">
                <a:latin typeface="Times New Roman"/>
                <a:cs typeface="Times New Roman"/>
              </a:rPr>
              <a:t>?</a:t>
            </a:r>
            <a:endParaRPr sz="1100">
              <a:latin typeface="Times New Roman"/>
              <a:cs typeface="Times New Roman"/>
            </a:endParaRPr>
          </a:p>
          <a:p>
            <a:pPr marL="240665" marR="5080" indent="-228600">
              <a:lnSpc>
                <a:spcPct val="143600"/>
              </a:lnSpc>
              <a:buSzPct val="90909"/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Though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Shaw</a:t>
            </a:r>
            <a:r>
              <a:rPr dirty="0" sz="1100" spc="12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Jackson</a:t>
            </a:r>
            <a:r>
              <a:rPr dirty="0" sz="1100" spc="12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impressive,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Hobbs</a:t>
            </a:r>
            <a:r>
              <a:rPr dirty="0" sz="1100" spc="12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</a:t>
            </a:r>
            <a:r>
              <a:rPr dirty="0" sz="1100" spc="1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most</a:t>
            </a:r>
            <a:r>
              <a:rPr dirty="0" sz="1100" spc="12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qualified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three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candidates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running for mayor.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84570" y="6148829"/>
            <a:ext cx="238823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Form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of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comparatives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and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superlatives.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41780" y="6234632"/>
            <a:ext cx="3807460" cy="508634"/>
          </a:xfrm>
          <a:prstGeom prst="rect">
            <a:avLst/>
          </a:prstGeom>
        </p:spPr>
        <p:txBody>
          <a:bodyPr wrap="square" lIns="0" tIns="8636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680"/>
              </a:spcBef>
              <a:buSzPct val="90909"/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Kirov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super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best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ballet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company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seen.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85"/>
              </a:spcBef>
              <a:buSzPct val="90909"/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Lolyd’s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luck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couldn’t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been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worse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David’s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84570" y="6791200"/>
            <a:ext cx="220154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Double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comparatives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or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superlatives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41780" y="6878520"/>
            <a:ext cx="4401820" cy="50736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675"/>
              </a:spcBef>
              <a:buSzPct val="90909"/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family,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Julia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happiest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(not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most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happiest)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move.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SzPct val="90909"/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most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vile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(not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vilest)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most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vilest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joke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heard.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84584" y="7433567"/>
            <a:ext cx="109982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Absolute</a:t>
            </a:r>
            <a:r>
              <a:rPr dirty="0" sz="1100" spc="-3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concepts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41780" y="7520886"/>
            <a:ext cx="4705350" cy="50736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675"/>
              </a:spcBef>
              <a:buSzPct val="90909"/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unique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(not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most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unique)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wedding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grown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seen.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SzPct val="90909"/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painting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would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been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priceless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(not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priceless)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been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signed.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84584" y="8237481"/>
            <a:ext cx="32829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G4-d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42023" y="8237481"/>
            <a:ext cx="144208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Avoid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double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negatives.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541780" y="8403282"/>
            <a:ext cx="4828540" cy="508634"/>
          </a:xfrm>
          <a:prstGeom prst="rect">
            <a:avLst/>
          </a:prstGeom>
        </p:spPr>
        <p:txBody>
          <a:bodyPr wrap="square" lIns="0" tIns="8636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680"/>
              </a:spcBef>
              <a:buSzPct val="90909"/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Management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anything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(not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nothing)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trash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picked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up.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85"/>
              </a:spcBef>
              <a:buSzPct val="90909"/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George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never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(not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won’t </a:t>
            </a:r>
            <a:r>
              <a:rPr dirty="0" sz="1100" spc="-5">
                <a:latin typeface="Times New Roman"/>
                <a:cs typeface="Times New Roman"/>
              </a:rPr>
              <a:t>never)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forget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day.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7380" y="342390"/>
            <a:ext cx="174498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 Elementary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84111" y="342390"/>
            <a:ext cx="22669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788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10019" y="9493248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54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400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257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27377" y="686815"/>
            <a:ext cx="6061710" cy="24415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SENTENCE</a:t>
            </a:r>
            <a:r>
              <a:rPr dirty="0" u="heavy" sz="1100" spc="-3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FRAGMENTS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469265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G5-a	Attach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fragmented</a:t>
            </a:r>
            <a:r>
              <a:rPr dirty="0" sz="1100" spc="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subordinate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clause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or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turn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them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into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sentences.</a:t>
            </a:r>
            <a:endParaRPr sz="1100">
              <a:latin typeface="Times New Roman"/>
              <a:cs typeface="Times New Roman"/>
            </a:endParaRPr>
          </a:p>
          <a:p>
            <a:pPr marL="698500" marR="5715" indent="-228600">
              <a:lnSpc>
                <a:spcPct val="143600"/>
              </a:lnSpc>
              <a:buSzPct val="90909"/>
              <a:buFont typeface="Symbol"/>
              <a:buChar char=""/>
              <a:tabLst>
                <a:tab pos="697865" algn="l"/>
                <a:tab pos="698500" algn="l"/>
              </a:tabLst>
            </a:pPr>
            <a:r>
              <a:rPr dirty="0" sz="1100" spc="-5" i="1">
                <a:latin typeface="Times New Roman"/>
                <a:cs typeface="Times New Roman"/>
              </a:rPr>
              <a:t>Before:</a:t>
            </a:r>
            <a:r>
              <a:rPr dirty="0" sz="1100" spc="250" i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Jane</a:t>
            </a:r>
            <a:r>
              <a:rPr dirty="0" sz="1100" spc="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promises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 address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problem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limited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parking</a:t>
            </a:r>
            <a:r>
              <a:rPr dirty="0" sz="1100" spc="-5" b="1">
                <a:latin typeface="Times New Roman"/>
                <a:cs typeface="Times New Roman"/>
              </a:rPr>
              <a:t>.</a:t>
            </a:r>
            <a:r>
              <a:rPr dirty="0" sz="1100" spc="25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If</a:t>
            </a:r>
            <a:r>
              <a:rPr dirty="0" sz="1100" spc="254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she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elected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tenants’ council.</a:t>
            </a:r>
            <a:endParaRPr sz="1100">
              <a:latin typeface="Times New Roman"/>
              <a:cs typeface="Times New Roman"/>
            </a:endParaRPr>
          </a:p>
          <a:p>
            <a:pPr marL="698500" marR="6985" indent="-228600">
              <a:lnSpc>
                <a:spcPct val="143600"/>
              </a:lnSpc>
              <a:buSzPct val="90909"/>
              <a:buFont typeface="Symbol"/>
              <a:buChar char=""/>
              <a:tabLst>
                <a:tab pos="697865" algn="l"/>
                <a:tab pos="698500" algn="l"/>
              </a:tabLst>
            </a:pPr>
            <a:r>
              <a:rPr dirty="0" sz="1100" spc="-5" i="1">
                <a:latin typeface="Times New Roman"/>
                <a:cs typeface="Times New Roman"/>
              </a:rPr>
              <a:t>After:</a:t>
            </a:r>
            <a:r>
              <a:rPr dirty="0" sz="1100" spc="70" i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Jane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promises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address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problem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limited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parking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if</a:t>
            </a:r>
            <a:r>
              <a:rPr dirty="0" sz="1100" spc="7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elected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tenants’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council.</a:t>
            </a:r>
            <a:endParaRPr sz="1100">
              <a:latin typeface="Times New Roman"/>
              <a:cs typeface="Times New Roman"/>
            </a:endParaRPr>
          </a:p>
          <a:p>
            <a:pPr marL="698500" marR="5715" indent="-228600">
              <a:lnSpc>
                <a:spcPct val="143600"/>
              </a:lnSpc>
              <a:spcBef>
                <a:spcPts val="10"/>
              </a:spcBef>
              <a:buSzPct val="90909"/>
              <a:buFont typeface="Symbol"/>
              <a:buChar char=""/>
              <a:tabLst>
                <a:tab pos="697865" algn="l"/>
                <a:tab pos="698500" algn="l"/>
              </a:tabLst>
            </a:pPr>
            <a:r>
              <a:rPr dirty="0" sz="1100" spc="-5" i="1">
                <a:latin typeface="Times New Roman"/>
                <a:cs typeface="Times New Roman"/>
              </a:rPr>
              <a:t>Before:</a:t>
            </a:r>
            <a:r>
              <a:rPr dirty="0" sz="1100" spc="140" i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Violence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has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produced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great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deal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apprehension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among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children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parents.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self-preservation,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fact,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become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primary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aim.</a:t>
            </a:r>
            <a:endParaRPr sz="1100">
              <a:latin typeface="Times New Roman"/>
              <a:cs typeface="Times New Roman"/>
            </a:endParaRPr>
          </a:p>
          <a:p>
            <a:pPr marL="698500" marR="5080" indent="-228600">
              <a:lnSpc>
                <a:spcPct val="143600"/>
              </a:lnSpc>
              <a:buSzPct val="90909"/>
              <a:buFont typeface="Symbol"/>
              <a:buChar char=""/>
              <a:tabLst>
                <a:tab pos="697865" algn="l"/>
                <a:tab pos="698500" algn="l"/>
              </a:tabLst>
            </a:pPr>
            <a:r>
              <a:rPr dirty="0" sz="1100" spc="-5" i="1">
                <a:latin typeface="Times New Roman"/>
                <a:cs typeface="Times New Roman"/>
              </a:rPr>
              <a:t>After:</a:t>
            </a:r>
            <a:r>
              <a:rPr dirty="0" sz="1100" spc="114" i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Violence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has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produced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great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deal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apprehension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among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children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parents.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Self-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preservation,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fact,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become their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primary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aim.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7384" y="3337824"/>
            <a:ext cx="32829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G5-b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84489" y="3337824"/>
            <a:ext cx="334708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Attach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fragmented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phrases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or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turn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them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into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sentences.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84580" y="3503631"/>
            <a:ext cx="5604510" cy="19545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marR="5080" indent="-228600">
              <a:lnSpc>
                <a:spcPct val="144100"/>
              </a:lnSpc>
              <a:spcBef>
                <a:spcPts val="100"/>
              </a:spcBef>
              <a:buSzPct val="90909"/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 i="1">
                <a:latin typeface="Times New Roman"/>
                <a:cs typeface="Times New Roman"/>
              </a:rPr>
              <a:t>Before:</a:t>
            </a:r>
            <a:r>
              <a:rPr dirty="0" sz="1100" spc="250" i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Sunday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James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read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newspaper’s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employment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sections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remotest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possibility.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Scrutinizing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every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position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held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remotest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possibility.</a:t>
            </a:r>
            <a:endParaRPr sz="1100">
              <a:latin typeface="Times New Roman"/>
              <a:cs typeface="Times New Roman"/>
            </a:endParaRPr>
          </a:p>
          <a:p>
            <a:pPr marL="240665" marR="5080" indent="-228600">
              <a:lnSpc>
                <a:spcPct val="143600"/>
              </a:lnSpc>
              <a:buSzPct val="90909"/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 i="1">
                <a:latin typeface="Times New Roman"/>
                <a:cs typeface="Times New Roman"/>
              </a:rPr>
              <a:t>After:</a:t>
            </a:r>
            <a:r>
              <a:rPr dirty="0" sz="1100" spc="50" i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Sunday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James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read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newspaper’s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employment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sections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remotest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possibility</a:t>
            </a:r>
            <a:r>
              <a:rPr dirty="0" sz="1100" spc="-5" b="1">
                <a:latin typeface="Times New Roman"/>
                <a:cs typeface="Times New Roman"/>
              </a:rPr>
              <a:t>, </a:t>
            </a:r>
            <a:r>
              <a:rPr dirty="0" sz="1100" spc="-26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scrutinizing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every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position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held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even 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remotest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possibility.</a:t>
            </a:r>
            <a:endParaRPr sz="1100">
              <a:latin typeface="Times New Roman"/>
              <a:cs typeface="Times New Roman"/>
            </a:endParaRPr>
          </a:p>
          <a:p>
            <a:pPr marL="241300" marR="5715" indent="-228600">
              <a:lnSpc>
                <a:spcPts val="1900"/>
              </a:lnSpc>
              <a:spcBef>
                <a:spcPts val="155"/>
              </a:spcBef>
              <a:buSzPct val="90909"/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 i="1">
                <a:latin typeface="Times New Roman"/>
                <a:cs typeface="Times New Roman"/>
              </a:rPr>
              <a:t>Before:</a:t>
            </a:r>
            <a:r>
              <a:rPr dirty="0" sz="1100" spc="15" i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Wednesday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morning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Phil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allowed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himself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half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grapefruit.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only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food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had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eaten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two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days.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420"/>
              </a:spcBef>
              <a:buSzPct val="90909"/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 i="1">
                <a:latin typeface="Times New Roman"/>
                <a:cs typeface="Times New Roman"/>
              </a:rPr>
              <a:t>After:</a:t>
            </a:r>
            <a:r>
              <a:rPr dirty="0" sz="1100" spc="90" i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Wednesday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morning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Phil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allowed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himself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half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grapefruit</a:t>
            </a:r>
            <a:r>
              <a:rPr dirty="0" sz="1100" spc="-5" b="1">
                <a:latin typeface="Times New Roman"/>
                <a:cs typeface="Times New Roman"/>
              </a:rPr>
              <a:t>,</a:t>
            </a:r>
            <a:r>
              <a:rPr dirty="0" sz="1100" spc="9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</a:t>
            </a:r>
            <a:r>
              <a:rPr dirty="0" sz="1100" spc="9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only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food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had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eaten</a:t>
            </a:r>
            <a:endParaRPr sz="1100">
              <a:latin typeface="Times New Roman"/>
              <a:cs typeface="Times New Roman"/>
            </a:endParaRPr>
          </a:p>
          <a:p>
            <a:pPr marL="240665">
              <a:lnSpc>
                <a:spcPct val="100000"/>
              </a:lnSpc>
              <a:spcBef>
                <a:spcPts val="575"/>
              </a:spcBef>
            </a:pP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days.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7370" y="5667244"/>
            <a:ext cx="31242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G5-c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84658" y="5667244"/>
            <a:ext cx="399859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Attach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other</a:t>
            </a:r>
            <a:r>
              <a:rPr dirty="0" sz="1100" spc="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fragmented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word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groups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or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turn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them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into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sentences.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84580" y="5833064"/>
            <a:ext cx="5605145" cy="990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marR="5080" indent="-228600">
              <a:lnSpc>
                <a:spcPct val="144100"/>
              </a:lnSpc>
              <a:spcBef>
                <a:spcPts val="100"/>
              </a:spcBef>
              <a:buSzPct val="90909"/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 i="1">
                <a:latin typeface="Times New Roman"/>
                <a:cs typeface="Times New Roman"/>
              </a:rPr>
              <a:t>Before:</a:t>
            </a:r>
            <a:r>
              <a:rPr dirty="0" sz="1100" i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side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effects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lithium</a:t>
            </a:r>
            <a:r>
              <a:rPr dirty="0" sz="1100">
                <a:latin typeface="Times New Roman"/>
                <a:cs typeface="Times New Roman"/>
              </a:rPr>
              <a:t> are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Nausea,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stomach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cramps,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muscle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weakness,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vomiting,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diarrhoea,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confusion,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tremors.</a:t>
            </a:r>
            <a:endParaRPr sz="1100">
              <a:latin typeface="Times New Roman"/>
              <a:cs typeface="Times New Roman"/>
            </a:endParaRPr>
          </a:p>
          <a:p>
            <a:pPr marL="240665" marR="5080" indent="-228600">
              <a:lnSpc>
                <a:spcPct val="143600"/>
              </a:lnSpc>
              <a:buSzPct val="90909"/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 i="1">
                <a:latin typeface="Times New Roman"/>
                <a:cs typeface="Times New Roman"/>
              </a:rPr>
              <a:t>After:</a:t>
            </a:r>
            <a:r>
              <a:rPr dirty="0" sz="1100" spc="50" i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side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effects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lithium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many: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nausea,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stomach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cramps,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muscle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weakness,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vomiting,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diarrhoea,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confusion,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tremors.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27384" y="6871213"/>
            <a:ext cx="212788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Comma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splices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and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fused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sentences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456177" y="6958531"/>
            <a:ext cx="3921760" cy="50736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1100" spc="-5">
                <a:latin typeface="Times New Roman"/>
                <a:cs typeface="Times New Roman"/>
              </a:rPr>
              <a:t>Power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tends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corrupt,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absolute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power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corrupts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absolutely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sz="1100" spc="-5">
                <a:latin typeface="Times New Roman"/>
                <a:cs typeface="Times New Roman"/>
              </a:rPr>
              <a:t>Power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tends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corrupt,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moreover,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absolute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power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corrupts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absolutely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84580" y="6958531"/>
            <a:ext cx="1142365" cy="123063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675"/>
              </a:spcBef>
              <a:buSzPct val="90909"/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10" b="1">
                <a:latin typeface="Times New Roman"/>
                <a:cs typeface="Times New Roman"/>
              </a:rPr>
              <a:t>Comma</a:t>
            </a:r>
            <a:r>
              <a:rPr dirty="0" sz="1100" spc="-6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splice: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SzPct val="90909"/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10" b="1">
                <a:latin typeface="Times New Roman"/>
                <a:cs typeface="Times New Roman"/>
              </a:rPr>
              <a:t>Comma</a:t>
            </a:r>
            <a:r>
              <a:rPr dirty="0" sz="1100" spc="-6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splice: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SzPct val="90909"/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Revised: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85"/>
              </a:spcBef>
              <a:buSzPct val="90909"/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Revised: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SzPct val="90909"/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Revised</a:t>
            </a:r>
            <a:r>
              <a:rPr dirty="0" sz="1100" spc="-5">
                <a:latin typeface="Times New Roman"/>
                <a:cs typeface="Times New Roman"/>
              </a:rPr>
              <a:t>: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453276" y="7439353"/>
            <a:ext cx="3915410" cy="749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970" marR="309880" indent="-1270">
              <a:lnSpc>
                <a:spcPct val="1441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Power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tends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corrupt</a:t>
            </a:r>
            <a:r>
              <a:rPr dirty="0" sz="1100" spc="-5" b="1">
                <a:latin typeface="Times New Roman"/>
                <a:cs typeface="Times New Roman"/>
              </a:rPr>
              <a:t>,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and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absolute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power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corrupts,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absolutely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Power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tends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corrupt</a:t>
            </a:r>
            <a:r>
              <a:rPr dirty="0" sz="1100" spc="-5" b="1">
                <a:latin typeface="Times New Roman"/>
                <a:cs typeface="Times New Roman"/>
              </a:rPr>
              <a:t>;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absolute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power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corrupts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absolutely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sz="1100" spc="-5">
                <a:latin typeface="Times New Roman"/>
                <a:cs typeface="Times New Roman"/>
              </a:rPr>
              <a:t>Power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tends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corrupt</a:t>
            </a:r>
            <a:r>
              <a:rPr dirty="0" sz="1100" spc="-5" b="1">
                <a:latin typeface="Times New Roman"/>
                <a:cs typeface="Times New Roman"/>
              </a:rPr>
              <a:t>;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moreover,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absolute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power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corrupt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absolutely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27384" y="8398263"/>
            <a:ext cx="32067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G6-a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84405" y="8398263"/>
            <a:ext cx="462915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Consider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separating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clause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with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comma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and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coordinating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conjunction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84580" y="8564824"/>
            <a:ext cx="5603875" cy="5073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marR="5080" indent="-228600">
              <a:lnSpc>
                <a:spcPct val="143600"/>
              </a:lnSpc>
              <a:spcBef>
                <a:spcPts val="100"/>
              </a:spcBef>
              <a:buSzPct val="90909"/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Theo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Fanny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had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hoped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spend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final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days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farm</a:t>
            </a:r>
            <a:r>
              <a:rPr dirty="0" sz="1100" spc="-5" b="1">
                <a:latin typeface="Times New Roman"/>
                <a:cs typeface="Times New Roman"/>
              </a:rPr>
              <a:t>,</a:t>
            </a:r>
            <a:r>
              <a:rPr dirty="0" sz="1100" spc="114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but</a:t>
            </a:r>
            <a:r>
              <a:rPr dirty="0" sz="1100" spc="11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had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move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retirement home.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360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67219" y="9493248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55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972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84580" y="342390"/>
            <a:ext cx="6083300" cy="85851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869305" algn="l"/>
              </a:tabLst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l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</a:t>
            </a:r>
            <a:r>
              <a:rPr dirty="0" sz="1100" spc="-15">
                <a:solidFill>
                  <a:srgbClr val="323232"/>
                </a:solidFill>
                <a:latin typeface="Times New Roman"/>
                <a:cs typeface="Times New Roman"/>
              </a:rPr>
              <a:t>m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entary</a:t>
            </a:r>
            <a:r>
              <a:rPr dirty="0" sz="1100" spc="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g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lish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marL="697865" marR="28575" indent="-228600">
              <a:lnSpc>
                <a:spcPct val="143600"/>
              </a:lnSpc>
              <a:buSzPct val="90909"/>
              <a:buFont typeface="Symbol"/>
              <a:buChar char=""/>
              <a:tabLst>
                <a:tab pos="697865" algn="l"/>
                <a:tab pos="698500" algn="l"/>
              </a:tabLst>
            </a:pPr>
            <a:r>
              <a:rPr dirty="0" sz="1100" spc="-5">
                <a:latin typeface="Times New Roman"/>
                <a:cs typeface="Times New Roman"/>
              </a:rPr>
              <a:t>Many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government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officials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privately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admit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polygraph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unreliable</a:t>
            </a:r>
            <a:r>
              <a:rPr dirty="0" sz="1100" spc="-5" b="1">
                <a:latin typeface="Times New Roman"/>
                <a:cs typeface="Times New Roman"/>
              </a:rPr>
              <a:t>,</a:t>
            </a:r>
            <a:r>
              <a:rPr dirty="0" sz="1100" spc="10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yet</a:t>
            </a:r>
            <a:r>
              <a:rPr dirty="0" sz="1100" spc="10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continue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security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measure.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829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084570" y="1249936"/>
            <a:ext cx="32829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G6-b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41842" y="1249936"/>
            <a:ext cx="291655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Consider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separating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clause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with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semicolon.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41780" y="1416506"/>
            <a:ext cx="5603875" cy="74803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675"/>
              </a:spcBef>
              <a:buSzPct val="90909"/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Nicklaus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like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fine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wine</a:t>
            </a:r>
            <a:r>
              <a:rPr dirty="0" sz="1100" spc="-5" b="1">
                <a:latin typeface="Times New Roman"/>
                <a:cs typeface="Times New Roman"/>
              </a:rPr>
              <a:t>;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gets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better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time.</a:t>
            </a:r>
            <a:endParaRPr sz="1100">
              <a:latin typeface="Times New Roman"/>
              <a:cs typeface="Times New Roman"/>
            </a:endParaRPr>
          </a:p>
          <a:p>
            <a:pPr marL="241300" marR="5080" indent="-228600">
              <a:lnSpc>
                <a:spcPct val="143600"/>
              </a:lnSpc>
              <a:buSzPct val="90909"/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timber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wolf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looks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like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large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German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shepherded</a:t>
            </a:r>
            <a:r>
              <a:rPr dirty="0" sz="1100" spc="-5" b="1">
                <a:latin typeface="Times New Roman"/>
                <a:cs typeface="Times New Roman"/>
              </a:rPr>
              <a:t>;</a:t>
            </a:r>
            <a:r>
              <a:rPr dirty="0" sz="1100" spc="16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however,</a:t>
            </a:r>
            <a:r>
              <a:rPr dirty="0" sz="1100" spc="16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wolf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has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longer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legs,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larger feet,</a:t>
            </a:r>
            <a:r>
              <a:rPr dirty="0" sz="1100">
                <a:latin typeface="Times New Roman"/>
                <a:cs typeface="Times New Roman"/>
              </a:rPr>
              <a:t> and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wider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head.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84584" y="2454660"/>
            <a:ext cx="31242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G6-c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41746" y="2454660"/>
            <a:ext cx="316420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Consider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making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clauses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into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separate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sentences.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41780" y="2621225"/>
            <a:ext cx="5605145" cy="9893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marR="6985" indent="-228600">
              <a:lnSpc>
                <a:spcPct val="143600"/>
              </a:lnSpc>
              <a:spcBef>
                <a:spcPts val="100"/>
              </a:spcBef>
              <a:buSzPct val="90909"/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episode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viewers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saw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people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smashed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by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boat,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choked,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another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shot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death,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purpose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violence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serve?</a:t>
            </a:r>
            <a:endParaRPr sz="1100">
              <a:latin typeface="Times New Roman"/>
              <a:cs typeface="Times New Roman"/>
            </a:endParaRPr>
          </a:p>
          <a:p>
            <a:pPr marL="241300" marR="5080" indent="-228600">
              <a:lnSpc>
                <a:spcPts val="1900"/>
              </a:lnSpc>
              <a:spcBef>
                <a:spcPts val="95"/>
              </a:spcBef>
              <a:buSzPct val="90909"/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Revised:</a:t>
            </a:r>
            <a:r>
              <a:rPr dirty="0" sz="1100" spc="7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episode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viewers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saw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people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smashed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by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boat,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choked,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another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death.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purpose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violence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serve?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84584" y="3820147"/>
            <a:ext cx="32766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G6-d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41521" y="3820147"/>
            <a:ext cx="487553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Consider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restructuring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the</a:t>
            </a:r>
            <a:r>
              <a:rPr dirty="0" sz="1100" spc="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sentence,</a:t>
            </a:r>
            <a:r>
              <a:rPr dirty="0" sz="1100" spc="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perhaps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by</a:t>
            </a:r>
            <a:r>
              <a:rPr dirty="0" sz="1100" spc="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subordinating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one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of</a:t>
            </a:r>
            <a:r>
              <a:rPr dirty="0" sz="1100" spc="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clauses.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84598" y="3986733"/>
            <a:ext cx="6061710" cy="179260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697865" indent="-229235">
              <a:lnSpc>
                <a:spcPct val="100000"/>
              </a:lnSpc>
              <a:spcBef>
                <a:spcPts val="675"/>
              </a:spcBef>
              <a:buSzPct val="90909"/>
              <a:buFont typeface="Symbol"/>
              <a:buChar char=""/>
              <a:tabLst>
                <a:tab pos="697865" algn="l"/>
                <a:tab pos="698500" algn="l"/>
              </a:tabLst>
            </a:pPr>
            <a:r>
              <a:rPr dirty="0" sz="1100" spc="-5">
                <a:latin typeface="Times New Roman"/>
                <a:cs typeface="Times New Roman"/>
              </a:rPr>
              <a:t>Lindsey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competitor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who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(not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she)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been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riding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since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age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seven.</a:t>
            </a:r>
            <a:endParaRPr sz="1100">
              <a:latin typeface="Times New Roman"/>
              <a:cs typeface="Times New Roman"/>
            </a:endParaRPr>
          </a:p>
          <a:p>
            <a:pPr marL="697865" marR="5080" indent="-228600">
              <a:lnSpc>
                <a:spcPct val="143600"/>
              </a:lnSpc>
              <a:buSzPct val="90909"/>
              <a:buFont typeface="Symbol"/>
              <a:buChar char=""/>
              <a:tabLst>
                <a:tab pos="697865" algn="l"/>
                <a:tab pos="6985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new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health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plan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explained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employees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my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division,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everyone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agreed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give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 try.</a:t>
            </a:r>
            <a:endParaRPr sz="1100">
              <a:latin typeface="Times New Roman"/>
              <a:cs typeface="Times New Roman"/>
            </a:endParaRPr>
          </a:p>
          <a:p>
            <a:pPr marL="697865" marR="5080" indent="-229235">
              <a:lnSpc>
                <a:spcPct val="143600"/>
              </a:lnSpc>
              <a:spcBef>
                <a:spcPts val="5"/>
              </a:spcBef>
              <a:buSzPct val="90909"/>
              <a:buFont typeface="Symbol"/>
              <a:buChar char=""/>
              <a:tabLst>
                <a:tab pos="697865" algn="l"/>
                <a:tab pos="698500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Revised: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When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new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health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plan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explained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employees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my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division,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everyone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agreed 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give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>
                <a:latin typeface="Times New Roman"/>
                <a:cs typeface="Times New Roman"/>
              </a:rPr>
              <a:t> try.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Source: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Hacker,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Dianna.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‘A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Writer’s</a:t>
            </a:r>
            <a:r>
              <a:rPr dirty="0" sz="1100" spc="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Reference’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Boston: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St.</a:t>
            </a:r>
            <a:r>
              <a:rPr dirty="0" sz="1100" spc="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Martin’s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Press.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1992.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7380" y="342390"/>
            <a:ext cx="174498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 Elementary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84111" y="342390"/>
            <a:ext cx="22669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400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257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27350" y="1329188"/>
            <a:ext cx="6061710" cy="83724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ISSUE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1: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UNITY: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 marR="5715">
              <a:lnSpc>
                <a:spcPts val="1270"/>
              </a:lnSpc>
            </a:pPr>
            <a:r>
              <a:rPr dirty="0" sz="1100" spc="-5" b="1">
                <a:latin typeface="Times New Roman"/>
                <a:cs typeface="Times New Roman"/>
              </a:rPr>
              <a:t>Rule:</a:t>
            </a:r>
            <a:r>
              <a:rPr dirty="0" sz="1100" spc="11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unity,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let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express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main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thought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less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important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thoughts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clearly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subordinate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principle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idea.</a:t>
            </a:r>
            <a:endParaRPr sz="1100">
              <a:latin typeface="Times New Roman"/>
              <a:cs typeface="Times New Roman"/>
            </a:endParaRPr>
          </a:p>
          <a:p>
            <a:pPr marL="241300" marR="845819">
              <a:lnSpc>
                <a:spcPts val="2530"/>
              </a:lnSpc>
              <a:spcBef>
                <a:spcPts val="245"/>
              </a:spcBef>
            </a:pPr>
            <a:r>
              <a:rPr dirty="0" sz="1100" spc="-5">
                <a:latin typeface="Times New Roman"/>
                <a:cs typeface="Times New Roman"/>
              </a:rPr>
              <a:t>Weak: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Mr.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Norris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well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known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economist,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October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meeting.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Better: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Mr.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Norris,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well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known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economist,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October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meeting.</a:t>
            </a:r>
            <a:endParaRPr sz="1100">
              <a:latin typeface="Times New Roman"/>
              <a:cs typeface="Times New Roman"/>
            </a:endParaRPr>
          </a:p>
          <a:p>
            <a:pPr marL="469900" marR="6350" indent="-228600">
              <a:lnSpc>
                <a:spcPts val="1270"/>
              </a:lnSpc>
              <a:spcBef>
                <a:spcPts val="1005"/>
              </a:spcBef>
            </a:pPr>
            <a:r>
              <a:rPr dirty="0" sz="1100" spc="-5">
                <a:latin typeface="Times New Roman"/>
                <a:cs typeface="Times New Roman"/>
              </a:rPr>
              <a:t>Weak: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people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ever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before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attending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conference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suggest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make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 reservations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now.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50">
              <a:latin typeface="Times New Roman"/>
              <a:cs typeface="Times New Roman"/>
            </a:endParaRPr>
          </a:p>
          <a:p>
            <a:pPr marL="240665" marR="5080">
              <a:lnSpc>
                <a:spcPts val="1270"/>
              </a:lnSpc>
            </a:pPr>
            <a:r>
              <a:rPr dirty="0" sz="1100" spc="-5">
                <a:latin typeface="Times New Roman"/>
                <a:cs typeface="Times New Roman"/>
              </a:rPr>
              <a:t>Better: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Since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people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ever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before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attending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conference,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suggest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make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 reservations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now.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ISSUE</a:t>
            </a:r>
            <a:r>
              <a:rPr dirty="0" u="heavy" sz="11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2: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COHERENCE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 algn="just" marL="12700" marR="5080">
              <a:lnSpc>
                <a:spcPct val="95700"/>
              </a:lnSpc>
            </a:pPr>
            <a:r>
              <a:rPr dirty="0" sz="1100" spc="-5" b="1">
                <a:latin typeface="Times New Roman"/>
                <a:cs typeface="Times New Roman"/>
              </a:rPr>
              <a:t>Rule: </a:t>
            </a:r>
            <a:r>
              <a:rPr dirty="0" sz="1100" spc="-5">
                <a:latin typeface="Times New Roman"/>
                <a:cs typeface="Times New Roman"/>
              </a:rPr>
              <a:t>When a sentence has coherence, the parts of the sentence fit together in proper relationships so that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there can be no misunderstanding about the intending meanings. To achieve coherence place all modifying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adjectives,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adverbs,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appositives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prepositional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phrases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near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should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modify.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showed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several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wool</a:t>
            </a:r>
            <a:r>
              <a:rPr dirty="0" sz="1100" spc="15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turtleneck</a:t>
            </a:r>
            <a:r>
              <a:rPr dirty="0" sz="1100" spc="15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men’s</a:t>
            </a:r>
            <a:r>
              <a:rPr dirty="0" sz="1100" spc="10" i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sweaters.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(Men’s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wool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turtleneck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sweaters)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Our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team </a:t>
            </a:r>
            <a:r>
              <a:rPr dirty="0" sz="1100">
                <a:latin typeface="Times New Roman"/>
                <a:cs typeface="Times New Roman"/>
              </a:rPr>
              <a:t>didn’t </a:t>
            </a:r>
            <a:r>
              <a:rPr dirty="0" sz="1100" spc="-5">
                <a:latin typeface="Times New Roman"/>
                <a:cs typeface="Times New Roman"/>
              </a:rPr>
              <a:t>even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score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once.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(Even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once)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 marR="6350">
              <a:lnSpc>
                <a:spcPts val="1270"/>
              </a:lnSpc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robber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described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six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foot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tall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man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mustache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weighing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150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pounds.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(150</a:t>
            </a:r>
            <a:r>
              <a:rPr dirty="0" sz="1100" spc="1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pounds</a:t>
            </a:r>
            <a:r>
              <a:rPr dirty="0" sz="1100" spc="10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six </a:t>
            </a:r>
            <a:r>
              <a:rPr dirty="0" sz="1100" spc="-26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foot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tall man with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mustache.)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 marR="5080">
              <a:lnSpc>
                <a:spcPts val="1270"/>
              </a:lnSpc>
            </a:pPr>
            <a:r>
              <a:rPr dirty="0" sz="1100" spc="-5">
                <a:latin typeface="Times New Roman"/>
                <a:cs typeface="Times New Roman"/>
              </a:rPr>
              <a:t>When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watching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classic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film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such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Gone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Wind,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commercials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especially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irritating.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(Dangling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modifiers)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30"/>
              </a:lnSpc>
            </a:pPr>
            <a:r>
              <a:rPr dirty="0" sz="1100" spc="-5" b="1">
                <a:latin typeface="Times New Roman"/>
                <a:cs typeface="Times New Roman"/>
              </a:rPr>
              <a:t>(I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find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commercials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…)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OR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(When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am </a:t>
            </a:r>
            <a:r>
              <a:rPr dirty="0" sz="1100" spc="-5" b="1">
                <a:latin typeface="Times New Roman"/>
                <a:cs typeface="Times New Roman"/>
              </a:rPr>
              <a:t>watching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…)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 marR="6350">
              <a:lnSpc>
                <a:spcPts val="1270"/>
              </a:lnSpc>
            </a:pPr>
            <a:r>
              <a:rPr dirty="0" sz="1100" spc="-5">
                <a:latin typeface="Times New Roman"/>
                <a:cs typeface="Times New Roman"/>
              </a:rPr>
              <a:t>(When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driver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opened)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Opening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window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let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out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huge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bumblebee,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car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accidentally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swerved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oncoming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car. </a:t>
            </a:r>
            <a:r>
              <a:rPr dirty="0" sz="1100" spc="-5" i="1">
                <a:latin typeface="Times New Roman"/>
                <a:cs typeface="Times New Roman"/>
              </a:rPr>
              <a:t>(Dangling</a:t>
            </a:r>
            <a:r>
              <a:rPr dirty="0" sz="110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modifiers)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 marR="5080">
              <a:lnSpc>
                <a:spcPts val="1270"/>
              </a:lnSpc>
            </a:pPr>
            <a:r>
              <a:rPr dirty="0" sz="1100" spc="-5" b="1">
                <a:latin typeface="Times New Roman"/>
                <a:cs typeface="Times New Roman"/>
              </a:rPr>
              <a:t>Better:</a:t>
            </a:r>
            <a:r>
              <a:rPr dirty="0" sz="1100" spc="3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When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driver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opened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window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let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out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huge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bumblebee,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car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accidentally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swerved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into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 oncoming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car.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Patients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should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try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to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if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possible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avoid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up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down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stairs.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(Split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infinitive)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29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Football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America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world.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(Illogical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comparison)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90"/>
              </a:lnSpc>
            </a:pPr>
            <a:r>
              <a:rPr dirty="0" sz="1100" spc="-5" b="1">
                <a:latin typeface="Times New Roman"/>
                <a:cs typeface="Times New Roman"/>
              </a:rPr>
              <a:t>Better: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Football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America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from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ts val="1270"/>
              </a:lnSpc>
            </a:pPr>
            <a:r>
              <a:rPr dirty="0" sz="1100" spc="-5">
                <a:latin typeface="Times New Roman"/>
                <a:cs typeface="Times New Roman"/>
              </a:rPr>
              <a:t>Private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vehicles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provide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independent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transport,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freedom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many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jobs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and</a:t>
            </a:r>
            <a:r>
              <a:rPr dirty="0" sz="1100" spc="155" i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cause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pollution,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traffic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jams,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noise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death.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(Illogical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connecting)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 marR="6350">
              <a:lnSpc>
                <a:spcPts val="1270"/>
              </a:lnSpc>
            </a:pPr>
            <a:r>
              <a:rPr dirty="0" sz="1100" spc="-5">
                <a:latin typeface="Times New Roman"/>
                <a:cs typeface="Times New Roman"/>
              </a:rPr>
              <a:t>Private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vehicles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provide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independent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transport,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freedom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many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jobs</a:t>
            </a:r>
            <a:r>
              <a:rPr dirty="0" sz="1100" spc="-5" b="1">
                <a:latin typeface="Times New Roman"/>
                <a:cs typeface="Times New Roman"/>
              </a:rPr>
              <a:t>;</a:t>
            </a:r>
            <a:r>
              <a:rPr dirty="0" sz="1100" spc="17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however,</a:t>
            </a:r>
            <a:r>
              <a:rPr dirty="0" sz="1100" spc="18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cause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pollution,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traffic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jams,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noise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death.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(Illogical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connecting)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 marL="1564005">
              <a:lnSpc>
                <a:spcPct val="100000"/>
              </a:lnSpc>
              <a:spcBef>
                <a:spcPts val="840"/>
              </a:spcBef>
              <a:tabLst>
                <a:tab pos="5894705" algn="l"/>
              </a:tabLst>
            </a:pPr>
            <a:r>
              <a:rPr dirty="0" sz="1200">
                <a:latin typeface="Times New Roman"/>
                <a:cs typeface="Times New Roman"/>
              </a:rPr>
              <a:t>© Copyrights Virtual Uni</a:t>
            </a:r>
            <a:r>
              <a:rPr dirty="0" sz="1200" spc="-5">
                <a:latin typeface="Times New Roman"/>
                <a:cs typeface="Times New Roman"/>
              </a:rPr>
              <a:t>v</a:t>
            </a:r>
            <a:r>
              <a:rPr dirty="0" sz="1200">
                <a:latin typeface="Times New Roman"/>
                <a:cs typeface="Times New Roman"/>
              </a:rPr>
              <a:t>ersity of Pakistan	56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12028" y="526034"/>
            <a:ext cx="87566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LECTURE</a:t>
            </a:r>
            <a:r>
              <a:rPr dirty="0" u="heavy" sz="1100" spc="-4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17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50900" y="847596"/>
            <a:ext cx="161226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EFFECTIVE</a:t>
            </a:r>
            <a:r>
              <a:rPr dirty="0" u="heavy" sz="1100" spc="-5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SENTENCE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4580" y="342390"/>
            <a:ext cx="174498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 Elementary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41311" y="342390"/>
            <a:ext cx="22669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360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67219" y="9493248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57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972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829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084580" y="686815"/>
            <a:ext cx="134429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ISSUE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3: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EMPHASIS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84582" y="1006858"/>
            <a:ext cx="6061075" cy="353695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>
              <a:lnSpc>
                <a:spcPts val="1270"/>
              </a:lnSpc>
              <a:spcBef>
                <a:spcPts val="180"/>
              </a:spcBef>
            </a:pPr>
            <a:r>
              <a:rPr dirty="0" sz="1100" spc="-5" b="1">
                <a:latin typeface="Times New Roman"/>
                <a:cs typeface="Times New Roman"/>
              </a:rPr>
              <a:t>Rule:</a:t>
            </a:r>
            <a:r>
              <a:rPr dirty="0" sz="1100" spc="4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Since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most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emphatic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positions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beginning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ending,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less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important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information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obviously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should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positioned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middle.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13176" y="1255727"/>
            <a:ext cx="5525770" cy="527050"/>
          </a:xfrm>
          <a:prstGeom prst="rect">
            <a:avLst/>
          </a:prstGeom>
        </p:spPr>
        <p:txBody>
          <a:bodyPr wrap="square" lIns="0" tIns="9588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5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Starting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‘there’,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‘here’,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‘it’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weakens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by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delaying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naming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sentence.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5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Passives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also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weaken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by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shifting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focus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actor.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84582" y="1991361"/>
            <a:ext cx="4538345" cy="18002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290"/>
              </a:lnSpc>
              <a:spcBef>
                <a:spcPts val="95"/>
              </a:spcBef>
            </a:pPr>
            <a:r>
              <a:rPr dirty="0" sz="1100" spc="-5" i="1">
                <a:latin typeface="Times New Roman"/>
                <a:cs typeface="Times New Roman"/>
              </a:rPr>
              <a:t>Before:</a:t>
            </a:r>
            <a:r>
              <a:rPr dirty="0" sz="1100" spc="10" i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airplane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reached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difficult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control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65"/>
              </a:lnSpc>
            </a:pPr>
            <a:r>
              <a:rPr dirty="0" sz="1100" spc="-5" i="1">
                <a:latin typeface="Times New Roman"/>
                <a:cs typeface="Times New Roman"/>
              </a:rPr>
              <a:t>After:</a:t>
            </a:r>
            <a:r>
              <a:rPr dirty="0" sz="1100" spc="10" i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reached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sound,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airplane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difficult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control.</a:t>
            </a:r>
            <a:endParaRPr sz="1100">
              <a:latin typeface="Times New Roman"/>
              <a:cs typeface="Times New Roman"/>
            </a:endParaRPr>
          </a:p>
          <a:p>
            <a:pPr marL="47625">
              <a:lnSpc>
                <a:spcPts val="1295"/>
              </a:lnSpc>
            </a:pPr>
            <a:r>
              <a:rPr dirty="0" sz="1100" spc="-5" i="1">
                <a:latin typeface="Times New Roman"/>
                <a:cs typeface="Times New Roman"/>
              </a:rPr>
              <a:t>After:</a:t>
            </a:r>
            <a:r>
              <a:rPr dirty="0" sz="1100" spc="10" i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airplane,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reached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speed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sound,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difficult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control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295"/>
              </a:lnSpc>
            </a:pPr>
            <a:r>
              <a:rPr dirty="0" sz="1100" spc="-5">
                <a:latin typeface="Times New Roman"/>
                <a:cs typeface="Times New Roman"/>
              </a:rPr>
              <a:t>There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several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projects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must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finish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week.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95"/>
              </a:lnSpc>
            </a:pPr>
            <a:r>
              <a:rPr dirty="0" sz="1100" spc="-5" i="1">
                <a:latin typeface="Times New Roman"/>
                <a:cs typeface="Times New Roman"/>
              </a:rPr>
              <a:t>After: </a:t>
            </a:r>
            <a:r>
              <a:rPr dirty="0" sz="1100" spc="-5">
                <a:latin typeface="Times New Roman"/>
                <a:cs typeface="Times New Roman"/>
              </a:rPr>
              <a:t>Several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projects …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295"/>
              </a:lnSpc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editor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copy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letter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chief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editor.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(Passive)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95"/>
              </a:lnSpc>
            </a:pPr>
            <a:r>
              <a:rPr dirty="0" sz="1100" spc="-5" i="1">
                <a:latin typeface="Times New Roman"/>
                <a:cs typeface="Times New Roman"/>
              </a:rPr>
              <a:t>After:</a:t>
            </a:r>
            <a:r>
              <a:rPr dirty="0" sz="1100" spc="5" i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chief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editor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copy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letter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editor.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ISSUE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4: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PARALLELISM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13178" y="3919213"/>
            <a:ext cx="30480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E1-a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98988" y="3919213"/>
            <a:ext cx="5147310" cy="8356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1300" indent="-229235">
              <a:lnSpc>
                <a:spcPts val="129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Balance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parallel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ideas</a:t>
            </a:r>
            <a:r>
              <a:rPr dirty="0" sz="1100" spc="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linked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with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coordinating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conjunctions</a:t>
            </a:r>
            <a:r>
              <a:rPr dirty="0" sz="1100" spc="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such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as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and,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but,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and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or.</a:t>
            </a:r>
            <a:endParaRPr sz="1100">
              <a:latin typeface="Times New Roman"/>
              <a:cs typeface="Times New Roman"/>
            </a:endParaRPr>
          </a:p>
          <a:p>
            <a:pPr marL="241300">
              <a:lnSpc>
                <a:spcPts val="1265"/>
              </a:lnSpc>
            </a:pPr>
            <a:r>
              <a:rPr dirty="0" sz="1100" spc="-5">
                <a:latin typeface="Times New Roman"/>
                <a:cs typeface="Times New Roman"/>
              </a:rPr>
              <a:t>Theft</a:t>
            </a:r>
            <a:r>
              <a:rPr dirty="0" sz="1100" spc="4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vandalism</a:t>
            </a:r>
            <a:r>
              <a:rPr dirty="0" sz="1100" spc="4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4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cheating</a:t>
            </a:r>
            <a:r>
              <a:rPr dirty="0" sz="1100" spc="4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4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result</a:t>
            </a:r>
            <a:r>
              <a:rPr dirty="0" sz="1100" spc="4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4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suspension</a:t>
            </a:r>
            <a:r>
              <a:rPr dirty="0" sz="1100" spc="4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4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even</a:t>
            </a:r>
            <a:r>
              <a:rPr dirty="0" sz="1100" spc="4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being</a:t>
            </a:r>
            <a:r>
              <a:rPr dirty="0" sz="1100" spc="4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expelled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265"/>
              </a:lnSpc>
            </a:pPr>
            <a:r>
              <a:rPr dirty="0" sz="1100" spc="-5" b="1">
                <a:latin typeface="Times New Roman"/>
                <a:cs typeface="Times New Roman"/>
              </a:rPr>
              <a:t>(expulsion) </a:t>
            </a:r>
            <a:r>
              <a:rPr dirty="0" sz="1100" spc="-5">
                <a:latin typeface="Times New Roman"/>
                <a:cs typeface="Times New Roman"/>
              </a:rPr>
              <a:t>from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school.</a:t>
            </a:r>
            <a:endParaRPr sz="1100">
              <a:latin typeface="Times New Roman"/>
              <a:cs typeface="Times New Roman"/>
            </a:endParaRPr>
          </a:p>
          <a:p>
            <a:pPr marL="469900" marR="5715" indent="-229235">
              <a:lnSpc>
                <a:spcPts val="1270"/>
              </a:lnSpc>
              <a:spcBef>
                <a:spcPts val="60"/>
              </a:spcBef>
            </a:pPr>
            <a:r>
              <a:rPr dirty="0" sz="1100" spc="-5">
                <a:latin typeface="Times New Roman"/>
                <a:cs typeface="Times New Roman"/>
              </a:rPr>
              <a:t>David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responsible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stocking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merchandise,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store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repairs,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writing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orders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delivery,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sales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(selling)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computers.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13178" y="4883133"/>
            <a:ext cx="31305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E1-b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998974" y="4883133"/>
            <a:ext cx="4702175" cy="5137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29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Balance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parallel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ideas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linked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with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correlative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conjunctions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such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as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either</a:t>
            </a:r>
            <a:r>
              <a:rPr dirty="0" sz="1100" spc="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…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or</a:t>
            </a:r>
            <a:endParaRPr sz="1100">
              <a:latin typeface="Times New Roman"/>
              <a:cs typeface="Times New Roman"/>
            </a:endParaRPr>
          </a:p>
          <a:p>
            <a:pPr marL="240665" marR="757555">
              <a:lnSpc>
                <a:spcPts val="1270"/>
              </a:lnSpc>
              <a:spcBef>
                <a:spcPts val="55"/>
              </a:spcBef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shutters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only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also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(but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also)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were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wide.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advised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either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flight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take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take)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train.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84584" y="5526258"/>
            <a:ext cx="6061075" cy="9963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665">
              <a:lnSpc>
                <a:spcPts val="1285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Balance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comparisons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linked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with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 i="1">
                <a:latin typeface="Times New Roman"/>
                <a:cs typeface="Times New Roman"/>
              </a:rPr>
              <a:t>than</a:t>
            </a:r>
            <a:r>
              <a:rPr dirty="0" sz="1100" spc="5" b="1" i="1">
                <a:latin typeface="Times New Roman"/>
                <a:cs typeface="Times New Roman"/>
              </a:rPr>
              <a:t> </a:t>
            </a:r>
            <a:r>
              <a:rPr dirty="0" sz="1100" spc="-5" b="1" i="1">
                <a:latin typeface="Times New Roman"/>
                <a:cs typeface="Times New Roman"/>
              </a:rPr>
              <a:t>or</a:t>
            </a:r>
            <a:r>
              <a:rPr dirty="0" sz="1100" spc="10" b="1" i="1">
                <a:latin typeface="Times New Roman"/>
                <a:cs typeface="Times New Roman"/>
              </a:rPr>
              <a:t> </a:t>
            </a:r>
            <a:r>
              <a:rPr dirty="0" sz="1100" spc="-5" b="1" i="1">
                <a:latin typeface="Times New Roman"/>
                <a:cs typeface="Times New Roman"/>
              </a:rPr>
              <a:t>as</a:t>
            </a:r>
            <a:r>
              <a:rPr dirty="0" sz="1100" spc="-5" b="1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  <a:p>
            <a:pPr marL="1383665" marR="5080" indent="-229235">
              <a:lnSpc>
                <a:spcPts val="1270"/>
              </a:lnSpc>
              <a:spcBef>
                <a:spcPts val="55"/>
              </a:spcBef>
            </a:pP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easier</a:t>
            </a:r>
            <a:r>
              <a:rPr dirty="0" sz="1100">
                <a:latin typeface="Times New Roman"/>
                <a:cs typeface="Times New Roman"/>
              </a:rPr>
              <a:t> to</a:t>
            </a:r>
            <a:r>
              <a:rPr dirty="0" sz="1100" spc="2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abstractions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grounding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ground)</a:t>
            </a:r>
            <a:r>
              <a:rPr dirty="0" sz="1100">
                <a:latin typeface="Times New Roman"/>
                <a:cs typeface="Times New Roman"/>
              </a:rPr>
              <a:t> one’s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thoughts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reality.</a:t>
            </a:r>
            <a:endParaRPr sz="1100">
              <a:latin typeface="Times New Roman"/>
              <a:cs typeface="Times New Roman"/>
            </a:endParaRPr>
          </a:p>
          <a:p>
            <a:pPr marL="1155065">
              <a:lnSpc>
                <a:spcPts val="1230"/>
              </a:lnSpc>
            </a:pPr>
            <a:r>
              <a:rPr dirty="0" sz="1100" spc="-5">
                <a:latin typeface="Times New Roman"/>
                <a:cs typeface="Times New Roman"/>
              </a:rPr>
              <a:t>Mother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could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persuade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giving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much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joy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receive.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(receiving)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ISSUE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NEEDED WORDS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84583" y="6649454"/>
            <a:ext cx="28956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latin typeface="Times New Roman"/>
                <a:cs typeface="Times New Roman"/>
              </a:rPr>
              <a:t>E2-a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41719" y="6649454"/>
            <a:ext cx="5490845" cy="14782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295"/>
              </a:lnSpc>
              <a:spcBef>
                <a:spcPts val="95"/>
              </a:spcBef>
            </a:pPr>
            <a:r>
              <a:rPr dirty="0" sz="1100" spc="-5">
                <a:latin typeface="Times New Roman"/>
                <a:cs typeface="Times New Roman"/>
              </a:rPr>
              <a:t>Add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needed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complete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compound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structures</a:t>
            </a:r>
            <a:endParaRPr sz="1100">
              <a:latin typeface="Times New Roman"/>
              <a:cs typeface="Times New Roman"/>
            </a:endParaRPr>
          </a:p>
          <a:p>
            <a:pPr marL="241300" marR="5080">
              <a:lnSpc>
                <a:spcPts val="1270"/>
              </a:lnSpc>
              <a:spcBef>
                <a:spcPts val="60"/>
              </a:spcBef>
            </a:pPr>
            <a:r>
              <a:rPr dirty="0" sz="1100" spc="-5">
                <a:latin typeface="Times New Roman"/>
                <a:cs typeface="Times New Roman"/>
              </a:rPr>
              <a:t>Some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regulars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acquaintances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whom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see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work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(who)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live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community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never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(accepted)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never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accept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bribe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00"/>
              </a:lnSpc>
            </a:pPr>
            <a:r>
              <a:rPr dirty="0" sz="1100" spc="-5">
                <a:latin typeface="Times New Roman"/>
                <a:cs typeface="Times New Roman"/>
              </a:rPr>
              <a:t>Add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that</a:t>
            </a:r>
            <a:r>
              <a:rPr dirty="0" sz="1100" spc="10" i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there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danger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misreading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wrought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it.</a:t>
            </a:r>
            <a:endParaRPr sz="1100">
              <a:latin typeface="Times New Roman"/>
              <a:cs typeface="Times New Roman"/>
            </a:endParaRPr>
          </a:p>
          <a:p>
            <a:pPr marL="241300">
              <a:lnSpc>
                <a:spcPts val="1265"/>
              </a:lnSpc>
            </a:pP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Joe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began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prepare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dinner,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discovered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(that)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oven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wasn’t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working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properly.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65"/>
              </a:lnSpc>
            </a:pPr>
            <a:r>
              <a:rPr dirty="0" sz="1100" spc="-5">
                <a:latin typeface="Times New Roman"/>
                <a:cs typeface="Times New Roman"/>
              </a:rPr>
              <a:t>Add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needed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make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comparisons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logical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complete.</a:t>
            </a:r>
            <a:endParaRPr sz="1100">
              <a:latin typeface="Times New Roman"/>
              <a:cs typeface="Times New Roman"/>
            </a:endParaRPr>
          </a:p>
          <a:p>
            <a:pPr marL="241300" marR="1664970">
              <a:lnSpc>
                <a:spcPts val="1270"/>
              </a:lnSpc>
              <a:spcBef>
                <a:spcPts val="55"/>
              </a:spcBef>
            </a:pPr>
            <a:r>
              <a:rPr dirty="0" sz="1100" spc="-5">
                <a:latin typeface="Times New Roman"/>
                <a:cs typeface="Times New Roman"/>
              </a:rPr>
              <a:t>Agnes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attention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span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longer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(that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her)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sisters.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Henry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preferred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restaurants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Pittsburg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Philadelphia.</a:t>
            </a:r>
            <a:endParaRPr sz="1100">
              <a:latin typeface="Times New Roman"/>
              <a:cs typeface="Times New Roman"/>
            </a:endParaRPr>
          </a:p>
          <a:p>
            <a:pPr marL="241300">
              <a:lnSpc>
                <a:spcPts val="1230"/>
              </a:lnSpc>
            </a:pPr>
            <a:r>
              <a:rPr dirty="0" sz="1100" spc="-5">
                <a:latin typeface="Times New Roman"/>
                <a:cs typeface="Times New Roman"/>
              </a:rPr>
              <a:t>Chicago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larger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(other)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city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Illinois.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84583" y="7131798"/>
            <a:ext cx="29718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latin typeface="Times New Roman"/>
                <a:cs typeface="Times New Roman"/>
              </a:rPr>
              <a:t>E2-b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84569" y="7452593"/>
            <a:ext cx="28956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latin typeface="Times New Roman"/>
                <a:cs typeface="Times New Roman"/>
              </a:rPr>
              <a:t>E2-c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84569" y="8256499"/>
            <a:ext cx="5903595" cy="9963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ISSUE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6: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SHIFTS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295"/>
              </a:lnSpc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point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view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peace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perspective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from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written: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1st,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2nd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3rd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person.</a:t>
            </a:r>
            <a:endParaRPr sz="1100">
              <a:latin typeface="Times New Roman"/>
              <a:cs typeface="Times New Roman"/>
            </a:endParaRPr>
          </a:p>
          <a:p>
            <a:pPr marL="469900" marR="259079">
              <a:lnSpc>
                <a:spcPts val="1270"/>
              </a:lnSpc>
              <a:spcBef>
                <a:spcPts val="55"/>
              </a:spcBef>
            </a:pPr>
            <a:r>
              <a:rPr dirty="0" sz="1100" spc="-5">
                <a:latin typeface="Times New Roman"/>
                <a:cs typeface="Times New Roman"/>
              </a:rPr>
              <a:t>One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week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our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class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junkyard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practice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rescuing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victim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trapped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wrecked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car.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We</a:t>
            </a:r>
            <a:r>
              <a:rPr dirty="0" sz="1100" spc="-5">
                <a:latin typeface="Times New Roman"/>
                <a:cs typeface="Times New Roman"/>
              </a:rPr>
              <a:t> learned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dismantle</a:t>
            </a:r>
            <a:r>
              <a:rPr dirty="0" sz="1100">
                <a:latin typeface="Times New Roman"/>
                <a:cs typeface="Times New Roman"/>
              </a:rPr>
              <a:t> 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essential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tools.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230"/>
              </a:lnSpc>
            </a:pP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You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were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graded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your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your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skill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extricating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victim.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788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10019" y="9493248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58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400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27380" y="342390"/>
            <a:ext cx="6083300" cy="4714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869305" algn="l"/>
              </a:tabLst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l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</a:t>
            </a:r>
            <a:r>
              <a:rPr dirty="0" sz="1100" spc="-15">
                <a:solidFill>
                  <a:srgbClr val="323232"/>
                </a:solidFill>
                <a:latin typeface="Times New Roman"/>
                <a:cs typeface="Times New Roman"/>
              </a:rPr>
              <a:t>m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entary</a:t>
            </a:r>
            <a:r>
              <a:rPr dirty="0" sz="1100" spc="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g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lish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50">
              <a:latin typeface="Times New Roman"/>
              <a:cs typeface="Times New Roman"/>
            </a:endParaRPr>
          </a:p>
          <a:p>
            <a:pPr marL="469900" marR="22860">
              <a:lnSpc>
                <a:spcPts val="1270"/>
              </a:lnSpc>
            </a:pPr>
            <a:r>
              <a:rPr dirty="0" sz="1100" spc="-5">
                <a:latin typeface="Times New Roman"/>
                <a:cs typeface="Times New Roman"/>
              </a:rPr>
              <a:t>Everyone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should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purchase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lift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ticket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unless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you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plan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spend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most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your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time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walking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crawling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up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steep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hill.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(Correct: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should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purchase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…)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195"/>
              </a:lnSpc>
            </a:pP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police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officer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often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criticized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always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being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there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when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they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aren’t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needed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never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being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295"/>
              </a:lnSpc>
            </a:pPr>
            <a:r>
              <a:rPr dirty="0" sz="1100" spc="-5">
                <a:latin typeface="Times New Roman"/>
                <a:cs typeface="Times New Roman"/>
              </a:rPr>
              <a:t>there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are.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(Correct: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Police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officers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…)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50">
              <a:latin typeface="Times New Roman"/>
              <a:cs typeface="Times New Roman"/>
            </a:endParaRPr>
          </a:p>
          <a:p>
            <a:pPr marL="467359">
              <a:lnSpc>
                <a:spcPts val="1295"/>
              </a:lnSpc>
            </a:pPr>
            <a:r>
              <a:rPr dirty="0" sz="1100" spc="-5">
                <a:latin typeface="Times New Roman"/>
                <a:cs typeface="Times New Roman"/>
              </a:rPr>
              <a:t>My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hopes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rise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fall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Joseph’s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heart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started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stopped.</a:t>
            </a:r>
            <a:endParaRPr sz="1100">
              <a:latin typeface="Times New Roman"/>
              <a:cs typeface="Times New Roman"/>
            </a:endParaRPr>
          </a:p>
          <a:p>
            <a:pPr marL="469900" marR="26670">
              <a:lnSpc>
                <a:spcPts val="1270"/>
              </a:lnSpc>
              <a:spcBef>
                <a:spcPts val="55"/>
              </a:spcBef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doctors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insert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large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tube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into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his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chest,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blood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flows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from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incision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onto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floor.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tube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drained some blood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from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his</a:t>
            </a:r>
            <a:r>
              <a:rPr dirty="0" sz="1100" spc="-5">
                <a:latin typeface="Times New Roman"/>
                <a:cs typeface="Times New Roman"/>
              </a:rPr>
              <a:t> lung, but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vain.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00">
              <a:latin typeface="Times New Roman"/>
              <a:cs typeface="Times New Roman"/>
            </a:endParaRPr>
          </a:p>
          <a:p>
            <a:pPr algn="just" marL="240665">
              <a:lnSpc>
                <a:spcPct val="100000"/>
              </a:lnSpc>
              <a:tabLst>
                <a:tab pos="926465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E4-b	Maintain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consistent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verb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tenses.</a:t>
            </a:r>
            <a:endParaRPr sz="1100">
              <a:latin typeface="Times New Roman"/>
              <a:cs typeface="Times New Roman"/>
            </a:endParaRPr>
          </a:p>
          <a:p>
            <a:pPr algn="just" marL="469900" marR="27305">
              <a:lnSpc>
                <a:spcPts val="1270"/>
              </a:lnSpc>
              <a:spcBef>
                <a:spcPts val="650"/>
              </a:spcBef>
            </a:pPr>
            <a:r>
              <a:rPr dirty="0" sz="1100" spc="-5">
                <a:latin typeface="Times New Roman"/>
                <a:cs typeface="Times New Roman"/>
              </a:rPr>
              <a:t>My hopes rise (rose) and fall (fell) as Joseph’s </a:t>
            </a:r>
            <a:r>
              <a:rPr dirty="0" sz="1100">
                <a:latin typeface="Times New Roman"/>
                <a:cs typeface="Times New Roman"/>
              </a:rPr>
              <a:t>heart </a:t>
            </a:r>
            <a:r>
              <a:rPr dirty="0" sz="1100" spc="-5">
                <a:latin typeface="Times New Roman"/>
                <a:cs typeface="Times New Roman"/>
              </a:rPr>
              <a:t>started and stopped. The doctors insert (-ed) a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large tube into his chest, and blood flows (-ed) </a:t>
            </a:r>
            <a:r>
              <a:rPr dirty="0" sz="1100">
                <a:latin typeface="Times New Roman"/>
                <a:cs typeface="Times New Roman"/>
              </a:rPr>
              <a:t>from </a:t>
            </a:r>
            <a:r>
              <a:rPr dirty="0" sz="1100" spc="-5">
                <a:latin typeface="Times New Roman"/>
                <a:cs typeface="Times New Roman"/>
              </a:rPr>
              <a:t>the incision onto the floor. The tube drained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 blood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from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lung,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vain.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(Tense Shift)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000">
              <a:latin typeface="Times New Roman"/>
              <a:cs typeface="Times New Roman"/>
            </a:endParaRPr>
          </a:p>
          <a:p>
            <a:pPr algn="just" marL="241300">
              <a:lnSpc>
                <a:spcPts val="1285"/>
              </a:lnSpc>
              <a:tabLst>
                <a:tab pos="926465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E4-c	Make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verbs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consistent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in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mood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and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voice</a:t>
            </a:r>
            <a:endParaRPr sz="1100">
              <a:latin typeface="Times New Roman"/>
              <a:cs typeface="Times New Roman"/>
            </a:endParaRPr>
          </a:p>
          <a:p>
            <a:pPr algn="just" marL="469900" marR="27305">
              <a:lnSpc>
                <a:spcPts val="1270"/>
              </a:lnSpc>
              <a:spcBef>
                <a:spcPts val="50"/>
              </a:spcBef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officers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advised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against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allowing access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homes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without proper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identification. Also,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(They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also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suggested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we)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alert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neighbors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vacation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schedules.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tabLst>
                <a:tab pos="926465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E4-d	Avoid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sudden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shifts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from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indirect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to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direct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questions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or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quotations.</a:t>
            </a:r>
            <a:endParaRPr sz="1100">
              <a:latin typeface="Times New Roman"/>
              <a:cs typeface="Times New Roman"/>
            </a:endParaRPr>
          </a:p>
          <a:p>
            <a:pPr marL="469900" marR="28575">
              <a:lnSpc>
                <a:spcPts val="1270"/>
              </a:lnSpc>
              <a:spcBef>
                <a:spcPts val="650"/>
              </a:spcBef>
            </a:pPr>
            <a:r>
              <a:rPr dirty="0" sz="1100" spc="-5">
                <a:latin typeface="Times New Roman"/>
                <a:cs typeface="Times New Roman"/>
              </a:rPr>
              <a:t>I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wonder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whether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sister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knew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murder,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if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did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(whether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reported)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reports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police.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200"/>
              </a:lnSpc>
            </a:pPr>
            <a:r>
              <a:rPr dirty="0" sz="1100" spc="-5">
                <a:latin typeface="Times New Roman"/>
                <a:cs typeface="Times New Roman"/>
              </a:rPr>
              <a:t>Mother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said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that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she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would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late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dinner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(asked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me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to)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please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leave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choir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295"/>
              </a:lnSpc>
            </a:pPr>
            <a:r>
              <a:rPr dirty="0" sz="1100" spc="-5">
                <a:latin typeface="Times New Roman"/>
                <a:cs typeface="Times New Roman"/>
              </a:rPr>
              <a:t>practice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until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Dad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home.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Source: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Hacker,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Dianna.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‘A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Writer’s</a:t>
            </a:r>
            <a:r>
              <a:rPr dirty="0" sz="1100" spc="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Reference’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Boston: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St.</a:t>
            </a:r>
            <a:r>
              <a:rPr dirty="0" sz="1100" spc="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Martin’s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Press.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1992.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257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4580" y="342390"/>
            <a:ext cx="174498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 Elementary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41311" y="342390"/>
            <a:ext cx="22669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360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67219" y="9493248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59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972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829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313183" y="526034"/>
            <a:ext cx="5831840" cy="13176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95"/>
              </a:spcBef>
            </a:pP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LECTURE</a:t>
            </a:r>
            <a:r>
              <a:rPr dirty="0" u="heavy" sz="11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18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STYLE: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GUIDELINE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AND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PITFALLS</a:t>
            </a:r>
            <a:r>
              <a:rPr dirty="0" u="heavy" sz="1100" spc="66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Font typeface="Wingdings"/>
              <a:buChar char="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Proper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proper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places.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(Swift)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Font typeface="Wingdings"/>
              <a:buChar char="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Thinking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language.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(Cardinal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Newman)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85"/>
              </a:spcBef>
              <a:buFont typeface="Wingdings"/>
              <a:buChar char="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something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say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clearly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can.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(Arnold)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84575" y="2052328"/>
            <a:ext cx="280416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How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to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Convey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Good Message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(Do’s </a:t>
            </a:r>
            <a:r>
              <a:rPr dirty="0" sz="1100" spc="-5" b="1">
                <a:latin typeface="Times New Roman"/>
                <a:cs typeface="Times New Roman"/>
              </a:rPr>
              <a:t>of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style)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13169" y="2139648"/>
            <a:ext cx="2971165" cy="122999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Omit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needless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sparing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adjectives,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lavish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verbs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Beware 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special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80"/>
              </a:spcBef>
              <a:buAutoNum type="arabicPeriod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Do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overstate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Remember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signposts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84547" y="3577852"/>
            <a:ext cx="6061710" cy="58159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STYLE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PITFALLS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(DON’TS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OF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STYLE: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295"/>
              </a:lnSpc>
            </a:pPr>
            <a:r>
              <a:rPr dirty="0" sz="1100" spc="-5" b="1">
                <a:latin typeface="Times New Roman"/>
                <a:cs typeface="Times New Roman"/>
              </a:rPr>
              <a:t>COLLOQUIALISM: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best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described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"writing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would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speak."</a:t>
            </a:r>
            <a:endParaRPr sz="1100">
              <a:latin typeface="Times New Roman"/>
              <a:cs typeface="Times New Roman"/>
            </a:endParaRPr>
          </a:p>
          <a:p>
            <a:pPr algn="just" marL="241300">
              <a:lnSpc>
                <a:spcPts val="1295"/>
              </a:lnSpc>
            </a:pPr>
            <a:r>
              <a:rPr dirty="0" sz="1100" spc="-5" b="1">
                <a:latin typeface="Times New Roman"/>
                <a:cs typeface="Times New Roman"/>
              </a:rPr>
              <a:t>1.</a:t>
            </a:r>
            <a:r>
              <a:rPr dirty="0" sz="1100" spc="69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Avoid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using "filler"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words.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290"/>
              </a:lnSpc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overused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fillers:</a:t>
            </a:r>
            <a:endParaRPr sz="1100">
              <a:latin typeface="Times New Roman"/>
              <a:cs typeface="Times New Roman"/>
            </a:endParaRPr>
          </a:p>
          <a:p>
            <a:pPr marL="12700" marR="6985" indent="-635">
              <a:lnSpc>
                <a:spcPts val="1270"/>
              </a:lnSpc>
              <a:spcBef>
                <a:spcPts val="55"/>
              </a:spcBef>
            </a:pP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Basically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–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At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best,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used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begin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sentence,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but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there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better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choices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available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replace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omitted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entirely.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E.g.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"A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microphone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 </a:t>
            </a:r>
            <a:r>
              <a:rPr dirty="0" sz="1100" spc="-5" b="1">
                <a:latin typeface="Times New Roman"/>
                <a:cs typeface="Times New Roman"/>
              </a:rPr>
              <a:t>basically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device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record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sound."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 marR="5715" indent="-635">
              <a:lnSpc>
                <a:spcPts val="1270"/>
              </a:lnSpc>
              <a:spcBef>
                <a:spcPts val="5"/>
              </a:spcBef>
            </a:pP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Even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–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Often,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found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"additive"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series,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following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example,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but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generally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needed.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E.g.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basket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contained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eggs,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sandwiches,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even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utensils."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 marR="6350">
              <a:lnSpc>
                <a:spcPts val="1270"/>
              </a:lnSpc>
              <a:spcBef>
                <a:spcPts val="5"/>
              </a:spcBef>
            </a:pP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Just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–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When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used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same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context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BASICALLY,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another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overused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filler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should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omit.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35"/>
              </a:lnSpc>
            </a:pPr>
            <a:r>
              <a:rPr dirty="0" sz="1100" spc="-5" b="1">
                <a:latin typeface="Times New Roman"/>
                <a:cs typeface="Times New Roman"/>
              </a:rPr>
              <a:t>E.g.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“When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pouring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solution,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just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be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certain,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not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to,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spill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its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contents.”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 marR="5080" indent="-635">
              <a:lnSpc>
                <a:spcPts val="1270"/>
              </a:lnSpc>
              <a:spcBef>
                <a:spcPts val="5"/>
              </a:spcBef>
            </a:pP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Well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–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Generally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used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begin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following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question.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E.g.</a:t>
            </a:r>
            <a:r>
              <a:rPr dirty="0" sz="1100" spc="1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"Why</a:t>
            </a:r>
            <a:r>
              <a:rPr dirty="0" sz="1100" spc="10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is</a:t>
            </a:r>
            <a:r>
              <a:rPr dirty="0" sz="1100" spc="1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this</a:t>
            </a:r>
            <a:r>
              <a:rPr dirty="0" sz="1100" spc="1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problem?</a:t>
            </a:r>
            <a:r>
              <a:rPr dirty="0" sz="1100" spc="10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Well,</a:t>
            </a:r>
            <a:r>
              <a:rPr dirty="0" sz="1100" spc="110" b="1"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</a:t>
            </a:r>
            <a:r>
              <a:rPr dirty="0" sz="1100" b="1">
                <a:latin typeface="Times New Roman"/>
                <a:cs typeface="Times New Roman"/>
              </a:rPr>
              <a:t>ne </a:t>
            </a:r>
            <a:r>
              <a:rPr dirty="0" sz="1100" spc="-26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major issue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is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the..."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00">
              <a:latin typeface="Times New Roman"/>
              <a:cs typeface="Times New Roman"/>
            </a:endParaRPr>
          </a:p>
          <a:p>
            <a:pPr algn="just" lvl="1" marL="469900" indent="-229235">
              <a:lnSpc>
                <a:spcPts val="1295"/>
              </a:lnSpc>
              <a:buAutoNum type="arabicPeriod" startAt="2"/>
              <a:tabLst>
                <a:tab pos="470534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Avoid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contractions</a:t>
            </a:r>
            <a:r>
              <a:rPr dirty="0" sz="1100" spc="-5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  <a:p>
            <a:pPr algn="just" marL="469900" marR="5715" indent="-635">
              <a:lnSpc>
                <a:spcPct val="95700"/>
              </a:lnSpc>
              <a:spcBef>
                <a:spcPts val="30"/>
              </a:spcBef>
            </a:pPr>
            <a:r>
              <a:rPr dirty="0" sz="1100" spc="-10">
                <a:latin typeface="Times New Roman"/>
                <a:cs typeface="Times New Roman"/>
              </a:rPr>
              <a:t>Replace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can't </a:t>
            </a:r>
            <a:r>
              <a:rPr dirty="0" sz="1100" spc="-5">
                <a:latin typeface="Times New Roman"/>
                <a:cs typeface="Times New Roman"/>
              </a:rPr>
              <a:t>with </a:t>
            </a:r>
            <a:r>
              <a:rPr dirty="0" sz="1100" spc="-5" i="1">
                <a:latin typeface="Times New Roman"/>
                <a:cs typeface="Times New Roman"/>
              </a:rPr>
              <a:t>cannot</a:t>
            </a:r>
            <a:r>
              <a:rPr dirty="0" sz="1100" spc="-5">
                <a:latin typeface="Times New Roman"/>
                <a:cs typeface="Times New Roman"/>
              </a:rPr>
              <a:t>, </a:t>
            </a:r>
            <a:r>
              <a:rPr dirty="0" sz="1100" spc="-5" i="1">
                <a:latin typeface="Times New Roman"/>
                <a:cs typeface="Times New Roman"/>
              </a:rPr>
              <a:t>doesn't </a:t>
            </a:r>
            <a:r>
              <a:rPr dirty="0" sz="1100" spc="-5">
                <a:latin typeface="Times New Roman"/>
                <a:cs typeface="Times New Roman"/>
              </a:rPr>
              <a:t>with </a:t>
            </a:r>
            <a:r>
              <a:rPr dirty="0" sz="1100" spc="-5" i="1">
                <a:latin typeface="Times New Roman"/>
                <a:cs typeface="Times New Roman"/>
              </a:rPr>
              <a:t>does not</a:t>
            </a:r>
            <a:r>
              <a:rPr dirty="0" sz="1100" spc="-5">
                <a:latin typeface="Times New Roman"/>
                <a:cs typeface="Times New Roman"/>
              </a:rPr>
              <a:t>, and so on. For example,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instead of writing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"Therefore, this can't be used as evidence in the case", write "Therefore, this </a:t>
            </a:r>
            <a:r>
              <a:rPr dirty="0" sz="1100" spc="-5" b="1">
                <a:latin typeface="Times New Roman"/>
                <a:cs typeface="Times New Roman"/>
              </a:rPr>
              <a:t>cannot </a:t>
            </a:r>
            <a:r>
              <a:rPr dirty="0" sz="1100" spc="-5">
                <a:latin typeface="Times New Roman"/>
                <a:cs typeface="Times New Roman"/>
              </a:rPr>
              <a:t>be used as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evidence 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case."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Times New Roman"/>
              <a:cs typeface="Times New Roman"/>
            </a:endParaRPr>
          </a:p>
          <a:p>
            <a:pPr lvl="1" marL="469900" indent="-229235">
              <a:lnSpc>
                <a:spcPts val="1290"/>
              </a:lnSpc>
              <a:buAutoNum type="arabicPeriod" startAt="3"/>
              <a:tabLst>
                <a:tab pos="470534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Limit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your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use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of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subjective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pronouns.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265"/>
              </a:lnSpc>
            </a:pP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 spc="2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3rd</a:t>
            </a:r>
            <a:r>
              <a:rPr dirty="0" sz="1100" spc="2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person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perspective.</a:t>
            </a:r>
            <a:r>
              <a:rPr dirty="0" sz="1100" spc="2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Don’t</a:t>
            </a:r>
            <a:r>
              <a:rPr dirty="0" sz="1100" spc="2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 spc="2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1st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2nd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person</a:t>
            </a:r>
            <a:r>
              <a:rPr dirty="0" sz="1100" spc="2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pronouns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like</a:t>
            </a:r>
            <a:r>
              <a:rPr dirty="0" sz="1100" spc="2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“I”,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“Me”,</a:t>
            </a:r>
            <a:r>
              <a:rPr dirty="0" sz="1100" spc="2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“You”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95"/>
              </a:lnSpc>
            </a:pPr>
            <a:r>
              <a:rPr dirty="0" sz="1100" spc="-5">
                <a:latin typeface="Times New Roman"/>
                <a:cs typeface="Times New Roman"/>
              </a:rPr>
              <a:t>“We”.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50">
              <a:latin typeface="Times New Roman"/>
              <a:cs typeface="Times New Roman"/>
            </a:endParaRPr>
          </a:p>
          <a:p>
            <a:pPr lvl="1" marL="469900" indent="-229235">
              <a:lnSpc>
                <a:spcPts val="1290"/>
              </a:lnSpc>
              <a:buAutoNum type="arabicPeriod" startAt="4"/>
              <a:tabLst>
                <a:tab pos="470534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Avoid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splitting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infinitives.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290"/>
              </a:lnSpc>
            </a:pP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example: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tried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sneeze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(not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sneeze)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library.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100">
              <a:latin typeface="Times New Roman"/>
              <a:cs typeface="Times New Roman"/>
            </a:endParaRPr>
          </a:p>
          <a:p>
            <a:pPr lvl="1" marL="469900" marR="2731770" indent="-228600">
              <a:lnSpc>
                <a:spcPts val="1270"/>
              </a:lnSpc>
              <a:buAutoNum type="arabicPeriod" startAt="5"/>
              <a:tabLst>
                <a:tab pos="470534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Avoid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ending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your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sentences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with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preposition</a:t>
            </a:r>
            <a:r>
              <a:rPr dirty="0" sz="1100" spc="-5">
                <a:latin typeface="Times New Roman"/>
                <a:cs typeface="Times New Roman"/>
              </a:rPr>
              <a:t>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Before: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“What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filled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with?"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220"/>
              </a:lnSpc>
            </a:pPr>
            <a:r>
              <a:rPr dirty="0" sz="1100" spc="-5">
                <a:latin typeface="Times New Roman"/>
                <a:cs typeface="Times New Roman"/>
              </a:rPr>
              <a:t>After: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"What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inside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bag?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Times New Roman"/>
              <a:cs typeface="Times New Roman"/>
            </a:endParaRPr>
          </a:p>
          <a:p>
            <a:pPr lvl="1" marL="469900" indent="-229235">
              <a:lnSpc>
                <a:spcPct val="100000"/>
              </a:lnSpc>
              <a:spcBef>
                <a:spcPts val="5"/>
              </a:spcBef>
              <a:buAutoNum type="arabicPeriod" startAt="6"/>
              <a:tabLst>
                <a:tab pos="470534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Avoid stage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directions.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788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10019" y="9493248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60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400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27350" y="342390"/>
            <a:ext cx="6083300" cy="23044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869305" algn="l"/>
              </a:tabLst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l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</a:t>
            </a:r>
            <a:r>
              <a:rPr dirty="0" sz="1100" spc="-15">
                <a:solidFill>
                  <a:srgbClr val="323232"/>
                </a:solidFill>
                <a:latin typeface="Times New Roman"/>
                <a:cs typeface="Times New Roman"/>
              </a:rPr>
              <a:t>m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entary</a:t>
            </a:r>
            <a:r>
              <a:rPr dirty="0" sz="1100" spc="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g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lish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50">
              <a:latin typeface="Times New Roman"/>
              <a:cs typeface="Times New Roman"/>
            </a:endParaRPr>
          </a:p>
          <a:p>
            <a:pPr marL="469900" marR="27940">
              <a:lnSpc>
                <a:spcPts val="1270"/>
              </a:lnSpc>
            </a:pPr>
            <a:r>
              <a:rPr dirty="0" sz="1100" spc="-5">
                <a:latin typeface="Times New Roman"/>
                <a:cs typeface="Times New Roman"/>
              </a:rPr>
              <a:t>Do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commence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by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telling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reader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doing,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begin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essay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by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telling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reader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paper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discuss.</a:t>
            </a:r>
            <a:endParaRPr sz="1100">
              <a:latin typeface="Times New Roman"/>
              <a:cs typeface="Times New Roman"/>
            </a:endParaRPr>
          </a:p>
          <a:p>
            <a:pPr marL="711200">
              <a:lnSpc>
                <a:spcPts val="1195"/>
              </a:lnSpc>
            </a:pPr>
            <a:r>
              <a:rPr dirty="0" sz="1100" spc="-5">
                <a:latin typeface="Times New Roman"/>
                <a:cs typeface="Times New Roman"/>
              </a:rPr>
              <a:t>"I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ask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to..."</a:t>
            </a:r>
            <a:endParaRPr sz="1100">
              <a:latin typeface="Times New Roman"/>
              <a:cs typeface="Times New Roman"/>
            </a:endParaRPr>
          </a:p>
          <a:p>
            <a:pPr marL="698500">
              <a:lnSpc>
                <a:spcPts val="1295"/>
              </a:lnSpc>
            </a:pPr>
            <a:r>
              <a:rPr dirty="0" sz="1100" spc="-5">
                <a:latin typeface="Times New Roman"/>
                <a:cs typeface="Times New Roman"/>
              </a:rPr>
              <a:t>"This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paper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talk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how..."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Times New Roman"/>
              <a:cs typeface="Times New Roman"/>
            </a:endParaRPr>
          </a:p>
          <a:p>
            <a:pPr marL="241300">
              <a:lnSpc>
                <a:spcPts val="1290"/>
              </a:lnSpc>
            </a:pPr>
            <a:r>
              <a:rPr dirty="0" sz="1100" spc="-5" b="1">
                <a:latin typeface="Times New Roman"/>
                <a:cs typeface="Times New Roman"/>
              </a:rPr>
              <a:t>7.</a:t>
            </a:r>
            <a:r>
              <a:rPr dirty="0" sz="1100" spc="409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Avoid vague words.</a:t>
            </a:r>
            <a:endParaRPr sz="1100">
              <a:latin typeface="Times New Roman"/>
              <a:cs typeface="Times New Roman"/>
            </a:endParaRPr>
          </a:p>
          <a:p>
            <a:pPr marL="469900" marR="26670">
              <a:lnSpc>
                <a:spcPts val="1270"/>
              </a:lnSpc>
              <a:spcBef>
                <a:spcPts val="55"/>
              </a:spcBef>
            </a:pPr>
            <a:r>
              <a:rPr dirty="0" sz="1100" spc="-5">
                <a:latin typeface="Times New Roman"/>
                <a:cs typeface="Times New Roman"/>
              </a:rPr>
              <a:t>Vague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described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open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interpretation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don't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express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your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well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precise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would.</a:t>
            </a:r>
            <a:endParaRPr sz="1100">
              <a:latin typeface="Times New Roman"/>
              <a:cs typeface="Times New Roman"/>
            </a:endParaRPr>
          </a:p>
          <a:p>
            <a:pPr marL="698500">
              <a:lnSpc>
                <a:spcPts val="1195"/>
              </a:lnSpc>
            </a:pPr>
            <a:r>
              <a:rPr dirty="0" sz="1100" spc="-5">
                <a:latin typeface="Times New Roman"/>
                <a:cs typeface="Times New Roman"/>
              </a:rPr>
              <a:t>There are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few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ways</a:t>
            </a:r>
            <a:r>
              <a:rPr dirty="0" sz="1100" spc="-5">
                <a:latin typeface="Times New Roman"/>
                <a:cs typeface="Times New Roman"/>
              </a:rPr>
              <a:t> 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solve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equation.</a:t>
            </a:r>
            <a:endParaRPr sz="1100">
              <a:latin typeface="Times New Roman"/>
              <a:cs typeface="Times New Roman"/>
            </a:endParaRPr>
          </a:p>
          <a:p>
            <a:pPr marL="697865">
              <a:lnSpc>
                <a:spcPts val="1295"/>
              </a:lnSpc>
            </a:pPr>
            <a:r>
              <a:rPr dirty="0" sz="1100" spc="-5">
                <a:latin typeface="Times New Roman"/>
                <a:cs typeface="Times New Roman"/>
              </a:rPr>
              <a:t>She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made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enough </a:t>
            </a:r>
            <a:r>
              <a:rPr dirty="0" sz="1100" spc="-5">
                <a:latin typeface="Times New Roman"/>
                <a:cs typeface="Times New Roman"/>
              </a:rPr>
              <a:t>food.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COLLOQUIAL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VS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FORMAL: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257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244566" y="2701229"/>
            <a:ext cx="987425" cy="2195195"/>
          </a:xfrm>
          <a:prstGeom prst="rect">
            <a:avLst/>
          </a:prstGeom>
        </p:spPr>
        <p:txBody>
          <a:bodyPr wrap="square" lIns="0" tIns="863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dirty="0" sz="1100" spc="-10" b="1">
                <a:latin typeface="Times New Roman"/>
                <a:cs typeface="Times New Roman"/>
              </a:rPr>
              <a:t>CO</a:t>
            </a:r>
            <a:r>
              <a:rPr dirty="0" sz="1100" b="1">
                <a:latin typeface="Times New Roman"/>
                <a:cs typeface="Times New Roman"/>
              </a:rPr>
              <a:t>L</a:t>
            </a:r>
            <a:r>
              <a:rPr dirty="0" sz="1100" spc="-10" b="1">
                <a:latin typeface="Times New Roman"/>
                <a:cs typeface="Times New Roman"/>
              </a:rPr>
              <a:t>LOQU</a:t>
            </a:r>
            <a:r>
              <a:rPr dirty="0" sz="1100" spc="-5" b="1">
                <a:latin typeface="Times New Roman"/>
                <a:cs typeface="Times New Roman"/>
              </a:rPr>
              <a:t>I</a:t>
            </a:r>
            <a:r>
              <a:rPr dirty="0" sz="1100" spc="-10" b="1">
                <a:latin typeface="Times New Roman"/>
                <a:cs typeface="Times New Roman"/>
              </a:rPr>
              <a:t>AL</a:t>
            </a:r>
            <a:endParaRPr sz="1100">
              <a:latin typeface="Times New Roman"/>
              <a:cs typeface="Times New Roman"/>
            </a:endParaRPr>
          </a:p>
          <a:p>
            <a:pPr marL="12700" marR="418465">
              <a:lnSpc>
                <a:spcPct val="143700"/>
              </a:lnSpc>
              <a:spcBef>
                <a:spcPts val="5"/>
              </a:spcBef>
            </a:pPr>
            <a:r>
              <a:rPr dirty="0" sz="1100" spc="-5" b="1">
                <a:latin typeface="Times New Roman"/>
                <a:cs typeface="Times New Roman"/>
              </a:rPr>
              <a:t>a</a:t>
            </a:r>
            <a:r>
              <a:rPr dirty="0" sz="1100" spc="26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lot 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ain’t 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alright 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anyways </a:t>
            </a:r>
            <a:r>
              <a:rPr dirty="0" sz="1100" spc="-26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could of 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would of </a:t>
            </a:r>
            <a:r>
              <a:rPr dirty="0" sz="1100" spc="-26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should</a:t>
            </a:r>
            <a:r>
              <a:rPr dirty="0" sz="1100" spc="-6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of </a:t>
            </a:r>
            <a:r>
              <a:rPr dirty="0" sz="1100" spc="-26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Get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10" b="1">
                <a:latin typeface="Times New Roman"/>
                <a:cs typeface="Times New Roman"/>
              </a:rPr>
              <a:t>it.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48529" y="2701243"/>
            <a:ext cx="766445" cy="2195195"/>
          </a:xfrm>
          <a:prstGeom prst="rect">
            <a:avLst/>
          </a:prstGeom>
        </p:spPr>
        <p:txBody>
          <a:bodyPr wrap="square" lIns="0" tIns="863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dirty="0" sz="1100" spc="-5" b="1">
                <a:latin typeface="Times New Roman"/>
                <a:cs typeface="Times New Roman"/>
              </a:rPr>
              <a:t>FORMAL</a:t>
            </a:r>
            <a:endParaRPr sz="1100">
              <a:latin typeface="Times New Roman"/>
              <a:cs typeface="Times New Roman"/>
            </a:endParaRPr>
          </a:p>
          <a:p>
            <a:pPr marL="12700" marR="267335">
              <a:lnSpc>
                <a:spcPct val="143600"/>
              </a:lnSpc>
              <a:spcBef>
                <a:spcPts val="5"/>
              </a:spcBef>
            </a:pPr>
            <a:r>
              <a:rPr dirty="0" sz="1100" spc="-5" b="1">
                <a:latin typeface="Times New Roman"/>
                <a:cs typeface="Times New Roman"/>
              </a:rPr>
              <a:t>several 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is</a:t>
            </a:r>
            <a:r>
              <a:rPr dirty="0" sz="1100" spc="26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not 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all</a:t>
            </a:r>
            <a:r>
              <a:rPr dirty="0" sz="1100" spc="-6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right </a:t>
            </a:r>
            <a:r>
              <a:rPr dirty="0" sz="1100" spc="-26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anyway</a:t>
            </a:r>
            <a:endParaRPr sz="1100">
              <a:latin typeface="Times New Roman"/>
              <a:cs typeface="Times New Roman"/>
            </a:endParaRPr>
          </a:p>
          <a:p>
            <a:pPr algn="just" marL="12700" marR="5080">
              <a:lnSpc>
                <a:spcPct val="143600"/>
              </a:lnSpc>
              <a:spcBef>
                <a:spcPts val="10"/>
              </a:spcBef>
            </a:pPr>
            <a:r>
              <a:rPr dirty="0" sz="1100" spc="-5" b="1">
                <a:latin typeface="Times New Roman"/>
                <a:cs typeface="Times New Roman"/>
              </a:rPr>
              <a:t>could have 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would have 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should have </a:t>
            </a:r>
            <a:r>
              <a:rPr dirty="0" sz="1100" spc="-26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Understand.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47151" y="2701257"/>
            <a:ext cx="987425" cy="1231265"/>
          </a:xfrm>
          <a:prstGeom prst="rect">
            <a:avLst/>
          </a:prstGeom>
        </p:spPr>
        <p:txBody>
          <a:bodyPr wrap="square" lIns="0" tIns="863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dirty="0" sz="1100" spc="-10" b="1">
                <a:latin typeface="Times New Roman"/>
                <a:cs typeface="Times New Roman"/>
              </a:rPr>
              <a:t>CO</a:t>
            </a:r>
            <a:r>
              <a:rPr dirty="0" sz="1100" b="1">
                <a:latin typeface="Times New Roman"/>
                <a:cs typeface="Times New Roman"/>
              </a:rPr>
              <a:t>L</a:t>
            </a:r>
            <a:r>
              <a:rPr dirty="0" sz="1100" spc="-10" b="1">
                <a:latin typeface="Times New Roman"/>
                <a:cs typeface="Times New Roman"/>
              </a:rPr>
              <a:t>LOQU</a:t>
            </a:r>
            <a:r>
              <a:rPr dirty="0" sz="1100" spc="-5" b="1">
                <a:latin typeface="Times New Roman"/>
                <a:cs typeface="Times New Roman"/>
              </a:rPr>
              <a:t>I</a:t>
            </a:r>
            <a:r>
              <a:rPr dirty="0" sz="1100" spc="-10" b="1">
                <a:latin typeface="Times New Roman"/>
                <a:cs typeface="Times New Roman"/>
              </a:rPr>
              <a:t>AL</a:t>
            </a:r>
            <a:endParaRPr sz="1100">
              <a:latin typeface="Times New Roman"/>
              <a:cs typeface="Times New Roman"/>
            </a:endParaRPr>
          </a:p>
          <a:p>
            <a:pPr marL="12700" marR="131445">
              <a:lnSpc>
                <a:spcPct val="143600"/>
              </a:lnSpc>
              <a:spcBef>
                <a:spcPts val="5"/>
              </a:spcBef>
            </a:pPr>
            <a:r>
              <a:rPr dirty="0" sz="1100" spc="-5" b="1">
                <a:latin typeface="Times New Roman"/>
                <a:cs typeface="Times New Roman"/>
              </a:rPr>
              <a:t>Do you got… 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gonna,</a:t>
            </a:r>
            <a:r>
              <a:rPr dirty="0" sz="1100" spc="-5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wanna </a:t>
            </a:r>
            <a:r>
              <a:rPr dirty="0" sz="1100" spc="-26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kinda,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kind</a:t>
            </a:r>
            <a:r>
              <a:rPr dirty="0" sz="1100" spc="-3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of </a:t>
            </a:r>
            <a:r>
              <a:rPr dirty="0" sz="1100" spc="-26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It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is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like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he…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47151" y="4148288"/>
            <a:ext cx="782955" cy="74803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1100" spc="-5" b="1">
                <a:latin typeface="Times New Roman"/>
                <a:cs typeface="Times New Roman"/>
              </a:rPr>
              <a:t>pretty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43600"/>
              </a:lnSpc>
            </a:pPr>
            <a:r>
              <a:rPr dirty="0" sz="1100" spc="-5" b="1">
                <a:latin typeface="Times New Roman"/>
                <a:cs typeface="Times New Roman"/>
              </a:rPr>
              <a:t>real / really 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sorta,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sort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of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50346" y="2701270"/>
            <a:ext cx="1221105" cy="2195195"/>
          </a:xfrm>
          <a:prstGeom prst="rect">
            <a:avLst/>
          </a:prstGeom>
        </p:spPr>
        <p:txBody>
          <a:bodyPr wrap="square" lIns="0" tIns="863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dirty="0" sz="1100" spc="-5" b="1">
                <a:latin typeface="Times New Roman"/>
                <a:cs typeface="Times New Roman"/>
              </a:rPr>
              <a:t>FORMAL</a:t>
            </a:r>
            <a:endParaRPr sz="1100">
              <a:latin typeface="Times New Roman"/>
              <a:cs typeface="Times New Roman"/>
            </a:endParaRPr>
          </a:p>
          <a:p>
            <a:pPr marL="12700" marR="206375">
              <a:lnSpc>
                <a:spcPct val="143600"/>
              </a:lnSpc>
              <a:spcBef>
                <a:spcPts val="5"/>
              </a:spcBef>
            </a:pPr>
            <a:r>
              <a:rPr dirty="0" sz="1100" spc="-5" b="1">
                <a:latin typeface="Times New Roman"/>
                <a:cs typeface="Times New Roman"/>
              </a:rPr>
              <a:t>Do you have… 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going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to,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want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to </a:t>
            </a:r>
            <a:r>
              <a:rPr dirty="0" sz="1100" spc="-26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type of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ts val="1900"/>
              </a:lnSpc>
              <a:spcBef>
                <a:spcPts val="160"/>
              </a:spcBef>
            </a:pPr>
            <a:r>
              <a:rPr dirty="0" sz="1100" spc="-5" b="1">
                <a:latin typeface="Times New Roman"/>
                <a:cs typeface="Times New Roman"/>
              </a:rPr>
              <a:t>It</a:t>
            </a:r>
            <a:r>
              <a:rPr dirty="0" sz="1100" spc="10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is,</a:t>
            </a:r>
            <a:r>
              <a:rPr dirty="0" sz="1100" spc="1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as</a:t>
            </a:r>
            <a:r>
              <a:rPr dirty="0" sz="1100" spc="10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if,</a:t>
            </a:r>
            <a:r>
              <a:rPr dirty="0" sz="1100" spc="11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he</a:t>
            </a:r>
            <a:r>
              <a:rPr dirty="0" sz="1100" spc="10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never </a:t>
            </a:r>
            <a:r>
              <a:rPr dirty="0" sz="1100" spc="-26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existed.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1100" spc="-5" b="1">
                <a:latin typeface="Times New Roman"/>
                <a:cs typeface="Times New Roman"/>
              </a:rPr>
              <a:t>very</a:t>
            </a:r>
            <a:endParaRPr sz="1100">
              <a:latin typeface="Times New Roman"/>
              <a:cs typeface="Times New Roman"/>
            </a:endParaRPr>
          </a:p>
          <a:p>
            <a:pPr marL="12700" marR="630555">
              <a:lnSpc>
                <a:spcPct val="143600"/>
              </a:lnSpc>
            </a:pPr>
            <a:r>
              <a:rPr dirty="0" sz="1100" spc="-5" b="1">
                <a:latin typeface="Times New Roman"/>
                <a:cs typeface="Times New Roman"/>
              </a:rPr>
              <a:t>very hot 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similar</a:t>
            </a:r>
            <a:r>
              <a:rPr dirty="0" sz="1100" spc="-6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to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7350" y="5173495"/>
            <a:ext cx="6061710" cy="3084195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algn="just" marL="12700" marR="5080">
              <a:lnSpc>
                <a:spcPct val="95700"/>
              </a:lnSpc>
              <a:spcBef>
                <a:spcPts val="155"/>
              </a:spcBef>
            </a:pPr>
            <a:r>
              <a:rPr dirty="0" sz="1100" spc="-5" b="1">
                <a:latin typeface="Times New Roman"/>
                <a:cs typeface="Times New Roman"/>
              </a:rPr>
              <a:t>CIRCUMLOCUTION:</a:t>
            </a:r>
            <a:r>
              <a:rPr dirty="0" sz="1100" spc="22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2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many</a:t>
            </a:r>
            <a:r>
              <a:rPr dirty="0" sz="1100" spc="2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where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few</a:t>
            </a:r>
            <a:r>
              <a:rPr dirty="0" sz="1100" spc="2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would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do.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Circumlocution</a:t>
            </a:r>
            <a:r>
              <a:rPr dirty="0" sz="1100" spc="21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2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figure</a:t>
            </a:r>
            <a:r>
              <a:rPr dirty="0" sz="1100" spc="2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speech </a:t>
            </a:r>
            <a:r>
              <a:rPr dirty="0" sz="1100">
                <a:latin typeface="Times New Roman"/>
                <a:cs typeface="Times New Roman"/>
              </a:rPr>
              <a:t>where </a:t>
            </a:r>
            <a:r>
              <a:rPr dirty="0" sz="1100" spc="-5">
                <a:latin typeface="Times New Roman"/>
                <a:cs typeface="Times New Roman"/>
              </a:rPr>
              <a:t>the meaning of a word or phrase is indirectly expressed through several or many words. Its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antonym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brevity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conciseness.</a:t>
            </a:r>
            <a:endParaRPr sz="1100">
              <a:latin typeface="Times New Roman"/>
              <a:cs typeface="Times New Roman"/>
            </a:endParaRPr>
          </a:p>
          <a:p>
            <a:pPr algn="just" marL="12700" marR="5080">
              <a:lnSpc>
                <a:spcPts val="1270"/>
              </a:lnSpc>
              <a:spcBef>
                <a:spcPts val="30"/>
              </a:spcBef>
            </a:pPr>
            <a:r>
              <a:rPr dirty="0" sz="1100" spc="-5">
                <a:latin typeface="Times New Roman"/>
                <a:cs typeface="Times New Roman"/>
              </a:rPr>
              <a:t>Usually everywhere politicians and government officials adopt this circumlocution .e.g. the traditional red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tape.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 algn="just" marL="469900" marR="5715" indent="-229235">
              <a:lnSpc>
                <a:spcPts val="1260"/>
              </a:lnSpc>
              <a:buAutoNum type="arabicPeriod"/>
              <a:tabLst>
                <a:tab pos="469900" algn="l"/>
              </a:tabLst>
            </a:pPr>
            <a:r>
              <a:rPr dirty="0" sz="1100" spc="-10" b="1">
                <a:latin typeface="Times New Roman"/>
                <a:cs typeface="Times New Roman"/>
              </a:rPr>
              <a:t>Before:</a:t>
            </a:r>
            <a:r>
              <a:rPr dirty="0" sz="1100" spc="10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minister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cause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inquires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instituted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view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ascertaining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views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general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public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upon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subject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national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dietary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standards.</a:t>
            </a:r>
            <a:endParaRPr sz="1100">
              <a:latin typeface="Times New Roman"/>
              <a:cs typeface="Times New Roman"/>
            </a:endParaRPr>
          </a:p>
          <a:p>
            <a:pPr algn="just" marL="469900">
              <a:lnSpc>
                <a:spcPts val="1235"/>
              </a:lnSpc>
            </a:pPr>
            <a:r>
              <a:rPr dirty="0" sz="1100" spc="-10" b="1">
                <a:latin typeface="Times New Roman"/>
                <a:cs typeface="Times New Roman"/>
              </a:rPr>
              <a:t>After: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Minister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find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people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think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national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diet.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100">
              <a:latin typeface="Times New Roman"/>
              <a:cs typeface="Times New Roman"/>
            </a:endParaRPr>
          </a:p>
          <a:p>
            <a:pPr algn="just" marL="469900" marR="5715" indent="-229235">
              <a:lnSpc>
                <a:spcPts val="1270"/>
              </a:lnSpc>
              <a:buAutoNum type="arabicPeriod" startAt="2"/>
              <a:tabLst>
                <a:tab pos="469900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Before: All things considered</a:t>
            </a:r>
            <a:r>
              <a:rPr dirty="0" sz="1100" spc="-5">
                <a:latin typeface="Times New Roman"/>
                <a:cs typeface="Times New Roman"/>
              </a:rPr>
              <a:t>, </a:t>
            </a:r>
            <a:r>
              <a:rPr dirty="0" sz="1100" spc="-5" b="1">
                <a:latin typeface="Times New Roman"/>
                <a:cs typeface="Times New Roman"/>
              </a:rPr>
              <a:t>it seems like </a:t>
            </a:r>
            <a:r>
              <a:rPr dirty="0" sz="1100" spc="-5">
                <a:latin typeface="Times New Roman"/>
                <a:cs typeface="Times New Roman"/>
              </a:rPr>
              <a:t>the new tax cut imposed by the administration will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without</a:t>
            </a:r>
            <a:r>
              <a:rPr dirty="0" sz="1100" spc="16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</a:t>
            </a:r>
            <a:r>
              <a:rPr dirty="0" sz="1100" spc="17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doubt</a:t>
            </a:r>
            <a:r>
              <a:rPr dirty="0" sz="1100" spc="17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make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wealthy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wealthier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poor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poorer.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When</a:t>
            </a:r>
            <a:r>
              <a:rPr dirty="0" sz="1100" spc="17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</a:t>
            </a:r>
            <a:r>
              <a:rPr dirty="0" sz="1100" spc="16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administration’s </a:t>
            </a:r>
            <a:r>
              <a:rPr dirty="0" sz="1100" spc="-26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new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tax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cut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is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passed</a:t>
            </a:r>
            <a:r>
              <a:rPr dirty="0" sz="1100" spc="-5">
                <a:latin typeface="Times New Roman"/>
                <a:cs typeface="Times New Roman"/>
              </a:rPr>
              <a:t>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children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living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poverty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affected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worst.</a:t>
            </a:r>
            <a:endParaRPr sz="1100">
              <a:latin typeface="Times New Roman"/>
              <a:cs typeface="Times New Roman"/>
            </a:endParaRPr>
          </a:p>
          <a:p>
            <a:pPr algn="just" marL="469900">
              <a:lnSpc>
                <a:spcPts val="1190"/>
              </a:lnSpc>
            </a:pPr>
            <a:r>
              <a:rPr dirty="0" sz="1100" spc="-10" b="1">
                <a:latin typeface="Times New Roman"/>
                <a:cs typeface="Times New Roman"/>
              </a:rPr>
              <a:t>After:</a:t>
            </a:r>
            <a:r>
              <a:rPr dirty="0" sz="1100" spc="34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3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new</a:t>
            </a:r>
            <a:r>
              <a:rPr dirty="0" sz="1100" spc="3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tax</a:t>
            </a:r>
            <a:r>
              <a:rPr dirty="0" sz="1100" spc="3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cut</a:t>
            </a:r>
            <a:r>
              <a:rPr dirty="0" sz="1100" spc="3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imposed</a:t>
            </a:r>
            <a:r>
              <a:rPr dirty="0" sz="1100" spc="3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by</a:t>
            </a:r>
            <a:r>
              <a:rPr dirty="0" sz="1100" spc="3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3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administration</a:t>
            </a:r>
            <a:r>
              <a:rPr dirty="0" sz="1100" spc="3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</a:t>
            </a:r>
            <a:r>
              <a:rPr dirty="0" sz="1100" spc="3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undoubtedly</a:t>
            </a:r>
            <a:r>
              <a:rPr dirty="0" sz="1100" spc="3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make</a:t>
            </a:r>
            <a:r>
              <a:rPr dirty="0" sz="1100" spc="3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3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wealthy</a:t>
            </a:r>
            <a:endParaRPr sz="1100">
              <a:latin typeface="Times New Roman"/>
              <a:cs typeface="Times New Roman"/>
            </a:endParaRPr>
          </a:p>
          <a:p>
            <a:pPr algn="just" marL="469900">
              <a:lnSpc>
                <a:spcPts val="1295"/>
              </a:lnSpc>
            </a:pPr>
            <a:r>
              <a:rPr dirty="0" sz="1100" spc="-5">
                <a:latin typeface="Times New Roman"/>
                <a:cs typeface="Times New Roman"/>
              </a:rPr>
              <a:t>wealthier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poorer.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Consequently,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children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living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poverty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severely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affected.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100">
              <a:latin typeface="Times New Roman"/>
              <a:cs typeface="Times New Roman"/>
            </a:endParaRPr>
          </a:p>
          <a:p>
            <a:pPr algn="just" marL="469900" marR="6350" indent="-228600">
              <a:lnSpc>
                <a:spcPts val="1270"/>
              </a:lnSpc>
              <a:buAutoNum type="arabicPeriod" startAt="3"/>
              <a:tabLst>
                <a:tab pos="469900" algn="l"/>
              </a:tabLst>
            </a:pPr>
            <a:r>
              <a:rPr dirty="0" sz="1100" spc="-10" b="1">
                <a:latin typeface="Times New Roman"/>
                <a:cs typeface="Times New Roman"/>
              </a:rPr>
              <a:t>Before:</a:t>
            </a:r>
            <a:r>
              <a:rPr dirty="0" sz="1100" spc="-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High-quality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environments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necessary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precondition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facilitation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enhancement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ongoing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process.</a:t>
            </a:r>
            <a:endParaRPr sz="1100">
              <a:latin typeface="Times New Roman"/>
              <a:cs typeface="Times New Roman"/>
            </a:endParaRPr>
          </a:p>
          <a:p>
            <a:pPr algn="just" marL="469900">
              <a:lnSpc>
                <a:spcPts val="1220"/>
              </a:lnSpc>
            </a:pPr>
            <a:r>
              <a:rPr dirty="0" sz="1100" spc="-10" b="1">
                <a:latin typeface="Times New Roman"/>
                <a:cs typeface="Times New Roman"/>
              </a:rPr>
              <a:t>After: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Children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good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schools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properly.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4580" y="342390"/>
            <a:ext cx="174498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 Elementary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41311" y="342390"/>
            <a:ext cx="22669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972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829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84536" y="526034"/>
            <a:ext cx="6062980" cy="91757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r" marR="6985">
              <a:lnSpc>
                <a:spcPct val="100000"/>
              </a:lnSpc>
              <a:spcBef>
                <a:spcPts val="95"/>
              </a:spcBef>
            </a:pP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LECTURE</a:t>
            </a:r>
            <a:r>
              <a:rPr dirty="0" u="heavy" sz="11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19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50">
              <a:latin typeface="Times New Roman"/>
              <a:cs typeface="Times New Roman"/>
            </a:endParaRPr>
          </a:p>
          <a:p>
            <a:pPr algn="ctr" marL="225425">
              <a:lnSpc>
                <a:spcPct val="100000"/>
              </a:lnSpc>
            </a:pP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STYLE: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GUIDELINE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AND PITFALLS</a:t>
            </a:r>
            <a:r>
              <a:rPr dirty="0" u="heavy" sz="1100" spc="38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II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290"/>
              </a:lnSpc>
            </a:pPr>
            <a:r>
              <a:rPr dirty="0" sz="1100" spc="-5" b="1">
                <a:latin typeface="Times New Roman"/>
                <a:cs typeface="Times New Roman"/>
              </a:rPr>
              <a:t>AMBIGUITY:</a:t>
            </a:r>
            <a:endParaRPr sz="1100">
              <a:latin typeface="Times New Roman"/>
              <a:cs typeface="Times New Roman"/>
            </a:endParaRPr>
          </a:p>
          <a:p>
            <a:pPr algn="just" marL="12700">
              <a:lnSpc>
                <a:spcPts val="1290"/>
              </a:lnSpc>
            </a:pPr>
            <a:r>
              <a:rPr dirty="0" sz="1100" spc="-5">
                <a:latin typeface="Times New Roman"/>
                <a:cs typeface="Times New Roman"/>
              </a:rPr>
              <a:t>Ambiguity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(ambiguity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syntactical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semantically)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100">
              <a:latin typeface="Times New Roman"/>
              <a:cs typeface="Times New Roman"/>
            </a:endParaRPr>
          </a:p>
          <a:p>
            <a:pPr algn="just" marL="12700" marR="9525">
              <a:lnSpc>
                <a:spcPts val="1270"/>
              </a:lnSpc>
            </a:pPr>
            <a:r>
              <a:rPr dirty="0" sz="1100" spc="-5">
                <a:latin typeface="Times New Roman"/>
                <a:cs typeface="Times New Roman"/>
              </a:rPr>
              <a:t>You write to make life easier for your readers," Rob continued. "Ambiguity makes life harder. It causes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hesitation,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doubt,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frustration.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slows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down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read."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 marR="6985">
              <a:lnSpc>
                <a:spcPts val="1270"/>
              </a:lnSpc>
            </a:pPr>
            <a:r>
              <a:rPr dirty="0" sz="1100" spc="-5">
                <a:latin typeface="Times New Roman"/>
                <a:cs typeface="Times New Roman"/>
              </a:rPr>
              <a:t>Ambiguity in writing can be either intentional or unintentional.</a:t>
            </a:r>
            <a:r>
              <a:rPr dirty="0" sz="1100" spc="2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Intentional ambiguity may be used to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mislead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reader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might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necessary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due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context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subject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matter.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Unintentional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ambiguity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should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always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avoided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practice.</a:t>
            </a:r>
            <a:endParaRPr sz="1100">
              <a:latin typeface="Times New Roman"/>
              <a:cs typeface="Times New Roman"/>
            </a:endParaRPr>
          </a:p>
          <a:p>
            <a:pPr algn="just" marL="12700">
              <a:lnSpc>
                <a:spcPts val="1195"/>
              </a:lnSpc>
            </a:pPr>
            <a:r>
              <a:rPr dirty="0" sz="1100" spc="-5">
                <a:latin typeface="Times New Roman"/>
                <a:cs typeface="Times New Roman"/>
              </a:rPr>
              <a:t>Three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types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ambiguity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exist.</a:t>
            </a:r>
            <a:r>
              <a:rPr dirty="0" sz="1100" spc="4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Understanding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differences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between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types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help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identify</a:t>
            </a:r>
            <a:endParaRPr sz="1100">
              <a:latin typeface="Times New Roman"/>
              <a:cs typeface="Times New Roman"/>
            </a:endParaRPr>
          </a:p>
          <a:p>
            <a:pPr algn="just" marL="12700">
              <a:lnSpc>
                <a:spcPts val="1290"/>
              </a:lnSpc>
            </a:pPr>
            <a:r>
              <a:rPr dirty="0" sz="1100" spc="-5">
                <a:latin typeface="Times New Roman"/>
                <a:cs typeface="Times New Roman"/>
              </a:rPr>
              <a:t>ambiguity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avoid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including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unintentional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ambiguity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own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writing.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100">
              <a:latin typeface="Times New Roman"/>
              <a:cs typeface="Times New Roman"/>
            </a:endParaRPr>
          </a:p>
          <a:p>
            <a:pPr algn="just" marL="12700" marR="5080">
              <a:lnSpc>
                <a:spcPts val="1270"/>
              </a:lnSpc>
            </a:pPr>
            <a:r>
              <a:rPr dirty="0" sz="1100" spc="-5">
                <a:latin typeface="Times New Roman"/>
                <a:cs typeface="Times New Roman"/>
              </a:rPr>
              <a:t>In the following examples, identify the ambiguity and </a:t>
            </a:r>
            <a:r>
              <a:rPr dirty="0" sz="1100">
                <a:latin typeface="Times New Roman"/>
                <a:cs typeface="Times New Roman"/>
              </a:rPr>
              <a:t>decide </a:t>
            </a:r>
            <a:r>
              <a:rPr dirty="0" sz="1100" spc="-5">
                <a:latin typeface="Times New Roman"/>
                <a:cs typeface="Times New Roman"/>
              </a:rPr>
              <a:t>how the claims can be re-written to get rid of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ambiguity.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000">
              <a:latin typeface="Times New Roman"/>
              <a:cs typeface="Times New Roman"/>
            </a:endParaRPr>
          </a:p>
          <a:p>
            <a:pPr marL="469900" indent="-229235">
              <a:lnSpc>
                <a:spcPct val="100000"/>
              </a:lnSpc>
              <a:buFont typeface="Times New Roman"/>
              <a:buAutoNum type="arabicPeriod"/>
              <a:tabLst>
                <a:tab pos="470534" algn="l"/>
              </a:tabLst>
            </a:pPr>
            <a:r>
              <a:rPr dirty="0" sz="1100" spc="-5">
                <a:latin typeface="Times New Roman"/>
                <a:cs typeface="Times New Roman"/>
              </a:rPr>
              <a:t>Marry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said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sister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fault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hers.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(not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clear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whose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fault)</a:t>
            </a:r>
            <a:endParaRPr sz="1100">
              <a:latin typeface="Times New Roman"/>
              <a:cs typeface="Times New Roman"/>
            </a:endParaRPr>
          </a:p>
          <a:p>
            <a:pPr marL="469900" indent="-229235">
              <a:lnSpc>
                <a:spcPct val="100000"/>
              </a:lnSpc>
              <a:spcBef>
                <a:spcPts val="580"/>
              </a:spcBef>
              <a:buFont typeface="Times New Roman"/>
              <a:buAutoNum type="arabicPeriod"/>
              <a:tabLst>
                <a:tab pos="470534" algn="l"/>
              </a:tabLst>
            </a:pPr>
            <a:r>
              <a:rPr dirty="0" sz="1100" spc="-5">
                <a:latin typeface="Times New Roman"/>
                <a:cs typeface="Times New Roman"/>
              </a:rPr>
              <a:t>When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put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pitcher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glass-topped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table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broke.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(not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clear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broke)</a:t>
            </a:r>
            <a:endParaRPr sz="1100">
              <a:latin typeface="Times New Roman"/>
              <a:cs typeface="Times New Roman"/>
            </a:endParaRPr>
          </a:p>
          <a:p>
            <a:pPr marL="469900" marR="6350" indent="-228600">
              <a:lnSpc>
                <a:spcPct val="143600"/>
              </a:lnSpc>
              <a:spcBef>
                <a:spcPts val="5"/>
              </a:spcBef>
              <a:buAutoNum type="arabicPeriod"/>
              <a:tabLst>
                <a:tab pos="470534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Before</a:t>
            </a:r>
            <a:r>
              <a:rPr dirty="0" sz="1100" spc="-5">
                <a:latin typeface="Times New Roman"/>
                <a:cs typeface="Times New Roman"/>
              </a:rPr>
              <a:t>: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Minister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Agriculture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requires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eggs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stamped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date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when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laid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farmer.</a:t>
            </a:r>
            <a:endParaRPr sz="1100">
              <a:latin typeface="Times New Roman"/>
              <a:cs typeface="Times New Roman"/>
            </a:endParaRPr>
          </a:p>
          <a:p>
            <a:pPr marL="469900" marR="8255">
              <a:lnSpc>
                <a:spcPts val="1900"/>
              </a:lnSpc>
              <a:spcBef>
                <a:spcPts val="155"/>
              </a:spcBef>
            </a:pPr>
            <a:r>
              <a:rPr dirty="0" sz="1100" spc="-10" b="1">
                <a:latin typeface="Times New Roman"/>
                <a:cs typeface="Times New Roman"/>
              </a:rPr>
              <a:t>After:</a:t>
            </a:r>
            <a:r>
              <a:rPr dirty="0" sz="1100" spc="6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Minister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Agriculture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requires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eggs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stamped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farmers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date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 are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laid.</a:t>
            </a:r>
            <a:endParaRPr sz="1100">
              <a:latin typeface="Times New Roman"/>
              <a:cs typeface="Times New Roman"/>
            </a:endParaRPr>
          </a:p>
          <a:p>
            <a:pPr algn="r" marL="469900" marR="2441575" indent="-470534">
              <a:lnSpc>
                <a:spcPct val="100000"/>
              </a:lnSpc>
              <a:spcBef>
                <a:spcPts val="415"/>
              </a:spcBef>
              <a:buAutoNum type="arabicPeriod" startAt="4"/>
              <a:tabLst>
                <a:tab pos="470534" algn="l"/>
              </a:tabLst>
            </a:pPr>
            <a:r>
              <a:rPr dirty="0" sz="1100" spc="-10" b="1">
                <a:latin typeface="Times New Roman"/>
                <a:cs typeface="Times New Roman"/>
              </a:rPr>
              <a:t>Before: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morning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elephant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pajamas.</a:t>
            </a:r>
            <a:endParaRPr sz="1100">
              <a:latin typeface="Times New Roman"/>
              <a:cs typeface="Times New Roman"/>
            </a:endParaRPr>
          </a:p>
          <a:p>
            <a:pPr algn="r" marR="2449195">
              <a:lnSpc>
                <a:spcPct val="100000"/>
              </a:lnSpc>
              <a:spcBef>
                <a:spcPts val="580"/>
              </a:spcBef>
            </a:pPr>
            <a:r>
              <a:rPr dirty="0" sz="1100" spc="-10" b="1">
                <a:latin typeface="Times New Roman"/>
                <a:cs typeface="Times New Roman"/>
              </a:rPr>
              <a:t>After: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morning,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pajamas,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elephant.</a:t>
            </a:r>
            <a:endParaRPr sz="1100">
              <a:latin typeface="Times New Roman"/>
              <a:cs typeface="Times New Roman"/>
            </a:endParaRPr>
          </a:p>
          <a:p>
            <a:pPr marL="469900" indent="-229235">
              <a:lnSpc>
                <a:spcPct val="100000"/>
              </a:lnSpc>
              <a:spcBef>
                <a:spcPts val="575"/>
              </a:spcBef>
              <a:buAutoNum type="arabicPeriod" startAt="5"/>
              <a:tabLst>
                <a:tab pos="470534" algn="l"/>
              </a:tabLst>
            </a:pPr>
            <a:r>
              <a:rPr dirty="0" sz="1100" spc="-10" b="1">
                <a:latin typeface="Times New Roman"/>
                <a:cs typeface="Times New Roman"/>
              </a:rPr>
              <a:t>Before:</a:t>
            </a:r>
            <a:r>
              <a:rPr dirty="0" sz="1100" spc="-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mothers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us.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580"/>
              </a:spcBef>
            </a:pPr>
            <a:r>
              <a:rPr dirty="0" sz="1100" spc="-10" b="1">
                <a:latin typeface="Times New Roman"/>
                <a:cs typeface="Times New Roman"/>
              </a:rPr>
              <a:t>After: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mothers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gave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birth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575"/>
              </a:spcBef>
              <a:buAutoNum type="arabicPeriod" startAt="6"/>
              <a:tabLst>
                <a:tab pos="469900" algn="l"/>
              </a:tabLst>
            </a:pPr>
            <a:r>
              <a:rPr dirty="0" sz="1100" spc="-10" b="1">
                <a:latin typeface="Times New Roman"/>
                <a:cs typeface="Times New Roman"/>
              </a:rPr>
              <a:t>Before: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Americans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drop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nuclear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weapons.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580"/>
              </a:spcBef>
            </a:pPr>
            <a:r>
              <a:rPr dirty="0" sz="1100" spc="-10" b="1">
                <a:latin typeface="Times New Roman"/>
                <a:cs typeface="Times New Roman"/>
              </a:rPr>
              <a:t>After: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American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people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willing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utilize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nuclear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weapons.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REDUNDANCY</a:t>
            </a:r>
            <a:endParaRPr sz="1100">
              <a:latin typeface="Times New Roman"/>
              <a:cs typeface="Times New Roman"/>
            </a:endParaRPr>
          </a:p>
          <a:p>
            <a:pPr marL="469265" indent="-229235">
              <a:lnSpc>
                <a:spcPct val="100000"/>
              </a:lnSpc>
              <a:spcBef>
                <a:spcPts val="570"/>
              </a:spcBef>
              <a:buFont typeface="Times New Roman"/>
              <a:buAutoNum type="arabicPeriod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shop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assistant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restored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umbrella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back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owner.</a:t>
            </a:r>
            <a:endParaRPr sz="1100">
              <a:latin typeface="Times New Roman"/>
              <a:cs typeface="Times New Roman"/>
            </a:endParaRPr>
          </a:p>
          <a:p>
            <a:pPr marL="469265" indent="-229235">
              <a:lnSpc>
                <a:spcPct val="100000"/>
              </a:lnSpc>
              <a:spcBef>
                <a:spcPts val="575"/>
              </a:spcBef>
              <a:buFont typeface="Times New Roman"/>
              <a:buAutoNum type="arabicPeriod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often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habit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cinema.</a:t>
            </a:r>
            <a:endParaRPr sz="1100">
              <a:latin typeface="Times New Roman"/>
              <a:cs typeface="Times New Roman"/>
            </a:endParaRPr>
          </a:p>
          <a:p>
            <a:pPr marL="469265" indent="-229235">
              <a:lnSpc>
                <a:spcPct val="100000"/>
              </a:lnSpc>
              <a:spcBef>
                <a:spcPts val="585"/>
              </a:spcBef>
              <a:buAutoNum type="arabicPeriod"/>
              <a:tabLst>
                <a:tab pos="469900" algn="l"/>
                <a:tab pos="1383665" algn="l"/>
              </a:tabLst>
            </a:pPr>
            <a:r>
              <a:rPr dirty="0" sz="1100" spc="-10" b="1">
                <a:latin typeface="Times New Roman"/>
                <a:cs typeface="Times New Roman"/>
              </a:rPr>
              <a:t>Before:	</a:t>
            </a:r>
            <a:r>
              <a:rPr dirty="0" sz="1100" spc="-5">
                <a:latin typeface="Times New Roman"/>
                <a:cs typeface="Times New Roman"/>
              </a:rPr>
              <a:t>John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quite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ill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 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really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time.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575"/>
              </a:spcBef>
            </a:pPr>
            <a:r>
              <a:rPr dirty="0" sz="1100" spc="-10" b="1">
                <a:latin typeface="Times New Roman"/>
                <a:cs typeface="Times New Roman"/>
              </a:rPr>
              <a:t>After:</a:t>
            </a:r>
            <a:r>
              <a:rPr dirty="0" sz="1100" spc="46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John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been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ill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time.</a:t>
            </a:r>
            <a:endParaRPr sz="1100">
              <a:latin typeface="Times New Roman"/>
              <a:cs typeface="Times New Roman"/>
            </a:endParaRPr>
          </a:p>
          <a:p>
            <a:pPr marL="469900" indent="-229235">
              <a:lnSpc>
                <a:spcPct val="100000"/>
              </a:lnSpc>
              <a:spcBef>
                <a:spcPts val="575"/>
              </a:spcBef>
              <a:buAutoNum type="arabicPeriod" startAt="4"/>
              <a:tabLst>
                <a:tab pos="470534" algn="l"/>
                <a:tab pos="1383665" algn="l"/>
              </a:tabLst>
            </a:pPr>
            <a:r>
              <a:rPr dirty="0" sz="1100" spc="-10" b="1">
                <a:latin typeface="Times New Roman"/>
                <a:cs typeface="Times New Roman"/>
              </a:rPr>
              <a:t>Before:	</a:t>
            </a:r>
            <a:r>
              <a:rPr dirty="0" sz="1100" spc="-5">
                <a:latin typeface="Times New Roman"/>
                <a:cs typeface="Times New Roman"/>
              </a:rPr>
              <a:t>Suzy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good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teacher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who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makes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significant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impact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students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faculty.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575"/>
              </a:spcBef>
            </a:pPr>
            <a:r>
              <a:rPr dirty="0" sz="1100" spc="-10" b="1">
                <a:latin typeface="Times New Roman"/>
                <a:cs typeface="Times New Roman"/>
              </a:rPr>
              <a:t>After:</a:t>
            </a:r>
            <a:r>
              <a:rPr dirty="0" sz="1100" spc="484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Suzy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talented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teacher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makes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impact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students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faculty.</a:t>
            </a:r>
            <a:endParaRPr sz="1100">
              <a:latin typeface="Times New Roman"/>
              <a:cs typeface="Times New Roman"/>
            </a:endParaRPr>
          </a:p>
          <a:p>
            <a:pPr algn="r" marL="228600" marR="77470" indent="-228600">
              <a:lnSpc>
                <a:spcPct val="100000"/>
              </a:lnSpc>
              <a:spcBef>
                <a:spcPts val="585"/>
              </a:spcBef>
              <a:buAutoNum type="arabicPeriod" startAt="5"/>
              <a:tabLst>
                <a:tab pos="228600" algn="l"/>
                <a:tab pos="1142365" algn="l"/>
              </a:tabLst>
            </a:pPr>
            <a:r>
              <a:rPr dirty="0" sz="1100" spc="-10" b="1">
                <a:latin typeface="Times New Roman"/>
                <a:cs typeface="Times New Roman"/>
              </a:rPr>
              <a:t>Before:	</a:t>
            </a:r>
            <a:r>
              <a:rPr dirty="0" sz="1100" spc="-5">
                <a:latin typeface="Times New Roman"/>
                <a:cs typeface="Times New Roman"/>
              </a:rPr>
              <a:t>Michael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Jordan</a:t>
            </a:r>
            <a:r>
              <a:rPr dirty="0" u="sng" sz="1100" spc="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best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basketball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player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ever.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Jordan</a:t>
            </a:r>
            <a:r>
              <a:rPr dirty="0" u="sng" sz="110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slam dunk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master.</a:t>
            </a:r>
            <a:endParaRPr sz="1100">
              <a:latin typeface="Times New Roman"/>
              <a:cs typeface="Times New Roman"/>
            </a:endParaRPr>
          </a:p>
          <a:p>
            <a:pPr algn="r" marR="132080">
              <a:lnSpc>
                <a:spcPct val="100000"/>
              </a:lnSpc>
              <a:spcBef>
                <a:spcPts val="575"/>
              </a:spcBef>
            </a:pPr>
            <a:r>
              <a:rPr dirty="0" sz="1100" spc="-10" b="1">
                <a:latin typeface="Times New Roman"/>
                <a:cs typeface="Times New Roman"/>
              </a:rPr>
              <a:t>After:</a:t>
            </a:r>
            <a:r>
              <a:rPr dirty="0" sz="1100" spc="49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Basketball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Michael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Jordan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best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basketball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player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slam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dunk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master.</a:t>
            </a:r>
            <a:endParaRPr sz="1100">
              <a:latin typeface="Times New Roman"/>
              <a:cs typeface="Times New Roman"/>
            </a:endParaRPr>
          </a:p>
          <a:p>
            <a:pPr marL="469900" marR="6985" indent="-228600">
              <a:lnSpc>
                <a:spcPct val="143600"/>
              </a:lnSpc>
              <a:buAutoNum type="arabicPeriod" startAt="6"/>
              <a:tabLst>
                <a:tab pos="470534" algn="l"/>
                <a:tab pos="1383665" algn="l"/>
              </a:tabLst>
            </a:pPr>
            <a:r>
              <a:rPr dirty="0" sz="1100" spc="-10" b="1">
                <a:latin typeface="Times New Roman"/>
                <a:cs typeface="Times New Roman"/>
              </a:rPr>
              <a:t>Before:	</a:t>
            </a:r>
            <a:r>
              <a:rPr dirty="0" sz="1100" spc="-5">
                <a:latin typeface="Times New Roman"/>
                <a:cs typeface="Times New Roman"/>
              </a:rPr>
              <a:t>John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found</a:t>
            </a:r>
            <a:r>
              <a:rPr dirty="0" u="sng" sz="1100" spc="4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dirty="0" u="sng" sz="1100" spc="4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job</a:t>
            </a:r>
            <a:r>
              <a:rPr dirty="0" u="sng" sz="1100" spc="4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</a:t>
            </a:r>
            <a:r>
              <a:rPr dirty="0" u="sng" sz="1100" spc="3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be</a:t>
            </a:r>
            <a:r>
              <a:rPr dirty="0" u="sng" sz="1100" spc="4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easy</a:t>
            </a:r>
            <a:r>
              <a:rPr dirty="0" sz="1100">
                <a:latin typeface="Times New Roman"/>
                <a:cs typeface="Times New Roman"/>
              </a:rPr>
              <a:t>,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Jen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also</a:t>
            </a:r>
            <a:r>
              <a:rPr dirty="0" u="sng" sz="1100" spc="4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thought</a:t>
            </a:r>
            <a:r>
              <a:rPr dirty="0" u="sng" sz="1100" spc="4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it</a:t>
            </a:r>
            <a:r>
              <a:rPr dirty="0" u="sng" sz="1100" spc="3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was</a:t>
            </a:r>
            <a:r>
              <a:rPr dirty="0" u="sng" sz="1100" spc="3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simple</a:t>
            </a:r>
            <a:r>
              <a:rPr dirty="0" sz="1100" spc="-5">
                <a:latin typeface="Times New Roman"/>
                <a:cs typeface="Times New Roman"/>
              </a:rPr>
              <a:t>.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Mike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completed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 job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without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difficulty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too.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575"/>
              </a:spcBef>
            </a:pPr>
            <a:r>
              <a:rPr dirty="0" sz="1100" spc="-10" b="1">
                <a:latin typeface="Times New Roman"/>
                <a:cs typeface="Times New Roman"/>
              </a:rPr>
              <a:t>After:</a:t>
            </a:r>
            <a:r>
              <a:rPr dirty="0" sz="1100" spc="47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John,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Jen,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Mike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found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job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>
                <a:latin typeface="Times New Roman"/>
                <a:cs typeface="Times New Roman"/>
              </a:rPr>
              <a:t> easy.</a:t>
            </a:r>
            <a:endParaRPr sz="1100">
              <a:latin typeface="Times New Roman"/>
              <a:cs typeface="Times New Roman"/>
            </a:endParaRPr>
          </a:p>
          <a:p>
            <a:pPr marL="1564005">
              <a:lnSpc>
                <a:spcPct val="100000"/>
              </a:lnSpc>
              <a:spcBef>
                <a:spcPts val="359"/>
              </a:spcBef>
              <a:tabLst>
                <a:tab pos="5894705" algn="l"/>
              </a:tabLst>
            </a:pPr>
            <a:r>
              <a:rPr dirty="0" sz="1200">
                <a:latin typeface="Times New Roman"/>
                <a:cs typeface="Times New Roman"/>
              </a:rPr>
              <a:t>© Copyrights Virtual Uni</a:t>
            </a:r>
            <a:r>
              <a:rPr dirty="0" sz="1200" spc="-5">
                <a:latin typeface="Times New Roman"/>
                <a:cs typeface="Times New Roman"/>
              </a:rPr>
              <a:t>v</a:t>
            </a:r>
            <a:r>
              <a:rPr dirty="0" sz="1200">
                <a:latin typeface="Times New Roman"/>
                <a:cs typeface="Times New Roman"/>
              </a:rPr>
              <a:t>ersity of Pakistan	61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788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10019" y="9493248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62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400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27380" y="342390"/>
            <a:ext cx="6083300" cy="85851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869305" algn="l"/>
              </a:tabLst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l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</a:t>
            </a:r>
            <a:r>
              <a:rPr dirty="0" sz="1100" spc="-15">
                <a:solidFill>
                  <a:srgbClr val="323232"/>
                </a:solidFill>
                <a:latin typeface="Times New Roman"/>
                <a:cs typeface="Times New Roman"/>
              </a:rPr>
              <a:t>m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entary</a:t>
            </a:r>
            <a:r>
              <a:rPr dirty="0" sz="1100" spc="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g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lish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 marR="27940">
              <a:lnSpc>
                <a:spcPct val="143600"/>
              </a:lnSpc>
            </a:pPr>
            <a:r>
              <a:rPr dirty="0" sz="1100" spc="-5" b="1">
                <a:latin typeface="Times New Roman"/>
                <a:cs typeface="Times New Roman"/>
              </a:rPr>
              <a:t>CLICHÉ:</a:t>
            </a:r>
            <a:r>
              <a:rPr dirty="0" sz="1100" spc="21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Clichés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phrases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been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exhausted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point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where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completely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lost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originality.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257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55973" y="1408434"/>
            <a:ext cx="1403985" cy="67564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93980">
              <a:lnSpc>
                <a:spcPts val="1270"/>
              </a:lnSpc>
              <a:spcBef>
                <a:spcPts val="180"/>
              </a:spcBef>
            </a:pPr>
            <a:r>
              <a:rPr dirty="0" sz="1100" spc="-5">
                <a:latin typeface="Times New Roman"/>
                <a:cs typeface="Times New Roman"/>
              </a:rPr>
              <a:t>No shadow of doubt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Strange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 it may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seem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Last but not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least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25"/>
              </a:lnSpc>
            </a:pPr>
            <a:r>
              <a:rPr dirty="0" sz="1100" spc="-5">
                <a:latin typeface="Times New Roman"/>
                <a:cs typeface="Times New Roman"/>
              </a:rPr>
              <a:t>Leave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stone unturned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12629" y="1408434"/>
            <a:ext cx="1190625" cy="51435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3970" marR="276225" indent="-1905">
              <a:lnSpc>
                <a:spcPts val="1270"/>
              </a:lnSpc>
              <a:spcBef>
                <a:spcPts val="180"/>
              </a:spcBef>
            </a:pPr>
            <a:r>
              <a:rPr dirty="0" sz="1100" spc="-5">
                <a:latin typeface="Times New Roman"/>
                <a:cs typeface="Times New Roman"/>
              </a:rPr>
              <a:t>Needless to say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reason</a:t>
            </a:r>
            <a:endParaRPr sz="1100">
              <a:latin typeface="Times New Roman"/>
              <a:cs typeface="Times New Roman"/>
            </a:endParaRPr>
          </a:p>
          <a:p>
            <a:pPr marL="13970">
              <a:lnSpc>
                <a:spcPts val="1230"/>
              </a:lnSpc>
            </a:pP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shape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7352" y="2139647"/>
            <a:ext cx="4998720" cy="1179830"/>
          </a:xfrm>
          <a:prstGeom prst="rect">
            <a:avLst/>
          </a:prstGeom>
        </p:spPr>
        <p:txBody>
          <a:bodyPr wrap="square" lIns="0" tIns="95885" rIns="0" bIns="0" rtlCol="0" vert="horz">
            <a:spAutoFit/>
          </a:bodyPr>
          <a:lstStyle/>
          <a:p>
            <a:pPr marL="469900" indent="-229235">
              <a:lnSpc>
                <a:spcPct val="100000"/>
              </a:lnSpc>
              <a:spcBef>
                <a:spcPts val="755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00" spc="-10">
                <a:latin typeface="Times New Roman"/>
                <a:cs typeface="Times New Roman"/>
              </a:rPr>
              <a:t>Hercules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strong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as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an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ox</a:t>
            </a:r>
            <a:r>
              <a:rPr dirty="0" sz="1100" spc="-5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  <a:p>
            <a:pPr marL="469900" indent="-229235">
              <a:lnSpc>
                <a:spcPct val="100000"/>
              </a:lnSpc>
              <a:spcBef>
                <a:spcPts val="650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00" spc="-5">
                <a:latin typeface="Times New Roman"/>
                <a:cs typeface="Times New Roman"/>
              </a:rPr>
              <a:t>I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give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arm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and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leg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 parking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spot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during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holiday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season.</a:t>
            </a:r>
            <a:endParaRPr sz="1100">
              <a:latin typeface="Times New Roman"/>
              <a:cs typeface="Times New Roman"/>
            </a:endParaRPr>
          </a:p>
          <a:p>
            <a:pPr marL="469900" indent="-229235">
              <a:lnSpc>
                <a:spcPct val="100000"/>
              </a:lnSpc>
              <a:spcBef>
                <a:spcPts val="655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00" spc="-5">
                <a:latin typeface="Times New Roman"/>
                <a:cs typeface="Times New Roman"/>
              </a:rPr>
              <a:t>There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loads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of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websites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Internet.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EUPHEMISM:</a:t>
            </a:r>
            <a:endParaRPr sz="1100">
              <a:latin typeface="Times New Roman"/>
              <a:cs typeface="Times New Roman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1280922" y="3470147"/>
          <a:ext cx="4762500" cy="30200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81100"/>
                <a:gridCol w="1183639"/>
                <a:gridCol w="1189989"/>
                <a:gridCol w="1179829"/>
              </a:tblGrid>
              <a:tr h="419480"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Euphemism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Meaning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Euphemism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Meaning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correctional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facility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prison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7804" marR="210820" indent="131445">
                        <a:lnSpc>
                          <a:spcPts val="1260"/>
                        </a:lnSpc>
                        <a:spcBef>
                          <a:spcPts val="8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pre-need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arrange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nts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795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burial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arrangements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marL="478155" marR="84455" indent="-386715">
                        <a:lnSpc>
                          <a:spcPts val="1260"/>
                        </a:lnSpc>
                        <a:spcBef>
                          <a:spcPts val="8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previously</a:t>
                      </a:r>
                      <a:r>
                        <a:rPr dirty="0" sz="11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owned </a:t>
                      </a:r>
                      <a:r>
                        <a:rPr dirty="0" sz="1100" spc="-2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cars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79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31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used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cars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31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laid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rest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31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buried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depopulate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kill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pacification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war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marL="194310" marR="187325" indent="173990">
                        <a:lnSpc>
                          <a:spcPts val="1260"/>
                        </a:lnSpc>
                        <a:spcBef>
                          <a:spcPts val="8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revenue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enhance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ents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79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taxes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31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negative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feedback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scolding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marL="292100" marR="233679" indent="-51435">
                        <a:lnSpc>
                          <a:spcPts val="1260"/>
                        </a:lnSpc>
                        <a:spcBef>
                          <a:spcPts val="85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plo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nt 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terminated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79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Fired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negative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impact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hurt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85774"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non-passing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grade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31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Failing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grade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627380" y="6787380"/>
            <a:ext cx="6062345" cy="24422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GRANDILOQUENCE: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Pompous/colorful/entatious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100">
              <a:latin typeface="Times New Roman"/>
              <a:cs typeface="Times New Roman"/>
            </a:endParaRPr>
          </a:p>
          <a:p>
            <a:pPr algn="just" marL="12700" marR="5080">
              <a:lnSpc>
                <a:spcPct val="95800"/>
              </a:lnSpc>
            </a:pPr>
            <a:r>
              <a:rPr dirty="0" sz="1100" spc="-10" b="1">
                <a:latin typeface="Times New Roman"/>
                <a:cs typeface="Times New Roman"/>
              </a:rPr>
              <a:t>Before:</a:t>
            </a:r>
            <a:r>
              <a:rPr dirty="0" sz="1100" spc="-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luxurious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ambiance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exotic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setting,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chanced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upon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during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desultory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peregrination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south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along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Amalfi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Coast,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found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guests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seemed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nuptial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holiday,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whether the first or the 25th. The place had a number of luminaries who were not at all condescending.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Among the distinguished guests was a producer with his entourage, who came in from their palatial </a:t>
            </a:r>
            <a:r>
              <a:rPr dirty="0" sz="1100">
                <a:latin typeface="Times New Roman"/>
                <a:cs typeface="Times New Roman"/>
              </a:rPr>
              <a:t>yacht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dined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hotel…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>
              <a:lnSpc>
                <a:spcPts val="1295"/>
              </a:lnSpc>
            </a:pPr>
            <a:r>
              <a:rPr dirty="0" sz="1100" spc="-10" b="1">
                <a:latin typeface="Times New Roman"/>
                <a:cs typeface="Times New Roman"/>
              </a:rPr>
              <a:t>After:</a:t>
            </a:r>
            <a:r>
              <a:rPr dirty="0" sz="1100" spc="3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guests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San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Pietro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seemed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honeymoons,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whether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first,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second,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25th.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crowd</a:t>
            </a:r>
            <a:endParaRPr sz="1100">
              <a:latin typeface="Times New Roman"/>
              <a:cs typeface="Times New Roman"/>
            </a:endParaRPr>
          </a:p>
          <a:p>
            <a:pPr algn="just" marL="12700" marR="5715">
              <a:lnSpc>
                <a:spcPct val="95800"/>
              </a:lnSpc>
              <a:spcBef>
                <a:spcPts val="25"/>
              </a:spcBef>
            </a:pPr>
            <a:r>
              <a:rPr dirty="0" sz="1100" spc="-5">
                <a:latin typeface="Times New Roman"/>
                <a:cs typeface="Times New Roman"/>
              </a:rPr>
              <a:t>– primarily Italian, British, German, and American – was sophisticated and decidedly un-snobbish. There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were even a few celebrities on view. A famous producer, his wife and friends stopped by for dinner while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 chartered </a:t>
            </a:r>
            <a:r>
              <a:rPr dirty="0" sz="1100">
                <a:latin typeface="Times New Roman"/>
                <a:cs typeface="Times New Roman"/>
              </a:rPr>
              <a:t>yacht </a:t>
            </a:r>
            <a:r>
              <a:rPr dirty="0" sz="1100" spc="-5">
                <a:latin typeface="Times New Roman"/>
                <a:cs typeface="Times New Roman"/>
              </a:rPr>
              <a:t>lay anchored in the harbor. Two well-know actors arrived the day we left. Another star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there</a:t>
            </a:r>
            <a:r>
              <a:rPr dirty="0" sz="1100" spc="2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but,</a:t>
            </a:r>
            <a:r>
              <a:rPr dirty="0" sz="1100" spc="2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2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</a:t>
            </a:r>
            <a:r>
              <a:rPr dirty="0" sz="1100" spc="2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reasons,</a:t>
            </a:r>
            <a:r>
              <a:rPr dirty="0" sz="1100" spc="2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stayed</a:t>
            </a:r>
            <a:r>
              <a:rPr dirty="0" sz="1100" spc="2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her</a:t>
            </a:r>
            <a:r>
              <a:rPr dirty="0" sz="1100" spc="2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room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most</a:t>
            </a:r>
            <a:r>
              <a:rPr dirty="0" sz="1100" spc="2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2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time.</a:t>
            </a:r>
            <a:r>
              <a:rPr dirty="0" sz="1100" spc="2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Nobody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asked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2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autographs-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probably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too busy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own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good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time.</a:t>
            </a:r>
            <a:endParaRPr sz="1100">
              <a:latin typeface="Times New Roman"/>
              <a:cs typeface="Times New Roman"/>
            </a:endParaRPr>
          </a:p>
          <a:p>
            <a:pPr algn="just" marL="469900">
              <a:lnSpc>
                <a:spcPts val="1265"/>
              </a:lnSpc>
            </a:pPr>
            <a:r>
              <a:rPr dirty="0" sz="1100" spc="-5">
                <a:latin typeface="Times New Roman"/>
                <a:cs typeface="Times New Roman"/>
              </a:rPr>
              <a:t>(Pamela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Fiori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/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Travel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Leisure.)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4580" y="342390"/>
            <a:ext cx="174498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 Elementary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41311" y="342390"/>
            <a:ext cx="22669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360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67219" y="9493248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63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972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829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084580" y="686053"/>
            <a:ext cx="4949190" cy="18002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EXCRESCENCE: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bankrupt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awkward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295"/>
              </a:lnSpc>
            </a:pP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received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order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lawnmowers,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same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rail.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65"/>
              </a:lnSpc>
            </a:pPr>
            <a:r>
              <a:rPr dirty="0" sz="1100" spc="-5" b="1">
                <a:latin typeface="Times New Roman"/>
                <a:cs typeface="Times New Roman"/>
              </a:rPr>
              <a:t>Vs.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90"/>
              </a:lnSpc>
            </a:pP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received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order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lawnmowers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them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by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rail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tomorrow.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295"/>
              </a:lnSpc>
            </a:pP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instituting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meaningful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curriculum.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65"/>
              </a:lnSpc>
            </a:pPr>
            <a:r>
              <a:rPr dirty="0" sz="1100" spc="-5" b="1">
                <a:latin typeface="Times New Roman"/>
                <a:cs typeface="Times New Roman"/>
              </a:rPr>
              <a:t>Vs.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85"/>
              </a:lnSpc>
            </a:pP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curriculum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significant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ways.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INSEPARABLES: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84580" y="2613922"/>
            <a:ext cx="965200" cy="674370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12700" marR="5080">
              <a:lnSpc>
                <a:spcPct val="95800"/>
              </a:lnSpc>
              <a:spcBef>
                <a:spcPts val="150"/>
              </a:spcBef>
            </a:pPr>
            <a:r>
              <a:rPr dirty="0" sz="1100" spc="-5">
                <a:latin typeface="Times New Roman"/>
                <a:cs typeface="Times New Roman"/>
              </a:rPr>
              <a:t>chop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betwixt and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shape or form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each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every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55366" y="2613922"/>
            <a:ext cx="896619" cy="513715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12700" marR="5080" indent="635">
              <a:lnSpc>
                <a:spcPts val="1260"/>
              </a:lnSpc>
              <a:spcBef>
                <a:spcPts val="190"/>
              </a:spcBef>
            </a:pPr>
            <a:r>
              <a:rPr dirty="0" sz="1100" spc="-5">
                <a:latin typeface="Times New Roman"/>
                <a:cs typeface="Times New Roman"/>
              </a:rPr>
              <a:t>hook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crook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tween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35"/>
              </a:lnSpc>
            </a:pPr>
            <a:r>
              <a:rPr dirty="0" sz="1100">
                <a:latin typeface="Times New Roman"/>
                <a:cs typeface="Times New Roman"/>
              </a:rPr>
              <a:t>yes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84580" y="3417828"/>
            <a:ext cx="6061710" cy="25520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SLANG:</a:t>
            </a:r>
            <a:endParaRPr sz="1100">
              <a:latin typeface="Times New Roman"/>
              <a:cs typeface="Times New Roman"/>
            </a:endParaRPr>
          </a:p>
          <a:p>
            <a:pPr marL="240665" marR="1050925">
              <a:lnSpc>
                <a:spcPct val="144100"/>
              </a:lnSpc>
              <a:spcBef>
                <a:spcPts val="625"/>
              </a:spcBef>
            </a:pPr>
            <a:r>
              <a:rPr dirty="0" sz="1100" spc="-5">
                <a:latin typeface="Times New Roman"/>
                <a:cs typeface="Times New Roman"/>
              </a:rPr>
              <a:t>Saw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pretty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corny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movie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last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night.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Mary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major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it.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jerker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though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Somebody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pinched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brolly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falling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bucket.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VERBIAGE: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64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Give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fiver.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Here</a:t>
            </a:r>
            <a:r>
              <a:rPr dirty="0" sz="1100">
                <a:latin typeface="Times New Roman"/>
                <a:cs typeface="Times New Roman"/>
              </a:rPr>
              <a:t> you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Smashing.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Ta.</a:t>
            </a:r>
            <a:endParaRPr sz="1100">
              <a:latin typeface="Times New Roman"/>
              <a:cs typeface="Times New Roman"/>
            </a:endParaRPr>
          </a:p>
          <a:p>
            <a:pPr marL="469900" marR="5080" indent="-228600">
              <a:lnSpc>
                <a:spcPct val="144100"/>
              </a:lnSpc>
              <a:spcBef>
                <a:spcPts val="7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Before</a:t>
            </a:r>
            <a:r>
              <a:rPr dirty="0" sz="1100" spc="-5">
                <a:latin typeface="Times New Roman"/>
                <a:cs typeface="Times New Roman"/>
              </a:rPr>
              <a:t>: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Should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supply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stickers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sufficient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meet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section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requirements,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application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should be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made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office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supply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additional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copies.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65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10" b="1">
                <a:latin typeface="Times New Roman"/>
                <a:cs typeface="Times New Roman"/>
              </a:rPr>
              <a:t>After: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 </a:t>
            </a:r>
            <a:r>
              <a:rPr dirty="0" sz="1100" spc="-5">
                <a:latin typeface="Times New Roman"/>
                <a:cs typeface="Times New Roman"/>
              </a:rPr>
              <a:t>need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stickers,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ask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them.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THE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SUFFIX-WISE:</a:t>
            </a:r>
            <a:endParaRPr sz="1100">
              <a:latin typeface="Times New Roman"/>
              <a:cs typeface="Times New Roman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1294137" y="6125669"/>
          <a:ext cx="4538345" cy="4756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9169"/>
                <a:gridCol w="1207134"/>
                <a:gridCol w="1460500"/>
                <a:gridCol w="892810"/>
              </a:tblGrid>
              <a:tr h="157219">
                <a:tc>
                  <a:txBody>
                    <a:bodyPr/>
                    <a:lstStyle/>
                    <a:p>
                      <a:pPr marL="31750">
                        <a:lnSpc>
                          <a:spcPts val="11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Taxwise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95580">
                        <a:lnSpc>
                          <a:spcPts val="11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Moneywise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59410">
                        <a:lnSpc>
                          <a:spcPts val="11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Pricwise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2865">
                        <a:lnSpc>
                          <a:spcPts val="11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Roadwise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60397">
                <a:tc>
                  <a:txBody>
                    <a:bodyPr/>
                    <a:lstStyle/>
                    <a:p>
                      <a:pPr marL="3175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Businesswise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94945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Newswise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60045">
                        <a:lnSpc>
                          <a:spcPts val="1165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Disciplinewise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Careerwse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57603">
                <a:tc>
                  <a:txBody>
                    <a:bodyPr/>
                    <a:lstStyle/>
                    <a:p>
                      <a:pPr marL="31750">
                        <a:lnSpc>
                          <a:spcPts val="11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Weatherwise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95580">
                        <a:lnSpc>
                          <a:spcPts val="11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Salarywise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7380" y="342390"/>
            <a:ext cx="174498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 Elementary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84111" y="342390"/>
            <a:ext cx="22669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788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10019" y="9493248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64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400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257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27386" y="526034"/>
            <a:ext cx="6061710" cy="21202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r" marR="6350">
              <a:lnSpc>
                <a:spcPct val="100000"/>
              </a:lnSpc>
              <a:spcBef>
                <a:spcPts val="95"/>
              </a:spcBef>
            </a:pP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LECTURE</a:t>
            </a:r>
            <a:r>
              <a:rPr dirty="0" u="heavy" sz="11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20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PARAGRAPH WRITING: 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TYPES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AND TECHNIQUES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 algn="just" marL="12700">
              <a:lnSpc>
                <a:spcPts val="1290"/>
              </a:lnSpc>
            </a:pPr>
            <a:r>
              <a:rPr dirty="0" sz="1100" spc="-5" b="1">
                <a:latin typeface="Times New Roman"/>
                <a:cs typeface="Times New Roman"/>
              </a:rPr>
              <a:t>What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is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paragraph?</a:t>
            </a:r>
            <a:endParaRPr sz="1100">
              <a:latin typeface="Times New Roman"/>
              <a:cs typeface="Times New Roman"/>
            </a:endParaRPr>
          </a:p>
          <a:p>
            <a:pPr algn="just" marL="12700" marR="5080">
              <a:lnSpc>
                <a:spcPts val="1270"/>
              </a:lnSpc>
              <a:spcBef>
                <a:spcPts val="55"/>
              </a:spcBef>
            </a:pPr>
            <a:r>
              <a:rPr dirty="0" sz="1100" spc="-5">
                <a:latin typeface="Times New Roman"/>
                <a:cs typeface="Times New Roman"/>
              </a:rPr>
              <a:t>A paragraph is a collection of related sentences dealing with a single topic. To be as effective as possible, a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paragraph should contain each of the following: </a:t>
            </a:r>
            <a:r>
              <a:rPr dirty="0" sz="1100" spc="-5" b="1">
                <a:latin typeface="Times New Roman"/>
                <a:cs typeface="Times New Roman"/>
              </a:rPr>
              <a:t>Unity, Coherence, A Topic Sentence,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 spc="-5" b="1">
                <a:latin typeface="Times New Roman"/>
                <a:cs typeface="Times New Roman"/>
              </a:rPr>
              <a:t>Adequate 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Development. </a:t>
            </a:r>
            <a:r>
              <a:rPr dirty="0" sz="1100" spc="-5">
                <a:latin typeface="Times New Roman"/>
                <a:cs typeface="Times New Roman"/>
              </a:rPr>
              <a:t>As </a:t>
            </a:r>
            <a:r>
              <a:rPr dirty="0" sz="1100">
                <a:latin typeface="Times New Roman"/>
                <a:cs typeface="Times New Roman"/>
              </a:rPr>
              <a:t>you </a:t>
            </a:r>
            <a:r>
              <a:rPr dirty="0" sz="1100" spc="-5">
                <a:latin typeface="Times New Roman"/>
                <a:cs typeface="Times New Roman"/>
              </a:rPr>
              <a:t>will see, all of these </a:t>
            </a:r>
            <a:r>
              <a:rPr dirty="0" sz="1100">
                <a:latin typeface="Times New Roman"/>
                <a:cs typeface="Times New Roman"/>
              </a:rPr>
              <a:t>traits </a:t>
            </a:r>
            <a:r>
              <a:rPr dirty="0" sz="1100" spc="-5">
                <a:latin typeface="Times New Roman"/>
                <a:cs typeface="Times New Roman"/>
              </a:rPr>
              <a:t>overlap. Using and adapting them to your individual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purposes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help you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construct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effective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paragraphs.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ts val="1290"/>
              </a:lnSpc>
            </a:pPr>
            <a:r>
              <a:rPr dirty="0" sz="1100" spc="-5" b="1">
                <a:latin typeface="Times New Roman"/>
                <a:cs typeface="Times New Roman"/>
              </a:rPr>
              <a:t>1.</a:t>
            </a:r>
            <a:r>
              <a:rPr dirty="0" sz="1100" spc="-3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Unity:</a:t>
            </a:r>
            <a:endParaRPr sz="1100">
              <a:latin typeface="Times New Roman"/>
              <a:cs typeface="Times New Roman"/>
            </a:endParaRPr>
          </a:p>
          <a:p>
            <a:pPr algn="just" marL="12700" marR="5715">
              <a:lnSpc>
                <a:spcPts val="1270"/>
              </a:lnSpc>
              <a:spcBef>
                <a:spcPts val="55"/>
              </a:spcBef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entire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paragraph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should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concern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itself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single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focus.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If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begins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focus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major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point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discussion,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should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another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wander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ideas.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7386" y="2774686"/>
            <a:ext cx="6060440" cy="6756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29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2.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Coherence: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ts val="1270"/>
              </a:lnSpc>
              <a:spcBef>
                <a:spcPts val="55"/>
              </a:spcBef>
            </a:pPr>
            <a:r>
              <a:rPr dirty="0" sz="1100" spc="-5">
                <a:latin typeface="Times New Roman"/>
                <a:cs typeface="Times New Roman"/>
              </a:rPr>
              <a:t>Coherence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trait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makes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paragraph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easily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understandable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reader.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help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create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coherence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paragraphs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creating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logical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bridges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verbal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bridges.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35"/>
              </a:lnSpc>
            </a:pPr>
            <a:r>
              <a:rPr dirty="0" sz="1100" spc="-5" b="1">
                <a:latin typeface="Times New Roman"/>
                <a:cs typeface="Times New Roman"/>
              </a:rPr>
              <a:t>Logical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bridges: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55980" y="3344367"/>
            <a:ext cx="3938904" cy="50736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675"/>
              </a:spcBef>
              <a:buSzPct val="90909"/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same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carried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over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from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SzPct val="90909"/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Successive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constructed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parallel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7378" y="3899411"/>
            <a:ext cx="960119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Verbal</a:t>
            </a:r>
            <a:r>
              <a:rPr dirty="0" sz="1100" spc="-3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bridges: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55980" y="3986733"/>
            <a:ext cx="4001770" cy="98933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675"/>
              </a:spcBef>
              <a:buSzPct val="90909"/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Key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repeated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several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sentences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SzPct val="90909"/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Synonymous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repeated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several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sentences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SzPct val="90909"/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Pronouns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refer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nouns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previous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sentences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85"/>
              </a:spcBef>
              <a:buSzPct val="90909"/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Transition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link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ideas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 </a:t>
            </a:r>
            <a:r>
              <a:rPr dirty="0" sz="1100" spc="-5">
                <a:latin typeface="Times New Roman"/>
                <a:cs typeface="Times New Roman"/>
              </a:rPr>
              <a:t>different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27378" y="5184904"/>
            <a:ext cx="6061710" cy="21196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52400" indent="-139700">
              <a:lnSpc>
                <a:spcPts val="1285"/>
              </a:lnSpc>
              <a:spcBef>
                <a:spcPts val="95"/>
              </a:spcBef>
              <a:buAutoNum type="arabicPeriod" startAt="3"/>
              <a:tabLst>
                <a:tab pos="152400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A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topic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sentence:</a:t>
            </a:r>
            <a:endParaRPr sz="1100">
              <a:latin typeface="Times New Roman"/>
              <a:cs typeface="Times New Roman"/>
            </a:endParaRPr>
          </a:p>
          <a:p>
            <a:pPr algn="just" marL="12700" marR="5080">
              <a:lnSpc>
                <a:spcPts val="1270"/>
              </a:lnSpc>
              <a:spcBef>
                <a:spcPts val="55"/>
              </a:spcBef>
            </a:pPr>
            <a:r>
              <a:rPr dirty="0" sz="1100" spc="-5">
                <a:latin typeface="Times New Roman"/>
                <a:cs typeface="Times New Roman"/>
              </a:rPr>
              <a:t>A topic sentence is a sentence that indicates in a </a:t>
            </a:r>
            <a:r>
              <a:rPr dirty="0" sz="1100">
                <a:latin typeface="Times New Roman"/>
                <a:cs typeface="Times New Roman"/>
              </a:rPr>
              <a:t>general </a:t>
            </a:r>
            <a:r>
              <a:rPr dirty="0" sz="1100" spc="-5">
                <a:latin typeface="Times New Roman"/>
                <a:cs typeface="Times New Roman"/>
              </a:rPr>
              <a:t>way what idea or thesis the paragraph is going to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Although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paragraphs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clear-cut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despite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fact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sentences can occur anywhere in the paragraph (as the first sentence, the last sentence, or somewhere in 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middle), an easy way </a:t>
            </a:r>
            <a:r>
              <a:rPr dirty="0" sz="1100" spc="-1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make sure </a:t>
            </a:r>
            <a:r>
              <a:rPr dirty="0" sz="1100">
                <a:latin typeface="Times New Roman"/>
                <a:cs typeface="Times New Roman"/>
              </a:rPr>
              <a:t>your </a:t>
            </a:r>
            <a:r>
              <a:rPr dirty="0" sz="1100" spc="-5">
                <a:latin typeface="Times New Roman"/>
                <a:cs typeface="Times New Roman"/>
              </a:rPr>
              <a:t>reader understands the topic of the paragraph is to put your topic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 near the beginning of the paragraph. </a:t>
            </a:r>
            <a:r>
              <a:rPr dirty="0" sz="1100">
                <a:latin typeface="Times New Roman"/>
                <a:cs typeface="Times New Roman"/>
              </a:rPr>
              <a:t>(This </a:t>
            </a:r>
            <a:r>
              <a:rPr dirty="0" sz="1100" spc="-5">
                <a:latin typeface="Times New Roman"/>
                <a:cs typeface="Times New Roman"/>
              </a:rPr>
              <a:t>is a good general rule for less experienced writers,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although it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 not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only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do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it).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00">
              <a:latin typeface="Times New Roman"/>
              <a:cs typeface="Times New Roman"/>
            </a:endParaRPr>
          </a:p>
          <a:p>
            <a:pPr algn="just" marL="152400" indent="-140335">
              <a:lnSpc>
                <a:spcPts val="1290"/>
              </a:lnSpc>
              <a:buAutoNum type="arabicPeriod" startAt="4"/>
              <a:tabLst>
                <a:tab pos="153035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Adequate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development</a:t>
            </a:r>
            <a:endParaRPr sz="1100">
              <a:latin typeface="Times New Roman"/>
              <a:cs typeface="Times New Roman"/>
            </a:endParaRPr>
          </a:p>
          <a:p>
            <a:pPr algn="just" marL="12700" marR="5715">
              <a:lnSpc>
                <a:spcPct val="95800"/>
              </a:lnSpc>
              <a:spcBef>
                <a:spcPts val="25"/>
              </a:spcBef>
            </a:pPr>
            <a:r>
              <a:rPr dirty="0" sz="1100" spc="-5">
                <a:latin typeface="Times New Roman"/>
                <a:cs typeface="Times New Roman"/>
              </a:rPr>
              <a:t>The topic (which is introduced by the topic sentence) should be discussed fully and adequately. Again, this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varies</a:t>
            </a:r>
            <a:r>
              <a:rPr dirty="0" sz="1100">
                <a:latin typeface="Times New Roman"/>
                <a:cs typeface="Times New Roman"/>
              </a:rPr>
              <a:t> from </a:t>
            </a:r>
            <a:r>
              <a:rPr dirty="0" sz="1100" spc="-5">
                <a:latin typeface="Times New Roman"/>
                <a:cs typeface="Times New Roman"/>
              </a:rPr>
              <a:t>paragraph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paragraph, depending 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author's purpose,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writers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should beware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paragraphs that only have two or three sentences. It's a pretty good bet that the paragraph is not fully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developed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short.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27378" y="7432788"/>
            <a:ext cx="354901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latin typeface="Times New Roman"/>
                <a:cs typeface="Times New Roman"/>
              </a:rPr>
              <a:t>Some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methods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make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sure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paragraph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well-developed: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55980" y="7520886"/>
            <a:ext cx="4458335" cy="195262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675"/>
              </a:spcBef>
              <a:buSzPct val="90909"/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illustrations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SzPct val="90909"/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Cite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data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(facts,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statistics,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evidence,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details,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others)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SzPct val="90909"/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Examine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testimony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(what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people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such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quotes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paraphrases)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85"/>
              </a:spcBef>
              <a:buSzPct val="90909"/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Use an anecdote or story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SzPct val="90909"/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Define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terms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paragraph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SzPct val="90909"/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Compare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contrast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SzPct val="90909"/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Evaluate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causes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reasons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80"/>
              </a:spcBef>
              <a:buSzPct val="90909"/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Examine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effects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consequences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4580" y="342390"/>
            <a:ext cx="174498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 Elementary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41311" y="342390"/>
            <a:ext cx="22669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360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67219" y="9493248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65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972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829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084578" y="693370"/>
            <a:ext cx="3139440" cy="98933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469900" indent="-228600">
              <a:lnSpc>
                <a:spcPct val="100000"/>
              </a:lnSpc>
              <a:spcBef>
                <a:spcPts val="675"/>
              </a:spcBef>
              <a:buSzPct val="90909"/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Analyze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575"/>
              </a:spcBef>
              <a:buSzPct val="90909"/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Describe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585"/>
              </a:spcBef>
              <a:buSzPct val="90909"/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Offer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chronology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event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(time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segments)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TYPES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 PARAGRAHS</a:t>
            </a:r>
            <a:r>
              <a:rPr dirty="0" sz="1100" spc="-5" b="1">
                <a:latin typeface="Times New Roman"/>
                <a:cs typeface="Times New Roman"/>
              </a:rPr>
              <a:t>: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84577" y="1811524"/>
            <a:ext cx="2229485" cy="3524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285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SIMPLE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LISTING PARAGRAPHS: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85"/>
              </a:lnSpc>
            </a:pPr>
            <a:r>
              <a:rPr dirty="0" sz="1100" spc="-5">
                <a:latin typeface="Times New Roman"/>
                <a:cs typeface="Times New Roman"/>
              </a:rPr>
              <a:t>Structure: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13171" y="2058874"/>
            <a:ext cx="2383155" cy="74866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(central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idea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focus)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241300" algn="l"/>
              </a:tabLst>
            </a:pPr>
            <a:r>
              <a:rPr dirty="0" sz="1100" spc="-10">
                <a:latin typeface="Times New Roman"/>
                <a:cs typeface="Times New Roman"/>
              </a:rPr>
              <a:t>Body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85"/>
              </a:spcBef>
              <a:buAutoNum type="arabicPeriod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Conclusion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84563" y="3015487"/>
            <a:ext cx="6061710" cy="147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>
              <a:lnSpc>
                <a:spcPts val="1290"/>
              </a:lnSpc>
              <a:spcBef>
                <a:spcPts val="95"/>
              </a:spcBef>
            </a:pPr>
            <a:r>
              <a:rPr dirty="0" sz="1100" spc="-5">
                <a:latin typeface="Times New Roman"/>
                <a:cs typeface="Times New Roman"/>
              </a:rPr>
              <a:t>Example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1:</a:t>
            </a:r>
            <a:endParaRPr sz="1100">
              <a:latin typeface="Times New Roman"/>
              <a:cs typeface="Times New Roman"/>
            </a:endParaRPr>
          </a:p>
          <a:p>
            <a:pPr algn="just" marL="12700" marR="5715">
              <a:lnSpc>
                <a:spcPts val="1270"/>
              </a:lnSpc>
              <a:spcBef>
                <a:spcPts val="55"/>
              </a:spcBef>
            </a:pPr>
            <a:r>
              <a:rPr dirty="0" sz="1100" spc="-5">
                <a:latin typeface="Times New Roman"/>
                <a:cs typeface="Times New Roman"/>
              </a:rPr>
              <a:t>I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need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water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bottle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hike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case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get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thirsty.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sweater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useful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if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gets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cold.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compass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help </a:t>
            </a:r>
            <a:r>
              <a:rPr dirty="0" sz="1100" spc="-10">
                <a:latin typeface="Times New Roman"/>
                <a:cs typeface="Times New Roman"/>
              </a:rPr>
              <a:t>me </a:t>
            </a:r>
            <a:r>
              <a:rPr dirty="0" sz="1100" spc="-5">
                <a:latin typeface="Times New Roman"/>
                <a:cs typeface="Times New Roman"/>
              </a:rPr>
              <a:t>go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the right direction. Sandwiches will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an easy to carry snack. I can use a camera to take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picture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usual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attractive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places.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00">
              <a:latin typeface="Times New Roman"/>
              <a:cs typeface="Times New Roman"/>
            </a:endParaRPr>
          </a:p>
          <a:p>
            <a:pPr algn="just" marL="12700">
              <a:lnSpc>
                <a:spcPts val="1295"/>
              </a:lnSpc>
            </a:pPr>
            <a:r>
              <a:rPr dirty="0" sz="1100" spc="-5">
                <a:latin typeface="Times New Roman"/>
                <a:cs typeface="Times New Roman"/>
              </a:rPr>
              <a:t>Example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2:</a:t>
            </a:r>
            <a:endParaRPr sz="1100">
              <a:latin typeface="Times New Roman"/>
              <a:cs typeface="Times New Roman"/>
            </a:endParaRPr>
          </a:p>
          <a:p>
            <a:pPr algn="just" marL="12700" marR="5080" indent="-635">
              <a:lnSpc>
                <a:spcPct val="95700"/>
              </a:lnSpc>
              <a:spcBef>
                <a:spcPts val="30"/>
              </a:spcBef>
            </a:pPr>
            <a:r>
              <a:rPr dirty="0" sz="1100" spc="-5">
                <a:latin typeface="Times New Roman"/>
                <a:cs typeface="Times New Roman"/>
              </a:rPr>
              <a:t>City has many interesting areas.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Chinatown</a:t>
            </a:r>
            <a:r>
              <a:rPr dirty="0" sz="1100" spc="-5">
                <a:latin typeface="Times New Roman"/>
                <a:cs typeface="Times New Roman"/>
              </a:rPr>
              <a:t> is a neighborhood where </a:t>
            </a:r>
            <a:r>
              <a:rPr dirty="0" sz="1100">
                <a:latin typeface="Times New Roman"/>
                <a:cs typeface="Times New Roman"/>
              </a:rPr>
              <a:t>you </a:t>
            </a:r>
            <a:r>
              <a:rPr dirty="0" sz="1100" spc="-5">
                <a:latin typeface="Times New Roman"/>
                <a:cs typeface="Times New Roman"/>
              </a:rPr>
              <a:t>can </a:t>
            </a:r>
            <a:r>
              <a:rPr dirty="0" sz="1100" spc="-10">
                <a:latin typeface="Times New Roman"/>
                <a:cs typeface="Times New Roman"/>
              </a:rPr>
              <a:t>eat </a:t>
            </a:r>
            <a:r>
              <a:rPr dirty="0" sz="1100" spc="-5">
                <a:latin typeface="Times New Roman"/>
                <a:cs typeface="Times New Roman"/>
              </a:rPr>
              <a:t>good Chinese food. On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Fifth Avenue</a:t>
            </a:r>
            <a:r>
              <a:rPr dirty="0" sz="1100" spc="-5">
                <a:latin typeface="Times New Roman"/>
                <a:cs typeface="Times New Roman"/>
              </a:rPr>
              <a:t>, </a:t>
            </a:r>
            <a:r>
              <a:rPr dirty="0" sz="1100">
                <a:latin typeface="Times New Roman"/>
                <a:cs typeface="Times New Roman"/>
              </a:rPr>
              <a:t>you </a:t>
            </a:r>
            <a:r>
              <a:rPr dirty="0" sz="1100" spc="-5">
                <a:latin typeface="Times New Roman"/>
                <a:cs typeface="Times New Roman"/>
              </a:rPr>
              <a:t>can see many beautiful stores.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Greenwich Village</a:t>
            </a:r>
            <a:r>
              <a:rPr dirty="0" sz="1100" spc="-5">
                <a:latin typeface="Times New Roman"/>
                <a:cs typeface="Times New Roman"/>
              </a:rPr>
              <a:t> has interesting clubs and restaurants.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Broadway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center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American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theater.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Truly,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New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York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something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everyone.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84582" y="4622549"/>
            <a:ext cx="2835910" cy="3530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29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Simple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Listing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Paragraphs: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Practice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90"/>
              </a:lnSpc>
            </a:pPr>
            <a:r>
              <a:rPr dirty="0" sz="1100" spc="-5">
                <a:latin typeface="Times New Roman"/>
                <a:cs typeface="Times New Roman"/>
              </a:rPr>
              <a:t>Write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simple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listing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paragraphs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followings: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41784" y="4869117"/>
            <a:ext cx="1938655" cy="1030605"/>
          </a:xfrm>
          <a:prstGeom prst="rect">
            <a:avLst/>
          </a:prstGeom>
        </p:spPr>
        <p:txBody>
          <a:bodyPr wrap="square" lIns="0" tIns="9652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6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My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courses 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university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My favorite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things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5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10">
                <a:latin typeface="Times New Roman"/>
                <a:cs typeface="Times New Roman"/>
              </a:rPr>
              <a:t>my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favorite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places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Pakistan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people in</a:t>
            </a:r>
            <a:r>
              <a:rPr dirty="0" sz="1100" spc="-10">
                <a:latin typeface="Times New Roman"/>
                <a:cs typeface="Times New Roman"/>
              </a:rPr>
              <a:t> my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family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21077" y="6108444"/>
            <a:ext cx="6163310" cy="32448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76200">
              <a:lnSpc>
                <a:spcPts val="129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ORDER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OF IMPORTANCE</a:t>
            </a:r>
            <a:r>
              <a:rPr dirty="0" sz="1100" spc="-10" b="1">
                <a:latin typeface="Times New Roman"/>
                <a:cs typeface="Times New Roman"/>
              </a:rPr>
              <a:t> PARAGRAPH</a:t>
            </a:r>
            <a:endParaRPr sz="1100">
              <a:latin typeface="Times New Roman"/>
              <a:cs typeface="Times New Roman"/>
            </a:endParaRPr>
          </a:p>
          <a:p>
            <a:pPr algn="just" marL="76200">
              <a:lnSpc>
                <a:spcPts val="1260"/>
              </a:lnSpc>
            </a:pPr>
            <a:r>
              <a:rPr dirty="0" sz="1100" spc="-5">
                <a:latin typeface="Times New Roman"/>
                <a:cs typeface="Times New Roman"/>
              </a:rPr>
              <a:t>Difference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between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listing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order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importance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paragraphs: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body.</a:t>
            </a:r>
            <a:endParaRPr sz="1100">
              <a:latin typeface="Times New Roman"/>
              <a:cs typeface="Times New Roman"/>
            </a:endParaRPr>
          </a:p>
          <a:p>
            <a:pPr algn="just" marL="76200">
              <a:lnSpc>
                <a:spcPts val="1265"/>
              </a:lnSpc>
            </a:pPr>
            <a:r>
              <a:rPr dirty="0" sz="1100" spc="-5">
                <a:latin typeface="Times New Roman"/>
                <a:cs typeface="Times New Roman"/>
              </a:rPr>
              <a:t>Compare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paragraphs.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course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second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Order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Importance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Paragraph.</a:t>
            </a:r>
            <a:endParaRPr sz="1100">
              <a:latin typeface="Times New Roman"/>
              <a:cs typeface="Times New Roman"/>
            </a:endParaRPr>
          </a:p>
          <a:p>
            <a:pPr algn="just" marL="532765" marR="44450" indent="-228600">
              <a:lnSpc>
                <a:spcPts val="1270"/>
              </a:lnSpc>
              <a:spcBef>
                <a:spcPts val="60"/>
              </a:spcBef>
            </a:pPr>
            <a:r>
              <a:rPr dirty="0" sz="1100" spc="-5">
                <a:latin typeface="Times New Roman"/>
                <a:cs typeface="Times New Roman"/>
              </a:rPr>
              <a:t>When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choose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car,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must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think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many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things.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must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big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enough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number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people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want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carry.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must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cost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want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spend.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should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fuel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efficient.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looks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good.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 can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difficult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right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car.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533400" marR="43180" indent="-228600">
              <a:lnSpc>
                <a:spcPts val="1270"/>
              </a:lnSpc>
            </a:pPr>
            <a:r>
              <a:rPr dirty="0" sz="1100" spc="-5">
                <a:latin typeface="Times New Roman"/>
                <a:cs typeface="Times New Roman"/>
              </a:rPr>
              <a:t>When we choose a car, we must think about many things. The most important is that it must be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big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enough</a:t>
            </a:r>
            <a:r>
              <a:rPr dirty="0" sz="1100" spc="-5">
                <a:latin typeface="Times New Roman"/>
                <a:cs typeface="Times New Roman"/>
              </a:rPr>
              <a:t> for the number of people we want to </a:t>
            </a:r>
            <a:r>
              <a:rPr dirty="0" sz="1100">
                <a:latin typeface="Times New Roman"/>
                <a:cs typeface="Times New Roman"/>
              </a:rPr>
              <a:t>carry. </a:t>
            </a:r>
            <a:r>
              <a:rPr dirty="0" sz="1100" spc="-5">
                <a:latin typeface="Times New Roman"/>
                <a:cs typeface="Times New Roman"/>
              </a:rPr>
              <a:t>The second most important thing is that it must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not</a:t>
            </a:r>
            <a:r>
              <a:rPr dirty="0" u="sng" sz="1100" spc="1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cost</a:t>
            </a:r>
            <a:r>
              <a:rPr dirty="0" u="sng" sz="1100" spc="13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more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want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spend.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Third,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should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fuel</a:t>
            </a:r>
            <a:r>
              <a:rPr dirty="0" u="sng" sz="1100" spc="1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efficient</a:t>
            </a:r>
            <a:r>
              <a:rPr dirty="0" sz="1100" spc="-5">
                <a:latin typeface="Times New Roman"/>
                <a:cs typeface="Times New Roman"/>
              </a:rPr>
              <a:t>.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Last,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want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car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looks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good</a:t>
            </a:r>
            <a:r>
              <a:rPr dirty="0" sz="1100" spc="-5">
                <a:latin typeface="Times New Roman"/>
                <a:cs typeface="Times New Roman"/>
              </a:rPr>
              <a:t>. It can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difficult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right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car.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00">
              <a:latin typeface="Times New Roman"/>
              <a:cs typeface="Times New Roman"/>
            </a:endParaRPr>
          </a:p>
          <a:p>
            <a:pPr marL="76200">
              <a:lnSpc>
                <a:spcPts val="1285"/>
              </a:lnSpc>
            </a:pPr>
            <a:r>
              <a:rPr dirty="0" sz="1100" spc="-5" b="1">
                <a:latin typeface="Times New Roman"/>
                <a:cs typeface="Times New Roman"/>
              </a:rPr>
              <a:t>STRUCTURE:</a:t>
            </a:r>
            <a:endParaRPr sz="1100">
              <a:latin typeface="Times New Roman"/>
              <a:cs typeface="Times New Roman"/>
            </a:endParaRPr>
          </a:p>
          <a:p>
            <a:pPr marL="304165">
              <a:lnSpc>
                <a:spcPts val="1260"/>
              </a:lnSpc>
            </a:pP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</a:t>
            </a:r>
            <a:endParaRPr sz="1100">
              <a:latin typeface="Times New Roman"/>
              <a:cs typeface="Times New Roman"/>
            </a:endParaRPr>
          </a:p>
          <a:p>
            <a:pPr marL="304165" marR="3131185">
              <a:lnSpc>
                <a:spcPts val="1270"/>
              </a:lnSpc>
              <a:spcBef>
                <a:spcPts val="60"/>
              </a:spcBef>
            </a:pPr>
            <a:r>
              <a:rPr dirty="0" sz="1100" spc="-5">
                <a:latin typeface="Times New Roman"/>
                <a:cs typeface="Times New Roman"/>
              </a:rPr>
              <a:t>1</a:t>
            </a:r>
            <a:r>
              <a:rPr dirty="0" baseline="39682" sz="1050" spc="-7">
                <a:latin typeface="Times New Roman"/>
                <a:cs typeface="Times New Roman"/>
              </a:rPr>
              <a:t>st</a:t>
            </a:r>
            <a:r>
              <a:rPr dirty="0" baseline="39682" sz="105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importance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+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2</a:t>
            </a:r>
            <a:r>
              <a:rPr dirty="0" baseline="39682" sz="1050">
                <a:latin typeface="Times New Roman"/>
                <a:cs typeface="Times New Roman"/>
              </a:rPr>
              <a:t>nd</a:t>
            </a:r>
            <a:r>
              <a:rPr dirty="0" baseline="39682" sz="105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importance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+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3</a:t>
            </a:r>
            <a:r>
              <a:rPr dirty="0" baseline="39682" sz="1050">
                <a:latin typeface="Times New Roman"/>
                <a:cs typeface="Times New Roman"/>
              </a:rPr>
              <a:t>rd</a:t>
            </a:r>
            <a:r>
              <a:rPr dirty="0" baseline="39682" sz="105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importance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Conclusion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000">
              <a:latin typeface="Times New Roman"/>
              <a:cs typeface="Times New Roman"/>
            </a:endParaRPr>
          </a:p>
          <a:p>
            <a:pPr marL="76200">
              <a:lnSpc>
                <a:spcPct val="100000"/>
              </a:lnSpc>
              <a:spcBef>
                <a:spcPts val="5"/>
              </a:spcBef>
            </a:pPr>
            <a:r>
              <a:rPr dirty="0" sz="1100" spc="-5" b="1">
                <a:latin typeface="Times New Roman"/>
                <a:cs typeface="Times New Roman"/>
              </a:rPr>
              <a:t>Example: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00">
              <a:latin typeface="Times New Roman"/>
              <a:cs typeface="Times New Roman"/>
            </a:endParaRPr>
          </a:p>
          <a:p>
            <a:pPr marL="762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“What Makes a Good Boss?”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788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10019" y="9493248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66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400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27380" y="342390"/>
            <a:ext cx="6083300" cy="24644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95"/>
              </a:spcBef>
              <a:tabLst>
                <a:tab pos="5869305" algn="l"/>
              </a:tabLst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l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</a:t>
            </a:r>
            <a:r>
              <a:rPr dirty="0" sz="1100" spc="-15">
                <a:solidFill>
                  <a:srgbClr val="323232"/>
                </a:solidFill>
                <a:latin typeface="Times New Roman"/>
                <a:cs typeface="Times New Roman"/>
              </a:rPr>
              <a:t>m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entary</a:t>
            </a:r>
            <a:r>
              <a:rPr dirty="0" sz="1100" spc="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g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lish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26670">
              <a:lnSpc>
                <a:spcPct val="95900"/>
              </a:lnSpc>
            </a:pPr>
            <a:r>
              <a:rPr dirty="0" sz="1100" spc="-5" b="1">
                <a:latin typeface="Times New Roman"/>
                <a:cs typeface="Times New Roman"/>
              </a:rPr>
              <a:t>There are </a:t>
            </a:r>
            <a:r>
              <a:rPr dirty="0" sz="1100" b="1">
                <a:latin typeface="Times New Roman"/>
                <a:cs typeface="Times New Roman"/>
              </a:rPr>
              <a:t>three </a:t>
            </a:r>
            <a:r>
              <a:rPr dirty="0" sz="1100" spc="-5" b="1">
                <a:latin typeface="Times New Roman"/>
                <a:cs typeface="Times New Roman"/>
              </a:rPr>
              <a:t>important qualities necessary in a good boss. </a:t>
            </a:r>
            <a:r>
              <a:rPr dirty="0" sz="1100" spc="-5">
                <a:latin typeface="Times New Roman"/>
                <a:cs typeface="Times New Roman"/>
              </a:rPr>
              <a:t>The most important is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fairness</a:t>
            </a:r>
            <a:r>
              <a:rPr dirty="0" sz="1100" spc="-5">
                <a:latin typeface="Times New Roman"/>
                <a:cs typeface="Times New Roman"/>
              </a:rPr>
              <a:t>. If the boss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 fair, workers can feel </a:t>
            </a:r>
            <a:r>
              <a:rPr dirty="0" sz="1100">
                <a:latin typeface="Times New Roman"/>
                <a:cs typeface="Times New Roman"/>
              </a:rPr>
              <a:t>that </a:t>
            </a:r>
            <a:r>
              <a:rPr dirty="0" sz="1100" spc="-5">
                <a:latin typeface="Times New Roman"/>
                <a:cs typeface="Times New Roman"/>
              </a:rPr>
              <a:t>if they do a good job, their work will be appreciated, and their efforts will be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rewarded. The second most important quality is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leadership</a:t>
            </a:r>
            <a:r>
              <a:rPr dirty="0" sz="1100" spc="-5">
                <a:latin typeface="Times New Roman"/>
                <a:cs typeface="Times New Roman"/>
              </a:rPr>
              <a:t>. The boss should be an example and a teacher.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allows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workers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boss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they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increase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job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skills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get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promoted.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third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most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important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factor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boss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acts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with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consistency</a:t>
            </a:r>
            <a:r>
              <a:rPr dirty="0" sz="1100" spc="-5">
                <a:latin typeface="Times New Roman"/>
                <a:cs typeface="Times New Roman"/>
              </a:rPr>
              <a:t>.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way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workers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know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expect each </a:t>
            </a:r>
            <a:r>
              <a:rPr dirty="0" sz="1100">
                <a:latin typeface="Times New Roman"/>
                <a:cs typeface="Times New Roman"/>
              </a:rPr>
              <a:t>day. </a:t>
            </a:r>
            <a:r>
              <a:rPr dirty="0" sz="1100" spc="-5">
                <a:latin typeface="Times New Roman"/>
                <a:cs typeface="Times New Roman"/>
              </a:rPr>
              <a:t>They know how they’ll be treated and what their share of the workload will be. </a:t>
            </a:r>
            <a:r>
              <a:rPr dirty="0" sz="1100" spc="-5" b="1">
                <a:latin typeface="Times New Roman"/>
                <a:cs typeface="Times New Roman"/>
              </a:rPr>
              <a:t>I would 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hire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boss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with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these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qualities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for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myself.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ts val="1290"/>
              </a:lnSpc>
            </a:pPr>
            <a:r>
              <a:rPr dirty="0" sz="1100" spc="-5" b="1">
                <a:latin typeface="Times New Roman"/>
                <a:cs typeface="Times New Roman"/>
              </a:rPr>
              <a:t>Order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of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Importance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Paragraph: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Practice</a:t>
            </a:r>
            <a:endParaRPr sz="1100">
              <a:latin typeface="Times New Roman"/>
              <a:cs typeface="Times New Roman"/>
            </a:endParaRPr>
          </a:p>
          <a:p>
            <a:pPr marL="469900" marR="2586990" indent="-457200">
              <a:lnSpc>
                <a:spcPts val="1270"/>
              </a:lnSpc>
              <a:spcBef>
                <a:spcPts val="55"/>
              </a:spcBef>
            </a:pPr>
            <a:r>
              <a:rPr dirty="0" sz="1100" spc="-5">
                <a:latin typeface="Times New Roman"/>
                <a:cs typeface="Times New Roman"/>
              </a:rPr>
              <a:t>Write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order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importance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paragraphs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following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topics: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three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biggest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cities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country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200"/>
              </a:lnSpc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three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most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important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historical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places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country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295"/>
              </a:lnSpc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most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interesting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places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hometown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257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627382" y="3257027"/>
            <a:ext cx="442023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Source: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Connor.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Express</a:t>
            </a:r>
            <a:r>
              <a:rPr dirty="0" sz="1100" spc="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Yourself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in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Written</a:t>
            </a:r>
            <a:r>
              <a:rPr dirty="0" sz="1100" spc="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English.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Illinois:</a:t>
            </a:r>
            <a:r>
              <a:rPr dirty="0" sz="1100" spc="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NTC.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1990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4580" y="342390"/>
            <a:ext cx="174498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 Elementary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41311" y="342390"/>
            <a:ext cx="22669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360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67219" y="9493248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67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972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829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084586" y="526034"/>
            <a:ext cx="6061075" cy="2280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95"/>
              </a:spcBef>
            </a:pP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LECTURE</a:t>
            </a:r>
            <a:r>
              <a:rPr dirty="0" u="heavy" sz="11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21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PARAGRAPH WRITING: 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TYPES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AND TECHNIQUES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5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TIME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ORDER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PARAGRAPHS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 algn="just" marL="12700">
              <a:lnSpc>
                <a:spcPts val="1295"/>
              </a:lnSpc>
            </a:pPr>
            <a:r>
              <a:rPr dirty="0" sz="1100" spc="-5">
                <a:latin typeface="Times New Roman"/>
                <a:cs typeface="Times New Roman"/>
              </a:rPr>
              <a:t>Example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  <a:p>
            <a:pPr algn="just" marL="12700">
              <a:lnSpc>
                <a:spcPts val="1265"/>
              </a:lnSpc>
            </a:pPr>
            <a:r>
              <a:rPr dirty="0" sz="1100" spc="-5">
                <a:latin typeface="Times New Roman"/>
                <a:cs typeface="Times New Roman"/>
              </a:rPr>
              <a:t>My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European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Holiday</a:t>
            </a:r>
            <a:endParaRPr sz="1100">
              <a:latin typeface="Times New Roman"/>
              <a:cs typeface="Times New Roman"/>
            </a:endParaRPr>
          </a:p>
          <a:p>
            <a:pPr algn="just" marL="12700" marR="5080" indent="914400">
              <a:lnSpc>
                <a:spcPts val="1270"/>
              </a:lnSpc>
              <a:spcBef>
                <a:spcPts val="55"/>
              </a:spcBef>
            </a:pPr>
            <a:r>
              <a:rPr dirty="0" sz="1100" spc="-5" b="1">
                <a:latin typeface="Times New Roman"/>
                <a:cs typeface="Times New Roman"/>
              </a:rPr>
              <a:t>Last</a:t>
            </a:r>
            <a:r>
              <a:rPr dirty="0" sz="1100" spc="9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year</a:t>
            </a:r>
            <a:r>
              <a:rPr dirty="0" sz="1100" spc="9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took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month-long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trip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Europe.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First</a:t>
            </a:r>
            <a:r>
              <a:rPr dirty="0" sz="1100" spc="-5">
                <a:latin typeface="Times New Roman"/>
                <a:cs typeface="Times New Roman"/>
              </a:rPr>
              <a:t>,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went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London.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stayed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there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 weeks. I saw many historical places and went to several shows. </a:t>
            </a:r>
            <a:r>
              <a:rPr dirty="0" sz="1100" spc="-5" b="1">
                <a:latin typeface="Times New Roman"/>
                <a:cs typeface="Times New Roman"/>
              </a:rPr>
              <a:t>After </a:t>
            </a:r>
            <a:r>
              <a:rPr dirty="0" sz="1100" spc="-5">
                <a:latin typeface="Times New Roman"/>
                <a:cs typeface="Times New Roman"/>
              </a:rPr>
              <a:t>London, I flew to Paris, where I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went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shopping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visited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Louvre.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stayed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Paris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week.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Then</a:t>
            </a:r>
            <a:r>
              <a:rPr dirty="0" sz="1100" spc="2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went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Rome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by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train.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Rome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 saw the Colosseum, the Pantheon, and Vatican City. </a:t>
            </a:r>
            <a:r>
              <a:rPr dirty="0" sz="1100" spc="-5" b="1">
                <a:latin typeface="Times New Roman"/>
                <a:cs typeface="Times New Roman"/>
              </a:rPr>
              <a:t>After a week </a:t>
            </a:r>
            <a:r>
              <a:rPr dirty="0" sz="1100" spc="-5">
                <a:latin typeface="Times New Roman"/>
                <a:cs typeface="Times New Roman"/>
              </a:rPr>
              <a:t>in Rome, I flew home. It was an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educational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enjoyable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trip.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84586" y="2935467"/>
            <a:ext cx="93281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 b="1">
                <a:latin typeface="Times New Roman"/>
                <a:cs typeface="Times New Roman"/>
              </a:rPr>
              <a:t>STRU</a:t>
            </a:r>
            <a:r>
              <a:rPr dirty="0" sz="1100" b="1">
                <a:latin typeface="Times New Roman"/>
                <a:cs typeface="Times New Roman"/>
              </a:rPr>
              <a:t>C</a:t>
            </a:r>
            <a:r>
              <a:rPr dirty="0" sz="1100" spc="-10" b="1">
                <a:latin typeface="Times New Roman"/>
                <a:cs typeface="Times New Roman"/>
              </a:rPr>
              <a:t>TU</a:t>
            </a:r>
            <a:r>
              <a:rPr dirty="0" sz="1100" b="1">
                <a:latin typeface="Times New Roman"/>
                <a:cs typeface="Times New Roman"/>
              </a:rPr>
              <a:t>R</a:t>
            </a:r>
            <a:r>
              <a:rPr dirty="0" sz="1100" spc="-10" b="1">
                <a:latin typeface="Times New Roman"/>
                <a:cs typeface="Times New Roman"/>
              </a:rPr>
              <a:t>E</a:t>
            </a:r>
            <a:r>
              <a:rPr dirty="0" sz="1100" spc="-5" b="1">
                <a:latin typeface="Times New Roman"/>
                <a:cs typeface="Times New Roman"/>
              </a:rPr>
              <a:t>: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13180" y="3022788"/>
            <a:ext cx="1597025" cy="122936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sentence: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Body:</a:t>
            </a:r>
            <a:endParaRPr sz="1100">
              <a:latin typeface="Times New Roman"/>
              <a:cs typeface="Times New Roman"/>
            </a:endParaRPr>
          </a:p>
          <a:p>
            <a:pPr marL="697865" marR="5080">
              <a:lnSpc>
                <a:spcPts val="1270"/>
              </a:lnSpc>
              <a:spcBef>
                <a:spcPts val="655"/>
              </a:spcBef>
            </a:pPr>
            <a:r>
              <a:rPr dirty="0" sz="1100" spc="-5">
                <a:latin typeface="Times New Roman"/>
                <a:cs typeface="Times New Roman"/>
              </a:rPr>
              <a:t>went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London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went to Paris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went to Rome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returned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home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84558" y="4220964"/>
            <a:ext cx="6061075" cy="20402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latin typeface="Times New Roman"/>
                <a:cs typeface="Times New Roman"/>
              </a:rPr>
              <a:t>3.</a:t>
            </a:r>
            <a:r>
              <a:rPr dirty="0" sz="1100" spc="3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Conclusion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550">
              <a:latin typeface="Times New Roman"/>
              <a:cs typeface="Times New Roman"/>
            </a:endParaRPr>
          </a:p>
          <a:p>
            <a:pPr algn="just" marL="12700">
              <a:lnSpc>
                <a:spcPts val="1295"/>
              </a:lnSpc>
            </a:pPr>
            <a:r>
              <a:rPr dirty="0" sz="1100" spc="-5">
                <a:latin typeface="Times New Roman"/>
                <a:cs typeface="Times New Roman"/>
              </a:rPr>
              <a:t>Example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2</a:t>
            </a:r>
            <a:endParaRPr sz="1100">
              <a:latin typeface="Times New Roman"/>
              <a:cs typeface="Times New Roman"/>
            </a:endParaRPr>
          </a:p>
          <a:p>
            <a:pPr algn="just" marL="12700">
              <a:lnSpc>
                <a:spcPts val="1265"/>
              </a:lnSpc>
            </a:pP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Putting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on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Our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Play</a:t>
            </a:r>
            <a:endParaRPr sz="1100">
              <a:latin typeface="Times New Roman"/>
              <a:cs typeface="Times New Roman"/>
            </a:endParaRPr>
          </a:p>
          <a:p>
            <a:pPr algn="just" marL="12700" marR="5080">
              <a:lnSpc>
                <a:spcPct val="95900"/>
              </a:lnSpc>
              <a:spcBef>
                <a:spcPts val="25"/>
              </a:spcBef>
            </a:pPr>
            <a:r>
              <a:rPr dirty="0" sz="1100" spc="-5" b="1">
                <a:latin typeface="Times New Roman"/>
                <a:cs typeface="Times New Roman"/>
              </a:rPr>
              <a:t>Last</a:t>
            </a:r>
            <a:r>
              <a:rPr dirty="0" sz="1100" spc="13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weekend</a:t>
            </a:r>
            <a:r>
              <a:rPr dirty="0" sz="1100" spc="13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we</a:t>
            </a:r>
            <a:r>
              <a:rPr dirty="0" sz="1100" spc="13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put</a:t>
            </a:r>
            <a:r>
              <a:rPr dirty="0" sz="1100" spc="14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on</a:t>
            </a:r>
            <a:r>
              <a:rPr dirty="0" sz="1100" spc="13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our</a:t>
            </a:r>
            <a:r>
              <a:rPr dirty="0" sz="1100" spc="13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annual</a:t>
            </a:r>
            <a:r>
              <a:rPr dirty="0" sz="1100" spc="13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drama</a:t>
            </a:r>
            <a:r>
              <a:rPr dirty="0" sz="1100" spc="14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club</a:t>
            </a:r>
            <a:r>
              <a:rPr dirty="0" sz="1100" spc="14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play.</a:t>
            </a:r>
            <a:r>
              <a:rPr dirty="0" sz="1100" spc="14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It</a:t>
            </a:r>
            <a:r>
              <a:rPr dirty="0" sz="1100" spc="13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was</a:t>
            </a:r>
            <a:r>
              <a:rPr dirty="0" sz="1100" spc="14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</a:t>
            </a:r>
            <a:r>
              <a:rPr dirty="0" sz="1100" spc="13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great</a:t>
            </a:r>
            <a:r>
              <a:rPr dirty="0" sz="1100" spc="14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success,</a:t>
            </a:r>
            <a:r>
              <a:rPr dirty="0" sz="1100" spc="13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but</a:t>
            </a:r>
            <a:r>
              <a:rPr dirty="0" sz="1100" spc="13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it</a:t>
            </a:r>
            <a:r>
              <a:rPr dirty="0" sz="1100" spc="14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was</a:t>
            </a:r>
            <a:r>
              <a:rPr dirty="0" sz="1100" spc="13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also</a:t>
            </a:r>
            <a:r>
              <a:rPr dirty="0" sz="1100" spc="13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hard </a:t>
            </a:r>
            <a:r>
              <a:rPr dirty="0" sz="1100" spc="-26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work. </a:t>
            </a:r>
            <a:r>
              <a:rPr dirty="0" sz="1100" spc="-5">
                <a:latin typeface="Times New Roman"/>
                <a:cs typeface="Times New Roman"/>
              </a:rPr>
              <a:t>We began planning two months ago. First, we selected the </a:t>
            </a:r>
            <a:r>
              <a:rPr dirty="0" sz="1100">
                <a:latin typeface="Times New Roman"/>
                <a:cs typeface="Times New Roman"/>
              </a:rPr>
              <a:t>play. </a:t>
            </a:r>
            <a:r>
              <a:rPr dirty="0" sz="1100" spc="-5">
                <a:latin typeface="Times New Roman"/>
                <a:cs typeface="Times New Roman"/>
              </a:rPr>
              <a:t>Next, a director was chosen. After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that, we began casting the play. The next step was to find people to design and make the costumes and sets.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while,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were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rehearsing.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Finally,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weeks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ago,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held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dress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rehearsal,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and,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last,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felt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were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ready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opening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night.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Because</a:t>
            </a:r>
            <a:r>
              <a:rPr dirty="0" sz="1100" spc="5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of</a:t>
            </a:r>
            <a:r>
              <a:rPr dirty="0" sz="1100" spc="5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all</a:t>
            </a:r>
            <a:r>
              <a:rPr dirty="0" sz="1100" spc="5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our</a:t>
            </a:r>
            <a:r>
              <a:rPr dirty="0" sz="1100" spc="5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hard</a:t>
            </a:r>
            <a:r>
              <a:rPr dirty="0" sz="1100" spc="5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work</a:t>
            </a:r>
            <a:r>
              <a:rPr dirty="0" sz="1100" spc="5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and</a:t>
            </a:r>
            <a:r>
              <a:rPr dirty="0" sz="1100" spc="5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careful</a:t>
            </a:r>
            <a:r>
              <a:rPr dirty="0" sz="1100" spc="5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preparations,</a:t>
            </a:r>
            <a:r>
              <a:rPr dirty="0" sz="1100" spc="5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</a:t>
            </a:r>
            <a:r>
              <a:rPr dirty="0" sz="1100" spc="5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play</a:t>
            </a:r>
            <a:r>
              <a:rPr dirty="0" sz="1100" spc="5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was </a:t>
            </a:r>
            <a:r>
              <a:rPr dirty="0" sz="1100" spc="-26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 big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hit.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Structural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analysis: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84585" y="6389606"/>
            <a:ext cx="1243965" cy="1799589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435609">
              <a:lnSpc>
                <a:spcPts val="1270"/>
              </a:lnSpc>
              <a:spcBef>
                <a:spcPts val="180"/>
              </a:spcBef>
            </a:pPr>
            <a:r>
              <a:rPr dirty="0" sz="1100" spc="-5" b="1">
                <a:latin typeface="Times New Roman"/>
                <a:cs typeface="Times New Roman"/>
              </a:rPr>
              <a:t>Central</a:t>
            </a:r>
            <a:r>
              <a:rPr dirty="0" sz="1100" spc="-5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idea: </a:t>
            </a:r>
            <a:r>
              <a:rPr dirty="0" sz="1100" spc="-26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Body: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190"/>
              </a:lnSpc>
            </a:pPr>
            <a:r>
              <a:rPr dirty="0" sz="1100" spc="-5" b="1">
                <a:latin typeface="Times New Roman"/>
                <a:cs typeface="Times New Roman"/>
              </a:rPr>
              <a:t>Time</a:t>
            </a:r>
            <a:r>
              <a:rPr dirty="0" sz="1100" spc="-30" b="1">
                <a:latin typeface="Times New Roman"/>
                <a:cs typeface="Times New Roman"/>
              </a:rPr>
              <a:t> </a:t>
            </a:r>
            <a:r>
              <a:rPr dirty="0" sz="1100" spc="-10" b="1">
                <a:latin typeface="Times New Roman"/>
                <a:cs typeface="Times New Roman"/>
              </a:rPr>
              <a:t>words</a:t>
            </a:r>
            <a:endParaRPr sz="1100">
              <a:latin typeface="Times New Roman"/>
              <a:cs typeface="Times New Roman"/>
            </a:endParaRPr>
          </a:p>
          <a:p>
            <a:pPr marL="469900" marR="226060">
              <a:lnSpc>
                <a:spcPts val="1270"/>
              </a:lnSpc>
              <a:spcBef>
                <a:spcPts val="55"/>
              </a:spcBef>
            </a:pPr>
            <a:r>
              <a:rPr dirty="0" sz="1100" spc="-5">
                <a:latin typeface="Times New Roman"/>
                <a:cs typeface="Times New Roman"/>
              </a:rPr>
              <a:t>First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Next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After</a:t>
            </a:r>
            <a:r>
              <a:rPr dirty="0" sz="1100" spc="-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next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185"/>
              </a:lnSpc>
            </a:pP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while</a:t>
            </a:r>
            <a:endParaRPr sz="1100">
              <a:latin typeface="Times New Roman"/>
              <a:cs typeface="Times New Roman"/>
            </a:endParaRPr>
          </a:p>
          <a:p>
            <a:pPr marL="469900" marR="370205">
              <a:lnSpc>
                <a:spcPts val="1270"/>
              </a:lnSpc>
              <a:spcBef>
                <a:spcPts val="55"/>
              </a:spcBef>
            </a:pPr>
            <a:r>
              <a:rPr dirty="0" sz="1100" spc="-5">
                <a:latin typeface="Times New Roman"/>
                <a:cs typeface="Times New Roman"/>
              </a:rPr>
              <a:t>Finally  </a:t>
            </a:r>
            <a:r>
              <a:rPr dirty="0" sz="1100" spc="-5">
                <a:latin typeface="Times New Roman"/>
                <a:cs typeface="Times New Roman"/>
              </a:rPr>
              <a:t>At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last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35"/>
              </a:lnSpc>
            </a:pPr>
            <a:r>
              <a:rPr dirty="0" sz="1100" spc="-5" b="1">
                <a:latin typeface="Times New Roman"/>
                <a:cs typeface="Times New Roman"/>
              </a:rPr>
              <a:t>Conclusion: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55920" y="6710402"/>
            <a:ext cx="1842135" cy="1316990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12700" marR="575945">
              <a:lnSpc>
                <a:spcPct val="95800"/>
              </a:lnSpc>
              <a:spcBef>
                <a:spcPts val="150"/>
              </a:spcBef>
            </a:pPr>
            <a:r>
              <a:rPr dirty="0" sz="1100" spc="-5" b="1">
                <a:latin typeface="Times New Roman"/>
                <a:cs typeface="Times New Roman"/>
              </a:rPr>
              <a:t>what happened 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selected the play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director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chosen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began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casting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play</a:t>
            </a:r>
            <a:endParaRPr sz="1100">
              <a:latin typeface="Times New Roman"/>
              <a:cs typeface="Times New Roman"/>
            </a:endParaRPr>
          </a:p>
          <a:p>
            <a:pPr marL="12700" marR="5080" indent="-635">
              <a:lnSpc>
                <a:spcPts val="1260"/>
              </a:lnSpc>
              <a:spcBef>
                <a:spcPts val="40"/>
              </a:spcBef>
            </a:pPr>
            <a:r>
              <a:rPr dirty="0" sz="1100" spc="-5">
                <a:latin typeface="Times New Roman"/>
                <a:cs typeface="Times New Roman"/>
              </a:rPr>
              <a:t>found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costume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designers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rehearsing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05"/>
              </a:lnSpc>
            </a:pPr>
            <a:r>
              <a:rPr dirty="0" sz="1100" spc="-5">
                <a:latin typeface="Times New Roman"/>
                <a:cs typeface="Times New Roman"/>
              </a:rPr>
              <a:t>dress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rehearsal</a:t>
            </a:r>
            <a:endParaRPr sz="1100">
              <a:latin typeface="Times New Roman"/>
              <a:cs typeface="Times New Roman"/>
            </a:endParaRPr>
          </a:p>
          <a:p>
            <a:pPr marL="13335">
              <a:lnSpc>
                <a:spcPts val="1295"/>
              </a:lnSpc>
            </a:pPr>
            <a:r>
              <a:rPr dirty="0" sz="1100" spc="-5">
                <a:latin typeface="Times New Roman"/>
                <a:cs typeface="Times New Roman"/>
              </a:rPr>
              <a:t>ready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opening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night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84585" y="8317447"/>
            <a:ext cx="5514340" cy="6737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285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Time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Order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Paragraphs: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Practice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85"/>
              </a:lnSpc>
            </a:pPr>
            <a:r>
              <a:rPr dirty="0" sz="1100" spc="-5">
                <a:latin typeface="Times New Roman"/>
                <a:cs typeface="Times New Roman"/>
              </a:rPr>
              <a:t>Prepare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paragraph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tell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story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book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movie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seen.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SPATIAL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ORDER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PARAGRAPHS: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describe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spaces.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788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10019" y="9493248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68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400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27374" y="342390"/>
            <a:ext cx="6083300" cy="90506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95"/>
              </a:spcBef>
              <a:tabLst>
                <a:tab pos="5869305" algn="l"/>
              </a:tabLst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l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</a:t>
            </a:r>
            <a:r>
              <a:rPr dirty="0" sz="1100" spc="-15">
                <a:solidFill>
                  <a:srgbClr val="323232"/>
                </a:solidFill>
                <a:latin typeface="Times New Roman"/>
                <a:cs typeface="Times New Roman"/>
              </a:rPr>
              <a:t>m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entary</a:t>
            </a:r>
            <a:r>
              <a:rPr dirty="0" sz="1100" spc="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g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lish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>
              <a:lnSpc>
                <a:spcPts val="1295"/>
              </a:lnSpc>
            </a:pPr>
            <a:r>
              <a:rPr dirty="0" sz="1100" spc="-5" b="1">
                <a:latin typeface="Times New Roman"/>
                <a:cs typeface="Times New Roman"/>
              </a:rPr>
              <a:t>Example</a:t>
            </a:r>
            <a:r>
              <a:rPr dirty="0" sz="1100" spc="-3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  <a:p>
            <a:pPr algn="just" marL="12700">
              <a:lnSpc>
                <a:spcPts val="1260"/>
              </a:lnSpc>
            </a:pP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Comfortable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Place</a:t>
            </a:r>
            <a:endParaRPr sz="1100">
              <a:latin typeface="Times New Roman"/>
              <a:cs typeface="Times New Roman"/>
            </a:endParaRPr>
          </a:p>
          <a:p>
            <a:pPr algn="just" marL="12700" marR="27305">
              <a:lnSpc>
                <a:spcPts val="1270"/>
              </a:lnSpc>
              <a:spcBef>
                <a:spcPts val="50"/>
              </a:spcBef>
            </a:pPr>
            <a:r>
              <a:rPr dirty="0" sz="1100" spc="-5">
                <a:latin typeface="Times New Roman"/>
                <a:cs typeface="Times New Roman"/>
              </a:rPr>
              <a:t>My favorite room is </a:t>
            </a:r>
            <a:r>
              <a:rPr dirty="0" sz="1100" spc="-10">
                <a:latin typeface="Times New Roman"/>
                <a:cs typeface="Times New Roman"/>
              </a:rPr>
              <a:t>my </a:t>
            </a:r>
            <a:r>
              <a:rPr dirty="0" sz="1100" spc="-5">
                <a:latin typeface="Times New Roman"/>
                <a:cs typeface="Times New Roman"/>
              </a:rPr>
              <a:t>living room. It’s rectangular with the door on the left side of the south wall. In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wall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opposite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door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picture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window.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Below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window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sofa.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rectangular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coffee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table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front of the sofa. Facing the sofa are two armchairs. An abstract painting is on the west wall. Along the east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wall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see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long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cabinet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vase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flowers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it.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right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cabinet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small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table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telephone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 bright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uncluttered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room 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my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favorite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place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relax.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00">
              <a:latin typeface="Times New Roman"/>
              <a:cs typeface="Times New Roman"/>
            </a:endParaRPr>
          </a:p>
          <a:p>
            <a:pPr algn="just" marL="12700">
              <a:lnSpc>
                <a:spcPts val="1290"/>
              </a:lnSpc>
            </a:pPr>
            <a:r>
              <a:rPr dirty="0" sz="1100" spc="-5" b="1">
                <a:latin typeface="Times New Roman"/>
                <a:cs typeface="Times New Roman"/>
              </a:rPr>
              <a:t>Location</a:t>
            </a:r>
            <a:r>
              <a:rPr dirty="0" sz="1100" spc="-4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words:</a:t>
            </a:r>
            <a:endParaRPr sz="1100">
              <a:latin typeface="Times New Roman"/>
              <a:cs typeface="Times New Roman"/>
            </a:endParaRPr>
          </a:p>
          <a:p>
            <a:pPr algn="just" marL="12700" marR="27305">
              <a:lnSpc>
                <a:spcPts val="1270"/>
              </a:lnSpc>
              <a:spcBef>
                <a:spcPts val="55"/>
              </a:spcBef>
            </a:pPr>
            <a:r>
              <a:rPr dirty="0" sz="1100" spc="-5">
                <a:latin typeface="Times New Roman"/>
                <a:cs typeface="Times New Roman"/>
              </a:rPr>
              <a:t>Left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right;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Front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back;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Centre;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East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West;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North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South;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Next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to;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Above;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Below;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Behind;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front;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 etc.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00">
              <a:latin typeface="Times New Roman"/>
              <a:cs typeface="Times New Roman"/>
            </a:endParaRPr>
          </a:p>
          <a:p>
            <a:pPr algn="just" marL="12700">
              <a:lnSpc>
                <a:spcPts val="1285"/>
              </a:lnSpc>
            </a:pPr>
            <a:r>
              <a:rPr dirty="0" sz="1100" spc="-5" b="1">
                <a:latin typeface="Times New Roman"/>
                <a:cs typeface="Times New Roman"/>
              </a:rPr>
              <a:t>Spatial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Order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Paragraphs: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Practice</a:t>
            </a:r>
            <a:endParaRPr sz="1100">
              <a:latin typeface="Times New Roman"/>
              <a:cs typeface="Times New Roman"/>
            </a:endParaRPr>
          </a:p>
          <a:p>
            <a:pPr algn="just" marL="12700" marR="27305">
              <a:lnSpc>
                <a:spcPts val="1270"/>
              </a:lnSpc>
              <a:spcBef>
                <a:spcPts val="50"/>
              </a:spcBef>
            </a:pPr>
            <a:r>
              <a:rPr dirty="0" sz="1100" spc="-5">
                <a:latin typeface="Times New Roman"/>
                <a:cs typeface="Times New Roman"/>
              </a:rPr>
              <a:t>Picture in your mind a place that </a:t>
            </a:r>
            <a:r>
              <a:rPr dirty="0" sz="1100">
                <a:latin typeface="Times New Roman"/>
                <a:cs typeface="Times New Roman"/>
              </a:rPr>
              <a:t>you </a:t>
            </a:r>
            <a:r>
              <a:rPr dirty="0" sz="1100" spc="-5">
                <a:latin typeface="Times New Roman"/>
                <a:cs typeface="Times New Roman"/>
              </a:rPr>
              <a:t>know very well. Now write an outline of a paragraph describing that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place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without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drawing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diagram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first.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00">
              <a:latin typeface="Times New Roman"/>
              <a:cs typeface="Times New Roman"/>
            </a:endParaRPr>
          </a:p>
          <a:p>
            <a:pPr algn="just" marL="12700">
              <a:lnSpc>
                <a:spcPts val="1290"/>
              </a:lnSpc>
            </a:pPr>
            <a:r>
              <a:rPr dirty="0" sz="1100" spc="-5" b="1">
                <a:latin typeface="Times New Roman"/>
                <a:cs typeface="Times New Roman"/>
              </a:rPr>
              <a:t>MULTI-PARAGRAPH</a:t>
            </a:r>
            <a:r>
              <a:rPr dirty="0" sz="1100" spc="-3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COMPOSITION:</a:t>
            </a:r>
            <a:endParaRPr sz="1100">
              <a:latin typeface="Times New Roman"/>
              <a:cs typeface="Times New Roman"/>
            </a:endParaRPr>
          </a:p>
          <a:p>
            <a:pPr algn="just" marL="12700">
              <a:lnSpc>
                <a:spcPts val="1290"/>
              </a:lnSpc>
            </a:pPr>
            <a:r>
              <a:rPr dirty="0" sz="1100" spc="-5">
                <a:latin typeface="Times New Roman"/>
                <a:cs typeface="Times New Roman"/>
              </a:rPr>
              <a:t>Composed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paragraph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295"/>
              </a:lnSpc>
            </a:pPr>
            <a:r>
              <a:rPr dirty="0" sz="1100" spc="-5">
                <a:latin typeface="Times New Roman"/>
                <a:cs typeface="Times New Roman"/>
              </a:rPr>
              <a:t>Example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65"/>
              </a:lnSpc>
            </a:pP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My Three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Closest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Friends</a:t>
            </a:r>
            <a:endParaRPr sz="1100">
              <a:latin typeface="Times New Roman"/>
              <a:cs typeface="Times New Roman"/>
            </a:endParaRPr>
          </a:p>
          <a:p>
            <a:pPr marL="12700" marR="27305">
              <a:lnSpc>
                <a:spcPts val="1270"/>
              </a:lnSpc>
              <a:spcBef>
                <a:spcPts val="55"/>
              </a:spcBef>
            </a:pPr>
            <a:r>
              <a:rPr dirty="0" sz="1100" spc="-5">
                <a:latin typeface="Times New Roman"/>
                <a:cs typeface="Times New Roman"/>
              </a:rPr>
              <a:t>Like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everyone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else,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know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kinds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people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I’m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friendly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most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them.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Among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people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I’ve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gotten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know,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 have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several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close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friends.</a:t>
            </a:r>
            <a:endParaRPr sz="1100">
              <a:latin typeface="Times New Roman"/>
              <a:cs typeface="Times New Roman"/>
            </a:endParaRPr>
          </a:p>
          <a:p>
            <a:pPr marL="12700" marR="26034">
              <a:lnSpc>
                <a:spcPts val="1260"/>
              </a:lnSpc>
            </a:pPr>
            <a:r>
              <a:rPr dirty="0" sz="1100" spc="-5" b="1">
                <a:latin typeface="Times New Roman"/>
                <a:cs typeface="Times New Roman"/>
              </a:rPr>
              <a:t>First</a:t>
            </a:r>
            <a:r>
              <a:rPr dirty="0" sz="1100" spc="14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I’ll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introduce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my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friend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William.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We’ve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known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another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since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first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grade,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when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moved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next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door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put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my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class.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We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share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secrets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many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activities,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like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playing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baseball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05"/>
              </a:lnSpc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same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team.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William,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friend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whom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relax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myself.</a:t>
            </a:r>
            <a:endParaRPr sz="1100">
              <a:latin typeface="Times New Roman"/>
              <a:cs typeface="Times New Roman"/>
            </a:endParaRPr>
          </a:p>
          <a:p>
            <a:pPr algn="just" marL="12700" marR="26034">
              <a:lnSpc>
                <a:spcPct val="95800"/>
              </a:lnSpc>
              <a:spcBef>
                <a:spcPts val="30"/>
              </a:spcBef>
            </a:pPr>
            <a:r>
              <a:rPr dirty="0" sz="1100" spc="-5" b="1">
                <a:latin typeface="Times New Roman"/>
                <a:cs typeface="Times New Roman"/>
              </a:rPr>
              <a:t>Another</a:t>
            </a:r>
            <a:r>
              <a:rPr dirty="0" sz="1100" spc="13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important</a:t>
            </a:r>
            <a:r>
              <a:rPr dirty="0" sz="1100" spc="14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person</a:t>
            </a:r>
            <a:r>
              <a:rPr dirty="0" sz="1100" spc="14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me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Janet.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Janet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three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years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older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I,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think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her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big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sister. Janet and I used to ride the same bus to school, and sometimes she and I would sit together. In all the </a:t>
            </a:r>
            <a:r>
              <a:rPr dirty="0" sz="1100">
                <a:latin typeface="Times New Roman"/>
                <a:cs typeface="Times New Roman"/>
              </a:rPr>
              <a:t> years </a:t>
            </a:r>
            <a:r>
              <a:rPr dirty="0" sz="1100" spc="-5">
                <a:latin typeface="Times New Roman"/>
                <a:cs typeface="Times New Roman"/>
              </a:rPr>
              <a:t>I’ve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known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her,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Janet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given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much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useful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advice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encouragement,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particularly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school.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Janet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friend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 know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always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depend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during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good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times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times.</a:t>
            </a:r>
            <a:endParaRPr sz="1100">
              <a:latin typeface="Times New Roman"/>
              <a:cs typeface="Times New Roman"/>
            </a:endParaRPr>
          </a:p>
          <a:p>
            <a:pPr algn="just" marL="12700" marR="27305">
              <a:lnSpc>
                <a:spcPts val="1270"/>
              </a:lnSpc>
              <a:spcBef>
                <a:spcPts val="30"/>
              </a:spcBef>
            </a:pPr>
            <a:r>
              <a:rPr dirty="0" sz="1100" spc="-5" b="1">
                <a:latin typeface="Times New Roman"/>
                <a:cs typeface="Times New Roman"/>
              </a:rPr>
              <a:t>The third person </a:t>
            </a:r>
            <a:r>
              <a:rPr dirty="0" sz="1100" spc="-5">
                <a:latin typeface="Times New Roman"/>
                <a:cs typeface="Times New Roman"/>
              </a:rPr>
              <a:t>I think is special is Tom. </a:t>
            </a:r>
            <a:r>
              <a:rPr dirty="0" sz="1100">
                <a:latin typeface="Times New Roman"/>
                <a:cs typeface="Times New Roman"/>
              </a:rPr>
              <a:t>Tom </a:t>
            </a:r>
            <a:r>
              <a:rPr dirty="0" sz="1100" spc="-5">
                <a:latin typeface="Times New Roman"/>
                <a:cs typeface="Times New Roman"/>
              </a:rPr>
              <a:t>and I are taking a photography class now,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we spend at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least two evenings a week together. </a:t>
            </a:r>
            <a:r>
              <a:rPr dirty="0" sz="1100">
                <a:latin typeface="Times New Roman"/>
                <a:cs typeface="Times New Roman"/>
              </a:rPr>
              <a:t>He’s </a:t>
            </a:r>
            <a:r>
              <a:rPr dirty="0" sz="1100" spc="-5">
                <a:latin typeface="Times New Roman"/>
                <a:cs typeface="Times New Roman"/>
              </a:rPr>
              <a:t>got a great </a:t>
            </a:r>
            <a:r>
              <a:rPr dirty="0" sz="1100">
                <a:latin typeface="Times New Roman"/>
                <a:cs typeface="Times New Roman"/>
              </a:rPr>
              <a:t>eye </a:t>
            </a:r>
            <a:r>
              <a:rPr dirty="0" sz="1100" spc="-5">
                <a:latin typeface="Times New Roman"/>
                <a:cs typeface="Times New Roman"/>
              </a:rPr>
              <a:t>for composition and a terrific sense of humor,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fun.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Tom’s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great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friend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around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I’m feeling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sad.</a:t>
            </a:r>
            <a:endParaRPr sz="1100">
              <a:latin typeface="Times New Roman"/>
              <a:cs typeface="Times New Roman"/>
            </a:endParaRPr>
          </a:p>
          <a:p>
            <a:pPr algn="just" marL="12700">
              <a:lnSpc>
                <a:spcPts val="1195"/>
              </a:lnSpc>
            </a:pPr>
            <a:r>
              <a:rPr dirty="0" sz="1100" spc="-5">
                <a:latin typeface="Times New Roman"/>
                <a:cs typeface="Times New Roman"/>
              </a:rPr>
              <a:t>William,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Janet,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Tom--each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them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important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me</a:t>
            </a:r>
            <a:r>
              <a:rPr dirty="0" sz="1100" spc="-5">
                <a:latin typeface="Times New Roman"/>
                <a:cs typeface="Times New Roman"/>
              </a:rPr>
              <a:t> 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way.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feel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lucky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such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good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95"/>
              </a:lnSpc>
            </a:pPr>
            <a:r>
              <a:rPr dirty="0" sz="1100" spc="-5">
                <a:latin typeface="Times New Roman"/>
                <a:cs typeface="Times New Roman"/>
              </a:rPr>
              <a:t>friends.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290"/>
              </a:lnSpc>
            </a:pPr>
            <a:r>
              <a:rPr dirty="0" sz="1100" spc="-5" b="1">
                <a:latin typeface="Times New Roman"/>
                <a:cs typeface="Times New Roman"/>
              </a:rPr>
              <a:t>Structure:</a:t>
            </a:r>
            <a:endParaRPr sz="1100">
              <a:latin typeface="Times New Roman"/>
              <a:cs typeface="Times New Roman"/>
            </a:endParaRPr>
          </a:p>
          <a:p>
            <a:pPr algn="just" marL="469900" marR="4914265">
              <a:lnSpc>
                <a:spcPts val="1270"/>
              </a:lnSpc>
              <a:spcBef>
                <a:spcPts val="55"/>
              </a:spcBef>
            </a:pPr>
            <a:r>
              <a:rPr dirty="0" sz="1100" spc="-5">
                <a:latin typeface="Times New Roman"/>
                <a:cs typeface="Times New Roman"/>
              </a:rPr>
              <a:t>Introducti</a:t>
            </a:r>
            <a:r>
              <a:rPr dirty="0" sz="1100" spc="-10">
                <a:latin typeface="Times New Roman"/>
                <a:cs typeface="Times New Roman"/>
              </a:rPr>
              <a:t>o</a:t>
            </a:r>
            <a:r>
              <a:rPr dirty="0" sz="1100" spc="-5">
                <a:latin typeface="Times New Roman"/>
                <a:cs typeface="Times New Roman"/>
              </a:rPr>
              <a:t>n  </a:t>
            </a:r>
            <a:r>
              <a:rPr dirty="0" sz="1100" spc="-5">
                <a:latin typeface="Times New Roman"/>
                <a:cs typeface="Times New Roman"/>
              </a:rPr>
              <a:t>Central Idea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Body</a:t>
            </a:r>
            <a:endParaRPr sz="1100">
              <a:latin typeface="Times New Roman"/>
              <a:cs typeface="Times New Roman"/>
            </a:endParaRPr>
          </a:p>
          <a:p>
            <a:pPr algn="just" marL="469900">
              <a:lnSpc>
                <a:spcPts val="1195"/>
              </a:lnSpc>
            </a:pPr>
            <a:r>
              <a:rPr dirty="0" sz="1100" spc="-5" i="1">
                <a:latin typeface="Times New Roman"/>
                <a:cs typeface="Times New Roman"/>
              </a:rPr>
              <a:t>First</a:t>
            </a:r>
            <a:r>
              <a:rPr dirty="0" sz="1100" spc="-2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Paragraph</a:t>
            </a:r>
            <a:endParaRPr sz="1100">
              <a:latin typeface="Times New Roman"/>
              <a:cs typeface="Times New Roman"/>
            </a:endParaRPr>
          </a:p>
          <a:p>
            <a:pPr marL="927100" marR="4469765">
              <a:lnSpc>
                <a:spcPts val="1270"/>
              </a:lnSpc>
              <a:spcBef>
                <a:spcPts val="55"/>
              </a:spcBef>
            </a:pPr>
            <a:r>
              <a:rPr dirty="0" sz="1100" spc="-5">
                <a:latin typeface="Times New Roman"/>
                <a:cs typeface="Times New Roman"/>
              </a:rPr>
              <a:t>Central</a:t>
            </a:r>
            <a:r>
              <a:rPr dirty="0" sz="1100" spc="-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idea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Body </a:t>
            </a:r>
            <a:r>
              <a:rPr dirty="0" sz="1100" spc="-5">
                <a:latin typeface="Times New Roman"/>
                <a:cs typeface="Times New Roman"/>
              </a:rPr>
              <a:t> Conclusion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200"/>
              </a:lnSpc>
            </a:pPr>
            <a:r>
              <a:rPr dirty="0" sz="1100" spc="-5" i="1">
                <a:latin typeface="Times New Roman"/>
                <a:cs typeface="Times New Roman"/>
              </a:rPr>
              <a:t>Second</a:t>
            </a:r>
            <a:r>
              <a:rPr dirty="0" sz="1100" spc="-2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Paragraph</a:t>
            </a:r>
            <a:endParaRPr sz="1100">
              <a:latin typeface="Times New Roman"/>
              <a:cs typeface="Times New Roman"/>
            </a:endParaRPr>
          </a:p>
          <a:p>
            <a:pPr marL="927100" marR="4469765">
              <a:lnSpc>
                <a:spcPct val="95700"/>
              </a:lnSpc>
              <a:spcBef>
                <a:spcPts val="25"/>
              </a:spcBef>
            </a:pPr>
            <a:r>
              <a:rPr dirty="0" sz="1100" spc="-5">
                <a:latin typeface="Times New Roman"/>
                <a:cs typeface="Times New Roman"/>
              </a:rPr>
              <a:t>Central</a:t>
            </a:r>
            <a:r>
              <a:rPr dirty="0" sz="1100" spc="-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idea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Body </a:t>
            </a:r>
            <a:r>
              <a:rPr dirty="0" sz="1100" spc="-5">
                <a:latin typeface="Times New Roman"/>
                <a:cs typeface="Times New Roman"/>
              </a:rPr>
              <a:t> Conclusion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240"/>
              </a:lnSpc>
            </a:pPr>
            <a:r>
              <a:rPr dirty="0" sz="1100" spc="-5" i="1">
                <a:latin typeface="Times New Roman"/>
                <a:cs typeface="Times New Roman"/>
              </a:rPr>
              <a:t>Third</a:t>
            </a:r>
            <a:r>
              <a:rPr dirty="0" sz="1100" spc="-25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Paragraph</a:t>
            </a:r>
            <a:endParaRPr sz="1100">
              <a:latin typeface="Times New Roman"/>
              <a:cs typeface="Times New Roman"/>
            </a:endParaRPr>
          </a:p>
          <a:p>
            <a:pPr marL="927100" marR="4469765">
              <a:lnSpc>
                <a:spcPct val="95700"/>
              </a:lnSpc>
              <a:spcBef>
                <a:spcPts val="30"/>
              </a:spcBef>
            </a:pPr>
            <a:r>
              <a:rPr dirty="0" sz="1100" spc="-5">
                <a:latin typeface="Times New Roman"/>
                <a:cs typeface="Times New Roman"/>
              </a:rPr>
              <a:t>Central</a:t>
            </a:r>
            <a:r>
              <a:rPr dirty="0" sz="1100" spc="-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idea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Body </a:t>
            </a:r>
            <a:r>
              <a:rPr dirty="0" sz="1100" spc="-5">
                <a:latin typeface="Times New Roman"/>
                <a:cs typeface="Times New Roman"/>
              </a:rPr>
              <a:t> Conclusion</a:t>
            </a:r>
            <a:endParaRPr sz="1100">
              <a:latin typeface="Times New Roman"/>
              <a:cs typeface="Times New Roman"/>
            </a:endParaRPr>
          </a:p>
          <a:p>
            <a:pPr marL="469900" marR="4926965">
              <a:lnSpc>
                <a:spcPts val="1270"/>
              </a:lnSpc>
              <a:spcBef>
                <a:spcPts val="30"/>
              </a:spcBef>
            </a:pPr>
            <a:r>
              <a:rPr dirty="0" sz="1100" spc="-5">
                <a:latin typeface="Times New Roman"/>
                <a:cs typeface="Times New Roman"/>
              </a:rPr>
              <a:t>Conclusion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Central</a:t>
            </a:r>
            <a:r>
              <a:rPr dirty="0" sz="1100" spc="-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idea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257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4580" y="342390"/>
            <a:ext cx="174498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 Elementary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41311" y="342390"/>
            <a:ext cx="22669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972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829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84552" y="5937715"/>
            <a:ext cx="6064250" cy="376427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>
              <a:lnSpc>
                <a:spcPts val="129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Contrastive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Compositions: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Practice</a:t>
            </a:r>
            <a:endParaRPr sz="1100">
              <a:latin typeface="Times New Roman"/>
              <a:cs typeface="Times New Roman"/>
            </a:endParaRPr>
          </a:p>
          <a:p>
            <a:pPr algn="just" marL="12700" marR="8255">
              <a:lnSpc>
                <a:spcPts val="1260"/>
              </a:lnSpc>
              <a:spcBef>
                <a:spcPts val="65"/>
              </a:spcBef>
            </a:pPr>
            <a:r>
              <a:rPr dirty="0" sz="1100" spc="-5">
                <a:latin typeface="Times New Roman"/>
                <a:cs typeface="Times New Roman"/>
              </a:rPr>
              <a:t>Now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contrastive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composition that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shows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difference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between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any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 people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things you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would like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compare.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1070"/>
              </a:spcBef>
            </a:pPr>
            <a:r>
              <a:rPr dirty="0" sz="1100" spc="-10" b="1">
                <a:latin typeface="Times New Roman"/>
                <a:cs typeface="Times New Roman"/>
              </a:rPr>
              <a:t>CAUSE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&amp; EFFECT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COMPOSITIONS: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</a:pP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Choosing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My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Career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00">
              <a:latin typeface="Times New Roman"/>
              <a:cs typeface="Times New Roman"/>
            </a:endParaRPr>
          </a:p>
          <a:p>
            <a:pPr algn="just" marL="12700" marR="8255">
              <a:lnSpc>
                <a:spcPts val="1270"/>
              </a:lnSpc>
            </a:pPr>
            <a:r>
              <a:rPr dirty="0" sz="1100" spc="-5" b="1">
                <a:latin typeface="Times New Roman"/>
                <a:cs typeface="Times New Roman"/>
              </a:rPr>
              <a:t>My</a:t>
            </a:r>
            <a:r>
              <a:rPr dirty="0" sz="1100" spc="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decision</a:t>
            </a:r>
            <a:r>
              <a:rPr dirty="0" sz="1100" spc="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to</a:t>
            </a:r>
            <a:r>
              <a:rPr dirty="0" sz="1100" spc="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become</a:t>
            </a:r>
            <a:r>
              <a:rPr dirty="0" sz="1100" spc="10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</a:t>
            </a:r>
            <a:r>
              <a:rPr dirty="0" sz="1100" spc="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nurse</a:t>
            </a:r>
            <a:r>
              <a:rPr dirty="0" sz="1100" spc="10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was</a:t>
            </a:r>
            <a:r>
              <a:rPr dirty="0" sz="1100" spc="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based</a:t>
            </a:r>
            <a:r>
              <a:rPr dirty="0" sz="1100" spc="10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on</a:t>
            </a:r>
            <a:r>
              <a:rPr dirty="0" sz="1100" spc="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several</a:t>
            </a:r>
            <a:r>
              <a:rPr dirty="0" sz="1100" spc="10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well-thought-</a:t>
            </a:r>
            <a:r>
              <a:rPr dirty="0" sz="1100" spc="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out</a:t>
            </a:r>
            <a:r>
              <a:rPr dirty="0" sz="1100" spc="10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reasons.</a:t>
            </a:r>
            <a:r>
              <a:rPr dirty="0" sz="1100" spc="10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my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reasons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had to do with personal goals. Other reasons had to do with </a:t>
            </a:r>
            <a:r>
              <a:rPr dirty="0" sz="1100" spc="-10">
                <a:latin typeface="Times New Roman"/>
                <a:cs typeface="Times New Roman"/>
              </a:rPr>
              <a:t>my </a:t>
            </a:r>
            <a:r>
              <a:rPr dirty="0" sz="1100" spc="-5">
                <a:latin typeface="Times New Roman"/>
                <a:cs typeface="Times New Roman"/>
              </a:rPr>
              <a:t>view of society and where I want to fit into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society.</a:t>
            </a:r>
            <a:endParaRPr sz="1100">
              <a:latin typeface="Times New Roman"/>
              <a:cs typeface="Times New Roman"/>
            </a:endParaRPr>
          </a:p>
          <a:p>
            <a:pPr algn="just" marL="12700" marR="8890">
              <a:lnSpc>
                <a:spcPts val="1250"/>
              </a:lnSpc>
              <a:spcBef>
                <a:spcPts val="10"/>
              </a:spcBef>
            </a:pPr>
            <a:r>
              <a:rPr dirty="0" sz="1100" spc="-5" b="1">
                <a:latin typeface="Times New Roman"/>
                <a:cs typeface="Times New Roman"/>
              </a:rPr>
              <a:t>During</a:t>
            </a:r>
            <a:r>
              <a:rPr dirty="0" sz="1100" spc="7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my</a:t>
            </a:r>
            <a:r>
              <a:rPr dirty="0" sz="1100" spc="8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last</a:t>
            </a:r>
            <a:r>
              <a:rPr dirty="0" sz="1100" spc="7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year</a:t>
            </a:r>
            <a:r>
              <a:rPr dirty="0" sz="1100" spc="8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in</a:t>
            </a:r>
            <a:r>
              <a:rPr dirty="0" sz="1100" spc="7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high</a:t>
            </a:r>
            <a:r>
              <a:rPr dirty="0" sz="1100" spc="8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school,</a:t>
            </a:r>
            <a:r>
              <a:rPr dirty="0" sz="1100" spc="8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</a:t>
            </a:r>
            <a:r>
              <a:rPr dirty="0" sz="1100" spc="7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had</a:t>
            </a:r>
            <a:r>
              <a:rPr dirty="0" sz="1100" spc="8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several</a:t>
            </a:r>
            <a:r>
              <a:rPr dirty="0" sz="1100" spc="8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long</a:t>
            </a:r>
            <a:r>
              <a:rPr dirty="0" sz="1100" spc="8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conversations</a:t>
            </a:r>
            <a:r>
              <a:rPr dirty="0" sz="1100" spc="8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with</a:t>
            </a:r>
            <a:r>
              <a:rPr dirty="0" sz="1100" spc="7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my</a:t>
            </a:r>
            <a:r>
              <a:rPr dirty="0" sz="1100" spc="8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parents</a:t>
            </a:r>
            <a:r>
              <a:rPr dirty="0" sz="1100" spc="8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about</a:t>
            </a:r>
            <a:r>
              <a:rPr dirty="0" sz="1100" spc="8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what</a:t>
            </a:r>
            <a:r>
              <a:rPr dirty="0" sz="1100" spc="8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to </a:t>
            </a:r>
            <a:r>
              <a:rPr dirty="0" sz="1100" spc="-26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do</a:t>
            </a:r>
            <a:r>
              <a:rPr dirty="0" sz="1100" spc="4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after</a:t>
            </a:r>
            <a:r>
              <a:rPr dirty="0" sz="1100" spc="4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</a:t>
            </a:r>
            <a:r>
              <a:rPr dirty="0" sz="1100" spc="4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graduated.</a:t>
            </a:r>
            <a:r>
              <a:rPr dirty="0" sz="1100" spc="5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Through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talks,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able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clarify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my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career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goals.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wanted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job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good</a:t>
            </a:r>
            <a:endParaRPr sz="1100">
              <a:latin typeface="Times New Roman"/>
              <a:cs typeface="Times New Roman"/>
            </a:endParaRPr>
          </a:p>
          <a:p>
            <a:pPr algn="just" marL="12700" marR="8255">
              <a:lnSpc>
                <a:spcPts val="127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pay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good status. These </a:t>
            </a:r>
            <a:r>
              <a:rPr dirty="0" sz="1100">
                <a:latin typeface="Times New Roman"/>
                <a:cs typeface="Times New Roman"/>
              </a:rPr>
              <a:t>were </a:t>
            </a:r>
            <a:r>
              <a:rPr dirty="0" sz="1100" spc="-5">
                <a:latin typeface="Times New Roman"/>
                <a:cs typeface="Times New Roman"/>
              </a:rPr>
              <a:t>not </a:t>
            </a:r>
            <a:r>
              <a:rPr dirty="0" sz="1100" spc="-10">
                <a:latin typeface="Times New Roman"/>
                <a:cs typeface="Times New Roman"/>
              </a:rPr>
              <a:t>my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only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goals. I also wanted a job that would help people in a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practical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way,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job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could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make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people’s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lives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better.</a:t>
            </a:r>
            <a:endParaRPr sz="1100">
              <a:latin typeface="Times New Roman"/>
              <a:cs typeface="Times New Roman"/>
            </a:endParaRPr>
          </a:p>
          <a:p>
            <a:pPr algn="just" marL="12700">
              <a:lnSpc>
                <a:spcPts val="1200"/>
              </a:lnSpc>
            </a:pPr>
            <a:r>
              <a:rPr dirty="0" sz="1100" spc="-5" b="1">
                <a:latin typeface="Times New Roman"/>
                <a:cs typeface="Times New Roman"/>
              </a:rPr>
              <a:t>Taking</a:t>
            </a:r>
            <a:r>
              <a:rPr dirty="0" sz="1100" spc="5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these</a:t>
            </a:r>
            <a:r>
              <a:rPr dirty="0" sz="1100" spc="6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reasons</a:t>
            </a:r>
            <a:r>
              <a:rPr dirty="0" sz="1100" spc="5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into</a:t>
            </a:r>
            <a:r>
              <a:rPr dirty="0" sz="1100" spc="6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consideration,</a:t>
            </a:r>
            <a:r>
              <a:rPr dirty="0" sz="1100" spc="5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</a:t>
            </a:r>
            <a:r>
              <a:rPr dirty="0" sz="1100" spc="6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was</a:t>
            </a:r>
            <a:r>
              <a:rPr dirty="0" sz="1100" spc="5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able</a:t>
            </a:r>
            <a:r>
              <a:rPr dirty="0" sz="1100" spc="6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to</a:t>
            </a:r>
            <a:r>
              <a:rPr dirty="0" sz="1100" spc="5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narrow</a:t>
            </a:r>
            <a:r>
              <a:rPr dirty="0" sz="1100" spc="6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down</a:t>
            </a:r>
            <a:r>
              <a:rPr dirty="0" sz="1100" spc="5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my</a:t>
            </a:r>
            <a:r>
              <a:rPr dirty="0" sz="1100" spc="6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choices</a:t>
            </a:r>
            <a:r>
              <a:rPr dirty="0" sz="1100" spc="5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to</a:t>
            </a:r>
            <a:r>
              <a:rPr dirty="0" sz="1100" spc="6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two</a:t>
            </a:r>
            <a:r>
              <a:rPr dirty="0" sz="1100" spc="5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jobs.</a:t>
            </a:r>
            <a:r>
              <a:rPr dirty="0" sz="1100" spc="6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first</a:t>
            </a:r>
            <a:endParaRPr sz="1100">
              <a:latin typeface="Times New Roman"/>
              <a:cs typeface="Times New Roman"/>
            </a:endParaRPr>
          </a:p>
          <a:p>
            <a:pPr algn="just" marL="12700" marR="5080">
              <a:lnSpc>
                <a:spcPct val="95900"/>
              </a:lnSpc>
              <a:spcBef>
                <a:spcPts val="25"/>
              </a:spcBef>
            </a:pPr>
            <a:r>
              <a:rPr dirty="0" sz="1100" spc="-5">
                <a:latin typeface="Times New Roman"/>
                <a:cs typeface="Times New Roman"/>
              </a:rPr>
              <a:t>was teaching. I have always liked children, and I like teaching people to do things. A teacher also makes a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decent living and gets a </a:t>
            </a:r>
            <a:r>
              <a:rPr dirty="0" sz="1100">
                <a:latin typeface="Times New Roman"/>
                <a:cs typeface="Times New Roman"/>
              </a:rPr>
              <a:t>fair </a:t>
            </a:r>
            <a:r>
              <a:rPr dirty="0" sz="1100" spc="-5">
                <a:latin typeface="Times New Roman"/>
                <a:cs typeface="Times New Roman"/>
              </a:rPr>
              <a:t>amount of respect if he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she does her job well. I would also be able to help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people as a teacher. The second choice was nursing. Nursing met all </a:t>
            </a:r>
            <a:r>
              <a:rPr dirty="0" sz="1100" spc="-10">
                <a:latin typeface="Times New Roman"/>
                <a:cs typeface="Times New Roman"/>
              </a:rPr>
              <a:t>my </a:t>
            </a:r>
            <a:r>
              <a:rPr dirty="0" sz="1100" spc="-5">
                <a:latin typeface="Times New Roman"/>
                <a:cs typeface="Times New Roman"/>
              </a:rPr>
              <a:t>criteria for a job. In addition, it is a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job I could continue to do periodically or part-time if I decided to have children. </a:t>
            </a:r>
            <a:r>
              <a:rPr dirty="0" sz="1100" spc="-5" b="1">
                <a:latin typeface="Times New Roman"/>
                <a:cs typeface="Times New Roman"/>
              </a:rPr>
              <a:t>Finally, I decided on 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nursing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as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career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since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it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offered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me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good-paying,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respected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position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with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lot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of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flexibility.</a:t>
            </a:r>
            <a:endParaRPr sz="1100">
              <a:latin typeface="Times New Roman"/>
              <a:cs typeface="Times New Roman"/>
            </a:endParaRPr>
          </a:p>
          <a:p>
            <a:pPr algn="just" marL="1564005">
              <a:lnSpc>
                <a:spcPct val="100000"/>
              </a:lnSpc>
              <a:spcBef>
                <a:spcPts val="114"/>
              </a:spcBef>
              <a:tabLst>
                <a:tab pos="5894705" algn="l"/>
              </a:tabLst>
            </a:pPr>
            <a:r>
              <a:rPr dirty="0" sz="1200">
                <a:latin typeface="Times New Roman"/>
                <a:cs typeface="Times New Roman"/>
              </a:rPr>
              <a:t>© Copyrights Virtual Uni</a:t>
            </a:r>
            <a:r>
              <a:rPr dirty="0" sz="1200" spc="-5">
                <a:latin typeface="Times New Roman"/>
                <a:cs typeface="Times New Roman"/>
              </a:rPr>
              <a:t>v</a:t>
            </a:r>
            <a:r>
              <a:rPr dirty="0" sz="1200">
                <a:latin typeface="Times New Roman"/>
                <a:cs typeface="Times New Roman"/>
              </a:rPr>
              <a:t>ersity of Pakistan	69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84579" y="686815"/>
            <a:ext cx="6061710" cy="40481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CONTRASTIVE</a:t>
            </a:r>
            <a:r>
              <a:rPr dirty="0" sz="1100" spc="-3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COMPOSITIONS: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</a:pP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Two</a:t>
            </a:r>
            <a:r>
              <a:rPr dirty="0" u="heavy" sz="1100" spc="-3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Cities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100">
              <a:latin typeface="Times New Roman"/>
              <a:cs typeface="Times New Roman"/>
            </a:endParaRPr>
          </a:p>
          <a:p>
            <a:pPr algn="just" marL="12700" marR="6350">
              <a:lnSpc>
                <a:spcPts val="1270"/>
              </a:lnSpc>
            </a:pPr>
            <a:r>
              <a:rPr dirty="0" sz="1100" spc="-5" b="1">
                <a:latin typeface="Times New Roman"/>
                <a:cs typeface="Times New Roman"/>
              </a:rPr>
              <a:t>Boston and San Francisco are two of the most visited American cities. Each has its own “personality” 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and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character,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which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are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often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appreciated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by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people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who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live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elsewhere.</a:t>
            </a:r>
            <a:endParaRPr sz="1100">
              <a:latin typeface="Times New Roman"/>
              <a:cs typeface="Times New Roman"/>
            </a:endParaRPr>
          </a:p>
          <a:p>
            <a:pPr algn="just" marL="12700">
              <a:lnSpc>
                <a:spcPts val="1195"/>
              </a:lnSpc>
            </a:pPr>
            <a:r>
              <a:rPr dirty="0" sz="1100" spc="-5" b="1">
                <a:latin typeface="Times New Roman"/>
                <a:cs typeface="Times New Roman"/>
              </a:rPr>
              <a:t>Boston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has</a:t>
            </a:r>
            <a:r>
              <a:rPr dirty="0" sz="1100" spc="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</a:t>
            </a:r>
            <a:r>
              <a:rPr dirty="0" sz="1100" spc="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ethnic</a:t>
            </a:r>
            <a:r>
              <a:rPr dirty="0" sz="1100" spc="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“flavor”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typical</a:t>
            </a:r>
            <a:r>
              <a:rPr dirty="0" sz="1100" spc="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of</a:t>
            </a:r>
            <a:r>
              <a:rPr dirty="0" sz="1100" spc="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many</a:t>
            </a:r>
            <a:r>
              <a:rPr dirty="0" sz="1100" spc="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cities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in</a:t>
            </a:r>
            <a:r>
              <a:rPr dirty="0" sz="1100" spc="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</a:t>
            </a:r>
            <a:r>
              <a:rPr dirty="0" sz="1100" spc="2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East.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gives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Boston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homey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character</a:t>
            </a:r>
            <a:endParaRPr sz="1100">
              <a:latin typeface="Times New Roman"/>
              <a:cs typeface="Times New Roman"/>
            </a:endParaRPr>
          </a:p>
          <a:p>
            <a:pPr algn="just" marL="12700" marR="5080">
              <a:lnSpc>
                <a:spcPct val="95900"/>
              </a:lnSpc>
              <a:spcBef>
                <a:spcPts val="30"/>
              </a:spcBef>
            </a:pP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city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neighborhoods.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ethnic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group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whose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presence</a:t>
            </a:r>
            <a:r>
              <a:rPr dirty="0" sz="1100">
                <a:latin typeface="Times New Roman"/>
                <a:cs typeface="Times New Roman"/>
              </a:rPr>
              <a:t> 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felt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Irish,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who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become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important in the politics of the city and state, of </a:t>
            </a:r>
            <a:r>
              <a:rPr dirty="0" sz="1100">
                <a:latin typeface="Times New Roman"/>
                <a:cs typeface="Times New Roman"/>
              </a:rPr>
              <a:t>whom </a:t>
            </a:r>
            <a:r>
              <a:rPr dirty="0" sz="1100" spc="-5">
                <a:latin typeface="Times New Roman"/>
                <a:cs typeface="Times New Roman"/>
              </a:rPr>
              <a:t>President </a:t>
            </a:r>
            <a:r>
              <a:rPr dirty="0" sz="1100">
                <a:latin typeface="Times New Roman"/>
                <a:cs typeface="Times New Roman"/>
              </a:rPr>
              <a:t>John </a:t>
            </a:r>
            <a:r>
              <a:rPr dirty="0" sz="1100" spc="-5">
                <a:latin typeface="Times New Roman"/>
                <a:cs typeface="Times New Roman"/>
              </a:rPr>
              <a:t>F. Kennedy is an example. The many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universities in and around the city make Boston a leading center for higher education. Boston is also a high-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tech center, with many white-collar workers in fields related to the computer industry. </a:t>
            </a:r>
            <a:r>
              <a:rPr dirty="0" sz="1100" spc="-5" b="1">
                <a:latin typeface="Times New Roman"/>
                <a:cs typeface="Times New Roman"/>
              </a:rPr>
              <a:t>Its homey and 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high-tech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sides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make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Boston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diverse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city.</a:t>
            </a:r>
            <a:endParaRPr sz="1100">
              <a:latin typeface="Times New Roman"/>
              <a:cs typeface="Times New Roman"/>
            </a:endParaRPr>
          </a:p>
          <a:p>
            <a:pPr algn="just" marL="12700" marR="6350">
              <a:lnSpc>
                <a:spcPts val="1260"/>
              </a:lnSpc>
              <a:spcBef>
                <a:spcPts val="30"/>
              </a:spcBef>
            </a:pPr>
            <a:r>
              <a:rPr dirty="0" sz="1100" spc="-5" b="1">
                <a:latin typeface="Times New Roman"/>
                <a:cs typeface="Times New Roman"/>
              </a:rPr>
              <a:t>San Francisco lies on </a:t>
            </a:r>
            <a:r>
              <a:rPr dirty="0" sz="1100" b="1">
                <a:latin typeface="Times New Roman"/>
                <a:cs typeface="Times New Roman"/>
              </a:rPr>
              <a:t>the </a:t>
            </a:r>
            <a:r>
              <a:rPr dirty="0" sz="1100" spc="-5" b="1">
                <a:latin typeface="Times New Roman"/>
                <a:cs typeface="Times New Roman"/>
              </a:rPr>
              <a:t>West Coast, a continent away from Boston. </a:t>
            </a:r>
            <a:r>
              <a:rPr dirty="0" sz="1100" spc="-5">
                <a:latin typeface="Times New Roman"/>
                <a:cs typeface="Times New Roman"/>
              </a:rPr>
              <a:t>Like Boston, it has ethnic </a:t>
            </a:r>
            <a:r>
              <a:rPr dirty="0" sz="1100">
                <a:latin typeface="Times New Roman"/>
                <a:cs typeface="Times New Roman"/>
              </a:rPr>
              <a:t>areas,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including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world-famous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Chinatown.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Unlike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Boston,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however,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city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did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typical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pattern</a:t>
            </a:r>
            <a:endParaRPr sz="1100">
              <a:latin typeface="Times New Roman"/>
              <a:cs typeface="Times New Roman"/>
            </a:endParaRPr>
          </a:p>
          <a:p>
            <a:pPr algn="just" marL="12700">
              <a:lnSpc>
                <a:spcPts val="1205"/>
              </a:lnSpc>
            </a:pP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growing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through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steady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influx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immigrants.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San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Francisco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grew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dramatically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result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being</a:t>
            </a:r>
            <a:endParaRPr sz="1100">
              <a:latin typeface="Times New Roman"/>
              <a:cs typeface="Times New Roman"/>
            </a:endParaRPr>
          </a:p>
          <a:p>
            <a:pPr algn="just" marL="12700" marR="5080">
              <a:lnSpc>
                <a:spcPct val="95900"/>
              </a:lnSpc>
              <a:spcBef>
                <a:spcPts val="25"/>
              </a:spcBef>
            </a:pPr>
            <a:r>
              <a:rPr dirty="0" sz="1100" spc="-5">
                <a:latin typeface="Times New Roman"/>
                <a:cs typeface="Times New Roman"/>
              </a:rPr>
              <a:t>near the gold fields, which were the goal of the famous gold rush of 1849. Yet many visitors feel San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Francisco is a big city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 has kept a small-city feel. Some physical features help make San Francisco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unique among American cities. It is built on steep hills, which give many dramatic views. Another famous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area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city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provides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lovely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panorama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wharf,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where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shop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dine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wide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variety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fish.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center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finance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western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United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States,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San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Francisco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also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boasts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rich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cultural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life.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birthplace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avant-garde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movements,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from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Beatniks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1950s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Flower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Children of the 1960s to the sexual liberation movements of the 1970s and 1980s. </a:t>
            </a:r>
            <a:r>
              <a:rPr dirty="0" sz="1100" spc="-5" b="1">
                <a:latin typeface="Times New Roman"/>
                <a:cs typeface="Times New Roman"/>
              </a:rPr>
              <a:t>San Francisco always 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seems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to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be ahead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of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its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time.</a:t>
            </a:r>
            <a:endParaRPr sz="1100">
              <a:latin typeface="Times New Roman"/>
              <a:cs typeface="Times New Roman"/>
            </a:endParaRPr>
          </a:p>
          <a:p>
            <a:pPr algn="just" marL="12700" marR="7620">
              <a:lnSpc>
                <a:spcPts val="1260"/>
              </a:lnSpc>
              <a:spcBef>
                <a:spcPts val="40"/>
              </a:spcBef>
            </a:pPr>
            <a:r>
              <a:rPr dirty="0" sz="1100" spc="-5" b="1">
                <a:latin typeface="Times New Roman"/>
                <a:cs typeface="Times New Roman"/>
              </a:rPr>
              <a:t>These cities show the diversity of American urban areas. </a:t>
            </a:r>
            <a:r>
              <a:rPr dirty="0" sz="1100" b="1">
                <a:latin typeface="Times New Roman"/>
                <a:cs typeface="Times New Roman"/>
              </a:rPr>
              <a:t>They </a:t>
            </a:r>
            <a:r>
              <a:rPr dirty="0" sz="1100" spc="-5" b="1">
                <a:latin typeface="Times New Roman"/>
                <a:cs typeface="Times New Roman"/>
              </a:rPr>
              <a:t>prove the variety possible within </a:t>
            </a:r>
            <a:r>
              <a:rPr dirty="0" sz="1100" b="1">
                <a:latin typeface="Times New Roman"/>
                <a:cs typeface="Times New Roman"/>
              </a:rPr>
              <a:t>and 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between cities.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84579" y="4863298"/>
            <a:ext cx="64516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Structure: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13173" y="4950619"/>
            <a:ext cx="3696335" cy="778510"/>
          </a:xfrm>
          <a:prstGeom prst="rect">
            <a:avLst/>
          </a:prstGeom>
        </p:spPr>
        <p:txBody>
          <a:bodyPr wrap="square" lIns="0" tIns="9588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5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Para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1: Topic sentence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5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Para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2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3: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Comparison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between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Boston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Francisco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Para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3: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Conclusion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788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10019" y="9493248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70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400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27352" y="342390"/>
            <a:ext cx="6083300" cy="47129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869305" algn="l"/>
              </a:tabLst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l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</a:t>
            </a:r>
            <a:r>
              <a:rPr dirty="0" sz="1100" spc="-15">
                <a:solidFill>
                  <a:srgbClr val="323232"/>
                </a:solidFill>
                <a:latin typeface="Times New Roman"/>
                <a:cs typeface="Times New Roman"/>
              </a:rPr>
              <a:t>m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entary</a:t>
            </a:r>
            <a:r>
              <a:rPr dirty="0" sz="1100" spc="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g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lish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 marR="27940">
              <a:lnSpc>
                <a:spcPts val="1270"/>
              </a:lnSpc>
            </a:pPr>
            <a:r>
              <a:rPr dirty="0" sz="1100" spc="-5" b="1">
                <a:latin typeface="Times New Roman"/>
                <a:cs typeface="Times New Roman"/>
              </a:rPr>
              <a:t>I’m</a:t>
            </a:r>
            <a:r>
              <a:rPr dirty="0" sz="1100" spc="2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now</a:t>
            </a:r>
            <a:r>
              <a:rPr dirty="0" sz="1100" spc="3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in</a:t>
            </a:r>
            <a:r>
              <a:rPr dirty="0" sz="1100" spc="3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my</a:t>
            </a:r>
            <a:r>
              <a:rPr dirty="0" sz="1100" spc="3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last</a:t>
            </a:r>
            <a:r>
              <a:rPr dirty="0" sz="1100" spc="2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year</a:t>
            </a:r>
            <a:r>
              <a:rPr dirty="0" sz="1100" spc="3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of</a:t>
            </a:r>
            <a:r>
              <a:rPr dirty="0" sz="1100" spc="3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nursing</a:t>
            </a:r>
            <a:r>
              <a:rPr dirty="0" sz="1100" spc="2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school,</a:t>
            </a:r>
            <a:r>
              <a:rPr dirty="0" sz="1100" spc="3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and</a:t>
            </a:r>
            <a:r>
              <a:rPr dirty="0" sz="1100" spc="2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I’m</a:t>
            </a:r>
            <a:r>
              <a:rPr dirty="0" sz="1100" spc="4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looking</a:t>
            </a:r>
            <a:r>
              <a:rPr dirty="0" sz="1100" spc="3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forward</a:t>
            </a:r>
            <a:r>
              <a:rPr dirty="0" sz="1100" spc="2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to</a:t>
            </a:r>
            <a:r>
              <a:rPr dirty="0" sz="1100" spc="3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starting</a:t>
            </a:r>
            <a:r>
              <a:rPr dirty="0" sz="1100" spc="2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my</a:t>
            </a:r>
            <a:r>
              <a:rPr dirty="0" sz="1100" spc="3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professional</a:t>
            </a:r>
            <a:r>
              <a:rPr dirty="0" sz="1100" spc="3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life.</a:t>
            </a:r>
            <a:r>
              <a:rPr dirty="0" sz="1100" spc="3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 </a:t>
            </a:r>
            <a:r>
              <a:rPr dirty="0" sz="1100" spc="-26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feel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certain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made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</a:t>
            </a:r>
            <a:r>
              <a:rPr dirty="0" sz="1100" b="1">
                <a:latin typeface="Times New Roman"/>
                <a:cs typeface="Times New Roman"/>
              </a:rPr>
              <a:t> right </a:t>
            </a:r>
            <a:r>
              <a:rPr dirty="0" sz="1100" spc="-5" b="1">
                <a:latin typeface="Times New Roman"/>
                <a:cs typeface="Times New Roman"/>
              </a:rPr>
              <a:t>choice.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spc="-5" b="1">
                <a:latin typeface="Times New Roman"/>
                <a:cs typeface="Times New Roman"/>
              </a:rPr>
              <a:t>Cause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&amp;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Effect </a:t>
            </a:r>
            <a:r>
              <a:rPr dirty="0" sz="1100" spc="-5" b="1">
                <a:latin typeface="Times New Roman"/>
                <a:cs typeface="Times New Roman"/>
              </a:rPr>
              <a:t>Compositions: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Structure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Times New Roman"/>
              <a:cs typeface="Times New Roman"/>
            </a:endParaRPr>
          </a:p>
          <a:p>
            <a:pPr marL="469900" indent="-229235">
              <a:lnSpc>
                <a:spcPct val="100000"/>
              </a:lnSpc>
              <a:buAutoNum type="arabicPeriod"/>
              <a:tabLst>
                <a:tab pos="470534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Introduction:</a:t>
            </a:r>
            <a:endParaRPr sz="1100">
              <a:latin typeface="Times New Roman"/>
              <a:cs typeface="Times New Roman"/>
            </a:endParaRPr>
          </a:p>
          <a:p>
            <a:pPr marL="469900" indent="-229235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470534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Body:</a:t>
            </a:r>
            <a:endParaRPr sz="1100">
              <a:latin typeface="Times New Roman"/>
              <a:cs typeface="Times New Roman"/>
            </a:endParaRPr>
          </a:p>
          <a:p>
            <a:pPr marL="955675">
              <a:lnSpc>
                <a:spcPct val="100000"/>
              </a:lnSpc>
              <a:spcBef>
                <a:spcPts val="575"/>
              </a:spcBef>
            </a:pPr>
            <a:r>
              <a:rPr dirty="0" sz="1100" spc="-5" b="1" i="1">
                <a:latin typeface="Times New Roman"/>
                <a:cs typeface="Times New Roman"/>
              </a:rPr>
              <a:t>Cause</a:t>
            </a:r>
            <a:endParaRPr sz="1100">
              <a:latin typeface="Times New Roman"/>
              <a:cs typeface="Times New Roman"/>
            </a:endParaRPr>
          </a:p>
          <a:p>
            <a:pPr marL="927100" marR="4457065">
              <a:lnSpc>
                <a:spcPct val="95700"/>
              </a:lnSpc>
              <a:spcBef>
                <a:spcPts val="630"/>
              </a:spcBef>
            </a:pPr>
            <a:r>
              <a:rPr dirty="0" sz="1100" spc="-5">
                <a:latin typeface="Times New Roman"/>
                <a:cs typeface="Times New Roman"/>
              </a:rPr>
              <a:t>Introducti</a:t>
            </a:r>
            <a:r>
              <a:rPr dirty="0" sz="1100" spc="-10">
                <a:latin typeface="Times New Roman"/>
                <a:cs typeface="Times New Roman"/>
              </a:rPr>
              <a:t>o</a:t>
            </a:r>
            <a:r>
              <a:rPr dirty="0" sz="1100" spc="-5">
                <a:latin typeface="Times New Roman"/>
                <a:cs typeface="Times New Roman"/>
              </a:rPr>
              <a:t>n  </a:t>
            </a:r>
            <a:r>
              <a:rPr dirty="0" sz="1100" spc="-5">
                <a:latin typeface="Times New Roman"/>
                <a:cs typeface="Times New Roman"/>
              </a:rPr>
              <a:t>Body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Conclusion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100">
              <a:latin typeface="Times New Roman"/>
              <a:cs typeface="Times New Roman"/>
            </a:endParaRPr>
          </a:p>
          <a:p>
            <a:pPr marL="927100" marR="4457065">
              <a:lnSpc>
                <a:spcPct val="95600"/>
              </a:lnSpc>
            </a:pPr>
            <a:r>
              <a:rPr dirty="0" sz="1100" spc="-10" b="1" i="1">
                <a:latin typeface="Times New Roman"/>
                <a:cs typeface="Times New Roman"/>
              </a:rPr>
              <a:t>Effect </a:t>
            </a:r>
            <a:r>
              <a:rPr dirty="0" sz="1100" spc="-5" b="1" i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Introducti</a:t>
            </a:r>
            <a:r>
              <a:rPr dirty="0" sz="1100" spc="-10">
                <a:latin typeface="Times New Roman"/>
                <a:cs typeface="Times New Roman"/>
              </a:rPr>
              <a:t>o</a:t>
            </a:r>
            <a:r>
              <a:rPr dirty="0" sz="1100" spc="-5">
                <a:latin typeface="Times New Roman"/>
                <a:cs typeface="Times New Roman"/>
              </a:rPr>
              <a:t>n  </a:t>
            </a:r>
            <a:r>
              <a:rPr dirty="0" sz="1100" spc="-5">
                <a:latin typeface="Times New Roman"/>
                <a:cs typeface="Times New Roman"/>
              </a:rPr>
              <a:t>Body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Conclusion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ts val="1280"/>
              </a:lnSpc>
              <a:buFont typeface="Times New Roman"/>
              <a:buAutoNum type="arabicPeriod" startAt="3"/>
              <a:tabLst>
                <a:tab pos="469900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Conclusion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ts val="1290"/>
              </a:lnSpc>
            </a:pPr>
            <a:r>
              <a:rPr dirty="0" sz="1100" spc="-5" b="1">
                <a:latin typeface="Times New Roman"/>
                <a:cs typeface="Times New Roman"/>
              </a:rPr>
              <a:t>Cause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&amp;</a:t>
            </a:r>
            <a:r>
              <a:rPr dirty="0" sz="1100" b="1">
                <a:latin typeface="Times New Roman"/>
                <a:cs typeface="Times New Roman"/>
              </a:rPr>
              <a:t> Effect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Compositions: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Practice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90"/>
              </a:lnSpc>
            </a:pPr>
            <a:r>
              <a:rPr dirty="0" sz="1100" spc="-5">
                <a:latin typeface="Times New Roman"/>
                <a:cs typeface="Times New Roman"/>
              </a:rPr>
              <a:t>Now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outline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cause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effect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composition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following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themes.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00">
              <a:latin typeface="Times New Roman"/>
              <a:cs typeface="Times New Roman"/>
            </a:endParaRPr>
          </a:p>
          <a:p>
            <a:pPr marL="240665" marR="2530475">
              <a:lnSpc>
                <a:spcPts val="1270"/>
              </a:lnSpc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steps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took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take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choosing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place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live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steps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took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take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choosing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place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work</a:t>
            </a:r>
            <a:endParaRPr sz="1100">
              <a:latin typeface="Times New Roman"/>
              <a:cs typeface="Times New Roman"/>
            </a:endParaRPr>
          </a:p>
          <a:p>
            <a:pPr marL="240665">
              <a:lnSpc>
                <a:spcPts val="1230"/>
              </a:lnSpc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steps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took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take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making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complicated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decision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257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627352" y="5539954"/>
            <a:ext cx="442023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Source: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Connor.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Express</a:t>
            </a:r>
            <a:r>
              <a:rPr dirty="0" sz="1100" spc="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Yourself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in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Written</a:t>
            </a:r>
            <a:r>
              <a:rPr dirty="0" sz="1100" spc="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English.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Illinois:</a:t>
            </a:r>
            <a:r>
              <a:rPr dirty="0" sz="1100" spc="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NTC.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1990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4580" y="342390"/>
            <a:ext cx="174498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 Elementary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41311" y="342390"/>
            <a:ext cx="22669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360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67219" y="9493248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71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972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829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269228" y="526034"/>
            <a:ext cx="87566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LECTURE</a:t>
            </a:r>
            <a:r>
              <a:rPr dirty="0" u="heavy" sz="1100" spc="-4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22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10032" y="847596"/>
            <a:ext cx="120840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ESSAY</a:t>
            </a:r>
            <a:r>
              <a:rPr dirty="0" u="heavy" sz="1100" spc="-4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WRITING: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84577" y="1007612"/>
            <a:ext cx="6061710" cy="82619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Anglicizing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essay topic: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50">
              <a:latin typeface="Times New Roman"/>
              <a:cs typeface="Times New Roman"/>
            </a:endParaRPr>
          </a:p>
          <a:p>
            <a:pPr marL="469265" indent="-229235">
              <a:lnSpc>
                <a:spcPts val="1295"/>
              </a:lnSpc>
              <a:buAutoNum type="arabicPeriod"/>
              <a:tabLst>
                <a:tab pos="469900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Analyze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Jesus‘Sermon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on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Mount.</a:t>
            </a:r>
            <a:endParaRPr sz="1100">
              <a:latin typeface="Times New Roman"/>
              <a:cs typeface="Times New Roman"/>
            </a:endParaRPr>
          </a:p>
          <a:p>
            <a:pPr lvl="1" marL="926465" indent="-229235">
              <a:lnSpc>
                <a:spcPts val="1295"/>
              </a:lnSpc>
              <a:buFont typeface="Courier New"/>
              <a:buChar char="o"/>
              <a:tabLst>
                <a:tab pos="926465" algn="l"/>
                <a:tab pos="927100" algn="l"/>
              </a:tabLst>
            </a:pPr>
            <a:r>
              <a:rPr dirty="0" sz="1100" spc="-5">
                <a:latin typeface="Times New Roman"/>
                <a:cs typeface="Times New Roman"/>
              </a:rPr>
              <a:t>Analyze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(strategy)</a:t>
            </a:r>
            <a:endParaRPr sz="1100">
              <a:latin typeface="Times New Roman"/>
              <a:cs typeface="Times New Roman"/>
            </a:endParaRPr>
          </a:p>
          <a:p>
            <a:pPr lvl="1" marL="927100" indent="-229235">
              <a:lnSpc>
                <a:spcPct val="100000"/>
              </a:lnSpc>
              <a:spcBef>
                <a:spcPts val="575"/>
              </a:spcBef>
              <a:buFont typeface="Courier New"/>
              <a:buChar char="o"/>
              <a:tabLst>
                <a:tab pos="926465" algn="l"/>
                <a:tab pos="927100" algn="l"/>
              </a:tabLst>
            </a:pPr>
            <a:r>
              <a:rPr dirty="0" sz="1100" spc="-5">
                <a:latin typeface="Times New Roman"/>
                <a:cs typeface="Times New Roman"/>
              </a:rPr>
              <a:t>Jesus‘Sermon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Mount.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(content)</a:t>
            </a:r>
            <a:endParaRPr sz="1100">
              <a:latin typeface="Times New Roman"/>
              <a:cs typeface="Times New Roman"/>
            </a:endParaRPr>
          </a:p>
          <a:p>
            <a:pPr lvl="1" marL="927100" indent="-229235">
              <a:lnSpc>
                <a:spcPct val="100000"/>
              </a:lnSpc>
              <a:spcBef>
                <a:spcPts val="580"/>
              </a:spcBef>
              <a:buFont typeface="Courier New"/>
              <a:buChar char="o"/>
              <a:tabLst>
                <a:tab pos="926465" algn="l"/>
                <a:tab pos="927735" algn="l"/>
              </a:tabLst>
            </a:pPr>
            <a:r>
              <a:rPr dirty="0" sz="1100" spc="-5">
                <a:latin typeface="Times New Roman"/>
                <a:cs typeface="Times New Roman"/>
              </a:rPr>
              <a:t>Jesus‘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Sermon;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Mount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(prompts)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650">
              <a:latin typeface="Times New Roman"/>
              <a:cs typeface="Times New Roman"/>
            </a:endParaRPr>
          </a:p>
          <a:p>
            <a:pPr marL="469900" indent="-229235">
              <a:lnSpc>
                <a:spcPts val="1295"/>
              </a:lnSpc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Describe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</a:t>
            </a:r>
            <a:r>
              <a:rPr dirty="0" sz="1100" spc="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major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effects</a:t>
            </a:r>
            <a:r>
              <a:rPr dirty="0" sz="1100" spc="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of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reconstruction.</a:t>
            </a:r>
            <a:endParaRPr sz="1100">
              <a:latin typeface="Times New Roman"/>
              <a:cs typeface="Times New Roman"/>
            </a:endParaRPr>
          </a:p>
          <a:p>
            <a:pPr lvl="1" marL="927100" indent="-229235">
              <a:lnSpc>
                <a:spcPts val="1295"/>
              </a:lnSpc>
              <a:buFont typeface="Courier New"/>
              <a:buChar char="o"/>
              <a:tabLst>
                <a:tab pos="926465" algn="l"/>
                <a:tab pos="927735" algn="l"/>
              </a:tabLst>
            </a:pPr>
            <a:r>
              <a:rPr dirty="0" sz="1100" spc="-5">
                <a:latin typeface="Times New Roman"/>
                <a:cs typeface="Times New Roman"/>
              </a:rPr>
              <a:t>Describe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(strategy)</a:t>
            </a:r>
            <a:endParaRPr sz="1100">
              <a:latin typeface="Times New Roman"/>
              <a:cs typeface="Times New Roman"/>
            </a:endParaRPr>
          </a:p>
          <a:p>
            <a:pPr lvl="1" marL="927100" indent="-229235">
              <a:lnSpc>
                <a:spcPct val="100000"/>
              </a:lnSpc>
              <a:spcBef>
                <a:spcPts val="585"/>
              </a:spcBef>
              <a:buFont typeface="Courier New"/>
              <a:buChar char="o"/>
              <a:tabLst>
                <a:tab pos="926465" algn="l"/>
                <a:tab pos="927735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major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effects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reconstruction.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(content)</a:t>
            </a:r>
            <a:endParaRPr sz="1100">
              <a:latin typeface="Times New Roman"/>
              <a:cs typeface="Times New Roman"/>
            </a:endParaRPr>
          </a:p>
          <a:p>
            <a:pPr lvl="1" marL="927100" indent="-229235">
              <a:lnSpc>
                <a:spcPct val="100000"/>
              </a:lnSpc>
              <a:spcBef>
                <a:spcPts val="575"/>
              </a:spcBef>
              <a:buFont typeface="Courier New"/>
              <a:buChar char="o"/>
              <a:tabLst>
                <a:tab pos="926465" algn="l"/>
                <a:tab pos="927735" algn="l"/>
              </a:tabLst>
            </a:pPr>
            <a:r>
              <a:rPr dirty="0" sz="1100" spc="-5">
                <a:latin typeface="Times New Roman"/>
                <a:cs typeface="Times New Roman"/>
              </a:rPr>
              <a:t>Major;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effects;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reconstruction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(prompts)</a:t>
            </a:r>
            <a:endParaRPr sz="11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20"/>
              </a:spcBef>
              <a:buFont typeface="Courier New"/>
              <a:buChar char="o"/>
            </a:pPr>
            <a:endParaRPr sz="1650">
              <a:latin typeface="Times New Roman"/>
              <a:cs typeface="Times New Roman"/>
            </a:endParaRPr>
          </a:p>
          <a:p>
            <a:pPr marL="469900" indent="-229235">
              <a:lnSpc>
                <a:spcPts val="1295"/>
              </a:lnSpc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Compare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‘The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End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of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History’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with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‘Clash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of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Civilization’.</a:t>
            </a:r>
            <a:endParaRPr sz="1100">
              <a:latin typeface="Times New Roman"/>
              <a:cs typeface="Times New Roman"/>
            </a:endParaRPr>
          </a:p>
          <a:p>
            <a:pPr lvl="1" marL="927100" indent="-229235">
              <a:lnSpc>
                <a:spcPts val="1295"/>
              </a:lnSpc>
              <a:buFont typeface="Courier New"/>
              <a:buChar char="o"/>
              <a:tabLst>
                <a:tab pos="926465" algn="l"/>
                <a:tab pos="927735" algn="l"/>
              </a:tabLst>
            </a:pPr>
            <a:r>
              <a:rPr dirty="0" sz="1100" spc="-5">
                <a:latin typeface="Times New Roman"/>
                <a:cs typeface="Times New Roman"/>
              </a:rPr>
              <a:t>Compare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(strategy)</a:t>
            </a:r>
            <a:endParaRPr sz="1100">
              <a:latin typeface="Times New Roman"/>
              <a:cs typeface="Times New Roman"/>
            </a:endParaRPr>
          </a:p>
          <a:p>
            <a:pPr lvl="1" marL="927100" indent="-229235">
              <a:lnSpc>
                <a:spcPct val="100000"/>
              </a:lnSpc>
              <a:spcBef>
                <a:spcPts val="575"/>
              </a:spcBef>
              <a:buFont typeface="Courier New"/>
              <a:buChar char="o"/>
              <a:tabLst>
                <a:tab pos="927100" algn="l"/>
                <a:tab pos="927735" algn="l"/>
              </a:tabLst>
            </a:pPr>
            <a:r>
              <a:rPr dirty="0" sz="1100" spc="-5">
                <a:latin typeface="Times New Roman"/>
                <a:cs typeface="Times New Roman"/>
              </a:rPr>
              <a:t>‘End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History’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‘Clash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Civilization’.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(content)</a:t>
            </a:r>
            <a:endParaRPr sz="1100">
              <a:latin typeface="Times New Roman"/>
              <a:cs typeface="Times New Roman"/>
            </a:endParaRPr>
          </a:p>
          <a:p>
            <a:pPr lvl="1" marL="927100" indent="-229235">
              <a:lnSpc>
                <a:spcPct val="100000"/>
              </a:lnSpc>
              <a:spcBef>
                <a:spcPts val="580"/>
              </a:spcBef>
              <a:buFont typeface="Courier New"/>
              <a:buChar char="o"/>
              <a:tabLst>
                <a:tab pos="927100" algn="l"/>
                <a:tab pos="927735" algn="l"/>
              </a:tabLst>
            </a:pPr>
            <a:r>
              <a:rPr dirty="0" sz="1100" spc="-5">
                <a:latin typeface="Times New Roman"/>
                <a:cs typeface="Times New Roman"/>
              </a:rPr>
              <a:t>Compare;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History;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Clash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Civilization’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(prompts)</a:t>
            </a:r>
            <a:endParaRPr sz="1100">
              <a:latin typeface="Times New Roman"/>
              <a:cs typeface="Times New Roman"/>
            </a:endParaRPr>
          </a:p>
          <a:p>
            <a:pPr marL="12700" marR="2978150">
              <a:lnSpc>
                <a:spcPct val="191800"/>
              </a:lnSpc>
              <a:spcBef>
                <a:spcPts val="630"/>
              </a:spcBef>
            </a:pPr>
            <a:r>
              <a:rPr dirty="0" sz="1100" spc="-5" b="1">
                <a:latin typeface="Times New Roman"/>
                <a:cs typeface="Times New Roman"/>
              </a:rPr>
              <a:t>What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is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well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written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answer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to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an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essay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question? </a:t>
            </a:r>
            <a:r>
              <a:rPr dirty="0" sz="1100" spc="-26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It is...</a:t>
            </a:r>
            <a:endParaRPr sz="1100">
              <a:latin typeface="Times New Roman"/>
              <a:cs typeface="Times New Roman"/>
            </a:endParaRPr>
          </a:p>
          <a:p>
            <a:pPr algn="just" marL="469900">
              <a:lnSpc>
                <a:spcPts val="1290"/>
              </a:lnSpc>
              <a:spcBef>
                <a:spcPts val="635"/>
              </a:spcBef>
            </a:pPr>
            <a:r>
              <a:rPr dirty="0" sz="1100" spc="-5" b="1">
                <a:latin typeface="Times New Roman"/>
                <a:cs typeface="Times New Roman"/>
              </a:rPr>
              <a:t>Well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Focused</a:t>
            </a:r>
            <a:endParaRPr sz="1100">
              <a:latin typeface="Times New Roman"/>
              <a:cs typeface="Times New Roman"/>
            </a:endParaRPr>
          </a:p>
          <a:p>
            <a:pPr algn="just" marL="469900" marR="5715">
              <a:lnSpc>
                <a:spcPct val="95800"/>
              </a:lnSpc>
              <a:spcBef>
                <a:spcPts val="25"/>
              </a:spcBef>
            </a:pP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answer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question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completely,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answer</a:t>
            </a:r>
            <a:r>
              <a:rPr dirty="0" sz="1100">
                <a:latin typeface="Times New Roman"/>
                <a:cs typeface="Times New Roman"/>
              </a:rPr>
              <a:t> all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parts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question.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Avoid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"padding." A lot of rambling and ranting is a sure sign that the </a:t>
            </a:r>
            <a:r>
              <a:rPr dirty="0" sz="1100">
                <a:latin typeface="Times New Roman"/>
                <a:cs typeface="Times New Roman"/>
              </a:rPr>
              <a:t>writer </a:t>
            </a:r>
            <a:r>
              <a:rPr dirty="0" sz="1100" spc="-5">
                <a:latin typeface="Times New Roman"/>
                <a:cs typeface="Times New Roman"/>
              </a:rPr>
              <a:t>doesn't really know what 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right answer is and hopes that somehow, something in that overgrown jungle of words was 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correct answer.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469900">
              <a:lnSpc>
                <a:spcPts val="1285"/>
              </a:lnSpc>
            </a:pPr>
            <a:r>
              <a:rPr dirty="0" sz="1100" spc="-5" b="1">
                <a:latin typeface="Times New Roman"/>
                <a:cs typeface="Times New Roman"/>
              </a:rPr>
              <a:t>Well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Organized</a:t>
            </a:r>
            <a:endParaRPr sz="1100">
              <a:latin typeface="Times New Roman"/>
              <a:cs typeface="Times New Roman"/>
            </a:endParaRPr>
          </a:p>
          <a:p>
            <a:pPr algn="just" marL="469900" marR="5080">
              <a:lnSpc>
                <a:spcPts val="1270"/>
              </a:lnSpc>
              <a:spcBef>
                <a:spcPts val="50"/>
              </a:spcBef>
            </a:pPr>
            <a:r>
              <a:rPr dirty="0" sz="1100" spc="-5">
                <a:latin typeface="Times New Roman"/>
                <a:cs typeface="Times New Roman"/>
              </a:rPr>
              <a:t>Don't write in a haphazard "think-as-you-go" manner. Do some planning and be sure that what </a:t>
            </a:r>
            <a:r>
              <a:rPr dirty="0" sz="1100">
                <a:latin typeface="Times New Roman"/>
                <a:cs typeface="Times New Roman"/>
              </a:rPr>
              <a:t>you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write has a clearly marked introduction which both states the point(s) you are going to make and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also,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possible,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how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proceed.</a:t>
            </a:r>
            <a:r>
              <a:rPr dirty="0" sz="1100">
                <a:latin typeface="Times New Roman"/>
                <a:cs typeface="Times New Roman"/>
              </a:rPr>
              <a:t> In </a:t>
            </a:r>
            <a:r>
              <a:rPr dirty="0" sz="1100" spc="-5">
                <a:latin typeface="Times New Roman"/>
                <a:cs typeface="Times New Roman"/>
              </a:rPr>
              <a:t>addition,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essay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should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clearly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indicated conclusion which summarizes the material covered and emphasizes your thesis or main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point.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00">
              <a:latin typeface="Times New Roman"/>
              <a:cs typeface="Times New Roman"/>
            </a:endParaRPr>
          </a:p>
          <a:p>
            <a:pPr algn="just" marL="469900">
              <a:lnSpc>
                <a:spcPts val="1290"/>
              </a:lnSpc>
            </a:pPr>
            <a:r>
              <a:rPr dirty="0" sz="1100" spc="-5" b="1">
                <a:latin typeface="Times New Roman"/>
                <a:cs typeface="Times New Roman"/>
              </a:rPr>
              <a:t>Well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Supported</a:t>
            </a:r>
            <a:endParaRPr sz="1100">
              <a:latin typeface="Times New Roman"/>
              <a:cs typeface="Times New Roman"/>
            </a:endParaRPr>
          </a:p>
          <a:p>
            <a:pPr algn="just" marL="469900" marR="5080">
              <a:lnSpc>
                <a:spcPts val="1270"/>
              </a:lnSpc>
              <a:spcBef>
                <a:spcPts val="55"/>
              </a:spcBef>
            </a:pPr>
            <a:r>
              <a:rPr dirty="0" sz="1100" spc="-5">
                <a:latin typeface="Times New Roman"/>
                <a:cs typeface="Times New Roman"/>
              </a:rPr>
              <a:t>Do not just assert something is true, prove it. What facts, figures, examples, </a:t>
            </a:r>
            <a:r>
              <a:rPr dirty="0" sz="1100">
                <a:latin typeface="Times New Roman"/>
                <a:cs typeface="Times New Roman"/>
              </a:rPr>
              <a:t>tests, </a:t>
            </a:r>
            <a:r>
              <a:rPr dirty="0" sz="1100" spc="-5">
                <a:latin typeface="Times New Roman"/>
                <a:cs typeface="Times New Roman"/>
              </a:rPr>
              <a:t>etc. prove </a:t>
            </a:r>
            <a:r>
              <a:rPr dirty="0" sz="1100">
                <a:latin typeface="Times New Roman"/>
                <a:cs typeface="Times New Roman"/>
              </a:rPr>
              <a:t>your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point? In many cases, the </a:t>
            </a:r>
            <a:r>
              <a:rPr dirty="0" sz="1100" spc="-10">
                <a:latin typeface="Times New Roman"/>
                <a:cs typeface="Times New Roman"/>
              </a:rPr>
              <a:t>difference between </a:t>
            </a:r>
            <a:r>
              <a:rPr dirty="0" sz="1100" spc="-5">
                <a:latin typeface="Times New Roman"/>
                <a:cs typeface="Times New Roman"/>
              </a:rPr>
              <a:t>an A and a B as a grade is due to the effective use of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supporting evidence.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00">
              <a:latin typeface="Times New Roman"/>
              <a:cs typeface="Times New Roman"/>
            </a:endParaRPr>
          </a:p>
          <a:p>
            <a:pPr algn="just" marL="469900">
              <a:lnSpc>
                <a:spcPts val="1290"/>
              </a:lnSpc>
              <a:spcBef>
                <a:spcPts val="5"/>
              </a:spcBef>
            </a:pPr>
            <a:r>
              <a:rPr dirty="0" sz="1100" spc="-5" b="1">
                <a:latin typeface="Times New Roman"/>
                <a:cs typeface="Times New Roman"/>
              </a:rPr>
              <a:t>Well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Packaged</a:t>
            </a:r>
            <a:endParaRPr sz="1100">
              <a:latin typeface="Times New Roman"/>
              <a:cs typeface="Times New Roman"/>
            </a:endParaRPr>
          </a:p>
          <a:p>
            <a:pPr algn="just" marL="469900" marR="5080">
              <a:lnSpc>
                <a:spcPts val="1270"/>
              </a:lnSpc>
              <a:spcBef>
                <a:spcPts val="50"/>
              </a:spcBef>
            </a:pPr>
            <a:r>
              <a:rPr dirty="0" sz="1100" spc="-5">
                <a:latin typeface="Times New Roman"/>
                <a:cs typeface="Times New Roman"/>
              </a:rPr>
              <a:t>People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who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conventions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thought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by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readers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less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competent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less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educated.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help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skills,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Lab!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VARIOUS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STRATEGIES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FOR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ESSAYS: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0">
              <a:latin typeface="Times New Roman"/>
              <a:cs typeface="Times New Roman"/>
            </a:endParaRPr>
          </a:p>
          <a:p>
            <a:pPr marL="240665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ANALYZE:</a:t>
            </a:r>
            <a:endParaRPr sz="1100">
              <a:latin typeface="Times New Roman"/>
              <a:cs typeface="Times New Roman"/>
            </a:endParaRPr>
          </a:p>
          <a:p>
            <a:pPr marL="469265" indent="-229235">
              <a:lnSpc>
                <a:spcPct val="100000"/>
              </a:lnSpc>
              <a:spcBef>
                <a:spcPts val="2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Break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subject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(an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object,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event,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concept)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down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into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part,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explain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various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parts.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7380" y="342390"/>
            <a:ext cx="174498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 Elementary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84111" y="342390"/>
            <a:ext cx="22669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788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10019" y="9493248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72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400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257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855980" y="525272"/>
            <a:ext cx="5832475" cy="8716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latin typeface="Times New Roman"/>
                <a:cs typeface="Times New Roman"/>
              </a:rPr>
              <a:t>COMPARE: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2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Show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how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things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similar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well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different;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include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details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Symbol"/>
              <a:buChar char=""/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CONTRAST: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2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Show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how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things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different;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include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details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Symbol"/>
              <a:buChar char=""/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CRITIQUE: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2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Point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both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good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points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something.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Symbol"/>
              <a:buChar char=""/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DEFINE: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2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Give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accurate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term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with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enough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detail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show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really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understand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Symbol"/>
              <a:buChar char=""/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DESCRIBE:</a:t>
            </a:r>
            <a:endParaRPr sz="1100">
              <a:latin typeface="Times New Roman"/>
              <a:cs typeface="Times New Roman"/>
            </a:endParaRPr>
          </a:p>
          <a:p>
            <a:pPr marL="240665" marR="5715" indent="-228600">
              <a:lnSpc>
                <a:spcPts val="1270"/>
              </a:lnSpc>
              <a:spcBef>
                <a:spcPts val="10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Write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subject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reader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easily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visualize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it;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tell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how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looks</a:t>
            </a:r>
            <a:r>
              <a:rPr dirty="0" sz="1100" spc="2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2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happened,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including how,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who,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where,</a:t>
            </a:r>
            <a:r>
              <a:rPr dirty="0" sz="1100">
                <a:latin typeface="Times New Roman"/>
                <a:cs typeface="Times New Roman"/>
              </a:rPr>
              <a:t> why.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Symbol"/>
              <a:buChar char=""/>
            </a:pP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10">
                <a:latin typeface="Times New Roman"/>
                <a:cs typeface="Times New Roman"/>
              </a:rPr>
              <a:t>DIAGRAM: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2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Make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drawing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something,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label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parts.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Symbol"/>
              <a:buChar char=""/>
            </a:pP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DISCUSS: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2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Give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complete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detailed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answer,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including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important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characteristics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main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points.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Symbol"/>
              <a:buChar char=""/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ENUMERATE: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2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Write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list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outline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giving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points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by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Symbol"/>
              <a:buChar char=""/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EVALUATE:</a:t>
            </a:r>
            <a:endParaRPr sz="1100">
              <a:latin typeface="Times New Roman"/>
              <a:cs typeface="Times New Roman"/>
            </a:endParaRPr>
          </a:p>
          <a:p>
            <a:pPr marL="240665" marR="5715" indent="-228600">
              <a:lnSpc>
                <a:spcPts val="1270"/>
              </a:lnSpc>
              <a:spcBef>
                <a:spcPts val="10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Give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opinion</a:t>
            </a:r>
            <a:r>
              <a:rPr dirty="0" sz="1100" spc="2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value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2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subject;</a:t>
            </a:r>
            <a:r>
              <a:rPr dirty="0" sz="1100" spc="2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discuss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its</a:t>
            </a:r>
            <a:r>
              <a:rPr dirty="0" sz="1100" spc="2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good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2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bad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points,</a:t>
            </a:r>
            <a:r>
              <a:rPr dirty="0" sz="1100" spc="2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strengths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weaknesses.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Symbol"/>
              <a:buChar char=""/>
            </a:pP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EXPLAIN: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2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Give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something;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give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facts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details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make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easy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understand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Symbol"/>
              <a:buChar char=""/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ILLUSTRATE: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2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Make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point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idea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clear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giving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Symbol"/>
              <a:buChar char=""/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INTERPRET: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2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Tell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importance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subject.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Explain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results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effects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something.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Symbol"/>
              <a:buChar char=""/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JUSTIFY: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2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Give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good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reasons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support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decision,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action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event.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Symbol"/>
              <a:buChar char=""/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OUTLINE: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2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Make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organized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listing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important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points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subject.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Symbol"/>
              <a:buChar char=""/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PRETEND</a:t>
            </a:r>
            <a:endParaRPr sz="1100">
              <a:latin typeface="Times New Roman"/>
              <a:cs typeface="Times New Roman"/>
            </a:endParaRPr>
          </a:p>
          <a:p>
            <a:pPr marL="240665" marR="5080" indent="-228600">
              <a:lnSpc>
                <a:spcPts val="1270"/>
              </a:lnSpc>
              <a:spcBef>
                <a:spcPts val="11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Make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believe/Imagine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particular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situation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particular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person,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etc.,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describe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like.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Symbol"/>
              <a:buChar char=""/>
            </a:pP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PROVE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2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Show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something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true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giving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facts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logical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reasons.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Symbol"/>
              <a:buChar char=""/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RELATE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2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Show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how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things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alike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connected.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4580" y="342390"/>
            <a:ext cx="174498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 Elementary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41311" y="342390"/>
            <a:ext cx="22669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360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67219" y="9493248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73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972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829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084572" y="686053"/>
            <a:ext cx="6061075" cy="41694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latin typeface="Times New Roman"/>
                <a:cs typeface="Times New Roman"/>
              </a:rPr>
              <a:t>STATE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2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Give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points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brief,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clear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Symbol"/>
              <a:buChar char=""/>
            </a:pPr>
            <a:endParaRPr sz="105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SUMMARIZE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2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Briefly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cover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points;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paragraph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Symbol"/>
              <a:buChar char=""/>
            </a:pPr>
            <a:endParaRPr sz="105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TRACE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2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Tell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event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process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chronological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order.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285"/>
              </a:lnSpc>
            </a:pPr>
            <a:r>
              <a:rPr dirty="0" sz="1100" spc="-5" b="1">
                <a:latin typeface="Times New Roman"/>
                <a:cs typeface="Times New Roman"/>
              </a:rPr>
              <a:t>PROMPTS:</a:t>
            </a:r>
            <a:endParaRPr sz="1100">
              <a:latin typeface="Times New Roman"/>
              <a:cs typeface="Times New Roman"/>
            </a:endParaRPr>
          </a:p>
          <a:p>
            <a:pPr algn="just" marL="12700" marR="5080" indent="457200">
              <a:lnSpc>
                <a:spcPts val="1270"/>
              </a:lnSpc>
              <a:spcBef>
                <a:spcPts val="55"/>
              </a:spcBef>
            </a:pPr>
            <a:r>
              <a:rPr dirty="0" sz="1100" spc="-5">
                <a:latin typeface="Times New Roman"/>
                <a:cs typeface="Times New Roman"/>
              </a:rPr>
              <a:t>Prompts are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key words of the essay statement or call them terms of a question. The body of 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whole essay revolves around these </a:t>
            </a:r>
            <a:r>
              <a:rPr dirty="0" sz="1100">
                <a:latin typeface="Times New Roman"/>
                <a:cs typeface="Times New Roman"/>
              </a:rPr>
              <a:t>terms. </a:t>
            </a:r>
            <a:r>
              <a:rPr dirty="0" sz="1100" spc="-5">
                <a:latin typeface="Times New Roman"/>
                <a:cs typeface="Times New Roman"/>
              </a:rPr>
              <a:t>They are the points you are to cover while writing any </a:t>
            </a:r>
            <a:r>
              <a:rPr dirty="0" sz="1100">
                <a:latin typeface="Times New Roman"/>
                <a:cs typeface="Times New Roman"/>
              </a:rPr>
              <a:t>essay. </a:t>
            </a:r>
            <a:r>
              <a:rPr dirty="0" sz="1100" spc="-5">
                <a:latin typeface="Times New Roman"/>
                <a:cs typeface="Times New Roman"/>
              </a:rPr>
              <a:t>An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essay with any of the prompts missed </a:t>
            </a:r>
            <a:r>
              <a:rPr dirty="0" sz="1100">
                <a:latin typeface="Times New Roman"/>
                <a:cs typeface="Times New Roman"/>
              </a:rPr>
              <a:t>will </a:t>
            </a:r>
            <a:r>
              <a:rPr dirty="0" sz="1100" spc="-5">
                <a:latin typeface="Times New Roman"/>
                <a:cs typeface="Times New Roman"/>
              </a:rPr>
              <a:t>be considered an incomplete one. Therefore make sure that you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analyzed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statement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before </a:t>
            </a:r>
            <a:r>
              <a:rPr dirty="0" sz="1100">
                <a:latin typeface="Times New Roman"/>
                <a:cs typeface="Times New Roman"/>
              </a:rPr>
              <a:t>you </a:t>
            </a:r>
            <a:r>
              <a:rPr dirty="0" sz="1100" spc="-5">
                <a:latin typeface="Times New Roman"/>
                <a:cs typeface="Times New Roman"/>
              </a:rPr>
              <a:t>start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writing.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HIGH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IMPACT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LANGUAGE: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 marL="469265" indent="-229235">
              <a:lnSpc>
                <a:spcPct val="100000"/>
              </a:lnSpc>
              <a:buAutoNum type="arabicPeriod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High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Impact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endParaRPr sz="1100">
              <a:latin typeface="Times New Roman"/>
              <a:cs typeface="Times New Roman"/>
            </a:endParaRPr>
          </a:p>
          <a:p>
            <a:pPr marL="469265" indent="-229235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High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Impact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</a:t>
            </a:r>
            <a:endParaRPr sz="1100">
              <a:latin typeface="Times New Roman"/>
              <a:cs typeface="Times New Roman"/>
            </a:endParaRPr>
          </a:p>
          <a:p>
            <a:pPr marL="469265" indent="-229235">
              <a:lnSpc>
                <a:spcPct val="100000"/>
              </a:lnSpc>
              <a:spcBef>
                <a:spcPts val="580"/>
              </a:spcBef>
              <a:buAutoNum type="arabicPeriod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High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Impact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Appearance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HIGH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IMPACT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LANGUAGE: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WORDS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Use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Anglo-Saxon</a:t>
            </a:r>
            <a:endParaRPr sz="1100">
              <a:latin typeface="Times New Roman"/>
              <a:cs typeface="Times New Roman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1025652" y="5006340"/>
          <a:ext cx="4078604" cy="9829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4539"/>
                <a:gridCol w="2034539"/>
              </a:tblGrid>
              <a:tr h="166877">
                <a:tc>
                  <a:txBody>
                    <a:bodyPr/>
                    <a:lstStyle/>
                    <a:p>
                      <a:pPr marL="68580">
                        <a:lnSpc>
                          <a:spcPts val="1215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Latinate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15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Anglo-Saxon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5160">
                <a:tc>
                  <a:txBody>
                    <a:bodyPr/>
                    <a:lstStyle/>
                    <a:p>
                      <a:pPr marL="68580">
                        <a:lnSpc>
                          <a:spcPts val="120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pursuant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0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after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60781">
                <a:tc>
                  <a:txBody>
                    <a:bodyPr/>
                    <a:lstStyle/>
                    <a:p>
                      <a:pPr marL="6858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ascertain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find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out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60781">
                <a:tc>
                  <a:txBody>
                    <a:bodyPr/>
                    <a:lstStyle/>
                    <a:p>
                      <a:pPr marL="6858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cognizant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know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60397">
                <a:tc>
                  <a:txBody>
                    <a:bodyPr/>
                    <a:lstStyle/>
                    <a:p>
                      <a:pPr marL="6858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objective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goal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62885">
                <a:tc>
                  <a:txBody>
                    <a:bodyPr/>
                    <a:lstStyle/>
                    <a:p>
                      <a:pPr marL="68580">
                        <a:lnSpc>
                          <a:spcPts val="118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advise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8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tell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1084572" y="6297424"/>
            <a:ext cx="5975985" cy="29241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69900" indent="-228600">
              <a:lnSpc>
                <a:spcPct val="100000"/>
              </a:lnSpc>
              <a:spcBef>
                <a:spcPts val="9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Avoid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Wordiness: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Seven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Ways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Avoiding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Wordiness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290"/>
              </a:lnSpc>
            </a:pPr>
            <a:r>
              <a:rPr dirty="0" sz="1100" spc="-5" b="1">
                <a:latin typeface="Times New Roman"/>
                <a:cs typeface="Times New Roman"/>
              </a:rPr>
              <a:t>Rule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1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 i="1">
                <a:latin typeface="Times New Roman"/>
                <a:cs typeface="Times New Roman"/>
              </a:rPr>
              <a:t>Avoid</a:t>
            </a:r>
            <a:r>
              <a:rPr dirty="0" sz="1100" b="1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ready-made</a:t>
            </a:r>
            <a:r>
              <a:rPr dirty="0" sz="1100" spc="5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phrases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90"/>
              </a:lnSpc>
            </a:pPr>
            <a:r>
              <a:rPr dirty="0" sz="1100" spc="-5">
                <a:latin typeface="Times New Roman"/>
                <a:cs typeface="Times New Roman"/>
              </a:rPr>
              <a:t>Like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Frankenstein's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monster,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"ready-made"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stitched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together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out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cadaver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parts.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290"/>
              </a:lnSpc>
            </a:pPr>
            <a:r>
              <a:rPr dirty="0" sz="1100" spc="-5" b="1">
                <a:latin typeface="Times New Roman"/>
                <a:cs typeface="Times New Roman"/>
              </a:rPr>
              <a:t>Rule 2 </a:t>
            </a:r>
            <a:r>
              <a:rPr dirty="0" sz="1100" spc="-5" b="1" i="1">
                <a:latin typeface="Times New Roman"/>
                <a:cs typeface="Times New Roman"/>
              </a:rPr>
              <a:t>Avoid </a:t>
            </a:r>
            <a:r>
              <a:rPr dirty="0" sz="1100" spc="-5" i="1">
                <a:latin typeface="Times New Roman"/>
                <a:cs typeface="Times New Roman"/>
              </a:rPr>
              <a:t>repetition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ts val="1260"/>
              </a:lnSpc>
              <a:spcBef>
                <a:spcPts val="65"/>
              </a:spcBef>
            </a:pPr>
            <a:r>
              <a:rPr dirty="0" sz="1100" spc="-5">
                <a:latin typeface="Times New Roman"/>
                <a:cs typeface="Times New Roman"/>
              </a:rPr>
              <a:t>Many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combinations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verbs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prepositions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adverbs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emphatic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redundant;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many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adjectives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prepositional phrases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equally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unnecessary.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ts val="1290"/>
              </a:lnSpc>
            </a:pPr>
            <a:r>
              <a:rPr dirty="0" sz="1100" spc="-5" b="1">
                <a:latin typeface="Times New Roman"/>
                <a:cs typeface="Times New Roman"/>
              </a:rPr>
              <a:t>Rule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3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 i="1">
                <a:latin typeface="Times New Roman"/>
                <a:cs typeface="Times New Roman"/>
              </a:rPr>
              <a:t>Avoid</a:t>
            </a:r>
            <a:r>
              <a:rPr dirty="0" sz="1100" spc="10" b="1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passive</a:t>
            </a:r>
            <a:r>
              <a:rPr dirty="0" sz="1100" spc="1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and</a:t>
            </a:r>
            <a:r>
              <a:rPr dirty="0" sz="1100" spc="5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expletive</a:t>
            </a:r>
            <a:r>
              <a:rPr dirty="0" sz="1100" spc="1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structures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90"/>
              </a:lnSpc>
            </a:pPr>
            <a:r>
              <a:rPr dirty="0" sz="1100" spc="-5">
                <a:latin typeface="Times New Roman"/>
                <a:cs typeface="Times New Roman"/>
              </a:rPr>
              <a:t>Passive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expletive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structures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soften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action,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hide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actors,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add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colourless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bulk.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285"/>
              </a:lnSpc>
            </a:pPr>
            <a:r>
              <a:rPr dirty="0" sz="1100" spc="-5" b="1">
                <a:latin typeface="Times New Roman"/>
                <a:cs typeface="Times New Roman"/>
              </a:rPr>
              <a:t>Rule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4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 i="1">
                <a:latin typeface="Times New Roman"/>
                <a:cs typeface="Times New Roman"/>
              </a:rPr>
              <a:t>Avoid</a:t>
            </a:r>
            <a:r>
              <a:rPr dirty="0" sz="1100" spc="5" b="1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circumlocution</a:t>
            </a:r>
            <a:r>
              <a:rPr dirty="0" sz="1100" spc="5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and</a:t>
            </a:r>
            <a:r>
              <a:rPr dirty="0" sz="1100" spc="5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pomposity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85"/>
              </a:lnSpc>
            </a:pPr>
            <a:r>
              <a:rPr dirty="0" sz="1100" spc="-5">
                <a:latin typeface="Times New Roman"/>
                <a:cs typeface="Times New Roman"/>
              </a:rPr>
              <a:t>There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atmosphere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well-sounding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oratory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likes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attach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itself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dress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clothes.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Away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290"/>
              </a:lnSpc>
            </a:pPr>
            <a:r>
              <a:rPr dirty="0" sz="1100" spc="-5" b="1">
                <a:latin typeface="Times New Roman"/>
                <a:cs typeface="Times New Roman"/>
              </a:rPr>
              <a:t>Rule 5 </a:t>
            </a:r>
            <a:r>
              <a:rPr dirty="0" sz="1100" spc="-5" b="1" i="1">
                <a:latin typeface="Times New Roman"/>
                <a:cs typeface="Times New Roman"/>
              </a:rPr>
              <a:t>Avoid </a:t>
            </a:r>
            <a:r>
              <a:rPr dirty="0" sz="1100" spc="-5" i="1">
                <a:latin typeface="Times New Roman"/>
                <a:cs typeface="Times New Roman"/>
              </a:rPr>
              <a:t>euphemisms</a:t>
            </a:r>
            <a:endParaRPr sz="1100">
              <a:latin typeface="Times New Roman"/>
              <a:cs typeface="Times New Roman"/>
            </a:endParaRPr>
          </a:p>
          <a:p>
            <a:pPr marL="12700" marR="179070">
              <a:lnSpc>
                <a:spcPts val="1270"/>
              </a:lnSpc>
              <a:spcBef>
                <a:spcPts val="55"/>
              </a:spcBef>
            </a:pPr>
            <a:r>
              <a:rPr dirty="0" sz="1100" spc="-5">
                <a:latin typeface="Times New Roman"/>
                <a:cs typeface="Times New Roman"/>
              </a:rPr>
              <a:t>Euphemisms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often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protect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items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unfair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associations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unpleasant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name;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however,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also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hide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nature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unpleasant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things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under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fair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name.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788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10019" y="9493248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74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400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27333" y="342390"/>
            <a:ext cx="6083300" cy="84880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869305" algn="l"/>
              </a:tabLst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l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</a:t>
            </a:r>
            <a:r>
              <a:rPr dirty="0" sz="1100" spc="-15">
                <a:solidFill>
                  <a:srgbClr val="323232"/>
                </a:solidFill>
                <a:latin typeface="Times New Roman"/>
                <a:cs typeface="Times New Roman"/>
              </a:rPr>
              <a:t>m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entary</a:t>
            </a:r>
            <a:r>
              <a:rPr dirty="0" sz="1100" spc="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g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lish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290"/>
              </a:lnSpc>
            </a:pPr>
            <a:r>
              <a:rPr dirty="0" sz="1100" spc="-5" b="1">
                <a:latin typeface="Times New Roman"/>
                <a:cs typeface="Times New Roman"/>
              </a:rPr>
              <a:t>Rule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6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 i="1">
                <a:latin typeface="Times New Roman"/>
                <a:cs typeface="Times New Roman"/>
              </a:rPr>
              <a:t>Use</a:t>
            </a:r>
            <a:r>
              <a:rPr dirty="0" sz="1100" spc="5" b="1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verbs</a:t>
            </a:r>
            <a:r>
              <a:rPr dirty="0" sz="1100" spc="5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rather</a:t>
            </a:r>
            <a:r>
              <a:rPr dirty="0" sz="1100" spc="1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than</a:t>
            </a:r>
            <a:r>
              <a:rPr dirty="0" sz="1100" spc="5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nouns</a:t>
            </a:r>
            <a:r>
              <a:rPr dirty="0" sz="1100" spc="5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(avoid</a:t>
            </a:r>
            <a:r>
              <a:rPr dirty="0" sz="1100" spc="5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the</a:t>
            </a:r>
            <a:r>
              <a:rPr dirty="0" sz="1100" spc="5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Noun</a:t>
            </a:r>
            <a:r>
              <a:rPr dirty="0" sz="1100" spc="5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Disease)</a:t>
            </a:r>
            <a:endParaRPr sz="1100">
              <a:latin typeface="Times New Roman"/>
              <a:cs typeface="Times New Roman"/>
            </a:endParaRPr>
          </a:p>
          <a:p>
            <a:pPr marL="12700" marR="133985">
              <a:lnSpc>
                <a:spcPts val="1260"/>
              </a:lnSpc>
              <a:spcBef>
                <a:spcPts val="60"/>
              </a:spcBef>
            </a:pPr>
            <a:r>
              <a:rPr dirty="0" sz="1100" spc="-5">
                <a:latin typeface="Times New Roman"/>
                <a:cs typeface="Times New Roman"/>
              </a:rPr>
              <a:t>Writers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often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avoid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strong,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simple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verbs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by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joining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weak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verbs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nominalizations</a:t>
            </a:r>
            <a:r>
              <a:rPr dirty="0" sz="1100" spc="-5">
                <a:latin typeface="Times New Roman"/>
                <a:cs typeface="Times New Roman"/>
              </a:rPr>
              <a:t>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verbs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transformed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into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nouns.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ts val="1290"/>
              </a:lnSpc>
            </a:pPr>
            <a:r>
              <a:rPr dirty="0" sz="1100" spc="-5" b="1">
                <a:latin typeface="Times New Roman"/>
                <a:cs typeface="Times New Roman"/>
              </a:rPr>
              <a:t>Rule 7 </a:t>
            </a:r>
            <a:r>
              <a:rPr dirty="0" sz="1100" spc="-5" b="1" i="1">
                <a:latin typeface="Times New Roman"/>
                <a:cs typeface="Times New Roman"/>
              </a:rPr>
              <a:t>Shorten </a:t>
            </a:r>
            <a:r>
              <a:rPr dirty="0" sz="1100" spc="-5" i="1">
                <a:latin typeface="Times New Roman"/>
                <a:cs typeface="Times New Roman"/>
              </a:rPr>
              <a:t>modifiers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90"/>
              </a:lnSpc>
            </a:pPr>
            <a:r>
              <a:rPr dirty="0" sz="1100" spc="-5">
                <a:latin typeface="Times New Roman"/>
                <a:cs typeface="Times New Roman"/>
              </a:rPr>
              <a:t>Simple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modifiers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usually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replace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relative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clauses.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HIGH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IMPACT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LANGUAGE: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STRUCTURE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 marL="469900" indent="-229235">
              <a:lnSpc>
                <a:spcPct val="100000"/>
              </a:lnSpc>
              <a:buAutoNum type="arabicPeriod"/>
              <a:tabLst>
                <a:tab pos="470534" algn="l"/>
              </a:tabLst>
            </a:pPr>
            <a:r>
              <a:rPr dirty="0" sz="1100" spc="-5">
                <a:latin typeface="Times New Roman"/>
                <a:cs typeface="Times New Roman"/>
              </a:rPr>
              <a:t>Simple,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Compound 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Complex</a:t>
            </a:r>
            <a:endParaRPr sz="1100">
              <a:latin typeface="Times New Roman"/>
              <a:cs typeface="Times New Roman"/>
            </a:endParaRPr>
          </a:p>
          <a:p>
            <a:pPr marL="469900" indent="-229235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470534" algn="l"/>
              </a:tabLst>
            </a:pPr>
            <a:r>
              <a:rPr dirty="0" sz="1100" spc="-5">
                <a:latin typeface="Times New Roman"/>
                <a:cs typeface="Times New Roman"/>
              </a:rPr>
              <a:t>Put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subject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first</a:t>
            </a:r>
            <a:endParaRPr sz="1100">
              <a:latin typeface="Times New Roman"/>
              <a:cs typeface="Times New Roman"/>
            </a:endParaRPr>
          </a:p>
          <a:p>
            <a:pPr marL="469900" indent="-229235">
              <a:lnSpc>
                <a:spcPct val="100000"/>
              </a:lnSpc>
              <a:spcBef>
                <a:spcPts val="585"/>
              </a:spcBef>
              <a:buAutoNum type="arabicPeriod"/>
              <a:tabLst>
                <a:tab pos="470534" algn="l"/>
              </a:tabLst>
            </a:pP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active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voice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SIMPLE,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COMPOUND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AND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COMPLEX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STRUCTURES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I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ran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meeting.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(Simple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maximum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impact)</a:t>
            </a:r>
            <a:endParaRPr sz="1100">
              <a:latin typeface="Times New Roman"/>
              <a:cs typeface="Times New Roman"/>
            </a:endParaRPr>
          </a:p>
          <a:p>
            <a:pPr marL="12700" marR="807085">
              <a:lnSpc>
                <a:spcPct val="191800"/>
              </a:lnSpc>
            </a:pPr>
            <a:r>
              <a:rPr dirty="0" sz="1100" spc="-5">
                <a:latin typeface="Times New Roman"/>
                <a:cs typeface="Times New Roman"/>
              </a:rPr>
              <a:t>I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ran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meeting,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wrote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minutes.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(Compound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lower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message’s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impact)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After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read</a:t>
            </a:r>
            <a:r>
              <a:rPr dirty="0" sz="1100">
                <a:latin typeface="Times New Roman"/>
                <a:cs typeface="Times New Roman"/>
              </a:rPr>
              <a:t> the </a:t>
            </a:r>
            <a:r>
              <a:rPr dirty="0" sz="1100" spc="-5">
                <a:latin typeface="Times New Roman"/>
                <a:cs typeface="Times New Roman"/>
              </a:rPr>
              <a:t>contract,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headquarters</a:t>
            </a:r>
            <a:r>
              <a:rPr dirty="0" sz="1100" spc="-5" b="1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60"/>
              </a:lnSpc>
            </a:pPr>
            <a:r>
              <a:rPr dirty="0" sz="1100" spc="-5">
                <a:latin typeface="Times New Roman"/>
                <a:cs typeface="Times New Roman"/>
              </a:rPr>
              <a:t>(Use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combination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complex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simple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sentences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variety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high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impact.)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PUT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SUBJECT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FIRST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290"/>
              </a:lnSpc>
            </a:pPr>
            <a:r>
              <a:rPr dirty="0" sz="1100" spc="-5">
                <a:latin typeface="Times New Roman"/>
                <a:cs typeface="Times New Roman"/>
              </a:rPr>
              <a:t>Assistance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designing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system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tailored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customer’s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needs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provides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…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90"/>
              </a:lnSpc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attached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checklist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provides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assistance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designing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system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tailored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customer’s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needs.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 marR="27940">
              <a:lnSpc>
                <a:spcPts val="1270"/>
              </a:lnSpc>
            </a:pP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consider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discussion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topics,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subject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matter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address,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divergent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interests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group …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00"/>
              </a:lnSpc>
            </a:pPr>
            <a:r>
              <a:rPr dirty="0" sz="1100" spc="-5">
                <a:latin typeface="Times New Roman"/>
                <a:cs typeface="Times New Roman"/>
              </a:rPr>
              <a:t>I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concerned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my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remarks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may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target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consider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discussion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topics,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subject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matter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95"/>
              </a:lnSpc>
            </a:pPr>
            <a:r>
              <a:rPr dirty="0" sz="1100" spc="-5">
                <a:latin typeface="Times New Roman"/>
                <a:cs typeface="Times New Roman"/>
              </a:rPr>
              <a:t>I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address,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divergent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interests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group.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USE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ACTIVE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VOICE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295"/>
              </a:lnSpc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secretary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cancel</a:t>
            </a:r>
            <a:r>
              <a:rPr dirty="0" sz="1100">
                <a:latin typeface="Times New Roman"/>
                <a:cs typeface="Times New Roman"/>
              </a:rPr>
              <a:t> 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meeting.</a:t>
            </a:r>
            <a:endParaRPr sz="1100">
              <a:latin typeface="Times New Roman"/>
              <a:cs typeface="Times New Roman"/>
            </a:endParaRPr>
          </a:p>
          <a:p>
            <a:pPr marL="12700" marR="3591560">
              <a:lnSpc>
                <a:spcPts val="1260"/>
              </a:lnSpc>
              <a:spcBef>
                <a:spcPts val="65"/>
              </a:spcBef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meeting was cancelled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secretary.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meeting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cancelled.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35"/>
              </a:lnSpc>
            </a:pPr>
            <a:r>
              <a:rPr dirty="0" sz="1100" spc="-5">
                <a:latin typeface="Times New Roman"/>
                <a:cs typeface="Times New Roman"/>
              </a:rPr>
              <a:t>(Note: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PASSIVES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HIDE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TRUE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SUBJECT)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HIGH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IMPACT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LANGUAGE: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APPEARANCE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 marL="469900" indent="-229235">
              <a:lnSpc>
                <a:spcPct val="100000"/>
              </a:lnSpc>
              <a:buAutoNum type="arabicPeriod"/>
              <a:tabLst>
                <a:tab pos="470534" algn="l"/>
              </a:tabLst>
            </a:pPr>
            <a:r>
              <a:rPr dirty="0" sz="1100" spc="-5">
                <a:latin typeface="Times New Roman"/>
                <a:cs typeface="Times New Roman"/>
              </a:rPr>
              <a:t>PARAGRAPH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SIZE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(3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4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sentence)</a:t>
            </a:r>
            <a:endParaRPr sz="1100">
              <a:latin typeface="Times New Roman"/>
              <a:cs typeface="Times New Roman"/>
            </a:endParaRPr>
          </a:p>
          <a:p>
            <a:pPr marL="469900" indent="-229235">
              <a:lnSpc>
                <a:spcPct val="100000"/>
              </a:lnSpc>
              <a:spcBef>
                <a:spcPts val="580"/>
              </a:spcBef>
              <a:buAutoNum type="arabicPeriod"/>
              <a:tabLst>
                <a:tab pos="470534" algn="l"/>
              </a:tabLst>
            </a:pPr>
            <a:r>
              <a:rPr dirty="0" sz="1100" spc="-5">
                <a:latin typeface="Times New Roman"/>
                <a:cs typeface="Times New Roman"/>
              </a:rPr>
              <a:t>MULTIPLE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(indent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itemize)</a:t>
            </a:r>
            <a:endParaRPr sz="1100">
              <a:latin typeface="Times New Roman"/>
              <a:cs typeface="Times New Roman"/>
            </a:endParaRPr>
          </a:p>
          <a:p>
            <a:pPr marL="469900" indent="-229235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470534" algn="l"/>
              </a:tabLst>
            </a:pPr>
            <a:r>
              <a:rPr dirty="0" sz="1100" spc="-5">
                <a:latin typeface="Times New Roman"/>
                <a:cs typeface="Times New Roman"/>
              </a:rPr>
              <a:t>WHITE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SPACES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paper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white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spaces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makes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better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impression.)</a:t>
            </a:r>
            <a:endParaRPr sz="1100">
              <a:latin typeface="Times New Roman"/>
              <a:cs typeface="Times New Roman"/>
            </a:endParaRPr>
          </a:p>
          <a:p>
            <a:pPr marL="469900" indent="-229235">
              <a:lnSpc>
                <a:spcPct val="100000"/>
              </a:lnSpc>
              <a:spcBef>
                <a:spcPts val="580"/>
              </a:spcBef>
              <a:buAutoNum type="arabicPeriod"/>
              <a:tabLst>
                <a:tab pos="470534" algn="l"/>
              </a:tabLst>
            </a:pPr>
            <a:r>
              <a:rPr dirty="0" sz="1100" spc="-5">
                <a:latin typeface="Times New Roman"/>
                <a:cs typeface="Times New Roman"/>
              </a:rPr>
              <a:t>HEADINGS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(headings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create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pictures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mind.)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Example: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Compare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versions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above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principles.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257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360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67219" y="9493248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75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972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84524" y="342390"/>
            <a:ext cx="6083300" cy="8839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869305" algn="l"/>
              </a:tabLst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l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</a:t>
            </a:r>
            <a:r>
              <a:rPr dirty="0" sz="1100" spc="-15">
                <a:solidFill>
                  <a:srgbClr val="323232"/>
                </a:solidFill>
                <a:latin typeface="Times New Roman"/>
                <a:cs typeface="Times New Roman"/>
              </a:rPr>
              <a:t>m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entary</a:t>
            </a:r>
            <a:r>
              <a:rPr dirty="0" sz="1100" spc="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g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lish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290"/>
              </a:lnSpc>
            </a:pPr>
            <a:r>
              <a:rPr dirty="0" sz="1100" spc="-5" b="1">
                <a:latin typeface="Times New Roman"/>
                <a:cs typeface="Times New Roman"/>
              </a:rPr>
              <a:t>Version</a:t>
            </a:r>
            <a:r>
              <a:rPr dirty="0" sz="1100" spc="-3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1:</a:t>
            </a:r>
            <a:endParaRPr sz="1100">
              <a:latin typeface="Times New Roman"/>
              <a:cs typeface="Times New Roman"/>
            </a:endParaRPr>
          </a:p>
          <a:p>
            <a:pPr marL="12700" marR="27940" indent="457200">
              <a:lnSpc>
                <a:spcPct val="95800"/>
              </a:lnSpc>
              <a:spcBef>
                <a:spcPts val="25"/>
              </a:spcBef>
            </a:pPr>
            <a:r>
              <a:rPr dirty="0" sz="1100" spc="-5">
                <a:latin typeface="Times New Roman"/>
                <a:cs typeface="Times New Roman"/>
              </a:rPr>
              <a:t>During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changeovers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from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contract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guards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security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officers,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quality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existing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contract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security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service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must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upgraded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through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careful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selecting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vendors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implementation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acceptable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contractual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performance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requirements.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those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instances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where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guard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services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provided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by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landlord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part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lease,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appropriate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negotiations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must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conducted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by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Purchase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terminate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this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service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specified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changeover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time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period.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285"/>
              </a:lnSpc>
            </a:pPr>
            <a:r>
              <a:rPr dirty="0" sz="1100" spc="-5" b="1">
                <a:latin typeface="Times New Roman"/>
                <a:cs typeface="Times New Roman"/>
              </a:rPr>
              <a:t>Version</a:t>
            </a:r>
            <a:r>
              <a:rPr dirty="0" sz="1100" spc="-3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2:</a:t>
            </a:r>
            <a:endParaRPr sz="1100">
              <a:latin typeface="Times New Roman"/>
              <a:cs typeface="Times New Roman"/>
            </a:endParaRPr>
          </a:p>
          <a:p>
            <a:pPr algn="just" marL="12700" marR="27940" indent="457200">
              <a:lnSpc>
                <a:spcPts val="1270"/>
              </a:lnSpc>
              <a:spcBef>
                <a:spcPts val="50"/>
              </a:spcBef>
            </a:pPr>
            <a:r>
              <a:rPr dirty="0" sz="1100" spc="-5">
                <a:latin typeface="Times New Roman"/>
                <a:cs typeface="Times New Roman"/>
              </a:rPr>
              <a:t>During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changeovers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from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contract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guards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security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officers,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quality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existing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contract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security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service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must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upgraded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through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00">
              <a:latin typeface="Times New Roman"/>
              <a:cs typeface="Times New Roman"/>
            </a:endParaRPr>
          </a:p>
          <a:p>
            <a:pPr algn="just" marL="469900" indent="-229235">
              <a:lnSpc>
                <a:spcPct val="100000"/>
              </a:lnSpc>
              <a:buAutoNum type="arabicPeriod"/>
              <a:tabLst>
                <a:tab pos="470534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careful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selecting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vendors.</a:t>
            </a:r>
            <a:endParaRPr sz="1100">
              <a:latin typeface="Times New Roman"/>
              <a:cs typeface="Times New Roman"/>
            </a:endParaRPr>
          </a:p>
          <a:p>
            <a:pPr algn="just" marL="469900" indent="-229235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470534" algn="l"/>
              </a:tabLst>
            </a:pPr>
            <a:r>
              <a:rPr dirty="0" sz="1100" spc="-5">
                <a:latin typeface="Times New Roman"/>
                <a:cs typeface="Times New Roman"/>
              </a:rPr>
              <a:t>Implementation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acceptable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contractual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performance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requirements.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650">
              <a:latin typeface="Times New Roman"/>
              <a:cs typeface="Times New Roman"/>
            </a:endParaRPr>
          </a:p>
          <a:p>
            <a:pPr algn="just" marL="12700" marR="27305" indent="457200">
              <a:lnSpc>
                <a:spcPts val="1270"/>
              </a:lnSpc>
            </a:pP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those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instances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guard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services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provided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landlord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lease,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appropriate negotiations must be conducted by Purchase to terminate this service within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specified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changeover time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period.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290"/>
              </a:lnSpc>
              <a:spcBef>
                <a:spcPts val="1055"/>
              </a:spcBef>
            </a:pPr>
            <a:r>
              <a:rPr dirty="0" sz="1100" spc="-5" b="1">
                <a:latin typeface="Times New Roman"/>
                <a:cs typeface="Times New Roman"/>
              </a:rPr>
              <a:t>EXAMPLE:</a:t>
            </a:r>
            <a:endParaRPr sz="1100">
              <a:latin typeface="Times New Roman"/>
              <a:cs typeface="Times New Roman"/>
            </a:endParaRPr>
          </a:p>
          <a:p>
            <a:pPr marL="12700" marR="27305">
              <a:lnSpc>
                <a:spcPts val="1270"/>
              </a:lnSpc>
              <a:spcBef>
                <a:spcPts val="55"/>
              </a:spcBef>
            </a:pPr>
            <a:r>
              <a:rPr dirty="0" sz="1100">
                <a:latin typeface="Times New Roman"/>
                <a:cs typeface="Times New Roman"/>
              </a:rPr>
              <a:t>Let’s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put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impact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principles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together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change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following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paragraphs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into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high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impact one.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469900" indent="-229235">
              <a:lnSpc>
                <a:spcPct val="100000"/>
              </a:lnSpc>
              <a:buFont typeface="Symbol"/>
              <a:buChar char=""/>
              <a:tabLst>
                <a:tab pos="470534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ORIGINAL</a:t>
            </a:r>
            <a:endParaRPr sz="1100">
              <a:latin typeface="Times New Roman"/>
              <a:cs typeface="Times New Roman"/>
            </a:endParaRPr>
          </a:p>
          <a:p>
            <a:pPr algn="just" marL="12700" marR="26670">
              <a:lnSpc>
                <a:spcPct val="95800"/>
              </a:lnSpc>
              <a:spcBef>
                <a:spcPts val="625"/>
              </a:spcBef>
            </a:pPr>
            <a:r>
              <a:rPr dirty="0" sz="1100" spc="-5">
                <a:latin typeface="Times New Roman"/>
                <a:cs typeface="Times New Roman"/>
              </a:rPr>
              <a:t>While interoffice systems have been </a:t>
            </a:r>
            <a:r>
              <a:rPr dirty="0" sz="1100">
                <a:latin typeface="Times New Roman"/>
                <a:cs typeface="Times New Roman"/>
              </a:rPr>
              <a:t>extant </a:t>
            </a:r>
            <a:r>
              <a:rPr dirty="0" sz="1100" spc="-5">
                <a:latin typeface="Times New Roman"/>
                <a:cs typeface="Times New Roman"/>
              </a:rPr>
              <a:t>for approximately half a decade, </a:t>
            </a:r>
            <a:r>
              <a:rPr dirty="0" sz="1100">
                <a:latin typeface="Times New Roman"/>
                <a:cs typeface="Times New Roman"/>
              </a:rPr>
              <a:t>still </a:t>
            </a:r>
            <a:r>
              <a:rPr dirty="0" sz="1100" spc="-5">
                <a:latin typeface="Times New Roman"/>
                <a:cs typeface="Times New Roman"/>
              </a:rPr>
              <a:t>being generated are 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definitions,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concepts,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approach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employed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moving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systems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external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markets.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Conceptions of how management might alter or alleviate matters on subsequent occasions are held by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sources who have been involved with the projects, and availability of interchange of experience </a:t>
            </a:r>
            <a:r>
              <a:rPr dirty="0" sz="1100">
                <a:latin typeface="Times New Roman"/>
                <a:cs typeface="Times New Roman"/>
              </a:rPr>
              <a:t>from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interoffice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external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systems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has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improved.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Fundamental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our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product’s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success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contemplated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be instability, effortless utilization, and personal comfort of the user. For insurance of fruition, adaptation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aforementioned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thoughts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could be considered.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100">
              <a:latin typeface="Times New Roman"/>
              <a:cs typeface="Times New Roman"/>
            </a:endParaRPr>
          </a:p>
          <a:p>
            <a:pPr algn="just" marL="469900" indent="-228600">
              <a:lnSpc>
                <a:spcPct val="100000"/>
              </a:lnSpc>
              <a:buFont typeface="Symbol"/>
              <a:buChar char=""/>
              <a:tabLst>
                <a:tab pos="469900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Topic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sentence added:</a:t>
            </a:r>
            <a:endParaRPr sz="1100">
              <a:latin typeface="Times New Roman"/>
              <a:cs typeface="Times New Roman"/>
            </a:endParaRPr>
          </a:p>
          <a:p>
            <a:pPr algn="just" marL="12700" marR="26034">
              <a:lnSpc>
                <a:spcPct val="95800"/>
              </a:lnSpc>
              <a:spcBef>
                <a:spcPts val="625"/>
              </a:spcBef>
            </a:pPr>
            <a:r>
              <a:rPr dirty="0" sz="1100" spc="-5" b="1">
                <a:latin typeface="Times New Roman"/>
                <a:cs typeface="Times New Roman"/>
              </a:rPr>
              <a:t>A</a:t>
            </a:r>
            <a:r>
              <a:rPr dirty="0" sz="1100" spc="23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few</a:t>
            </a:r>
            <a:r>
              <a:rPr dirty="0" sz="1100" spc="23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thoughts</a:t>
            </a:r>
            <a:r>
              <a:rPr dirty="0" sz="1100" spc="23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could</a:t>
            </a:r>
            <a:r>
              <a:rPr dirty="0" sz="1100" spc="23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be</a:t>
            </a:r>
            <a:r>
              <a:rPr dirty="0" sz="1100" spc="23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interchanged</a:t>
            </a:r>
            <a:r>
              <a:rPr dirty="0" sz="1100" spc="23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on</a:t>
            </a:r>
            <a:r>
              <a:rPr dirty="0" sz="1100" spc="23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</a:t>
            </a:r>
            <a:r>
              <a:rPr dirty="0" sz="1100" spc="23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subject</a:t>
            </a:r>
            <a:r>
              <a:rPr dirty="0" sz="1100" spc="23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of</a:t>
            </a:r>
            <a:r>
              <a:rPr dirty="0" sz="1100" spc="23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selling</a:t>
            </a:r>
            <a:r>
              <a:rPr dirty="0" sz="1100" spc="23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interoffice</a:t>
            </a:r>
            <a:r>
              <a:rPr dirty="0" sz="1100" spc="23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systems,</a:t>
            </a:r>
            <a:r>
              <a:rPr dirty="0" sz="1100" spc="24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2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while</a:t>
            </a:r>
            <a:r>
              <a:rPr dirty="0" sz="1100" spc="2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systems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extant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approximately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half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decade,</a:t>
            </a:r>
            <a:r>
              <a:rPr dirty="0" sz="1100">
                <a:latin typeface="Times New Roman"/>
                <a:cs typeface="Times New Roman"/>
              </a:rPr>
              <a:t> still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generated</a:t>
            </a:r>
            <a:r>
              <a:rPr dirty="0" sz="1100">
                <a:latin typeface="Times New Roman"/>
                <a:cs typeface="Times New Roman"/>
              </a:rPr>
              <a:t> are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definitions,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concepts, and approach to be employed in moving these systems </a:t>
            </a:r>
            <a:r>
              <a:rPr dirty="0" sz="1100">
                <a:latin typeface="Times New Roman"/>
                <a:cs typeface="Times New Roman"/>
              </a:rPr>
              <a:t>into </a:t>
            </a:r>
            <a:r>
              <a:rPr dirty="0" sz="1100" spc="-5">
                <a:latin typeface="Times New Roman"/>
                <a:cs typeface="Times New Roman"/>
              </a:rPr>
              <a:t>external markets. Conceptions of how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management might alter or alleviate matters on subsequent occasions are held by sources who have been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involved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projects,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availability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interchange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experience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from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interoffice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external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systems has to be improved. Fundamental to our product’s success are contemplated to be instability,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effortless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utilization,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personal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comfort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user.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insurance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fruition,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adaptation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aforementioned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thoughts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could be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considered.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00">
              <a:latin typeface="Times New Roman"/>
              <a:cs typeface="Times New Roman"/>
            </a:endParaRPr>
          </a:p>
          <a:p>
            <a:pPr algn="just" marL="469265" indent="-229235">
              <a:lnSpc>
                <a:spcPct val="100000"/>
              </a:lnSpc>
              <a:buFont typeface="Symbol"/>
              <a:buChar char=""/>
              <a:tabLst>
                <a:tab pos="469900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Divided into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Paragraphs:</a:t>
            </a:r>
            <a:endParaRPr sz="1100">
              <a:latin typeface="Times New Roman"/>
              <a:cs typeface="Times New Roman"/>
            </a:endParaRPr>
          </a:p>
          <a:p>
            <a:pPr algn="just" marL="12700" marR="27305" indent="456565">
              <a:lnSpc>
                <a:spcPts val="1270"/>
              </a:lnSpc>
              <a:spcBef>
                <a:spcPts val="645"/>
              </a:spcBef>
            </a:pPr>
            <a:r>
              <a:rPr dirty="0" sz="1100" spc="-5">
                <a:latin typeface="Times New Roman"/>
                <a:cs typeface="Times New Roman"/>
              </a:rPr>
              <a:t>A few thoughts could be interchanged on the subject of selling interoffice systems, for while 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systems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extant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approximately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half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decade,</a:t>
            </a:r>
            <a:r>
              <a:rPr dirty="0" sz="1100">
                <a:latin typeface="Times New Roman"/>
                <a:cs typeface="Times New Roman"/>
              </a:rPr>
              <a:t> still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generated</a:t>
            </a:r>
            <a:r>
              <a:rPr dirty="0" sz="1100">
                <a:latin typeface="Times New Roman"/>
                <a:cs typeface="Times New Roman"/>
              </a:rPr>
              <a:t> are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definitions,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concepts,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approach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be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employed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moving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systems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external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markets.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 marR="26034" indent="457200">
              <a:lnSpc>
                <a:spcPct val="95700"/>
              </a:lnSpc>
            </a:pPr>
            <a:r>
              <a:rPr dirty="0" sz="1100" spc="-5">
                <a:latin typeface="Times New Roman"/>
                <a:cs typeface="Times New Roman"/>
              </a:rPr>
              <a:t>Conceptions of how management might alter or alleviate matters </a:t>
            </a:r>
            <a:r>
              <a:rPr dirty="0" sz="110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subsequent occasions are held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by sources who have been involved with the projects, and availability of interchange of experience </a:t>
            </a:r>
            <a:r>
              <a:rPr dirty="0" sz="1100">
                <a:latin typeface="Times New Roman"/>
                <a:cs typeface="Times New Roman"/>
              </a:rPr>
              <a:t>from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interoffice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external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systems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improved.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829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788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10019" y="9493248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76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400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27352" y="342390"/>
            <a:ext cx="6083300" cy="9011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869305" algn="l"/>
              </a:tabLst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l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</a:t>
            </a:r>
            <a:r>
              <a:rPr dirty="0" sz="1100" spc="-15">
                <a:solidFill>
                  <a:srgbClr val="323232"/>
                </a:solidFill>
                <a:latin typeface="Times New Roman"/>
                <a:cs typeface="Times New Roman"/>
              </a:rPr>
              <a:t>m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entary</a:t>
            </a:r>
            <a:r>
              <a:rPr dirty="0" sz="1100" spc="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g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lish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 marR="27305">
              <a:lnSpc>
                <a:spcPts val="1270"/>
              </a:lnSpc>
            </a:pPr>
            <a:r>
              <a:rPr dirty="0" sz="1100" spc="-5">
                <a:latin typeface="Times New Roman"/>
                <a:cs typeface="Times New Roman"/>
              </a:rPr>
              <a:t>Fundamental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our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product’s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success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contemplated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instability,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effortless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utilization,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personal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comfort 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user.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insurance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fruition,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adaptation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aforementioned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thoughts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could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considered.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00">
              <a:latin typeface="Times New Roman"/>
              <a:cs typeface="Times New Roman"/>
            </a:endParaRPr>
          </a:p>
          <a:p>
            <a:pPr algn="just" marL="469900" indent="-229235">
              <a:lnSpc>
                <a:spcPct val="100000"/>
              </a:lnSpc>
              <a:buFont typeface="Symbol"/>
              <a:buChar char=""/>
              <a:tabLst>
                <a:tab pos="470534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Word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Choice Simplified</a:t>
            </a:r>
            <a:endParaRPr sz="1100">
              <a:latin typeface="Times New Roman"/>
              <a:cs typeface="Times New Roman"/>
            </a:endParaRPr>
          </a:p>
          <a:p>
            <a:pPr algn="just" marL="12700" marR="26034" indent="457200">
              <a:lnSpc>
                <a:spcPts val="1270"/>
              </a:lnSpc>
              <a:spcBef>
                <a:spcPts val="645"/>
              </a:spcBef>
            </a:pP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few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thoughts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could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 </a:t>
            </a:r>
            <a:r>
              <a:rPr dirty="0" sz="1100" spc="-5" b="1">
                <a:latin typeface="Times New Roman"/>
                <a:cs typeface="Times New Roman"/>
              </a:rPr>
              <a:t>exchanged (interchanged) </a:t>
            </a:r>
            <a:r>
              <a:rPr dirty="0" sz="1100" spc="-5">
                <a:latin typeface="Times New Roman"/>
                <a:cs typeface="Times New Roman"/>
              </a:rPr>
              <a:t>on the subject of selling interoffice systems,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while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systems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have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been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(extant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for)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around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(approximately)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five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years</a:t>
            </a:r>
            <a:r>
              <a:rPr dirty="0" sz="1100" spc="26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(half</a:t>
            </a:r>
            <a:r>
              <a:rPr dirty="0" sz="1100" spc="26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 </a:t>
            </a:r>
            <a:r>
              <a:rPr dirty="0" sz="1100" spc="-26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decade), </a:t>
            </a:r>
            <a:r>
              <a:rPr dirty="0" sz="1100" spc="-5">
                <a:latin typeface="Times New Roman"/>
                <a:cs typeface="Times New Roman"/>
              </a:rPr>
              <a:t>still being generated are the definitions, concepts, and approach to be employed in selling these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systems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customers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(external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markets).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 marR="27305" indent="457200">
              <a:lnSpc>
                <a:spcPts val="1270"/>
              </a:lnSpc>
            </a:pPr>
            <a:r>
              <a:rPr dirty="0" sz="1100" spc="-5" b="1">
                <a:latin typeface="Times New Roman"/>
                <a:cs typeface="Times New Roman"/>
              </a:rPr>
              <a:t>Ideas (conceptions) </a:t>
            </a:r>
            <a:r>
              <a:rPr dirty="0" sz="1100" spc="-5">
                <a:latin typeface="Times New Roman"/>
                <a:cs typeface="Times New Roman"/>
              </a:rPr>
              <a:t>on how management might </a:t>
            </a:r>
            <a:r>
              <a:rPr dirty="0" sz="1100" spc="-5" b="1">
                <a:latin typeface="Times New Roman"/>
                <a:cs typeface="Times New Roman"/>
              </a:rPr>
              <a:t>proceed (alter or alleviate) </a:t>
            </a:r>
            <a:r>
              <a:rPr dirty="0" sz="1100" spc="-5">
                <a:latin typeface="Times New Roman"/>
                <a:cs typeface="Times New Roman"/>
              </a:rPr>
              <a:t>differently in 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future (subsequent occasions) </a:t>
            </a:r>
            <a:r>
              <a:rPr dirty="0" sz="1100" spc="-5">
                <a:latin typeface="Times New Roman"/>
                <a:cs typeface="Times New Roman"/>
              </a:rPr>
              <a:t>are held by people who have been </a:t>
            </a:r>
            <a:r>
              <a:rPr dirty="0" sz="1100" spc="-5" b="1">
                <a:latin typeface="Times New Roman"/>
                <a:cs typeface="Times New Roman"/>
              </a:rPr>
              <a:t>working (involved) </a:t>
            </a:r>
            <a:r>
              <a:rPr dirty="0" sz="1100" spc="-5">
                <a:latin typeface="Times New Roman"/>
                <a:cs typeface="Times New Roman"/>
              </a:rPr>
              <a:t>on the </a:t>
            </a:r>
            <a:r>
              <a:rPr dirty="0" sz="1100" spc="-10">
                <a:latin typeface="Times New Roman"/>
                <a:cs typeface="Times New Roman"/>
              </a:rPr>
              <a:t>projects,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experience of those </a:t>
            </a:r>
            <a:r>
              <a:rPr dirty="0" sz="1100" spc="-5" b="1">
                <a:latin typeface="Times New Roman"/>
                <a:cs typeface="Times New Roman"/>
              </a:rPr>
              <a:t>people who have used interoffice systems (external systems) </a:t>
            </a:r>
            <a:r>
              <a:rPr dirty="0" sz="1100" spc="-5">
                <a:latin typeface="Times New Roman"/>
                <a:cs typeface="Times New Roman"/>
              </a:rPr>
              <a:t>has to be </a:t>
            </a:r>
            <a:r>
              <a:rPr dirty="0" sz="1100" spc="-5" b="1">
                <a:latin typeface="Times New Roman"/>
                <a:cs typeface="Times New Roman"/>
              </a:rPr>
              <a:t>made 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available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(interchange)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those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planning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sell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systems.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 marR="26670" indent="457200">
              <a:lnSpc>
                <a:spcPts val="1270"/>
              </a:lnSpc>
            </a:pPr>
            <a:r>
              <a:rPr dirty="0" sz="1100" spc="-5" b="1">
                <a:latin typeface="Times New Roman"/>
                <a:cs typeface="Times New Roman"/>
              </a:rPr>
              <a:t>Keys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(fundamentals)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product’s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success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thought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(contemplated)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ease</a:t>
            </a:r>
            <a:r>
              <a:rPr dirty="0" sz="1100" b="1">
                <a:latin typeface="Times New Roman"/>
                <a:cs typeface="Times New Roman"/>
              </a:rPr>
              <a:t> of 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installation (instability), simplicity of use (effortless utilization)</a:t>
            </a:r>
            <a:r>
              <a:rPr dirty="0" sz="1100" spc="-5">
                <a:latin typeface="Times New Roman"/>
                <a:cs typeface="Times New Roman"/>
              </a:rPr>
              <a:t>, and careful attention to the personal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comfort 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user.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 marR="26034" indent="457200">
              <a:lnSpc>
                <a:spcPts val="1270"/>
              </a:lnSpc>
            </a:pPr>
            <a:r>
              <a:rPr dirty="0" sz="1100" spc="-5">
                <a:latin typeface="Times New Roman"/>
                <a:cs typeface="Times New Roman"/>
              </a:rPr>
              <a:t>For </a:t>
            </a:r>
            <a:r>
              <a:rPr dirty="0" sz="1100" spc="-5" b="1">
                <a:latin typeface="Times New Roman"/>
                <a:cs typeface="Times New Roman"/>
              </a:rPr>
              <a:t>continued success (insurance of fruition) </a:t>
            </a:r>
            <a:r>
              <a:rPr dirty="0" sz="1100" spc="-5">
                <a:latin typeface="Times New Roman"/>
                <a:cs typeface="Times New Roman"/>
              </a:rPr>
              <a:t>to be ensured, </a:t>
            </a:r>
            <a:r>
              <a:rPr dirty="0" sz="1100" spc="-5" b="1">
                <a:latin typeface="Times New Roman"/>
                <a:cs typeface="Times New Roman"/>
              </a:rPr>
              <a:t>these (aforementioned)</a:t>
            </a:r>
            <a:r>
              <a:rPr dirty="0" sz="1100" spc="26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thoughts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kept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constantly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(considered)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mind.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469900" indent="-229235">
              <a:lnSpc>
                <a:spcPct val="100000"/>
              </a:lnSpc>
              <a:spcBef>
                <a:spcPts val="5"/>
              </a:spcBef>
              <a:buFont typeface="Symbol"/>
              <a:buChar char=""/>
              <a:tabLst>
                <a:tab pos="470534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Sentence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Shortened</a:t>
            </a:r>
            <a:endParaRPr sz="1100">
              <a:latin typeface="Times New Roman"/>
              <a:cs typeface="Times New Roman"/>
            </a:endParaRPr>
          </a:p>
          <a:p>
            <a:pPr algn="just" marL="12700" marR="27305" indent="457200">
              <a:lnSpc>
                <a:spcPct val="95700"/>
              </a:lnSpc>
              <a:spcBef>
                <a:spcPts val="625"/>
              </a:spcBef>
            </a:pPr>
            <a:r>
              <a:rPr dirty="0" sz="1100" spc="-5">
                <a:latin typeface="Times New Roman"/>
                <a:cs typeface="Times New Roman"/>
              </a:rPr>
              <a:t>A few thoughts could be exchanged on the subject of selling interoffice systems. The definitions,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concepts,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approach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employed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selling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systems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customers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still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being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developed,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though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systems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around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five </a:t>
            </a:r>
            <a:r>
              <a:rPr dirty="0" sz="1100">
                <a:latin typeface="Times New Roman"/>
                <a:cs typeface="Times New Roman"/>
              </a:rPr>
              <a:t>years.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 algn="just" marL="12700" marR="27940" indent="457200">
              <a:lnSpc>
                <a:spcPct val="957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Ideas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how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management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might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proceed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differently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(or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better)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future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held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by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people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who have been working on the projects.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experience of those people who have used interoffice </a:t>
            </a:r>
            <a:r>
              <a:rPr dirty="0" sz="1100">
                <a:latin typeface="Times New Roman"/>
                <a:cs typeface="Times New Roman"/>
              </a:rPr>
              <a:t>systems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made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available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those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planning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sell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systems.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100">
              <a:latin typeface="Times New Roman"/>
              <a:cs typeface="Times New Roman"/>
            </a:endParaRPr>
          </a:p>
          <a:p>
            <a:pPr algn="just" marL="12700" marR="27940" indent="457200">
              <a:lnSpc>
                <a:spcPts val="1270"/>
              </a:lnSpc>
            </a:pPr>
            <a:r>
              <a:rPr dirty="0" sz="1100">
                <a:latin typeface="Times New Roman"/>
                <a:cs typeface="Times New Roman"/>
              </a:rPr>
              <a:t>Keys </a:t>
            </a:r>
            <a:r>
              <a:rPr dirty="0" sz="1100" spc="-5">
                <a:latin typeface="Times New Roman"/>
                <a:cs typeface="Times New Roman"/>
              </a:rPr>
              <a:t>to our product’s success </a:t>
            </a:r>
            <a:r>
              <a:rPr dirty="0" sz="1100">
                <a:latin typeface="Times New Roman"/>
                <a:cs typeface="Times New Roman"/>
              </a:rPr>
              <a:t>are </a:t>
            </a:r>
            <a:r>
              <a:rPr dirty="0" sz="1100" spc="-5">
                <a:latin typeface="Times New Roman"/>
                <a:cs typeface="Times New Roman"/>
              </a:rPr>
              <a:t>thought to be ease of installation, simplicity of use, and careful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attention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personal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comfort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user.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continued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success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ensured,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thoughts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need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kept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constantly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mind.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00">
              <a:latin typeface="Times New Roman"/>
              <a:cs typeface="Times New Roman"/>
            </a:endParaRPr>
          </a:p>
          <a:p>
            <a:pPr algn="just" marL="469900" indent="-228600">
              <a:lnSpc>
                <a:spcPct val="100000"/>
              </a:lnSpc>
              <a:buFont typeface="Symbol"/>
              <a:buChar char=""/>
              <a:tabLst>
                <a:tab pos="469900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Sentence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Made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Active</a:t>
            </a:r>
            <a:endParaRPr sz="1100">
              <a:latin typeface="Times New Roman"/>
              <a:cs typeface="Times New Roman"/>
            </a:endParaRPr>
          </a:p>
          <a:p>
            <a:pPr algn="just" marL="12700" marR="25400" indent="457200">
              <a:lnSpc>
                <a:spcPct val="95700"/>
              </a:lnSpc>
              <a:spcBef>
                <a:spcPts val="625"/>
              </a:spcBef>
            </a:pPr>
            <a:r>
              <a:rPr dirty="0" sz="1100" spc="-5">
                <a:latin typeface="Times New Roman"/>
                <a:cs typeface="Times New Roman"/>
              </a:rPr>
              <a:t>I would like to exchange a few thoughts with you on the subject of selling interoffice systems. We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still have not developed a well thought-out approach to selling these systems to customers, even though 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systems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around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five</a:t>
            </a:r>
            <a:r>
              <a:rPr dirty="0" sz="1100">
                <a:latin typeface="Times New Roman"/>
                <a:cs typeface="Times New Roman"/>
              </a:rPr>
              <a:t> years.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100">
              <a:latin typeface="Times New Roman"/>
              <a:cs typeface="Times New Roman"/>
            </a:endParaRPr>
          </a:p>
          <a:p>
            <a:pPr algn="just" marL="12700" marR="27940" indent="457200">
              <a:lnSpc>
                <a:spcPct val="95700"/>
              </a:lnSpc>
            </a:pPr>
            <a:r>
              <a:rPr dirty="0" sz="1100" spc="-5">
                <a:latin typeface="Times New Roman"/>
                <a:cs typeface="Times New Roman"/>
              </a:rPr>
              <a:t>People who have been working on the project have ideas on how management might proceed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differently (or better) in the future. Those people who have used interoffice systems must be able to share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experience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those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planning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sell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systems.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100">
              <a:latin typeface="Times New Roman"/>
              <a:cs typeface="Times New Roman"/>
            </a:endParaRPr>
          </a:p>
          <a:p>
            <a:pPr algn="just" marL="12700" marR="26034" indent="457200">
              <a:lnSpc>
                <a:spcPts val="1270"/>
              </a:lnSpc>
            </a:pP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Keys </a:t>
            </a:r>
            <a:r>
              <a:rPr dirty="0" sz="1100" spc="-5">
                <a:latin typeface="Times New Roman"/>
                <a:cs typeface="Times New Roman"/>
              </a:rPr>
              <a:t>to our product’s success are ease of installation, simplicity of use, and careful attention to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personal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comfort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user.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Keep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thoughts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mind,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ensure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continued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success.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00">
              <a:latin typeface="Times New Roman"/>
              <a:cs typeface="Times New Roman"/>
            </a:endParaRPr>
          </a:p>
          <a:p>
            <a:pPr algn="just" marL="469900" indent="-228600">
              <a:lnSpc>
                <a:spcPct val="100000"/>
              </a:lnSpc>
              <a:buFont typeface="Symbol"/>
              <a:buChar char=""/>
              <a:tabLst>
                <a:tab pos="469900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Multiple ideas Itemized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257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360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67219" y="9493248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77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972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84570" y="342390"/>
            <a:ext cx="6083300" cy="2727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869305" algn="l"/>
              </a:tabLst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l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</a:t>
            </a:r>
            <a:r>
              <a:rPr dirty="0" sz="1100" spc="-15">
                <a:solidFill>
                  <a:srgbClr val="323232"/>
                </a:solidFill>
                <a:latin typeface="Times New Roman"/>
                <a:cs typeface="Times New Roman"/>
              </a:rPr>
              <a:t>m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entary</a:t>
            </a:r>
            <a:r>
              <a:rPr dirty="0" sz="1100" spc="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g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lish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I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would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like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exchange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few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thoughts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subject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selling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interoffice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systems.</a:t>
            </a:r>
            <a:endParaRPr sz="1100">
              <a:latin typeface="Times New Roman"/>
              <a:cs typeface="Times New Roman"/>
            </a:endParaRPr>
          </a:p>
          <a:p>
            <a:pPr marL="927100" marR="29209" indent="-228600">
              <a:lnSpc>
                <a:spcPts val="1270"/>
              </a:lnSpc>
              <a:spcBef>
                <a:spcPts val="830"/>
              </a:spcBef>
              <a:buAutoNum type="arabicPeriod"/>
              <a:tabLst>
                <a:tab pos="927100" algn="l"/>
              </a:tabLst>
            </a:pP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still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have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developed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well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thought-out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approach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selling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systems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customers,</a:t>
            </a:r>
            <a:r>
              <a:rPr dirty="0" sz="1100">
                <a:latin typeface="Times New Roman"/>
                <a:cs typeface="Times New Roman"/>
              </a:rPr>
              <a:t> even </a:t>
            </a:r>
            <a:r>
              <a:rPr dirty="0" sz="1100" spc="-5">
                <a:latin typeface="Times New Roman"/>
                <a:cs typeface="Times New Roman"/>
              </a:rPr>
              <a:t>though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systems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been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around for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five</a:t>
            </a:r>
            <a:r>
              <a:rPr dirty="0" sz="1100">
                <a:latin typeface="Times New Roman"/>
                <a:cs typeface="Times New Roman"/>
              </a:rPr>
              <a:t> years.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195"/>
              </a:lnSpc>
            </a:pPr>
            <a:r>
              <a:rPr dirty="0" sz="1100" spc="-5">
                <a:latin typeface="Times New Roman"/>
                <a:cs typeface="Times New Roman"/>
              </a:rPr>
              <a:t>People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who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been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working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project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ideas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how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management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might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proceed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differently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95"/>
              </a:lnSpc>
            </a:pPr>
            <a:r>
              <a:rPr dirty="0" sz="1100" spc="-5">
                <a:latin typeface="Times New Roman"/>
                <a:cs typeface="Times New Roman"/>
              </a:rPr>
              <a:t>(or better)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future.</a:t>
            </a:r>
            <a:endParaRPr sz="1100">
              <a:latin typeface="Times New Roman"/>
              <a:cs typeface="Times New Roman"/>
            </a:endParaRPr>
          </a:p>
          <a:p>
            <a:pPr marL="927100" marR="28575" indent="-228600">
              <a:lnSpc>
                <a:spcPts val="1270"/>
              </a:lnSpc>
              <a:spcBef>
                <a:spcPts val="950"/>
              </a:spcBef>
              <a:buAutoNum type="arabicPeriod" startAt="2"/>
              <a:tabLst>
                <a:tab pos="9271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Those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people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who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used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interoffice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systems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must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able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share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experience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those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planning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sell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systems.</a:t>
            </a:r>
            <a:endParaRPr sz="1100">
              <a:latin typeface="Times New Roman"/>
              <a:cs typeface="Times New Roman"/>
            </a:endParaRPr>
          </a:p>
          <a:p>
            <a:pPr marL="927100" marR="27305" indent="-228600">
              <a:lnSpc>
                <a:spcPts val="1270"/>
              </a:lnSpc>
              <a:spcBef>
                <a:spcPts val="910"/>
              </a:spcBef>
              <a:buAutoNum type="arabicPeriod" startAt="2"/>
              <a:tabLst>
                <a:tab pos="9271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Keys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our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product’s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success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ease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installation,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simplicity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use,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careful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attention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personal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comfort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user.</a:t>
            </a:r>
            <a:endParaRPr sz="11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600"/>
              </a:spcBef>
            </a:pPr>
            <a:r>
              <a:rPr dirty="0" sz="1100" spc="-5">
                <a:latin typeface="Times New Roman"/>
                <a:cs typeface="Times New Roman"/>
              </a:rPr>
              <a:t>Keep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thoughts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mind,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ensure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continued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success.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spc="-5" b="1">
                <a:latin typeface="Times New Roman"/>
                <a:cs typeface="Times New Roman"/>
              </a:rPr>
              <a:t>Source: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Principles</a:t>
            </a:r>
            <a:r>
              <a:rPr dirty="0" sz="1100" spc="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of</a:t>
            </a:r>
            <a:r>
              <a:rPr dirty="0" sz="1100" spc="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Business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Communication</a:t>
            </a:r>
            <a:r>
              <a:rPr dirty="0" sz="1100" spc="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(Apologies:</a:t>
            </a:r>
            <a:r>
              <a:rPr dirty="0" sz="1100" spc="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author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not</a:t>
            </a:r>
            <a:r>
              <a:rPr dirty="0" sz="1100" spc="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known)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829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7380" y="342390"/>
            <a:ext cx="174498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 Elementary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84111" y="342390"/>
            <a:ext cx="22669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788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10019" y="9493248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78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400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257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812028" y="526034"/>
            <a:ext cx="87566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LECTURE</a:t>
            </a:r>
            <a:r>
              <a:rPr dirty="0" u="heavy" sz="1100" spc="-4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23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7375" y="686815"/>
            <a:ext cx="6062345" cy="71697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SIGNAL</a:t>
            </a:r>
            <a:r>
              <a:rPr dirty="0" u="heavy" sz="1100" spc="-4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WORDS</a:t>
            </a:r>
            <a:endParaRPr sz="1100">
              <a:latin typeface="Times New Roman"/>
              <a:cs typeface="Times New Roman"/>
            </a:endParaRPr>
          </a:p>
          <a:p>
            <a:pPr marL="12700" marR="2666365">
              <a:lnSpc>
                <a:spcPts val="2540"/>
              </a:lnSpc>
              <a:spcBef>
                <a:spcPts val="275"/>
              </a:spcBef>
            </a:pPr>
            <a:r>
              <a:rPr dirty="0" sz="1100" spc="-5" b="1">
                <a:latin typeface="Times New Roman"/>
                <a:cs typeface="Times New Roman"/>
              </a:rPr>
              <a:t>Compare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following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two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paragraphs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for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signal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words. </a:t>
            </a:r>
            <a:r>
              <a:rPr dirty="0" sz="1100" spc="-260" b="1"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1.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Benefits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Private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Vehicles</a:t>
            </a:r>
            <a:endParaRPr sz="1100">
              <a:latin typeface="Times New Roman"/>
              <a:cs typeface="Times New Roman"/>
            </a:endParaRPr>
          </a:p>
          <a:p>
            <a:pPr marL="12700" marR="5715" indent="457200">
              <a:lnSpc>
                <a:spcPts val="1270"/>
              </a:lnSpc>
              <a:spcBef>
                <a:spcPts val="359"/>
              </a:spcBef>
            </a:pPr>
            <a:r>
              <a:rPr dirty="0" sz="1100" spc="-5">
                <a:latin typeface="Times New Roman"/>
                <a:cs typeface="Times New Roman"/>
              </a:rPr>
              <a:t>Private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vehicles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play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key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role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our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lives.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They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provide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independent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transport,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freedom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jobs.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cause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pollution,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traffic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jams,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noise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death.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 marR="5715" indent="457200">
              <a:lnSpc>
                <a:spcPct val="95800"/>
              </a:lnSpc>
            </a:pPr>
            <a:r>
              <a:rPr dirty="0" sz="1100" spc="-5">
                <a:latin typeface="Times New Roman"/>
                <a:cs typeface="Times New Roman"/>
              </a:rPr>
              <a:t>Private transport, especially the car, gives us freedom to move. We no longer need to organize our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lives around our bus or train timetables. Many people think that their cars are indispensable machines. They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cannot live without them.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People who live in rural </a:t>
            </a:r>
            <a:r>
              <a:rPr dirty="0" sz="1100">
                <a:latin typeface="Times New Roman"/>
                <a:cs typeface="Times New Roman"/>
              </a:rPr>
              <a:t>areas </a:t>
            </a:r>
            <a:r>
              <a:rPr dirty="0" sz="1100" spc="-5">
                <a:latin typeface="Times New Roman"/>
                <a:cs typeface="Times New Roman"/>
              </a:rPr>
              <a:t>need private vehicles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-5">
                <a:latin typeface="Times New Roman"/>
                <a:cs typeface="Times New Roman"/>
              </a:rPr>
              <a:t>go to towns for shopping,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socializing, taking children to schools, etc. Without a car their lives would be very difficult. They would be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forced to rely on infrequent public transport, if it existed at all. Many families who live in the country have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cars.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would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from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people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necessity.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2.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Benefits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Private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Vehicles</a:t>
            </a:r>
            <a:endParaRPr sz="1100">
              <a:latin typeface="Times New Roman"/>
              <a:cs typeface="Times New Roman"/>
            </a:endParaRPr>
          </a:p>
          <a:p>
            <a:pPr marL="12700" marR="7620" indent="457200">
              <a:lnSpc>
                <a:spcPts val="1270"/>
              </a:lnSpc>
              <a:spcBef>
                <a:spcPts val="650"/>
              </a:spcBef>
            </a:pPr>
            <a:r>
              <a:rPr dirty="0" sz="1100" spc="-5">
                <a:latin typeface="Times New Roman"/>
                <a:cs typeface="Times New Roman"/>
              </a:rPr>
              <a:t>Private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vehicles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play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key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role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our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lives</a:t>
            </a:r>
            <a:r>
              <a:rPr dirty="0" sz="1100" b="1">
                <a:latin typeface="Times New Roman"/>
                <a:cs typeface="Times New Roman"/>
              </a:rPr>
              <a:t>,</a:t>
            </a:r>
            <a:r>
              <a:rPr dirty="0" sz="1100" spc="1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as</a:t>
            </a:r>
            <a:r>
              <a:rPr dirty="0" sz="1100" spc="12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provide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independent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transport,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freedom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jobs</a:t>
            </a:r>
            <a:r>
              <a:rPr dirty="0" sz="1100" spc="-5" b="1">
                <a:latin typeface="Times New Roman"/>
                <a:cs typeface="Times New Roman"/>
              </a:rPr>
              <a:t>;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however,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cause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pollution,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traffic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jams,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noise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death.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 marR="5080" indent="457200">
              <a:lnSpc>
                <a:spcPct val="95800"/>
              </a:lnSpc>
            </a:pPr>
            <a:r>
              <a:rPr dirty="0" sz="1100" spc="-5" b="1">
                <a:latin typeface="Times New Roman"/>
                <a:cs typeface="Times New Roman"/>
              </a:rPr>
              <a:t>Firstly, </a:t>
            </a:r>
            <a:r>
              <a:rPr dirty="0" sz="1100" spc="-5">
                <a:latin typeface="Times New Roman"/>
                <a:cs typeface="Times New Roman"/>
              </a:rPr>
              <a:t>Private transport, especially the car, gives us freedom to move</a:t>
            </a:r>
            <a:r>
              <a:rPr dirty="0" sz="1100" spc="-5" b="1">
                <a:latin typeface="Times New Roman"/>
                <a:cs typeface="Times New Roman"/>
              </a:rPr>
              <a:t>, so </a:t>
            </a:r>
            <a:r>
              <a:rPr dirty="0" sz="1100" spc="-5">
                <a:latin typeface="Times New Roman"/>
                <a:cs typeface="Times New Roman"/>
              </a:rPr>
              <a:t>we no longer need to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organize our lives around our bus or train timetables. </a:t>
            </a:r>
            <a:r>
              <a:rPr dirty="0" sz="1100" spc="-5" b="1">
                <a:latin typeface="Times New Roman"/>
                <a:cs typeface="Times New Roman"/>
              </a:rPr>
              <a:t>Secondly, </a:t>
            </a:r>
            <a:r>
              <a:rPr dirty="0" sz="1100" spc="-5">
                <a:latin typeface="Times New Roman"/>
                <a:cs typeface="Times New Roman"/>
              </a:rPr>
              <a:t>many people think that their cars are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indispensable machines </a:t>
            </a:r>
            <a:r>
              <a:rPr dirty="0" sz="1100" b="1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they cannot live without them. </a:t>
            </a:r>
            <a:r>
              <a:rPr dirty="0" sz="1100" spc="-5" b="1">
                <a:latin typeface="Times New Roman"/>
                <a:cs typeface="Times New Roman"/>
              </a:rPr>
              <a:t>For example, </a:t>
            </a:r>
            <a:r>
              <a:rPr dirty="0" sz="1100" spc="-5">
                <a:latin typeface="Times New Roman"/>
                <a:cs typeface="Times New Roman"/>
              </a:rPr>
              <a:t>People who live in rural areas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need private vehicles to go to towns for shopping, socializing, taking children to schools, etc. Without a car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lives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would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very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difficult</a:t>
            </a:r>
            <a:r>
              <a:rPr dirty="0" sz="1100" spc="-5" b="1">
                <a:latin typeface="Times New Roman"/>
                <a:cs typeface="Times New Roman"/>
              </a:rPr>
              <a:t>;</a:t>
            </a:r>
            <a:r>
              <a:rPr dirty="0" sz="1100" spc="5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as</a:t>
            </a:r>
            <a:r>
              <a:rPr dirty="0" sz="1100" spc="5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</a:t>
            </a:r>
            <a:r>
              <a:rPr dirty="0" sz="1100" spc="45" b="1">
                <a:latin typeface="Times New Roman"/>
                <a:cs typeface="Times New Roman"/>
              </a:rPr>
              <a:t> </a:t>
            </a:r>
            <a:r>
              <a:rPr dirty="0" sz="1100" spc="-10" b="1">
                <a:latin typeface="Times New Roman"/>
                <a:cs typeface="Times New Roman"/>
              </a:rPr>
              <a:t>result,</a:t>
            </a:r>
            <a:r>
              <a:rPr dirty="0" sz="1100" spc="6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would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forced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rely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infrequent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public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transport,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if it existed </a:t>
            </a:r>
            <a:r>
              <a:rPr dirty="0" sz="1100" spc="-10">
                <a:latin typeface="Times New Roman"/>
                <a:cs typeface="Times New Roman"/>
              </a:rPr>
              <a:t>at </a:t>
            </a:r>
            <a:r>
              <a:rPr dirty="0" sz="1100" spc="-5">
                <a:latin typeface="Times New Roman"/>
                <a:cs typeface="Times New Roman"/>
              </a:rPr>
              <a:t>all. </a:t>
            </a:r>
            <a:r>
              <a:rPr dirty="0" sz="1100" spc="-5" b="1">
                <a:latin typeface="Times New Roman"/>
                <a:cs typeface="Times New Roman"/>
              </a:rPr>
              <a:t>That is why; </a:t>
            </a:r>
            <a:r>
              <a:rPr dirty="0" sz="1100" spc="-5">
                <a:latin typeface="Times New Roman"/>
                <a:cs typeface="Times New Roman"/>
              </a:rPr>
              <a:t>many families who live in the country have one or more cars. </a:t>
            </a:r>
            <a:r>
              <a:rPr dirty="0" sz="1100" spc="-5" b="1">
                <a:latin typeface="Times New Roman"/>
                <a:cs typeface="Times New Roman"/>
              </a:rPr>
              <a:t>Otherwise, 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would be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from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From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this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we </a:t>
            </a:r>
            <a:r>
              <a:rPr dirty="0" sz="1100" spc="-5" b="1">
                <a:latin typeface="Times New Roman"/>
                <a:cs typeface="Times New Roman"/>
              </a:rPr>
              <a:t>see,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many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people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necessity.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080" indent="457200">
              <a:lnSpc>
                <a:spcPct val="95900"/>
              </a:lnSpc>
            </a:pPr>
            <a:r>
              <a:rPr dirty="0" sz="1100" spc="-5">
                <a:latin typeface="Times New Roman"/>
                <a:cs typeface="Times New Roman"/>
              </a:rPr>
              <a:t>To improve your writing you need to make sure that your ideas, both in sentences and paragraphs,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stick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together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coherence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gap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between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ideas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bridges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smoothly.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way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is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by using transitions - words or phrases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techniques </a:t>
            </a:r>
            <a:r>
              <a:rPr dirty="0" sz="1100">
                <a:latin typeface="Times New Roman"/>
                <a:cs typeface="Times New Roman"/>
              </a:rPr>
              <a:t>that </a:t>
            </a:r>
            <a:r>
              <a:rPr dirty="0" sz="1100" spc="-5">
                <a:latin typeface="Times New Roman"/>
                <a:cs typeface="Times New Roman"/>
              </a:rPr>
              <a:t>help bring two ideas together. Transitional words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phrases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represent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way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gaining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coherence.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Certain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help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continue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idea,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indicate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shift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though or contrast,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up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conclusion.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6350" indent="457200">
              <a:lnSpc>
                <a:spcPts val="1270"/>
              </a:lnSpc>
            </a:pPr>
            <a:r>
              <a:rPr dirty="0" sz="1100" spc="-5">
                <a:latin typeface="Times New Roman"/>
                <a:cs typeface="Times New Roman"/>
              </a:rPr>
              <a:t>Check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list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those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pull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sentences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paragraphs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together.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List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of Signal Words: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Continuation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Signals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(Warning-there</a:t>
            </a:r>
            <a:r>
              <a:rPr dirty="0" sz="1100" spc="1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are</a:t>
            </a:r>
            <a:r>
              <a:rPr dirty="0" sz="1100" spc="1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more</a:t>
            </a:r>
            <a:r>
              <a:rPr dirty="0" sz="1100" spc="15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ideas</a:t>
            </a:r>
            <a:r>
              <a:rPr dirty="0" sz="1100" spc="15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to</a:t>
            </a:r>
            <a:r>
              <a:rPr dirty="0" sz="1100" spc="15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come.)</a:t>
            </a:r>
            <a:endParaRPr sz="1100">
              <a:latin typeface="Times New Roman"/>
              <a:cs typeface="Times New Roman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1343405" y="8023859"/>
          <a:ext cx="4638675" cy="1390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32890"/>
                <a:gridCol w="1543049"/>
                <a:gridCol w="1534160"/>
              </a:tblGrid>
              <a:tr h="171607">
                <a:tc>
                  <a:txBody>
                    <a:bodyPr/>
                    <a:lstStyle/>
                    <a:p>
                      <a:pPr marL="123825">
                        <a:lnSpc>
                          <a:spcPts val="125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first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all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125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also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ts val="125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more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60781">
                <a:tc>
                  <a:txBody>
                    <a:bodyPr/>
                    <a:lstStyle/>
                    <a:p>
                      <a:pPr marL="123825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secondly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likewise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one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reason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60781">
                <a:tc>
                  <a:txBody>
                    <a:bodyPr/>
                    <a:lstStyle/>
                    <a:p>
                      <a:pPr marL="123825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thirdly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next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similarly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60397">
                <a:tc>
                  <a:txBody>
                    <a:bodyPr/>
                    <a:lstStyle/>
                    <a:p>
                      <a:pPr marL="123825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moreover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with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3335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final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reason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60397">
                <a:tc>
                  <a:txBody>
                    <a:bodyPr/>
                    <a:lstStyle/>
                    <a:p>
                      <a:pPr marL="123825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furthermore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other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3335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finally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60788">
                <a:tc>
                  <a:txBody>
                    <a:bodyPr/>
                    <a:lstStyle/>
                    <a:p>
                      <a:pPr marL="123825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what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more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too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3335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last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all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60781">
                <a:tc>
                  <a:txBody>
                    <a:bodyPr/>
                    <a:lstStyle/>
                    <a:p>
                      <a:pPr marL="123825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and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another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36065">
                <a:tc>
                  <a:txBody>
                    <a:bodyPr/>
                    <a:lstStyle/>
                    <a:p>
                      <a:pPr marL="123825">
                        <a:lnSpc>
                          <a:spcPts val="122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again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122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addition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4580" y="342390"/>
            <a:ext cx="174498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 Elementary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41311" y="342390"/>
            <a:ext cx="22669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360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67219" y="9493248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79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972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829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084580" y="865119"/>
            <a:ext cx="449516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Change-of-Direction</a:t>
            </a:r>
            <a:r>
              <a:rPr dirty="0" sz="1100" spc="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Signals</a:t>
            </a:r>
            <a:r>
              <a:rPr dirty="0" sz="1100" spc="25" b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(Like</a:t>
            </a:r>
            <a:r>
              <a:rPr dirty="0" sz="1100" spc="25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contrasts;</a:t>
            </a:r>
            <a:r>
              <a:rPr dirty="0" sz="1100" spc="25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Watch</a:t>
            </a:r>
            <a:r>
              <a:rPr dirty="0" sz="1100" spc="3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out-we're</a:t>
            </a:r>
            <a:r>
              <a:rPr dirty="0" sz="1100" spc="25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doubling</a:t>
            </a:r>
            <a:r>
              <a:rPr dirty="0" sz="1100" spc="2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back.)</a:t>
            </a:r>
            <a:endParaRPr sz="1100">
              <a:latin typeface="Times New Roman"/>
              <a:cs typeface="Times New Roman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1800605" y="1225296"/>
          <a:ext cx="4638675" cy="12763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32890"/>
                <a:gridCol w="1543049"/>
                <a:gridCol w="1534160"/>
              </a:tblGrid>
              <a:tr h="171624">
                <a:tc>
                  <a:txBody>
                    <a:bodyPr/>
                    <a:lstStyle/>
                    <a:p>
                      <a:pPr marL="123189">
                        <a:lnSpc>
                          <a:spcPts val="125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although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125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but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33350">
                        <a:lnSpc>
                          <a:spcPts val="125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conversely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60781">
                <a:tc>
                  <a:txBody>
                    <a:bodyPr/>
                    <a:lstStyle/>
                    <a:p>
                      <a:pPr marL="123189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despite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different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from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3335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even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though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60781">
                <a:tc>
                  <a:txBody>
                    <a:bodyPr/>
                    <a:lstStyle/>
                    <a:p>
                      <a:pPr marL="123189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however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contrast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3335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instead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of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60781">
                <a:tc>
                  <a:txBody>
                    <a:bodyPr/>
                    <a:lstStyle/>
                    <a:p>
                      <a:pPr marL="123189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spite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of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nevertheless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3335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otherwise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60397">
                <a:tc>
                  <a:txBody>
                    <a:bodyPr/>
                    <a:lstStyle/>
                    <a:p>
                      <a:pPr marL="123189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opposite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contrary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3335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other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hand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60404">
                <a:tc>
                  <a:txBody>
                    <a:bodyPr/>
                    <a:lstStyle/>
                    <a:p>
                      <a:pPr marL="123189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rather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still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3335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yet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82529">
                <a:tc>
                  <a:txBody>
                    <a:bodyPr/>
                    <a:lstStyle/>
                    <a:p>
                      <a:pPr marL="123189">
                        <a:lnSpc>
                          <a:spcPts val="122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while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122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though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1084580" y="2657347"/>
            <a:ext cx="297878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Sequence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Signals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(There</a:t>
            </a:r>
            <a:r>
              <a:rPr dirty="0" sz="1100" spc="1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is</a:t>
            </a:r>
            <a:r>
              <a:rPr dirty="0" sz="1100" spc="1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an</a:t>
            </a:r>
            <a:r>
              <a:rPr dirty="0" sz="1100" spc="1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order</a:t>
            </a:r>
            <a:r>
              <a:rPr dirty="0" sz="1100" spc="1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to</a:t>
            </a:r>
            <a:r>
              <a:rPr dirty="0" sz="1100" spc="1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these</a:t>
            </a:r>
            <a:r>
              <a:rPr dirty="0" sz="1100" spc="1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ideas.)</a:t>
            </a:r>
            <a:endParaRPr sz="1100">
              <a:latin typeface="Times New Roman"/>
              <a:cs typeface="Times New Roman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1800605" y="3018282"/>
          <a:ext cx="4638675" cy="17335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05050"/>
                <a:gridCol w="2305050"/>
              </a:tblGrid>
              <a:tr h="171640">
                <a:tc>
                  <a:txBody>
                    <a:bodyPr/>
                    <a:lstStyle/>
                    <a:p>
                      <a:pPr marL="123825">
                        <a:lnSpc>
                          <a:spcPts val="125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first,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second, third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ts val="125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A,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B,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60397">
                <a:tc>
                  <a:txBody>
                    <a:bodyPr/>
                    <a:lstStyle/>
                    <a:p>
                      <a:pPr marL="123825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first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place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one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thing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60397">
                <a:tc>
                  <a:txBody>
                    <a:bodyPr/>
                    <a:lstStyle/>
                    <a:p>
                      <a:pPr marL="123825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next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60781">
                <a:tc>
                  <a:txBody>
                    <a:bodyPr/>
                    <a:lstStyle/>
                    <a:p>
                      <a:pPr marL="123825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before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now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60781">
                <a:tc>
                  <a:txBody>
                    <a:bodyPr/>
                    <a:lstStyle/>
                    <a:p>
                      <a:pPr marL="123825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after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while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60781">
                <a:tc>
                  <a:txBody>
                    <a:bodyPr/>
                    <a:lstStyle/>
                    <a:p>
                      <a:pPr marL="123825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into (far into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 night)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until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60397">
                <a:tc>
                  <a:txBody>
                    <a:bodyPr/>
                    <a:lstStyle/>
                    <a:p>
                      <a:pPr marL="123825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last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during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60397">
                <a:tc>
                  <a:txBody>
                    <a:bodyPr/>
                    <a:lstStyle/>
                    <a:p>
                      <a:pPr marL="123825">
                        <a:lnSpc>
                          <a:spcPts val="1165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since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always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60781">
                <a:tc>
                  <a:txBody>
                    <a:bodyPr/>
                    <a:lstStyle/>
                    <a:p>
                      <a:pPr marL="123825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o'clock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time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58143">
                <a:tc>
                  <a:txBody>
                    <a:bodyPr/>
                    <a:lstStyle/>
                    <a:p>
                      <a:pPr marL="123825">
                        <a:lnSpc>
                          <a:spcPts val="122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later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ts val="122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earlier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1084580" y="4907533"/>
            <a:ext cx="218122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Time Signals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(When</a:t>
            </a:r>
            <a:r>
              <a:rPr dirty="0" sz="1100" spc="5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is</a:t>
            </a:r>
            <a:r>
              <a:rPr dirty="0" sz="110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it</a:t>
            </a:r>
            <a:r>
              <a:rPr dirty="0" sz="110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happening?)</a:t>
            </a:r>
            <a:endParaRPr sz="1100">
              <a:latin typeface="Times New Roman"/>
              <a:cs typeface="Times New Roman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1800605" y="5267705"/>
          <a:ext cx="4638675" cy="76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32890"/>
                <a:gridCol w="1543049"/>
                <a:gridCol w="1534160"/>
              </a:tblGrid>
              <a:tr h="171642">
                <a:tc>
                  <a:txBody>
                    <a:bodyPr/>
                    <a:lstStyle/>
                    <a:p>
                      <a:pPr marL="123825">
                        <a:lnSpc>
                          <a:spcPts val="125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When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125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immediately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33350">
                        <a:lnSpc>
                          <a:spcPts val="125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now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60781">
                <a:tc>
                  <a:txBody>
                    <a:bodyPr/>
                    <a:lstStyle/>
                    <a:p>
                      <a:pPr marL="123825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lately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already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3335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little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little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60781">
                <a:tc>
                  <a:txBody>
                    <a:bodyPr/>
                    <a:lstStyle/>
                    <a:p>
                      <a:pPr marL="123825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at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same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time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final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3335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after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awhile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49745">
                <a:tc>
                  <a:txBody>
                    <a:bodyPr/>
                    <a:lstStyle/>
                    <a:p>
                      <a:pPr marL="123825">
                        <a:lnSpc>
                          <a:spcPts val="122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once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122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during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4" name="object 14"/>
          <p:cNvSpPr txBox="1"/>
          <p:nvPr/>
        </p:nvSpPr>
        <p:spPr>
          <a:xfrm>
            <a:off x="1084580" y="6185407"/>
            <a:ext cx="372173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Illustration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Signals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(Here's</a:t>
            </a:r>
            <a:r>
              <a:rPr dirty="0" sz="1100" spc="2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what</a:t>
            </a:r>
            <a:r>
              <a:rPr dirty="0" sz="1100" spc="15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that</a:t>
            </a:r>
            <a:r>
              <a:rPr dirty="0" sz="1100" spc="1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principle</a:t>
            </a:r>
            <a:r>
              <a:rPr dirty="0" sz="1100" spc="2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means</a:t>
            </a:r>
            <a:r>
              <a:rPr dirty="0" sz="1100" spc="15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in</a:t>
            </a:r>
            <a:r>
              <a:rPr dirty="0" sz="1100" spc="15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reality.)</a:t>
            </a:r>
            <a:endParaRPr sz="1100">
              <a:latin typeface="Times New Roman"/>
              <a:cs typeface="Times New Roman"/>
            </a:endParaRPr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1800605" y="6546342"/>
          <a:ext cx="4638675" cy="8191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05050"/>
                <a:gridCol w="2305050"/>
              </a:tblGrid>
              <a:tr h="171640">
                <a:tc>
                  <a:txBody>
                    <a:bodyPr/>
                    <a:lstStyle/>
                    <a:p>
                      <a:pPr marL="123825">
                        <a:lnSpc>
                          <a:spcPts val="125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example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04775">
                        <a:lnSpc>
                          <a:spcPts val="125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specifically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60397">
                <a:tc>
                  <a:txBody>
                    <a:bodyPr/>
                    <a:lstStyle/>
                    <a:p>
                      <a:pPr marL="123825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instance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04775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illustrate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60397">
                <a:tc>
                  <a:txBody>
                    <a:bodyPr/>
                    <a:lstStyle/>
                    <a:p>
                      <a:pPr marL="123825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such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04775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much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like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07664">
                <a:tc>
                  <a:txBody>
                    <a:bodyPr/>
                    <a:lstStyle/>
                    <a:p>
                      <a:pPr marL="123825">
                        <a:lnSpc>
                          <a:spcPts val="122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same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way as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4775">
                        <a:lnSpc>
                          <a:spcPts val="122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similar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to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7380" y="342390"/>
            <a:ext cx="174498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 Elementary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84111" y="342390"/>
            <a:ext cx="22669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788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10019" y="9493248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80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400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257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27380" y="864367"/>
            <a:ext cx="218884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Emphasis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Signals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</a:t>
            </a:r>
            <a:r>
              <a:rPr dirty="0" sz="1100" spc="-5" i="1">
                <a:latin typeface="Times New Roman"/>
                <a:cs typeface="Times New Roman"/>
              </a:rPr>
              <a:t>This</a:t>
            </a:r>
            <a:r>
              <a:rPr dirty="0" sz="1100" spc="1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is important.)</a:t>
            </a:r>
            <a:endParaRPr sz="1100">
              <a:latin typeface="Times New Roman"/>
              <a:cs typeface="Times New Roman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1280922" y="1225296"/>
          <a:ext cx="4762500" cy="23050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7280"/>
                <a:gridCol w="2366010"/>
              </a:tblGrid>
              <a:tr h="171645">
                <a:tc>
                  <a:txBody>
                    <a:bodyPr/>
                    <a:lstStyle/>
                    <a:p>
                      <a:pPr marL="123189">
                        <a:lnSpc>
                          <a:spcPts val="125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major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development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ts val="125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all boils down to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60781">
                <a:tc>
                  <a:txBody>
                    <a:bodyPr/>
                    <a:lstStyle/>
                    <a:p>
                      <a:pPr marL="123189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significant factor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most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all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60781">
                <a:tc>
                  <a:txBody>
                    <a:bodyPr/>
                    <a:lstStyle/>
                    <a:p>
                      <a:pPr marL="123189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primary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concern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most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noteworthy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60781">
                <a:tc>
                  <a:txBody>
                    <a:bodyPr/>
                    <a:lstStyle/>
                    <a:p>
                      <a:pPr marL="123189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key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feature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more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than anything else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60397">
                <a:tc>
                  <a:txBody>
                    <a:bodyPr/>
                    <a:lstStyle/>
                    <a:p>
                      <a:pPr marL="123189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major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event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course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60397">
                <a:tc>
                  <a:txBody>
                    <a:bodyPr/>
                    <a:lstStyle/>
                    <a:p>
                      <a:pPr marL="123189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vital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force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pay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particular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attention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to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60781">
                <a:tc>
                  <a:txBody>
                    <a:bodyPr/>
                    <a:lstStyle/>
                    <a:p>
                      <a:pPr marL="123189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central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issue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remember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that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60781">
                <a:tc>
                  <a:txBody>
                    <a:bodyPr/>
                    <a:lstStyle/>
                    <a:p>
                      <a:pPr marL="123189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distinctive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quality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should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noted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60781">
                <a:tc>
                  <a:txBody>
                    <a:bodyPr/>
                    <a:lstStyle/>
                    <a:p>
                      <a:pPr marL="123189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above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all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 most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substantial issue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60397">
                <a:tc>
                  <a:txBody>
                    <a:bodyPr/>
                    <a:lstStyle/>
                    <a:p>
                      <a:pPr marL="123189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way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main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value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60397">
                <a:tc>
                  <a:txBody>
                    <a:bodyPr/>
                    <a:lstStyle/>
                    <a:p>
                      <a:pPr marL="123189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especially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important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basic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concept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60781">
                <a:tc>
                  <a:txBody>
                    <a:bodyPr/>
                    <a:lstStyle/>
                    <a:p>
                      <a:pPr marL="123189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especially relevant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crux of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 matter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60781">
                <a:tc>
                  <a:txBody>
                    <a:bodyPr/>
                    <a:lstStyle/>
                    <a:p>
                      <a:pPr marL="123189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especially valuable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chief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outcome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6513">
                <a:tc>
                  <a:txBody>
                    <a:bodyPr/>
                    <a:lstStyle/>
                    <a:p>
                      <a:pPr marL="123189">
                        <a:lnSpc>
                          <a:spcPts val="122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important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note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ts val="122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principal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item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627380" y="3686047"/>
            <a:ext cx="450786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Cause,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Condition,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or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Result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Signals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(Condition</a:t>
            </a:r>
            <a:r>
              <a:rPr dirty="0" sz="1100" spc="15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or</a:t>
            </a:r>
            <a:r>
              <a:rPr dirty="0" sz="1100" spc="1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modification</a:t>
            </a:r>
            <a:r>
              <a:rPr dirty="0" sz="1100" spc="1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is</a:t>
            </a:r>
            <a:r>
              <a:rPr dirty="0" sz="1100" spc="15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coming</a:t>
            </a:r>
            <a:r>
              <a:rPr dirty="0" sz="1100" spc="15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up.)</a:t>
            </a:r>
            <a:endParaRPr sz="1100">
              <a:latin typeface="Times New Roman"/>
              <a:cs typeface="Times New Roman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1343405" y="4046982"/>
          <a:ext cx="4638675" cy="1447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32890"/>
                <a:gridCol w="1543049"/>
                <a:gridCol w="1534160"/>
              </a:tblGrid>
              <a:tr h="171633">
                <a:tc>
                  <a:txBody>
                    <a:bodyPr/>
                    <a:lstStyle/>
                    <a:p>
                      <a:pPr marL="128270">
                        <a:lnSpc>
                          <a:spcPts val="1250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because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25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if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25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of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60397">
                <a:tc>
                  <a:txBody>
                    <a:bodyPr/>
                    <a:lstStyle/>
                    <a:p>
                      <a:pPr marL="12827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for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from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so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60397">
                <a:tc>
                  <a:txBody>
                    <a:bodyPr/>
                    <a:lstStyle/>
                    <a:p>
                      <a:pPr marL="12827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while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but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60781">
                <a:tc>
                  <a:txBody>
                    <a:bodyPr/>
                    <a:lstStyle/>
                    <a:p>
                      <a:pPr marL="12827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that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until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165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since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60781">
                <a:tc>
                  <a:txBody>
                    <a:bodyPr/>
                    <a:lstStyle/>
                    <a:p>
                      <a:pPr marL="128270">
                        <a:lnSpc>
                          <a:spcPts val="1165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as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whether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order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that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60781">
                <a:tc>
                  <a:txBody>
                    <a:bodyPr/>
                    <a:lstStyle/>
                    <a:p>
                      <a:pPr marL="12827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so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that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therefore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unless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60397">
                <a:tc>
                  <a:txBody>
                    <a:bodyPr/>
                    <a:lstStyle/>
                    <a:p>
                      <a:pPr marL="12827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yet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thus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due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to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93579">
                <a:tc>
                  <a:txBody>
                    <a:bodyPr/>
                    <a:lstStyle/>
                    <a:p>
                      <a:pPr marL="128270">
                        <a:lnSpc>
                          <a:spcPts val="122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resulting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from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22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consequently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22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without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627380" y="5650483"/>
            <a:ext cx="301117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Spatial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Signals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(This</a:t>
            </a:r>
            <a:r>
              <a:rPr dirty="0" sz="1100" spc="15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answers</a:t>
            </a:r>
            <a:r>
              <a:rPr dirty="0" sz="1100" spc="1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the</a:t>
            </a:r>
            <a:r>
              <a:rPr dirty="0" sz="1100" spc="1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"where"</a:t>
            </a:r>
            <a:r>
              <a:rPr dirty="0" sz="1100" spc="15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question.)</a:t>
            </a:r>
            <a:endParaRPr sz="1100">
              <a:latin typeface="Times New Roman"/>
              <a:cs typeface="Times New Roman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1343405" y="6010655"/>
          <a:ext cx="4638675" cy="17792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6940"/>
                <a:gridCol w="925195"/>
                <a:gridCol w="925830"/>
                <a:gridCol w="924559"/>
                <a:gridCol w="918210"/>
              </a:tblGrid>
              <a:tr h="171614">
                <a:tc>
                  <a:txBody>
                    <a:bodyPr/>
                    <a:lstStyle/>
                    <a:p>
                      <a:pPr marL="128270">
                        <a:lnSpc>
                          <a:spcPts val="125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between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25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below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25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about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25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left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25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alongside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60781">
                <a:tc>
                  <a:txBody>
                    <a:bodyPr/>
                    <a:lstStyle/>
                    <a:p>
                      <a:pPr marL="12827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here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outside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around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close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to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165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far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60788">
                <a:tc>
                  <a:txBody>
                    <a:bodyPr/>
                    <a:lstStyle/>
                    <a:p>
                      <a:pPr marL="12827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right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over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165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away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side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near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60781">
                <a:tc>
                  <a:txBody>
                    <a:bodyPr/>
                    <a:lstStyle/>
                    <a:p>
                      <a:pPr marL="12827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near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into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beside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60397">
                <a:tc>
                  <a:txBody>
                    <a:bodyPr/>
                    <a:lstStyle/>
                    <a:p>
                      <a:pPr marL="12827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middle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next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to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beyond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north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60397">
                <a:tc>
                  <a:txBody>
                    <a:bodyPr/>
                    <a:lstStyle/>
                    <a:p>
                      <a:pPr marL="128270">
                        <a:lnSpc>
                          <a:spcPts val="1165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east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opposite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over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60781">
                <a:tc>
                  <a:txBody>
                    <a:bodyPr/>
                    <a:lstStyle/>
                    <a:p>
                      <a:pPr marL="12827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south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there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inside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front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of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60781">
                <a:tc>
                  <a:txBody>
                    <a:bodyPr/>
                    <a:lstStyle/>
                    <a:p>
                      <a:pPr marL="12827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under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these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out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behind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60781">
                <a:tc>
                  <a:txBody>
                    <a:bodyPr/>
                    <a:lstStyle/>
                    <a:p>
                      <a:pPr marL="128270">
                        <a:lnSpc>
                          <a:spcPts val="1165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across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this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adjacent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above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03115">
                <a:tc>
                  <a:txBody>
                    <a:bodyPr/>
                    <a:lstStyle/>
                    <a:p>
                      <a:pPr marL="128270">
                        <a:lnSpc>
                          <a:spcPts val="122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toward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225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west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225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by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22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upon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4580" y="342390"/>
            <a:ext cx="174498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 Elementary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41311" y="342390"/>
            <a:ext cx="22669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360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67219" y="9493248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81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972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829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084580" y="865119"/>
            <a:ext cx="424307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Comparison-Contrast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Signals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(We</a:t>
            </a:r>
            <a:r>
              <a:rPr dirty="0" sz="1100" spc="1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will</a:t>
            </a:r>
            <a:r>
              <a:rPr dirty="0" sz="1100" spc="15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now</a:t>
            </a:r>
            <a:r>
              <a:rPr dirty="0" sz="1100" spc="1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compare</a:t>
            </a:r>
            <a:r>
              <a:rPr dirty="0" sz="1100" spc="1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idea</a:t>
            </a:r>
            <a:r>
              <a:rPr dirty="0" sz="1100" spc="15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A</a:t>
            </a:r>
            <a:r>
              <a:rPr dirty="0" sz="1100" spc="1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with</a:t>
            </a:r>
            <a:r>
              <a:rPr dirty="0" sz="1100" spc="5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idea</a:t>
            </a:r>
            <a:r>
              <a:rPr dirty="0" sz="1100" spc="15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B.)</a:t>
            </a:r>
            <a:endParaRPr sz="1100">
              <a:latin typeface="Times New Roman"/>
              <a:cs typeface="Times New Roman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1800605" y="1225296"/>
          <a:ext cx="4638675" cy="17335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32890"/>
                <a:gridCol w="1543049"/>
                <a:gridCol w="1534160"/>
              </a:tblGrid>
              <a:tr h="171624">
                <a:tc>
                  <a:txBody>
                    <a:bodyPr/>
                    <a:lstStyle/>
                    <a:p>
                      <a:pPr marL="128270">
                        <a:lnSpc>
                          <a:spcPts val="125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and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25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25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also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60781">
                <a:tc>
                  <a:txBody>
                    <a:bodyPr/>
                    <a:lstStyle/>
                    <a:p>
                      <a:pPr marL="12827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too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best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most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60781">
                <a:tc>
                  <a:txBody>
                    <a:bodyPr/>
                    <a:lstStyle/>
                    <a:p>
                      <a:pPr marL="12827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either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165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less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less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than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60781">
                <a:tc>
                  <a:txBody>
                    <a:bodyPr/>
                    <a:lstStyle/>
                    <a:p>
                      <a:pPr marL="12827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more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than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same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better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60397">
                <a:tc>
                  <a:txBody>
                    <a:bodyPr/>
                    <a:lstStyle/>
                    <a:p>
                      <a:pPr marL="12827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even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half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60397">
                <a:tc>
                  <a:txBody>
                    <a:bodyPr/>
                    <a:lstStyle/>
                    <a:p>
                      <a:pPr marL="12827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much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like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analogous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to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60781">
                <a:tc>
                  <a:txBody>
                    <a:bodyPr/>
                    <a:lstStyle/>
                    <a:p>
                      <a:pPr marL="12827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but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different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from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still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60781">
                <a:tc>
                  <a:txBody>
                    <a:bodyPr/>
                    <a:lstStyle/>
                    <a:p>
                      <a:pPr marL="12827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yet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however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although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60795">
                <a:tc>
                  <a:txBody>
                    <a:bodyPr/>
                    <a:lstStyle/>
                    <a:p>
                      <a:pPr marL="12827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opposite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rather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while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57378">
                <a:tc>
                  <a:txBody>
                    <a:bodyPr/>
                    <a:lstStyle/>
                    <a:p>
                      <a:pPr marL="128270">
                        <a:lnSpc>
                          <a:spcPts val="122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though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1084580" y="3114547"/>
            <a:ext cx="458470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Conclusion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Signals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(This</a:t>
            </a:r>
            <a:r>
              <a:rPr dirty="0" sz="1100" spc="5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ends</a:t>
            </a:r>
            <a:r>
              <a:rPr dirty="0" sz="1100" spc="15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the</a:t>
            </a:r>
            <a:r>
              <a:rPr dirty="0" sz="1100" spc="15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discussion</a:t>
            </a:r>
            <a:r>
              <a:rPr dirty="0" sz="1100" spc="15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and</a:t>
            </a:r>
            <a:r>
              <a:rPr dirty="0" sz="1100" spc="15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may</a:t>
            </a:r>
            <a:r>
              <a:rPr dirty="0" sz="1100" spc="15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have</a:t>
            </a:r>
            <a:r>
              <a:rPr dirty="0" sz="1100" spc="15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special</a:t>
            </a:r>
            <a:r>
              <a:rPr dirty="0" sz="1100" spc="15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importance.)</a:t>
            </a:r>
            <a:endParaRPr sz="1100">
              <a:latin typeface="Times New Roman"/>
              <a:cs typeface="Times New Roman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1800605" y="3475482"/>
          <a:ext cx="4638675" cy="11620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05050"/>
                <a:gridCol w="2305050"/>
              </a:tblGrid>
              <a:tr h="171640">
                <a:tc>
                  <a:txBody>
                    <a:bodyPr/>
                    <a:lstStyle/>
                    <a:p>
                      <a:pPr marL="128270">
                        <a:lnSpc>
                          <a:spcPts val="125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as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result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25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finally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60397">
                <a:tc>
                  <a:txBody>
                    <a:bodyPr/>
                    <a:lstStyle/>
                    <a:p>
                      <a:pPr marL="12827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this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we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see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summary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60404">
                <a:tc>
                  <a:txBody>
                    <a:bodyPr/>
                    <a:lstStyle/>
                    <a:p>
                      <a:pPr marL="12827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hence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therefore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60781">
                <a:tc>
                  <a:txBody>
                    <a:bodyPr/>
                    <a:lstStyle/>
                    <a:p>
                      <a:pPr marL="11430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consequently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60781">
                <a:tc>
                  <a:txBody>
                    <a:bodyPr/>
                    <a:lstStyle/>
                    <a:p>
                      <a:pPr marL="11430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conclusion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28994">
                <a:tc>
                  <a:txBody>
                    <a:bodyPr/>
                    <a:lstStyle/>
                    <a:p>
                      <a:pPr marL="114300">
                        <a:lnSpc>
                          <a:spcPts val="122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last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all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1084580" y="4793233"/>
            <a:ext cx="516255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Fuzz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Signals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(Idea</a:t>
            </a:r>
            <a:r>
              <a:rPr dirty="0" sz="1100" spc="1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is</a:t>
            </a:r>
            <a:r>
              <a:rPr dirty="0" sz="1100" spc="1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not</a:t>
            </a:r>
            <a:r>
              <a:rPr dirty="0" sz="1100" spc="15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exact,</a:t>
            </a:r>
            <a:r>
              <a:rPr dirty="0" sz="1100" spc="1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or</a:t>
            </a:r>
            <a:r>
              <a:rPr dirty="0" sz="1100" spc="1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author</a:t>
            </a:r>
            <a:r>
              <a:rPr dirty="0" sz="1100" spc="1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is</a:t>
            </a:r>
            <a:r>
              <a:rPr dirty="0" sz="1100" spc="15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not</a:t>
            </a:r>
            <a:r>
              <a:rPr dirty="0" sz="1100" spc="5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positive</a:t>
            </a:r>
            <a:r>
              <a:rPr dirty="0" sz="1100" spc="1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and</a:t>
            </a:r>
            <a:r>
              <a:rPr dirty="0" sz="1100" spc="1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wishes</a:t>
            </a:r>
            <a:r>
              <a:rPr dirty="0" sz="1100" spc="15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to</a:t>
            </a:r>
            <a:r>
              <a:rPr dirty="0" sz="1100" spc="1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qualify</a:t>
            </a:r>
            <a:r>
              <a:rPr dirty="0" sz="1100" spc="1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a</a:t>
            </a:r>
            <a:r>
              <a:rPr dirty="0" sz="1100" spc="1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statement.)</a:t>
            </a:r>
            <a:endParaRPr sz="1100">
              <a:latin typeface="Times New Roman"/>
              <a:cs typeface="Times New Roman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1800605" y="5154167"/>
          <a:ext cx="4638675" cy="10934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32890"/>
                <a:gridCol w="1543049"/>
                <a:gridCol w="1534160"/>
              </a:tblGrid>
              <a:tr h="171633">
                <a:tc>
                  <a:txBody>
                    <a:bodyPr/>
                    <a:lstStyle/>
                    <a:p>
                      <a:pPr marL="128270">
                        <a:lnSpc>
                          <a:spcPts val="125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almost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25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if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25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looks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like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60781">
                <a:tc>
                  <a:txBody>
                    <a:bodyPr/>
                    <a:lstStyle/>
                    <a:p>
                      <a:pPr marL="12827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maybe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could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some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60397">
                <a:tc>
                  <a:txBody>
                    <a:bodyPr/>
                    <a:lstStyle/>
                    <a:p>
                      <a:pPr marL="12827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except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should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alleged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60397">
                <a:tc>
                  <a:txBody>
                    <a:bodyPr/>
                    <a:lstStyle/>
                    <a:p>
                      <a:pPr marL="12827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nearly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might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reputed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60788">
                <a:tc>
                  <a:txBody>
                    <a:bodyPr/>
                    <a:lstStyle/>
                    <a:p>
                      <a:pPr marL="12827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seems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like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was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reported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purported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60421">
                <a:tc>
                  <a:txBody>
                    <a:bodyPr/>
                    <a:lstStyle/>
                    <a:p>
                      <a:pPr marL="128270">
                        <a:lnSpc>
                          <a:spcPts val="122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sort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of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22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probably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4" name="object 14"/>
          <p:cNvSpPr txBox="1"/>
          <p:nvPr/>
        </p:nvSpPr>
        <p:spPr>
          <a:xfrm>
            <a:off x="1084580" y="6403338"/>
            <a:ext cx="2201545" cy="27997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Non word Emphasis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Signals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Times New Roman"/>
              <a:cs typeface="Times New Roman"/>
            </a:endParaRPr>
          </a:p>
          <a:p>
            <a:pPr marL="469265" indent="-229235">
              <a:lnSpc>
                <a:spcPct val="100000"/>
              </a:lnSpc>
              <a:spcBef>
                <a:spcPts val="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Exclamation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point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(!)</a:t>
            </a:r>
            <a:endParaRPr sz="1100">
              <a:latin typeface="Times New Roman"/>
              <a:cs typeface="Times New Roman"/>
            </a:endParaRPr>
          </a:p>
          <a:p>
            <a:pPr marL="469265" indent="-229235">
              <a:lnSpc>
                <a:spcPct val="100000"/>
              </a:lnSpc>
              <a:spcBef>
                <a:spcPts val="66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underline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66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 i="1">
                <a:latin typeface="Times New Roman"/>
                <a:cs typeface="Times New Roman"/>
              </a:rPr>
              <a:t>italics</a:t>
            </a:r>
            <a:endParaRPr sz="11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66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bold</a:t>
            </a:r>
            <a:r>
              <a:rPr dirty="0" sz="1100" spc="-3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type</a:t>
            </a:r>
            <a:endParaRPr sz="1100">
              <a:latin typeface="Times New Roman"/>
              <a:cs typeface="Times New Roman"/>
            </a:endParaRPr>
          </a:p>
          <a:p>
            <a:pPr marL="469265" indent="-229235">
              <a:lnSpc>
                <a:spcPct val="100000"/>
              </a:lnSpc>
              <a:spcBef>
                <a:spcPts val="64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subheads,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like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The</a:t>
            </a:r>
            <a:r>
              <a:rPr dirty="0" sz="1100" spc="5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Conclusion</a:t>
            </a:r>
            <a:endParaRPr sz="1100">
              <a:latin typeface="Times New Roman"/>
              <a:cs typeface="Times New Roman"/>
            </a:endParaRPr>
          </a:p>
          <a:p>
            <a:pPr marL="469265" indent="-229235">
              <a:lnSpc>
                <a:spcPct val="100000"/>
              </a:lnSpc>
              <a:spcBef>
                <a:spcPts val="65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indentation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paragraph</a:t>
            </a:r>
            <a:endParaRPr sz="1100">
              <a:latin typeface="Times New Roman"/>
              <a:cs typeface="Times New Roman"/>
            </a:endParaRPr>
          </a:p>
          <a:p>
            <a:pPr marL="469265" indent="-229235">
              <a:lnSpc>
                <a:spcPct val="100000"/>
              </a:lnSpc>
              <a:spcBef>
                <a:spcPts val="66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graphic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illustrations</a:t>
            </a:r>
            <a:endParaRPr sz="1100">
              <a:latin typeface="Times New Roman"/>
              <a:cs typeface="Times New Roman"/>
            </a:endParaRPr>
          </a:p>
          <a:p>
            <a:pPr marL="469265" indent="-229235">
              <a:lnSpc>
                <a:spcPct val="100000"/>
              </a:lnSpc>
              <a:spcBef>
                <a:spcPts val="65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numbered points (1, 2,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3)</a:t>
            </a:r>
            <a:endParaRPr sz="1100">
              <a:latin typeface="Times New Roman"/>
              <a:cs typeface="Times New Roman"/>
            </a:endParaRPr>
          </a:p>
          <a:p>
            <a:pPr marL="469265" indent="-229235">
              <a:lnSpc>
                <a:spcPct val="100000"/>
              </a:lnSpc>
              <a:spcBef>
                <a:spcPts val="66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Very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short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sentence: </a:t>
            </a:r>
            <a:r>
              <a:rPr dirty="0" sz="1100" spc="-5" i="1">
                <a:latin typeface="Times New Roman"/>
                <a:cs typeface="Times New Roman"/>
              </a:rPr>
              <a:t>Stop</a:t>
            </a:r>
            <a:r>
              <a:rPr dirty="0" sz="110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war.</a:t>
            </a:r>
            <a:endParaRPr sz="1100">
              <a:latin typeface="Times New Roman"/>
              <a:cs typeface="Times New Roman"/>
            </a:endParaRPr>
          </a:p>
          <a:p>
            <a:pPr marL="469265" indent="-229235">
              <a:lnSpc>
                <a:spcPct val="100000"/>
              </a:lnSpc>
              <a:spcBef>
                <a:spcPts val="65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"quotation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marks"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7380" y="342390"/>
            <a:ext cx="174498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 Elementary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84111" y="342390"/>
            <a:ext cx="22669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788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10019" y="9493248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82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400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257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27380" y="945891"/>
            <a:ext cx="6061710" cy="33407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Practice </a:t>
            </a:r>
            <a:r>
              <a:rPr dirty="0" sz="1100" b="1">
                <a:latin typeface="Times New Roman"/>
                <a:cs typeface="Times New Roman"/>
              </a:rPr>
              <a:t>with</a:t>
            </a:r>
            <a:r>
              <a:rPr dirty="0" sz="1100" spc="-5" b="1">
                <a:latin typeface="Times New Roman"/>
                <a:cs typeface="Times New Roman"/>
              </a:rPr>
              <a:t> signal words: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700">
              <a:latin typeface="Times New Roman"/>
              <a:cs typeface="Times New Roman"/>
            </a:endParaRPr>
          </a:p>
          <a:p>
            <a:pPr algn="just" marL="12700">
              <a:lnSpc>
                <a:spcPts val="1295"/>
              </a:lnSpc>
            </a:pPr>
            <a:r>
              <a:rPr dirty="0" sz="1100" spc="-5">
                <a:latin typeface="Times New Roman"/>
                <a:cs typeface="Times New Roman"/>
              </a:rPr>
              <a:t>Example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1:</a:t>
            </a:r>
            <a:endParaRPr sz="1100">
              <a:latin typeface="Times New Roman"/>
              <a:cs typeface="Times New Roman"/>
            </a:endParaRPr>
          </a:p>
          <a:p>
            <a:pPr algn="just" marL="12700" marR="5715" indent="457200">
              <a:lnSpc>
                <a:spcPct val="95800"/>
              </a:lnSpc>
              <a:spcBef>
                <a:spcPts val="25"/>
              </a:spcBef>
            </a:pPr>
            <a:r>
              <a:rPr dirty="0" sz="1100" spc="-5">
                <a:latin typeface="Times New Roman"/>
                <a:cs typeface="Times New Roman"/>
              </a:rPr>
              <a:t>Creative thinking usually involves five </a:t>
            </a:r>
            <a:r>
              <a:rPr dirty="0" sz="1100" spc="-5" b="1">
                <a:latin typeface="Times New Roman"/>
                <a:cs typeface="Times New Roman"/>
              </a:rPr>
              <a:t>stages (classification)</a:t>
            </a:r>
            <a:r>
              <a:rPr dirty="0" sz="1100" spc="-5">
                <a:latin typeface="Times New Roman"/>
                <a:cs typeface="Times New Roman"/>
              </a:rPr>
              <a:t>. </a:t>
            </a:r>
            <a:r>
              <a:rPr dirty="0" sz="1100" spc="-5" b="1">
                <a:latin typeface="Times New Roman"/>
                <a:cs typeface="Times New Roman"/>
              </a:rPr>
              <a:t>First (sequence), </a:t>
            </a:r>
            <a:r>
              <a:rPr dirty="0" sz="1100" spc="-5">
                <a:latin typeface="Times New Roman"/>
                <a:cs typeface="Times New Roman"/>
              </a:rPr>
              <a:t>the problem is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defined.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Second</a:t>
            </a:r>
            <a:r>
              <a:rPr dirty="0" sz="1100" spc="14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(sequence)</a:t>
            </a:r>
            <a:r>
              <a:rPr dirty="0" sz="1100" spc="-5">
                <a:latin typeface="Times New Roman"/>
                <a:cs typeface="Times New Roman"/>
              </a:rPr>
              <a:t>,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creative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thinkers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saturate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themselves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much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information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find.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Then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(sequence)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incubation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stage.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Next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(sequence)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problem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solving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moves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unconscious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level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mind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ponders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different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possible,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even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impossible,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solutions.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incubation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stage (classification) </a:t>
            </a:r>
            <a:r>
              <a:rPr dirty="0" sz="1100" spc="-5">
                <a:latin typeface="Times New Roman"/>
                <a:cs typeface="Times New Roman"/>
              </a:rPr>
              <a:t>is </a:t>
            </a:r>
            <a:r>
              <a:rPr dirty="0" sz="1100" spc="-5" b="1">
                <a:latin typeface="Times New Roman"/>
                <a:cs typeface="Times New Roman"/>
              </a:rPr>
              <a:t>followed by (sequence) </a:t>
            </a:r>
            <a:r>
              <a:rPr dirty="0" sz="1100" spc="-5">
                <a:latin typeface="Times New Roman"/>
                <a:cs typeface="Times New Roman"/>
              </a:rPr>
              <a:t>illumination. By illumination, </a:t>
            </a:r>
            <a:r>
              <a:rPr dirty="0" sz="1100" spc="-5" b="1">
                <a:latin typeface="Times New Roman"/>
                <a:cs typeface="Times New Roman"/>
              </a:rPr>
              <a:t>we refer to (definition) </a:t>
            </a:r>
            <a:r>
              <a:rPr dirty="0" sz="1100" spc="-5">
                <a:latin typeface="Times New Roman"/>
                <a:cs typeface="Times New Roman"/>
              </a:rPr>
              <a:t>a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period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sudden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understanding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insight.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Finally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(sequence)</a:t>
            </a:r>
            <a:r>
              <a:rPr dirty="0" sz="1100" spc="-5">
                <a:latin typeface="Times New Roman"/>
                <a:cs typeface="Times New Roman"/>
              </a:rPr>
              <a:t>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verification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stage,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solutions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answers</a:t>
            </a:r>
            <a:r>
              <a:rPr dirty="0" sz="1100">
                <a:latin typeface="Times New Roman"/>
                <a:cs typeface="Times New Roman"/>
              </a:rPr>
              <a:t> are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critically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evaluated. </a:t>
            </a:r>
            <a:r>
              <a:rPr dirty="0" sz="1100" spc="-5" b="1">
                <a:latin typeface="Times New Roman"/>
                <a:cs typeface="Times New Roman"/>
              </a:rPr>
              <a:t>(9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signal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words)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 algn="just" marL="12700">
              <a:lnSpc>
                <a:spcPts val="1295"/>
              </a:lnSpc>
            </a:pPr>
            <a:r>
              <a:rPr dirty="0" sz="1100" spc="-5">
                <a:latin typeface="Times New Roman"/>
                <a:cs typeface="Times New Roman"/>
              </a:rPr>
              <a:t>Example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2:</a:t>
            </a:r>
            <a:endParaRPr sz="110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95800"/>
              </a:lnSpc>
              <a:spcBef>
                <a:spcPts val="30"/>
              </a:spcBef>
            </a:pPr>
            <a:r>
              <a:rPr dirty="0" sz="1100" spc="-5">
                <a:latin typeface="Times New Roman"/>
                <a:cs typeface="Times New Roman"/>
              </a:rPr>
              <a:t>If we study a child’s handwriting, certain personality </a:t>
            </a:r>
            <a:r>
              <a:rPr dirty="0" sz="1100" spc="-5" b="1">
                <a:latin typeface="Times New Roman"/>
                <a:cs typeface="Times New Roman"/>
              </a:rPr>
              <a:t>types (classification) </a:t>
            </a:r>
            <a:r>
              <a:rPr dirty="0" sz="1100" spc="-5">
                <a:latin typeface="Times New Roman"/>
                <a:cs typeface="Times New Roman"/>
              </a:rPr>
              <a:t>are revealed. </a:t>
            </a:r>
            <a:r>
              <a:rPr dirty="0" sz="1100" spc="-5" b="1">
                <a:latin typeface="Times New Roman"/>
                <a:cs typeface="Times New Roman"/>
              </a:rPr>
              <a:t>First 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(sequence)</a:t>
            </a:r>
            <a:r>
              <a:rPr dirty="0" sz="1100" spc="-5">
                <a:latin typeface="Times New Roman"/>
                <a:cs typeface="Times New Roman"/>
              </a:rPr>
              <a:t>, if children have handwriting that is slanted only a little to the right or is straight up and down,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moderate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temperament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good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judgment.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type</a:t>
            </a:r>
            <a:r>
              <a:rPr dirty="0" sz="1100" spc="26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(classification)</a:t>
            </a:r>
            <a:r>
              <a:rPr dirty="0" sz="1100" spc="26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usually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affectionate and sharing. </a:t>
            </a:r>
            <a:r>
              <a:rPr dirty="0" sz="1100" spc="-10" b="1">
                <a:latin typeface="Times New Roman"/>
                <a:cs typeface="Times New Roman"/>
              </a:rPr>
              <a:t>Second </a:t>
            </a:r>
            <a:r>
              <a:rPr dirty="0" sz="1100" spc="-5" b="1">
                <a:latin typeface="Times New Roman"/>
                <a:cs typeface="Times New Roman"/>
              </a:rPr>
              <a:t>(sequence)</a:t>
            </a:r>
            <a:r>
              <a:rPr dirty="0" sz="1100" spc="-5">
                <a:latin typeface="Times New Roman"/>
                <a:cs typeface="Times New Roman"/>
              </a:rPr>
              <a:t>, if the handwriting slants to the far right, they are usually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emotional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children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react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quickly.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quick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responses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often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negative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responses.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third </a:t>
            </a:r>
            <a:r>
              <a:rPr dirty="0" sz="1100" spc="-26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(sequence) </a:t>
            </a:r>
            <a:r>
              <a:rPr dirty="0" sz="1100" b="1">
                <a:latin typeface="Times New Roman"/>
                <a:cs typeface="Times New Roman"/>
              </a:rPr>
              <a:t>type </a:t>
            </a:r>
            <a:r>
              <a:rPr dirty="0" sz="1100" spc="-5" b="1">
                <a:latin typeface="Times New Roman"/>
                <a:cs typeface="Times New Roman"/>
              </a:rPr>
              <a:t>(classification)</a:t>
            </a:r>
            <a:r>
              <a:rPr dirty="0" sz="1100" spc="-5">
                <a:latin typeface="Times New Roman"/>
                <a:cs typeface="Times New Roman"/>
              </a:rPr>
              <a:t>, children who write with a backhand slant, are very logical, unemotional,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sometimes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very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insecure.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Therefore</a:t>
            </a:r>
            <a:r>
              <a:rPr dirty="0" sz="1100" spc="18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(stop)</a:t>
            </a:r>
            <a:r>
              <a:rPr dirty="0" sz="1100" spc="-5">
                <a:latin typeface="Times New Roman"/>
                <a:cs typeface="Times New Roman"/>
              </a:rPr>
              <a:t>,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seems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revolve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around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themselves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rather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around friends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loved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ones. </a:t>
            </a:r>
            <a:r>
              <a:rPr dirty="0" sz="1100" spc="-5" b="1">
                <a:latin typeface="Times New Roman"/>
                <a:cs typeface="Times New Roman"/>
              </a:rPr>
              <a:t>(7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signal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words)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7421" y="4416019"/>
            <a:ext cx="1531620" cy="3524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285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Exercise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on signal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words.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85"/>
              </a:lnSpc>
            </a:pPr>
            <a:r>
              <a:rPr dirty="0" sz="1100" spc="-5">
                <a:latin typeface="Times New Roman"/>
                <a:cs typeface="Times New Roman"/>
              </a:rPr>
              <a:t>Do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 have been asked.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41725" y="4663369"/>
            <a:ext cx="4065904" cy="74866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Make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sentences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using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conjunction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"because":</a:t>
            </a:r>
            <a:endParaRPr sz="1100">
              <a:latin typeface="Times New Roman"/>
              <a:cs typeface="Times New Roman"/>
            </a:endParaRPr>
          </a:p>
          <a:p>
            <a:pPr lvl="1" marL="812800" indent="-229235">
              <a:lnSpc>
                <a:spcPct val="100000"/>
              </a:lnSpc>
              <a:spcBef>
                <a:spcPts val="575"/>
              </a:spcBef>
              <a:buAutoNum type="alphaLcParenR"/>
              <a:tabLst>
                <a:tab pos="813435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Harrison’s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party.</a:t>
            </a:r>
            <a:endParaRPr sz="1100">
              <a:latin typeface="Times New Roman"/>
              <a:cs typeface="Times New Roman"/>
            </a:endParaRPr>
          </a:p>
          <a:p>
            <a:pPr lvl="1" marL="812800" indent="-229235">
              <a:lnSpc>
                <a:spcPct val="100000"/>
              </a:lnSpc>
              <a:spcBef>
                <a:spcPts val="585"/>
              </a:spcBef>
              <a:buAutoNum type="alphaLcParenR"/>
              <a:tabLst>
                <a:tab pos="813435" algn="l"/>
              </a:tabLst>
            </a:pP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daughter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getting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engaged.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41694" y="5547289"/>
            <a:ext cx="3909695" cy="380047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675"/>
              </a:spcBef>
              <a:buAutoNum type="arabicPeriod" startAt="2"/>
              <a:tabLst>
                <a:tab pos="241935" algn="l"/>
              </a:tabLst>
            </a:pPr>
            <a:r>
              <a:rPr dirty="0" sz="1100" spc="-5">
                <a:latin typeface="Times New Roman"/>
                <a:cs typeface="Times New Roman"/>
              </a:rPr>
              <a:t>Join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transition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"therefore":</a:t>
            </a:r>
            <a:endParaRPr sz="1100">
              <a:latin typeface="Times New Roman"/>
              <a:cs typeface="Times New Roman"/>
            </a:endParaRPr>
          </a:p>
          <a:p>
            <a:pPr lvl="1" marL="812800" indent="-229235">
              <a:lnSpc>
                <a:spcPct val="100000"/>
              </a:lnSpc>
              <a:spcBef>
                <a:spcPts val="575"/>
              </a:spcBef>
              <a:buAutoNum type="alphaLcParenR"/>
              <a:tabLst>
                <a:tab pos="813435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police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issued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warning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radio.</a:t>
            </a:r>
            <a:endParaRPr sz="1100">
              <a:latin typeface="Times New Roman"/>
              <a:cs typeface="Times New Roman"/>
            </a:endParaRPr>
          </a:p>
          <a:p>
            <a:pPr lvl="1" marL="812800" indent="-229235">
              <a:lnSpc>
                <a:spcPct val="100000"/>
              </a:lnSpc>
              <a:spcBef>
                <a:spcPts val="575"/>
              </a:spcBef>
              <a:buAutoNum type="alphaLcParenR"/>
              <a:tabLst>
                <a:tab pos="813435" algn="l"/>
              </a:tabLst>
            </a:pP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dangerous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escaped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from hospital.</a:t>
            </a:r>
            <a:endParaRPr sz="11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Font typeface="Times New Roman"/>
              <a:buAutoNum type="alphaLcParenR"/>
            </a:pPr>
            <a:endParaRPr sz="160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buAutoNum type="arabicPeriod" startAt="2"/>
              <a:tabLst>
                <a:tab pos="241935" algn="l"/>
              </a:tabLst>
            </a:pPr>
            <a:r>
              <a:rPr dirty="0" sz="1100" spc="-5">
                <a:latin typeface="Times New Roman"/>
                <a:cs typeface="Times New Roman"/>
              </a:rPr>
              <a:t>Link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using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transition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"however":</a:t>
            </a:r>
            <a:endParaRPr sz="1100">
              <a:latin typeface="Times New Roman"/>
              <a:cs typeface="Times New Roman"/>
            </a:endParaRPr>
          </a:p>
          <a:p>
            <a:pPr lvl="1" marL="812800" indent="-229235">
              <a:lnSpc>
                <a:spcPct val="100000"/>
              </a:lnSpc>
              <a:spcBef>
                <a:spcPts val="575"/>
              </a:spcBef>
              <a:buAutoNum type="alphaLcParenR"/>
              <a:tabLst>
                <a:tab pos="813435" algn="l"/>
              </a:tabLst>
            </a:pPr>
            <a:r>
              <a:rPr dirty="0" sz="1100" spc="-5">
                <a:latin typeface="Times New Roman"/>
                <a:cs typeface="Times New Roman"/>
              </a:rPr>
              <a:t>Marie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worried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killer.</a:t>
            </a:r>
            <a:endParaRPr sz="1100">
              <a:latin typeface="Times New Roman"/>
              <a:cs typeface="Times New Roman"/>
            </a:endParaRPr>
          </a:p>
          <a:p>
            <a:pPr lvl="1" marL="812800" indent="-229235">
              <a:lnSpc>
                <a:spcPct val="100000"/>
              </a:lnSpc>
              <a:spcBef>
                <a:spcPts val="580"/>
              </a:spcBef>
              <a:buAutoNum type="alphaLcParenR"/>
              <a:tabLst>
                <a:tab pos="813435" algn="l"/>
              </a:tabLst>
            </a:pPr>
            <a:r>
              <a:rPr dirty="0" sz="1100" spc="-5">
                <a:latin typeface="Times New Roman"/>
                <a:cs typeface="Times New Roman"/>
              </a:rPr>
              <a:t>Her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husband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only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worried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car.</a:t>
            </a:r>
            <a:endParaRPr sz="11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Font typeface="Times New Roman"/>
              <a:buAutoNum type="alphaLcParenR"/>
            </a:pPr>
            <a:endParaRPr sz="160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buAutoNum type="arabicPeriod" startAt="2"/>
              <a:tabLst>
                <a:tab pos="241935" algn="l"/>
              </a:tabLst>
            </a:pPr>
            <a:r>
              <a:rPr dirty="0" sz="1100" spc="-5">
                <a:latin typeface="Times New Roman"/>
                <a:cs typeface="Times New Roman"/>
              </a:rPr>
              <a:t>Link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conjunction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"so":</a:t>
            </a:r>
            <a:endParaRPr sz="1100">
              <a:latin typeface="Times New Roman"/>
              <a:cs typeface="Times New Roman"/>
            </a:endParaRPr>
          </a:p>
          <a:p>
            <a:pPr lvl="1" marL="812165" indent="-228600">
              <a:lnSpc>
                <a:spcPct val="100000"/>
              </a:lnSpc>
              <a:spcBef>
                <a:spcPts val="575"/>
              </a:spcBef>
              <a:buAutoNum type="alphaLcParenR"/>
              <a:tabLst>
                <a:tab pos="812800" algn="l"/>
              </a:tabLst>
            </a:pPr>
            <a:r>
              <a:rPr dirty="0" sz="1100" spc="-5">
                <a:latin typeface="Times New Roman"/>
                <a:cs typeface="Times New Roman"/>
              </a:rPr>
              <a:t>George went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help.</a:t>
            </a:r>
            <a:endParaRPr sz="1100">
              <a:latin typeface="Times New Roman"/>
              <a:cs typeface="Times New Roman"/>
            </a:endParaRPr>
          </a:p>
          <a:p>
            <a:pPr lvl="1" marL="812800" indent="-229235">
              <a:lnSpc>
                <a:spcPct val="100000"/>
              </a:lnSpc>
              <a:spcBef>
                <a:spcPts val="575"/>
              </a:spcBef>
              <a:buAutoNum type="alphaLcParenR"/>
              <a:tabLst>
                <a:tab pos="8128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broke down.</a:t>
            </a:r>
            <a:endParaRPr sz="11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Font typeface="Times New Roman"/>
              <a:buAutoNum type="alphaLcParenR"/>
            </a:pPr>
            <a:endParaRPr sz="16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AutoNum type="arabicPeriod" startAt="2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Link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conjunction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"since":</a:t>
            </a:r>
            <a:endParaRPr sz="1100">
              <a:latin typeface="Times New Roman"/>
              <a:cs typeface="Times New Roman"/>
            </a:endParaRPr>
          </a:p>
          <a:p>
            <a:pPr lvl="1" marL="812800" indent="-229235">
              <a:lnSpc>
                <a:spcPct val="100000"/>
              </a:lnSpc>
              <a:spcBef>
                <a:spcPts val="575"/>
              </a:spcBef>
              <a:buAutoNum type="alphaLcParenR"/>
              <a:tabLst>
                <a:tab pos="812800" algn="l"/>
              </a:tabLst>
            </a:pPr>
            <a:r>
              <a:rPr dirty="0" sz="1100" spc="-5">
                <a:latin typeface="Times New Roman"/>
                <a:cs typeface="Times New Roman"/>
              </a:rPr>
              <a:t>Marie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could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walk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rain.</a:t>
            </a:r>
            <a:endParaRPr sz="1100">
              <a:latin typeface="Times New Roman"/>
              <a:cs typeface="Times New Roman"/>
            </a:endParaRPr>
          </a:p>
          <a:p>
            <a:pPr lvl="1" marL="812800" indent="-229235">
              <a:lnSpc>
                <a:spcPct val="100000"/>
              </a:lnSpc>
              <a:spcBef>
                <a:spcPts val="580"/>
              </a:spcBef>
              <a:buAutoNum type="alphaLcParenR"/>
              <a:tabLst>
                <a:tab pos="813435" algn="l"/>
              </a:tabLst>
            </a:pPr>
            <a:r>
              <a:rPr dirty="0" sz="1100" spc="-5">
                <a:latin typeface="Times New Roman"/>
                <a:cs typeface="Times New Roman"/>
              </a:rPr>
              <a:t>Her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clothes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suitable.</a:t>
            </a:r>
            <a:endParaRPr sz="11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Font typeface="Times New Roman"/>
              <a:buAutoNum type="alphaLcParenR"/>
            </a:pPr>
            <a:endParaRPr sz="160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buAutoNum type="arabicPeriod" startAt="2"/>
              <a:tabLst>
                <a:tab pos="241935" algn="l"/>
              </a:tabLst>
            </a:pPr>
            <a:r>
              <a:rPr dirty="0" sz="1100" spc="-5">
                <a:latin typeface="Times New Roman"/>
                <a:cs typeface="Times New Roman"/>
              </a:rPr>
              <a:t>Link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conjunction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"so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that":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4580" y="342390"/>
            <a:ext cx="174498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 Elementary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41311" y="342390"/>
            <a:ext cx="22669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360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67219" y="9493248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83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972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829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198897" y="693369"/>
            <a:ext cx="3394710" cy="412242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812165" indent="-229235">
              <a:lnSpc>
                <a:spcPct val="100000"/>
              </a:lnSpc>
              <a:spcBef>
                <a:spcPts val="675"/>
              </a:spcBef>
              <a:buAutoNum type="alphaLcParenR"/>
              <a:tabLst>
                <a:tab pos="812800" algn="l"/>
              </a:tabLst>
            </a:pPr>
            <a:r>
              <a:rPr dirty="0" sz="1100" spc="-5">
                <a:latin typeface="Times New Roman"/>
                <a:cs typeface="Times New Roman"/>
              </a:rPr>
              <a:t>No-one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could see her.</a:t>
            </a:r>
            <a:endParaRPr sz="1100">
              <a:latin typeface="Times New Roman"/>
              <a:cs typeface="Times New Roman"/>
            </a:endParaRPr>
          </a:p>
          <a:p>
            <a:pPr marL="812800" indent="-229235">
              <a:lnSpc>
                <a:spcPct val="100000"/>
              </a:lnSpc>
              <a:spcBef>
                <a:spcPts val="575"/>
              </a:spcBef>
              <a:buAutoNum type="alphaLcParenR"/>
              <a:tabLst>
                <a:tab pos="812800" algn="l"/>
              </a:tabLst>
            </a:pPr>
            <a:r>
              <a:rPr dirty="0" sz="1100" spc="-5">
                <a:latin typeface="Times New Roman"/>
                <a:cs typeface="Times New Roman"/>
              </a:rPr>
              <a:t>Marie hid under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 blanket.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95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AutoNum type="arabicPeriod" startAt="7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Link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conjunction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"as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result":</a:t>
            </a:r>
            <a:endParaRPr sz="1100">
              <a:latin typeface="Times New Roman"/>
              <a:cs typeface="Times New Roman"/>
            </a:endParaRPr>
          </a:p>
          <a:p>
            <a:pPr lvl="1" marL="812800" indent="-229235">
              <a:lnSpc>
                <a:spcPct val="100000"/>
              </a:lnSpc>
              <a:spcBef>
                <a:spcPts val="580"/>
              </a:spcBef>
              <a:buAutoNum type="alphaLcParenR"/>
              <a:tabLst>
                <a:tab pos="812800" algn="l"/>
              </a:tabLst>
            </a:pPr>
            <a:r>
              <a:rPr dirty="0" sz="1100" spc="-5">
                <a:latin typeface="Times New Roman"/>
                <a:cs typeface="Times New Roman"/>
              </a:rPr>
              <a:t>Marie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heard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strange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roof.</a:t>
            </a:r>
            <a:endParaRPr sz="1100">
              <a:latin typeface="Times New Roman"/>
              <a:cs typeface="Times New Roman"/>
            </a:endParaRPr>
          </a:p>
          <a:p>
            <a:pPr lvl="1" marL="812800" indent="-229235">
              <a:lnSpc>
                <a:spcPct val="100000"/>
              </a:lnSpc>
              <a:spcBef>
                <a:spcPts val="575"/>
              </a:spcBef>
              <a:buAutoNum type="alphaLcParenR"/>
              <a:tabLst>
                <a:tab pos="813435" algn="l"/>
              </a:tabLst>
            </a:pPr>
            <a:r>
              <a:rPr dirty="0" sz="1100" spc="-5">
                <a:latin typeface="Times New Roman"/>
                <a:cs typeface="Times New Roman"/>
              </a:rPr>
              <a:t>She became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frightened.</a:t>
            </a:r>
            <a:endParaRPr sz="11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buFont typeface="Times New Roman"/>
              <a:buAutoNum type="alphaLcParenR"/>
            </a:pPr>
            <a:endParaRPr sz="160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buAutoNum type="arabicPeriod" startAt="7"/>
              <a:tabLst>
                <a:tab pos="241935" algn="l"/>
              </a:tabLst>
            </a:pPr>
            <a:r>
              <a:rPr dirty="0" sz="1100" spc="-5">
                <a:latin typeface="Times New Roman"/>
                <a:cs typeface="Times New Roman"/>
              </a:rPr>
              <a:t>Link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conjunction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"as":</a:t>
            </a:r>
            <a:endParaRPr sz="1100">
              <a:latin typeface="Times New Roman"/>
              <a:cs typeface="Times New Roman"/>
            </a:endParaRPr>
          </a:p>
          <a:p>
            <a:pPr lvl="1" marL="812800" indent="-229235">
              <a:lnSpc>
                <a:spcPct val="100000"/>
              </a:lnSpc>
              <a:spcBef>
                <a:spcPts val="585"/>
              </a:spcBef>
              <a:buAutoNum type="alphaLcParenR"/>
              <a:tabLst>
                <a:tab pos="813435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knocking continued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 night.</a:t>
            </a:r>
            <a:endParaRPr sz="1100">
              <a:latin typeface="Times New Roman"/>
              <a:cs typeface="Times New Roman"/>
            </a:endParaRPr>
          </a:p>
          <a:p>
            <a:pPr lvl="1" marL="812800" indent="-229235">
              <a:lnSpc>
                <a:spcPct val="100000"/>
              </a:lnSpc>
              <a:spcBef>
                <a:spcPts val="575"/>
              </a:spcBef>
              <a:buAutoNum type="alphaLcParenR"/>
              <a:tabLst>
                <a:tab pos="813435" algn="l"/>
              </a:tabLst>
            </a:pPr>
            <a:r>
              <a:rPr dirty="0" sz="1100" spc="-5">
                <a:latin typeface="Times New Roman"/>
                <a:cs typeface="Times New Roman"/>
              </a:rPr>
              <a:t>Marie could not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sleep.</a:t>
            </a:r>
            <a:endParaRPr sz="11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buFont typeface="Times New Roman"/>
              <a:buAutoNum type="alphaLcParenR"/>
            </a:pPr>
            <a:endParaRPr sz="160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buAutoNum type="arabicPeriod" startAt="7"/>
              <a:tabLst>
                <a:tab pos="241935" algn="l"/>
              </a:tabLst>
            </a:pPr>
            <a:r>
              <a:rPr dirty="0" sz="1100" spc="-5">
                <a:latin typeface="Times New Roman"/>
                <a:cs typeface="Times New Roman"/>
              </a:rPr>
              <a:t>Link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conjunction:</a:t>
            </a:r>
            <a:endParaRPr sz="1100">
              <a:latin typeface="Times New Roman"/>
              <a:cs typeface="Times New Roman"/>
            </a:endParaRPr>
          </a:p>
          <a:p>
            <a:pPr lvl="1" marL="812800" indent="-229235">
              <a:lnSpc>
                <a:spcPct val="100000"/>
              </a:lnSpc>
              <a:spcBef>
                <a:spcPts val="575"/>
              </a:spcBef>
              <a:buAutoNum type="alphaLcParenR"/>
              <a:tabLst>
                <a:tab pos="813435" algn="l"/>
              </a:tabLst>
            </a:pPr>
            <a:r>
              <a:rPr dirty="0" sz="1100" spc="-5">
                <a:latin typeface="Times New Roman"/>
                <a:cs typeface="Times New Roman"/>
              </a:rPr>
              <a:t>Several policemen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leapt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out.</a:t>
            </a:r>
            <a:endParaRPr sz="1100">
              <a:latin typeface="Times New Roman"/>
              <a:cs typeface="Times New Roman"/>
            </a:endParaRPr>
          </a:p>
          <a:p>
            <a:pPr lvl="1" marL="812800" indent="-229235">
              <a:lnSpc>
                <a:spcPct val="100000"/>
              </a:lnSpc>
              <a:spcBef>
                <a:spcPts val="580"/>
              </a:spcBef>
              <a:buAutoNum type="alphaLcParenR"/>
              <a:tabLst>
                <a:tab pos="813435" algn="l"/>
              </a:tabLst>
            </a:pPr>
            <a:r>
              <a:rPr dirty="0" sz="1100" spc="-5">
                <a:latin typeface="Times New Roman"/>
                <a:cs typeface="Times New Roman"/>
              </a:rPr>
              <a:t>One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rushed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towards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car.</a:t>
            </a:r>
            <a:endParaRPr sz="11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buFont typeface="Times New Roman"/>
              <a:buAutoNum type="alphaLcParenR"/>
            </a:pPr>
            <a:endParaRPr sz="160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buAutoNum type="arabicPeriod" startAt="7"/>
              <a:tabLst>
                <a:tab pos="241935" algn="l"/>
              </a:tabLst>
            </a:pPr>
            <a:r>
              <a:rPr dirty="0" sz="1100" spc="-5">
                <a:latin typeface="Times New Roman"/>
                <a:cs typeface="Times New Roman"/>
              </a:rPr>
              <a:t>Link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conjunction:</a:t>
            </a:r>
            <a:endParaRPr sz="1100">
              <a:latin typeface="Times New Roman"/>
              <a:cs typeface="Times New Roman"/>
            </a:endParaRPr>
          </a:p>
          <a:p>
            <a:pPr lvl="1" marL="812800" indent="-229235">
              <a:lnSpc>
                <a:spcPct val="100000"/>
              </a:lnSpc>
              <a:spcBef>
                <a:spcPts val="580"/>
              </a:spcBef>
              <a:buAutoNum type="alphaLcParenR"/>
              <a:tabLst>
                <a:tab pos="813435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policeman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told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Marie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look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back.</a:t>
            </a:r>
            <a:endParaRPr sz="1100">
              <a:latin typeface="Times New Roman"/>
              <a:cs typeface="Times New Roman"/>
            </a:endParaRPr>
          </a:p>
          <a:p>
            <a:pPr lvl="1" marL="812800" indent="-229235">
              <a:lnSpc>
                <a:spcPct val="100000"/>
              </a:lnSpc>
              <a:spcBef>
                <a:spcPts val="580"/>
              </a:spcBef>
              <a:buAutoNum type="alphaLcParenR"/>
              <a:tabLst>
                <a:tab pos="813435" algn="l"/>
              </a:tabLst>
            </a:pPr>
            <a:r>
              <a:rPr dirty="0" sz="1100" spc="-5">
                <a:latin typeface="Times New Roman"/>
                <a:cs typeface="Times New Roman"/>
              </a:rPr>
              <a:t>She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could not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help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84663" y="5344938"/>
            <a:ext cx="6059170" cy="353695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>
              <a:lnSpc>
                <a:spcPts val="1270"/>
              </a:lnSpc>
              <a:spcBef>
                <a:spcPts val="180"/>
              </a:spcBef>
            </a:pPr>
            <a:r>
              <a:rPr dirty="0" sz="1100" spc="-5" b="1">
                <a:latin typeface="Times New Roman"/>
                <a:cs typeface="Times New Roman"/>
              </a:rPr>
              <a:t>Source:</a:t>
            </a:r>
            <a:r>
              <a:rPr dirty="0" sz="1100" spc="14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Fry,</a:t>
            </a:r>
            <a:r>
              <a:rPr dirty="0" sz="1100" spc="15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Edward</a:t>
            </a:r>
            <a:r>
              <a:rPr dirty="0" sz="1100" spc="14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Bernard.</a:t>
            </a:r>
            <a:r>
              <a:rPr dirty="0" sz="1100" spc="15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‘The</a:t>
            </a:r>
            <a:r>
              <a:rPr dirty="0" sz="1100" spc="16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Reading</a:t>
            </a:r>
            <a:r>
              <a:rPr dirty="0" sz="1100" spc="15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Teacher’s</a:t>
            </a:r>
            <a:r>
              <a:rPr dirty="0" sz="1100" spc="15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Book</a:t>
            </a:r>
            <a:r>
              <a:rPr dirty="0" sz="1100" spc="15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of</a:t>
            </a:r>
            <a:r>
              <a:rPr dirty="0" sz="1100" spc="15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Lists’</a:t>
            </a:r>
            <a:r>
              <a:rPr dirty="0" sz="1100" spc="14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New</a:t>
            </a:r>
            <a:r>
              <a:rPr dirty="0" sz="1100" spc="15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York:</a:t>
            </a:r>
            <a:r>
              <a:rPr dirty="0" sz="1100" spc="15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The</a:t>
            </a:r>
            <a:r>
              <a:rPr dirty="0" sz="1100" spc="14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Centre</a:t>
            </a:r>
            <a:r>
              <a:rPr dirty="0" sz="1100" spc="15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for </a:t>
            </a:r>
            <a:r>
              <a:rPr dirty="0" sz="1100" spc="-26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Applied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Research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Foundation.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1993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788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10019" y="9493248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84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400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27380" y="326081"/>
            <a:ext cx="6083300" cy="393065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5"/>
              </a:spcBef>
              <a:tabLst>
                <a:tab pos="5869305" algn="l"/>
              </a:tabLst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l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</a:t>
            </a:r>
            <a:r>
              <a:rPr dirty="0" sz="1100" spc="-15">
                <a:solidFill>
                  <a:srgbClr val="323232"/>
                </a:solidFill>
                <a:latin typeface="Times New Roman"/>
                <a:cs typeface="Times New Roman"/>
              </a:rPr>
              <a:t>m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entary</a:t>
            </a:r>
            <a:r>
              <a:rPr dirty="0" sz="1100" spc="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g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lish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  <a:p>
            <a:pPr algn="r" marR="27940">
              <a:lnSpc>
                <a:spcPct val="100000"/>
              </a:lnSpc>
              <a:spcBef>
                <a:spcPts val="125"/>
              </a:spcBef>
            </a:pP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LECTURE</a:t>
            </a:r>
            <a:r>
              <a:rPr dirty="0" u="heavy" sz="1100" spc="-6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24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257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621030" y="709422"/>
            <a:ext cx="6073140" cy="2087880"/>
          </a:xfrm>
          <a:prstGeom prst="rect">
            <a:avLst/>
          </a:prstGeom>
          <a:solidFill>
            <a:srgbClr val="F8FCFF"/>
          </a:solidFill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EXPOSITORY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WRITING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9050" marR="9525" indent="457200">
              <a:lnSpc>
                <a:spcPct val="95900"/>
              </a:lnSpc>
            </a:pPr>
            <a:r>
              <a:rPr dirty="0" sz="1100" spc="-5" b="1">
                <a:latin typeface="Times New Roman"/>
                <a:cs typeface="Times New Roman"/>
              </a:rPr>
              <a:t>Expository writing </a:t>
            </a:r>
            <a:r>
              <a:rPr dirty="0" sz="1100" spc="-5">
                <a:latin typeface="Times New Roman"/>
                <a:cs typeface="Times New Roman"/>
              </a:rPr>
              <a:t>is a mode of writing in which the purpose of the author is to inform, explain,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describe,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define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her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subject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reader.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Expository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text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meant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‘expose’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information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most frequently used type of writing by students in colleges and universities. A well-written exposition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remains focused on its topic and provides facts in order to inform </a:t>
            </a:r>
            <a:r>
              <a:rPr dirty="0" sz="1100">
                <a:latin typeface="Times New Roman"/>
                <a:cs typeface="Times New Roman"/>
              </a:rPr>
              <a:t>its </a:t>
            </a:r>
            <a:r>
              <a:rPr dirty="0" sz="1100" spc="-5">
                <a:latin typeface="Times New Roman"/>
                <a:cs typeface="Times New Roman"/>
              </a:rPr>
              <a:t>reader. It should be unbiased, accurate,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use a scholarly third person tone. The text needs to encompass all aspects of the subject. Examples of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expository writing can be found in magazine and newspaper articles, non-fiction books, travel brochures,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business reports, memorandums, professional journal and encyclopedia articles and many other types of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informative writing. One of the most familiar and basic forms of expository writing is the five-paragraph </a:t>
            </a:r>
            <a:r>
              <a:rPr dirty="0" sz="1100">
                <a:latin typeface="Times New Roman"/>
                <a:cs typeface="Times New Roman"/>
              </a:rPr>
              <a:t> essay, </a:t>
            </a:r>
            <a:r>
              <a:rPr dirty="0" sz="1100" spc="-5">
                <a:latin typeface="Times New Roman"/>
                <a:cs typeface="Times New Roman"/>
              </a:rPr>
              <a:t>which features an introduction with a clear thesis statement, three main body paragraphs and a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conclusion.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7378" y="2774695"/>
            <a:ext cx="265176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Some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example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topics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for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expository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writing: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51738" y="3121913"/>
            <a:ext cx="2706370" cy="1934210"/>
          </a:xfrm>
          <a:prstGeom prst="rect">
            <a:avLst/>
          </a:prstGeom>
          <a:ln w="6095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525145" indent="-229235">
              <a:lnSpc>
                <a:spcPts val="1265"/>
              </a:lnSpc>
              <a:buAutoNum type="arabicPeriod"/>
              <a:tabLst>
                <a:tab pos="525780" algn="l"/>
              </a:tabLst>
            </a:pPr>
            <a:r>
              <a:rPr dirty="0" sz="1100" spc="-5">
                <a:latin typeface="Times New Roman"/>
                <a:cs typeface="Times New Roman"/>
              </a:rPr>
              <a:t>Alcohol</a:t>
            </a:r>
            <a:endParaRPr sz="1100">
              <a:latin typeface="Times New Roman"/>
              <a:cs typeface="Times New Roman"/>
            </a:endParaRPr>
          </a:p>
          <a:p>
            <a:pPr marL="525145" indent="-229235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525780" algn="l"/>
              </a:tabLst>
            </a:pPr>
            <a:r>
              <a:rPr dirty="0" sz="1100" spc="-5">
                <a:latin typeface="Times New Roman"/>
                <a:cs typeface="Times New Roman"/>
              </a:rPr>
              <a:t>Animal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experimentation</a:t>
            </a:r>
            <a:endParaRPr sz="1100">
              <a:latin typeface="Times New Roman"/>
              <a:cs typeface="Times New Roman"/>
            </a:endParaRPr>
          </a:p>
          <a:p>
            <a:pPr marL="525145" indent="-229235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525780" algn="l"/>
              </a:tabLst>
            </a:pPr>
            <a:r>
              <a:rPr dirty="0" sz="1100" spc="-5">
                <a:latin typeface="Times New Roman"/>
                <a:cs typeface="Times New Roman"/>
              </a:rPr>
              <a:t>Capital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punishment</a:t>
            </a:r>
            <a:endParaRPr sz="1100">
              <a:latin typeface="Times New Roman"/>
              <a:cs typeface="Times New Roman"/>
            </a:endParaRPr>
          </a:p>
          <a:p>
            <a:pPr marL="525145" indent="-229235">
              <a:lnSpc>
                <a:spcPct val="100000"/>
              </a:lnSpc>
              <a:spcBef>
                <a:spcPts val="585"/>
              </a:spcBef>
              <a:buAutoNum type="arabicPeriod"/>
              <a:tabLst>
                <a:tab pos="525780" algn="l"/>
              </a:tabLst>
            </a:pPr>
            <a:r>
              <a:rPr dirty="0" sz="1100" spc="-5">
                <a:latin typeface="Times New Roman"/>
                <a:cs typeface="Times New Roman"/>
              </a:rPr>
              <a:t>Censorship</a:t>
            </a:r>
            <a:endParaRPr sz="1100">
              <a:latin typeface="Times New Roman"/>
              <a:cs typeface="Times New Roman"/>
            </a:endParaRPr>
          </a:p>
          <a:p>
            <a:pPr marL="525145" indent="-229235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525780" algn="l"/>
              </a:tabLst>
            </a:pPr>
            <a:r>
              <a:rPr dirty="0" sz="1100" spc="-5">
                <a:latin typeface="Times New Roman"/>
                <a:cs typeface="Times New Roman"/>
              </a:rPr>
              <a:t>Endangered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species</a:t>
            </a:r>
            <a:endParaRPr sz="1100">
              <a:latin typeface="Times New Roman"/>
              <a:cs typeface="Times New Roman"/>
            </a:endParaRPr>
          </a:p>
          <a:p>
            <a:pPr marL="525145" indent="-229235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525780" algn="l"/>
              </a:tabLst>
            </a:pPr>
            <a:r>
              <a:rPr dirty="0" sz="1100" spc="-5">
                <a:latin typeface="Times New Roman"/>
                <a:cs typeface="Times New Roman"/>
              </a:rPr>
              <a:t>Gambling</a:t>
            </a:r>
            <a:endParaRPr sz="1100">
              <a:latin typeface="Times New Roman"/>
              <a:cs typeface="Times New Roman"/>
            </a:endParaRPr>
          </a:p>
          <a:p>
            <a:pPr marL="525145" indent="-229235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525780" algn="l"/>
              </a:tabLst>
            </a:pPr>
            <a:r>
              <a:rPr dirty="0" sz="1100" spc="-5">
                <a:latin typeface="Times New Roman"/>
                <a:cs typeface="Times New Roman"/>
              </a:rPr>
              <a:t>Biological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weapons</a:t>
            </a:r>
            <a:endParaRPr sz="1100">
              <a:latin typeface="Times New Roman"/>
              <a:cs typeface="Times New Roman"/>
            </a:endParaRPr>
          </a:p>
          <a:p>
            <a:pPr marL="525145" indent="-229235">
              <a:lnSpc>
                <a:spcPct val="100000"/>
              </a:lnSpc>
              <a:spcBef>
                <a:spcPts val="585"/>
              </a:spcBef>
              <a:buAutoNum type="arabicPeriod"/>
              <a:tabLst>
                <a:tab pos="525780" algn="l"/>
              </a:tabLst>
            </a:pPr>
            <a:r>
              <a:rPr dirty="0" sz="1100" spc="-5">
                <a:latin typeface="Times New Roman"/>
                <a:cs typeface="Times New Roman"/>
              </a:rPr>
              <a:t>Genetic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Engineering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57600" y="3121913"/>
            <a:ext cx="2706370" cy="1934210"/>
          </a:xfrm>
          <a:prstGeom prst="rect">
            <a:avLst/>
          </a:prstGeom>
          <a:ln w="6095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525145" indent="-229235">
              <a:lnSpc>
                <a:spcPts val="1265"/>
              </a:lnSpc>
              <a:buAutoNum type="arabicPeriod" startAt="9"/>
              <a:tabLst>
                <a:tab pos="525780" algn="l"/>
              </a:tabLst>
            </a:pPr>
            <a:r>
              <a:rPr dirty="0" sz="1100" spc="-5">
                <a:latin typeface="Times New Roman"/>
                <a:cs typeface="Times New Roman"/>
              </a:rPr>
              <a:t>Global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warming</a:t>
            </a:r>
            <a:endParaRPr sz="1100">
              <a:latin typeface="Times New Roman"/>
              <a:cs typeface="Times New Roman"/>
            </a:endParaRPr>
          </a:p>
          <a:p>
            <a:pPr marL="525145" indent="-229235">
              <a:lnSpc>
                <a:spcPct val="100000"/>
              </a:lnSpc>
              <a:spcBef>
                <a:spcPts val="575"/>
              </a:spcBef>
              <a:buAutoNum type="arabicPeriod" startAt="9"/>
              <a:tabLst>
                <a:tab pos="525780" algn="l"/>
              </a:tabLst>
            </a:pPr>
            <a:r>
              <a:rPr dirty="0" sz="1100" spc="-5">
                <a:latin typeface="Times New Roman"/>
                <a:cs typeface="Times New Roman"/>
              </a:rPr>
              <a:t>Homosexuality</a:t>
            </a:r>
            <a:endParaRPr sz="1100">
              <a:latin typeface="Times New Roman"/>
              <a:cs typeface="Times New Roman"/>
            </a:endParaRPr>
          </a:p>
          <a:p>
            <a:pPr marL="525780" indent="-229870">
              <a:lnSpc>
                <a:spcPct val="100000"/>
              </a:lnSpc>
              <a:spcBef>
                <a:spcPts val="575"/>
              </a:spcBef>
              <a:buAutoNum type="arabicPeriod" startAt="9"/>
              <a:tabLst>
                <a:tab pos="526415" algn="l"/>
              </a:tabLst>
            </a:pPr>
            <a:r>
              <a:rPr dirty="0" sz="1100" spc="-5">
                <a:latin typeface="Times New Roman"/>
                <a:cs typeface="Times New Roman"/>
              </a:rPr>
              <a:t>Immigration</a:t>
            </a:r>
            <a:endParaRPr sz="1100">
              <a:latin typeface="Times New Roman"/>
              <a:cs typeface="Times New Roman"/>
            </a:endParaRPr>
          </a:p>
          <a:p>
            <a:pPr marL="525780" indent="-229235">
              <a:lnSpc>
                <a:spcPct val="100000"/>
              </a:lnSpc>
              <a:spcBef>
                <a:spcPts val="585"/>
              </a:spcBef>
              <a:buAutoNum type="arabicPeriod" startAt="9"/>
              <a:tabLst>
                <a:tab pos="526415" algn="l"/>
              </a:tabLst>
            </a:pPr>
            <a:r>
              <a:rPr dirty="0" sz="1100" spc="-5">
                <a:latin typeface="Times New Roman"/>
                <a:cs typeface="Times New Roman"/>
              </a:rPr>
              <a:t>Internet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Privacy</a:t>
            </a:r>
            <a:endParaRPr sz="1100">
              <a:latin typeface="Times New Roman"/>
              <a:cs typeface="Times New Roman"/>
            </a:endParaRPr>
          </a:p>
          <a:p>
            <a:pPr marL="525780" indent="-229235">
              <a:lnSpc>
                <a:spcPct val="100000"/>
              </a:lnSpc>
              <a:spcBef>
                <a:spcPts val="575"/>
              </a:spcBef>
              <a:buAutoNum type="arabicPeriod" startAt="9"/>
              <a:tabLst>
                <a:tab pos="526415" algn="l"/>
              </a:tabLst>
            </a:pPr>
            <a:r>
              <a:rPr dirty="0" sz="1100" spc="-5">
                <a:latin typeface="Times New Roman"/>
                <a:cs typeface="Times New Roman"/>
              </a:rPr>
              <a:t>Old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homes</a:t>
            </a:r>
            <a:endParaRPr sz="1100">
              <a:latin typeface="Times New Roman"/>
              <a:cs typeface="Times New Roman"/>
            </a:endParaRPr>
          </a:p>
          <a:p>
            <a:pPr marL="525780" indent="-229235">
              <a:lnSpc>
                <a:spcPct val="100000"/>
              </a:lnSpc>
              <a:spcBef>
                <a:spcPts val="575"/>
              </a:spcBef>
              <a:buAutoNum type="arabicPeriod" startAt="9"/>
              <a:tabLst>
                <a:tab pos="526415" algn="l"/>
              </a:tabLst>
            </a:pPr>
            <a:r>
              <a:rPr dirty="0" sz="1100" spc="-5">
                <a:latin typeface="Times New Roman"/>
                <a:cs typeface="Times New Roman"/>
              </a:rPr>
              <a:t>Nuclear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weapons</a:t>
            </a:r>
            <a:endParaRPr sz="1100">
              <a:latin typeface="Times New Roman"/>
              <a:cs typeface="Times New Roman"/>
            </a:endParaRPr>
          </a:p>
          <a:p>
            <a:pPr marL="525780" indent="-229235">
              <a:lnSpc>
                <a:spcPct val="100000"/>
              </a:lnSpc>
              <a:spcBef>
                <a:spcPts val="575"/>
              </a:spcBef>
              <a:buAutoNum type="arabicPeriod" startAt="9"/>
              <a:tabLst>
                <a:tab pos="526415" algn="l"/>
              </a:tabLst>
            </a:pPr>
            <a:r>
              <a:rPr dirty="0" sz="1100" spc="-5">
                <a:latin typeface="Times New Roman"/>
                <a:cs typeface="Times New Roman"/>
              </a:rPr>
              <a:t>Students</a:t>
            </a:r>
            <a:r>
              <a:rPr dirty="0" sz="1100" spc="-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gangs</a:t>
            </a:r>
            <a:endParaRPr sz="1100">
              <a:latin typeface="Times New Roman"/>
              <a:cs typeface="Times New Roman"/>
            </a:endParaRPr>
          </a:p>
          <a:p>
            <a:pPr marL="525780" indent="-229235">
              <a:lnSpc>
                <a:spcPct val="100000"/>
              </a:lnSpc>
              <a:spcBef>
                <a:spcPts val="585"/>
              </a:spcBef>
              <a:buAutoNum type="arabicPeriod" startAt="9"/>
              <a:tabLst>
                <a:tab pos="526415" algn="l"/>
              </a:tabLst>
            </a:pPr>
            <a:r>
              <a:rPr dirty="0" sz="1100" spc="-5">
                <a:latin typeface="Times New Roman"/>
                <a:cs typeface="Times New Roman"/>
              </a:rPr>
              <a:t>Medical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ethics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7380" y="5197093"/>
            <a:ext cx="228282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Expository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writing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is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difficult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because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55959" y="5284415"/>
            <a:ext cx="5725160" cy="74866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241935" algn="l"/>
              </a:tabLst>
            </a:pPr>
            <a:r>
              <a:rPr dirty="0" sz="1100" spc="-5">
                <a:latin typeface="Times New Roman"/>
                <a:cs typeface="Times New Roman"/>
              </a:rPr>
              <a:t>Some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arguments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irrelevant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unreasonable.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reader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may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disagree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with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strongly.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85"/>
              </a:spcBef>
              <a:buAutoNum type="arabicPeriod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difficult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writing,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example,</a:t>
            </a:r>
            <a:r>
              <a:rPr dirty="0" sz="1100" spc="3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person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place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know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well.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27352" y="6241794"/>
            <a:ext cx="190246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Expository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Writing: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Guidelines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55959" y="6327595"/>
            <a:ext cx="3774440" cy="1472565"/>
          </a:xfrm>
          <a:prstGeom prst="rect">
            <a:avLst/>
          </a:prstGeom>
        </p:spPr>
        <p:txBody>
          <a:bodyPr wrap="square" lIns="0" tIns="8636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680"/>
              </a:spcBef>
              <a:buAutoNum type="arabicPeriod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Keep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temper.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85"/>
              </a:spcBef>
              <a:buAutoNum type="arabicPeriod"/>
              <a:tabLst>
                <a:tab pos="241300" algn="l"/>
              </a:tabLst>
            </a:pPr>
            <a:r>
              <a:rPr dirty="0" sz="1100">
                <a:latin typeface="Times New Roman"/>
                <a:cs typeface="Times New Roman"/>
              </a:rPr>
              <a:t>Don’t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attack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people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race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religion.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Consider both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sides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 topic.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Don’t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exaggerate.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Provide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if</a:t>
            </a:r>
            <a:r>
              <a:rPr dirty="0" sz="1100">
                <a:latin typeface="Times New Roman"/>
                <a:cs typeface="Times New Roman"/>
              </a:rPr>
              <a:t> you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make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claim or</a:t>
            </a:r>
            <a:r>
              <a:rPr dirty="0" sz="1100" spc="2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statement.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85"/>
              </a:spcBef>
              <a:buAutoNum type="arabicPeriod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Avoid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dogmatic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like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always,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never,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only,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etc.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27352" y="7936942"/>
            <a:ext cx="2178050" cy="1228090"/>
          </a:xfrm>
          <a:prstGeom prst="rect">
            <a:avLst/>
          </a:prstGeom>
        </p:spPr>
        <p:txBody>
          <a:bodyPr wrap="square" lIns="0" tIns="850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dirty="0" sz="1100" spc="-5" b="1">
                <a:latin typeface="Times New Roman"/>
                <a:cs typeface="Times New Roman"/>
              </a:rPr>
              <a:t>Expository writing: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Organization</a:t>
            </a:r>
            <a:endParaRPr sz="1100">
              <a:latin typeface="Times New Roman"/>
              <a:cs typeface="Times New Roman"/>
            </a:endParaRPr>
          </a:p>
          <a:p>
            <a:pPr marL="926465" indent="-229235">
              <a:lnSpc>
                <a:spcPct val="100000"/>
              </a:lnSpc>
              <a:spcBef>
                <a:spcPts val="570"/>
              </a:spcBef>
              <a:buAutoNum type="arabicPeriod"/>
              <a:tabLst>
                <a:tab pos="927100" algn="l"/>
              </a:tabLst>
            </a:pPr>
            <a:r>
              <a:rPr dirty="0" sz="1100" spc="-5">
                <a:latin typeface="Times New Roman"/>
                <a:cs typeface="Times New Roman"/>
              </a:rPr>
              <a:t>Opening</a:t>
            </a:r>
            <a:endParaRPr sz="1100">
              <a:latin typeface="Times New Roman"/>
              <a:cs typeface="Times New Roman"/>
            </a:endParaRPr>
          </a:p>
          <a:p>
            <a:pPr marL="926465" indent="-229235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927100" algn="l"/>
              </a:tabLst>
            </a:pPr>
            <a:r>
              <a:rPr dirty="0" sz="1100" spc="-5">
                <a:latin typeface="Times New Roman"/>
                <a:cs typeface="Times New Roman"/>
              </a:rPr>
              <a:t>Discuss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both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sides</a:t>
            </a:r>
            <a:endParaRPr sz="1100">
              <a:latin typeface="Times New Roman"/>
              <a:cs typeface="Times New Roman"/>
            </a:endParaRPr>
          </a:p>
          <a:p>
            <a:pPr marL="926465" indent="-229235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927100" algn="l"/>
              </a:tabLst>
            </a:pPr>
            <a:r>
              <a:rPr dirty="0" sz="1100" spc="-5">
                <a:latin typeface="Times New Roman"/>
                <a:cs typeface="Times New Roman"/>
              </a:rPr>
              <a:t>Give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opinion</a:t>
            </a:r>
            <a:endParaRPr sz="1100">
              <a:latin typeface="Times New Roman"/>
              <a:cs typeface="Times New Roman"/>
            </a:endParaRPr>
          </a:p>
          <a:p>
            <a:pPr marL="926465" indent="-229235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9271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Conclusion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4580" y="342390"/>
            <a:ext cx="174498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 Elementary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41311" y="342390"/>
            <a:ext cx="22669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360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67219" y="9493248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85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972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829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197863" y="789431"/>
          <a:ext cx="5838190" cy="68656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67460"/>
                <a:gridCol w="4556760"/>
              </a:tblGrid>
              <a:tr h="265938">
                <a:tc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Pattern</a:t>
                      </a:r>
                      <a:r>
                        <a:rPr dirty="0" sz="1100" spc="-2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Name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191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Written</a:t>
                      </a:r>
                      <a:r>
                        <a:rPr dirty="0" sz="1100" spc="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100" spc="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Graphic</a:t>
                      </a:r>
                      <a:r>
                        <a:rPr dirty="0" sz="1100" spc="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Example</a:t>
                      </a:r>
                      <a:r>
                        <a:rPr dirty="0" sz="1100" spc="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spc="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1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Pattern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191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98519">
                <a:tc>
                  <a:txBody>
                    <a:bodyPr/>
                    <a:lstStyle/>
                    <a:p>
                      <a:pPr marL="47625">
                        <a:lnSpc>
                          <a:spcPts val="1285"/>
                        </a:lnSpc>
                        <a:spcBef>
                          <a:spcPts val="330"/>
                        </a:spcBef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Description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47625" marR="39370">
                        <a:lnSpc>
                          <a:spcPts val="1270"/>
                        </a:lnSpc>
                        <a:spcBef>
                          <a:spcPts val="55"/>
                        </a:spcBef>
                        <a:tabLst>
                          <a:tab pos="1017905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author</a:t>
                      </a:r>
                      <a:r>
                        <a:rPr dirty="0" sz="1100" spc="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describes </a:t>
                      </a:r>
                      <a:r>
                        <a:rPr dirty="0" sz="1100" spc="-2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 spc="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topic</a:t>
                      </a:r>
                      <a:r>
                        <a:rPr dirty="0" sz="1100" spc="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dirty="0" sz="1100" spc="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listing </a:t>
                      </a:r>
                      <a:r>
                        <a:rPr dirty="0" sz="1100" spc="-2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characteristics,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features,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and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47625">
                        <a:lnSpc>
                          <a:spcPts val="1190"/>
                        </a:lnSpc>
                        <a:tabLst>
                          <a:tab pos="1133475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examples.	It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47625">
                        <a:lnSpc>
                          <a:spcPts val="1265"/>
                        </a:lnSpc>
                        <a:tabLst>
                          <a:tab pos="854075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provides	details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47625">
                        <a:lnSpc>
                          <a:spcPts val="1265"/>
                        </a:lnSpc>
                        <a:tabLst>
                          <a:tab pos="978535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about	how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just" marL="47625" marR="38735">
                        <a:lnSpc>
                          <a:spcPts val="1270"/>
                        </a:lnSpc>
                        <a:spcBef>
                          <a:spcPts val="5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something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looks, </a:t>
                      </a:r>
                      <a:r>
                        <a:rPr dirty="0" sz="1100" spc="-2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feels, tastes, smells,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makes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one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feel,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or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sounds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algn="just" marL="47625">
                        <a:lnSpc>
                          <a:spcPts val="1295"/>
                        </a:lnSpc>
                        <a:tabLst>
                          <a:tab pos="846455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Cue	Words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just" marL="47625" marR="40005">
                        <a:lnSpc>
                          <a:spcPts val="1270"/>
                        </a:lnSpc>
                        <a:spcBef>
                          <a:spcPts val="60"/>
                        </a:spcBef>
                        <a:tabLst>
                          <a:tab pos="687705" algn="l"/>
                        </a:tabLst>
                      </a:pPr>
                      <a:r>
                        <a:rPr dirty="0" sz="1100" b="1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example, 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characteristics </a:t>
                      </a:r>
                      <a:r>
                        <a:rPr dirty="0" sz="1100" spc="-26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are...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191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just" marL="46990">
                        <a:lnSpc>
                          <a:spcPct val="100000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Example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Descriptive</a:t>
                      </a:r>
                      <a:r>
                        <a:rPr dirty="0" sz="1100" spc="1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Writing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just" marL="46990" marR="39370">
                        <a:lnSpc>
                          <a:spcPct val="95900"/>
                        </a:lnSpc>
                      </a:pP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Expository essays are written by students to demonstrate their knowledge and 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understanding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particular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topic.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example,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student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might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use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descriptive pattern to emphasize the features and characteristics of a topic. 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Sequential writing emphasizes the order of events, 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listing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items in numerical or 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chronological order.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A writer might use a comparison or contrast pattern to 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emphasize the similarities or differences between two topics.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A cause and/or 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effect pattern shows the relationship between events, while a problem/solution 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pattern shows a different kind of relationship that discusses a problem and 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suggests</a:t>
                      </a:r>
                      <a:r>
                        <a:rPr dirty="0" sz="1100" spc="4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solutions.</a:t>
                      </a:r>
                      <a:r>
                        <a:rPr dirty="0" sz="1100" spc="6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Variations</a:t>
                      </a:r>
                      <a:r>
                        <a:rPr dirty="0" sz="1100" spc="4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spc="4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these</a:t>
                      </a:r>
                      <a:r>
                        <a:rPr dirty="0" sz="1100" spc="4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patterns</a:t>
                      </a:r>
                      <a:r>
                        <a:rPr dirty="0" sz="1100" spc="4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are</a:t>
                      </a:r>
                      <a:r>
                        <a:rPr dirty="0" sz="1100" spc="4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sometimes</a:t>
                      </a:r>
                      <a:r>
                        <a:rPr dirty="0" sz="1100" spc="4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used,</a:t>
                      </a:r>
                      <a:r>
                        <a:rPr dirty="0" sz="1100" spc="4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as</a:t>
                      </a:r>
                      <a:r>
                        <a:rPr dirty="0" sz="1100" spc="4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well</a:t>
                      </a:r>
                      <a:r>
                        <a:rPr dirty="0" sz="1100" spc="4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as </a:t>
                      </a:r>
                      <a:r>
                        <a:rPr dirty="0" sz="1100" spc="-26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combination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spc="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patterns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100" spc="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create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expository</a:t>
                      </a:r>
                      <a:r>
                        <a:rPr dirty="0" sz="1100" spc="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essay.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88687">
                <a:tc>
                  <a:txBody>
                    <a:bodyPr/>
                    <a:lstStyle/>
                    <a:p>
                      <a:pPr algn="just" marL="47625" marR="38735">
                        <a:lnSpc>
                          <a:spcPts val="1270"/>
                        </a:lnSpc>
                        <a:spcBef>
                          <a:spcPts val="415"/>
                        </a:spcBef>
                        <a:tabLst>
                          <a:tab pos="1087755" algn="l"/>
                        </a:tabLst>
                      </a:pPr>
                      <a:r>
                        <a:rPr dirty="0" sz="1100" b="1">
                          <a:latin typeface="Times New Roman"/>
                          <a:cs typeface="Times New Roman"/>
                        </a:rPr>
                        <a:t>Sequence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or  </a:t>
                      </a:r>
                      <a:r>
                        <a:rPr dirty="0" sz="1100" spc="-10" b="1">
                          <a:latin typeface="Times New Roman"/>
                          <a:cs typeface="Times New Roman"/>
                        </a:rPr>
                        <a:t>Process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just" marL="47625">
                        <a:lnSpc>
                          <a:spcPts val="119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3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3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author</a:t>
                      </a:r>
                      <a:r>
                        <a:rPr dirty="0" sz="1100" spc="4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4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lists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just" marL="47625" marR="39370">
                        <a:lnSpc>
                          <a:spcPts val="1270"/>
                        </a:lnSpc>
                        <a:spcBef>
                          <a:spcPts val="55"/>
                        </a:spcBef>
                        <a:tabLst>
                          <a:tab pos="1103630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items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events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nu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er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cal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or 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chronological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order.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270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497809">
                <a:tc>
                  <a:txBody>
                    <a:bodyPr/>
                    <a:lstStyle/>
                    <a:p>
                      <a:pPr algn="just" marL="47625" marR="39370">
                        <a:lnSpc>
                          <a:spcPct val="95500"/>
                        </a:lnSpc>
                        <a:spcBef>
                          <a:spcPts val="25"/>
                        </a:spcBef>
                        <a:tabLst>
                          <a:tab pos="815975" algn="l"/>
                        </a:tabLst>
                      </a:pPr>
                      <a:r>
                        <a:rPr dirty="0" sz="1100" b="1">
                          <a:latin typeface="Times New Roman"/>
                          <a:cs typeface="Times New Roman"/>
                        </a:rPr>
                        <a:t>Cue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Words 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first,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second,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third;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next;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then; finally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7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46990">
                        <a:lnSpc>
                          <a:spcPct val="100000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Example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Sequential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Writing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7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0552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 marL="46990" marR="38735">
                        <a:lnSpc>
                          <a:spcPct val="95900"/>
                        </a:lnSpc>
                        <a:spcBef>
                          <a:spcPts val="25"/>
                        </a:spcBef>
                      </a:pP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Expository writing is intended to convey the writer's knowledge about a topic. 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While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different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patterns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may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employed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create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essay,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every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essay </a:t>
                      </a:r>
                      <a:r>
                        <a:rPr dirty="0" sz="1100" spc="-26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contains the same features: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the introduction, the thesis, the body paragraphs, 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and the conclusion.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The introduction is the first paragraph in the essay.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The </a:t>
                      </a:r>
                      <a:r>
                        <a:rPr dirty="0" sz="1100" spc="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introduction contains the thesis statement, one sentence that summarizes the 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main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idea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essay.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body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paragraphs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follow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introduction</a:t>
                      </a:r>
                      <a:r>
                        <a:rPr dirty="0" sz="1100" spc="26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dirty="0" sz="1100" spc="-26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explain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the main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topics.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Lastly,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the conclusion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is the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final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paragraph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that 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restates the main topics and the thesis.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Every expository essay contains these 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features, in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this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order.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7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6885" y="1112519"/>
            <a:ext cx="2134362" cy="117119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16885" y="4511039"/>
            <a:ext cx="1248155" cy="1124711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7380" y="342390"/>
            <a:ext cx="174498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 Elementary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84111" y="342390"/>
            <a:ext cx="22669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788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10019" y="9493248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86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400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257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740663" y="548639"/>
          <a:ext cx="5838190" cy="89363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67460"/>
                <a:gridCol w="4556760"/>
              </a:tblGrid>
              <a:tr h="2468840">
                <a:tc>
                  <a:txBody>
                    <a:bodyPr/>
                    <a:lstStyle/>
                    <a:p>
                      <a:pPr marL="47625">
                        <a:lnSpc>
                          <a:spcPts val="1290"/>
                        </a:lnSpc>
                        <a:spcBef>
                          <a:spcPts val="334"/>
                        </a:spcBef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Comparison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just" marL="47625" marR="38735">
                        <a:lnSpc>
                          <a:spcPct val="95800"/>
                        </a:lnSpc>
                        <a:spcBef>
                          <a:spcPts val="25"/>
                        </a:spcBef>
                        <a:tabLst>
                          <a:tab pos="1048385" algn="l"/>
                          <a:tab pos="1119505" algn="l"/>
                        </a:tabLst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 author explains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how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two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more </a:t>
                      </a:r>
                      <a:r>
                        <a:rPr dirty="0" sz="1100" spc="-2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things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are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alike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and/or how they are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different.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  </a:t>
                      </a:r>
                      <a:r>
                        <a:rPr dirty="0" sz="1100" spc="-5" b="1" i="1">
                          <a:latin typeface="Times New Roman"/>
                          <a:cs typeface="Times New Roman"/>
                        </a:rPr>
                        <a:t>comparison</a:t>
                      </a:r>
                      <a:r>
                        <a:rPr dirty="0" sz="1100" b="1" i="1">
                          <a:latin typeface="Times New Roman"/>
                          <a:cs typeface="Times New Roman"/>
                        </a:rPr>
                        <a:t> essay </a:t>
                      </a:r>
                      <a:r>
                        <a:rPr dirty="0" sz="1100" spc="-260" b="1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usually discusses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dirty="0" sz="1100" spc="-2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similarities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between </a:t>
                      </a:r>
                      <a:r>
                        <a:rPr dirty="0" sz="1100" spc="-2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two</a:t>
                      </a:r>
                      <a:r>
                        <a:rPr dirty="0" sz="1100" spc="2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things,</a:t>
                      </a:r>
                      <a:r>
                        <a:rPr dirty="0" sz="1100" spc="2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while </a:t>
                      </a:r>
                      <a:r>
                        <a:rPr dirty="0" sz="1100" spc="-2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 i="1">
                          <a:latin typeface="Times New Roman"/>
                          <a:cs typeface="Times New Roman"/>
                        </a:rPr>
                        <a:t>contrast</a:t>
                      </a:r>
                      <a:r>
                        <a:rPr dirty="0" sz="1100" b="1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 i="1">
                          <a:latin typeface="Times New Roman"/>
                          <a:cs typeface="Times New Roman"/>
                        </a:rPr>
                        <a:t>essay </a:t>
                      </a:r>
                      <a:r>
                        <a:rPr dirty="0" sz="1100" spc="-260" b="1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discusses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the 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differences.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254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319568">
                <a:tc>
                  <a:txBody>
                    <a:bodyPr/>
                    <a:lstStyle/>
                    <a:p>
                      <a:pPr algn="just" marL="47625" marR="39370">
                        <a:lnSpc>
                          <a:spcPct val="95600"/>
                        </a:lnSpc>
                        <a:spcBef>
                          <a:spcPts val="60"/>
                        </a:spcBef>
                        <a:tabLst>
                          <a:tab pos="815975" algn="l"/>
                          <a:tab pos="1111250" algn="l"/>
                        </a:tabLst>
                      </a:pPr>
                      <a:r>
                        <a:rPr dirty="0" sz="1100" b="1">
                          <a:latin typeface="Times New Roman"/>
                          <a:cs typeface="Times New Roman"/>
                        </a:rPr>
                        <a:t>Cue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Words 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different;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in 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contrast; alike; same </a:t>
                      </a:r>
                      <a:r>
                        <a:rPr dirty="0" sz="1100" spc="-2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as;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other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hand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62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just" marL="46990">
                        <a:lnSpc>
                          <a:spcPct val="100000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Example</a:t>
                      </a:r>
                      <a:r>
                        <a:rPr dirty="0" sz="1100" spc="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spc="1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Compare/Contrast</a:t>
                      </a:r>
                      <a:r>
                        <a:rPr dirty="0" sz="1100" spc="1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Writing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just" marL="46990" marR="37465">
                        <a:lnSpc>
                          <a:spcPct val="95900"/>
                        </a:lnSpc>
                      </a:pP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Expository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writing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has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distinct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features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distinguish</a:t>
                      </a:r>
                      <a:r>
                        <a:rPr dirty="0" sz="1100" spc="26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dirty="0" sz="1100" spc="26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dirty="0" sz="1100" spc="26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creative 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writing.</a:t>
                      </a:r>
                      <a:r>
                        <a:rPr dirty="0" sz="1100" spc="53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The content of an expository essay 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is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factual and straight-forward 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while the content of a creative story is imaginative and symbolic.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Expository 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essays</a:t>
                      </a:r>
                      <a:r>
                        <a:rPr dirty="0" sz="1100" spc="7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are</a:t>
                      </a:r>
                      <a:r>
                        <a:rPr dirty="0" sz="1100" spc="7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written</a:t>
                      </a:r>
                      <a:r>
                        <a:rPr dirty="0" sz="1100" spc="7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100" spc="7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 spc="7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general</a:t>
                      </a:r>
                      <a:r>
                        <a:rPr dirty="0" sz="1100" spc="7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audience</a:t>
                      </a:r>
                      <a:r>
                        <a:rPr dirty="0" sz="1100" spc="7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but</a:t>
                      </a:r>
                      <a:r>
                        <a:rPr dirty="0" sz="1100" spc="7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creative</a:t>
                      </a:r>
                      <a:r>
                        <a:rPr dirty="0" sz="1100" spc="7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stories</a:t>
                      </a:r>
                      <a:r>
                        <a:rPr dirty="0" sz="1100" spc="7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are</a:t>
                      </a:r>
                      <a:r>
                        <a:rPr dirty="0" sz="1100" spc="7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designed</a:t>
                      </a:r>
                      <a:r>
                        <a:rPr dirty="0" sz="1100" spc="7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dirty="0" sz="1100" spc="-26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specific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audience.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writing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style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expository</a:t>
                      </a:r>
                      <a:r>
                        <a:rPr dirty="0" sz="1100" spc="26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essay</a:t>
                      </a:r>
                      <a:r>
                        <a:rPr dirty="0" sz="1100" spc="27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dirty="0" sz="1100" spc="26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formal, 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standard and academic, while a creative story uses an informal and artistic 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style.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The organization of an expository essay is systematic and deliberate; on 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24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other</a:t>
                      </a:r>
                      <a:r>
                        <a:rPr dirty="0" sz="1100" spc="25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hand,</a:t>
                      </a:r>
                      <a:r>
                        <a:rPr dirty="0" sz="1100" spc="24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25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organization</a:t>
                      </a:r>
                      <a:r>
                        <a:rPr dirty="0" sz="1100" spc="25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spc="25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 spc="25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creative</a:t>
                      </a:r>
                      <a:r>
                        <a:rPr dirty="0" sz="1100" spc="254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story</a:t>
                      </a:r>
                      <a:r>
                        <a:rPr dirty="0" sz="1100" spc="24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dirty="0" sz="1100" spc="25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more</a:t>
                      </a:r>
                      <a:r>
                        <a:rPr dirty="0" sz="1100" spc="24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arbitrary</a:t>
                      </a:r>
                      <a:r>
                        <a:rPr dirty="0" sz="1100" spc="25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 i="1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dirty="0" sz="1100" spc="-26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artistic.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Finally,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most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important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difference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between</a:t>
                      </a:r>
                      <a:r>
                        <a:rPr dirty="0" sz="1100" spc="26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26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two</a:t>
                      </a:r>
                      <a:r>
                        <a:rPr dirty="0" sz="1100" spc="26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types</a:t>
                      </a:r>
                      <a:r>
                        <a:rPr dirty="0" sz="1100" spc="26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writing is the purpose of the text.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An expository essay is written to inform and 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instruct,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while</a:t>
                      </a:r>
                      <a:r>
                        <a:rPr dirty="0" sz="1100" spc="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 spc="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creative</a:t>
                      </a:r>
                      <a:r>
                        <a:rPr dirty="0" sz="1100" spc="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story</a:t>
                      </a:r>
                      <a:r>
                        <a:rPr dirty="0" sz="1100" spc="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dirty="0" sz="1100" spc="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written</a:t>
                      </a:r>
                      <a:r>
                        <a:rPr dirty="0" sz="1100" spc="1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100" spc="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entertain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100" spc="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captivate.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38422">
                <a:tc>
                  <a:txBody>
                    <a:bodyPr/>
                    <a:lstStyle/>
                    <a:p>
                      <a:pPr algn="just" marL="47625" marR="38735">
                        <a:lnSpc>
                          <a:spcPct val="95800"/>
                        </a:lnSpc>
                        <a:spcBef>
                          <a:spcPts val="390"/>
                        </a:spcBef>
                        <a:tabLst>
                          <a:tab pos="1048385" algn="l"/>
                        </a:tabLst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Cause</a:t>
                      </a:r>
                      <a:r>
                        <a:rPr dirty="0" sz="1100" spc="54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1100" spc="54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Effect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author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focuses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relationship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between</a:t>
                      </a:r>
                      <a:r>
                        <a:rPr dirty="0" sz="1100" spc="2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two</a:t>
                      </a:r>
                      <a:r>
                        <a:rPr dirty="0" sz="1100" spc="2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or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more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events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or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experiences.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dirty="0" sz="1100" spc="-2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essay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could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discuss </a:t>
                      </a:r>
                      <a:r>
                        <a:rPr dirty="0" sz="1100" spc="-2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both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 b="1" i="1">
                          <a:latin typeface="Times New Roman"/>
                          <a:cs typeface="Times New Roman"/>
                        </a:rPr>
                        <a:t>causes</a:t>
                      </a:r>
                      <a:r>
                        <a:rPr dirty="0" sz="1100" spc="-5" b="1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 b="1" i="1">
                          <a:latin typeface="Times New Roman"/>
                          <a:cs typeface="Times New Roman"/>
                        </a:rPr>
                        <a:t>effects,</a:t>
                      </a:r>
                      <a:r>
                        <a:rPr dirty="0" sz="1100" spc="-5" b="1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could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simply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address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one </a:t>
                      </a:r>
                      <a:r>
                        <a:rPr dirty="0" sz="1100" spc="-2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2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other.</a:t>
                      </a:r>
                      <a:r>
                        <a:rPr dirty="0" sz="1100" spc="2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 b="1" i="1">
                          <a:latin typeface="Times New Roman"/>
                          <a:cs typeface="Times New Roman"/>
                        </a:rPr>
                        <a:t>cause</a:t>
                      </a:r>
                      <a:r>
                        <a:rPr dirty="0" sz="1100" spc="-5" b="1" i="1">
                          <a:latin typeface="Times New Roman"/>
                          <a:cs typeface="Times New Roman"/>
                        </a:rPr>
                        <a:t> essay</a:t>
                      </a:r>
                      <a:r>
                        <a:rPr dirty="0" sz="1100" b="1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usually </a:t>
                      </a:r>
                      <a:r>
                        <a:rPr dirty="0" sz="1100" spc="-2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discusses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the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47625" marR="38735">
                        <a:lnSpc>
                          <a:spcPct val="95800"/>
                        </a:lnSpc>
                        <a:tabLst>
                          <a:tab pos="640715" algn="l"/>
                          <a:tab pos="703580" algn="l"/>
                          <a:tab pos="979169" algn="l"/>
                          <a:tab pos="1102995" algn="l"/>
                          <a:tab pos="1158240" algn="l"/>
                        </a:tabLst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reasons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	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why 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something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happened.</a:t>
                      </a:r>
                      <a:r>
                        <a:rPr dirty="0" sz="1100" spc="1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dirty="0" sz="1100" spc="1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 b="1" i="1">
                          <a:latin typeface="Times New Roman"/>
                          <a:cs typeface="Times New Roman"/>
                        </a:rPr>
                        <a:t>effect </a:t>
                      </a:r>
                      <a:r>
                        <a:rPr dirty="0" sz="1100" spc="-260" b="1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 i="1">
                          <a:latin typeface="Times New Roman"/>
                          <a:cs typeface="Times New Roman"/>
                        </a:rPr>
                        <a:t>essay</a:t>
                      </a:r>
                      <a:r>
                        <a:rPr dirty="0" sz="1100" b="1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discusses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what </a:t>
                      </a:r>
                      <a:r>
                        <a:rPr dirty="0" sz="1100" spc="-2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happens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after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	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  specific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ent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or 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circumstance.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algn="just" marL="47625">
                        <a:lnSpc>
                          <a:spcPts val="1285"/>
                        </a:lnSpc>
                        <a:spcBef>
                          <a:spcPts val="5"/>
                        </a:spcBef>
                        <a:tabLst>
                          <a:tab pos="815975" algn="l"/>
                        </a:tabLst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Cue	Words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just" marL="47625" marR="38735">
                        <a:lnSpc>
                          <a:spcPts val="1270"/>
                        </a:lnSpc>
                        <a:spcBef>
                          <a:spcPts val="50"/>
                        </a:spcBef>
                        <a:tabLst>
                          <a:tab pos="940435" algn="l"/>
                        </a:tabLst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reasons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wh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; 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if...then; as a result;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therefore;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because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953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just" marL="46990">
                        <a:lnSpc>
                          <a:spcPct val="100000"/>
                        </a:lnSpc>
                        <a:spcBef>
                          <a:spcPts val="870"/>
                        </a:spcBef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Example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spc="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Cause/Effect</a:t>
                      </a:r>
                      <a:r>
                        <a:rPr dirty="0" sz="1100" spc="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Writing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just" marL="46990" marR="39370">
                        <a:lnSpc>
                          <a:spcPct val="95800"/>
                        </a:lnSpc>
                      </a:pP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There are several reasons why so many people attend the Olympic games or 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watch them on television. One reason is tradition. The name Olympics and the 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torch and flame remind people of the ancient games. People can escape the 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ordinariness of daily life by attending or watching the Olympics. They like 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dirty="0" sz="1100" spc="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identify with someone 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else's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individual sacrifice and accomplishment. National 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pride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another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reason,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athlete's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team's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hard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earned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victory </a:t>
                      </a:r>
                      <a:r>
                        <a:rPr dirty="0" sz="1100" spc="-26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becomes a nation's victory. There are national 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medal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counts and people keep 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track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spc="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how many</a:t>
                      </a:r>
                      <a:r>
                        <a:rPr dirty="0" sz="1100" spc="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medals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their</a:t>
                      </a:r>
                      <a:r>
                        <a:rPr dirty="0" sz="1100" spc="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country's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athletes</a:t>
                      </a:r>
                      <a:r>
                        <a:rPr dirty="0" sz="1100" spc="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have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i="1">
                          <a:latin typeface="Times New Roman"/>
                          <a:cs typeface="Times New Roman"/>
                        </a:rPr>
                        <a:t>won.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60448" y="605790"/>
            <a:ext cx="2684526" cy="2400300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3833621" y="3006470"/>
            <a:ext cx="911860" cy="0"/>
          </a:xfrm>
          <a:custGeom>
            <a:avLst/>
            <a:gdLst/>
            <a:ahLst/>
            <a:cxnLst/>
            <a:rect l="l" t="t" r="r" b="b"/>
            <a:pathLst>
              <a:path w="911860" h="0">
                <a:moveTo>
                  <a:pt x="0" y="0"/>
                </a:moveTo>
                <a:lnTo>
                  <a:pt x="911351" y="0"/>
                </a:lnTo>
              </a:path>
            </a:pathLst>
          </a:custGeom>
          <a:ln w="99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59685" y="5633465"/>
            <a:ext cx="3472433" cy="1752600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3886199" y="7383779"/>
            <a:ext cx="1628139" cy="0"/>
          </a:xfrm>
          <a:custGeom>
            <a:avLst/>
            <a:gdLst/>
            <a:ahLst/>
            <a:cxnLst/>
            <a:rect l="l" t="t" r="r" b="b"/>
            <a:pathLst>
              <a:path w="1628139" h="0">
                <a:moveTo>
                  <a:pt x="0" y="0"/>
                </a:moveTo>
                <a:lnTo>
                  <a:pt x="1627631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4580" y="342390"/>
            <a:ext cx="608330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869305" algn="l"/>
              </a:tabLst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l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</a:t>
            </a:r>
            <a:r>
              <a:rPr dirty="0" sz="1100" spc="-15">
                <a:solidFill>
                  <a:srgbClr val="323232"/>
                </a:solidFill>
                <a:latin typeface="Times New Roman"/>
                <a:cs typeface="Times New Roman"/>
              </a:rPr>
              <a:t>m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entary</a:t>
            </a:r>
            <a:r>
              <a:rPr dirty="0" sz="1100" spc="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g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lish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360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67219" y="9493248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87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972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829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250441" y="583184"/>
            <a:ext cx="1186180" cy="1959610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algn="just" marR="5080">
              <a:lnSpc>
                <a:spcPct val="95800"/>
              </a:lnSpc>
              <a:spcBef>
                <a:spcPts val="150"/>
              </a:spcBef>
              <a:tabLst>
                <a:tab pos="922655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Problem / Solution 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author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problem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2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lists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2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solutions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problem. A variation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 this pattern is 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question-</a:t>
            </a:r>
            <a:r>
              <a:rPr dirty="0" sz="1100">
                <a:latin typeface="Times New Roman"/>
                <a:cs typeface="Times New Roman"/>
              </a:rPr>
              <a:t>	</a:t>
            </a:r>
            <a:r>
              <a:rPr dirty="0" sz="1100" spc="-5">
                <a:latin typeface="Times New Roman"/>
                <a:cs typeface="Times New Roman"/>
              </a:rPr>
              <a:t>and-  </a:t>
            </a:r>
            <a:r>
              <a:rPr dirty="0" sz="1100" spc="-10">
                <a:latin typeface="Times New Roman"/>
                <a:cs typeface="Times New Roman"/>
              </a:rPr>
              <a:t>answer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format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author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poses a question and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then answers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50441" y="2689334"/>
            <a:ext cx="1185545" cy="833755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algn="just" marR="5080">
              <a:lnSpc>
                <a:spcPct val="95600"/>
              </a:lnSpc>
              <a:spcBef>
                <a:spcPts val="155"/>
              </a:spcBef>
              <a:tabLst>
                <a:tab pos="767715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Cue</a:t>
            </a:r>
            <a:r>
              <a:rPr dirty="0" sz="1100" spc="-5" b="1">
                <a:latin typeface="Times New Roman"/>
                <a:cs typeface="Times New Roman"/>
              </a:rPr>
              <a:t>	</a:t>
            </a:r>
            <a:r>
              <a:rPr dirty="0" sz="1100" spc="-5" b="1">
                <a:latin typeface="Times New Roman"/>
                <a:cs typeface="Times New Roman"/>
              </a:rPr>
              <a:t>Words 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problem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is;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dilemma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is;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puzzle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 solved; question...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answer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516885" y="605027"/>
            <a:ext cx="3448050" cy="428625"/>
            <a:chOff x="2516885" y="605027"/>
            <a:chExt cx="3448050" cy="42862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16885" y="605027"/>
              <a:ext cx="3448050" cy="42824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523743" y="1028699"/>
              <a:ext cx="1362710" cy="0"/>
            </a:xfrm>
            <a:custGeom>
              <a:avLst/>
              <a:gdLst/>
              <a:ahLst/>
              <a:cxnLst/>
              <a:rect l="l" t="t" r="r" b="b"/>
              <a:pathLst>
                <a:path w="1362710" h="0">
                  <a:moveTo>
                    <a:pt x="0" y="0"/>
                  </a:moveTo>
                  <a:lnTo>
                    <a:pt x="1362455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2469642" y="553211"/>
            <a:ext cx="4556760" cy="3154680"/>
          </a:xfrm>
          <a:prstGeom prst="rect">
            <a:avLst/>
          </a:prstGeom>
          <a:ln w="9143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 algn="just" marL="46990">
              <a:lnSpc>
                <a:spcPct val="100000"/>
              </a:lnSpc>
              <a:spcBef>
                <a:spcPts val="875"/>
              </a:spcBef>
            </a:pPr>
            <a:r>
              <a:rPr dirty="0" sz="1100" spc="-5" b="1">
                <a:latin typeface="Times New Roman"/>
                <a:cs typeface="Times New Roman"/>
              </a:rPr>
              <a:t>Example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of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Problem/Solution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Writing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46990" marR="38735">
              <a:lnSpc>
                <a:spcPct val="95800"/>
              </a:lnSpc>
            </a:pPr>
            <a:r>
              <a:rPr dirty="0" sz="1100" spc="-5" i="1">
                <a:latin typeface="Times New Roman"/>
                <a:cs typeface="Times New Roman"/>
              </a:rPr>
              <a:t>One problem with the modern Olympics is that it has become very big and </a:t>
            </a:r>
            <a:r>
              <a:rPr dirty="0" sz="110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expensive</a:t>
            </a:r>
            <a:r>
              <a:rPr dirty="0" sz="1100" spc="6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to</a:t>
            </a:r>
            <a:r>
              <a:rPr dirty="0" sz="1100" spc="6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operate.</a:t>
            </a:r>
            <a:r>
              <a:rPr dirty="0" sz="1100" spc="6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The</a:t>
            </a:r>
            <a:r>
              <a:rPr dirty="0" sz="1100" spc="55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city</a:t>
            </a:r>
            <a:r>
              <a:rPr dirty="0" sz="1100" spc="6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or</a:t>
            </a:r>
            <a:r>
              <a:rPr dirty="0" sz="1100" spc="55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country</a:t>
            </a:r>
            <a:r>
              <a:rPr dirty="0" sz="1100" spc="65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that</a:t>
            </a:r>
            <a:r>
              <a:rPr dirty="0" sz="1100" spc="6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hosts</a:t>
            </a:r>
            <a:r>
              <a:rPr dirty="0" sz="1100" spc="65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the</a:t>
            </a:r>
            <a:r>
              <a:rPr dirty="0" sz="1100" spc="6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games</a:t>
            </a:r>
            <a:r>
              <a:rPr dirty="0" sz="1100" spc="6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often</a:t>
            </a:r>
            <a:r>
              <a:rPr dirty="0" sz="1100" spc="65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loses</a:t>
            </a:r>
            <a:r>
              <a:rPr dirty="0" sz="1100" spc="6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a</a:t>
            </a:r>
            <a:r>
              <a:rPr dirty="0" sz="1100" spc="6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lot </a:t>
            </a:r>
            <a:r>
              <a:rPr dirty="0" sz="1100" spc="-26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of money. A stadium, pools, and playing fields must be built for the athletic </a:t>
            </a:r>
            <a:r>
              <a:rPr dirty="0" sz="110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events and housing is needed for the athletes who </a:t>
            </a:r>
            <a:r>
              <a:rPr dirty="0" sz="1100" i="1">
                <a:latin typeface="Times New Roman"/>
                <a:cs typeface="Times New Roman"/>
              </a:rPr>
              <a:t>come </a:t>
            </a:r>
            <a:r>
              <a:rPr dirty="0" sz="1100" spc="-5" i="1">
                <a:latin typeface="Times New Roman"/>
                <a:cs typeface="Times New Roman"/>
              </a:rPr>
              <a:t>from around the world. </a:t>
            </a:r>
            <a:r>
              <a:rPr dirty="0" sz="110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And</a:t>
            </a:r>
            <a:r>
              <a:rPr dirty="0" sz="110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all of these</a:t>
            </a:r>
            <a:r>
              <a:rPr dirty="0" sz="110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facilities</a:t>
            </a:r>
            <a:r>
              <a:rPr dirty="0" sz="110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are used for</a:t>
            </a:r>
            <a:r>
              <a:rPr dirty="0" sz="1100" spc="265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only 2 weeks!</a:t>
            </a:r>
            <a:r>
              <a:rPr dirty="0" sz="1100" spc="265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In 1984, Los Angeles </a:t>
            </a:r>
            <a:r>
              <a:rPr dirty="0" sz="110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solved</a:t>
            </a:r>
            <a:r>
              <a:rPr dirty="0" sz="1100" spc="25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these</a:t>
            </a:r>
            <a:r>
              <a:rPr dirty="0" sz="1100" spc="254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problems</a:t>
            </a:r>
            <a:r>
              <a:rPr dirty="0" sz="1100" spc="254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by</a:t>
            </a:r>
            <a:r>
              <a:rPr dirty="0" sz="1100" spc="254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charging</a:t>
            </a:r>
            <a:r>
              <a:rPr dirty="0" sz="1100" spc="254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a</a:t>
            </a:r>
            <a:r>
              <a:rPr dirty="0" sz="1100" spc="25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fee</a:t>
            </a:r>
            <a:r>
              <a:rPr dirty="0" sz="1100" spc="254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for</a:t>
            </a:r>
            <a:r>
              <a:rPr dirty="0" sz="1100" spc="254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companies</a:t>
            </a:r>
            <a:r>
              <a:rPr dirty="0" sz="1100" spc="254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who</a:t>
            </a:r>
            <a:r>
              <a:rPr dirty="0" sz="1100" spc="254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wanted</a:t>
            </a:r>
            <a:r>
              <a:rPr dirty="0" sz="1100" spc="254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to</a:t>
            </a:r>
            <a:r>
              <a:rPr dirty="0" sz="1100" spc="26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be </a:t>
            </a:r>
            <a:r>
              <a:rPr dirty="0" sz="1100" spc="-26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official sponsors of the games. Companies like McDonald's paid a lot of money </a:t>
            </a:r>
            <a:r>
              <a:rPr dirty="0" sz="110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to be part of the Olympics. Many buildings that were already built in the Los </a:t>
            </a:r>
            <a:r>
              <a:rPr dirty="0" sz="110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Angeles area were also used. The Coliseum where </a:t>
            </a:r>
            <a:r>
              <a:rPr dirty="0" sz="1100" i="1">
                <a:latin typeface="Times New Roman"/>
                <a:cs typeface="Times New Roman"/>
              </a:rPr>
              <a:t>the </a:t>
            </a:r>
            <a:r>
              <a:rPr dirty="0" sz="1100" spc="-5" i="1">
                <a:latin typeface="Times New Roman"/>
                <a:cs typeface="Times New Roman"/>
              </a:rPr>
              <a:t>1932 games were held </a:t>
            </a:r>
            <a:r>
              <a:rPr dirty="0" sz="110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was used again and many colleges and universities </a:t>
            </a:r>
            <a:r>
              <a:rPr dirty="0" sz="1100" i="1">
                <a:latin typeface="Times New Roman"/>
                <a:cs typeface="Times New Roman"/>
              </a:rPr>
              <a:t>in </a:t>
            </a:r>
            <a:r>
              <a:rPr dirty="0" sz="1100" spc="-5" i="1">
                <a:latin typeface="Times New Roman"/>
                <a:cs typeface="Times New Roman"/>
              </a:rPr>
              <a:t>the area became playing </a:t>
            </a:r>
            <a:r>
              <a:rPr dirty="0" sz="110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and living</a:t>
            </a:r>
            <a:r>
              <a:rPr dirty="0" sz="110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sites.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197864" y="548639"/>
            <a:ext cx="1267460" cy="3164205"/>
          </a:xfrm>
          <a:custGeom>
            <a:avLst/>
            <a:gdLst/>
            <a:ahLst/>
            <a:cxnLst/>
            <a:rect l="l" t="t" r="r" b="b"/>
            <a:pathLst>
              <a:path w="1267460" h="3164204">
                <a:moveTo>
                  <a:pt x="1267206" y="0"/>
                </a:moveTo>
                <a:lnTo>
                  <a:pt x="9131" y="0"/>
                </a:lnTo>
                <a:lnTo>
                  <a:pt x="0" y="0"/>
                </a:lnTo>
                <a:lnTo>
                  <a:pt x="0" y="9144"/>
                </a:lnTo>
                <a:lnTo>
                  <a:pt x="0" y="57150"/>
                </a:lnTo>
                <a:lnTo>
                  <a:pt x="0" y="3154680"/>
                </a:lnTo>
                <a:lnTo>
                  <a:pt x="0" y="3163824"/>
                </a:lnTo>
                <a:lnTo>
                  <a:pt x="9131" y="3163824"/>
                </a:lnTo>
                <a:lnTo>
                  <a:pt x="1267206" y="3163824"/>
                </a:lnTo>
                <a:lnTo>
                  <a:pt x="1267206" y="3154680"/>
                </a:lnTo>
                <a:lnTo>
                  <a:pt x="9131" y="3154680"/>
                </a:lnTo>
                <a:lnTo>
                  <a:pt x="9131" y="57150"/>
                </a:lnTo>
                <a:lnTo>
                  <a:pt x="9131" y="9144"/>
                </a:lnTo>
                <a:lnTo>
                  <a:pt x="1267206" y="9144"/>
                </a:lnTo>
                <a:lnTo>
                  <a:pt x="126720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084580" y="3850638"/>
            <a:ext cx="6062980" cy="53327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LOGICAL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FALLACIES: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 marR="6985" indent="457200">
              <a:lnSpc>
                <a:spcPct val="95800"/>
              </a:lnSpc>
            </a:pPr>
            <a:r>
              <a:rPr dirty="0" sz="1100" spc="-5">
                <a:latin typeface="Times New Roman"/>
                <a:cs typeface="Times New Roman"/>
              </a:rPr>
              <a:t>Strong, logical arguments are essential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writing. However, the use of faulty logic or reasoning to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reach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conclusions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discredits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arguments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shows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lack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support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reasoning.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handout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lists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logical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errors—called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logical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fallacies</a:t>
            </a:r>
            <a:r>
              <a:rPr dirty="0" sz="1100" spc="-5">
                <a:latin typeface="Times New Roman"/>
                <a:cs typeface="Times New Roman"/>
              </a:rPr>
              <a:t>—that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most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commonly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encountered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everyday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 marR="236854">
              <a:lnSpc>
                <a:spcPct val="95700"/>
              </a:lnSpc>
            </a:pPr>
            <a:r>
              <a:rPr dirty="0" sz="1100" spc="-5" b="1">
                <a:latin typeface="Times New Roman"/>
                <a:cs typeface="Times New Roman"/>
              </a:rPr>
              <a:t>APPEAL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TO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AUTHORITY: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Accepting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someone’s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argument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because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authority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field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unrelated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argument,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rather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evaluating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person’s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argument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own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merits.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(Also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called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Argumentum</a:t>
            </a:r>
            <a:r>
              <a:rPr dirty="0" sz="110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ad</a:t>
            </a:r>
            <a:r>
              <a:rPr dirty="0" sz="110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Verecundiam</a:t>
            </a:r>
            <a:r>
              <a:rPr dirty="0" sz="1100" i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“argument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from modesty”)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EXAMPLE: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dentist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says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she’s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voting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conservative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candidate,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too.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 algn="just" marL="12700" marR="6350">
              <a:lnSpc>
                <a:spcPct val="95800"/>
              </a:lnSpc>
            </a:pPr>
            <a:r>
              <a:rPr dirty="0" sz="1100" spc="-10" b="1">
                <a:latin typeface="Times New Roman"/>
                <a:cs typeface="Times New Roman"/>
              </a:rPr>
              <a:t>APPEAL </a:t>
            </a:r>
            <a:r>
              <a:rPr dirty="0" sz="1100" b="1">
                <a:latin typeface="Times New Roman"/>
                <a:cs typeface="Times New Roman"/>
              </a:rPr>
              <a:t>TO </a:t>
            </a:r>
            <a:r>
              <a:rPr dirty="0" sz="1100" spc="-5" b="1">
                <a:latin typeface="Times New Roman"/>
                <a:cs typeface="Times New Roman"/>
              </a:rPr>
              <a:t>EMOTION: </a:t>
            </a:r>
            <a:r>
              <a:rPr dirty="0" sz="1100" spc="-5">
                <a:latin typeface="Times New Roman"/>
                <a:cs typeface="Times New Roman"/>
              </a:rPr>
              <a:t>Exploiting the audience’s feelings to convert them to a particular viewpoint.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Appeals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fear,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flattery,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ridicule,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pity,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spite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among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most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common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forms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fallacy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takes.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 circumstances, appealing to emotion may be appropriate, but writers should avoid appeals to emotion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reason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logic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expected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needed.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EXAMPLE: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I’m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sure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someone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vast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experience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plan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better.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(Appeal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flattery)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 algn="just" marL="12700">
              <a:lnSpc>
                <a:spcPts val="1295"/>
              </a:lnSpc>
            </a:pPr>
            <a:r>
              <a:rPr dirty="0" sz="1100" spc="-5" b="1">
                <a:latin typeface="Times New Roman"/>
                <a:cs typeface="Times New Roman"/>
              </a:rPr>
              <a:t>APPEAL</a:t>
            </a:r>
            <a:r>
              <a:rPr dirty="0" sz="1100" spc="22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TO</a:t>
            </a:r>
            <a:r>
              <a:rPr dirty="0" sz="1100" spc="229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IGNORANCE:</a:t>
            </a:r>
            <a:r>
              <a:rPr dirty="0" sz="1100" spc="229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Basing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conclusion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solely</a:t>
            </a:r>
            <a:r>
              <a:rPr dirty="0" sz="1100" spc="2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absence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knowledge.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(Also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called</a:t>
            </a:r>
            <a:endParaRPr sz="1100">
              <a:latin typeface="Times New Roman"/>
              <a:cs typeface="Times New Roman"/>
            </a:endParaRPr>
          </a:p>
          <a:p>
            <a:pPr algn="just" marL="12700">
              <a:lnSpc>
                <a:spcPts val="1295"/>
              </a:lnSpc>
            </a:pPr>
            <a:r>
              <a:rPr dirty="0" sz="1100" spc="-5" i="1">
                <a:latin typeface="Times New Roman"/>
                <a:cs typeface="Times New Roman"/>
              </a:rPr>
              <a:t>Argumentum</a:t>
            </a:r>
            <a:r>
              <a:rPr dirty="0" sz="1100" spc="-1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ad Ignoratiam</a:t>
            </a:r>
            <a:r>
              <a:rPr dirty="0" sz="1100" spc="-5">
                <a:latin typeface="Times New Roman"/>
                <a:cs typeface="Times New Roman"/>
              </a:rPr>
              <a:t>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EXAMPLE: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I’ve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never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seen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alien,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must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exist.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00">
              <a:latin typeface="Times New Roman"/>
              <a:cs typeface="Times New Roman"/>
            </a:endParaRPr>
          </a:p>
          <a:p>
            <a:pPr algn="just" marL="12700" marR="6985">
              <a:lnSpc>
                <a:spcPts val="1270"/>
              </a:lnSpc>
            </a:pPr>
            <a:r>
              <a:rPr dirty="0" sz="1100" spc="-5" b="1">
                <a:latin typeface="Times New Roman"/>
                <a:cs typeface="Times New Roman"/>
              </a:rPr>
              <a:t>APPEAL TO POPULAR OPINION: </a:t>
            </a:r>
            <a:r>
              <a:rPr dirty="0" sz="1100" spc="-5">
                <a:latin typeface="Times New Roman"/>
                <a:cs typeface="Times New Roman"/>
              </a:rPr>
              <a:t>Claiming that a position is true because most people believe it is.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(Also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called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Argumentum</a:t>
            </a:r>
            <a:r>
              <a:rPr dirty="0" sz="110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ad</a:t>
            </a:r>
            <a:r>
              <a:rPr dirty="0" sz="110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Populum</a:t>
            </a:r>
            <a:r>
              <a:rPr dirty="0" sz="1100" spc="-5">
                <a:latin typeface="Times New Roman"/>
                <a:cs typeface="Times New Roman"/>
              </a:rPr>
              <a:t>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EXAMPLE: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Everyone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cheats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income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taxes,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must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right.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00">
              <a:latin typeface="Times New Roman"/>
              <a:cs typeface="Times New Roman"/>
            </a:endParaRPr>
          </a:p>
          <a:p>
            <a:pPr algn="just" marL="12700" marR="5080">
              <a:lnSpc>
                <a:spcPts val="1270"/>
              </a:lnSpc>
            </a:pPr>
            <a:r>
              <a:rPr dirty="0" sz="1100" spc="-5" b="1">
                <a:latin typeface="Times New Roman"/>
                <a:cs typeface="Times New Roman"/>
              </a:rPr>
              <a:t>ATTACKING</a:t>
            </a:r>
            <a:r>
              <a:rPr dirty="0" sz="1100" spc="15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</a:t>
            </a:r>
            <a:r>
              <a:rPr dirty="0" sz="1100" spc="15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PERSON:</a:t>
            </a:r>
            <a:r>
              <a:rPr dirty="0" sz="1100" spc="16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Discrediting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argument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by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attacking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person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who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makes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it,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rather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 the argument itself (Also called Poisoning the Well or </a:t>
            </a:r>
            <a:r>
              <a:rPr dirty="0" sz="1100" spc="-5" i="1">
                <a:latin typeface="Times New Roman"/>
                <a:cs typeface="Times New Roman"/>
              </a:rPr>
              <a:t>Argumentum ad Hominem—</a:t>
            </a:r>
            <a:r>
              <a:rPr dirty="0" sz="1100" spc="-5">
                <a:latin typeface="Times New Roman"/>
                <a:cs typeface="Times New Roman"/>
              </a:rPr>
              <a:t>literally, “argument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against 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man”)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00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257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27352" y="342390"/>
            <a:ext cx="6083300" cy="93592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869305" algn="l"/>
              </a:tabLst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l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</a:t>
            </a:r>
            <a:r>
              <a:rPr dirty="0" sz="1100" spc="-15">
                <a:solidFill>
                  <a:srgbClr val="323232"/>
                </a:solidFill>
                <a:latin typeface="Times New Roman"/>
                <a:cs typeface="Times New Roman"/>
              </a:rPr>
              <a:t>m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entary</a:t>
            </a:r>
            <a:r>
              <a:rPr dirty="0" sz="1100" spc="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g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lish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 marR="29845">
              <a:lnSpc>
                <a:spcPts val="1270"/>
              </a:lnSpc>
            </a:pPr>
            <a:r>
              <a:rPr dirty="0" sz="1100" spc="-5">
                <a:latin typeface="Times New Roman"/>
                <a:cs typeface="Times New Roman"/>
              </a:rPr>
              <a:t>EXAMPLE: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Don’t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listen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Becky’s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opinion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welfare;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she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just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opposes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because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she’s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from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rich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family.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 marR="28575">
              <a:lnSpc>
                <a:spcPts val="1270"/>
              </a:lnSpc>
            </a:pPr>
            <a:r>
              <a:rPr dirty="0" sz="1100" spc="-10" b="1">
                <a:latin typeface="Times New Roman"/>
                <a:cs typeface="Times New Roman"/>
              </a:rPr>
              <a:t>BEGGING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QUESTION: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Using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premise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prove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conclusion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premise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itself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assumes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conclusion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true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(Also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called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Circular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Argument,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Circulus</a:t>
            </a:r>
            <a:r>
              <a:rPr dirty="0" sz="1100" spc="5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in</a:t>
            </a:r>
            <a:r>
              <a:rPr dirty="0" sz="1100" spc="1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Probando,</a:t>
            </a:r>
            <a:r>
              <a:rPr dirty="0" sz="1100" spc="5" i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Petitio</a:t>
            </a:r>
            <a:r>
              <a:rPr dirty="0" sz="1100" spc="1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Principii</a:t>
            </a:r>
            <a:r>
              <a:rPr dirty="0" sz="1100" spc="-5">
                <a:latin typeface="Times New Roman"/>
                <a:cs typeface="Times New Roman"/>
              </a:rPr>
              <a:t>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EXAMPLE: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know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trust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Janine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because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says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 marR="27940">
              <a:lnSpc>
                <a:spcPts val="1270"/>
              </a:lnSpc>
              <a:spcBef>
                <a:spcPts val="5"/>
              </a:spcBef>
            </a:pPr>
            <a:r>
              <a:rPr dirty="0" sz="1100" spc="-5" b="1">
                <a:latin typeface="Times New Roman"/>
                <a:cs typeface="Times New Roman"/>
              </a:rPr>
              <a:t>COMPLEX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QUESTION: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Combining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questions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issues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if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were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really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should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answered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discussed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separately.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Often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involves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question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assumes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answer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another.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EXAMPLE: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steal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CD?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(Assumes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steal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CD.)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 marR="27940">
              <a:lnSpc>
                <a:spcPts val="1270"/>
              </a:lnSpc>
            </a:pPr>
            <a:r>
              <a:rPr dirty="0" sz="1100" spc="-5" b="1">
                <a:latin typeface="Times New Roman"/>
                <a:cs typeface="Times New Roman"/>
              </a:rPr>
              <a:t>COMPOSITION:</a:t>
            </a:r>
            <a:r>
              <a:rPr dirty="0" sz="1100" spc="23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Assuming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because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parts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certain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properties,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whole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does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well.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(The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reverse 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Division)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EXAMPLE: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parts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engine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were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lightweight,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engine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should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been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lightweight.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00">
              <a:latin typeface="Times New Roman"/>
              <a:cs typeface="Times New Roman"/>
            </a:endParaRPr>
          </a:p>
          <a:p>
            <a:pPr algn="just" marL="12700" marR="27940">
              <a:lnSpc>
                <a:spcPts val="1270"/>
              </a:lnSpc>
            </a:pPr>
            <a:r>
              <a:rPr dirty="0" sz="1100" spc="-5" b="1">
                <a:latin typeface="Times New Roman"/>
                <a:cs typeface="Times New Roman"/>
              </a:rPr>
              <a:t>CORRELATION IMPLIES CAUSATION: </a:t>
            </a:r>
            <a:r>
              <a:rPr dirty="0" sz="1100" spc="-5">
                <a:latin typeface="Times New Roman"/>
                <a:cs typeface="Times New Roman"/>
              </a:rPr>
              <a:t>Concluding that because two things occur at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same time,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has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caused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other.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(Also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called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Cum</a:t>
            </a:r>
            <a:r>
              <a:rPr dirty="0" sz="1100" spc="65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Hoc</a:t>
            </a:r>
            <a:r>
              <a:rPr dirty="0" sz="1100" spc="7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Ergo</a:t>
            </a:r>
            <a:r>
              <a:rPr dirty="0" sz="1100" spc="65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Propter</a:t>
            </a:r>
            <a:r>
              <a:rPr dirty="0" sz="1100" spc="7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Hoc</a:t>
            </a:r>
            <a:r>
              <a:rPr dirty="0" sz="1100" spc="-5">
                <a:latin typeface="Times New Roman"/>
                <a:cs typeface="Times New Roman"/>
              </a:rPr>
              <a:t>—literally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“with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this,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therefore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because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 this.”)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 marR="27940">
              <a:lnSpc>
                <a:spcPts val="127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EXAMPLE: There was a </a:t>
            </a:r>
            <a:r>
              <a:rPr dirty="0" sz="1100">
                <a:latin typeface="Times New Roman"/>
                <a:cs typeface="Times New Roman"/>
              </a:rPr>
              <a:t>full </a:t>
            </a:r>
            <a:r>
              <a:rPr dirty="0" sz="1100" spc="-5">
                <a:latin typeface="Times New Roman"/>
                <a:cs typeface="Times New Roman"/>
              </a:rPr>
              <a:t>moon the night I had </a:t>
            </a:r>
            <a:r>
              <a:rPr dirty="0" sz="1100" spc="-10">
                <a:latin typeface="Times New Roman"/>
                <a:cs typeface="Times New Roman"/>
              </a:rPr>
              <a:t>my </a:t>
            </a:r>
            <a:r>
              <a:rPr dirty="0" sz="1100" spc="-5">
                <a:latin typeface="Times New Roman"/>
                <a:cs typeface="Times New Roman"/>
              </a:rPr>
              <a:t>car accident, so </a:t>
            </a:r>
            <a:r>
              <a:rPr dirty="0" sz="1100">
                <a:latin typeface="Times New Roman"/>
                <a:cs typeface="Times New Roman"/>
              </a:rPr>
              <a:t>I’m </a:t>
            </a:r>
            <a:r>
              <a:rPr dirty="0" sz="1100" spc="-5">
                <a:latin typeface="Times New Roman"/>
                <a:cs typeface="Times New Roman"/>
              </a:rPr>
              <a:t>never driving again under a full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moon.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 marR="26670">
              <a:lnSpc>
                <a:spcPts val="1270"/>
              </a:lnSpc>
              <a:spcBef>
                <a:spcPts val="5"/>
              </a:spcBef>
            </a:pPr>
            <a:r>
              <a:rPr dirty="0" sz="1100" spc="-5" b="1">
                <a:latin typeface="Times New Roman"/>
                <a:cs typeface="Times New Roman"/>
              </a:rPr>
              <a:t>DIVISION: </a:t>
            </a:r>
            <a:r>
              <a:rPr dirty="0" sz="1100" spc="-5">
                <a:latin typeface="Times New Roman"/>
                <a:cs typeface="Times New Roman"/>
              </a:rPr>
              <a:t>Assuming that because a large body has certain properties, its parts do as well. (The reverse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Composition)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EXAMPLE: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Europe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great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museums,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every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country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Europe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must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great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museums.</a:t>
            </a:r>
            <a:endParaRPr sz="1100">
              <a:latin typeface="Times New Roman"/>
              <a:cs typeface="Times New Roman"/>
            </a:endParaRPr>
          </a:p>
          <a:p>
            <a:pPr marL="12700" marR="1565910">
              <a:lnSpc>
                <a:spcPts val="2530"/>
              </a:lnSpc>
              <a:spcBef>
                <a:spcPts val="285"/>
              </a:spcBef>
            </a:pPr>
            <a:r>
              <a:rPr dirty="0" sz="1100" spc="-5" b="1">
                <a:latin typeface="Times New Roman"/>
                <a:cs typeface="Times New Roman"/>
              </a:rPr>
              <a:t>EQUIVOCATION: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Applying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same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term but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meanings.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EXAMPLE: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sign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said,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“Fine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swimming,”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dove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right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in.</a:t>
            </a:r>
            <a:endParaRPr sz="1100">
              <a:latin typeface="Times New Roman"/>
              <a:cs typeface="Times New Roman"/>
            </a:endParaRPr>
          </a:p>
          <a:p>
            <a:pPr algn="just" marL="12700" marR="26034">
              <a:lnSpc>
                <a:spcPct val="95700"/>
              </a:lnSpc>
              <a:spcBef>
                <a:spcPts val="985"/>
              </a:spcBef>
            </a:pPr>
            <a:r>
              <a:rPr dirty="0" sz="1100" spc="-5" b="1">
                <a:latin typeface="Times New Roman"/>
                <a:cs typeface="Times New Roman"/>
              </a:rPr>
              <a:t>FALSE CAUSE AND EFFECT: </a:t>
            </a:r>
            <a:r>
              <a:rPr dirty="0" sz="1100" spc="-5">
                <a:latin typeface="Times New Roman"/>
                <a:cs typeface="Times New Roman"/>
              </a:rPr>
              <a:t>Claiming that because one event occurred before a second, it caused 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second.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(Also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called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Coincidental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Correlation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Post-Hoc</a:t>
            </a:r>
            <a:r>
              <a:rPr dirty="0" sz="110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Ergo</a:t>
            </a:r>
            <a:r>
              <a:rPr dirty="0" sz="110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Propter</a:t>
            </a:r>
            <a:r>
              <a:rPr dirty="0" sz="110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Hoc—</a:t>
            </a:r>
            <a:r>
              <a:rPr dirty="0" sz="1100" spc="-5">
                <a:latin typeface="Times New Roman"/>
                <a:cs typeface="Times New Roman"/>
              </a:rPr>
              <a:t>literally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“after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therefore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because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this.”)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EXAMPLE: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Yesterday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broccoli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failed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test.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I’m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never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eating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broccoli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before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test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again.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00">
              <a:latin typeface="Times New Roman"/>
              <a:cs typeface="Times New Roman"/>
            </a:endParaRPr>
          </a:p>
          <a:p>
            <a:pPr algn="just" marL="12700" marR="28575" indent="-635">
              <a:lnSpc>
                <a:spcPts val="1270"/>
              </a:lnSpc>
              <a:spcBef>
                <a:spcPts val="5"/>
              </a:spcBef>
            </a:pPr>
            <a:r>
              <a:rPr dirty="0" sz="1100" spc="-5" b="1">
                <a:latin typeface="Times New Roman"/>
                <a:cs typeface="Times New Roman"/>
              </a:rPr>
              <a:t>FALSE DILEMMA: </a:t>
            </a:r>
            <a:r>
              <a:rPr dirty="0" sz="1100" spc="-5">
                <a:latin typeface="Times New Roman"/>
                <a:cs typeface="Times New Roman"/>
              </a:rPr>
              <a:t>Suggesting only two solutions to a problem when other options are also available.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(Also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called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Bifurcation)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EXAMPLE: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America—loves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leaves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it!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00">
              <a:latin typeface="Times New Roman"/>
              <a:cs typeface="Times New Roman"/>
            </a:endParaRPr>
          </a:p>
          <a:p>
            <a:pPr algn="just" marL="12700" marR="27305">
              <a:lnSpc>
                <a:spcPts val="1260"/>
              </a:lnSpc>
            </a:pPr>
            <a:r>
              <a:rPr dirty="0" sz="1100" spc="-5" b="1">
                <a:latin typeface="Times New Roman"/>
                <a:cs typeface="Times New Roman"/>
              </a:rPr>
              <a:t>HASTY GENERALIZATIONS: </a:t>
            </a:r>
            <a:r>
              <a:rPr dirty="0" sz="1100" spc="-5">
                <a:latin typeface="Times New Roman"/>
                <a:cs typeface="Times New Roman"/>
              </a:rPr>
              <a:t>When a writer arrives at a conclusion based on inadequate evidence or a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sample that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small.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 algn="just" marL="12700" marR="27305">
              <a:lnSpc>
                <a:spcPts val="1270"/>
              </a:lnSpc>
            </a:pPr>
            <a:r>
              <a:rPr dirty="0" sz="1100" spc="-5">
                <a:latin typeface="Times New Roman"/>
                <a:cs typeface="Times New Roman"/>
              </a:rPr>
              <a:t>EXAMPLE: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liked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last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Chinese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restaurant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went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to,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like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every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Chinese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restaurant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 marR="27305">
              <a:lnSpc>
                <a:spcPts val="1270"/>
              </a:lnSpc>
            </a:pPr>
            <a:r>
              <a:rPr dirty="0" sz="1100" spc="-5" b="1">
                <a:latin typeface="Times New Roman"/>
                <a:cs typeface="Times New Roman"/>
              </a:rPr>
              <a:t>IGNORING THE ISSUE: </a:t>
            </a:r>
            <a:r>
              <a:rPr dirty="0" sz="1100" spc="-5">
                <a:latin typeface="Times New Roman"/>
                <a:cs typeface="Times New Roman"/>
              </a:rPr>
              <a:t>Shifting the reader’s attention from the real issue to a different argument that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might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valid,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unrelated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first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(Also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called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Arguing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beside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Point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Ignoratio</a:t>
            </a:r>
            <a:r>
              <a:rPr dirty="0" sz="1100" spc="1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Elenchi.</a:t>
            </a:r>
            <a:r>
              <a:rPr dirty="0" sz="1100" spc="-5">
                <a:latin typeface="Times New Roman"/>
                <a:cs typeface="Times New Roman"/>
              </a:rPr>
              <a:t>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 marL="1564005">
              <a:lnSpc>
                <a:spcPct val="100000"/>
              </a:lnSpc>
              <a:spcBef>
                <a:spcPts val="840"/>
              </a:spcBef>
              <a:tabLst>
                <a:tab pos="5894705" algn="l"/>
              </a:tabLst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	88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360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67219" y="9493248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89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972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84580" y="342390"/>
            <a:ext cx="6083300" cy="407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95"/>
              </a:spcBef>
              <a:tabLst>
                <a:tab pos="5869305" algn="l"/>
              </a:tabLst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l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</a:t>
            </a:r>
            <a:r>
              <a:rPr dirty="0" sz="1100" spc="-15">
                <a:solidFill>
                  <a:srgbClr val="323232"/>
                </a:solidFill>
                <a:latin typeface="Times New Roman"/>
                <a:cs typeface="Times New Roman"/>
              </a:rPr>
              <a:t>m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entary</a:t>
            </a:r>
            <a:r>
              <a:rPr dirty="0" sz="1100" spc="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g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lish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27940">
              <a:lnSpc>
                <a:spcPts val="1270"/>
              </a:lnSpc>
            </a:pPr>
            <a:r>
              <a:rPr dirty="0" sz="1100" spc="-5">
                <a:latin typeface="Times New Roman"/>
                <a:cs typeface="Times New Roman"/>
              </a:rPr>
              <a:t>EXAMPLE: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No,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criminal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won’t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say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where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night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crime,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but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does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remember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abused repeatedly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innocent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child.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 marR="27940">
              <a:lnSpc>
                <a:spcPts val="1270"/>
              </a:lnSpc>
            </a:pPr>
            <a:r>
              <a:rPr dirty="0" sz="1100" spc="-5" b="1">
                <a:latin typeface="Times New Roman"/>
                <a:cs typeface="Times New Roman"/>
              </a:rPr>
              <a:t>RED HERRING: </a:t>
            </a:r>
            <a:r>
              <a:rPr dirty="0" sz="1100" spc="-5">
                <a:latin typeface="Times New Roman"/>
                <a:cs typeface="Times New Roman"/>
              </a:rPr>
              <a:t>Introducing an unrelated or invalid point to distract the reader </a:t>
            </a:r>
            <a:r>
              <a:rPr dirty="0" sz="1100">
                <a:latin typeface="Times New Roman"/>
                <a:cs typeface="Times New Roman"/>
              </a:rPr>
              <a:t>from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actual </a:t>
            </a:r>
            <a:r>
              <a:rPr dirty="0" sz="1100" spc="-5">
                <a:latin typeface="Times New Roman"/>
                <a:cs typeface="Times New Roman"/>
              </a:rPr>
              <a:t>argument.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Appeal to Emotion, Attacking the Person, Ignoring the Issue, and Straw Man are a few examples of Red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Herring fallacies.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SLIPPERY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SLOPE: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Assuming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chain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cause-effect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relationships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very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suspect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connections.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00">
              <a:latin typeface="Times New Roman"/>
              <a:cs typeface="Times New Roman"/>
            </a:endParaRPr>
          </a:p>
          <a:p>
            <a:pPr algn="just" marL="12700" marR="26670">
              <a:lnSpc>
                <a:spcPts val="1270"/>
              </a:lnSpc>
            </a:pPr>
            <a:r>
              <a:rPr dirty="0" sz="1100" spc="-5">
                <a:latin typeface="Times New Roman"/>
                <a:cs typeface="Times New Roman"/>
              </a:rPr>
              <a:t>EXAMPLE: If I give you a free ticket, then I’ll have to give everyone a free ticket. Then my boss will get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become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homeless.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giving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free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ticket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make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homeless.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 algn="just" marL="12700" marR="27940">
              <a:lnSpc>
                <a:spcPts val="1260"/>
              </a:lnSpc>
            </a:pPr>
            <a:r>
              <a:rPr dirty="0" sz="1100" spc="-5" b="1">
                <a:latin typeface="Times New Roman"/>
                <a:cs typeface="Times New Roman"/>
              </a:rPr>
              <a:t>STACKING THE DECK: </a:t>
            </a:r>
            <a:r>
              <a:rPr dirty="0" sz="1100" spc="-5">
                <a:latin typeface="Times New Roman"/>
                <a:cs typeface="Times New Roman"/>
              </a:rPr>
              <a:t>When a writer tries to prove a point by focusing on only one side of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argument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while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ignoring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 algn="just" marL="12700" marR="27305">
              <a:lnSpc>
                <a:spcPts val="1270"/>
              </a:lnSpc>
            </a:pPr>
            <a:r>
              <a:rPr dirty="0" sz="1100" spc="-5">
                <a:latin typeface="Times New Roman"/>
                <a:cs typeface="Times New Roman"/>
              </a:rPr>
              <a:t>EXAMPLE: Obviously the United States and China should have a free trade agreement, since it would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reduce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prices,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increase</a:t>
            </a:r>
            <a:r>
              <a:rPr dirty="0" sz="1100">
                <a:latin typeface="Times New Roman"/>
                <a:cs typeface="Times New Roman"/>
              </a:rPr>
              <a:t> efficiency,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pave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way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greater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cultural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exchange.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 marR="27940">
              <a:lnSpc>
                <a:spcPts val="1270"/>
              </a:lnSpc>
            </a:pPr>
            <a:r>
              <a:rPr dirty="0" sz="1100" spc="-10" b="1">
                <a:latin typeface="Times New Roman"/>
                <a:cs typeface="Times New Roman"/>
              </a:rPr>
              <a:t>STRAW </a:t>
            </a:r>
            <a:r>
              <a:rPr dirty="0" sz="1100" spc="-5" b="1">
                <a:latin typeface="Times New Roman"/>
                <a:cs typeface="Times New Roman"/>
              </a:rPr>
              <a:t>MAN: </a:t>
            </a:r>
            <a:r>
              <a:rPr dirty="0" sz="1100" spc="-5">
                <a:latin typeface="Times New Roman"/>
                <a:cs typeface="Times New Roman"/>
              </a:rPr>
              <a:t>Attacking one of the opposition’s unimportant or small arguments, while ignoring 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opposition’s best argument.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 marR="27305">
              <a:lnSpc>
                <a:spcPts val="1270"/>
              </a:lnSpc>
            </a:pPr>
            <a:r>
              <a:rPr dirty="0" sz="1100" spc="-5">
                <a:latin typeface="Times New Roman"/>
                <a:cs typeface="Times New Roman"/>
              </a:rPr>
              <a:t>EXAMPLE People from Quebec want to secede from Canada to get their own currency. </a:t>
            </a:r>
            <a:r>
              <a:rPr dirty="0" sz="1100">
                <a:latin typeface="Times New Roman"/>
                <a:cs typeface="Times New Roman"/>
              </a:rPr>
              <a:t>Don’t </a:t>
            </a:r>
            <a:r>
              <a:rPr dirty="0" sz="1100" spc="-5">
                <a:latin typeface="Times New Roman"/>
                <a:cs typeface="Times New Roman"/>
              </a:rPr>
              <a:t>they realize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money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isn’t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everything?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829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084580" y="4702530"/>
            <a:ext cx="483234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Source: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56344" y="4702530"/>
            <a:ext cx="250380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Utah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Valley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State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College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Writing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Center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7380" y="342390"/>
            <a:ext cx="174498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 Elementary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84111" y="342390"/>
            <a:ext cx="22669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788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10019" y="9493248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90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400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257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27384" y="526034"/>
            <a:ext cx="6061075" cy="11569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196840">
              <a:lnSpc>
                <a:spcPct val="100000"/>
              </a:lnSpc>
              <a:spcBef>
                <a:spcPts val="95"/>
              </a:spcBef>
            </a:pP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LECTURE</a:t>
            </a:r>
            <a:r>
              <a:rPr dirty="0" u="heavy" sz="1100" spc="-4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25</a:t>
            </a:r>
            <a:endParaRPr sz="1100">
              <a:latin typeface="Times New Roman"/>
              <a:cs typeface="Times New Roman"/>
            </a:endParaRPr>
          </a:p>
          <a:p>
            <a:pPr marL="12700" marR="973455" indent="1022985">
              <a:lnSpc>
                <a:spcPct val="191400"/>
              </a:lnSpc>
              <a:spcBef>
                <a:spcPts val="5"/>
              </a:spcBef>
            </a:pP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 WRITING STYLES: REPORT and NARRATIVE WRITING </a:t>
            </a:r>
            <a:r>
              <a:rPr dirty="0" sz="1100" spc="-260" b="1">
                <a:latin typeface="Times New Roman"/>
                <a:cs typeface="Times New Roman"/>
              </a:rPr>
              <a:t> 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REPORT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WRITING: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ts val="1270"/>
              </a:lnSpc>
              <a:spcBef>
                <a:spcPts val="30"/>
              </a:spcBef>
            </a:pPr>
            <a:r>
              <a:rPr dirty="0" sz="1100" spc="-5" b="1">
                <a:latin typeface="Times New Roman"/>
                <a:cs typeface="Times New Roman"/>
              </a:rPr>
              <a:t>Reports</a:t>
            </a:r>
            <a:r>
              <a:rPr dirty="0" sz="1100" spc="16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are</a:t>
            </a:r>
            <a:r>
              <a:rPr dirty="0" sz="1100" spc="18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orderly</a:t>
            </a:r>
            <a:r>
              <a:rPr dirty="0" sz="1100" spc="17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and</a:t>
            </a:r>
            <a:r>
              <a:rPr dirty="0" sz="1100" spc="17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objective</a:t>
            </a:r>
            <a:r>
              <a:rPr dirty="0" sz="1100" spc="17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communication</a:t>
            </a:r>
            <a:r>
              <a:rPr dirty="0" sz="1100" spc="16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of</a:t>
            </a:r>
            <a:r>
              <a:rPr dirty="0" sz="1100" spc="17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factual</a:t>
            </a:r>
            <a:r>
              <a:rPr dirty="0" sz="1100" spc="17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information</a:t>
            </a:r>
            <a:r>
              <a:rPr dirty="0" sz="1100" spc="17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that</a:t>
            </a:r>
            <a:r>
              <a:rPr dirty="0" sz="1100" spc="17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serves</a:t>
            </a:r>
            <a:r>
              <a:rPr dirty="0" sz="1100" spc="17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some</a:t>
            </a:r>
            <a:r>
              <a:rPr dirty="0" sz="1100" spc="17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specific </a:t>
            </a:r>
            <a:r>
              <a:rPr dirty="0" sz="1100" spc="-26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purpose.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55964" y="1740366"/>
            <a:ext cx="3670300" cy="504190"/>
          </a:xfrm>
          <a:prstGeom prst="rect">
            <a:avLst/>
          </a:prstGeom>
        </p:spPr>
        <p:txBody>
          <a:bodyPr wrap="square" lIns="0" tIns="844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dirty="0" sz="1100" spc="-5" b="1">
                <a:latin typeface="Times New Roman"/>
                <a:cs typeface="Times New Roman"/>
              </a:rPr>
              <a:t>1.</a:t>
            </a:r>
            <a:r>
              <a:rPr dirty="0" sz="1100" spc="38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MANUSCRIPT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FORMAT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manuscript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format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must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presented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order: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55977" y="2139641"/>
            <a:ext cx="1365250" cy="219392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Flap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Title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page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Abstract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80"/>
              </a:spcBef>
              <a:buAutoNum type="arabicPeriod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Acknowledgement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Table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contents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80"/>
              </a:spcBef>
              <a:buAutoNum type="arabicPeriod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Table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illustration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Introduction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80"/>
              </a:spcBef>
              <a:buAutoNum type="arabicPeriod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Findings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Conclusion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7439" y="4308305"/>
            <a:ext cx="2900045" cy="1951989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469265" indent="-229235">
              <a:lnSpc>
                <a:spcPct val="100000"/>
              </a:lnSpc>
              <a:spcBef>
                <a:spcPts val="675"/>
              </a:spcBef>
              <a:buAutoNum type="arabicPeriod" startAt="10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Recommendations</a:t>
            </a:r>
            <a:endParaRPr sz="1100">
              <a:latin typeface="Times New Roman"/>
              <a:cs typeface="Times New Roman"/>
            </a:endParaRPr>
          </a:p>
          <a:p>
            <a:pPr marL="469265" indent="-229235">
              <a:lnSpc>
                <a:spcPct val="100000"/>
              </a:lnSpc>
              <a:spcBef>
                <a:spcPts val="575"/>
              </a:spcBef>
              <a:buAutoNum type="arabicPeriod" startAt="10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Appendices</a:t>
            </a:r>
            <a:endParaRPr sz="1100">
              <a:latin typeface="Times New Roman"/>
              <a:cs typeface="Times New Roman"/>
            </a:endParaRPr>
          </a:p>
          <a:p>
            <a:pPr marL="469265" indent="-229235">
              <a:lnSpc>
                <a:spcPct val="100000"/>
              </a:lnSpc>
              <a:spcBef>
                <a:spcPts val="575"/>
              </a:spcBef>
              <a:buAutoNum type="arabicPeriod" startAt="10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References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Bibliography</a:t>
            </a:r>
            <a:endParaRPr sz="1100">
              <a:latin typeface="Times New Roman"/>
              <a:cs typeface="Times New Roman"/>
            </a:endParaRPr>
          </a:p>
          <a:p>
            <a:pPr marL="469265" indent="-229235">
              <a:lnSpc>
                <a:spcPct val="100000"/>
              </a:lnSpc>
              <a:spcBef>
                <a:spcPts val="580"/>
              </a:spcBef>
              <a:buAutoNum type="arabicPeriod" startAt="10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Footnotes</a:t>
            </a:r>
            <a:endParaRPr sz="1100">
              <a:latin typeface="Times New Roman"/>
              <a:cs typeface="Times New Roman"/>
            </a:endParaRPr>
          </a:p>
          <a:p>
            <a:pPr marL="469900" indent="-229235">
              <a:lnSpc>
                <a:spcPct val="100000"/>
              </a:lnSpc>
              <a:spcBef>
                <a:spcPts val="575"/>
              </a:spcBef>
              <a:buAutoNum type="arabicPeriod" startAt="10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Index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ts val="1285"/>
              </a:lnSpc>
            </a:pPr>
            <a:r>
              <a:rPr dirty="0" sz="1100" spc="-5" b="1">
                <a:latin typeface="Times New Roman"/>
                <a:cs typeface="Times New Roman"/>
              </a:rPr>
              <a:t>SHORT</a:t>
            </a:r>
            <a:r>
              <a:rPr dirty="0" sz="1100" spc="-5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REPORTS: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ts val="1270"/>
              </a:lnSpc>
              <a:spcBef>
                <a:spcPts val="55"/>
              </a:spcBef>
            </a:pP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two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types: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Memo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Letter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type.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Actual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difference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body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document.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7439" y="6389648"/>
            <a:ext cx="129413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Body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of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short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report: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56033" y="6476969"/>
            <a:ext cx="1316355" cy="122999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Terms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reference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Procedures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Findings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80"/>
              </a:spcBef>
              <a:buAutoNum type="arabicPeriod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Conclusion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Recommendations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27411" y="7915174"/>
            <a:ext cx="6061075" cy="996315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12700" marR="5080" indent="228600">
              <a:lnSpc>
                <a:spcPts val="1260"/>
              </a:lnSpc>
              <a:spcBef>
                <a:spcPts val="190"/>
              </a:spcBef>
            </a:pPr>
            <a:r>
              <a:rPr dirty="0" sz="1100" spc="-5">
                <a:latin typeface="Times New Roman"/>
                <a:cs typeface="Times New Roman"/>
              </a:rPr>
              <a:t>Do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automatic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formatting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features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processor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such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endnotes,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footnotes,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headers,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footers,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boxes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etc.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05"/>
              </a:lnSpc>
            </a:pPr>
            <a:r>
              <a:rPr dirty="0" sz="1100" spc="-5">
                <a:latin typeface="Times New Roman"/>
                <a:cs typeface="Times New Roman"/>
              </a:rPr>
              <a:t>Provide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appropriate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headings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subheadings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journal.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following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hierarchy: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10" b="1">
                <a:latin typeface="Times New Roman"/>
                <a:cs typeface="Times New Roman"/>
              </a:rPr>
              <a:t>BOLD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65"/>
              </a:lnSpc>
            </a:pPr>
            <a:r>
              <a:rPr dirty="0" sz="1100" spc="-5" b="1">
                <a:latin typeface="Times New Roman"/>
                <a:cs typeface="Times New Roman"/>
              </a:rPr>
              <a:t>CAPS</a:t>
            </a:r>
            <a:r>
              <a:rPr dirty="0" sz="1100" spc="-5">
                <a:latin typeface="Times New Roman"/>
                <a:cs typeface="Times New Roman"/>
              </a:rPr>
              <a:t>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bold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lower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case</a:t>
            </a:r>
            <a:r>
              <a:rPr dirty="0" sz="1100" spc="-5">
                <a:latin typeface="Times New Roman"/>
                <a:cs typeface="Times New Roman"/>
              </a:rPr>
              <a:t>,</a:t>
            </a:r>
            <a:r>
              <a:rPr dirty="0" sz="1100">
                <a:latin typeface="Times New Roman"/>
                <a:cs typeface="Times New Roman"/>
              </a:rPr>
              <a:t> Plain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Text,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Italics.</a:t>
            </a:r>
            <a:endParaRPr sz="1100">
              <a:latin typeface="Times New Roman"/>
              <a:cs typeface="Times New Roman"/>
            </a:endParaRPr>
          </a:p>
          <a:p>
            <a:pPr marL="12700" marR="982980">
              <a:lnSpc>
                <a:spcPts val="1270"/>
              </a:lnSpc>
              <a:spcBef>
                <a:spcPts val="55"/>
              </a:spcBef>
            </a:pPr>
            <a:r>
              <a:rPr dirty="0" sz="1100" spc="-5">
                <a:latin typeface="Times New Roman"/>
                <a:cs typeface="Times New Roman"/>
              </a:rPr>
              <a:t>Cite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illustrations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numerical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order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(fig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1,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2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etc)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first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mentioned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text.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Tables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must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embedded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cited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text.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4580" y="342390"/>
            <a:ext cx="174498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 Elementary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41311" y="342390"/>
            <a:ext cx="22669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360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67219" y="9493248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91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972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829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084580" y="525272"/>
            <a:ext cx="6062345" cy="62972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latin typeface="Times New Roman"/>
                <a:cs typeface="Times New Roman"/>
              </a:rPr>
              <a:t>NARRATIVE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WRITING: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100">
              <a:latin typeface="Times New Roman"/>
              <a:cs typeface="Times New Roman"/>
            </a:endParaRPr>
          </a:p>
          <a:p>
            <a:pPr algn="just" marL="12700" marR="5715" indent="457200">
              <a:lnSpc>
                <a:spcPct val="95700"/>
              </a:lnSpc>
            </a:pPr>
            <a:r>
              <a:rPr dirty="0" sz="1100" spc="-5">
                <a:latin typeface="Times New Roman"/>
                <a:cs typeface="Times New Roman"/>
              </a:rPr>
              <a:t>Narrative writing tells a </a:t>
            </a:r>
            <a:r>
              <a:rPr dirty="0" sz="1100">
                <a:latin typeface="Times New Roman"/>
                <a:cs typeface="Times New Roman"/>
              </a:rPr>
              <a:t>story. </a:t>
            </a:r>
            <a:r>
              <a:rPr dirty="0" sz="1100" spc="-5">
                <a:latin typeface="Times New Roman"/>
                <a:cs typeface="Times New Roman"/>
              </a:rPr>
              <a:t>In essays the narrative writing could also be considered reflection or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 exploration of the author's values told as a </a:t>
            </a:r>
            <a:r>
              <a:rPr dirty="0" sz="1100">
                <a:latin typeface="Times New Roman"/>
                <a:cs typeface="Times New Roman"/>
              </a:rPr>
              <a:t>story. </a:t>
            </a:r>
            <a:r>
              <a:rPr dirty="0" sz="1100" spc="-5">
                <a:latin typeface="Times New Roman"/>
                <a:cs typeface="Times New Roman"/>
              </a:rPr>
              <a:t>The author may remember his or her past, or a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memorable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person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from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past,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observe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present.</a:t>
            </a:r>
            <a:endParaRPr sz="1100">
              <a:latin typeface="Times New Roman"/>
              <a:cs typeface="Times New Roman"/>
            </a:endParaRPr>
          </a:p>
          <a:p>
            <a:pPr algn="just" marL="12700" marR="5715">
              <a:lnSpc>
                <a:spcPts val="1270"/>
              </a:lnSpc>
              <a:spcBef>
                <a:spcPts val="30"/>
              </a:spcBef>
            </a:pPr>
            <a:r>
              <a:rPr dirty="0" sz="1100" spc="-5">
                <a:latin typeface="Times New Roman"/>
                <a:cs typeface="Times New Roman"/>
              </a:rPr>
              <a:t>When you're writing a narrative </a:t>
            </a:r>
            <a:r>
              <a:rPr dirty="0" sz="1100">
                <a:latin typeface="Times New Roman"/>
                <a:cs typeface="Times New Roman"/>
              </a:rPr>
              <a:t>essay, </a:t>
            </a:r>
            <a:r>
              <a:rPr dirty="0" sz="1100" spc="-5">
                <a:latin typeface="Times New Roman"/>
                <a:cs typeface="Times New Roman"/>
              </a:rPr>
              <a:t>loosen up. After all, you're basically just telling a story to someone,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something you probably do every day in casual conversation. Use first person and talk it through first. You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might even want to either tape record your story as if you were telling it to someone for the first time or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actually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tell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 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friend.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 marR="5080" indent="457200">
              <a:lnSpc>
                <a:spcPts val="1270"/>
              </a:lnSpc>
            </a:pPr>
            <a:r>
              <a:rPr dirty="0" sz="1100" spc="-5">
                <a:latin typeface="Times New Roman"/>
                <a:cs typeface="Times New Roman"/>
              </a:rPr>
              <a:t>Once </a:t>
            </a:r>
            <a:r>
              <a:rPr dirty="0" sz="1100">
                <a:latin typeface="Times New Roman"/>
                <a:cs typeface="Times New Roman"/>
              </a:rPr>
              <a:t>you </a:t>
            </a:r>
            <a:r>
              <a:rPr dirty="0" sz="1100" spc="-5">
                <a:latin typeface="Times New Roman"/>
                <a:cs typeface="Times New Roman"/>
              </a:rPr>
              <a:t>get the basic </a:t>
            </a:r>
            <a:r>
              <a:rPr dirty="0" sz="1100">
                <a:latin typeface="Times New Roman"/>
                <a:cs typeface="Times New Roman"/>
              </a:rPr>
              <a:t>story </a:t>
            </a:r>
            <a:r>
              <a:rPr dirty="0" sz="1100" spc="-5">
                <a:latin typeface="Times New Roman"/>
                <a:cs typeface="Times New Roman"/>
              </a:rPr>
              <a:t>down, then you can begin turning it into an </a:t>
            </a:r>
            <a:r>
              <a:rPr dirty="0" sz="1100">
                <a:latin typeface="Times New Roman"/>
                <a:cs typeface="Times New Roman"/>
              </a:rPr>
              <a:t>essay. </a:t>
            </a:r>
            <a:r>
              <a:rPr dirty="0" sz="1100" spc="-5">
                <a:latin typeface="Times New Roman"/>
                <a:cs typeface="Times New Roman"/>
              </a:rPr>
              <a:t>If you feel that </a:t>
            </a:r>
            <a:r>
              <a:rPr dirty="0" sz="1100">
                <a:latin typeface="Times New Roman"/>
                <a:cs typeface="Times New Roman"/>
              </a:rPr>
              <a:t>you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lack life experience, then </a:t>
            </a:r>
            <a:r>
              <a:rPr dirty="0" sz="1100">
                <a:latin typeface="Times New Roman"/>
                <a:cs typeface="Times New Roman"/>
              </a:rPr>
              <a:t>you </a:t>
            </a:r>
            <a:r>
              <a:rPr dirty="0" sz="1100" spc="-5">
                <a:latin typeface="Times New Roman"/>
                <a:cs typeface="Times New Roman"/>
              </a:rPr>
              <a:t>may choose to write </a:t>
            </a:r>
            <a:r>
              <a:rPr dirty="0" sz="1100" spc="-10">
                <a:latin typeface="Times New Roman"/>
                <a:cs typeface="Times New Roman"/>
              </a:rPr>
              <a:t>about </a:t>
            </a:r>
            <a:r>
              <a:rPr dirty="0" sz="1100" spc="-5">
                <a:latin typeface="Times New Roman"/>
                <a:cs typeface="Times New Roman"/>
              </a:rPr>
              <a:t>someone else or write about an observation you've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made about a recent event. You could write about your children, your parents, or your favorite sport or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hobby. The important </a:t>
            </a:r>
            <a:r>
              <a:rPr dirty="0" sz="1100">
                <a:latin typeface="Times New Roman"/>
                <a:cs typeface="Times New Roman"/>
              </a:rPr>
              <a:t>aspect </a:t>
            </a:r>
            <a:r>
              <a:rPr dirty="0" sz="1100" spc="-5">
                <a:latin typeface="Times New Roman"/>
                <a:cs typeface="Times New Roman"/>
              </a:rPr>
              <a:t>to remember is that you should have a </a:t>
            </a:r>
            <a:r>
              <a:rPr dirty="0" sz="1100">
                <a:latin typeface="Times New Roman"/>
                <a:cs typeface="Times New Roman"/>
              </a:rPr>
              <a:t>story. </a:t>
            </a:r>
            <a:r>
              <a:rPr dirty="0" sz="1100" spc="-5" b="1">
                <a:latin typeface="Times New Roman"/>
                <a:cs typeface="Times New Roman"/>
              </a:rPr>
              <a:t>In a successful narrative essay, 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author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usually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makes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point.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ts val="1290"/>
              </a:lnSpc>
            </a:pPr>
            <a:r>
              <a:rPr dirty="0" sz="1100" spc="-5" b="1">
                <a:latin typeface="Times New Roman"/>
                <a:cs typeface="Times New Roman"/>
              </a:rPr>
              <a:t>Features</a:t>
            </a:r>
            <a:endParaRPr sz="1100">
              <a:latin typeface="Times New Roman"/>
              <a:cs typeface="Times New Roman"/>
            </a:endParaRPr>
          </a:p>
          <a:p>
            <a:pPr algn="just" marL="584200" marR="5080" indent="-114300">
              <a:lnSpc>
                <a:spcPct val="95700"/>
              </a:lnSpc>
              <a:spcBef>
                <a:spcPts val="25"/>
              </a:spcBef>
              <a:buAutoNum type="arabicPeriod"/>
              <a:tabLst>
                <a:tab pos="614045" algn="l"/>
              </a:tabLst>
            </a:pPr>
            <a:r>
              <a:rPr dirty="0" sz="1100" spc="-5">
                <a:latin typeface="Times New Roman"/>
                <a:cs typeface="Times New Roman"/>
              </a:rPr>
              <a:t>The story should have </a:t>
            </a:r>
            <a:r>
              <a:rPr dirty="0" sz="1100" spc="-10">
                <a:latin typeface="Times New Roman"/>
                <a:cs typeface="Times New Roman"/>
              </a:rPr>
              <a:t>an </a:t>
            </a:r>
            <a:r>
              <a:rPr dirty="0" sz="1100" spc="-5">
                <a:latin typeface="Times New Roman"/>
                <a:cs typeface="Times New Roman"/>
              </a:rPr>
              <a:t>introduction that clearly indicates what kind of narrative essay it is (an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recurring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activity,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personal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experience,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observation),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should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conclusion that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makes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point.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Times New Roman"/>
              <a:buAutoNum type="arabicPeriod"/>
            </a:pPr>
            <a:endParaRPr sz="1100">
              <a:latin typeface="Times New Roman"/>
              <a:cs typeface="Times New Roman"/>
            </a:endParaRPr>
          </a:p>
          <a:p>
            <a:pPr algn="just" marL="584200" marR="5080" indent="-114300">
              <a:lnSpc>
                <a:spcPts val="1270"/>
              </a:lnSpc>
              <a:buAutoNum type="arabicPeriod"/>
              <a:tabLst>
                <a:tab pos="62738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 essay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should include anecdotes.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author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should describe the person, the scene,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 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event in </a:t>
            </a:r>
            <a:r>
              <a:rPr dirty="0" sz="1100">
                <a:latin typeface="Times New Roman"/>
                <a:cs typeface="Times New Roman"/>
              </a:rPr>
              <a:t>some </a:t>
            </a:r>
            <a:r>
              <a:rPr dirty="0" sz="1100" spc="-5">
                <a:latin typeface="Times New Roman"/>
                <a:cs typeface="Times New Roman"/>
              </a:rPr>
              <a:t>detail. It's okay to include dialogue as long as you know how to punctuate it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correctly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long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avoid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using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too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much.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Times New Roman"/>
              <a:buAutoNum type="arabicPeriod"/>
            </a:pPr>
            <a:endParaRPr sz="1050">
              <a:latin typeface="Times New Roman"/>
              <a:cs typeface="Times New Roman"/>
            </a:endParaRPr>
          </a:p>
          <a:p>
            <a:pPr algn="just" marL="583565" marR="6350" indent="-114300">
              <a:lnSpc>
                <a:spcPct val="95800"/>
              </a:lnSpc>
              <a:buAutoNum type="arabicPeriod"/>
              <a:tabLst>
                <a:tab pos="617855" algn="l"/>
              </a:tabLst>
            </a:pPr>
            <a:r>
              <a:rPr dirty="0" sz="1100" spc="-5">
                <a:latin typeface="Times New Roman"/>
                <a:cs typeface="Times New Roman"/>
              </a:rPr>
              <a:t>The occasion or person described must be suggestive in that your description and thoughts lead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reader to reflect on the human experience. For instance, I read an excellent student essay that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told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story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young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woman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forced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shoot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several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wolves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were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attacking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her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cattle.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She told her story and included the inner struggle she faced as she made the choice of saving 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cattle or saving the wolves. She shot the wolves, but learned that whatever her choice had been,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she would not have been comfortable with it. One of life's lessons is that sometimes there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no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right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choice,</a:t>
            </a:r>
            <a:r>
              <a:rPr dirty="0" sz="1100">
                <a:latin typeface="Times New Roman"/>
                <a:cs typeface="Times New Roman"/>
              </a:rPr>
              <a:t> and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point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essay.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Times New Roman"/>
              <a:buAutoNum type="arabicPeriod"/>
            </a:pPr>
            <a:endParaRPr sz="1100">
              <a:latin typeface="Times New Roman"/>
              <a:cs typeface="Times New Roman"/>
            </a:endParaRPr>
          </a:p>
          <a:p>
            <a:pPr algn="just" marL="583565" marR="7620" indent="-114300">
              <a:lnSpc>
                <a:spcPts val="1270"/>
              </a:lnSpc>
              <a:buAutoNum type="arabicPeriod"/>
              <a:tabLst>
                <a:tab pos="618490" algn="l"/>
                <a:tab pos="2147570" algn="l"/>
                <a:tab pos="3625850" algn="l"/>
                <a:tab pos="543052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 point of view in narrative essays is usually first person. The use of "I" invites your readers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into</a:t>
            </a:r>
            <a:r>
              <a:rPr dirty="0" sz="1100">
                <a:latin typeface="Times New Roman"/>
                <a:cs typeface="Times New Roman"/>
              </a:rPr>
              <a:t>	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>
                <a:latin typeface="Times New Roman"/>
                <a:cs typeface="Times New Roman"/>
              </a:rPr>
              <a:t>	</a:t>
            </a:r>
            <a:r>
              <a:rPr dirty="0" sz="1100" spc="-5">
                <a:latin typeface="Times New Roman"/>
                <a:cs typeface="Times New Roman"/>
              </a:rPr>
              <a:t>inti</a:t>
            </a:r>
            <a:r>
              <a:rPr dirty="0" sz="1100" spc="-15">
                <a:latin typeface="Times New Roman"/>
                <a:cs typeface="Times New Roman"/>
              </a:rPr>
              <a:t>m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>
                <a:latin typeface="Times New Roman"/>
                <a:cs typeface="Times New Roman"/>
              </a:rPr>
              <a:t>t</a:t>
            </a:r>
            <a:r>
              <a:rPr dirty="0" sz="1100" spc="-5">
                <a:latin typeface="Times New Roman"/>
                <a:cs typeface="Times New Roman"/>
              </a:rPr>
              <a:t>e</a:t>
            </a:r>
            <a:r>
              <a:rPr dirty="0" sz="1100">
                <a:latin typeface="Times New Roman"/>
                <a:cs typeface="Times New Roman"/>
              </a:rPr>
              <a:t>	</a:t>
            </a:r>
            <a:r>
              <a:rPr dirty="0" sz="1100" spc="-5">
                <a:latin typeface="Times New Roman"/>
                <a:cs typeface="Times New Roman"/>
              </a:rPr>
              <a:t>discussion.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Times New Roman"/>
              <a:buAutoNum type="arabicPeriod"/>
            </a:pPr>
            <a:endParaRPr sz="1050">
              <a:latin typeface="Times New Roman"/>
              <a:cs typeface="Times New Roman"/>
            </a:endParaRPr>
          </a:p>
          <a:p>
            <a:pPr algn="just" marL="583565" marR="6350" indent="-114935">
              <a:lnSpc>
                <a:spcPts val="1270"/>
              </a:lnSpc>
              <a:buAutoNum type="arabicPeriod"/>
              <a:tabLst>
                <a:tab pos="61087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 writing in your essay should be lively and show some style. Try to describe ideas and events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new and different ways. Avoid using clichés. Again, get the basic story down, get it organized,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your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final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editing process,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work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choice.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84566" y="7111934"/>
            <a:ext cx="48260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Source: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98969" y="7111934"/>
            <a:ext cx="1123315" cy="353695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>
              <a:lnSpc>
                <a:spcPts val="1270"/>
              </a:lnSpc>
              <a:spcBef>
                <a:spcPts val="180"/>
              </a:spcBef>
            </a:pPr>
            <a:r>
              <a:rPr dirty="0" u="heavy" sz="1100" spc="-10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2"/>
              </a:rPr>
              <a:t>www.</a:t>
            </a:r>
            <a:r>
              <a:rPr dirty="0" u="heavy" sz="1100" spc="-5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2"/>
              </a:rPr>
              <a:t>r</a:t>
            </a:r>
            <a:r>
              <a:rPr dirty="0" u="heavy" sz="1100" spc="-10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2"/>
              </a:rPr>
              <a:t>scc</a:t>
            </a:r>
            <a:r>
              <a:rPr dirty="0" u="heavy" sz="1100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2"/>
              </a:rPr>
              <a:t>.</a:t>
            </a:r>
            <a:r>
              <a:rPr dirty="0" u="heavy" sz="1100" spc="-10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2"/>
              </a:rPr>
              <a:t>cc</a:t>
            </a:r>
            <a:r>
              <a:rPr dirty="0" u="heavy" sz="1100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2"/>
              </a:rPr>
              <a:t>.</a:t>
            </a:r>
            <a:r>
              <a:rPr dirty="0" u="heavy" sz="1100" spc="-10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2"/>
              </a:rPr>
              <a:t>tn.u</a:t>
            </a:r>
            <a:r>
              <a:rPr dirty="0" u="heavy" sz="1100" spc="-5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2"/>
              </a:rPr>
              <a:t>s</a:t>
            </a:r>
            <a:r>
              <a:rPr dirty="0" sz="1100" spc="-5" b="1">
                <a:latin typeface="Times New Roman"/>
                <a:cs typeface="Times New Roman"/>
                <a:hlinkClick r:id="rId2"/>
              </a:rPr>
              <a:t>. </a:t>
            </a:r>
            <a:r>
              <a:rPr dirty="0" sz="1100" spc="-5" b="1"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3"/>
              </a:rPr>
              <a:t>www.purdue.edu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7380" y="342390"/>
            <a:ext cx="174498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 Elementary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84111" y="342390"/>
            <a:ext cx="22669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788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10019" y="9493248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92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400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257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27377" y="526034"/>
            <a:ext cx="6062980" cy="85458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196840">
              <a:lnSpc>
                <a:spcPct val="100000"/>
              </a:lnSpc>
              <a:spcBef>
                <a:spcPts val="95"/>
              </a:spcBef>
            </a:pP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LECTURE</a:t>
            </a:r>
            <a:r>
              <a:rPr dirty="0" u="heavy" sz="1100" spc="-4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26</a:t>
            </a:r>
            <a:endParaRPr sz="1100">
              <a:latin typeface="Times New Roman"/>
              <a:cs typeface="Times New Roman"/>
            </a:endParaRPr>
          </a:p>
          <a:p>
            <a:pPr marL="12700" marR="692150" indent="739140">
              <a:lnSpc>
                <a:spcPct val="191400"/>
              </a:lnSpc>
              <a:spcBef>
                <a:spcPts val="5"/>
              </a:spcBef>
            </a:pP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 WRITING STYLES: DESCRIPTIVE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AND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PERSUASIVE WRITINGS </a:t>
            </a:r>
            <a:r>
              <a:rPr dirty="0" sz="1100" spc="-260" b="1"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DESCRIPTIVE WRITING</a:t>
            </a:r>
            <a:r>
              <a:rPr dirty="0" sz="1100" spc="-5" b="1">
                <a:latin typeface="Times New Roman"/>
                <a:cs typeface="Times New Roman"/>
              </a:rPr>
              <a:t>: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good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descriptive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modern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literature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Hobbit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series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by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J.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R.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R.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Tolkien.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>
              <a:lnSpc>
                <a:spcPts val="1285"/>
              </a:lnSpc>
            </a:pPr>
            <a:r>
              <a:rPr dirty="0" sz="1100" spc="-5" b="1">
                <a:latin typeface="Times New Roman"/>
                <a:cs typeface="Times New Roman"/>
              </a:rPr>
              <a:t>What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is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descriptive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writing?</a:t>
            </a:r>
            <a:endParaRPr sz="1100">
              <a:latin typeface="Times New Roman"/>
              <a:cs typeface="Times New Roman"/>
            </a:endParaRPr>
          </a:p>
          <a:p>
            <a:pPr algn="just" marL="12700" marR="6350">
              <a:lnSpc>
                <a:spcPct val="95800"/>
              </a:lnSpc>
              <a:spcBef>
                <a:spcPts val="25"/>
              </a:spcBef>
            </a:pPr>
            <a:r>
              <a:rPr dirty="0" sz="1100" spc="-5">
                <a:latin typeface="Times New Roman"/>
                <a:cs typeface="Times New Roman"/>
              </a:rPr>
              <a:t>Descriptive writing is the act of -- or art of -- writing to describe. Writers often seek to describe places,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people, objects, sounds, tastes, smells -- or anything, really--which they feel can be captured in words.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descriptive </a:t>
            </a:r>
            <a:r>
              <a:rPr dirty="0" sz="1100">
                <a:latin typeface="Times New Roman"/>
                <a:cs typeface="Times New Roman"/>
              </a:rPr>
              <a:t>writes are </a:t>
            </a:r>
            <a:r>
              <a:rPr dirty="0" sz="1100" spc="-5">
                <a:latin typeface="Times New Roman"/>
                <a:cs typeface="Times New Roman"/>
              </a:rPr>
              <a:t>painters. The </a:t>
            </a:r>
            <a:r>
              <a:rPr dirty="0" sz="1100">
                <a:latin typeface="Times New Roman"/>
                <a:cs typeface="Times New Roman"/>
              </a:rPr>
              <a:t>way </a:t>
            </a:r>
            <a:r>
              <a:rPr dirty="0" sz="1100" spc="-5">
                <a:latin typeface="Times New Roman"/>
                <a:cs typeface="Times New Roman"/>
              </a:rPr>
              <a:t>a painter </a:t>
            </a:r>
            <a:r>
              <a:rPr dirty="0" sz="1100">
                <a:latin typeface="Times New Roman"/>
                <a:cs typeface="Times New Roman"/>
              </a:rPr>
              <a:t>plays </a:t>
            </a:r>
            <a:r>
              <a:rPr dirty="0" sz="1100" spc="-5">
                <a:latin typeface="Times New Roman"/>
                <a:cs typeface="Times New Roman"/>
              </a:rPr>
              <a:t>with numerous colours to disperse details on his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canvas,</a:t>
            </a:r>
            <a:r>
              <a:rPr dirty="0" sz="1100" spc="-5">
                <a:latin typeface="Times New Roman"/>
                <a:cs typeface="Times New Roman"/>
              </a:rPr>
              <a:t> exactly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same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descriptive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writer</a:t>
            </a:r>
            <a:r>
              <a:rPr dirty="0" sz="1100">
                <a:latin typeface="Times New Roman"/>
                <a:cs typeface="Times New Roman"/>
              </a:rPr>
              <a:t> plays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</a:t>
            </a:r>
            <a:r>
              <a:rPr dirty="0" sz="1100">
                <a:latin typeface="Times New Roman"/>
                <a:cs typeface="Times New Roman"/>
              </a:rPr>
              <a:t> words </a:t>
            </a:r>
            <a:r>
              <a:rPr dirty="0" sz="1100" spc="-5">
                <a:latin typeface="Times New Roman"/>
                <a:cs typeface="Times New Roman"/>
              </a:rPr>
              <a:t>especially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 the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colourful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adjective and adverbs to render description so precisely </a:t>
            </a:r>
            <a:r>
              <a:rPr dirty="0" sz="1100">
                <a:latin typeface="Times New Roman"/>
                <a:cs typeface="Times New Roman"/>
              </a:rPr>
              <a:t>that </a:t>
            </a:r>
            <a:r>
              <a:rPr dirty="0" sz="1100" spc="-5">
                <a:latin typeface="Times New Roman"/>
                <a:cs typeface="Times New Roman"/>
              </a:rPr>
              <a:t>the reader sees (or hears or smells or tastes or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touches) the object of the description in exactly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way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 the writer intends or he experienced. I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writer does not tell the reader that the flower is beautiful; it shows them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flower is beautiful. 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reader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feels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like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he/she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part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writer's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experience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subject.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 algn="just" marL="12700" marR="6350">
              <a:lnSpc>
                <a:spcPct val="95800"/>
              </a:lnSpc>
            </a:pPr>
            <a:r>
              <a:rPr dirty="0" sz="1100" spc="-5">
                <a:latin typeface="Times New Roman"/>
                <a:cs typeface="Times New Roman"/>
              </a:rPr>
              <a:t>If you were going to describe biting into an apple, you would not simply say: "He bit into the apple and it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tasted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good".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Descriptive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writing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would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convey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same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follows: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"He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slowly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closed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teeth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 the ripe, succulent, ruby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colour apple.</a:t>
            </a:r>
            <a:r>
              <a:rPr dirty="0" sz="1100" spc="2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crunch of his teeth piercing the apple's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skin was deafening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the </a:t>
            </a:r>
            <a:r>
              <a:rPr dirty="0" sz="1100">
                <a:latin typeface="Times New Roman"/>
                <a:cs typeface="Times New Roman"/>
              </a:rPr>
              <a:t>sweet </a:t>
            </a:r>
            <a:r>
              <a:rPr dirty="0" sz="1100" spc="-5">
                <a:latin typeface="Times New Roman"/>
                <a:cs typeface="Times New Roman"/>
              </a:rPr>
              <a:t>juices of the apple ran down his chin.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taste of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meat was as sweet as candy and he felt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euphoric."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good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descriptive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modern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literature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Hobbit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series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by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J.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R.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R.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Tolkien.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950">
              <a:latin typeface="Times New Roman"/>
              <a:cs typeface="Times New Roman"/>
            </a:endParaRPr>
          </a:p>
          <a:p>
            <a:pPr marL="12700">
              <a:lnSpc>
                <a:spcPts val="1290"/>
              </a:lnSpc>
            </a:pPr>
            <a:r>
              <a:rPr dirty="0" sz="1100" spc="-5" b="1">
                <a:latin typeface="Times New Roman"/>
                <a:cs typeface="Times New Roman"/>
              </a:rPr>
              <a:t>Examples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of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descriptive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writing:</a:t>
            </a:r>
            <a:endParaRPr sz="1100">
              <a:latin typeface="Times New Roman"/>
              <a:cs typeface="Times New Roman"/>
            </a:endParaRPr>
          </a:p>
          <a:p>
            <a:pPr marL="12700" marR="5715">
              <a:lnSpc>
                <a:spcPts val="1270"/>
              </a:lnSpc>
              <a:spcBef>
                <a:spcPts val="55"/>
              </a:spcBef>
            </a:pPr>
            <a:r>
              <a:rPr dirty="0" sz="1100" spc="-5">
                <a:latin typeface="Times New Roman"/>
                <a:cs typeface="Times New Roman"/>
              </a:rPr>
              <a:t>Descriptive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writing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used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modes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writing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(Expository,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Narrative,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Persuasive)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create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vivid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lasting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impression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person,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place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thing.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20"/>
              </a:lnSpc>
            </a:pP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example: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Stories,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Poems,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Essays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Reports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Characteristics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of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Good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Descriptive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Writing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 algn="just" marL="469900" marR="5080" indent="-228600">
              <a:lnSpc>
                <a:spcPct val="95700"/>
              </a:lnSpc>
              <a:buAutoNum type="arabicPeriod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Good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descriptive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writing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includes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many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vivid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sensory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details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paint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picture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appeals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 the reader's senses of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sight, hearing, touch,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smell and </a:t>
            </a:r>
            <a:r>
              <a:rPr dirty="0" sz="1100">
                <a:latin typeface="Times New Roman"/>
                <a:cs typeface="Times New Roman"/>
              </a:rPr>
              <a:t>taste </a:t>
            </a:r>
            <a:r>
              <a:rPr dirty="0" sz="1100" spc="-5">
                <a:latin typeface="Times New Roman"/>
                <a:cs typeface="Times New Roman"/>
              </a:rPr>
              <a:t>when appropriate.</a:t>
            </a:r>
            <a:r>
              <a:rPr dirty="0" sz="1100" spc="5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Descriptive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writing</a:t>
            </a:r>
            <a:endParaRPr sz="1100">
              <a:latin typeface="Times New Roman"/>
              <a:cs typeface="Times New Roman"/>
            </a:endParaRPr>
          </a:p>
          <a:p>
            <a:pPr algn="just" marL="469900">
              <a:lnSpc>
                <a:spcPts val="1265"/>
              </a:lnSpc>
            </a:pPr>
            <a:r>
              <a:rPr dirty="0" sz="1100" spc="-5">
                <a:latin typeface="Times New Roman"/>
                <a:cs typeface="Times New Roman"/>
              </a:rPr>
              <a:t>may</a:t>
            </a:r>
            <a:r>
              <a:rPr dirty="0" sz="1100" spc="3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also</a:t>
            </a:r>
            <a:r>
              <a:rPr dirty="0" sz="1100" spc="3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paint</a:t>
            </a:r>
            <a:r>
              <a:rPr dirty="0" sz="1100" spc="3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pictures</a:t>
            </a:r>
            <a:r>
              <a:rPr dirty="0" sz="1100" spc="3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3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3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feelings</a:t>
            </a:r>
            <a:r>
              <a:rPr dirty="0" sz="1100" spc="3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3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person,</a:t>
            </a:r>
            <a:r>
              <a:rPr dirty="0" sz="1100" spc="3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place</a:t>
            </a:r>
            <a:r>
              <a:rPr dirty="0" sz="1100" spc="3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3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thing</a:t>
            </a:r>
            <a:r>
              <a:rPr dirty="0" sz="1100" spc="3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invokes</a:t>
            </a:r>
            <a:r>
              <a:rPr dirty="0" sz="1100" spc="3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3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3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writer.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100">
              <a:latin typeface="Times New Roman"/>
              <a:cs typeface="Times New Roman"/>
            </a:endParaRPr>
          </a:p>
          <a:p>
            <a:pPr algn="just" marL="469900" marR="6985" indent="-228600">
              <a:lnSpc>
                <a:spcPts val="1270"/>
              </a:lnSpc>
              <a:buAutoNum type="arabicPeriod" startAt="2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Good descriptive writing often makes use of figurative language such as analogies, similes and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metaphors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help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paint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picture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reader's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mind.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Times New Roman"/>
              <a:buAutoNum type="arabicPeriod" startAt="2"/>
            </a:pPr>
            <a:endParaRPr sz="1050">
              <a:latin typeface="Times New Roman"/>
              <a:cs typeface="Times New Roman"/>
            </a:endParaRPr>
          </a:p>
          <a:p>
            <a:pPr algn="just" marL="469900" marR="6985" indent="-228600">
              <a:lnSpc>
                <a:spcPts val="1270"/>
              </a:lnSpc>
              <a:buAutoNum type="arabicPeriod" startAt="2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Good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descriptive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writing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uses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precise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language.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General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adjectives,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nouns,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passive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verbs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 have a place in good descriptive writing.</a:t>
            </a:r>
            <a:r>
              <a:rPr dirty="0" sz="1100">
                <a:latin typeface="Times New Roman"/>
                <a:cs typeface="Times New Roman"/>
              </a:rPr>
              <a:t> Use </a:t>
            </a:r>
            <a:r>
              <a:rPr dirty="0" sz="1100" spc="-5">
                <a:latin typeface="Times New Roman"/>
                <a:cs typeface="Times New Roman"/>
              </a:rPr>
              <a:t>specific adjectives and nouns and strong action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verbs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give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life</a:t>
            </a:r>
            <a:r>
              <a:rPr dirty="0" sz="1100" spc="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picture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painting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reader's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mind.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Times New Roman"/>
              <a:buAutoNum type="arabicPeriod" startAt="2"/>
            </a:pPr>
            <a:endParaRPr sz="1050">
              <a:latin typeface="Times New Roman"/>
              <a:cs typeface="Times New Roman"/>
            </a:endParaRPr>
          </a:p>
          <a:p>
            <a:pPr algn="just" marL="469900" marR="6350" indent="-228600">
              <a:lnSpc>
                <a:spcPct val="95700"/>
              </a:lnSpc>
              <a:buAutoNum type="arabicPeriod" startAt="2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Good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descriptive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organized.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</a:t>
            </a:r>
            <a:r>
              <a:rPr dirty="0" sz="1100">
                <a:latin typeface="Times New Roman"/>
                <a:cs typeface="Times New Roman"/>
              </a:rPr>
              <a:t> ways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organize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descriptive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include: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chronological (time), spatial (location), and order of importance.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When describing a person, you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might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begin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physical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description,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how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person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thinks,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feels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acts.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DOS’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AND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DON’TS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OF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DESCRIPTION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Dominant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Impression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972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9829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84566" y="326843"/>
            <a:ext cx="6083300" cy="9375140"/>
          </a:xfrm>
          <a:prstGeom prst="rect">
            <a:avLst/>
          </a:prstGeom>
        </p:spPr>
        <p:txBody>
          <a:bodyPr wrap="square" lIns="0" tIns="2794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220"/>
              </a:spcBef>
              <a:tabLst>
                <a:tab pos="5869305" algn="l"/>
              </a:tabLst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l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</a:t>
            </a:r>
            <a:r>
              <a:rPr dirty="0" sz="1100" spc="-15">
                <a:solidFill>
                  <a:srgbClr val="323232"/>
                </a:solidFill>
                <a:latin typeface="Times New Roman"/>
                <a:cs typeface="Times New Roman"/>
              </a:rPr>
              <a:t>m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entary</a:t>
            </a:r>
            <a:r>
              <a:rPr dirty="0" sz="1100" spc="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g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lish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  <a:p>
            <a:pPr algn="just" marL="12700" marR="26670">
              <a:lnSpc>
                <a:spcPct val="95800"/>
              </a:lnSpc>
              <a:spcBef>
                <a:spcPts val="175"/>
              </a:spcBef>
            </a:pPr>
            <a:r>
              <a:rPr dirty="0" sz="1100" spc="-5">
                <a:latin typeface="Times New Roman"/>
                <a:cs typeface="Times New Roman"/>
              </a:rPr>
              <a:t>The key element in writing a memorable description is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point of view of the writer (or speaker) of 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passage. The dominant impression can be thought of as the way the writer </a:t>
            </a:r>
            <a:r>
              <a:rPr dirty="0" sz="1100">
                <a:latin typeface="Times New Roman"/>
                <a:cs typeface="Times New Roman"/>
              </a:rPr>
              <a:t>feels </a:t>
            </a:r>
            <a:r>
              <a:rPr dirty="0" sz="1100" spc="-5">
                <a:latin typeface="Times New Roman"/>
                <a:cs typeface="Times New Roman"/>
              </a:rPr>
              <a:t>about the object of 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description; for instance, a writer may regard a place as hospitable and inviting, or as cold and forbidding.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Likewise, a writer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may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regard a person as warm and friendly, or aloof and reserved. In conveying 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chosen dominant impression, the writer must both select details carefully, and presents them with 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impression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mind.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good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descriptions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crafted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steady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attention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dominant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impression.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"Show,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Don’t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Tell"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 marR="27305">
              <a:lnSpc>
                <a:spcPct val="958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There’s a simple reason that this is perhaps the most commonly used phrase where descriptive writing is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concerned (and that you may well have heard it plenty of times already): this is truly the fundamental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principle of descriptive writing. When it comes to describing something, ‘telling’ the reader about it comes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off as flat, vague, and not particularly memorable; ‘showing’ the reader the object -- describing it in such a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way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 to paint it in words, and bring it to life in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reader’s </a:t>
            </a:r>
            <a:r>
              <a:rPr dirty="0" sz="1100">
                <a:latin typeface="Times New Roman"/>
                <a:cs typeface="Times New Roman"/>
              </a:rPr>
              <a:t>eye </a:t>
            </a:r>
            <a:r>
              <a:rPr dirty="0" sz="1100" spc="-5">
                <a:latin typeface="Times New Roman"/>
                <a:cs typeface="Times New Roman"/>
              </a:rPr>
              <a:t>-- renders the object far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 vivid,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visible, 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active.</a:t>
            </a:r>
            <a:endParaRPr sz="1100">
              <a:latin typeface="Times New Roman"/>
              <a:cs typeface="Times New Roman"/>
            </a:endParaRPr>
          </a:p>
          <a:p>
            <a:pPr algn="just" marL="12700">
              <a:lnSpc>
                <a:spcPts val="1265"/>
              </a:lnSpc>
            </a:pPr>
            <a:r>
              <a:rPr dirty="0" sz="1100" spc="-5">
                <a:latin typeface="Times New Roman"/>
                <a:cs typeface="Times New Roman"/>
              </a:rPr>
              <a:t>But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exactly,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"telling"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"showing?"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100">
              <a:latin typeface="Times New Roman"/>
              <a:cs typeface="Times New Roman"/>
            </a:endParaRPr>
          </a:p>
          <a:p>
            <a:pPr algn="just" marL="12700" marR="760730">
              <a:lnSpc>
                <a:spcPts val="1270"/>
              </a:lnSpc>
            </a:pPr>
            <a:r>
              <a:rPr dirty="0" sz="1100" spc="-5">
                <a:latin typeface="Times New Roman"/>
                <a:cs typeface="Times New Roman"/>
              </a:rPr>
              <a:t>Telling is another way of saying ‘summarizing.’ Here’s a writer ‘telling’ readers about a room: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"It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nice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room,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warm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room.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>
                <a:latin typeface="Times New Roman"/>
                <a:cs typeface="Times New Roman"/>
              </a:rPr>
              <a:t> was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happy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place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be."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 marR="27305">
              <a:lnSpc>
                <a:spcPct val="95800"/>
              </a:lnSpc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reader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reads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says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her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himself,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"okay,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but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why?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did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room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look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like?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Why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 happy place to be? Was it warm, or hot? Or does the writer mean </a:t>
            </a:r>
            <a:r>
              <a:rPr dirty="0" sz="1100">
                <a:latin typeface="Times New Roman"/>
                <a:cs typeface="Times New Roman"/>
              </a:rPr>
              <a:t>warm </a:t>
            </a:r>
            <a:r>
              <a:rPr dirty="0" sz="1100" spc="-5">
                <a:latin typeface="Times New Roman"/>
                <a:cs typeface="Times New Roman"/>
              </a:rPr>
              <a:t>in terms of temperature? I </a:t>
            </a:r>
            <a:r>
              <a:rPr dirty="0" sz="1100">
                <a:latin typeface="Times New Roman"/>
                <a:cs typeface="Times New Roman"/>
              </a:rPr>
              <a:t>can’t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really see or feel this room; I wish </a:t>
            </a:r>
            <a:r>
              <a:rPr dirty="0" sz="1100">
                <a:latin typeface="Times New Roman"/>
                <a:cs typeface="Times New Roman"/>
              </a:rPr>
              <a:t>I’d </a:t>
            </a:r>
            <a:r>
              <a:rPr dirty="0" sz="1100" spc="-5">
                <a:latin typeface="Times New Roman"/>
                <a:cs typeface="Times New Roman"/>
              </a:rPr>
              <a:t>been given more details." These two sentences </a:t>
            </a:r>
            <a:r>
              <a:rPr dirty="0" sz="1100" spc="-10">
                <a:latin typeface="Times New Roman"/>
                <a:cs typeface="Times New Roman"/>
              </a:rPr>
              <a:t>may </a:t>
            </a:r>
            <a:r>
              <a:rPr dirty="0" sz="1100" spc="-5">
                <a:latin typeface="Times New Roman"/>
                <a:cs typeface="Times New Roman"/>
              </a:rPr>
              <a:t>represent exactly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how the writer feels about the room, but to the reader they aren’t vivid enough to register this room as any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different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from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any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room.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importantly,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reader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unable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experience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qualities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room that the writer intends; because the reader has only been ‘told’ about the room (and told in very vague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terms), the </a:t>
            </a:r>
            <a:r>
              <a:rPr dirty="0" sz="1100">
                <a:latin typeface="Times New Roman"/>
                <a:cs typeface="Times New Roman"/>
              </a:rPr>
              <a:t>room </a:t>
            </a:r>
            <a:r>
              <a:rPr dirty="0" sz="1100" spc="-5">
                <a:latin typeface="Times New Roman"/>
                <a:cs typeface="Times New Roman"/>
              </a:rPr>
              <a:t>itself remains fuzzy and unclear (essentially invisible), and the qualities of niceness,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warmth,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happiness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merely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writer’s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impressions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room,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nothing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reader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connect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100">
              <a:latin typeface="Times New Roman"/>
              <a:cs typeface="Times New Roman"/>
            </a:endParaRPr>
          </a:p>
          <a:p>
            <a:pPr algn="just" marL="12700" marR="27940">
              <a:lnSpc>
                <a:spcPct val="95700"/>
              </a:lnSpc>
            </a:pPr>
            <a:r>
              <a:rPr dirty="0" sz="1100" spc="-5">
                <a:latin typeface="Times New Roman"/>
                <a:cs typeface="Times New Roman"/>
              </a:rPr>
              <a:t>Far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vivid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communicative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show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reader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room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(with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emphasis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aspects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room which provoke in the writer the feelings she or he receives). Here’s a brief passage which attempts </a:t>
            </a:r>
            <a:r>
              <a:rPr dirty="0" sz="1100">
                <a:latin typeface="Times New Roman"/>
                <a:cs typeface="Times New Roman"/>
              </a:rPr>
              <a:t>to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‘show’ that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room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‘warm’: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 algn="just" marL="927100" marR="941069">
              <a:lnSpc>
                <a:spcPct val="95800"/>
              </a:lnSpc>
            </a:pPr>
            <a:r>
              <a:rPr dirty="0" sz="1100" spc="-5">
                <a:latin typeface="Times New Roman"/>
                <a:cs typeface="Times New Roman"/>
              </a:rPr>
              <a:t>“Sunlight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pours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through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window,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pooling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down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comforter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 lies across the bed. A block of light also angles across the wall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opposite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bed,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highlighting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pale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orange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color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room.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thick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red carpet sprawls over the floor, a corner of it lit too by a sunbeam; 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room’s windows admit the sun along two walls,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tiny dust motes hover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bright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streaks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glaze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room.”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100">
              <a:latin typeface="Times New Roman"/>
              <a:cs typeface="Times New Roman"/>
            </a:endParaRPr>
          </a:p>
          <a:p>
            <a:pPr algn="just" marL="12700" marR="27305">
              <a:lnSpc>
                <a:spcPct val="95800"/>
              </a:lnSpc>
            </a:pPr>
            <a:r>
              <a:rPr dirty="0" sz="1100" spc="-5">
                <a:latin typeface="Times New Roman"/>
                <a:cs typeface="Times New Roman"/>
              </a:rPr>
              <a:t>Here the writer never </a:t>
            </a:r>
            <a:r>
              <a:rPr dirty="0" sz="1100">
                <a:latin typeface="Times New Roman"/>
                <a:cs typeface="Times New Roman"/>
              </a:rPr>
              <a:t>says </a:t>
            </a:r>
            <a:r>
              <a:rPr dirty="0" sz="1100" spc="-5">
                <a:latin typeface="Times New Roman"/>
                <a:cs typeface="Times New Roman"/>
              </a:rPr>
              <a:t>"warm," but attempts to present a series of details which demonstrate this quality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 the room. Perhaps just the first sentence of this description conveys this quality; however, the writer has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decided to continue describing the room in order to render a clear picture (and feeling) of the room for 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reader.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Each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reader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respond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differently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description;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however,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it’s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fairly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clear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its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presentation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 this room as a </a:t>
            </a:r>
            <a:r>
              <a:rPr dirty="0" sz="1100">
                <a:latin typeface="Times New Roman"/>
                <a:cs typeface="Times New Roman"/>
              </a:rPr>
              <a:t>warm and </a:t>
            </a:r>
            <a:r>
              <a:rPr dirty="0" sz="1100" spc="-5">
                <a:latin typeface="Times New Roman"/>
                <a:cs typeface="Times New Roman"/>
              </a:rPr>
              <a:t>comfortable place, and the writer 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well on the way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describing it in such a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 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make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room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unique.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290"/>
              </a:lnSpc>
            </a:pPr>
            <a:r>
              <a:rPr dirty="0" sz="1100" spc="-5" b="1">
                <a:latin typeface="Times New Roman"/>
                <a:cs typeface="Times New Roman"/>
              </a:rPr>
              <a:t>Observation</a:t>
            </a:r>
            <a:endParaRPr sz="1100">
              <a:latin typeface="Times New Roman"/>
              <a:cs typeface="Times New Roman"/>
            </a:endParaRPr>
          </a:p>
          <a:p>
            <a:pPr algn="just" marL="12700" marR="27305">
              <a:lnSpc>
                <a:spcPts val="1270"/>
              </a:lnSpc>
              <a:spcBef>
                <a:spcPts val="55"/>
              </a:spcBef>
            </a:pPr>
            <a:r>
              <a:rPr dirty="0" sz="1100" spc="-5">
                <a:latin typeface="Times New Roman"/>
                <a:cs typeface="Times New Roman"/>
              </a:rPr>
              <a:t>It isn’t possible to create a unique description of an object without first taking time to observe it. But to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observe something means more than just to look at it -- the writer seeks not only the general details which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comprise the basic profile of this object (the apple is red, roundish, and large for an apple), but the specific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details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make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object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unique:</a:t>
            </a:r>
            <a:endParaRPr sz="1100">
              <a:latin typeface="Times New Roman"/>
              <a:cs typeface="Times New Roman"/>
            </a:endParaRPr>
          </a:p>
          <a:p>
            <a:pPr algn="just" marL="12700">
              <a:lnSpc>
                <a:spcPts val="1185"/>
              </a:lnSpc>
            </a:pPr>
            <a:r>
              <a:rPr dirty="0" sz="1100" spc="-5">
                <a:latin typeface="Times New Roman"/>
                <a:cs typeface="Times New Roman"/>
              </a:rPr>
              <a:t>“The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apple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has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leaves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still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attached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stem;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doesn’t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straight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when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resting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tabletop,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endParaRPr sz="1100">
              <a:latin typeface="Times New Roman"/>
              <a:cs typeface="Times New Roman"/>
            </a:endParaRPr>
          </a:p>
          <a:p>
            <a:pPr algn="just" marL="12700" marR="28575">
              <a:lnSpc>
                <a:spcPts val="1270"/>
              </a:lnSpc>
              <a:spcBef>
                <a:spcPts val="55"/>
              </a:spcBef>
            </a:pPr>
            <a:r>
              <a:rPr dirty="0" sz="1100" spc="-5">
                <a:latin typeface="Times New Roman"/>
                <a:cs typeface="Times New Roman"/>
              </a:rPr>
              <a:t>its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left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side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streak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yellow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shines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underneath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red,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small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bruise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hangs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just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below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apple’s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crown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 its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back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side.”</a:t>
            </a:r>
            <a:endParaRPr sz="1100">
              <a:latin typeface="Times New Roman"/>
              <a:cs typeface="Times New Roman"/>
            </a:endParaRPr>
          </a:p>
          <a:p>
            <a:pPr marL="1564005">
              <a:lnSpc>
                <a:spcPct val="100000"/>
              </a:lnSpc>
              <a:spcBef>
                <a:spcPts val="955"/>
              </a:spcBef>
              <a:tabLst>
                <a:tab pos="5894705" algn="l"/>
              </a:tabLst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	93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788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10019" y="9493248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94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400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27352" y="326843"/>
            <a:ext cx="6083300" cy="7941309"/>
          </a:xfrm>
          <a:prstGeom prst="rect">
            <a:avLst/>
          </a:prstGeom>
        </p:spPr>
        <p:txBody>
          <a:bodyPr wrap="square" lIns="0" tIns="2794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220"/>
              </a:spcBef>
              <a:tabLst>
                <a:tab pos="5869305" algn="l"/>
              </a:tabLst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l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</a:t>
            </a:r>
            <a:r>
              <a:rPr dirty="0" sz="1100" spc="-15">
                <a:solidFill>
                  <a:srgbClr val="323232"/>
                </a:solidFill>
                <a:latin typeface="Times New Roman"/>
                <a:cs typeface="Times New Roman"/>
              </a:rPr>
              <a:t>m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entary</a:t>
            </a:r>
            <a:r>
              <a:rPr dirty="0" sz="1100" spc="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g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lish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  <a:p>
            <a:pPr algn="just" marL="12700" marR="26670">
              <a:lnSpc>
                <a:spcPct val="95800"/>
              </a:lnSpc>
              <a:spcBef>
                <a:spcPts val="175"/>
              </a:spcBef>
            </a:pPr>
            <a:r>
              <a:rPr dirty="0" sz="1100" spc="-5">
                <a:latin typeface="Times New Roman"/>
                <a:cs typeface="Times New Roman"/>
              </a:rPr>
              <a:t>As a writer, </a:t>
            </a:r>
            <a:r>
              <a:rPr dirty="0" sz="1100">
                <a:latin typeface="Times New Roman"/>
                <a:cs typeface="Times New Roman"/>
              </a:rPr>
              <a:t>one </a:t>
            </a:r>
            <a:r>
              <a:rPr dirty="0" sz="1100" spc="-5">
                <a:latin typeface="Times New Roman"/>
                <a:cs typeface="Times New Roman"/>
              </a:rPr>
              <a:t>must ask why this object is not any object; what details about it make it unlike any other --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specifically, unlike any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 of its kind (in the case of the apple, the writer seeks the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details which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make this</a:t>
            </a:r>
            <a:r>
              <a:rPr dirty="0" sz="1100">
                <a:latin typeface="Times New Roman"/>
                <a:cs typeface="Times New Roman"/>
              </a:rPr>
              <a:t> apple </a:t>
            </a:r>
            <a:r>
              <a:rPr dirty="0" sz="1100" spc="-5">
                <a:latin typeface="Times New Roman"/>
                <a:cs typeface="Times New Roman"/>
              </a:rPr>
              <a:t>not just another red apple; the writer seeks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>
                <a:latin typeface="Times New Roman"/>
                <a:cs typeface="Times New Roman"/>
              </a:rPr>
              <a:t>write </a:t>
            </a:r>
            <a:r>
              <a:rPr dirty="0" sz="1100" spc="-5">
                <a:latin typeface="Times New Roman"/>
                <a:cs typeface="Times New Roman"/>
              </a:rPr>
              <a:t>such a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precise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description that 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reader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could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pick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apple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bowl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six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apples).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Using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All Five Senses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 marR="26670">
              <a:lnSpc>
                <a:spcPct val="95800"/>
              </a:lnSpc>
            </a:pPr>
            <a:r>
              <a:rPr dirty="0" sz="1100" spc="-5">
                <a:latin typeface="Times New Roman"/>
                <a:cs typeface="Times New Roman"/>
              </a:rPr>
              <a:t>Up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here,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most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emphasis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has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been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placed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visual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details;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there’s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little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doubt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describing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most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things,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visual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properties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form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dominant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portions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our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descriptions.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because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most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us, our sight is the sense which is 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primary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-- and dominant -- sense through which we perceive our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world.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something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looks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like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extraordinarily</a:t>
            </a:r>
            <a:r>
              <a:rPr dirty="0" sz="1100" spc="2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important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our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ability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perceive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it,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particularly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when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trying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perceive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something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solely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through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written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description.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 algn="just" marL="12700" marR="26034">
              <a:lnSpc>
                <a:spcPct val="95800"/>
              </a:lnSpc>
            </a:pPr>
            <a:r>
              <a:rPr dirty="0" sz="1100" spc="-5">
                <a:latin typeface="Times New Roman"/>
                <a:cs typeface="Times New Roman"/>
              </a:rPr>
              <a:t>However, the best descriptive writing evokes objects through the use of more than just sight. The more a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writer can capture an object through senses such as sound, smell, touch, and even taste, the more vivid and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unique the writer’s description becomes. If, in describing the apple above, the </a:t>
            </a:r>
            <a:r>
              <a:rPr dirty="0" sz="1100">
                <a:latin typeface="Times New Roman"/>
                <a:cs typeface="Times New Roman"/>
              </a:rPr>
              <a:t>writer </a:t>
            </a:r>
            <a:r>
              <a:rPr dirty="0" sz="1100" spc="-5">
                <a:latin typeface="Times New Roman"/>
                <a:cs typeface="Times New Roman"/>
              </a:rPr>
              <a:t>includes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aroma of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apple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(if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had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one),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sense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what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apple’s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skin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might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feel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like,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even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if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writer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imagines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possible taste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apple</a:t>
            </a:r>
            <a:r>
              <a:rPr dirty="0" sz="1100">
                <a:latin typeface="Times New Roman"/>
                <a:cs typeface="Times New Roman"/>
              </a:rPr>
              <a:t> like </a:t>
            </a:r>
            <a:r>
              <a:rPr dirty="0" sz="1100" spc="-5">
                <a:latin typeface="Times New Roman"/>
                <a:cs typeface="Times New Roman"/>
              </a:rPr>
              <a:t>this,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description 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apple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becomes</a:t>
            </a:r>
            <a:r>
              <a:rPr dirty="0" sz="1100" spc="-5">
                <a:latin typeface="Times New Roman"/>
                <a:cs typeface="Times New Roman"/>
              </a:rPr>
              <a:t> even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 </a:t>
            </a:r>
            <a:r>
              <a:rPr dirty="0" sz="1100" spc="-10">
                <a:latin typeface="Times New Roman"/>
                <a:cs typeface="Times New Roman"/>
              </a:rPr>
              <a:t>specific</a:t>
            </a:r>
            <a:r>
              <a:rPr dirty="0" sz="1100" spc="-5">
                <a:latin typeface="Times New Roman"/>
                <a:cs typeface="Times New Roman"/>
              </a:rPr>
              <a:t> and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memorable.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observing an object one aims to describe, the goal is always to try to see past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obvious --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this most certainly includes observing not only the visual qualities of something, but attempting to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perceive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through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five senses.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Strong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Verbs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 algn="just" marL="12700" marR="27940">
              <a:lnSpc>
                <a:spcPct val="95700"/>
              </a:lnSpc>
            </a:pPr>
            <a:r>
              <a:rPr dirty="0" sz="1100" spc="-5">
                <a:latin typeface="Times New Roman"/>
                <a:cs typeface="Times New Roman"/>
              </a:rPr>
              <a:t>Good descriptive writing also employs the use of strong, specific verbs. Central in choosing verbs is -- as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always -- the avoidance of the verb ‘to be.’ To say a thing ‘is,’ or ‘was,’ is not nearly as active -- and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therefore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specific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--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choosing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sharper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verb.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Consider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two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versions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same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sentence: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295"/>
              </a:lnSpc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sunlight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propane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tank.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95"/>
              </a:lnSpc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sunlight stretched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over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propane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tank.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00">
              <a:latin typeface="Times New Roman"/>
              <a:cs typeface="Times New Roman"/>
            </a:endParaRPr>
          </a:p>
          <a:p>
            <a:pPr algn="just" marL="12700" marR="27305">
              <a:lnSpc>
                <a:spcPts val="1270"/>
              </a:lnSpc>
            </a:pPr>
            <a:r>
              <a:rPr dirty="0" sz="1100" spc="-5">
                <a:latin typeface="Times New Roman"/>
                <a:cs typeface="Times New Roman"/>
              </a:rPr>
              <a:t>Clearly the second sentence is more interesting; here the sunlight becomes active. In the first sentence,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there’s nothing interesting about the </a:t>
            </a:r>
            <a:r>
              <a:rPr dirty="0" sz="1100">
                <a:latin typeface="Times New Roman"/>
                <a:cs typeface="Times New Roman"/>
              </a:rPr>
              <a:t>sun’s </a:t>
            </a:r>
            <a:r>
              <a:rPr dirty="0" sz="1100" spc="-5">
                <a:latin typeface="Times New Roman"/>
                <a:cs typeface="Times New Roman"/>
              </a:rPr>
              <a:t>presence -- </a:t>
            </a:r>
            <a:r>
              <a:rPr dirty="0" sz="1100">
                <a:latin typeface="Times New Roman"/>
                <a:cs typeface="Times New Roman"/>
              </a:rPr>
              <a:t>it’s </a:t>
            </a:r>
            <a:r>
              <a:rPr dirty="0" sz="1100" spc="-5">
                <a:latin typeface="Times New Roman"/>
                <a:cs typeface="Times New Roman"/>
              </a:rPr>
              <a:t>simply there. Here are a few more examples of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active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verbs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(taken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from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teacher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Natalie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Goldberg):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 marR="3681729">
              <a:lnSpc>
                <a:spcPts val="1260"/>
              </a:lnSpc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fiddles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boiled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air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music.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lilacs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sliced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sky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purple.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35"/>
              </a:lnSpc>
            </a:pPr>
            <a:r>
              <a:rPr dirty="0" sz="1100" spc="-5">
                <a:latin typeface="Times New Roman"/>
                <a:cs typeface="Times New Roman"/>
              </a:rPr>
              <a:t>Her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husband’s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snores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sawed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sleep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half.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100">
              <a:latin typeface="Times New Roman"/>
              <a:cs typeface="Times New Roman"/>
            </a:endParaRPr>
          </a:p>
          <a:p>
            <a:pPr algn="just" marL="12700" marR="27940">
              <a:lnSpc>
                <a:spcPts val="1270"/>
              </a:lnSpc>
            </a:pP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good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rule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thumb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that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unexpected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verb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(as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‘boiled’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describing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how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fiddles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sound,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‘sliced’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describing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flowers),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specific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memorable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 marR="27940">
              <a:lnSpc>
                <a:spcPts val="1270"/>
              </a:lnSpc>
            </a:pPr>
            <a:r>
              <a:rPr dirty="0" sz="1100" spc="-5">
                <a:latin typeface="Times New Roman"/>
                <a:cs typeface="Times New Roman"/>
              </a:rPr>
              <a:t>However, it’s also important to remember that active verbs </a:t>
            </a:r>
            <a:r>
              <a:rPr dirty="0" sz="1100">
                <a:latin typeface="Times New Roman"/>
                <a:cs typeface="Times New Roman"/>
              </a:rPr>
              <a:t>can’t </a:t>
            </a:r>
            <a:r>
              <a:rPr dirty="0" sz="1100" spc="-5">
                <a:latin typeface="Times New Roman"/>
                <a:cs typeface="Times New Roman"/>
              </a:rPr>
              <a:t>be used in every sentence; and sometimes,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 </a:t>
            </a:r>
            <a:r>
              <a:rPr dirty="0" sz="1100" spc="-10">
                <a:latin typeface="Times New Roman"/>
                <a:cs typeface="Times New Roman"/>
              </a:rPr>
              <a:t>general </a:t>
            </a:r>
            <a:r>
              <a:rPr dirty="0" sz="1100" spc="-5">
                <a:latin typeface="Times New Roman"/>
                <a:cs typeface="Times New Roman"/>
              </a:rPr>
              <a:t>verbs like ‘run,’ ‘see,’ ‘go,’ ‘said,’ etc., are exactly what </a:t>
            </a:r>
            <a:r>
              <a:rPr dirty="0" sz="1100">
                <a:latin typeface="Times New Roman"/>
                <a:cs typeface="Times New Roman"/>
              </a:rPr>
              <a:t>you </a:t>
            </a:r>
            <a:r>
              <a:rPr dirty="0" sz="1100" spc="-5">
                <a:latin typeface="Times New Roman"/>
                <a:cs typeface="Times New Roman"/>
              </a:rPr>
              <a:t>need in a given sentence. 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goal,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writer,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make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your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choice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conscious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--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choose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verb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want,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verb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comes to </a:t>
            </a:r>
            <a:r>
              <a:rPr dirty="0" sz="1100">
                <a:latin typeface="Times New Roman"/>
                <a:cs typeface="Times New Roman"/>
              </a:rPr>
              <a:t>you </a:t>
            </a:r>
            <a:r>
              <a:rPr dirty="0" sz="1100" spc="-5">
                <a:latin typeface="Times New Roman"/>
                <a:cs typeface="Times New Roman"/>
              </a:rPr>
              <a:t>most easily. Push yourself to use </a:t>
            </a:r>
            <a:r>
              <a:rPr dirty="0" sz="1100" spc="-10">
                <a:latin typeface="Times New Roman"/>
                <a:cs typeface="Times New Roman"/>
              </a:rPr>
              <a:t>specific, </a:t>
            </a:r>
            <a:r>
              <a:rPr dirty="0" sz="1100" spc="-5">
                <a:latin typeface="Times New Roman"/>
                <a:cs typeface="Times New Roman"/>
              </a:rPr>
              <a:t>active verbs whenever possible, and to choose </a:t>
            </a:r>
            <a:r>
              <a:rPr dirty="0" sz="1100">
                <a:latin typeface="Times New Roman"/>
                <a:cs typeface="Times New Roman"/>
              </a:rPr>
              <a:t>your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verbs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 </a:t>
            </a:r>
            <a:r>
              <a:rPr dirty="0" sz="1100">
                <a:latin typeface="Times New Roman"/>
                <a:cs typeface="Times New Roman"/>
              </a:rPr>
              <a:t>your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words)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carefully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deliberately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time.</a:t>
            </a:r>
            <a:endParaRPr sz="1100">
              <a:latin typeface="Times New Roman"/>
              <a:cs typeface="Times New Roman"/>
            </a:endParaRPr>
          </a:p>
          <a:p>
            <a:pPr algn="just" marL="12700">
              <a:lnSpc>
                <a:spcPts val="1210"/>
              </a:lnSpc>
            </a:pPr>
            <a:r>
              <a:rPr dirty="0" sz="1100" spc="-5">
                <a:latin typeface="Times New Roman"/>
                <a:cs typeface="Times New Roman"/>
              </a:rPr>
              <a:t>Example: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"We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really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nice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dinner"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could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become,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"We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enjoyed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tasty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meal"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257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627366" y="8396650"/>
            <a:ext cx="411099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look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if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spot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improvements: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5980" y="8484820"/>
            <a:ext cx="5433060" cy="50736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675"/>
              </a:spcBef>
              <a:buSzPct val="90909"/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street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empty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full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shadows.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street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empty,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full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shadows.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SzPct val="90909"/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children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great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time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circus.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children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shared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thrilling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night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at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circus.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7378" y="9039862"/>
            <a:ext cx="58039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More</a:t>
            </a:r>
            <a:r>
              <a:rPr dirty="0" sz="1100" spc="-5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on: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4580" y="342390"/>
            <a:ext cx="174498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 Elementary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41311" y="342390"/>
            <a:ext cx="22669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972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829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84566" y="686815"/>
            <a:ext cx="6062345" cy="90150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Place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Description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 marR="5715">
              <a:lnSpc>
                <a:spcPct val="959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Once a </a:t>
            </a:r>
            <a:r>
              <a:rPr dirty="0" sz="1100">
                <a:latin typeface="Times New Roman"/>
                <a:cs typeface="Times New Roman"/>
              </a:rPr>
              <a:t>writer </a:t>
            </a:r>
            <a:r>
              <a:rPr dirty="0" sz="1100" spc="-5">
                <a:latin typeface="Times New Roman"/>
                <a:cs typeface="Times New Roman"/>
              </a:rPr>
              <a:t>has become skilled at precise observation, and good at capturing the details which make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unique description, the next goal is to be able to describe </a:t>
            </a:r>
            <a:r>
              <a:rPr dirty="0" sz="1100" spc="-10">
                <a:latin typeface="Times New Roman"/>
                <a:cs typeface="Times New Roman"/>
              </a:rPr>
              <a:t>pointedly. </a:t>
            </a:r>
            <a:r>
              <a:rPr dirty="0" sz="1100" spc="-5">
                <a:latin typeface="Times New Roman"/>
                <a:cs typeface="Times New Roman"/>
              </a:rPr>
              <a:t>This means, simply, to be able to offer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reader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portrait of the object -- in this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place -- which evokes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dominant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impression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writer wishes the description to evoke. If a writer wants the reader to ‘see’ a sunset over the Golden Gate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Bridge as beautiful and inspiring, he or she will attempt to present the description of this scene in just this </a:t>
            </a:r>
            <a:r>
              <a:rPr dirty="0" sz="1100">
                <a:latin typeface="Times New Roman"/>
                <a:cs typeface="Times New Roman"/>
              </a:rPr>
              <a:t> way; </a:t>
            </a:r>
            <a:r>
              <a:rPr dirty="0" sz="1100" spc="-5">
                <a:latin typeface="Times New Roman"/>
                <a:cs typeface="Times New Roman"/>
              </a:rPr>
              <a:t>similarly, a writer may intend this same sunset to register as a sad moment, and will then present 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details of </a:t>
            </a:r>
            <a:r>
              <a:rPr dirty="0" sz="1100">
                <a:latin typeface="Times New Roman"/>
                <a:cs typeface="Times New Roman"/>
              </a:rPr>
              <a:t>this </a:t>
            </a:r>
            <a:r>
              <a:rPr dirty="0" sz="1100" spc="-5">
                <a:latin typeface="Times New Roman"/>
                <a:cs typeface="Times New Roman"/>
              </a:rPr>
              <a:t>scene in such a way as to evoke </a:t>
            </a:r>
            <a:r>
              <a:rPr dirty="0" sz="1100">
                <a:latin typeface="Times New Roman"/>
                <a:cs typeface="Times New Roman"/>
              </a:rPr>
              <a:t>those </a:t>
            </a:r>
            <a:r>
              <a:rPr dirty="0" sz="1100" spc="-5">
                <a:latin typeface="Times New Roman"/>
                <a:cs typeface="Times New Roman"/>
              </a:rPr>
              <a:t>emotions. Writers, when they describe, are usually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aiming to do more than merely render a clear portrait of a place; usually the intent is to render a portrait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also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evokes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feeling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(as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above,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description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room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intended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capture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its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warmth).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146425" algn="l"/>
                <a:tab pos="5651500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Descriptions	of	People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 marR="5715">
              <a:lnSpc>
                <a:spcPct val="95800"/>
              </a:lnSpc>
            </a:pPr>
            <a:r>
              <a:rPr dirty="0" sz="1100" spc="-5">
                <a:latin typeface="Times New Roman"/>
                <a:cs typeface="Times New Roman"/>
              </a:rPr>
              <a:t>As with descriptions of place, descriptions of people </a:t>
            </a:r>
            <a:r>
              <a:rPr dirty="0" sz="1100">
                <a:latin typeface="Times New Roman"/>
                <a:cs typeface="Times New Roman"/>
              </a:rPr>
              <a:t>aim </a:t>
            </a:r>
            <a:r>
              <a:rPr dirty="0" sz="1100" spc="-5">
                <a:latin typeface="Times New Roman"/>
                <a:cs typeface="Times New Roman"/>
              </a:rPr>
              <a:t>not only to portray the basic essential features of a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person, but also to offer some presentation of the character’s personality. Again, this is done through 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details the writer chooses to focus on, rather than through telling. The writer never </a:t>
            </a:r>
            <a:r>
              <a:rPr dirty="0" sz="1100">
                <a:latin typeface="Times New Roman"/>
                <a:cs typeface="Times New Roman"/>
              </a:rPr>
              <a:t>says </a:t>
            </a:r>
            <a:r>
              <a:rPr dirty="0" sz="1100" spc="-5">
                <a:latin typeface="Times New Roman"/>
                <a:cs typeface="Times New Roman"/>
              </a:rPr>
              <a:t>"he was quite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uptight," or "she was </a:t>
            </a:r>
            <a:r>
              <a:rPr dirty="0" sz="1100">
                <a:latin typeface="Times New Roman"/>
                <a:cs typeface="Times New Roman"/>
              </a:rPr>
              <a:t>lazy," </a:t>
            </a:r>
            <a:r>
              <a:rPr dirty="0" sz="1100" spc="-5">
                <a:latin typeface="Times New Roman"/>
                <a:cs typeface="Times New Roman"/>
              </a:rPr>
              <a:t>but attempts to array her or his details to convey this impression of the person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being described.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spc="-5" b="1">
                <a:latin typeface="Times New Roman"/>
                <a:cs typeface="Times New Roman"/>
              </a:rPr>
              <a:t>A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Master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at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Work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 marR="6350">
              <a:lnSpc>
                <a:spcPct val="95800"/>
              </a:lnSpc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passage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describes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pivotal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scene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from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George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Orwell's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famous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essay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“Shooting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Elephant.” Orwell, the pen name of Eric Blair (1903-1950) is famous not only for his grim novels Animal </a:t>
            </a:r>
            <a:r>
              <a:rPr dirty="0" sz="1100">
                <a:latin typeface="Times New Roman"/>
                <a:cs typeface="Times New Roman"/>
              </a:rPr>
              <a:t> Farm </a:t>
            </a:r>
            <a:r>
              <a:rPr dirty="0" sz="1100" spc="-5">
                <a:latin typeface="Times New Roman"/>
                <a:cs typeface="Times New Roman"/>
              </a:rPr>
              <a:t>(1945) and 1984 (1948), but also for his passionate defence of the integrity of the English language.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“Shooting an Elephant” focuses on the use and abuse of power. Notice how Orwell </a:t>
            </a:r>
            <a:r>
              <a:rPr dirty="0" sz="1100">
                <a:latin typeface="Times New Roman"/>
                <a:cs typeface="Times New Roman"/>
              </a:rPr>
              <a:t>draws </a:t>
            </a:r>
            <a:r>
              <a:rPr dirty="0" sz="1100" spc="-5">
                <a:latin typeface="Times New Roman"/>
                <a:cs typeface="Times New Roman"/>
              </a:rPr>
              <a:t>on the sense of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touch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hearing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well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sight: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100">
              <a:latin typeface="Times New Roman"/>
              <a:cs typeface="Times New Roman"/>
            </a:endParaRPr>
          </a:p>
          <a:p>
            <a:pPr algn="just" marL="469900" marR="707390">
              <a:lnSpc>
                <a:spcPct val="95800"/>
              </a:lnSpc>
            </a:pPr>
            <a:r>
              <a:rPr dirty="0" sz="1100" spc="-5">
                <a:latin typeface="Times New Roman"/>
                <a:cs typeface="Times New Roman"/>
              </a:rPr>
              <a:t>“When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pulled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trigger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did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hear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bang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feel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kick—one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never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does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when a shot goes home—but I heard the devilish roar of glee that went up from 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crowd.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instant,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too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short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time,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would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thought,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even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bullet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2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get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there,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mysterious,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terrible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change</a:t>
            </a:r>
            <a:r>
              <a:rPr dirty="0" sz="1100" spc="2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had</a:t>
            </a:r>
            <a:r>
              <a:rPr dirty="0" sz="1100" spc="2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come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over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elephant.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</a:t>
            </a:r>
            <a:r>
              <a:rPr dirty="0" sz="1100" spc="2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neither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stirred nor fell, but every line of his body had altered. He looked suddenly stricken,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shrunken, immensely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old, 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though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frightful impact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 the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bullet had paralyzed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him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without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knocking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him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down.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last,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after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what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seemed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long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time—it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might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seconds,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dare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say—he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sagged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flabbily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knees.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mouth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slobbered ….”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 marR="4426585" indent="-635">
              <a:lnSpc>
                <a:spcPct val="191400"/>
              </a:lnSpc>
            </a:pP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PERSUASIVE WRITING 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WHAT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IS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PERSUASION?</a:t>
            </a:r>
            <a:endParaRPr sz="1100">
              <a:latin typeface="Times New Roman"/>
              <a:cs typeface="Times New Roman"/>
            </a:endParaRPr>
          </a:p>
          <a:p>
            <a:pPr marL="12700" marR="6985">
              <a:lnSpc>
                <a:spcPts val="1270"/>
              </a:lnSpc>
              <a:spcBef>
                <a:spcPts val="25"/>
              </a:spcBef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art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persuasion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art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finding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best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available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means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moving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specific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audience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specific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situation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specific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decision.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00"/>
              </a:lnSpc>
            </a:pPr>
            <a:r>
              <a:rPr dirty="0" sz="1100" spc="-5">
                <a:latin typeface="Times New Roman"/>
                <a:cs typeface="Times New Roman"/>
              </a:rPr>
              <a:t>Persuasive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writing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analyzes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various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sides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issue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while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arguing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viewpoint.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may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serve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clarify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95"/>
              </a:lnSpc>
            </a:pPr>
            <a:r>
              <a:rPr dirty="0" sz="1100" spc="-5">
                <a:latin typeface="Times New Roman"/>
                <a:cs typeface="Times New Roman"/>
              </a:rPr>
              <a:t>your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own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beliefs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persuade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accept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particular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perspective.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290"/>
              </a:lnSpc>
            </a:pPr>
            <a:r>
              <a:rPr dirty="0" sz="1100" spc="-5" b="1">
                <a:latin typeface="Times New Roman"/>
                <a:cs typeface="Times New Roman"/>
              </a:rPr>
              <a:t>CREATING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THESIS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ts val="1270"/>
              </a:lnSpc>
              <a:spcBef>
                <a:spcPts val="55"/>
              </a:spcBef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foundation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persuasive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paper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thesis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(often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called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claim).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create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effective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thesis,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must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select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appropriate topic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decide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 your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position.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ts val="1290"/>
              </a:lnSpc>
              <a:spcBef>
                <a:spcPts val="5"/>
              </a:spcBef>
            </a:pPr>
            <a:r>
              <a:rPr dirty="0" sz="1100" spc="-10" b="1">
                <a:latin typeface="Times New Roman"/>
                <a:cs typeface="Times New Roman"/>
              </a:rPr>
              <a:t>SELECT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</a:t>
            </a:r>
            <a:r>
              <a:rPr dirty="0" sz="1100" spc="-10" b="1">
                <a:latin typeface="Times New Roman"/>
                <a:cs typeface="Times New Roman"/>
              </a:rPr>
              <a:t> TOPIC</a:t>
            </a:r>
            <a:endParaRPr sz="1100">
              <a:latin typeface="Times New Roman"/>
              <a:cs typeface="Times New Roman"/>
            </a:endParaRPr>
          </a:p>
          <a:p>
            <a:pPr marL="12700" marR="8255">
              <a:lnSpc>
                <a:spcPts val="1270"/>
              </a:lnSpc>
              <a:spcBef>
                <a:spcPts val="50"/>
              </a:spcBef>
            </a:pPr>
            <a:r>
              <a:rPr dirty="0" sz="1100" spc="-5">
                <a:latin typeface="Times New Roman"/>
                <a:cs typeface="Times New Roman"/>
              </a:rPr>
              <a:t>Persuasive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writing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addresses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topics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somehow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controversial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stimulate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discussion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because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complexity.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select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first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consider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own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opinions.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Ask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yourself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questions:</a:t>
            </a:r>
            <a:endParaRPr sz="1100">
              <a:latin typeface="Times New Roman"/>
              <a:cs typeface="Times New Roman"/>
            </a:endParaRPr>
          </a:p>
          <a:p>
            <a:pPr marL="1564005">
              <a:lnSpc>
                <a:spcPct val="100000"/>
              </a:lnSpc>
              <a:spcBef>
                <a:spcPts val="955"/>
              </a:spcBef>
              <a:tabLst>
                <a:tab pos="5894705" algn="l"/>
              </a:tabLst>
            </a:pPr>
            <a:r>
              <a:rPr dirty="0" sz="1200">
                <a:latin typeface="Times New Roman"/>
                <a:cs typeface="Times New Roman"/>
              </a:rPr>
              <a:t>© Copyrights Virtual Uni</a:t>
            </a:r>
            <a:r>
              <a:rPr dirty="0" sz="1200" spc="-5">
                <a:latin typeface="Times New Roman"/>
                <a:cs typeface="Times New Roman"/>
              </a:rPr>
              <a:t>v</a:t>
            </a:r>
            <a:r>
              <a:rPr dirty="0" sz="1200">
                <a:latin typeface="Times New Roman"/>
                <a:cs typeface="Times New Roman"/>
              </a:rPr>
              <a:t>ersity of Pakistan	95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84111" y="342390"/>
            <a:ext cx="22669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00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27380" y="342390"/>
            <a:ext cx="2555240" cy="5467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 Elementary</a:t>
            </a:r>
            <a:r>
              <a:rPr dirty="0" sz="1100" spc="5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issues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feel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strongly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about?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257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27372" y="1027430"/>
            <a:ext cx="6062345" cy="86741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469900" indent="-228600">
              <a:lnSpc>
                <a:spcPts val="1295"/>
              </a:lnSpc>
              <a:spcBef>
                <a:spcPts val="95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would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like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learn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about?</a:t>
            </a:r>
            <a:endParaRPr sz="1100">
              <a:latin typeface="Times New Roman"/>
              <a:cs typeface="Times New Roman"/>
            </a:endParaRPr>
          </a:p>
          <a:p>
            <a:pPr algn="just" marL="12700" marR="5080">
              <a:lnSpc>
                <a:spcPct val="95800"/>
              </a:lnSpc>
              <a:spcBef>
                <a:spcPts val="30"/>
              </a:spcBef>
            </a:pPr>
            <a:r>
              <a:rPr dirty="0" sz="1100" spc="-5">
                <a:latin typeface="Times New Roman"/>
                <a:cs typeface="Times New Roman"/>
              </a:rPr>
              <a:t>Once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selected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topic,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take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time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write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down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everything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know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it.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probably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 use all the ideas you jot down, but this will get you thinking. From here, research the issue thoroughly;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become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expert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topic,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understand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all</a:t>
            </a:r>
            <a:r>
              <a:rPr dirty="0" sz="1100" spc="245" i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sides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issue.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Through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research,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prepared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decide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position.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285"/>
              </a:lnSpc>
            </a:pPr>
            <a:r>
              <a:rPr dirty="0" sz="1100" spc="-5" b="1">
                <a:latin typeface="Times New Roman"/>
                <a:cs typeface="Times New Roman"/>
              </a:rPr>
              <a:t>DECIDE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ON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POSITION</a:t>
            </a:r>
            <a:endParaRPr sz="1100">
              <a:latin typeface="Times New Roman"/>
              <a:cs typeface="Times New Roman"/>
            </a:endParaRPr>
          </a:p>
          <a:p>
            <a:pPr algn="just" marL="12700" marR="5715">
              <a:lnSpc>
                <a:spcPts val="1270"/>
              </a:lnSpc>
              <a:spcBef>
                <a:spcPts val="50"/>
              </a:spcBef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position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decide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upon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becomes</a:t>
            </a:r>
            <a:r>
              <a:rPr dirty="0" sz="1100">
                <a:latin typeface="Times New Roman"/>
                <a:cs typeface="Times New Roman"/>
              </a:rPr>
              <a:t> your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statement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claim—what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argue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persuade. This claim will set limits on your topic and allude </a:t>
            </a:r>
            <a:r>
              <a:rPr dirty="0" sz="1100" spc="-10">
                <a:latin typeface="Times New Roman"/>
                <a:cs typeface="Times New Roman"/>
              </a:rPr>
              <a:t>to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organization of your paper. When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deciding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position,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your </a:t>
            </a:r>
            <a:r>
              <a:rPr dirty="0" sz="1100" spc="-5">
                <a:latin typeface="Times New Roman"/>
                <a:cs typeface="Times New Roman"/>
              </a:rPr>
              <a:t>thesis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arguable.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Avoid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arguing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following: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545465" marR="5715">
              <a:lnSpc>
                <a:spcPct val="95700"/>
              </a:lnSpc>
            </a:pPr>
            <a:r>
              <a:rPr dirty="0" sz="1100" spc="-5" b="1">
                <a:latin typeface="Times New Roman"/>
                <a:cs typeface="Times New Roman"/>
              </a:rPr>
              <a:t>Indisputable facts </a:t>
            </a:r>
            <a:r>
              <a:rPr dirty="0" sz="1100" spc="-5">
                <a:latin typeface="Times New Roman"/>
                <a:cs typeface="Times New Roman"/>
              </a:rPr>
              <a:t>For example, there is no point in </a:t>
            </a:r>
            <a:r>
              <a:rPr dirty="0" sz="1100">
                <a:latin typeface="Times New Roman"/>
                <a:cs typeface="Times New Roman"/>
              </a:rPr>
              <a:t>trying </a:t>
            </a:r>
            <a:r>
              <a:rPr dirty="0" sz="1100" spc="-5">
                <a:latin typeface="Times New Roman"/>
                <a:cs typeface="Times New Roman"/>
              </a:rPr>
              <a:t>to argue that heart </a:t>
            </a:r>
            <a:r>
              <a:rPr dirty="0" sz="1100" spc="-10">
                <a:latin typeface="Times New Roman"/>
                <a:cs typeface="Times New Roman"/>
              </a:rPr>
              <a:t>disease </a:t>
            </a:r>
            <a:r>
              <a:rPr dirty="0" sz="1100" spc="-5">
                <a:latin typeface="Times New Roman"/>
                <a:cs typeface="Times New Roman"/>
              </a:rPr>
              <a:t>is deadly.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Everyone knows that, so a better argument would revolve around how to stop the rise of heart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disease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current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American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society.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100">
              <a:latin typeface="Times New Roman"/>
              <a:cs typeface="Times New Roman"/>
            </a:endParaRPr>
          </a:p>
          <a:p>
            <a:pPr algn="just" marL="546100" marR="5080" indent="-635">
              <a:lnSpc>
                <a:spcPts val="1270"/>
              </a:lnSpc>
            </a:pPr>
            <a:r>
              <a:rPr dirty="0" sz="1100" spc="-5" b="1">
                <a:latin typeface="Times New Roman"/>
                <a:cs typeface="Times New Roman"/>
              </a:rPr>
              <a:t>Preferences </a:t>
            </a:r>
            <a:r>
              <a:rPr dirty="0" sz="1100" spc="-5">
                <a:latin typeface="Times New Roman"/>
                <a:cs typeface="Times New Roman"/>
              </a:rPr>
              <a:t>Opinions can be changed, but some people just prefer one thing over another. For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example, </a:t>
            </a:r>
            <a:r>
              <a:rPr dirty="0" sz="1100">
                <a:latin typeface="Times New Roman"/>
                <a:cs typeface="Times New Roman"/>
              </a:rPr>
              <a:t>some </a:t>
            </a:r>
            <a:r>
              <a:rPr dirty="0" sz="1100" spc="-5">
                <a:latin typeface="Times New Roman"/>
                <a:cs typeface="Times New Roman"/>
              </a:rPr>
              <a:t>people do not like to scuba dive. You cannot convince them to enjoy something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 simply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545465" marR="5715">
              <a:lnSpc>
                <a:spcPts val="1270"/>
              </a:lnSpc>
              <a:spcBef>
                <a:spcPts val="5"/>
              </a:spcBef>
            </a:pPr>
            <a:r>
              <a:rPr dirty="0" sz="1100" spc="-5" b="1">
                <a:latin typeface="Times New Roman"/>
                <a:cs typeface="Times New Roman"/>
              </a:rPr>
              <a:t>Religion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and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other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deep-rooted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beliefs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Such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issues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beyond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empirical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analysis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therefore very difficult to argue. Take an angle that does not directly argue these issues.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example, </a:t>
            </a:r>
            <a:r>
              <a:rPr dirty="0" sz="1100">
                <a:latin typeface="Times New Roman"/>
                <a:cs typeface="Times New Roman"/>
              </a:rPr>
              <a:t>you </a:t>
            </a:r>
            <a:r>
              <a:rPr dirty="0" sz="1100" spc="-5">
                <a:latin typeface="Times New Roman"/>
                <a:cs typeface="Times New Roman"/>
              </a:rPr>
              <a:t>would not want to try arguing that Christianity is false. This would only incite anger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people who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hold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Christianity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value.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ts val="1290"/>
              </a:lnSpc>
            </a:pPr>
            <a:r>
              <a:rPr dirty="0" sz="1100" spc="-5" b="1">
                <a:latin typeface="Times New Roman"/>
                <a:cs typeface="Times New Roman"/>
              </a:rPr>
              <a:t>SUPPORTING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YOUR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THESIS</a:t>
            </a:r>
            <a:endParaRPr sz="1100">
              <a:latin typeface="Times New Roman"/>
              <a:cs typeface="Times New Roman"/>
            </a:endParaRPr>
          </a:p>
          <a:p>
            <a:pPr algn="just" marL="12700" marR="5715">
              <a:lnSpc>
                <a:spcPts val="1270"/>
              </a:lnSpc>
              <a:spcBef>
                <a:spcPts val="55"/>
              </a:spcBef>
            </a:pPr>
            <a:r>
              <a:rPr dirty="0" sz="1100" spc="-5">
                <a:latin typeface="Times New Roman"/>
                <a:cs typeface="Times New Roman"/>
              </a:rPr>
              <a:t>After deciding on a claim or thesis, you will need to identify proofs—or premises—to support the thesis.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 premises will be </a:t>
            </a:r>
            <a:r>
              <a:rPr dirty="0" sz="1100">
                <a:latin typeface="Times New Roman"/>
                <a:cs typeface="Times New Roman"/>
              </a:rPr>
              <a:t>stated </a:t>
            </a:r>
            <a:r>
              <a:rPr dirty="0" sz="1100" spc="-5">
                <a:latin typeface="Times New Roman"/>
                <a:cs typeface="Times New Roman"/>
              </a:rPr>
              <a:t>in your thesis statement in the same </a:t>
            </a:r>
            <a:r>
              <a:rPr dirty="0" sz="1100">
                <a:latin typeface="Times New Roman"/>
                <a:cs typeface="Times New Roman"/>
              </a:rPr>
              <a:t>order </a:t>
            </a:r>
            <a:r>
              <a:rPr dirty="0" sz="1100" spc="-5">
                <a:latin typeface="Times New Roman"/>
                <a:cs typeface="Times New Roman"/>
              </a:rPr>
              <a:t>they will be addressed in the paper.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 the persuasive techniques of logos, ethos, and pathos to support your viewpoint and address alternate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perspectives.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ts val="1290"/>
              </a:lnSpc>
            </a:pPr>
            <a:r>
              <a:rPr dirty="0" sz="1100" spc="-5" b="1">
                <a:latin typeface="Times New Roman"/>
                <a:cs typeface="Times New Roman"/>
              </a:rPr>
              <a:t>DEVELOP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PREMISES</a:t>
            </a:r>
            <a:endParaRPr sz="1100">
              <a:latin typeface="Times New Roman"/>
              <a:cs typeface="Times New Roman"/>
            </a:endParaRPr>
          </a:p>
          <a:p>
            <a:pPr algn="just" marL="12700" marR="5715">
              <a:lnSpc>
                <a:spcPts val="1270"/>
              </a:lnSpc>
              <a:spcBef>
                <a:spcPts val="55"/>
              </a:spcBef>
            </a:pPr>
            <a:r>
              <a:rPr dirty="0" sz="1100" spc="-5">
                <a:latin typeface="Times New Roman"/>
                <a:cs typeface="Times New Roman"/>
              </a:rPr>
              <a:t>Premises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evidence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supports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thesis,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make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up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bulk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paper.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example,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arguing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United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should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trade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countries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commit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human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rights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violations, your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premises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might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endParaRPr sz="1100">
              <a:latin typeface="Times New Roman"/>
              <a:cs typeface="Times New Roman"/>
            </a:endParaRPr>
          </a:p>
          <a:p>
            <a:pPr lvl="1" marL="667385" indent="-198120">
              <a:lnSpc>
                <a:spcPts val="1225"/>
              </a:lnSpc>
              <a:buAutoNum type="arabicParenBoth"/>
              <a:tabLst>
                <a:tab pos="668020" algn="l"/>
              </a:tabLst>
            </a:pPr>
            <a:r>
              <a:rPr dirty="0" sz="1100" spc="-5">
                <a:latin typeface="Times New Roman"/>
                <a:cs typeface="Times New Roman"/>
              </a:rPr>
              <a:t>Trading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violating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countries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philosophically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encourages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further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violations.</a:t>
            </a:r>
            <a:endParaRPr sz="1100">
              <a:latin typeface="Times New Roman"/>
              <a:cs typeface="Times New Roman"/>
            </a:endParaRPr>
          </a:p>
          <a:p>
            <a:pPr lvl="1" marL="667385" indent="-198120">
              <a:lnSpc>
                <a:spcPct val="100000"/>
              </a:lnSpc>
              <a:spcBef>
                <a:spcPts val="580"/>
              </a:spcBef>
              <a:buAutoNum type="arabicParenBoth"/>
              <a:tabLst>
                <a:tab pos="668020" algn="l"/>
              </a:tabLst>
            </a:pPr>
            <a:r>
              <a:rPr dirty="0" sz="1100" spc="-5">
                <a:latin typeface="Times New Roman"/>
                <a:cs typeface="Times New Roman"/>
              </a:rPr>
              <a:t>US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industries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would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also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up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exploiting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people.</a:t>
            </a:r>
            <a:endParaRPr sz="1100">
              <a:latin typeface="Times New Roman"/>
              <a:cs typeface="Times New Roman"/>
            </a:endParaRPr>
          </a:p>
          <a:p>
            <a:pPr lvl="1" marL="667385" indent="-198120">
              <a:lnSpc>
                <a:spcPct val="100000"/>
              </a:lnSpc>
              <a:spcBef>
                <a:spcPts val="575"/>
              </a:spcBef>
              <a:buAutoNum type="arabicParenBoth"/>
              <a:tabLst>
                <a:tab pos="66802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violating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country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harmed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by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lack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trade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thereby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stop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exploiting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workers.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650">
              <a:latin typeface="Times New Roman"/>
              <a:cs typeface="Times New Roman"/>
            </a:endParaRPr>
          </a:p>
          <a:p>
            <a:pPr algn="just" marL="12700" marR="5715">
              <a:lnSpc>
                <a:spcPts val="127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body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paper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address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each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premises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detail,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need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sufficient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evidence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support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each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 marR="6350">
              <a:lnSpc>
                <a:spcPts val="127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NOTE: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Sometimes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premises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unstated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assumptions.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reader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might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disagree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>
                <a:latin typeface="Times New Roman"/>
                <a:cs typeface="Times New Roman"/>
              </a:rPr>
              <a:t> these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assumptions, then you have the added task of proving the assumption. For example, by arguing that the US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should not trade with countries that commit human rights violations, </a:t>
            </a:r>
            <a:r>
              <a:rPr dirty="0" sz="1100">
                <a:latin typeface="Times New Roman"/>
                <a:cs typeface="Times New Roman"/>
              </a:rPr>
              <a:t>you </a:t>
            </a:r>
            <a:r>
              <a:rPr dirty="0" sz="1100" spc="-5">
                <a:latin typeface="Times New Roman"/>
                <a:cs typeface="Times New Roman"/>
              </a:rPr>
              <a:t>are assuming that your </a:t>
            </a:r>
            <a:r>
              <a:rPr dirty="0" sz="1100">
                <a:latin typeface="Times New Roman"/>
                <a:cs typeface="Times New Roman"/>
              </a:rPr>
              <a:t>reader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believes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wrong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abuse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working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class.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290"/>
              </a:lnSpc>
              <a:spcBef>
                <a:spcPts val="1050"/>
              </a:spcBef>
            </a:pP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TACTICS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RHETORIC</a:t>
            </a:r>
            <a:endParaRPr sz="1100">
              <a:latin typeface="Times New Roman"/>
              <a:cs typeface="Times New Roman"/>
            </a:endParaRPr>
          </a:p>
          <a:p>
            <a:pPr algn="just" marL="12700" marR="6350">
              <a:lnSpc>
                <a:spcPts val="1270"/>
              </a:lnSpc>
              <a:spcBef>
                <a:spcPts val="55"/>
              </a:spcBef>
            </a:pPr>
            <a:r>
              <a:rPr dirty="0" sz="1100" spc="-5">
                <a:latin typeface="Times New Roman"/>
                <a:cs typeface="Times New Roman"/>
              </a:rPr>
              <a:t>To be persuasive, your argument must be solid and reasonable. In order to be convincing, </a:t>
            </a:r>
            <a:r>
              <a:rPr dirty="0" sz="1100">
                <a:latin typeface="Times New Roman"/>
                <a:cs typeface="Times New Roman"/>
              </a:rPr>
              <a:t>you </a:t>
            </a:r>
            <a:r>
              <a:rPr dirty="0" sz="1100" spc="-5">
                <a:latin typeface="Times New Roman"/>
                <a:cs typeface="Times New Roman"/>
              </a:rPr>
              <a:t>should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appropriately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apply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persuasive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techniques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logos</a:t>
            </a:r>
            <a:r>
              <a:rPr dirty="0" sz="1100" spc="-5">
                <a:latin typeface="Times New Roman"/>
                <a:cs typeface="Times New Roman"/>
              </a:rPr>
              <a:t>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ethos</a:t>
            </a:r>
            <a:r>
              <a:rPr dirty="0" sz="1100" spc="-5">
                <a:latin typeface="Times New Roman"/>
                <a:cs typeface="Times New Roman"/>
              </a:rPr>
              <a:t>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pathos</a:t>
            </a:r>
            <a:r>
              <a:rPr dirty="0" sz="1100" spc="-5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marL="1564005">
              <a:lnSpc>
                <a:spcPct val="100000"/>
              </a:lnSpc>
              <a:tabLst>
                <a:tab pos="5894705" algn="l"/>
              </a:tabLst>
            </a:pPr>
            <a:r>
              <a:rPr dirty="0" sz="1200">
                <a:latin typeface="Times New Roman"/>
                <a:cs typeface="Times New Roman"/>
              </a:rPr>
              <a:t>© Copyrights Virtual Uni</a:t>
            </a:r>
            <a:r>
              <a:rPr dirty="0" sz="1200" spc="-5">
                <a:latin typeface="Times New Roman"/>
                <a:cs typeface="Times New Roman"/>
              </a:rPr>
              <a:t>v</a:t>
            </a:r>
            <a:r>
              <a:rPr dirty="0" sz="1200">
                <a:latin typeface="Times New Roman"/>
                <a:cs typeface="Times New Roman"/>
              </a:rPr>
              <a:t>ersity of Pakistan	96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360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67219" y="9493248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97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972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84566" y="342390"/>
            <a:ext cx="6083300" cy="34588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869305" algn="l"/>
              </a:tabLst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l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</a:t>
            </a:r>
            <a:r>
              <a:rPr dirty="0" sz="1100" spc="-15">
                <a:solidFill>
                  <a:srgbClr val="323232"/>
                </a:solidFill>
                <a:latin typeface="Times New Roman"/>
                <a:cs typeface="Times New Roman"/>
              </a:rPr>
              <a:t>m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entary</a:t>
            </a:r>
            <a:r>
              <a:rPr dirty="0" sz="1100" spc="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g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lish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25400" indent="489584">
              <a:lnSpc>
                <a:spcPts val="1270"/>
              </a:lnSpc>
            </a:pPr>
            <a:r>
              <a:rPr dirty="0" sz="1100" spc="-5" b="1">
                <a:latin typeface="Times New Roman"/>
                <a:cs typeface="Times New Roman"/>
              </a:rPr>
              <a:t>Logos: </a:t>
            </a:r>
            <a:r>
              <a:rPr dirty="0" sz="1100" spc="-5">
                <a:latin typeface="Times New Roman"/>
                <a:cs typeface="Times New Roman"/>
              </a:rPr>
              <a:t>Appeal to reason by using facts, statistics, research, logical arguments, etc. This is the most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convincing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technique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academic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writing.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 marR="28575" indent="457200">
              <a:lnSpc>
                <a:spcPts val="1270"/>
              </a:lnSpc>
            </a:pPr>
            <a:r>
              <a:rPr dirty="0" sz="1100" spc="-5" b="1">
                <a:latin typeface="Times New Roman"/>
                <a:cs typeface="Times New Roman"/>
              </a:rPr>
              <a:t>Ethos</a:t>
            </a:r>
            <a:r>
              <a:rPr dirty="0" sz="1100" spc="-5">
                <a:latin typeface="Times New Roman"/>
                <a:cs typeface="Times New Roman"/>
              </a:rPr>
              <a:t>: Appeal to the credibility or character of the author or of the people quoted. Use credible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sources,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prove your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own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credibility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good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academic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tone.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 marR="26034" indent="457200">
              <a:lnSpc>
                <a:spcPct val="95700"/>
              </a:lnSpc>
            </a:pPr>
            <a:r>
              <a:rPr dirty="0" sz="1100" spc="-5" b="1">
                <a:latin typeface="Times New Roman"/>
                <a:cs typeface="Times New Roman"/>
              </a:rPr>
              <a:t>Pathos: </a:t>
            </a:r>
            <a:r>
              <a:rPr dirty="0" sz="1100" spc="-5">
                <a:latin typeface="Times New Roman"/>
                <a:cs typeface="Times New Roman"/>
              </a:rPr>
              <a:t>Appeal to emotion, values, and beliefs to support your own feelings or passion about 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issue. Include personal stories </a:t>
            </a:r>
            <a:r>
              <a:rPr dirty="0" sz="1100">
                <a:latin typeface="Times New Roman"/>
                <a:cs typeface="Times New Roman"/>
              </a:rPr>
              <a:t>from </a:t>
            </a:r>
            <a:r>
              <a:rPr dirty="0" sz="1100" spc="-5">
                <a:latin typeface="Times New Roman"/>
                <a:cs typeface="Times New Roman"/>
              </a:rPr>
              <a:t>yourself or others, and use appropriate word choice to emphasize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emotion.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academic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writing,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technique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should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care.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295"/>
              </a:lnSpc>
              <a:spcBef>
                <a:spcPts val="5"/>
              </a:spcBef>
            </a:pPr>
            <a:r>
              <a:rPr dirty="0" sz="1100" spc="-5" b="1">
                <a:latin typeface="Times New Roman"/>
                <a:cs typeface="Times New Roman"/>
              </a:rPr>
              <a:t>Pathos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Principle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1: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65"/>
              </a:lnSpc>
            </a:pPr>
            <a:r>
              <a:rPr dirty="0" sz="1100" spc="-5" b="1">
                <a:latin typeface="Times New Roman"/>
                <a:cs typeface="Times New Roman"/>
              </a:rPr>
              <a:t>Know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your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Audience.</a:t>
            </a:r>
            <a:endParaRPr sz="1100">
              <a:latin typeface="Times New Roman"/>
              <a:cs typeface="Times New Roman"/>
            </a:endParaRPr>
          </a:p>
          <a:p>
            <a:pPr marL="240665">
              <a:lnSpc>
                <a:spcPts val="1290"/>
              </a:lnSpc>
            </a:pP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concerned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local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issues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local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people</a:t>
            </a:r>
            <a:endParaRPr sz="1100">
              <a:latin typeface="Times New Roman"/>
              <a:cs typeface="Times New Roman"/>
            </a:endParaRPr>
          </a:p>
          <a:p>
            <a:pPr marL="1155065" indent="-229235">
              <a:lnSpc>
                <a:spcPct val="100000"/>
              </a:lnSpc>
              <a:spcBef>
                <a:spcPts val="20"/>
              </a:spcBef>
              <a:buFont typeface="Symbol"/>
              <a:buChar char=""/>
              <a:tabLst>
                <a:tab pos="1155065" algn="l"/>
                <a:tab pos="1155700" algn="l"/>
              </a:tabLst>
            </a:pPr>
            <a:r>
              <a:rPr dirty="0" sz="1100" spc="-5">
                <a:latin typeface="Times New Roman"/>
                <a:cs typeface="Times New Roman"/>
              </a:rPr>
              <a:t>Make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local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arguments</a:t>
            </a:r>
            <a:endParaRPr sz="1100">
              <a:latin typeface="Times New Roman"/>
              <a:cs typeface="Times New Roman"/>
            </a:endParaRPr>
          </a:p>
          <a:p>
            <a:pPr marL="240665">
              <a:lnSpc>
                <a:spcPct val="100000"/>
              </a:lnSpc>
              <a:spcBef>
                <a:spcPts val="580"/>
              </a:spcBef>
            </a:pP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make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decisions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both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minds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hearts</a:t>
            </a:r>
            <a:endParaRPr sz="1100">
              <a:latin typeface="Times New Roman"/>
              <a:cs typeface="Times New Roman"/>
            </a:endParaRPr>
          </a:p>
          <a:p>
            <a:pPr algn="r" marL="227965" marR="4088765" indent="-227965">
              <a:lnSpc>
                <a:spcPct val="100000"/>
              </a:lnSpc>
              <a:spcBef>
                <a:spcPts val="30"/>
              </a:spcBef>
              <a:buFont typeface="Symbol"/>
              <a:buChar char=""/>
              <a:tabLst>
                <a:tab pos="227965" algn="l"/>
                <a:tab pos="228600" algn="l"/>
              </a:tabLst>
            </a:pPr>
            <a:r>
              <a:rPr dirty="0" sz="1100" spc="-5">
                <a:latin typeface="Times New Roman"/>
                <a:cs typeface="Times New Roman"/>
              </a:rPr>
              <a:t>Appeal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both</a:t>
            </a:r>
            <a:endParaRPr sz="1100">
              <a:latin typeface="Times New Roman"/>
              <a:cs typeface="Times New Roman"/>
            </a:endParaRPr>
          </a:p>
          <a:p>
            <a:pPr algn="r" marR="4098925">
              <a:lnSpc>
                <a:spcPct val="100000"/>
              </a:lnSpc>
              <a:spcBef>
                <a:spcPts val="570"/>
              </a:spcBef>
            </a:pP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feel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financially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pressured</a:t>
            </a:r>
            <a:endParaRPr sz="1100">
              <a:latin typeface="Times New Roman"/>
              <a:cs typeface="Times New Roman"/>
            </a:endParaRPr>
          </a:p>
          <a:p>
            <a:pPr marL="1155065" indent="-229235">
              <a:lnSpc>
                <a:spcPct val="100000"/>
              </a:lnSpc>
              <a:spcBef>
                <a:spcPts val="30"/>
              </a:spcBef>
              <a:buFont typeface="Symbol"/>
              <a:buChar char=""/>
              <a:tabLst>
                <a:tab pos="1155065" algn="l"/>
                <a:tab pos="1155700" algn="l"/>
              </a:tabLst>
            </a:pPr>
            <a:r>
              <a:rPr dirty="0" sz="1100" spc="-5">
                <a:latin typeface="Times New Roman"/>
                <a:cs typeface="Times New Roman"/>
              </a:rPr>
              <a:t>Show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how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programs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save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money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new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money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community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829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084510" y="4009873"/>
            <a:ext cx="2061210" cy="6737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295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Pathos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Principle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2: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65"/>
              </a:lnSpc>
            </a:pPr>
            <a:r>
              <a:rPr dirty="0" sz="1100" spc="-5" b="1">
                <a:latin typeface="Times New Roman"/>
                <a:cs typeface="Times New Roman"/>
              </a:rPr>
              <a:t>Know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what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moves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your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Audience.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60"/>
              </a:lnSpc>
            </a:pPr>
            <a:r>
              <a:rPr dirty="0" sz="1100" spc="-5">
                <a:latin typeface="Times New Roman"/>
                <a:cs typeface="Times New Roman"/>
              </a:rPr>
              <a:t>Ask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yourself: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90"/>
              </a:lnSpc>
            </a:pPr>
            <a:r>
              <a:rPr dirty="0" sz="1100" spc="-5">
                <a:latin typeface="Times New Roman"/>
                <a:cs typeface="Times New Roman"/>
              </a:rPr>
              <a:t>What do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 commonly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want?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98913" y="4578004"/>
            <a:ext cx="2218055" cy="528955"/>
          </a:xfrm>
          <a:prstGeom prst="rect">
            <a:avLst/>
          </a:prstGeom>
        </p:spPr>
        <p:txBody>
          <a:bodyPr wrap="square" lIns="0" tIns="9652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6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 you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done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lately?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What are</a:t>
            </a:r>
            <a:r>
              <a:rPr dirty="0" sz="1100">
                <a:latin typeface="Times New Roman"/>
                <a:cs typeface="Times New Roman"/>
              </a:rPr>
              <a:t> your </a:t>
            </a:r>
            <a:r>
              <a:rPr dirty="0" sz="1100" spc="-5">
                <a:latin typeface="Times New Roman"/>
                <a:cs typeface="Times New Roman"/>
              </a:rPr>
              <a:t>program’s results?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84510" y="5314405"/>
            <a:ext cx="150368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latin typeface="Times New Roman"/>
                <a:cs typeface="Times New Roman"/>
              </a:rPr>
              <a:t>And give it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straight!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98913" y="5402493"/>
            <a:ext cx="4699000" cy="777875"/>
          </a:xfrm>
          <a:prstGeom prst="rect">
            <a:avLst/>
          </a:prstGeom>
        </p:spPr>
        <p:txBody>
          <a:bodyPr wrap="square" lIns="0" tIns="9588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5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Since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lots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competition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attention,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give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short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simple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5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Tell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facts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&amp;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figures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prove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program helps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5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Show </a:t>
            </a:r>
            <a:r>
              <a:rPr dirty="0" sz="1100" spc="-10">
                <a:latin typeface="Times New Roman"/>
                <a:cs typeface="Times New Roman"/>
              </a:rPr>
              <a:t>me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how</a:t>
            </a:r>
            <a:r>
              <a:rPr dirty="0" sz="1100" spc="-5">
                <a:latin typeface="Times New Roman"/>
                <a:cs typeface="Times New Roman"/>
              </a:rPr>
              <a:t> people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helped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84510" y="6389575"/>
            <a:ext cx="1496060" cy="3530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29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Ethos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Principle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1: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90"/>
              </a:lnSpc>
            </a:pPr>
            <a:r>
              <a:rPr dirty="0" sz="1100" spc="-5" b="1">
                <a:latin typeface="Times New Roman"/>
                <a:cs typeface="Times New Roman"/>
              </a:rPr>
              <a:t>Write like a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Professional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41711" y="6636144"/>
            <a:ext cx="4867910" cy="528320"/>
          </a:xfrm>
          <a:prstGeom prst="rect">
            <a:avLst/>
          </a:prstGeom>
        </p:spPr>
        <p:txBody>
          <a:bodyPr wrap="square" lIns="0" tIns="9652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6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trust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readers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must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believe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competent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person,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professional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Make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information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down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correctly: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98899" y="7139070"/>
            <a:ext cx="1010919" cy="1029335"/>
          </a:xfrm>
          <a:prstGeom prst="rect">
            <a:avLst/>
          </a:prstGeom>
        </p:spPr>
        <p:txBody>
          <a:bodyPr wrap="square" lIns="0" tIns="9588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5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data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5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names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spelling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5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grammar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84496" y="8376848"/>
            <a:ext cx="1177290" cy="353695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>
              <a:lnSpc>
                <a:spcPts val="1270"/>
              </a:lnSpc>
              <a:spcBef>
                <a:spcPts val="180"/>
              </a:spcBef>
            </a:pPr>
            <a:r>
              <a:rPr dirty="0" sz="1100" spc="-5" b="1">
                <a:latin typeface="Times New Roman"/>
                <a:cs typeface="Times New Roman"/>
              </a:rPr>
              <a:t>Ethos Principle 2: 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Write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like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Person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41697" y="8624951"/>
            <a:ext cx="3295650" cy="778510"/>
          </a:xfrm>
          <a:prstGeom prst="rect">
            <a:avLst/>
          </a:prstGeom>
        </p:spPr>
        <p:txBody>
          <a:bodyPr wrap="square" lIns="0" tIns="9588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5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Never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talk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down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over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heads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audience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5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Tell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story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simply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Aim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 10th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grade level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7380" y="342390"/>
            <a:ext cx="174498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 Elementary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84111" y="342390"/>
            <a:ext cx="22669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400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257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27364" y="5716785"/>
            <a:ext cx="6062980" cy="39852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>
              <a:lnSpc>
                <a:spcPts val="129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UNDERSTANDING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YOUR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AUDIENCE</a:t>
            </a:r>
            <a:endParaRPr sz="1100">
              <a:latin typeface="Times New Roman"/>
              <a:cs typeface="Times New Roman"/>
            </a:endParaRPr>
          </a:p>
          <a:p>
            <a:pPr algn="just" marL="12700" marR="8255">
              <a:lnSpc>
                <a:spcPts val="1260"/>
              </a:lnSpc>
              <a:spcBef>
                <a:spcPts val="65"/>
              </a:spcBef>
            </a:pPr>
            <a:r>
              <a:rPr dirty="0" sz="1100" spc="-5">
                <a:latin typeface="Times New Roman"/>
                <a:cs typeface="Times New Roman"/>
              </a:rPr>
              <a:t>Supporting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only</a:t>
            </a:r>
            <a:r>
              <a:rPr dirty="0" sz="1100">
                <a:latin typeface="Times New Roman"/>
                <a:cs typeface="Times New Roman"/>
              </a:rPr>
              <a:t> your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own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viewpoint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sufficient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persuasive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paper.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must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also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understand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audience,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</a:t>
            </a:r>
            <a:r>
              <a:rPr dirty="0" sz="1100">
                <a:latin typeface="Times New Roman"/>
                <a:cs typeface="Times New Roman"/>
              </a:rPr>
              <a:t> you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ways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support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manner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convincing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them.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50">
              <a:latin typeface="Times New Roman"/>
              <a:cs typeface="Times New Roman"/>
            </a:endParaRPr>
          </a:p>
          <a:p>
            <a:pPr marL="469900" marR="258445" indent="-457834">
              <a:lnSpc>
                <a:spcPts val="1270"/>
              </a:lnSpc>
            </a:pPr>
            <a:r>
              <a:rPr dirty="0" sz="1100" spc="-5">
                <a:latin typeface="Times New Roman"/>
                <a:cs typeface="Times New Roman"/>
              </a:rPr>
              <a:t>Ask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yourself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following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questions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help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identify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persuade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audience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effectively: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audience’s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knowledge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level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 your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topic?</a:t>
            </a:r>
            <a:endParaRPr sz="1100">
              <a:latin typeface="Times New Roman"/>
              <a:cs typeface="Times New Roman"/>
            </a:endParaRPr>
          </a:p>
          <a:p>
            <a:pPr marL="469900" marR="3141345">
              <a:lnSpc>
                <a:spcPts val="1260"/>
              </a:lnSpc>
            </a:pP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attitude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towards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topic?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audience’s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values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beliefs?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 algn="just" marL="12700" marR="5715">
              <a:lnSpc>
                <a:spcPts val="1270"/>
              </a:lnSpc>
            </a:pP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questions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help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identify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character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audience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establish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tone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paper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both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professional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reasonable.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Assume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your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audience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intelligent—never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sound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condescending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 know-it-all—but be sure to thoroughly explain concepts. Knowing your audience will also help you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determine</a:t>
            </a:r>
            <a:r>
              <a:rPr dirty="0" sz="1100">
                <a:latin typeface="Times New Roman"/>
                <a:cs typeface="Times New Roman"/>
              </a:rPr>
              <a:t> areas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research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order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effectively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address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counterarguments.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00">
              <a:latin typeface="Times New Roman"/>
              <a:cs typeface="Times New Roman"/>
            </a:endParaRPr>
          </a:p>
          <a:p>
            <a:pPr algn="just" marL="12700">
              <a:lnSpc>
                <a:spcPts val="1290"/>
              </a:lnSpc>
            </a:pPr>
            <a:r>
              <a:rPr dirty="0" sz="1100" spc="-5" b="1">
                <a:latin typeface="Times New Roman"/>
                <a:cs typeface="Times New Roman"/>
              </a:rPr>
              <a:t>LOOK</a:t>
            </a:r>
            <a:r>
              <a:rPr dirty="0" sz="1100" b="1">
                <a:latin typeface="Times New Roman"/>
                <a:cs typeface="Times New Roman"/>
              </a:rPr>
              <a:t> AT </a:t>
            </a:r>
            <a:r>
              <a:rPr dirty="0" sz="1100" spc="-5" b="1">
                <a:latin typeface="Times New Roman"/>
                <a:cs typeface="Times New Roman"/>
              </a:rPr>
              <a:t>ALTERNATIVE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PERSPECTIVES</a:t>
            </a:r>
            <a:endParaRPr sz="1100">
              <a:latin typeface="Times New Roman"/>
              <a:cs typeface="Times New Roman"/>
            </a:endParaRPr>
          </a:p>
          <a:p>
            <a:pPr algn="just" marL="12700" marR="5080">
              <a:lnSpc>
                <a:spcPct val="95800"/>
              </a:lnSpc>
              <a:spcBef>
                <a:spcPts val="25"/>
              </a:spcBef>
            </a:pP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large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part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understanding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your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audience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addressing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alternative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perspectives.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done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just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after the introduction, just before the conclusion, or throughout the paper. Addressing other viewpoints can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intimidating,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yet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essential.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Alternative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perspectives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should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treated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fairly—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think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what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others believe and why they believe so, and focus on the most common arguments. </a:t>
            </a:r>
            <a:r>
              <a:rPr dirty="0" sz="1100">
                <a:latin typeface="Times New Roman"/>
                <a:cs typeface="Times New Roman"/>
              </a:rPr>
              <a:t>From </a:t>
            </a:r>
            <a:r>
              <a:rPr dirty="0" sz="1100" spc="-5">
                <a:latin typeface="Times New Roman"/>
                <a:cs typeface="Times New Roman"/>
              </a:rPr>
              <a:t>there, you can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either refute or concede. Conceding means that you agree with the argument and acknowledge the issue is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complex;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 with a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discussion of your next strong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point.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refuting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arguments,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show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why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view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reasonable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stronger.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Always build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ground.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600">
              <a:latin typeface="Times New Roman"/>
              <a:cs typeface="Times New Roman"/>
            </a:endParaRPr>
          </a:p>
          <a:p>
            <a:pPr marL="1564005">
              <a:lnSpc>
                <a:spcPct val="100000"/>
              </a:lnSpc>
              <a:spcBef>
                <a:spcPts val="5"/>
              </a:spcBef>
              <a:tabLst>
                <a:tab pos="5894705" algn="l"/>
              </a:tabLst>
            </a:pPr>
            <a:r>
              <a:rPr dirty="0" sz="1200">
                <a:latin typeface="Times New Roman"/>
                <a:cs typeface="Times New Roman"/>
              </a:rPr>
              <a:t>© Copyrights Virtual Uni</a:t>
            </a:r>
            <a:r>
              <a:rPr dirty="0" sz="1200" spc="-5">
                <a:latin typeface="Times New Roman"/>
                <a:cs typeface="Times New Roman"/>
              </a:rPr>
              <a:t>v</a:t>
            </a:r>
            <a:r>
              <a:rPr dirty="0" sz="1200">
                <a:latin typeface="Times New Roman"/>
                <a:cs typeface="Times New Roman"/>
              </a:rPr>
              <a:t>ersity of Pakistan	98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7378" y="692602"/>
            <a:ext cx="2267585" cy="1753870"/>
          </a:xfrm>
          <a:prstGeom prst="rect">
            <a:avLst/>
          </a:prstGeom>
        </p:spPr>
        <p:txBody>
          <a:bodyPr wrap="square" lIns="0" tIns="96520" rIns="0" bIns="0" rtlCol="0" vert="horz">
            <a:spAutoFit/>
          </a:bodyPr>
          <a:lstStyle/>
          <a:p>
            <a:pPr marL="698500" indent="-228600">
              <a:lnSpc>
                <a:spcPct val="100000"/>
              </a:lnSpc>
              <a:spcBef>
                <a:spcPts val="760"/>
              </a:spcBef>
              <a:buFont typeface="Symbol"/>
              <a:buChar char=""/>
              <a:tabLst>
                <a:tab pos="697865" algn="l"/>
                <a:tab pos="698500" algn="l"/>
              </a:tabLst>
            </a:pPr>
            <a:r>
              <a:rPr dirty="0" sz="1100" spc="-5">
                <a:latin typeface="Times New Roman"/>
                <a:cs typeface="Times New Roman"/>
              </a:rPr>
              <a:t>Use simple familiar words</a:t>
            </a:r>
            <a:endParaRPr sz="1100">
              <a:latin typeface="Times New Roman"/>
              <a:cs typeface="Times New Roman"/>
            </a:endParaRPr>
          </a:p>
          <a:p>
            <a:pPr marL="698500" indent="-228600">
              <a:lnSpc>
                <a:spcPct val="100000"/>
              </a:lnSpc>
              <a:spcBef>
                <a:spcPts val="660"/>
              </a:spcBef>
              <a:buFont typeface="Symbol"/>
              <a:buChar char=""/>
              <a:tabLst>
                <a:tab pos="697865" algn="l"/>
                <a:tab pos="698500" algn="l"/>
              </a:tabLst>
            </a:pPr>
            <a:r>
              <a:rPr dirty="0" sz="1100" spc="-5">
                <a:latin typeface="Times New Roman"/>
                <a:cs typeface="Times New Roman"/>
              </a:rPr>
              <a:t>Avoid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jargon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acronyms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Symbol"/>
              <a:buChar char=""/>
            </a:pPr>
            <a:endParaRPr sz="1300">
              <a:latin typeface="Times New Roman"/>
              <a:cs typeface="Times New Roman"/>
            </a:endParaRPr>
          </a:p>
          <a:p>
            <a:pPr marL="698500" indent="-228600">
              <a:lnSpc>
                <a:spcPct val="100000"/>
              </a:lnSpc>
              <a:spcBef>
                <a:spcPts val="1055"/>
              </a:spcBef>
              <a:buFont typeface="Symbol"/>
              <a:buChar char=""/>
              <a:tabLst>
                <a:tab pos="697865" algn="l"/>
                <a:tab pos="698500" algn="l"/>
              </a:tabLst>
            </a:pPr>
            <a:r>
              <a:rPr dirty="0" sz="1100" spc="-5">
                <a:latin typeface="Times New Roman"/>
                <a:cs typeface="Times New Roman"/>
              </a:rPr>
              <a:t>Use short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simple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sentences</a:t>
            </a:r>
            <a:endParaRPr sz="1100">
              <a:latin typeface="Times New Roman"/>
              <a:cs typeface="Times New Roman"/>
            </a:endParaRPr>
          </a:p>
          <a:p>
            <a:pPr marL="698500" indent="-228600">
              <a:lnSpc>
                <a:spcPct val="100000"/>
              </a:lnSpc>
              <a:spcBef>
                <a:spcPts val="660"/>
              </a:spcBef>
              <a:buFont typeface="Symbol"/>
              <a:buChar char=""/>
              <a:tabLst>
                <a:tab pos="697865" algn="l"/>
                <a:tab pos="698500" algn="l"/>
              </a:tabLst>
            </a:pPr>
            <a:r>
              <a:rPr dirty="0" sz="1100" spc="-5">
                <a:latin typeface="Times New Roman"/>
                <a:cs typeface="Times New Roman"/>
              </a:rPr>
              <a:t>Show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rather than tell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dirty="0" sz="1100" spc="-5" b="1">
                <a:latin typeface="Times New Roman"/>
                <a:cs typeface="Times New Roman"/>
              </a:rPr>
              <a:t>Logos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Principle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1: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sz="1100" spc="-5" b="1">
                <a:latin typeface="Times New Roman"/>
                <a:cs typeface="Times New Roman"/>
              </a:rPr>
              <a:t>Make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your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argument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clear.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7378" y="2653547"/>
            <a:ext cx="6061075" cy="353695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>
              <a:lnSpc>
                <a:spcPts val="1270"/>
              </a:lnSpc>
              <a:spcBef>
                <a:spcPts val="180"/>
              </a:spcBef>
            </a:pPr>
            <a:r>
              <a:rPr dirty="0" sz="1100">
                <a:latin typeface="Times New Roman"/>
                <a:cs typeface="Times New Roman"/>
              </a:rPr>
              <a:t>Don’t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forget: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argument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involves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process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establishing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claim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then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proving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logical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reasoning,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research.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84580" y="2902417"/>
            <a:ext cx="2557780" cy="778510"/>
          </a:xfrm>
          <a:prstGeom prst="rect">
            <a:avLst/>
          </a:prstGeom>
        </p:spPr>
        <p:txBody>
          <a:bodyPr wrap="square" lIns="0" tIns="9588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5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Answer the</a:t>
            </a:r>
            <a:r>
              <a:rPr dirty="0" sz="1100">
                <a:latin typeface="Times New Roman"/>
                <a:cs typeface="Times New Roman"/>
              </a:rPr>
              <a:t> basic</a:t>
            </a:r>
            <a:r>
              <a:rPr dirty="0" sz="1100" spc="-5">
                <a:latin typeface="Times New Roman"/>
                <a:cs typeface="Times New Roman"/>
              </a:rPr>
              <a:t> questions</a:t>
            </a:r>
            <a:r>
              <a:rPr dirty="0" sz="1100">
                <a:latin typeface="Times New Roman"/>
                <a:cs typeface="Times New Roman"/>
              </a:rPr>
              <a:t> (5W’s </a:t>
            </a:r>
            <a:r>
              <a:rPr dirty="0" sz="1100" spc="-5">
                <a:latin typeface="Times New Roman"/>
                <a:cs typeface="Times New Roman"/>
              </a:rPr>
              <a:t>&amp; 1H)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5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State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activities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results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plainly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Choose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clear words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0064" y="3655272"/>
            <a:ext cx="3727450" cy="1019175"/>
          </a:xfrm>
          <a:prstGeom prst="rect">
            <a:avLst/>
          </a:prstGeom>
        </p:spPr>
        <p:txBody>
          <a:bodyPr wrap="square" lIns="0" tIns="95885" rIns="0" bIns="0" rtlCol="0" vert="horz">
            <a:spAutoFit/>
          </a:bodyPr>
          <a:lstStyle/>
          <a:p>
            <a:pPr marL="1143000" indent="-228600">
              <a:lnSpc>
                <a:spcPct val="100000"/>
              </a:lnSpc>
              <a:spcBef>
                <a:spcPts val="755"/>
              </a:spcBef>
              <a:buFont typeface="Symbol"/>
              <a:buChar char=""/>
              <a:tabLst>
                <a:tab pos="1142365" algn="l"/>
                <a:tab pos="1143000" algn="l"/>
              </a:tabLst>
            </a:pPr>
            <a:r>
              <a:rPr dirty="0" sz="1100" spc="-5">
                <a:latin typeface="Times New Roman"/>
                <a:cs typeface="Times New Roman"/>
              </a:rPr>
              <a:t>Choose a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common vocabulary</a:t>
            </a:r>
            <a:endParaRPr sz="1100">
              <a:latin typeface="Times New Roman"/>
              <a:cs typeface="Times New Roman"/>
            </a:endParaRPr>
          </a:p>
          <a:p>
            <a:pPr marL="1143000" indent="-228600">
              <a:lnSpc>
                <a:spcPct val="100000"/>
              </a:lnSpc>
              <a:spcBef>
                <a:spcPts val="650"/>
              </a:spcBef>
              <a:buFont typeface="Symbol"/>
              <a:buChar char=""/>
              <a:tabLst>
                <a:tab pos="1142365" algn="l"/>
                <a:tab pos="1143000" algn="l"/>
              </a:tabLst>
            </a:pPr>
            <a:r>
              <a:rPr dirty="0" sz="1100" spc="-5">
                <a:latin typeface="Times New Roman"/>
                <a:cs typeface="Times New Roman"/>
              </a:rPr>
              <a:t>Choose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active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verbs</a:t>
            </a:r>
            <a:endParaRPr sz="1100">
              <a:latin typeface="Times New Roman"/>
              <a:cs typeface="Times New Roman"/>
            </a:endParaRPr>
          </a:p>
          <a:p>
            <a:pPr marL="1143000" indent="-228600">
              <a:lnSpc>
                <a:spcPct val="100000"/>
              </a:lnSpc>
              <a:spcBef>
                <a:spcPts val="660"/>
              </a:spcBef>
              <a:buFont typeface="Symbol"/>
              <a:buChar char=""/>
              <a:tabLst>
                <a:tab pos="1142365" algn="l"/>
                <a:tab pos="1143000" algn="l"/>
              </a:tabLst>
            </a:pPr>
            <a:r>
              <a:rPr dirty="0" sz="1100" spc="-5">
                <a:latin typeface="Times New Roman"/>
                <a:cs typeface="Times New Roman"/>
              </a:rPr>
              <a:t>Choose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concrete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nouns,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adjectives,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&amp;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adverbs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80"/>
              </a:spcBef>
            </a:pPr>
            <a:r>
              <a:rPr dirty="0" sz="1100" spc="-5" b="1">
                <a:latin typeface="Times New Roman"/>
                <a:cs typeface="Times New Roman"/>
              </a:rPr>
              <a:t>Logos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Principle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2: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7364" y="4641601"/>
            <a:ext cx="281813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latin typeface="Times New Roman"/>
                <a:cs typeface="Times New Roman"/>
              </a:rPr>
              <a:t>Organize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argument.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organized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argument: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84566" y="4729689"/>
            <a:ext cx="3140075" cy="778510"/>
          </a:xfrm>
          <a:prstGeom prst="rect">
            <a:avLst/>
          </a:prstGeom>
        </p:spPr>
        <p:txBody>
          <a:bodyPr wrap="square" lIns="0" tIns="9588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5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Guides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audience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through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reasoning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process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5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Offers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clear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explanation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each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argued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point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Demonstrates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credibility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writer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4580" y="342390"/>
            <a:ext cx="174498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 Elementary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41311" y="342390"/>
            <a:ext cx="22669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972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5" name="object 5"/>
          <p:cNvGrpSpPr/>
          <p:nvPr/>
        </p:nvGrpSpPr>
        <p:grpSpPr>
          <a:xfrm>
            <a:off x="982980" y="3349752"/>
            <a:ext cx="6179820" cy="6184900"/>
            <a:chOff x="982980" y="3349752"/>
            <a:chExt cx="6179820" cy="6184900"/>
          </a:xfrm>
        </p:grpSpPr>
        <p:sp>
          <p:nvSpPr>
            <p:cNvPr id="6" name="object 6"/>
            <p:cNvSpPr/>
            <p:nvPr/>
          </p:nvSpPr>
          <p:spPr>
            <a:xfrm>
              <a:off x="982980" y="9507855"/>
              <a:ext cx="6170295" cy="19050"/>
            </a:xfrm>
            <a:custGeom>
              <a:avLst/>
              <a:gdLst/>
              <a:ahLst/>
              <a:cxnLst/>
              <a:rect l="l" t="t" r="r" b="b"/>
              <a:pathLst>
                <a:path w="6170295" h="19050">
                  <a:moveTo>
                    <a:pt x="0" y="9525"/>
                  </a:moveTo>
                  <a:lnTo>
                    <a:pt x="323850" y="9525"/>
                  </a:lnTo>
                </a:path>
                <a:path w="6170295" h="19050">
                  <a:moveTo>
                    <a:pt x="6170295" y="0"/>
                  </a:moveTo>
                  <a:lnTo>
                    <a:pt x="6170295" y="1905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078230" y="3349751"/>
              <a:ext cx="6073140" cy="6184900"/>
            </a:xfrm>
            <a:custGeom>
              <a:avLst/>
              <a:gdLst/>
              <a:ahLst/>
              <a:cxnLst/>
              <a:rect l="l" t="t" r="r" b="b"/>
              <a:pathLst>
                <a:path w="6073140" h="6184900">
                  <a:moveTo>
                    <a:pt x="6073140" y="5220474"/>
                  </a:moveTo>
                  <a:lnTo>
                    <a:pt x="228600" y="5220474"/>
                  </a:lnTo>
                  <a:lnTo>
                    <a:pt x="228600" y="5462016"/>
                  </a:lnTo>
                  <a:lnTo>
                    <a:pt x="228600" y="5702808"/>
                  </a:lnTo>
                  <a:lnTo>
                    <a:pt x="228600" y="5943600"/>
                  </a:lnTo>
                  <a:lnTo>
                    <a:pt x="228600" y="6184392"/>
                  </a:lnTo>
                  <a:lnTo>
                    <a:pt x="6073140" y="6184392"/>
                  </a:lnTo>
                  <a:lnTo>
                    <a:pt x="6073140" y="5943600"/>
                  </a:lnTo>
                  <a:lnTo>
                    <a:pt x="6073140" y="5702808"/>
                  </a:lnTo>
                  <a:lnTo>
                    <a:pt x="6073140" y="5462016"/>
                  </a:lnTo>
                  <a:lnTo>
                    <a:pt x="6073140" y="5220474"/>
                  </a:lnTo>
                  <a:close/>
                </a:path>
                <a:path w="6073140" h="6184900">
                  <a:moveTo>
                    <a:pt x="6073140" y="0"/>
                  </a:moveTo>
                  <a:lnTo>
                    <a:pt x="0" y="0"/>
                  </a:lnTo>
                  <a:lnTo>
                    <a:pt x="0" y="160782"/>
                  </a:lnTo>
                  <a:lnTo>
                    <a:pt x="0" y="321564"/>
                  </a:lnTo>
                  <a:lnTo>
                    <a:pt x="0" y="1124712"/>
                  </a:lnTo>
                  <a:lnTo>
                    <a:pt x="228600" y="1124712"/>
                  </a:lnTo>
                  <a:lnTo>
                    <a:pt x="228600" y="3212592"/>
                  </a:lnTo>
                  <a:lnTo>
                    <a:pt x="0" y="3212592"/>
                  </a:lnTo>
                  <a:lnTo>
                    <a:pt x="0" y="3373374"/>
                  </a:lnTo>
                  <a:lnTo>
                    <a:pt x="0" y="3534156"/>
                  </a:lnTo>
                  <a:lnTo>
                    <a:pt x="228600" y="3534156"/>
                  </a:lnTo>
                  <a:lnTo>
                    <a:pt x="228600" y="5220462"/>
                  </a:lnTo>
                  <a:lnTo>
                    <a:pt x="6073140" y="5220462"/>
                  </a:lnTo>
                  <a:lnTo>
                    <a:pt x="6073140" y="160782"/>
                  </a:lnTo>
                  <a:lnTo>
                    <a:pt x="6073140" y="0"/>
                  </a:lnTo>
                  <a:close/>
                </a:path>
              </a:pathLst>
            </a:custGeom>
            <a:solidFill>
              <a:srgbClr val="F8FC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078230" y="1526991"/>
            <a:ext cx="6073140" cy="81749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75615" marR="11430" indent="-228600">
              <a:lnSpc>
                <a:spcPct val="143600"/>
              </a:lnSpc>
              <a:spcBef>
                <a:spcPts val="100"/>
              </a:spcBef>
              <a:buFont typeface="Symbol"/>
              <a:buChar char=""/>
              <a:tabLst>
                <a:tab pos="475615" algn="l"/>
                <a:tab pos="476250" algn="l"/>
              </a:tabLst>
            </a:pPr>
            <a:r>
              <a:rPr dirty="0" sz="1100" spc="-5">
                <a:latin typeface="Times New Roman"/>
                <a:cs typeface="Times New Roman"/>
              </a:rPr>
              <a:t>Avoid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absolutes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hasty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generalizations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such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always</a:t>
            </a:r>
            <a:r>
              <a:rPr dirty="0" sz="1100" spc="-5">
                <a:latin typeface="Times New Roman"/>
                <a:cs typeface="Times New Roman"/>
              </a:rPr>
              <a:t>,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never</a:t>
            </a:r>
            <a:r>
              <a:rPr dirty="0" sz="1100" spc="-5">
                <a:latin typeface="Times New Roman"/>
                <a:cs typeface="Times New Roman"/>
              </a:rPr>
              <a:t>,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all</a:t>
            </a:r>
            <a:r>
              <a:rPr dirty="0" sz="1100" spc="155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people</a:t>
            </a:r>
            <a:r>
              <a:rPr dirty="0" sz="1100" spc="-5">
                <a:latin typeface="Times New Roman"/>
                <a:cs typeface="Times New Roman"/>
              </a:rPr>
              <a:t>.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See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Writing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Center’s </a:t>
            </a:r>
            <a:r>
              <a:rPr dirty="0" sz="1100" spc="-5" i="1">
                <a:latin typeface="Times New Roman"/>
                <a:cs typeface="Times New Roman"/>
              </a:rPr>
              <a:t>Logical</a:t>
            </a:r>
            <a:r>
              <a:rPr dirty="0" sz="1100" spc="5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Fallacies</a:t>
            </a:r>
            <a:r>
              <a:rPr dirty="0" sz="1100" i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handout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improper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logic.</a:t>
            </a:r>
            <a:endParaRPr sz="1100">
              <a:latin typeface="Times New Roman"/>
              <a:cs typeface="Times New Roman"/>
            </a:endParaRPr>
          </a:p>
          <a:p>
            <a:pPr marL="475615" indent="-229235">
              <a:lnSpc>
                <a:spcPct val="100000"/>
              </a:lnSpc>
              <a:spcBef>
                <a:spcPts val="655"/>
              </a:spcBef>
              <a:buFont typeface="Symbol"/>
              <a:buChar char=""/>
              <a:tabLst>
                <a:tab pos="475615" algn="l"/>
                <a:tab pos="476250" algn="l"/>
              </a:tabLst>
            </a:pP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evidence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recent,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relevant,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impartial.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sufficient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evidence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justify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each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point.</a:t>
            </a:r>
            <a:endParaRPr sz="1100">
              <a:latin typeface="Times New Roman"/>
              <a:cs typeface="Times New Roman"/>
            </a:endParaRPr>
          </a:p>
          <a:p>
            <a:pPr marL="475615" indent="-229235">
              <a:lnSpc>
                <a:spcPct val="100000"/>
              </a:lnSpc>
              <a:spcBef>
                <a:spcPts val="660"/>
              </a:spcBef>
              <a:buFont typeface="Symbol"/>
              <a:buChar char=""/>
              <a:tabLst>
                <a:tab pos="475615" algn="l"/>
                <a:tab pos="476250" algn="l"/>
              </a:tabLst>
            </a:pPr>
            <a:r>
              <a:rPr dirty="0" sz="1100" spc="-5">
                <a:latin typeface="Times New Roman"/>
                <a:cs typeface="Times New Roman"/>
              </a:rPr>
              <a:t>Follow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basic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essay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format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introduction,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body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paragraphs,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conclusion.</a:t>
            </a:r>
            <a:endParaRPr sz="1100">
              <a:latin typeface="Times New Roman"/>
              <a:cs typeface="Times New Roman"/>
            </a:endParaRPr>
          </a:p>
          <a:p>
            <a:pPr marL="475615" indent="-229235">
              <a:lnSpc>
                <a:spcPct val="100000"/>
              </a:lnSpc>
              <a:spcBef>
                <a:spcPts val="650"/>
              </a:spcBef>
              <a:buFont typeface="Symbol"/>
              <a:buChar char=""/>
              <a:tabLst>
                <a:tab pos="475615" algn="l"/>
                <a:tab pos="476250" algn="l"/>
              </a:tabLst>
            </a:pPr>
            <a:r>
              <a:rPr dirty="0" sz="1100" spc="-5">
                <a:latin typeface="Times New Roman"/>
                <a:cs typeface="Times New Roman"/>
              </a:rPr>
              <a:t>Make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sure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include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proper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in-text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citations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 i="1">
                <a:latin typeface="Times New Roman"/>
                <a:cs typeface="Times New Roman"/>
              </a:rPr>
              <a:t>Works</a:t>
            </a:r>
            <a:r>
              <a:rPr dirty="0" sz="1100" spc="15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Cited</a:t>
            </a:r>
            <a:r>
              <a:rPr dirty="0" sz="1100" spc="-5">
                <a:latin typeface="Times New Roman"/>
                <a:cs typeface="Times New Roman"/>
              </a:rPr>
              <a:t>/</a:t>
            </a:r>
            <a:r>
              <a:rPr dirty="0" sz="1100" spc="-5" i="1">
                <a:latin typeface="Times New Roman"/>
                <a:cs typeface="Times New Roman"/>
              </a:rPr>
              <a:t>Bibliography</a:t>
            </a:r>
            <a:r>
              <a:rPr dirty="0" sz="1100" spc="-5">
                <a:latin typeface="Times New Roman"/>
                <a:cs typeface="Times New Roman"/>
              </a:rPr>
              <a:t>/</a:t>
            </a:r>
            <a:r>
              <a:rPr dirty="0" sz="1100" spc="-5" i="1">
                <a:latin typeface="Times New Roman"/>
                <a:cs typeface="Times New Roman"/>
              </a:rPr>
              <a:t>References</a:t>
            </a:r>
            <a:r>
              <a:rPr dirty="0" sz="1100" spc="10" i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page.</a:t>
            </a:r>
            <a:endParaRPr sz="1100">
              <a:latin typeface="Times New Roman"/>
              <a:cs typeface="Times New Roman"/>
            </a:endParaRPr>
          </a:p>
          <a:p>
            <a:pPr marL="475615" marR="12065" indent="-228600">
              <a:lnSpc>
                <a:spcPct val="144100"/>
              </a:lnSpc>
              <a:spcBef>
                <a:spcPts val="75"/>
              </a:spcBef>
              <a:buFont typeface="Symbol"/>
              <a:buChar char=""/>
              <a:tabLst>
                <a:tab pos="475615" algn="l"/>
                <a:tab pos="476250" algn="l"/>
              </a:tabLst>
            </a:pPr>
            <a:r>
              <a:rPr dirty="0" sz="1100" spc="-5">
                <a:latin typeface="Times New Roman"/>
                <a:cs typeface="Times New Roman"/>
              </a:rPr>
              <a:t>While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handout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provides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basic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guidelines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persuasive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writing,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always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tailor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paper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audience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specific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assignment.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har char=""/>
            </a:pPr>
            <a:endParaRPr sz="1600">
              <a:latin typeface="Times New Roman"/>
              <a:cs typeface="Times New Roman"/>
            </a:endParaRPr>
          </a:p>
          <a:p>
            <a:pPr algn="just" marL="1905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TRADITIONAL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STRUCTURE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IN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PERSUASIVE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WRITING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00">
              <a:latin typeface="Times New Roman"/>
              <a:cs typeface="Times New Roman"/>
            </a:endParaRPr>
          </a:p>
          <a:p>
            <a:pPr algn="just" marL="19050" marR="10160">
              <a:lnSpc>
                <a:spcPts val="1270"/>
              </a:lnSpc>
            </a:pPr>
            <a:r>
              <a:rPr dirty="0" sz="1100" spc="-5">
                <a:latin typeface="Times New Roman"/>
                <a:cs typeface="Times New Roman"/>
              </a:rPr>
              <a:t>Here is a list of the traditional parts that can be used to strengthen an argument presented in persuasive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writing. While these do not have to be followed exactly or in this order, they are helpful in forming 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persuasive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writing.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00">
              <a:latin typeface="Times New Roman"/>
              <a:cs typeface="Times New Roman"/>
            </a:endParaRPr>
          </a:p>
          <a:p>
            <a:pPr marL="475615" indent="-228600">
              <a:lnSpc>
                <a:spcPct val="100000"/>
              </a:lnSpc>
              <a:buSzPct val="90909"/>
              <a:buFont typeface="Symbol"/>
              <a:buChar char=""/>
              <a:tabLst>
                <a:tab pos="475615" algn="l"/>
                <a:tab pos="476250" algn="l"/>
              </a:tabLst>
            </a:pPr>
            <a:r>
              <a:rPr dirty="0" sz="1100" spc="-5">
                <a:latin typeface="Times New Roman"/>
                <a:cs typeface="Times New Roman"/>
              </a:rPr>
              <a:t>Exordium,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introduction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har char=""/>
            </a:pPr>
            <a:endParaRPr sz="1050">
              <a:latin typeface="Times New Roman"/>
              <a:cs typeface="Times New Roman"/>
            </a:endParaRPr>
          </a:p>
          <a:p>
            <a:pPr marL="475615" indent="-228600">
              <a:lnSpc>
                <a:spcPct val="100000"/>
              </a:lnSpc>
              <a:buSzPct val="90909"/>
              <a:buFont typeface="Symbol"/>
              <a:buChar char=""/>
              <a:tabLst>
                <a:tab pos="475615" algn="l"/>
                <a:tab pos="476250" algn="l"/>
              </a:tabLst>
            </a:pPr>
            <a:r>
              <a:rPr dirty="0" sz="1100" spc="-5">
                <a:latin typeface="Times New Roman"/>
                <a:cs typeface="Times New Roman"/>
              </a:rPr>
              <a:t>Narration,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background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statement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facts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har char=""/>
            </a:pPr>
            <a:endParaRPr sz="1050">
              <a:latin typeface="Times New Roman"/>
              <a:cs typeface="Times New Roman"/>
            </a:endParaRPr>
          </a:p>
          <a:p>
            <a:pPr marL="475615" indent="-228600">
              <a:lnSpc>
                <a:spcPct val="100000"/>
              </a:lnSpc>
              <a:buSzPct val="90909"/>
              <a:buFont typeface="Symbol"/>
              <a:buChar char=""/>
              <a:tabLst>
                <a:tab pos="475615" algn="l"/>
                <a:tab pos="476250" algn="l"/>
              </a:tabLst>
            </a:pPr>
            <a:r>
              <a:rPr dirty="0" sz="1100" spc="-5">
                <a:latin typeface="Times New Roman"/>
                <a:cs typeface="Times New Roman"/>
              </a:rPr>
              <a:t>Partition,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forecast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presented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har char=""/>
            </a:pPr>
            <a:endParaRPr sz="1100">
              <a:latin typeface="Times New Roman"/>
              <a:cs typeface="Times New Roman"/>
            </a:endParaRPr>
          </a:p>
          <a:p>
            <a:pPr marL="476250" marR="10160" indent="-228600">
              <a:lnSpc>
                <a:spcPts val="1260"/>
              </a:lnSpc>
              <a:spcBef>
                <a:spcPts val="5"/>
              </a:spcBef>
              <a:buSzPct val="90909"/>
              <a:buFont typeface="Symbol"/>
              <a:buChar char=""/>
              <a:tabLst>
                <a:tab pos="475615" algn="l"/>
                <a:tab pos="476250" algn="l"/>
              </a:tabLst>
            </a:pPr>
            <a:r>
              <a:rPr dirty="0" sz="1100" spc="-5">
                <a:latin typeface="Times New Roman"/>
                <a:cs typeface="Times New Roman"/>
              </a:rPr>
              <a:t>Conformation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confirmation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piece.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contemporary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classes,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would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called 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body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text.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har char=""/>
            </a:pPr>
            <a:endParaRPr sz="1000">
              <a:latin typeface="Times New Roman"/>
              <a:cs typeface="Times New Roman"/>
            </a:endParaRPr>
          </a:p>
          <a:p>
            <a:pPr marL="475615" indent="-228600">
              <a:lnSpc>
                <a:spcPct val="100000"/>
              </a:lnSpc>
              <a:spcBef>
                <a:spcPts val="5"/>
              </a:spcBef>
              <a:buSzPct val="90909"/>
              <a:buFont typeface="Symbol"/>
              <a:buChar char=""/>
              <a:tabLst>
                <a:tab pos="475615" algn="l"/>
                <a:tab pos="476250" algn="l"/>
              </a:tabLst>
            </a:pPr>
            <a:r>
              <a:rPr dirty="0" sz="1100" spc="-5">
                <a:latin typeface="Times New Roman"/>
                <a:cs typeface="Times New Roman"/>
              </a:rPr>
              <a:t>Refutation,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discussion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alternatives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har char=""/>
            </a:pPr>
            <a:endParaRPr sz="1100">
              <a:latin typeface="Times New Roman"/>
              <a:cs typeface="Times New Roman"/>
            </a:endParaRPr>
          </a:p>
          <a:p>
            <a:pPr marL="476250" marR="10795" indent="-228600">
              <a:lnSpc>
                <a:spcPts val="1260"/>
              </a:lnSpc>
              <a:buSzPct val="90909"/>
              <a:buFont typeface="Symbol"/>
              <a:buChar char=""/>
              <a:tabLst>
                <a:tab pos="475615" algn="l"/>
                <a:tab pos="476250" algn="l"/>
              </a:tabLst>
            </a:pPr>
            <a:r>
              <a:rPr dirty="0" sz="1100" spc="-5">
                <a:latin typeface="Times New Roman"/>
                <a:cs typeface="Times New Roman"/>
              </a:rPr>
              <a:t>Peroration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conclusion.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It’s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often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helpful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tie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conclusion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back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order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strengthen your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claim.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00">
              <a:latin typeface="Times New Roman"/>
              <a:cs typeface="Times New Roman"/>
            </a:endParaRPr>
          </a:p>
          <a:p>
            <a:pPr algn="just" marL="19050">
              <a:lnSpc>
                <a:spcPts val="1295"/>
              </a:lnSpc>
              <a:spcBef>
                <a:spcPts val="5"/>
              </a:spcBef>
            </a:pPr>
            <a:r>
              <a:rPr dirty="0" sz="1100" spc="-5" b="1">
                <a:latin typeface="Times New Roman"/>
                <a:cs typeface="Times New Roman"/>
              </a:rPr>
              <a:t>COMMON</a:t>
            </a:r>
            <a:r>
              <a:rPr dirty="0" sz="1100" spc="-3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TECHNIQUES</a:t>
            </a:r>
            <a:endParaRPr sz="1100">
              <a:latin typeface="Times New Roman"/>
              <a:cs typeface="Times New Roman"/>
            </a:endParaRPr>
          </a:p>
          <a:p>
            <a:pPr marL="476250" indent="-228600">
              <a:lnSpc>
                <a:spcPts val="1295"/>
              </a:lnSpc>
              <a:buAutoNum type="arabicPeriod"/>
              <a:tabLst>
                <a:tab pos="476250" algn="l"/>
              </a:tabLst>
            </a:pPr>
            <a:r>
              <a:rPr dirty="0" sz="1100" spc="-5">
                <a:latin typeface="Times New Roman"/>
                <a:cs typeface="Times New Roman"/>
              </a:rPr>
              <a:t>Emphasizing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benefits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while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ignoring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drawbacks</a:t>
            </a:r>
            <a:endParaRPr sz="1100">
              <a:latin typeface="Times New Roman"/>
              <a:cs typeface="Times New Roman"/>
            </a:endParaRPr>
          </a:p>
          <a:p>
            <a:pPr marL="476250" indent="-22860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476250" algn="l"/>
              </a:tabLst>
            </a:pPr>
            <a:r>
              <a:rPr dirty="0" sz="1100" spc="-5">
                <a:latin typeface="Times New Roman"/>
                <a:cs typeface="Times New Roman"/>
              </a:rPr>
              <a:t>Writing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active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voice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rather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passive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voice</a:t>
            </a:r>
            <a:endParaRPr sz="1100">
              <a:latin typeface="Times New Roman"/>
              <a:cs typeface="Times New Roman"/>
            </a:endParaRPr>
          </a:p>
          <a:p>
            <a:pPr marL="476250" indent="-22860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476250" algn="l"/>
              </a:tabLst>
            </a:pPr>
            <a:r>
              <a:rPr dirty="0" sz="1100" spc="-5">
                <a:latin typeface="Times New Roman"/>
                <a:cs typeface="Times New Roman"/>
              </a:rPr>
              <a:t>Writing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short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shorter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endParaRPr sz="1100">
              <a:latin typeface="Times New Roman"/>
              <a:cs typeface="Times New Roman"/>
            </a:endParaRPr>
          </a:p>
          <a:p>
            <a:pPr marL="476250" indent="-228600">
              <a:lnSpc>
                <a:spcPct val="100000"/>
              </a:lnSpc>
              <a:spcBef>
                <a:spcPts val="580"/>
              </a:spcBef>
              <a:buAutoNum type="arabicPeriod"/>
              <a:tabLst>
                <a:tab pos="476250" algn="l"/>
              </a:tabLst>
            </a:pPr>
            <a:r>
              <a:rPr dirty="0" sz="1100" spc="-5">
                <a:latin typeface="Times New Roman"/>
                <a:cs typeface="Times New Roman"/>
              </a:rPr>
              <a:t>Creating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list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'For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Against'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points</a:t>
            </a:r>
            <a:endParaRPr sz="1100">
              <a:latin typeface="Times New Roman"/>
              <a:cs typeface="Times New Roman"/>
            </a:endParaRPr>
          </a:p>
          <a:p>
            <a:pPr marL="476250" indent="-228600">
              <a:lnSpc>
                <a:spcPct val="100000"/>
              </a:lnSpc>
              <a:spcBef>
                <a:spcPts val="580"/>
              </a:spcBef>
              <a:buAutoNum type="arabicPeriod"/>
              <a:tabLst>
                <a:tab pos="476250" algn="l"/>
              </a:tabLst>
            </a:pPr>
            <a:r>
              <a:rPr dirty="0" sz="1100" spc="-5">
                <a:latin typeface="Times New Roman"/>
                <a:cs typeface="Times New Roman"/>
              </a:rPr>
              <a:t>Capturing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reader's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interest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first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</a:t>
            </a:r>
            <a:endParaRPr sz="1100">
              <a:latin typeface="Times New Roman"/>
              <a:cs typeface="Times New Roman"/>
            </a:endParaRPr>
          </a:p>
          <a:p>
            <a:pPr marL="476250" indent="-22860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476250" algn="l"/>
              </a:tabLst>
            </a:pPr>
            <a:r>
              <a:rPr dirty="0" sz="1100" spc="-5">
                <a:latin typeface="Times New Roman"/>
                <a:cs typeface="Times New Roman"/>
              </a:rPr>
              <a:t>Using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connectives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e.g.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Furthermore,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Moreover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Therefore</a:t>
            </a:r>
            <a:endParaRPr sz="1100">
              <a:latin typeface="Times New Roman"/>
              <a:cs typeface="Times New Roman"/>
            </a:endParaRPr>
          </a:p>
          <a:p>
            <a:pPr marL="476250" indent="-22860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476250" algn="l"/>
              </a:tabLst>
            </a:pPr>
            <a:r>
              <a:rPr dirty="0" sz="1100" spc="-5">
                <a:latin typeface="Times New Roman"/>
                <a:cs typeface="Times New Roman"/>
              </a:rPr>
              <a:t>Making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opposing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facts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seem like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problems</a:t>
            </a:r>
            <a:endParaRPr sz="1100">
              <a:latin typeface="Times New Roman"/>
              <a:cs typeface="Times New Roman"/>
            </a:endParaRPr>
          </a:p>
          <a:p>
            <a:pPr marL="476250" indent="-22860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476250" algn="l"/>
              </a:tabLst>
            </a:pPr>
            <a:r>
              <a:rPr dirty="0" sz="1100" spc="-5">
                <a:latin typeface="Times New Roman"/>
                <a:cs typeface="Times New Roman"/>
              </a:rPr>
              <a:t>Using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lively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anecdote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persuade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reader</a:t>
            </a:r>
            <a:endParaRPr sz="1100">
              <a:latin typeface="Times New Roman"/>
              <a:cs typeface="Times New Roman"/>
            </a:endParaRPr>
          </a:p>
          <a:p>
            <a:pPr marL="476250" indent="-228600">
              <a:lnSpc>
                <a:spcPct val="100000"/>
              </a:lnSpc>
              <a:spcBef>
                <a:spcPts val="585"/>
              </a:spcBef>
              <a:buAutoNum type="arabicPeriod"/>
              <a:tabLst>
                <a:tab pos="476250" algn="l"/>
              </a:tabLst>
            </a:pPr>
            <a:r>
              <a:rPr dirty="0" sz="1100" spc="-5">
                <a:latin typeface="Times New Roman"/>
                <a:cs typeface="Times New Roman"/>
              </a:rPr>
              <a:t>Asking rhetorical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questions</a:t>
            </a:r>
            <a:endParaRPr sz="1100">
              <a:latin typeface="Times New Roman"/>
              <a:cs typeface="Times New Roman"/>
            </a:endParaRPr>
          </a:p>
          <a:p>
            <a:pPr marL="476250" indent="-229235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476884" algn="l"/>
              </a:tabLst>
            </a:pPr>
            <a:r>
              <a:rPr dirty="0" sz="1100" spc="-5">
                <a:latin typeface="Times New Roman"/>
                <a:cs typeface="Times New Roman"/>
              </a:rPr>
              <a:t>Using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fact"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"indeed"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strengthen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viewpoint</a:t>
            </a:r>
            <a:endParaRPr sz="1100">
              <a:latin typeface="Times New Roman"/>
              <a:cs typeface="Times New Roman"/>
            </a:endParaRPr>
          </a:p>
          <a:p>
            <a:pPr marL="476250" indent="-229235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476884" algn="l"/>
              </a:tabLst>
            </a:pPr>
            <a:r>
              <a:rPr dirty="0" sz="1100" spc="-5">
                <a:latin typeface="Times New Roman"/>
                <a:cs typeface="Times New Roman"/>
              </a:rPr>
              <a:t>Using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"however"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offer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contrasting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viewpoint</a:t>
            </a:r>
            <a:endParaRPr sz="1100">
              <a:latin typeface="Times New Roman"/>
              <a:cs typeface="Times New Roman"/>
            </a:endParaRPr>
          </a:p>
          <a:p>
            <a:pPr marL="1570355">
              <a:lnSpc>
                <a:spcPct val="100000"/>
              </a:lnSpc>
              <a:spcBef>
                <a:spcPts val="434"/>
              </a:spcBef>
              <a:tabLst>
                <a:tab pos="5901055" algn="l"/>
              </a:tabLst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	99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97280" y="686815"/>
            <a:ext cx="31051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TIPS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25873" y="774135"/>
            <a:ext cx="4720590" cy="527050"/>
          </a:xfrm>
          <a:prstGeom prst="rect">
            <a:avLst/>
          </a:prstGeom>
        </p:spPr>
        <p:txBody>
          <a:bodyPr wrap="square" lIns="0" tIns="95885" rIns="0" bIns="0" rtlCol="0" vert="horz">
            <a:spAutoFit/>
          </a:bodyPr>
          <a:lstStyle/>
          <a:p>
            <a:pPr marL="227965" indent="-227965">
              <a:lnSpc>
                <a:spcPct val="100000"/>
              </a:lnSpc>
              <a:spcBef>
                <a:spcPts val="755"/>
              </a:spcBef>
              <a:buFont typeface="Symbol"/>
              <a:buChar char=""/>
              <a:tabLst>
                <a:tab pos="227965" algn="l"/>
                <a:tab pos="228600" algn="l"/>
              </a:tabLst>
            </a:pP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third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person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rather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first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second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person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point-of-view.</a:t>
            </a:r>
            <a:endParaRPr sz="1100">
              <a:latin typeface="Times New Roman"/>
              <a:cs typeface="Times New Roman"/>
            </a:endParaRPr>
          </a:p>
          <a:p>
            <a:pPr marL="227965" indent="-227965">
              <a:lnSpc>
                <a:spcPct val="100000"/>
              </a:lnSpc>
              <a:spcBef>
                <a:spcPts val="650"/>
              </a:spcBef>
              <a:buFont typeface="Symbol"/>
              <a:buChar char=""/>
              <a:tabLst>
                <a:tab pos="227965" algn="l"/>
                <a:tab pos="228600" algn="l"/>
              </a:tabLst>
            </a:pP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vivid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descriptions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rather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telling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reader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feel.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7380" y="342390"/>
            <a:ext cx="608330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869305" algn="l"/>
              </a:tabLst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l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</a:t>
            </a:r>
            <a:r>
              <a:rPr dirty="0" sz="1100" spc="-15">
                <a:solidFill>
                  <a:srgbClr val="323232"/>
                </a:solidFill>
                <a:latin typeface="Times New Roman"/>
                <a:cs typeface="Times New Roman"/>
              </a:rPr>
              <a:t>m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entary</a:t>
            </a:r>
            <a:r>
              <a:rPr dirty="0" sz="1100" spc="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g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lish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788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33820" y="9493248"/>
            <a:ext cx="2540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100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400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257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621030" y="548640"/>
            <a:ext cx="6073140" cy="1285875"/>
          </a:xfrm>
          <a:prstGeom prst="rect">
            <a:avLst/>
          </a:prstGeom>
          <a:solidFill>
            <a:srgbClr val="F8FCFF"/>
          </a:solidFill>
        </p:spPr>
        <p:txBody>
          <a:bodyPr wrap="square" lIns="0" tIns="38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1550">
              <a:latin typeface="Times New Roman"/>
              <a:cs typeface="Times New Roman"/>
            </a:endParaRPr>
          </a:p>
          <a:p>
            <a:pPr marL="24765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12.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Ending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positive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interesting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statement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600">
              <a:latin typeface="Times New Roman"/>
              <a:cs typeface="Times New Roman"/>
            </a:endParaRPr>
          </a:p>
          <a:p>
            <a:pPr algn="just" marL="19050">
              <a:lnSpc>
                <a:spcPts val="1290"/>
              </a:lnSpc>
            </a:pPr>
            <a:r>
              <a:rPr dirty="0" sz="1100" spc="-5" b="1">
                <a:latin typeface="Times New Roman"/>
                <a:cs typeface="Times New Roman"/>
              </a:rPr>
              <a:t>Visual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Appeals</a:t>
            </a:r>
            <a:endParaRPr sz="1100">
              <a:latin typeface="Times New Roman"/>
              <a:cs typeface="Times New Roman"/>
            </a:endParaRPr>
          </a:p>
          <a:p>
            <a:pPr algn="just" marL="19050" marR="10160">
              <a:lnSpc>
                <a:spcPts val="1270"/>
              </a:lnSpc>
              <a:spcBef>
                <a:spcPts val="45"/>
              </a:spcBef>
            </a:pPr>
            <a:r>
              <a:rPr dirty="0" sz="1100" spc="-5">
                <a:latin typeface="Times New Roman"/>
                <a:cs typeface="Times New Roman"/>
              </a:rPr>
              <a:t>Visual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appeals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add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effectiveness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written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alone.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Using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complementing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visuals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help strengthen arguments. This improves the visual rhetoric by making the page more appealing and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allowing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reader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access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page.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7324" y="1971546"/>
            <a:ext cx="6065520" cy="61372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 b="1">
                <a:latin typeface="Times New Roman"/>
                <a:cs typeface="Times New Roman"/>
              </a:rPr>
              <a:t>FOUR</a:t>
            </a:r>
            <a:r>
              <a:rPr dirty="0" sz="1100" spc="-5" b="1">
                <a:latin typeface="Times New Roman"/>
                <a:cs typeface="Times New Roman"/>
              </a:rPr>
              <a:t> RHETORICAL </a:t>
            </a:r>
            <a:r>
              <a:rPr dirty="0" sz="1100" spc="-10" b="1">
                <a:latin typeface="Times New Roman"/>
                <a:cs typeface="Times New Roman"/>
              </a:rPr>
              <a:t>DEVICES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Times New Roman"/>
              <a:cs typeface="Times New Roman"/>
            </a:endParaRPr>
          </a:p>
          <a:p>
            <a:pPr marL="469900" indent="-229235">
              <a:lnSpc>
                <a:spcPct val="100000"/>
              </a:lnSpc>
              <a:buAutoNum type="arabicPeriod"/>
              <a:tabLst>
                <a:tab pos="470534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PARALLEL</a:t>
            </a:r>
            <a:r>
              <a:rPr dirty="0" sz="1100" spc="-3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STRUCTURE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95"/>
              </a:lnSpc>
              <a:spcBef>
                <a:spcPts val="565"/>
              </a:spcBef>
            </a:pPr>
            <a:r>
              <a:rPr dirty="0" sz="1100" spc="-5">
                <a:latin typeface="Times New Roman"/>
                <a:cs typeface="Times New Roman"/>
              </a:rPr>
              <a:t>Example: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65"/>
              </a:lnSpc>
            </a:pPr>
            <a:r>
              <a:rPr dirty="0" sz="1100" spc="-5">
                <a:latin typeface="Times New Roman"/>
                <a:cs typeface="Times New Roman"/>
              </a:rPr>
              <a:t>Churchill’s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speech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House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Common,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4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June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1940:</a:t>
            </a:r>
            <a:endParaRPr sz="1100">
              <a:latin typeface="Times New Roman"/>
              <a:cs typeface="Times New Roman"/>
            </a:endParaRPr>
          </a:p>
          <a:p>
            <a:pPr algn="just" marL="469900" marR="5080">
              <a:lnSpc>
                <a:spcPct val="95800"/>
              </a:lnSpc>
              <a:spcBef>
                <a:spcPts val="30"/>
              </a:spcBef>
            </a:pPr>
            <a:r>
              <a:rPr dirty="0" sz="1100" spc="-5">
                <a:latin typeface="Times New Roman"/>
                <a:cs typeface="Times New Roman"/>
              </a:rPr>
              <a:t>“We shall not flag or fail. We shall go </a:t>
            </a:r>
            <a:r>
              <a:rPr dirty="0" sz="110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to the end. We shall fight in France. We shall fight on 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seas and oceans. We shall fight with growing confidence and growing strength in the air. We </a:t>
            </a:r>
            <a:r>
              <a:rPr dirty="0" sz="1100">
                <a:latin typeface="Times New Roman"/>
                <a:cs typeface="Times New Roman"/>
              </a:rPr>
              <a:t>shall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defend our island, whatever the cost may be. We shall fight on the beaches. We shall </a:t>
            </a:r>
            <a:r>
              <a:rPr dirty="0" sz="1100">
                <a:latin typeface="Times New Roman"/>
                <a:cs typeface="Times New Roman"/>
              </a:rPr>
              <a:t>fight </a:t>
            </a:r>
            <a:r>
              <a:rPr dirty="0" sz="1100" spc="-5">
                <a:latin typeface="Times New Roman"/>
                <a:cs typeface="Times New Roman"/>
              </a:rPr>
              <a:t>on 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landing grounds. We shall fight in the streets and in the fields. We shall fight in the hills; we shall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never surrender.”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Times New Roman"/>
              <a:cs typeface="Times New Roman"/>
            </a:endParaRPr>
          </a:p>
          <a:p>
            <a:pPr marL="469900" indent="-229235">
              <a:lnSpc>
                <a:spcPct val="100000"/>
              </a:lnSpc>
              <a:buAutoNum type="arabicPeriod" startAt="2"/>
              <a:tabLst>
                <a:tab pos="470534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TRIADS</a:t>
            </a:r>
            <a:endParaRPr sz="1100">
              <a:latin typeface="Times New Roman"/>
              <a:cs typeface="Times New Roman"/>
            </a:endParaRPr>
          </a:p>
          <a:p>
            <a:pPr algn="just" marL="12700">
              <a:lnSpc>
                <a:spcPts val="1295"/>
              </a:lnSpc>
              <a:spcBef>
                <a:spcPts val="565"/>
              </a:spcBef>
            </a:pPr>
            <a:r>
              <a:rPr dirty="0" sz="1100" spc="-5">
                <a:latin typeface="Times New Roman"/>
                <a:cs typeface="Times New Roman"/>
              </a:rPr>
              <a:t>Martin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Luther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King’s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Famous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“I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Dream”</a:t>
            </a:r>
            <a:endParaRPr sz="1100">
              <a:latin typeface="Times New Roman"/>
              <a:cs typeface="Times New Roman"/>
            </a:endParaRPr>
          </a:p>
          <a:p>
            <a:pPr algn="just" marL="469900" marR="8255">
              <a:lnSpc>
                <a:spcPct val="95800"/>
              </a:lnSpc>
              <a:spcBef>
                <a:spcPts val="30"/>
              </a:spcBef>
            </a:pPr>
            <a:r>
              <a:rPr dirty="0" sz="1100" spc="-5">
                <a:latin typeface="Times New Roman"/>
                <a:cs typeface="Times New Roman"/>
              </a:rPr>
              <a:t>“When we let freedom ring, when we let it ring from every village and every hamlet, </a:t>
            </a:r>
            <a:r>
              <a:rPr dirty="0" sz="1100">
                <a:latin typeface="Times New Roman"/>
                <a:cs typeface="Times New Roman"/>
              </a:rPr>
              <a:t>from </a:t>
            </a:r>
            <a:r>
              <a:rPr dirty="0" sz="1100" spc="-5">
                <a:latin typeface="Times New Roman"/>
                <a:cs typeface="Times New Roman"/>
              </a:rPr>
              <a:t>every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state and every city, we will be able to </a:t>
            </a:r>
            <a:r>
              <a:rPr dirty="0" sz="1100">
                <a:latin typeface="Times New Roman"/>
                <a:cs typeface="Times New Roman"/>
              </a:rPr>
              <a:t>speed </a:t>
            </a:r>
            <a:r>
              <a:rPr dirty="0" sz="1100" spc="-5">
                <a:latin typeface="Times New Roman"/>
                <a:cs typeface="Times New Roman"/>
              </a:rPr>
              <a:t>up that day when all of God’s children, black men and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white men, Jews and Gentiles, Protestants and Catholics, will be able to join hands and sing in 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old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Negro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spiritual,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Free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last!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Free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last!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Thank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God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Almighty,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free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last!”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Times New Roman"/>
              <a:cs typeface="Times New Roman"/>
            </a:endParaRPr>
          </a:p>
          <a:p>
            <a:pPr marL="469900" indent="-229235">
              <a:lnSpc>
                <a:spcPct val="100000"/>
              </a:lnSpc>
              <a:buAutoNum type="arabicPeriod" startAt="3"/>
              <a:tabLst>
                <a:tab pos="470534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ANTITHESIS</a:t>
            </a:r>
            <a:endParaRPr sz="11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565"/>
              </a:spcBef>
            </a:pPr>
            <a:r>
              <a:rPr dirty="0" sz="1100" spc="-5">
                <a:latin typeface="Times New Roman"/>
                <a:cs typeface="Times New Roman"/>
              </a:rPr>
              <a:t>Motto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New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Hampshire: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Live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Free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50">
              <a:latin typeface="Times New Roman"/>
              <a:cs typeface="Times New Roman"/>
            </a:endParaRPr>
          </a:p>
          <a:p>
            <a:pPr marL="241300">
              <a:lnSpc>
                <a:spcPts val="1290"/>
              </a:lnSpc>
            </a:pPr>
            <a:r>
              <a:rPr dirty="0" sz="1100" spc="-5">
                <a:latin typeface="Times New Roman"/>
                <a:cs typeface="Times New Roman"/>
              </a:rPr>
              <a:t>President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Kennedy’s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Inaugural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Address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January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1961:</a:t>
            </a:r>
            <a:endParaRPr sz="1100">
              <a:latin typeface="Times New Roman"/>
              <a:cs typeface="Times New Roman"/>
            </a:endParaRPr>
          </a:p>
          <a:p>
            <a:pPr algn="just" marL="469900" marR="8890">
              <a:lnSpc>
                <a:spcPts val="1270"/>
              </a:lnSpc>
              <a:spcBef>
                <a:spcPts val="55"/>
              </a:spcBef>
            </a:pPr>
            <a:r>
              <a:rPr dirty="0" sz="1100" spc="-5">
                <a:latin typeface="Times New Roman"/>
                <a:cs typeface="Times New Roman"/>
              </a:rPr>
              <a:t>“And so, </a:t>
            </a:r>
            <a:r>
              <a:rPr dirty="0" sz="1100" spc="-10">
                <a:latin typeface="Times New Roman"/>
                <a:cs typeface="Times New Roman"/>
              </a:rPr>
              <a:t>my </a:t>
            </a:r>
            <a:r>
              <a:rPr dirty="0" sz="1100" spc="-5">
                <a:latin typeface="Times New Roman"/>
                <a:cs typeface="Times New Roman"/>
              </a:rPr>
              <a:t>fellow Americans, ask not what </a:t>
            </a:r>
            <a:r>
              <a:rPr dirty="0" sz="1100">
                <a:latin typeface="Times New Roman"/>
                <a:cs typeface="Times New Roman"/>
              </a:rPr>
              <a:t>your </a:t>
            </a:r>
            <a:r>
              <a:rPr dirty="0" sz="1100" spc="-5">
                <a:latin typeface="Times New Roman"/>
                <a:cs typeface="Times New Roman"/>
              </a:rPr>
              <a:t>country can do for you; ask what </a:t>
            </a:r>
            <a:r>
              <a:rPr dirty="0" sz="1100">
                <a:latin typeface="Times New Roman"/>
                <a:cs typeface="Times New Roman"/>
              </a:rPr>
              <a:t>you </a:t>
            </a:r>
            <a:r>
              <a:rPr dirty="0" sz="1100" spc="-5">
                <a:latin typeface="Times New Roman"/>
                <a:cs typeface="Times New Roman"/>
              </a:rPr>
              <a:t>can do for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 country.”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buAutoNum type="arabicPeriod" startAt="4"/>
              <a:tabLst>
                <a:tab pos="469900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RHETORICAL</a:t>
            </a:r>
            <a:r>
              <a:rPr dirty="0" sz="1100" spc="-4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QUESTIONS</a:t>
            </a:r>
            <a:endParaRPr sz="1100">
              <a:latin typeface="Times New Roman"/>
              <a:cs typeface="Times New Roman"/>
            </a:endParaRPr>
          </a:p>
          <a:p>
            <a:pPr algn="just" marL="12700">
              <a:lnSpc>
                <a:spcPts val="1295"/>
              </a:lnSpc>
              <a:spcBef>
                <a:spcPts val="565"/>
              </a:spcBef>
            </a:pPr>
            <a:r>
              <a:rPr dirty="0" sz="1100" spc="-5">
                <a:latin typeface="Times New Roman"/>
                <a:cs typeface="Times New Roman"/>
              </a:rPr>
              <a:t>Patrick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Henry’s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speech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March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1775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American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Revolution:</a:t>
            </a:r>
            <a:endParaRPr sz="1100">
              <a:latin typeface="Times New Roman"/>
              <a:cs typeface="Times New Roman"/>
            </a:endParaRPr>
          </a:p>
          <a:p>
            <a:pPr algn="just" marL="469900" marR="9525">
              <a:lnSpc>
                <a:spcPct val="95800"/>
              </a:lnSpc>
              <a:spcBef>
                <a:spcPts val="25"/>
              </a:spcBef>
            </a:pPr>
            <a:r>
              <a:rPr dirty="0" sz="1100" spc="-5">
                <a:latin typeface="Times New Roman"/>
                <a:cs typeface="Times New Roman"/>
              </a:rPr>
              <a:t>“Gentlemen may </a:t>
            </a:r>
            <a:r>
              <a:rPr dirty="0" sz="1100">
                <a:latin typeface="Times New Roman"/>
                <a:cs typeface="Times New Roman"/>
              </a:rPr>
              <a:t>cry, </a:t>
            </a:r>
            <a:r>
              <a:rPr dirty="0" sz="1100" spc="-5">
                <a:latin typeface="Times New Roman"/>
                <a:cs typeface="Times New Roman"/>
              </a:rPr>
              <a:t>“Peace! Peace!” but there is no peace. The war has actually begun! The next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gale that sweeps </a:t>
            </a:r>
            <a:r>
              <a:rPr dirty="0" sz="1100">
                <a:latin typeface="Times New Roman"/>
                <a:cs typeface="Times New Roman"/>
              </a:rPr>
              <a:t>from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north will bring to our ears the clash of resounding arms!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Our brethren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 already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the field! Why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 we here idle! Is life so dear, or peace so sweet, as to be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purchased at the price of chains and slavery?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Forbid it, Almighty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God! I know not what course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take,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give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liberty,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 give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me</a:t>
            </a:r>
            <a:r>
              <a:rPr dirty="0" sz="1100" spc="-5">
                <a:latin typeface="Times New Roman"/>
                <a:cs typeface="Times New Roman"/>
              </a:rPr>
              <a:t> death!”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95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5"/>
              </a:spcBef>
            </a:pPr>
            <a:r>
              <a:rPr dirty="0" sz="1100" spc="-5" b="1">
                <a:latin typeface="Times New Roman"/>
                <a:cs typeface="Times New Roman"/>
              </a:rPr>
              <a:t>Source: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Utah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Valley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State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College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Writing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Center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4580" y="342390"/>
            <a:ext cx="174498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 Elementary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41311" y="342390"/>
            <a:ext cx="22669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360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91019" y="9493248"/>
            <a:ext cx="2540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101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972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829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290061" y="526034"/>
            <a:ext cx="4855210" cy="5143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95"/>
              </a:spcBef>
            </a:pP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LECTURE</a:t>
            </a:r>
            <a:r>
              <a:rPr dirty="0" u="heavy" sz="11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27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RESEARCH WRITING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AND DOCUMNETING SOURCES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84577" y="1168407"/>
            <a:ext cx="142176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Research writing steps: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836414" y="3424428"/>
            <a:ext cx="34290" cy="6985"/>
          </a:xfrm>
          <a:custGeom>
            <a:avLst/>
            <a:gdLst/>
            <a:ahLst/>
            <a:cxnLst/>
            <a:rect l="l" t="t" r="r" b="b"/>
            <a:pathLst>
              <a:path w="34289" h="6985">
                <a:moveTo>
                  <a:pt x="34289" y="0"/>
                </a:moveTo>
                <a:lnTo>
                  <a:pt x="0" y="0"/>
                </a:lnTo>
                <a:lnTo>
                  <a:pt x="0" y="6857"/>
                </a:lnTo>
                <a:lnTo>
                  <a:pt x="34289" y="6857"/>
                </a:lnTo>
                <a:lnTo>
                  <a:pt x="3428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313129" y="1255728"/>
            <a:ext cx="4315460" cy="219456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675"/>
              </a:spcBef>
              <a:buFont typeface="Times New Roman"/>
              <a:buAutoNum type="arabicPeriod"/>
              <a:tabLst>
                <a:tab pos="241935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Select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topic.</a:t>
            </a:r>
            <a:endParaRPr sz="110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575"/>
              </a:spcBef>
              <a:buFont typeface="Times New Roman"/>
              <a:buAutoNum type="arabicPeriod"/>
              <a:tabLst>
                <a:tab pos="241935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Frame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central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research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question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set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sub-questions.</a:t>
            </a:r>
            <a:endParaRPr sz="110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585"/>
              </a:spcBef>
              <a:buFont typeface="Times New Roman"/>
              <a:buAutoNum type="arabicPeriod"/>
              <a:tabLst>
                <a:tab pos="241935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Survey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topic.</a:t>
            </a:r>
            <a:endParaRPr sz="110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575"/>
              </a:spcBef>
              <a:buFont typeface="Times New Roman"/>
              <a:buAutoNum type="arabicPeriod"/>
              <a:tabLst>
                <a:tab pos="241935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Locate</a:t>
            </a:r>
            <a:r>
              <a:rPr dirty="0" sz="1100" spc="-4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materials.</a:t>
            </a:r>
            <a:endParaRPr sz="110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575"/>
              </a:spcBef>
              <a:buFont typeface="Times New Roman"/>
              <a:buAutoNum type="arabicPeriod"/>
              <a:tabLst>
                <a:tab pos="241935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Re-evaluate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research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strategy.</a:t>
            </a:r>
            <a:endParaRPr sz="110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575"/>
              </a:spcBef>
              <a:buFont typeface="Times New Roman"/>
              <a:buAutoNum type="arabicPeriod"/>
              <a:tabLst>
                <a:tab pos="241935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Evaluate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 </a:t>
            </a:r>
            <a:r>
              <a:rPr dirty="0" sz="1100" spc="-10">
                <a:latin typeface="Times New Roman"/>
                <a:cs typeface="Times New Roman"/>
              </a:rPr>
              <a:t>sources.</a:t>
            </a:r>
            <a:endParaRPr sz="110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575"/>
              </a:spcBef>
              <a:buFont typeface="Times New Roman"/>
              <a:buAutoNum type="arabicPeriod"/>
              <a:tabLst>
                <a:tab pos="241935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Work </a:t>
            </a:r>
            <a:r>
              <a:rPr dirty="0" sz="1100" spc="-5">
                <a:latin typeface="Times New Roman"/>
                <a:cs typeface="Times New Roman"/>
              </a:rPr>
              <a:t>with your sources.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85"/>
              </a:spcBef>
              <a:buFont typeface="Times New Roman"/>
              <a:buAutoNum type="arabicPeriod"/>
              <a:tabLst>
                <a:tab pos="241300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Develop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supporting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argument.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Font typeface="Times New Roman"/>
              <a:buAutoNum type="arabicPeriod"/>
              <a:tabLst>
                <a:tab pos="241300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Use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sources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fairly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accurately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by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integrating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citing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sources.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84595" y="3425128"/>
            <a:ext cx="6061075" cy="3999229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469265" indent="-229235">
              <a:lnSpc>
                <a:spcPct val="100000"/>
              </a:lnSpc>
              <a:spcBef>
                <a:spcPts val="675"/>
              </a:spcBef>
              <a:buFont typeface="Times New Roman"/>
              <a:buAutoNum type="arabicPeriod" startAt="10"/>
              <a:tabLst>
                <a:tab pos="469900" algn="l"/>
              </a:tabLst>
            </a:pPr>
            <a:r>
              <a:rPr dirty="0" sz="1100" spc="-10" b="1">
                <a:latin typeface="Times New Roman"/>
                <a:cs typeface="Times New Roman"/>
              </a:rPr>
              <a:t>Revise</a:t>
            </a:r>
            <a:endParaRPr sz="1100">
              <a:latin typeface="Times New Roman"/>
              <a:cs typeface="Times New Roman"/>
            </a:endParaRPr>
          </a:p>
          <a:p>
            <a:pPr marL="469900" indent="-229235">
              <a:lnSpc>
                <a:spcPct val="100000"/>
              </a:lnSpc>
              <a:spcBef>
                <a:spcPts val="575"/>
              </a:spcBef>
              <a:buFont typeface="Times New Roman"/>
              <a:buAutoNum type="arabicPeriod" startAt="10"/>
              <a:tabLst>
                <a:tab pos="469900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Edit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and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Proofread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Why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Use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Global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Format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(APA,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MLA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etc.)?</a:t>
            </a:r>
            <a:endParaRPr sz="1100">
              <a:latin typeface="Times New Roman"/>
              <a:cs typeface="Times New Roman"/>
            </a:endParaRPr>
          </a:p>
          <a:p>
            <a:pPr algn="just" marL="469265" indent="-229235">
              <a:lnSpc>
                <a:spcPct val="100000"/>
              </a:lnSpc>
              <a:spcBef>
                <a:spcPts val="30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Allows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readers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to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cross-reference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your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sources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easily:</a:t>
            </a:r>
            <a:endParaRPr sz="1100">
              <a:latin typeface="Times New Roman"/>
              <a:cs typeface="Times New Roman"/>
            </a:endParaRPr>
          </a:p>
          <a:p>
            <a:pPr algn="just" marL="240665" marR="5080">
              <a:lnSpc>
                <a:spcPct val="95700"/>
              </a:lnSpc>
              <a:spcBef>
                <a:spcPts val="625"/>
              </a:spcBef>
            </a:pPr>
            <a:r>
              <a:rPr dirty="0" sz="1100" spc="-5">
                <a:latin typeface="Times New Roman"/>
                <a:cs typeface="Times New Roman"/>
              </a:rPr>
              <a:t>This cross-referencing system allows readers to </a:t>
            </a:r>
            <a:r>
              <a:rPr dirty="0" sz="1100">
                <a:latin typeface="Times New Roman"/>
                <a:cs typeface="Times New Roman"/>
              </a:rPr>
              <a:t>locate </a:t>
            </a:r>
            <a:r>
              <a:rPr dirty="0" sz="1100" spc="-5">
                <a:latin typeface="Times New Roman"/>
                <a:cs typeface="Times New Roman"/>
              </a:rPr>
              <a:t>the publication information of source material.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 is of great value for researchers who </a:t>
            </a:r>
            <a:r>
              <a:rPr dirty="0" sz="1100" spc="-10">
                <a:latin typeface="Times New Roman"/>
                <a:cs typeface="Times New Roman"/>
              </a:rPr>
              <a:t>may </a:t>
            </a:r>
            <a:r>
              <a:rPr dirty="0" sz="1100" spc="-5">
                <a:latin typeface="Times New Roman"/>
                <a:cs typeface="Times New Roman"/>
              </a:rPr>
              <a:t>want to locate your sources for their own research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projects.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00">
              <a:latin typeface="Times New Roman"/>
              <a:cs typeface="Times New Roman"/>
            </a:endParaRPr>
          </a:p>
          <a:p>
            <a:pPr algn="just" marL="469265" indent="-229235">
              <a:lnSpc>
                <a:spcPct val="100000"/>
              </a:lnSpc>
              <a:buFont typeface="Symbol"/>
              <a:buChar char=""/>
              <a:tabLst>
                <a:tab pos="469900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Provides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consistent</a:t>
            </a:r>
            <a:r>
              <a:rPr dirty="0" u="heavy" sz="1100" spc="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format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within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discipline:</a:t>
            </a:r>
            <a:endParaRPr sz="1100">
              <a:latin typeface="Times New Roman"/>
              <a:cs typeface="Times New Roman"/>
            </a:endParaRPr>
          </a:p>
          <a:p>
            <a:pPr algn="just" marL="240665" marR="5080">
              <a:lnSpc>
                <a:spcPts val="1270"/>
              </a:lnSpc>
              <a:spcBef>
                <a:spcPts val="645"/>
              </a:spcBef>
            </a:pPr>
            <a:r>
              <a:rPr dirty="0" sz="1100" spc="-5">
                <a:latin typeface="Times New Roman"/>
                <a:cs typeface="Times New Roman"/>
              </a:rPr>
              <a:t>Using standard APA or MLA properly will allow you to communicate more effectively with other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researchers </a:t>
            </a:r>
            <a:r>
              <a:rPr dirty="0" sz="1100">
                <a:latin typeface="Times New Roman"/>
                <a:cs typeface="Times New Roman"/>
              </a:rPr>
              <a:t>who </a:t>
            </a:r>
            <a:r>
              <a:rPr dirty="0" sz="1100" spc="-5">
                <a:latin typeface="Times New Roman"/>
                <a:cs typeface="Times New Roman"/>
              </a:rPr>
              <a:t>also use </a:t>
            </a:r>
            <a:r>
              <a:rPr dirty="0" sz="1100">
                <a:latin typeface="Times New Roman"/>
                <a:cs typeface="Times New Roman"/>
              </a:rPr>
              <a:t>these </a:t>
            </a:r>
            <a:r>
              <a:rPr dirty="0" sz="1100" spc="-5">
                <a:latin typeface="Times New Roman"/>
                <a:cs typeface="Times New Roman"/>
              </a:rPr>
              <a:t>formats. When a </a:t>
            </a:r>
            <a:r>
              <a:rPr dirty="0" sz="1100">
                <a:latin typeface="Times New Roman"/>
                <a:cs typeface="Times New Roman"/>
              </a:rPr>
              <a:t>style </a:t>
            </a:r>
            <a:r>
              <a:rPr dirty="0" sz="1100" spc="-5">
                <a:latin typeface="Times New Roman"/>
                <a:cs typeface="Times New Roman"/>
              </a:rPr>
              <a:t>is used consistently, others can easily find where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you’ve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listed your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resources.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469265" indent="-229235">
              <a:lnSpc>
                <a:spcPct val="100000"/>
              </a:lnSpc>
              <a:spcBef>
                <a:spcPts val="5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Gives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you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credibility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as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10" b="1">
                <a:latin typeface="Times New Roman"/>
                <a:cs typeface="Times New Roman"/>
              </a:rPr>
              <a:t>writer:</a:t>
            </a:r>
            <a:endParaRPr sz="1100">
              <a:latin typeface="Times New Roman"/>
              <a:cs typeface="Times New Roman"/>
            </a:endParaRPr>
          </a:p>
          <a:p>
            <a:pPr algn="just" marL="240665" marR="5080">
              <a:lnSpc>
                <a:spcPts val="1270"/>
              </a:lnSpc>
              <a:spcBef>
                <a:spcPts val="650"/>
              </a:spcBef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proper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global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format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shows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credibility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writers;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such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writers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show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accountability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 source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material.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469265" indent="-229235">
              <a:lnSpc>
                <a:spcPct val="100000"/>
              </a:lnSpc>
              <a:spcBef>
                <a:spcPts val="5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Protects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yourself</a:t>
            </a:r>
            <a:r>
              <a:rPr dirty="0" sz="1100" b="1">
                <a:latin typeface="Times New Roman"/>
                <a:cs typeface="Times New Roman"/>
              </a:rPr>
              <a:t> from</a:t>
            </a:r>
            <a:r>
              <a:rPr dirty="0" sz="1100" spc="-5" b="1"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plagiarism</a:t>
            </a:r>
            <a:endParaRPr sz="1100">
              <a:latin typeface="Times New Roman"/>
              <a:cs typeface="Times New Roman"/>
            </a:endParaRPr>
          </a:p>
          <a:p>
            <a:pPr algn="just" marL="240665" marR="5715">
              <a:lnSpc>
                <a:spcPts val="1260"/>
              </a:lnSpc>
              <a:spcBef>
                <a:spcPts val="660"/>
              </a:spcBef>
            </a:pPr>
            <a:r>
              <a:rPr dirty="0" sz="1100" spc="-5">
                <a:latin typeface="Times New Roman"/>
                <a:cs typeface="Times New Roman"/>
              </a:rPr>
              <a:t>Plagiarism </a:t>
            </a: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a serious offense not only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the university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system but also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the professional and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intellectual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circles,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result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punishments.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84585" y="7714736"/>
            <a:ext cx="194119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APA Style: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Two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Main Concerns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13179" y="7802057"/>
            <a:ext cx="1523365" cy="527050"/>
          </a:xfrm>
          <a:prstGeom prst="rect">
            <a:avLst/>
          </a:prstGeom>
        </p:spPr>
        <p:txBody>
          <a:bodyPr wrap="square" lIns="0" tIns="9588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5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Reference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Page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5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Parenthetical Citations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84571" y="8537690"/>
            <a:ext cx="3515360" cy="3530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29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Reference</a:t>
            </a:r>
            <a:r>
              <a:rPr dirty="0" sz="1100" spc="-3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Page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90"/>
              </a:lnSpc>
            </a:pPr>
            <a:r>
              <a:rPr dirty="0" sz="1100" spc="-5">
                <a:latin typeface="Times New Roman"/>
                <a:cs typeface="Times New Roman"/>
              </a:rPr>
              <a:t>Most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citations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should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contain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following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basic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information: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13165" y="8785793"/>
            <a:ext cx="1088390" cy="527050"/>
          </a:xfrm>
          <a:prstGeom prst="rect">
            <a:avLst/>
          </a:prstGeom>
        </p:spPr>
        <p:txBody>
          <a:bodyPr wrap="square" lIns="0" tIns="9588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5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Author’s</a:t>
            </a:r>
            <a:r>
              <a:rPr dirty="0" sz="1100" spc="-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name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5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Title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work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7380" y="342390"/>
            <a:ext cx="174498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 Elementary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84111" y="342390"/>
            <a:ext cx="22669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788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33820" y="9493248"/>
            <a:ext cx="2540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102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400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257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27372" y="701749"/>
            <a:ext cx="3909695" cy="749300"/>
          </a:xfrm>
          <a:prstGeom prst="rect">
            <a:avLst/>
          </a:prstGeom>
        </p:spPr>
        <p:txBody>
          <a:bodyPr wrap="square" lIns="0" tIns="86995" rIns="0" bIns="0" rtlCol="0" vert="horz">
            <a:spAutoFit/>
          </a:bodyPr>
          <a:lstStyle/>
          <a:p>
            <a:pPr marL="469900" indent="-228600">
              <a:lnSpc>
                <a:spcPct val="100000"/>
              </a:lnSpc>
              <a:spcBef>
                <a:spcPts val="68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Publication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information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dirty="0" sz="1100" spc="-5" b="1">
                <a:latin typeface="Times New Roman"/>
                <a:cs typeface="Times New Roman"/>
              </a:rPr>
              <a:t>Example: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dirty="0" sz="1100" spc="-5">
                <a:latin typeface="Times New Roman"/>
                <a:cs typeface="Times New Roman"/>
              </a:rPr>
              <a:t>O’Connor.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(1990).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Express</a:t>
            </a:r>
            <a:r>
              <a:rPr dirty="0" sz="1100" spc="15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Yourself</a:t>
            </a:r>
            <a:r>
              <a:rPr dirty="0" sz="1100" spc="15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in</a:t>
            </a:r>
            <a:r>
              <a:rPr dirty="0" sz="1100" spc="1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Written</a:t>
            </a:r>
            <a:r>
              <a:rPr dirty="0" sz="1100" spc="15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English</a:t>
            </a:r>
            <a:r>
              <a:rPr dirty="0" sz="1100" spc="-5">
                <a:latin typeface="Times New Roman"/>
                <a:cs typeface="Times New Roman"/>
              </a:rPr>
              <a:t>.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Illinois: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NTS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7372" y="1579869"/>
            <a:ext cx="5300345" cy="6743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29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References: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Some Examples</a:t>
            </a:r>
            <a:endParaRPr sz="1100">
              <a:latin typeface="Times New Roman"/>
              <a:cs typeface="Times New Roman"/>
            </a:endParaRPr>
          </a:p>
          <a:p>
            <a:pPr marL="240665">
              <a:lnSpc>
                <a:spcPts val="1265"/>
              </a:lnSpc>
            </a:pPr>
            <a:r>
              <a:rPr dirty="0" sz="1100" spc="-5">
                <a:latin typeface="Times New Roman"/>
                <a:cs typeface="Times New Roman"/>
              </a:rPr>
              <a:t>Book</a:t>
            </a:r>
            <a:endParaRPr sz="1100">
              <a:latin typeface="Times New Roman"/>
              <a:cs typeface="Times New Roman"/>
            </a:endParaRPr>
          </a:p>
          <a:p>
            <a:pPr marL="241300" marR="5080" indent="-635">
              <a:lnSpc>
                <a:spcPts val="1270"/>
              </a:lnSpc>
              <a:spcBef>
                <a:spcPts val="60"/>
              </a:spcBef>
              <a:tabLst>
                <a:tab pos="1335405" algn="l"/>
              </a:tabLst>
            </a:pPr>
            <a:r>
              <a:rPr dirty="0" sz="1100" spc="-5">
                <a:latin typeface="Times New Roman"/>
                <a:cs typeface="Times New Roman"/>
              </a:rPr>
              <a:t>Shay,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J.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(1994).	</a:t>
            </a:r>
            <a:r>
              <a:rPr dirty="0" sz="1100" spc="-5" i="1">
                <a:latin typeface="Times New Roman"/>
                <a:cs typeface="Times New Roman"/>
              </a:rPr>
              <a:t>Achilles</a:t>
            </a:r>
            <a:r>
              <a:rPr dirty="0" sz="1100" spc="18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in</a:t>
            </a:r>
            <a:r>
              <a:rPr dirty="0" sz="1100" spc="185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Vietnam:</a:t>
            </a:r>
            <a:r>
              <a:rPr dirty="0" sz="1100" spc="18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Combat</a:t>
            </a:r>
            <a:r>
              <a:rPr dirty="0" sz="1100" spc="185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trauma</a:t>
            </a:r>
            <a:r>
              <a:rPr dirty="0" sz="1100" spc="18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and</a:t>
            </a:r>
            <a:r>
              <a:rPr dirty="0" sz="1100" spc="18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the</a:t>
            </a:r>
            <a:r>
              <a:rPr dirty="0" sz="1100" spc="185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undoing</a:t>
            </a:r>
            <a:r>
              <a:rPr dirty="0" sz="1100" spc="18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of</a:t>
            </a:r>
            <a:r>
              <a:rPr dirty="0" sz="1100" spc="185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character</a:t>
            </a:r>
            <a:r>
              <a:rPr dirty="0" sz="1100" spc="-5">
                <a:latin typeface="Times New Roman"/>
                <a:cs typeface="Times New Roman"/>
              </a:rPr>
              <a:t>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Touchstone.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015384" y="1900665"/>
            <a:ext cx="67183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latin typeface="Times New Roman"/>
                <a:cs typeface="Times New Roman"/>
              </a:rPr>
              <a:t>New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York: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55980" y="2383008"/>
            <a:ext cx="3884929" cy="353060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12700" marR="5080">
              <a:lnSpc>
                <a:spcPts val="1260"/>
              </a:lnSpc>
              <a:spcBef>
                <a:spcPts val="190"/>
              </a:spcBef>
              <a:tabLst>
                <a:tab pos="1965960" algn="l"/>
                <a:tab pos="3640454" algn="l"/>
              </a:tabLst>
            </a:pPr>
            <a:r>
              <a:rPr dirty="0" sz="1100" spc="-5">
                <a:latin typeface="Times New Roman"/>
                <a:cs typeface="Times New Roman"/>
              </a:rPr>
              <a:t>Article	in	a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Klein,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J.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(1998,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October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5).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Dizzy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days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The</a:t>
            </a:r>
            <a:r>
              <a:rPr dirty="0" sz="1100" spc="1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New</a:t>
            </a:r>
            <a:r>
              <a:rPr dirty="0" sz="1100" spc="1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Yorker</a:t>
            </a:r>
            <a:r>
              <a:rPr dirty="0" sz="1100" spc="1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pages</a:t>
            </a:r>
            <a:r>
              <a:rPr dirty="0" sz="1100" spc="1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40</a:t>
            </a:r>
            <a:r>
              <a:rPr dirty="0" sz="1100" spc="-5">
                <a:latin typeface="Times New Roman"/>
                <a:cs typeface="Times New Roman"/>
              </a:rPr>
              <a:t>-45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11959" y="2383008"/>
            <a:ext cx="57594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latin typeface="Times New Roman"/>
                <a:cs typeface="Times New Roman"/>
              </a:rPr>
              <a:t>Magazine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55966" y="2864585"/>
            <a:ext cx="4544060" cy="5143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295"/>
              </a:lnSpc>
              <a:spcBef>
                <a:spcPts val="95"/>
              </a:spcBef>
            </a:pPr>
            <a:r>
              <a:rPr dirty="0" sz="1100" spc="-5">
                <a:latin typeface="Times New Roman"/>
                <a:cs typeface="Times New Roman"/>
              </a:rPr>
              <a:t>Web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ts val="1270"/>
              </a:lnSpc>
              <a:spcBef>
                <a:spcPts val="60"/>
              </a:spcBef>
            </a:pPr>
            <a:r>
              <a:rPr dirty="0" sz="1100" spc="-5">
                <a:latin typeface="Times New Roman"/>
                <a:cs typeface="Times New Roman"/>
              </a:rPr>
              <a:t>Poland,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D.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(1998,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October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26).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button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Roughcut</a:t>
            </a:r>
            <a:r>
              <a:rPr dirty="0" sz="1100" spc="10" i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Retrieved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October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28,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  <a:hlinkClick r:id="rId2"/>
              </a:rPr>
              <a:t>http://www.roughcut.com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91079" y="2864585"/>
            <a:ext cx="297180" cy="353695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 indent="7620">
              <a:lnSpc>
                <a:spcPts val="1270"/>
              </a:lnSpc>
              <a:spcBef>
                <a:spcPts val="180"/>
              </a:spcBef>
            </a:pPr>
            <a:r>
              <a:rPr dirty="0" sz="1100" spc="-5">
                <a:latin typeface="Times New Roman"/>
                <a:cs typeface="Times New Roman"/>
              </a:rPr>
              <a:t>page  from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743380" y="3025366"/>
            <a:ext cx="30416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>
                <a:latin typeface="Times New Roman"/>
                <a:cs typeface="Times New Roman"/>
              </a:rPr>
              <a:t>1</a:t>
            </a:r>
            <a:r>
              <a:rPr dirty="0" sz="1100" spc="-5">
                <a:latin typeface="Times New Roman"/>
                <a:cs typeface="Times New Roman"/>
              </a:rPr>
              <a:t>9</a:t>
            </a:r>
            <a:r>
              <a:rPr dirty="0" sz="1100" spc="-10">
                <a:latin typeface="Times New Roman"/>
                <a:cs typeface="Times New Roman"/>
              </a:rPr>
              <a:t>9</a:t>
            </a:r>
            <a:r>
              <a:rPr dirty="0" sz="1100" spc="-5">
                <a:latin typeface="Times New Roman"/>
                <a:cs typeface="Times New Roman"/>
              </a:rPr>
              <a:t>8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55966" y="3506943"/>
            <a:ext cx="879475" cy="5143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295"/>
              </a:lnSpc>
              <a:spcBef>
                <a:spcPts val="95"/>
              </a:spcBef>
            </a:pPr>
            <a:r>
              <a:rPr dirty="0" sz="1100" spc="-5">
                <a:latin typeface="Times New Roman"/>
                <a:cs typeface="Times New Roman"/>
              </a:rPr>
              <a:t>A</a:t>
            </a:r>
            <a:endParaRPr sz="1100">
              <a:latin typeface="Times New Roman"/>
              <a:cs typeface="Times New Roman"/>
            </a:endParaRPr>
          </a:p>
          <a:p>
            <a:pPr marL="12700" marR="5080" indent="-635">
              <a:lnSpc>
                <a:spcPts val="1270"/>
              </a:lnSpc>
              <a:spcBef>
                <a:spcPts val="60"/>
              </a:spcBef>
            </a:pPr>
            <a:r>
              <a:rPr dirty="0" sz="1100" spc="-5">
                <a:latin typeface="Times New Roman"/>
                <a:cs typeface="Times New Roman"/>
              </a:rPr>
              <a:t>Tommasini,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B2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802374" y="3506943"/>
            <a:ext cx="4886325" cy="3536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r" marR="5080">
              <a:lnSpc>
                <a:spcPts val="1295"/>
              </a:lnSpc>
              <a:spcBef>
                <a:spcPts val="95"/>
              </a:spcBef>
              <a:tabLst>
                <a:tab pos="2976880" algn="l"/>
              </a:tabLst>
            </a:pPr>
            <a:r>
              <a:rPr dirty="0" sz="1100" spc="-5">
                <a:latin typeface="Times New Roman"/>
                <a:cs typeface="Times New Roman"/>
              </a:rPr>
              <a:t>newspaper	article</a:t>
            </a:r>
            <a:endParaRPr sz="1100">
              <a:latin typeface="Times New Roman"/>
              <a:cs typeface="Times New Roman"/>
            </a:endParaRPr>
          </a:p>
          <a:p>
            <a:pPr algn="r" marR="6350">
              <a:lnSpc>
                <a:spcPts val="1295"/>
              </a:lnSpc>
            </a:pPr>
            <a:r>
              <a:rPr dirty="0" sz="1100" spc="-5">
                <a:latin typeface="Times New Roman"/>
                <a:cs typeface="Times New Roman"/>
              </a:rPr>
              <a:t>(1998,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October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27).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Master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teachers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whose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artistry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glows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private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New</a:t>
            </a:r>
            <a:r>
              <a:rPr dirty="0" sz="1100" spc="105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York</a:t>
            </a:r>
            <a:r>
              <a:rPr dirty="0" sz="1100" spc="100" i="1">
                <a:latin typeface="Times New Roman"/>
                <a:cs typeface="Times New Roman"/>
              </a:rPr>
              <a:t> </a:t>
            </a:r>
            <a:r>
              <a:rPr dirty="0" sz="1100" spc="-10" i="1">
                <a:latin typeface="Times New Roman"/>
                <a:cs typeface="Times New Roman"/>
              </a:rPr>
              <a:t>Times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302358" y="4150068"/>
            <a:ext cx="38481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latin typeface="Times New Roman"/>
                <a:cs typeface="Times New Roman"/>
              </a:rPr>
              <a:t>aut</a:t>
            </a:r>
            <a:r>
              <a:rPr dirty="0" sz="1100">
                <a:latin typeface="Times New Roman"/>
                <a:cs typeface="Times New Roman"/>
              </a:rPr>
              <a:t>ho</a:t>
            </a:r>
            <a:r>
              <a:rPr dirty="0" sz="1100" spc="-5">
                <a:latin typeface="Times New Roman"/>
                <a:cs typeface="Times New Roman"/>
              </a:rPr>
              <a:t>r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55980" y="4150068"/>
            <a:ext cx="5457825" cy="3530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290"/>
              </a:lnSpc>
              <a:spcBef>
                <a:spcPts val="95"/>
              </a:spcBef>
              <a:tabLst>
                <a:tab pos="955675" algn="l"/>
                <a:tab pos="2163445" algn="l"/>
                <a:tab pos="3254375" algn="l"/>
                <a:tab pos="4236085" algn="l"/>
              </a:tabLst>
            </a:pPr>
            <a:r>
              <a:rPr dirty="0" sz="1100" spc="-5">
                <a:latin typeface="Times New Roman"/>
                <a:cs typeface="Times New Roman"/>
              </a:rPr>
              <a:t>A	source	with	no	known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90"/>
              </a:lnSpc>
            </a:pPr>
            <a:r>
              <a:rPr dirty="0" sz="1100" spc="-5">
                <a:latin typeface="Times New Roman"/>
                <a:cs typeface="Times New Roman"/>
              </a:rPr>
              <a:t>Cigarette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sales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fall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30%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California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tax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rises.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(1999,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September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14).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New</a:t>
            </a:r>
            <a:r>
              <a:rPr dirty="0" sz="1100" spc="1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York</a:t>
            </a:r>
            <a:r>
              <a:rPr dirty="0" sz="1100" spc="1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Times</a:t>
            </a:r>
            <a:r>
              <a:rPr dirty="0" sz="1100" spc="15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page</a:t>
            </a:r>
            <a:r>
              <a:rPr dirty="0" sz="1100" spc="15" i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A17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27372" y="4632411"/>
            <a:ext cx="285559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When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Should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You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Use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Parenthetical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Citations?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84573" y="4730400"/>
            <a:ext cx="5604510" cy="1650364"/>
          </a:xfrm>
          <a:prstGeom prst="rect">
            <a:avLst/>
          </a:prstGeom>
        </p:spPr>
        <p:txBody>
          <a:bodyPr wrap="square" lIns="0" tIns="8509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67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When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quoting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any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 your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own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570"/>
              </a:spcBef>
            </a:pPr>
            <a:r>
              <a:rPr dirty="0" sz="1100" spc="-5">
                <a:latin typeface="Times New Roman"/>
                <a:cs typeface="Times New Roman"/>
              </a:rPr>
              <a:t>Quoting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repeat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another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source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quotation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marks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3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When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summarizing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facts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from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source</a:t>
            </a:r>
            <a:endParaRPr sz="1100">
              <a:latin typeface="Times New Roman"/>
              <a:cs typeface="Times New Roman"/>
            </a:endParaRPr>
          </a:p>
          <a:p>
            <a:pPr marL="240665" marR="5080" indent="228600">
              <a:lnSpc>
                <a:spcPts val="1270"/>
              </a:lnSpc>
              <a:spcBef>
                <a:spcPts val="655"/>
              </a:spcBef>
            </a:pPr>
            <a:r>
              <a:rPr dirty="0" sz="1100" spc="-5">
                <a:latin typeface="Times New Roman"/>
                <a:cs typeface="Times New Roman"/>
              </a:rPr>
              <a:t>Summarizing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means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take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ideas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large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passage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another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source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condense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them, using your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own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ts val="1310"/>
              </a:lnSpc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When </a:t>
            </a:r>
            <a:r>
              <a:rPr dirty="0" sz="1100" spc="-5" b="1">
                <a:latin typeface="Times New Roman"/>
                <a:cs typeface="Times New Roman"/>
              </a:rPr>
              <a:t>paraphrasing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 </a:t>
            </a:r>
            <a:r>
              <a:rPr dirty="0" sz="1100" spc="-10">
                <a:latin typeface="Times New Roman"/>
                <a:cs typeface="Times New Roman"/>
              </a:rPr>
              <a:t>source</a:t>
            </a:r>
            <a:endParaRPr sz="1100">
              <a:latin typeface="Times New Roman"/>
              <a:cs typeface="Times New Roman"/>
            </a:endParaRPr>
          </a:p>
          <a:p>
            <a:pPr marL="241300" marR="5080" indent="228600">
              <a:lnSpc>
                <a:spcPts val="1270"/>
              </a:lnSpc>
              <a:spcBef>
                <a:spcPts val="650"/>
              </a:spcBef>
            </a:pPr>
            <a:r>
              <a:rPr dirty="0" sz="1100" spc="-5">
                <a:latin typeface="Times New Roman"/>
                <a:cs typeface="Times New Roman"/>
              </a:rPr>
              <a:t>Paraphrasing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means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ideas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from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another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source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but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phrasing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into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own words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27386" y="6509968"/>
            <a:ext cx="3515360" cy="3530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29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Keys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to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Parenthetical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Citations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90"/>
              </a:lnSpc>
            </a:pPr>
            <a:r>
              <a:rPr dirty="0" sz="1100" spc="-5">
                <a:latin typeface="Times New Roman"/>
                <a:cs typeface="Times New Roman"/>
              </a:rPr>
              <a:t>Most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citations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should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contain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following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basic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information: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84587" y="6756537"/>
            <a:ext cx="1088390" cy="779145"/>
          </a:xfrm>
          <a:prstGeom prst="rect">
            <a:avLst/>
          </a:prstGeom>
        </p:spPr>
        <p:txBody>
          <a:bodyPr wrap="square" lIns="0" tIns="9652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6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Author’s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name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Publication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5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Page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27386" y="7743633"/>
            <a:ext cx="6061075" cy="1328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295"/>
              </a:lnSpc>
              <a:spcBef>
                <a:spcPts val="95"/>
              </a:spcBef>
            </a:pPr>
            <a:r>
              <a:rPr dirty="0" sz="1100" spc="-5">
                <a:latin typeface="Times New Roman"/>
                <a:cs typeface="Times New Roman"/>
              </a:rPr>
              <a:t>Example: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295"/>
              </a:lnSpc>
            </a:pPr>
            <a:r>
              <a:rPr dirty="0" sz="1100" spc="-5">
                <a:latin typeface="Times New Roman"/>
                <a:cs typeface="Times New Roman"/>
              </a:rPr>
              <a:t>“Seek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first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understand,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understood.”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(Covey,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1992,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p.45)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Handling Quotes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in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Your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Text</a:t>
            </a:r>
            <a:endParaRPr sz="1100">
              <a:latin typeface="Times New Roman"/>
              <a:cs typeface="Times New Roman"/>
            </a:endParaRPr>
          </a:p>
          <a:p>
            <a:pPr marL="698500" indent="-228600">
              <a:lnSpc>
                <a:spcPct val="100000"/>
              </a:lnSpc>
              <a:spcBef>
                <a:spcPts val="20"/>
              </a:spcBef>
              <a:buFont typeface="Symbol"/>
              <a:buChar char=""/>
              <a:tabLst>
                <a:tab pos="697865" algn="l"/>
                <a:tab pos="698500" algn="l"/>
              </a:tabLst>
            </a:pPr>
            <a:r>
              <a:rPr dirty="0" sz="1100" spc="-5">
                <a:latin typeface="Times New Roman"/>
                <a:cs typeface="Times New Roman"/>
              </a:rPr>
              <a:t>Author’s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last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name,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publication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year,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page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number(s)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quote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must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appear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text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ts val="1270"/>
              </a:lnSpc>
            </a:pPr>
            <a:r>
              <a:rPr dirty="0" sz="1100" spc="-5" b="1">
                <a:latin typeface="Times New Roman"/>
                <a:cs typeface="Times New Roman"/>
              </a:rPr>
              <a:t>Caruth</a:t>
            </a:r>
            <a:r>
              <a:rPr dirty="0" sz="1100" spc="7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(1996)</a:t>
            </a:r>
            <a:r>
              <a:rPr dirty="0" sz="1100" spc="7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states</a:t>
            </a:r>
            <a:r>
              <a:rPr dirty="0" sz="1100" spc="7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that</a:t>
            </a:r>
            <a:r>
              <a:rPr dirty="0" sz="1100" spc="8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</a:t>
            </a:r>
            <a:r>
              <a:rPr dirty="0" sz="1100" spc="8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traumatic</a:t>
            </a:r>
            <a:r>
              <a:rPr dirty="0" sz="1100" spc="7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response</a:t>
            </a:r>
            <a:r>
              <a:rPr dirty="0" sz="1100" spc="7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frequently</a:t>
            </a:r>
            <a:r>
              <a:rPr dirty="0" sz="1100" spc="7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entails</a:t>
            </a:r>
            <a:r>
              <a:rPr dirty="0" sz="1100" spc="8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</a:t>
            </a:r>
            <a:r>
              <a:rPr dirty="0" sz="1100" spc="7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“delayed,</a:t>
            </a:r>
            <a:r>
              <a:rPr dirty="0" sz="1100" spc="7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uncontrolled</a:t>
            </a:r>
            <a:r>
              <a:rPr dirty="0" sz="1100" spc="7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repetitive </a:t>
            </a:r>
            <a:r>
              <a:rPr dirty="0" sz="1100" spc="-26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appearance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of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hallucinations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and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other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intrusive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phenomena”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(p.11)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4580" y="342390"/>
            <a:ext cx="174498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 Elementary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41311" y="342390"/>
            <a:ext cx="22669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360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91019" y="9493248"/>
            <a:ext cx="2540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103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972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829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084580" y="526034"/>
            <a:ext cx="6059805" cy="353695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>
              <a:lnSpc>
                <a:spcPts val="1270"/>
              </a:lnSpc>
              <a:spcBef>
                <a:spcPts val="180"/>
              </a:spcBef>
            </a:pPr>
            <a:r>
              <a:rPr dirty="0" sz="1100" spc="-5" b="1">
                <a:latin typeface="Times New Roman"/>
                <a:cs typeface="Times New Roman"/>
              </a:rPr>
              <a:t>A</a:t>
            </a:r>
            <a:r>
              <a:rPr dirty="0" sz="1100" spc="3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traumatic</a:t>
            </a:r>
            <a:r>
              <a:rPr dirty="0" sz="1100" spc="3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response</a:t>
            </a:r>
            <a:r>
              <a:rPr dirty="0" sz="1100" spc="4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frequently</a:t>
            </a:r>
            <a:r>
              <a:rPr dirty="0" sz="1100" spc="3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entails</a:t>
            </a:r>
            <a:r>
              <a:rPr dirty="0" sz="1100" spc="3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</a:t>
            </a:r>
            <a:r>
              <a:rPr dirty="0" sz="1100" spc="3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“delayed,</a:t>
            </a:r>
            <a:r>
              <a:rPr dirty="0" sz="1100" spc="3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uncontrolled</a:t>
            </a:r>
            <a:r>
              <a:rPr dirty="0" sz="1100" spc="3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repetitive</a:t>
            </a:r>
            <a:r>
              <a:rPr dirty="0" sz="1100" spc="3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appearance</a:t>
            </a:r>
            <a:r>
              <a:rPr dirty="0" sz="1100" spc="3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of </a:t>
            </a:r>
            <a:r>
              <a:rPr dirty="0" sz="1100" spc="-26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hallucinations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and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other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intrusive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phenomena”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(Caruth,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1996,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p.11).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84580" y="1007611"/>
            <a:ext cx="2850515" cy="3530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29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Handling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Parenthetical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Citations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90"/>
              </a:lnSpc>
            </a:pPr>
            <a:r>
              <a:rPr dirty="0" sz="1100" spc="-5">
                <a:latin typeface="Times New Roman"/>
                <a:cs typeface="Times New Roman"/>
              </a:rPr>
              <a:t>Sometimes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additional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information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necessary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.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13173" y="1255712"/>
            <a:ext cx="2837180" cy="50736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1100" spc="-5">
                <a:latin typeface="Times New Roman"/>
                <a:cs typeface="Times New Roman"/>
              </a:rPr>
              <a:t>1.</a:t>
            </a:r>
            <a:r>
              <a:rPr dirty="0" sz="1100" spc="7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author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 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same </a:t>
            </a:r>
            <a:r>
              <a:rPr dirty="0" sz="1100">
                <a:latin typeface="Times New Roman"/>
                <a:cs typeface="Times New Roman"/>
              </a:rPr>
              <a:t>last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name</a:t>
            </a:r>
            <a:endParaRPr sz="1100">
              <a:latin typeface="Times New Roman"/>
              <a:cs typeface="Times New Roman"/>
            </a:endParaRPr>
          </a:p>
          <a:p>
            <a:pPr marL="240665">
              <a:lnSpc>
                <a:spcPct val="100000"/>
              </a:lnSpc>
              <a:spcBef>
                <a:spcPts val="575"/>
              </a:spcBef>
            </a:pPr>
            <a:r>
              <a:rPr dirty="0" sz="1100" spc="-5" b="1">
                <a:latin typeface="Times New Roman"/>
                <a:cs typeface="Times New Roman"/>
              </a:rPr>
              <a:t>(H. James,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1878);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(W.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James,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1880)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13118" y="1818070"/>
            <a:ext cx="4633595" cy="235521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675"/>
              </a:spcBef>
              <a:buAutoNum type="arabicPeriod" startAt="2"/>
              <a:tabLst>
                <a:tab pos="241935" algn="l"/>
              </a:tabLst>
            </a:pP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works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same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parentheses</a:t>
            </a:r>
            <a:endParaRPr sz="11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575"/>
              </a:spcBef>
            </a:pPr>
            <a:r>
              <a:rPr dirty="0" sz="1100" spc="-5" b="1">
                <a:latin typeface="Times New Roman"/>
                <a:cs typeface="Times New Roman"/>
              </a:rPr>
              <a:t>(Caruth,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1996;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Fussell,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1975;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Showalter,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1997)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5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buAutoNum type="arabicPeriod" startAt="3"/>
              <a:tabLst>
                <a:tab pos="241935" algn="l"/>
              </a:tabLst>
            </a:pPr>
            <a:r>
              <a:rPr dirty="0" sz="1100" spc="-5">
                <a:latin typeface="Times New Roman"/>
                <a:cs typeface="Times New Roman"/>
              </a:rPr>
              <a:t>Work with six 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 authors</a:t>
            </a:r>
            <a:endParaRPr sz="11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575"/>
              </a:spcBef>
            </a:pPr>
            <a:r>
              <a:rPr dirty="0" sz="1100" spc="-5" b="1">
                <a:latin typeface="Times New Roman"/>
                <a:cs typeface="Times New Roman"/>
              </a:rPr>
              <a:t>(Smith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et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al,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1998)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5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buAutoNum type="arabicPeriod" startAt="4"/>
              <a:tabLst>
                <a:tab pos="241935" algn="l"/>
              </a:tabLst>
            </a:pPr>
            <a:r>
              <a:rPr dirty="0" sz="1100" spc="-5">
                <a:latin typeface="Times New Roman"/>
                <a:cs typeface="Times New Roman"/>
              </a:rPr>
              <a:t>Specific part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 a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source</a:t>
            </a:r>
            <a:endParaRPr sz="11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575"/>
              </a:spcBef>
            </a:pPr>
            <a:r>
              <a:rPr dirty="0" sz="1100" spc="-5" b="1">
                <a:latin typeface="Times New Roman"/>
                <a:cs typeface="Times New Roman"/>
              </a:rPr>
              <a:t>(Jones,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1995,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chap. 2)</a:t>
            </a:r>
            <a:endParaRPr sz="1100">
              <a:latin typeface="Times New Roman"/>
              <a:cs typeface="Times New Roman"/>
            </a:endParaRPr>
          </a:p>
          <a:p>
            <a:pPr marL="240665" marR="5080" indent="-228600">
              <a:lnSpc>
                <a:spcPct val="143600"/>
              </a:lnSpc>
              <a:spcBef>
                <a:spcPts val="635"/>
              </a:spcBef>
              <a:buAutoNum type="arabicPeriod" startAt="5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If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source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known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author,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abbreviated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version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title: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Full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Title: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“California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Cigarette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Tax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Deters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Smokers”</a:t>
            </a:r>
            <a:endParaRPr sz="1100">
              <a:latin typeface="Times New Roman"/>
              <a:cs typeface="Times New Roman"/>
            </a:endParaRPr>
          </a:p>
          <a:p>
            <a:pPr marL="240665">
              <a:lnSpc>
                <a:spcPts val="1270"/>
              </a:lnSpc>
            </a:pPr>
            <a:r>
              <a:rPr dirty="0" sz="1100" spc="-5" b="1">
                <a:latin typeface="Times New Roman"/>
                <a:cs typeface="Times New Roman"/>
              </a:rPr>
              <a:t>Citation: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(“California,”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1999)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13090" y="4228297"/>
            <a:ext cx="3985260" cy="147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marR="1200785" indent="-228600">
              <a:lnSpc>
                <a:spcPct val="143200"/>
              </a:lnSpc>
              <a:spcBef>
                <a:spcPts val="100"/>
              </a:spcBef>
              <a:buAutoNum type="arabicPeriod" startAt="6"/>
              <a:tabLst>
                <a:tab pos="241935" algn="l"/>
              </a:tabLst>
            </a:pP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reference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personal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communication: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Source: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email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message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from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Everett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Koop</a:t>
            </a:r>
            <a:endParaRPr sz="1100">
              <a:latin typeface="Times New Roman"/>
              <a:cs typeface="Times New Roman"/>
            </a:endParaRPr>
          </a:p>
          <a:p>
            <a:pPr marL="241300">
              <a:lnSpc>
                <a:spcPts val="1270"/>
              </a:lnSpc>
            </a:pPr>
            <a:r>
              <a:rPr dirty="0" sz="1100" spc="-5" b="1">
                <a:latin typeface="Times New Roman"/>
                <a:cs typeface="Times New Roman"/>
              </a:rPr>
              <a:t>Citation: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(C.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E.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Koop,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personal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communication,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May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16,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1998)</a:t>
            </a:r>
            <a:endParaRPr sz="1100">
              <a:latin typeface="Times New Roman"/>
              <a:cs typeface="Times New Roman"/>
            </a:endParaRPr>
          </a:p>
          <a:p>
            <a:pPr marL="240665" marR="621665" indent="-228600">
              <a:lnSpc>
                <a:spcPct val="143600"/>
              </a:lnSpc>
              <a:spcBef>
                <a:spcPts val="635"/>
              </a:spcBef>
              <a:buAutoNum type="arabicPeriod" startAt="7"/>
              <a:tabLst>
                <a:tab pos="241300" algn="l"/>
                <a:tab pos="1000125" algn="l"/>
                <a:tab pos="2068830" algn="l"/>
                <a:tab pos="3246120" algn="l"/>
              </a:tabLst>
            </a:pP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>
                <a:latin typeface="Times New Roman"/>
                <a:cs typeface="Times New Roman"/>
              </a:rPr>
              <a:t>	</a:t>
            </a:r>
            <a:r>
              <a:rPr dirty="0" sz="1100" spc="-5">
                <a:latin typeface="Times New Roman"/>
                <a:cs typeface="Times New Roman"/>
              </a:rPr>
              <a:t>general</a:t>
            </a:r>
            <a:r>
              <a:rPr dirty="0" sz="1100">
                <a:latin typeface="Times New Roman"/>
                <a:cs typeface="Times New Roman"/>
              </a:rPr>
              <a:t>	</a:t>
            </a:r>
            <a:r>
              <a:rPr dirty="0" sz="1100" spc="-5">
                <a:latin typeface="Times New Roman"/>
                <a:cs typeface="Times New Roman"/>
              </a:rPr>
              <a:t>reference</a:t>
            </a:r>
            <a:r>
              <a:rPr dirty="0" sz="1100">
                <a:latin typeface="Times New Roman"/>
                <a:cs typeface="Times New Roman"/>
              </a:rPr>
              <a:t>	</a:t>
            </a:r>
            <a:r>
              <a:rPr dirty="0" sz="1100" spc="-5">
                <a:latin typeface="Times New Roman"/>
                <a:cs typeface="Times New Roman"/>
              </a:rPr>
              <a:t>to  </a:t>
            </a:r>
            <a:r>
              <a:rPr dirty="0" sz="1100" spc="-5">
                <a:latin typeface="Times New Roman"/>
                <a:cs typeface="Times New Roman"/>
              </a:rPr>
              <a:t>Source: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Bartleby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Resources</a:t>
            </a:r>
            <a:endParaRPr sz="1100">
              <a:latin typeface="Times New Roman"/>
              <a:cs typeface="Times New Roman"/>
            </a:endParaRPr>
          </a:p>
          <a:p>
            <a:pPr marL="240665">
              <a:lnSpc>
                <a:spcPct val="100000"/>
              </a:lnSpc>
              <a:spcBef>
                <a:spcPts val="575"/>
              </a:spcBef>
              <a:tabLst>
                <a:tab pos="1154430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Citation:	(http://www.bartleby.com)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313933" y="5024129"/>
            <a:ext cx="8763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latin typeface="Times New Roman"/>
                <a:cs typeface="Times New Roman"/>
              </a:rPr>
              <a:t>a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034254" y="5024129"/>
            <a:ext cx="25844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latin typeface="Times New Roman"/>
                <a:cs typeface="Times New Roman"/>
              </a:rPr>
              <a:t>web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925042" y="5024129"/>
            <a:ext cx="22034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latin typeface="Times New Roman"/>
                <a:cs typeface="Times New Roman"/>
              </a:rPr>
              <a:t>si</a:t>
            </a:r>
            <a:r>
              <a:rPr dirty="0" sz="1100">
                <a:latin typeface="Times New Roman"/>
                <a:cs typeface="Times New Roman"/>
              </a:rPr>
              <a:t>t</a:t>
            </a:r>
            <a:r>
              <a:rPr dirty="0" sz="1100" spc="-5">
                <a:latin typeface="Times New Roman"/>
                <a:cs typeface="Times New Roman"/>
              </a:rPr>
              <a:t>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84482" y="5826515"/>
            <a:ext cx="6061075" cy="2703830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algn="just" marL="12700" marR="5080">
              <a:lnSpc>
                <a:spcPct val="95800"/>
              </a:lnSpc>
              <a:spcBef>
                <a:spcPts val="150"/>
              </a:spcBef>
            </a:pPr>
            <a:r>
              <a:rPr dirty="0" sz="1100" spc="-5">
                <a:latin typeface="Times New Roman"/>
                <a:cs typeface="Times New Roman"/>
              </a:rPr>
              <a:t>Recently,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history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warfare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has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been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significantly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revised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by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Higonnet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et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(1987),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Marcus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(1989),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Raitt and Tate (1997) to include women’s personal and cultural responses to battle and its resultant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traumatic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effects.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Feminist</a:t>
            </a:r>
            <a:r>
              <a:rPr dirty="0" sz="1100">
                <a:latin typeface="Times New Roman"/>
                <a:cs typeface="Times New Roman"/>
              </a:rPr>
              <a:t> researchers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now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concur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“It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longer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true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claim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women's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responses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war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been</a:t>
            </a:r>
            <a:r>
              <a:rPr dirty="0" sz="1100" spc="2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ignored”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(Raitt</a:t>
            </a:r>
            <a:r>
              <a:rPr dirty="0" sz="1100" spc="2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&amp;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Tate,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p.</a:t>
            </a:r>
            <a:r>
              <a:rPr dirty="0" sz="1100" spc="2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2).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Though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 spc="2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studies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focus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solely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women's experiences, they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err by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collectively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perpetuating the masculine-centered impressions originating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Fussell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(1975)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Bergonzi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(1996).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00">
              <a:latin typeface="Times New Roman"/>
              <a:cs typeface="Times New Roman"/>
            </a:endParaRPr>
          </a:p>
          <a:p>
            <a:pPr algn="just" marL="12700" marR="5715">
              <a:lnSpc>
                <a:spcPts val="1260"/>
              </a:lnSpc>
            </a:pPr>
            <a:r>
              <a:rPr dirty="0" sz="1100" spc="-5">
                <a:latin typeface="Times New Roman"/>
                <a:cs typeface="Times New Roman"/>
              </a:rPr>
              <a:t>However, Tylee (1990) further criticizes Fussell, arguing that his study “treated memory and culture as if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belonged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sphere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beyond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existence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individuals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control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institutions”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(p.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6).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1075"/>
              </a:spcBef>
            </a:pP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CROSS-REFERENCING:</a:t>
            </a:r>
            <a:r>
              <a:rPr dirty="0" u="heavy" sz="11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USING</a:t>
            </a: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MLA</a:t>
            </a:r>
            <a:r>
              <a:rPr dirty="0" u="heavy" sz="11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FORMAT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5"/>
              </a:spcBef>
            </a:pPr>
            <a:r>
              <a:rPr dirty="0" sz="1100" spc="-5" b="1">
                <a:latin typeface="Times New Roman"/>
                <a:cs typeface="Times New Roman"/>
              </a:rPr>
              <a:t>MLA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Style: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Two Parts</a:t>
            </a:r>
            <a:endParaRPr sz="1100">
              <a:latin typeface="Times New Roman"/>
              <a:cs typeface="Times New Roman"/>
            </a:endParaRPr>
          </a:p>
          <a:p>
            <a:pPr marL="698500" indent="-229235">
              <a:lnSpc>
                <a:spcPct val="100000"/>
              </a:lnSpc>
              <a:spcBef>
                <a:spcPts val="15"/>
              </a:spcBef>
              <a:buFont typeface="Symbol"/>
              <a:buChar char=""/>
              <a:tabLst>
                <a:tab pos="698500" algn="l"/>
                <a:tab pos="699135" algn="l"/>
              </a:tabLst>
            </a:pPr>
            <a:r>
              <a:rPr dirty="0" sz="1100" spc="-5">
                <a:latin typeface="Times New Roman"/>
                <a:cs typeface="Times New Roman"/>
              </a:rPr>
              <a:t>Works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Cited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Page</a:t>
            </a:r>
            <a:endParaRPr sz="1100">
              <a:latin typeface="Times New Roman"/>
              <a:cs typeface="Times New Roman"/>
            </a:endParaRPr>
          </a:p>
          <a:p>
            <a:pPr marL="698500" indent="-229235">
              <a:lnSpc>
                <a:spcPct val="100000"/>
              </a:lnSpc>
              <a:spcBef>
                <a:spcPts val="660"/>
              </a:spcBef>
              <a:buFont typeface="Symbol"/>
              <a:buChar char=""/>
              <a:tabLst>
                <a:tab pos="698500" algn="l"/>
                <a:tab pos="699135" algn="l"/>
              </a:tabLst>
            </a:pPr>
            <a:r>
              <a:rPr dirty="0" sz="1100" spc="-5">
                <a:latin typeface="Times New Roman"/>
                <a:cs typeface="Times New Roman"/>
              </a:rPr>
              <a:t>Parenthetical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Citations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84582" y="8738875"/>
            <a:ext cx="3515360" cy="3530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290"/>
              </a:lnSpc>
              <a:spcBef>
                <a:spcPts val="95"/>
              </a:spcBef>
            </a:pPr>
            <a:r>
              <a:rPr dirty="0" sz="1100" spc="-10" b="1">
                <a:latin typeface="Times New Roman"/>
                <a:cs typeface="Times New Roman"/>
              </a:rPr>
              <a:t>Works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spc="-10" b="1">
                <a:latin typeface="Times New Roman"/>
                <a:cs typeface="Times New Roman"/>
              </a:rPr>
              <a:t>Cited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90"/>
              </a:lnSpc>
            </a:pPr>
            <a:r>
              <a:rPr dirty="0" sz="1100" spc="-5">
                <a:latin typeface="Times New Roman"/>
                <a:cs typeface="Times New Roman"/>
              </a:rPr>
              <a:t>Most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citations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should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contain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following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basic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information: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41784" y="8986977"/>
            <a:ext cx="1088390" cy="527050"/>
          </a:xfrm>
          <a:prstGeom prst="rect">
            <a:avLst/>
          </a:prstGeom>
        </p:spPr>
        <p:txBody>
          <a:bodyPr wrap="square" lIns="0" tIns="9588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5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Author’s</a:t>
            </a:r>
            <a:r>
              <a:rPr dirty="0" sz="1100" spc="-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name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5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Title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work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7380" y="342390"/>
            <a:ext cx="174498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 Elementary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84111" y="342390"/>
            <a:ext cx="22669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788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33820" y="9493248"/>
            <a:ext cx="2540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104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400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257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27350" y="702516"/>
            <a:ext cx="6061710" cy="4202430"/>
          </a:xfrm>
          <a:prstGeom prst="rect">
            <a:avLst/>
          </a:prstGeom>
        </p:spPr>
        <p:txBody>
          <a:bodyPr wrap="square" lIns="0" tIns="86360" rIns="0" bIns="0" rtlCol="0" vert="horz">
            <a:spAutoFit/>
          </a:bodyPr>
          <a:lstStyle/>
          <a:p>
            <a:pPr marL="698500" indent="-229235">
              <a:lnSpc>
                <a:spcPct val="100000"/>
              </a:lnSpc>
              <a:spcBef>
                <a:spcPts val="680"/>
              </a:spcBef>
              <a:buFont typeface="Symbol"/>
              <a:buChar char=""/>
              <a:tabLst>
                <a:tab pos="697865" algn="l"/>
                <a:tab pos="699135" algn="l"/>
              </a:tabLst>
            </a:pPr>
            <a:r>
              <a:rPr dirty="0" sz="1100" spc="-5">
                <a:latin typeface="Times New Roman"/>
                <a:cs typeface="Times New Roman"/>
              </a:rPr>
              <a:t>Publication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information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dirty="0" sz="1100" spc="-5" b="1">
                <a:latin typeface="Times New Roman"/>
                <a:cs typeface="Times New Roman"/>
              </a:rPr>
              <a:t>Works Cited: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Some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Examples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000">
              <a:latin typeface="Times New Roman"/>
              <a:cs typeface="Times New Roman"/>
            </a:endParaRPr>
          </a:p>
          <a:p>
            <a:pPr marL="241300">
              <a:lnSpc>
                <a:spcPts val="1295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Book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95"/>
              </a:lnSpc>
            </a:pPr>
            <a:r>
              <a:rPr dirty="0" sz="1100">
                <a:latin typeface="Times New Roman"/>
                <a:cs typeface="Times New Roman"/>
              </a:rPr>
              <a:t>Byatt,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S.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Babel</a:t>
            </a:r>
            <a:r>
              <a:rPr dirty="0" sz="1100" spc="5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Tower</a:t>
            </a:r>
            <a:r>
              <a:rPr dirty="0" sz="1100" spc="-5">
                <a:latin typeface="Times New Roman"/>
                <a:cs typeface="Times New Roman"/>
              </a:rPr>
              <a:t>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New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York: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Random House,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1996.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 marL="241300">
              <a:lnSpc>
                <a:spcPts val="1290"/>
              </a:lnSpc>
            </a:pPr>
            <a:r>
              <a:rPr dirty="0" sz="1100" spc="-5">
                <a:latin typeface="Times New Roman"/>
                <a:cs typeface="Times New Roman"/>
              </a:rPr>
              <a:t>Article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a Magazine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90"/>
              </a:lnSpc>
            </a:pPr>
            <a:r>
              <a:rPr dirty="0" sz="1100" spc="-5">
                <a:latin typeface="Times New Roman"/>
                <a:cs typeface="Times New Roman"/>
              </a:rPr>
              <a:t>Klein,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Joe.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“Dizzy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Days”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The</a:t>
            </a:r>
            <a:r>
              <a:rPr dirty="0" sz="1100" spc="1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New</a:t>
            </a:r>
            <a:r>
              <a:rPr dirty="0" sz="1100" spc="1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Yorker</a:t>
            </a:r>
            <a:r>
              <a:rPr dirty="0" sz="1100" spc="10" i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5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Oct.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1998: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40-45.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50">
              <a:latin typeface="Times New Roman"/>
              <a:cs typeface="Times New Roman"/>
            </a:endParaRPr>
          </a:p>
          <a:p>
            <a:pPr marL="241300">
              <a:lnSpc>
                <a:spcPts val="1295"/>
              </a:lnSpc>
            </a:pPr>
            <a:r>
              <a:rPr dirty="0" sz="1100" spc="-5">
                <a:latin typeface="Times New Roman"/>
                <a:cs typeface="Times New Roman"/>
              </a:rPr>
              <a:t>Web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page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65"/>
              </a:lnSpc>
            </a:pPr>
            <a:r>
              <a:rPr dirty="0" sz="1100" spc="-5">
                <a:latin typeface="Times New Roman"/>
                <a:cs typeface="Times New Roman"/>
              </a:rPr>
              <a:t>Poland,</a:t>
            </a:r>
            <a:r>
              <a:rPr dirty="0" sz="1100" spc="3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Dave.</a:t>
            </a:r>
            <a:r>
              <a:rPr dirty="0" sz="1100" spc="3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“The</a:t>
            </a:r>
            <a:r>
              <a:rPr dirty="0" sz="1100" spc="3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Hot</a:t>
            </a:r>
            <a:r>
              <a:rPr dirty="0" sz="1100" spc="3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Button”</a:t>
            </a:r>
            <a:r>
              <a:rPr dirty="0" sz="1100" spc="305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Roughcut</a:t>
            </a:r>
            <a:r>
              <a:rPr dirty="0" sz="1100" spc="295" i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26</a:t>
            </a:r>
            <a:r>
              <a:rPr dirty="0" sz="1100" spc="3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Oct.</a:t>
            </a:r>
            <a:r>
              <a:rPr dirty="0" sz="1100" spc="3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1998.</a:t>
            </a:r>
            <a:r>
              <a:rPr dirty="0" sz="1100" spc="3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Turner</a:t>
            </a:r>
            <a:r>
              <a:rPr dirty="0" sz="1100" spc="3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Network</a:t>
            </a:r>
            <a:r>
              <a:rPr dirty="0" sz="1100" spc="3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Television</a:t>
            </a:r>
            <a:r>
              <a:rPr dirty="0" sz="1100" spc="3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28</a:t>
            </a:r>
            <a:r>
              <a:rPr dirty="0" sz="1100" spc="3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Oct.</a:t>
            </a:r>
            <a:r>
              <a:rPr dirty="0" sz="1100" spc="3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1998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95"/>
              </a:lnSpc>
            </a:pPr>
            <a:r>
              <a:rPr dirty="0" sz="1100" spc="-5">
                <a:latin typeface="Times New Roman"/>
                <a:cs typeface="Times New Roman"/>
                <a:hlinkClick r:id="rId2"/>
              </a:rPr>
              <a:t>&lt;www.roughcut.com&gt;.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 marL="241300">
              <a:lnSpc>
                <a:spcPts val="1295"/>
              </a:lnSpc>
            </a:pP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newspaper article</a:t>
            </a:r>
            <a:endParaRPr sz="1100">
              <a:latin typeface="Times New Roman"/>
              <a:cs typeface="Times New Roman"/>
            </a:endParaRPr>
          </a:p>
          <a:p>
            <a:pPr marL="12700" marR="5715">
              <a:lnSpc>
                <a:spcPts val="1270"/>
              </a:lnSpc>
              <a:spcBef>
                <a:spcPts val="60"/>
              </a:spcBef>
            </a:pPr>
            <a:r>
              <a:rPr dirty="0" sz="1100" spc="-5">
                <a:latin typeface="Times New Roman"/>
                <a:cs typeface="Times New Roman"/>
              </a:rPr>
              <a:t>Tommasini,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Anthony.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“Master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Teachers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Whose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Artistry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Glows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Private”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New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York</a:t>
            </a:r>
            <a:r>
              <a:rPr dirty="0" sz="1100" spc="65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Times</a:t>
            </a:r>
            <a:r>
              <a:rPr dirty="0" sz="1100" spc="65" i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27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Oct.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1998: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B2.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00">
              <a:latin typeface="Times New Roman"/>
              <a:cs typeface="Times New Roman"/>
            </a:endParaRPr>
          </a:p>
          <a:p>
            <a:pPr marL="241300">
              <a:lnSpc>
                <a:spcPts val="1290"/>
              </a:lnSpc>
            </a:pPr>
            <a:r>
              <a:rPr dirty="0" sz="1100" spc="-5">
                <a:latin typeface="Times New Roman"/>
                <a:cs typeface="Times New Roman"/>
              </a:rPr>
              <a:t>A source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 no known author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90"/>
              </a:lnSpc>
            </a:pPr>
            <a:r>
              <a:rPr dirty="0" sz="1100" spc="-5">
                <a:latin typeface="Times New Roman"/>
                <a:cs typeface="Times New Roman"/>
              </a:rPr>
              <a:t>“Cigarette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Sales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Fall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30%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California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Tax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Rises.”</a:t>
            </a:r>
            <a:r>
              <a:rPr dirty="0" sz="1100" spc="300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New</a:t>
            </a:r>
            <a:r>
              <a:rPr dirty="0" sz="1100" spc="1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York</a:t>
            </a:r>
            <a:r>
              <a:rPr dirty="0" sz="1100" spc="1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Times</a:t>
            </a:r>
            <a:r>
              <a:rPr dirty="0" sz="1100" spc="10" i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14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Sept.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1999: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A17.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50">
              <a:latin typeface="Times New Roman"/>
              <a:cs typeface="Times New Roman"/>
            </a:endParaRPr>
          </a:p>
          <a:p>
            <a:pPr marL="240665">
              <a:lnSpc>
                <a:spcPts val="1295"/>
              </a:lnSpc>
            </a:pP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TV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interview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95"/>
              </a:lnSpc>
            </a:pPr>
            <a:r>
              <a:rPr dirty="0" sz="1100" spc="-5">
                <a:latin typeface="Times New Roman"/>
                <a:cs typeface="Times New Roman"/>
              </a:rPr>
              <a:t>McGwire,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Mark.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Interview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Matt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Lauer,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Today</a:t>
            </a:r>
            <a:r>
              <a:rPr dirty="0" sz="1100" spc="15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Show</a:t>
            </a:r>
            <a:r>
              <a:rPr dirty="0" sz="1100" spc="10" i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NBC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WTHR,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Indianapolis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22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Oct.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1998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50">
              <a:latin typeface="Times New Roman"/>
              <a:cs typeface="Times New Roman"/>
            </a:endParaRPr>
          </a:p>
          <a:p>
            <a:pPr marL="240665">
              <a:lnSpc>
                <a:spcPts val="1290"/>
              </a:lnSpc>
            </a:pP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personal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interview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90"/>
              </a:lnSpc>
            </a:pPr>
            <a:r>
              <a:rPr dirty="0" sz="1100" spc="-5">
                <a:latin typeface="Times New Roman"/>
                <a:cs typeface="Times New Roman"/>
              </a:rPr>
              <a:t>Mellencamp,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John.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Personal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interview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27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Oct.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1998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7350" y="5033974"/>
            <a:ext cx="3515360" cy="3530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29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Keys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to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Parenthetical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Citations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90"/>
              </a:lnSpc>
            </a:pPr>
            <a:r>
              <a:rPr dirty="0" sz="1100" spc="-5">
                <a:latin typeface="Times New Roman"/>
                <a:cs typeface="Times New Roman"/>
              </a:rPr>
              <a:t>Most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citations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should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contain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following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basic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information: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55944" y="5282077"/>
            <a:ext cx="1088390" cy="527050"/>
          </a:xfrm>
          <a:prstGeom prst="rect">
            <a:avLst/>
          </a:prstGeom>
        </p:spPr>
        <p:txBody>
          <a:bodyPr wrap="square" lIns="0" tIns="9588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5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Author’s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name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5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Page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7336" y="6017710"/>
            <a:ext cx="6059805" cy="32454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29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Example: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65"/>
              </a:lnSpc>
            </a:pPr>
            <a:r>
              <a:rPr dirty="0" sz="1100" spc="-5">
                <a:latin typeface="Times New Roman"/>
                <a:cs typeface="Times New Roman"/>
              </a:rPr>
              <a:t>“Seek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first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understand,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understood”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(Covey,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p.45).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95"/>
              </a:lnSpc>
            </a:pPr>
            <a:r>
              <a:rPr dirty="0" sz="1100" spc="-5">
                <a:latin typeface="Times New Roman"/>
                <a:cs typeface="Times New Roman"/>
              </a:rPr>
              <a:t>Romantic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poetry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characterized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by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“spontaneous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overflow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powerful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feelings”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(Wordsworth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263).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ts val="1270"/>
              </a:lnSpc>
              <a:spcBef>
                <a:spcPts val="5"/>
              </a:spcBef>
            </a:pPr>
            <a:r>
              <a:rPr dirty="0" sz="1100" spc="-5" b="1">
                <a:latin typeface="Times New Roman"/>
                <a:cs typeface="Times New Roman"/>
              </a:rPr>
              <a:t>Wordsworth</a:t>
            </a:r>
            <a:r>
              <a:rPr dirty="0" sz="1100" spc="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stated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that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Romantic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poetry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was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marked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by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“spontaneous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overflow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of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powerful </a:t>
            </a:r>
            <a:r>
              <a:rPr dirty="0" sz="1100" spc="-26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feelings” (263).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290"/>
              </a:lnSpc>
              <a:spcBef>
                <a:spcPts val="1060"/>
              </a:spcBef>
            </a:pPr>
            <a:r>
              <a:rPr dirty="0" sz="1100" spc="-5" b="1">
                <a:latin typeface="Times New Roman"/>
                <a:cs typeface="Times New Roman"/>
              </a:rPr>
              <a:t>Handling</a:t>
            </a:r>
            <a:r>
              <a:rPr dirty="0" sz="1100" spc="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Parenthetical</a:t>
            </a:r>
            <a:r>
              <a:rPr dirty="0" sz="1100" spc="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Citations: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Sometimes</a:t>
            </a:r>
            <a:r>
              <a:rPr dirty="0" sz="1100" spc="2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more</a:t>
            </a:r>
            <a:r>
              <a:rPr dirty="0" sz="1100" spc="2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information</a:t>
            </a:r>
            <a:r>
              <a:rPr dirty="0" sz="1100" spc="2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is</a:t>
            </a:r>
            <a:r>
              <a:rPr dirty="0" sz="1100" spc="1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necessary</a:t>
            </a:r>
            <a:endParaRPr sz="1100">
              <a:latin typeface="Times New Roman"/>
              <a:cs typeface="Times New Roman"/>
            </a:endParaRPr>
          </a:p>
          <a:p>
            <a:pPr marL="240665">
              <a:lnSpc>
                <a:spcPts val="1265"/>
              </a:lnSpc>
            </a:pP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author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same </a:t>
            </a:r>
            <a:r>
              <a:rPr dirty="0" sz="1100">
                <a:latin typeface="Times New Roman"/>
                <a:cs typeface="Times New Roman"/>
              </a:rPr>
              <a:t>last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name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295"/>
              </a:lnSpc>
            </a:pPr>
            <a:r>
              <a:rPr dirty="0" sz="1100" spc="-5" b="1">
                <a:latin typeface="Times New Roman"/>
                <a:cs typeface="Times New Roman"/>
              </a:rPr>
              <a:t>(W.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Wordsworth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23);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(D.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Wordsworth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224)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00">
              <a:latin typeface="Times New Roman"/>
              <a:cs typeface="Times New Roman"/>
            </a:endParaRPr>
          </a:p>
          <a:p>
            <a:pPr marL="240665">
              <a:lnSpc>
                <a:spcPts val="1295"/>
              </a:lnSpc>
            </a:pP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work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same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author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295"/>
              </a:lnSpc>
            </a:pPr>
            <a:r>
              <a:rPr dirty="0" sz="1100" spc="-5" b="1">
                <a:latin typeface="Times New Roman"/>
                <a:cs typeface="Times New Roman"/>
              </a:rPr>
              <a:t>(Joyce,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 i="1">
                <a:latin typeface="Times New Roman"/>
                <a:cs typeface="Times New Roman"/>
              </a:rPr>
              <a:t>Portrait</a:t>
            </a:r>
            <a:r>
              <a:rPr dirty="0" sz="1100" spc="5" b="1" i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121);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(Joyce,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 i="1">
                <a:latin typeface="Times New Roman"/>
                <a:cs typeface="Times New Roman"/>
              </a:rPr>
              <a:t>Ulysses</a:t>
            </a:r>
            <a:r>
              <a:rPr dirty="0" sz="1100" b="1" i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556)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0">
              <a:latin typeface="Times New Roman"/>
              <a:cs typeface="Times New Roman"/>
            </a:endParaRPr>
          </a:p>
          <a:p>
            <a:pPr marL="240665">
              <a:lnSpc>
                <a:spcPts val="1295"/>
              </a:lnSpc>
            </a:pPr>
            <a:r>
              <a:rPr dirty="0" sz="1100" spc="-5">
                <a:latin typeface="Times New Roman"/>
                <a:cs typeface="Times New Roman"/>
              </a:rPr>
              <a:t>Different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volumes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multivolume</a:t>
            </a:r>
            <a:r>
              <a:rPr dirty="0" sz="1100">
                <a:latin typeface="Times New Roman"/>
                <a:cs typeface="Times New Roman"/>
              </a:rPr>
              <a:t> work</a:t>
            </a:r>
            <a:endParaRPr sz="1100">
              <a:latin typeface="Times New Roman"/>
              <a:cs typeface="Times New Roman"/>
            </a:endParaRPr>
          </a:p>
          <a:p>
            <a:pPr marL="469265">
              <a:lnSpc>
                <a:spcPts val="1295"/>
              </a:lnSpc>
            </a:pPr>
            <a:r>
              <a:rPr dirty="0" sz="1100" spc="-5" b="1">
                <a:latin typeface="Times New Roman"/>
                <a:cs typeface="Times New Roman"/>
              </a:rPr>
              <a:t>(1:</a:t>
            </a:r>
            <a:r>
              <a:rPr dirty="0" sz="1100" spc="-3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336)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00">
              <a:latin typeface="Times New Roman"/>
              <a:cs typeface="Times New Roman"/>
            </a:endParaRPr>
          </a:p>
          <a:p>
            <a:pPr marL="240665">
              <a:lnSpc>
                <a:spcPts val="1295"/>
              </a:lnSpc>
            </a:pPr>
            <a:r>
              <a:rPr dirty="0" sz="1100" spc="-5">
                <a:latin typeface="Times New Roman"/>
                <a:cs typeface="Times New Roman"/>
              </a:rPr>
              <a:t>Citing indirect sources</a:t>
            </a:r>
            <a:endParaRPr sz="1100">
              <a:latin typeface="Times New Roman"/>
              <a:cs typeface="Times New Roman"/>
            </a:endParaRPr>
          </a:p>
          <a:p>
            <a:pPr marL="469265">
              <a:lnSpc>
                <a:spcPts val="1295"/>
              </a:lnSpc>
            </a:pPr>
            <a:r>
              <a:rPr dirty="0" sz="1100" spc="-5" b="1">
                <a:latin typeface="Times New Roman"/>
                <a:cs typeface="Times New Roman"/>
              </a:rPr>
              <a:t>(Johnson qtd.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in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Boswell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2:450)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4580" y="342390"/>
            <a:ext cx="174498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 Elementary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41311" y="342390"/>
            <a:ext cx="22669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360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91019" y="9493248"/>
            <a:ext cx="2540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105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972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829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084586" y="686053"/>
            <a:ext cx="6062980" cy="3439795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469265" marR="1433830" indent="-228600">
              <a:lnSpc>
                <a:spcPts val="1270"/>
              </a:lnSpc>
              <a:spcBef>
                <a:spcPts val="180"/>
              </a:spcBef>
            </a:pPr>
            <a:r>
              <a:rPr dirty="0" sz="1100" spc="-5">
                <a:latin typeface="Times New Roman"/>
                <a:cs typeface="Times New Roman"/>
              </a:rPr>
              <a:t>If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source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known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author,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abbreviated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version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title: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Full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Title: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“California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Cigarette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Tax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Deters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Smokers”</a:t>
            </a:r>
            <a:endParaRPr sz="1100">
              <a:latin typeface="Times New Roman"/>
              <a:cs typeface="Times New Roman"/>
            </a:endParaRPr>
          </a:p>
          <a:p>
            <a:pPr marL="469265">
              <a:lnSpc>
                <a:spcPts val="1230"/>
              </a:lnSpc>
            </a:pPr>
            <a:r>
              <a:rPr dirty="0" sz="1100" spc="-5" b="1">
                <a:latin typeface="Times New Roman"/>
                <a:cs typeface="Times New Roman"/>
              </a:rPr>
              <a:t>Citation: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(“California” A14)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00">
              <a:latin typeface="Times New Roman"/>
              <a:cs typeface="Times New Roman"/>
            </a:endParaRPr>
          </a:p>
          <a:p>
            <a:pPr marL="469900" marR="1289050" indent="-457200">
              <a:lnSpc>
                <a:spcPts val="1270"/>
              </a:lnSpc>
            </a:pPr>
            <a:r>
              <a:rPr dirty="0" sz="1100" spc="-5">
                <a:latin typeface="Times New Roman"/>
                <a:cs typeface="Times New Roman"/>
              </a:rPr>
              <a:t>If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source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only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page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length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web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page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apparent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pagination: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Source: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Dave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Poland’s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“Hot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Button”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web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column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235"/>
              </a:lnSpc>
            </a:pPr>
            <a:r>
              <a:rPr dirty="0" sz="1100" spc="-5" b="1">
                <a:latin typeface="Times New Roman"/>
                <a:cs typeface="Times New Roman"/>
              </a:rPr>
              <a:t>Citation: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(Poland)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5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5"/>
              </a:spcBef>
            </a:pPr>
            <a:r>
              <a:rPr dirty="0" sz="1100" spc="-5" b="1">
                <a:latin typeface="Times New Roman"/>
                <a:cs typeface="Times New Roman"/>
              </a:rPr>
              <a:t>Handling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Long Quotations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6350">
              <a:lnSpc>
                <a:spcPts val="1270"/>
              </a:lnSpc>
            </a:pPr>
            <a:r>
              <a:rPr dirty="0" sz="1100" spc="-5">
                <a:latin typeface="Times New Roman"/>
                <a:cs typeface="Times New Roman"/>
              </a:rPr>
              <a:t>David becomes identified and defined by James Steerforth, a young </a:t>
            </a:r>
            <a:r>
              <a:rPr dirty="0" sz="1100" spc="-10">
                <a:latin typeface="Times New Roman"/>
                <a:cs typeface="Times New Roman"/>
              </a:rPr>
              <a:t>man </a:t>
            </a:r>
            <a:r>
              <a:rPr dirty="0" sz="1100" spc="-5">
                <a:latin typeface="Times New Roman"/>
                <a:cs typeface="Times New Roman"/>
              </a:rPr>
              <a:t>with whom David is acquainted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from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</a:t>
            </a:r>
            <a:r>
              <a:rPr dirty="0" sz="1100">
                <a:latin typeface="Times New Roman"/>
                <a:cs typeface="Times New Roman"/>
              </a:rPr>
              <a:t> days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Salem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House.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Before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meeting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Steerforth,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David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accepts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Steerforth’s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name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authoritative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power:</a:t>
            </a:r>
            <a:endParaRPr sz="1100">
              <a:latin typeface="Times New Roman"/>
              <a:cs typeface="Times New Roman"/>
            </a:endParaRPr>
          </a:p>
          <a:p>
            <a:pPr algn="just" marL="469900">
              <a:lnSpc>
                <a:spcPts val="1190"/>
              </a:lnSpc>
            </a:pPr>
            <a:r>
              <a:rPr dirty="0" sz="1100" spc="-5">
                <a:latin typeface="Times New Roman"/>
                <a:cs typeface="Times New Roman"/>
              </a:rPr>
              <a:t>There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old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door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playground,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 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boys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custom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carving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names.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  <a:p>
            <a:pPr algn="just" marL="12700" marR="6350">
              <a:lnSpc>
                <a:spcPts val="1270"/>
              </a:lnSpc>
              <a:spcBef>
                <a:spcPts val="55"/>
              </a:spcBef>
            </a:pPr>
            <a:r>
              <a:rPr dirty="0" sz="1100" spc="-5">
                <a:latin typeface="Times New Roman"/>
                <a:cs typeface="Times New Roman"/>
              </a:rPr>
              <a:t>. 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</a:t>
            </a:r>
            <a:r>
              <a:rPr dirty="0" sz="1100" spc="-10">
                <a:latin typeface="Times New Roman"/>
                <a:cs typeface="Times New Roman"/>
              </a:rPr>
              <a:t>my </a:t>
            </a:r>
            <a:r>
              <a:rPr dirty="0" sz="1100" spc="-5">
                <a:latin typeface="Times New Roman"/>
                <a:cs typeface="Times New Roman"/>
              </a:rPr>
              <a:t>dread of the end of the vacation and their coming back, I could not read a boy’s name, without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inquiring in what tone and with what emphasis he would read, “Take care of him.</a:t>
            </a:r>
            <a:r>
              <a:rPr dirty="0" sz="1100" spc="5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 bites.”</a:t>
            </a:r>
            <a:r>
              <a:rPr dirty="0" sz="1100" spc="5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There </a:t>
            </a:r>
            <a:r>
              <a:rPr dirty="0" sz="1100">
                <a:latin typeface="Times New Roman"/>
                <a:cs typeface="Times New Roman"/>
              </a:rPr>
              <a:t>was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boy—a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certain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J.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Steerforth—who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cut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name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deep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often,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who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conceived,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would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rather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strong voice,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afterwards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pull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hair. (Dickens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68)</a:t>
            </a:r>
            <a:endParaRPr sz="1100">
              <a:latin typeface="Times New Roman"/>
              <a:cs typeface="Times New Roman"/>
            </a:endParaRPr>
          </a:p>
          <a:p>
            <a:pPr algn="just" marL="469900">
              <a:lnSpc>
                <a:spcPts val="1190"/>
              </a:lnSpc>
            </a:pP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Steerforth,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naming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becomes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act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possession,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well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exploitation.</a:t>
            </a:r>
            <a:r>
              <a:rPr dirty="0" sz="1100" spc="5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Steerforth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names</a:t>
            </a:r>
            <a:endParaRPr sz="1100">
              <a:latin typeface="Times New Roman"/>
              <a:cs typeface="Times New Roman"/>
            </a:endParaRPr>
          </a:p>
          <a:p>
            <a:pPr algn="just" marL="12700" marR="8890">
              <a:lnSpc>
                <a:spcPts val="1270"/>
              </a:lnSpc>
              <a:spcBef>
                <a:spcPts val="55"/>
              </a:spcBef>
            </a:pPr>
            <a:r>
              <a:rPr dirty="0" sz="1100" spc="-5">
                <a:latin typeface="Times New Roman"/>
                <a:cs typeface="Times New Roman"/>
              </a:rPr>
              <a:t>David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fresh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look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innocence,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also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name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Daisy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exploit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David's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romantic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tendencies (Dyson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122).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84586" y="4255243"/>
            <a:ext cx="48260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Source: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98981" y="4255243"/>
            <a:ext cx="1623060" cy="513715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12700" marR="5080" indent="-635">
              <a:lnSpc>
                <a:spcPct val="95700"/>
              </a:lnSpc>
              <a:spcBef>
                <a:spcPts val="155"/>
              </a:spcBef>
            </a:pPr>
            <a:r>
              <a:rPr dirty="0" sz="1100" spc="-5" b="1">
                <a:latin typeface="Times New Roman"/>
                <a:cs typeface="Times New Roman"/>
                <a:hlinkClick r:id="rId2"/>
              </a:rPr>
              <a:t>http://www.apastyle.org 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  <a:hlinkClick r:id="rId3"/>
              </a:rPr>
              <a:t>http://www.mla.org/ 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Purdue University Sources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7380" y="342390"/>
            <a:ext cx="174498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 Elementary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84111" y="342390"/>
            <a:ext cx="22669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788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33820" y="9493248"/>
            <a:ext cx="2540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106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400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257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812028" y="526034"/>
            <a:ext cx="87566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LECTURE</a:t>
            </a:r>
            <a:r>
              <a:rPr dirty="0" u="heavy" sz="1100" spc="-4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28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7378" y="847596"/>
            <a:ext cx="5403215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150745">
              <a:lnSpc>
                <a:spcPct val="100000"/>
              </a:lnSpc>
              <a:spcBef>
                <a:spcPts val="95"/>
              </a:spcBef>
            </a:pP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Summary and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Précis</a:t>
            </a:r>
            <a:r>
              <a:rPr dirty="0" u="heavy" sz="1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Writing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graphic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representation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differences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between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summaries,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paraphrases,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interpretations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7362" y="3999218"/>
            <a:ext cx="6062345" cy="2683510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algn="just" marL="12700" marR="5080">
              <a:lnSpc>
                <a:spcPct val="95800"/>
              </a:lnSpc>
              <a:spcBef>
                <a:spcPts val="150"/>
              </a:spcBef>
              <a:tabLst>
                <a:tab pos="1546860" algn="l"/>
                <a:tab pos="2849245" algn="l"/>
                <a:tab pos="4174490" algn="l"/>
                <a:tab pos="5802630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A summary </a:t>
            </a:r>
            <a:r>
              <a:rPr dirty="0" sz="1100" spc="-5">
                <a:latin typeface="Times New Roman"/>
                <a:cs typeface="Times New Roman"/>
              </a:rPr>
              <a:t>is an abridgement expressing the main ideas of a text passage through reported speech. A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successful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summary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exposition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writer's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own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opinions,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but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distillation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essential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points</a:t>
            </a:r>
            <a:r>
              <a:rPr dirty="0" sz="1100">
                <a:latin typeface="Times New Roman"/>
                <a:cs typeface="Times New Roman"/>
              </a:rPr>
              <a:t>	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	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>
                <a:latin typeface="Times New Roman"/>
                <a:cs typeface="Times New Roman"/>
              </a:rPr>
              <a:t>	</a:t>
            </a:r>
            <a:r>
              <a:rPr dirty="0" sz="1100" spc="-5">
                <a:latin typeface="Times New Roman"/>
                <a:cs typeface="Times New Roman"/>
              </a:rPr>
              <a:t>original</a:t>
            </a:r>
            <a:r>
              <a:rPr dirty="0" sz="1100">
                <a:latin typeface="Times New Roman"/>
                <a:cs typeface="Times New Roman"/>
              </a:rPr>
              <a:t>	</a:t>
            </a:r>
            <a:r>
              <a:rPr dirty="0" sz="1100" spc="-5">
                <a:latin typeface="Times New Roman"/>
                <a:cs typeface="Times New Roman"/>
              </a:rPr>
              <a:t>text.  </a:t>
            </a:r>
            <a:r>
              <a:rPr dirty="0" sz="1100" spc="-5">
                <a:latin typeface="Times New Roman"/>
                <a:cs typeface="Times New Roman"/>
              </a:rPr>
              <a:t>Three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points should be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kept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mind: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ts val="1270"/>
              </a:lnSpc>
              <a:buAutoNum type="arabicParenBoth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summaries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shorter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original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texts,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580"/>
              </a:spcBef>
              <a:buAutoNum type="arabicParenBoth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contain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ideas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text,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580"/>
              </a:spcBef>
              <a:buAutoNum type="arabicParenBoth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reported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speech.</a:t>
            </a:r>
            <a:endParaRPr sz="1100">
              <a:latin typeface="Times New Roman"/>
              <a:cs typeface="Times New Roman"/>
            </a:endParaRPr>
          </a:p>
          <a:p>
            <a:pPr algn="just" marL="12700" marR="6350">
              <a:lnSpc>
                <a:spcPct val="95800"/>
              </a:lnSpc>
              <a:spcBef>
                <a:spcPts val="625"/>
              </a:spcBef>
            </a:pPr>
            <a:r>
              <a:rPr dirty="0" sz="1100" spc="-5" b="1">
                <a:latin typeface="Times New Roman"/>
                <a:cs typeface="Times New Roman"/>
              </a:rPr>
              <a:t>A paraphrase </a:t>
            </a:r>
            <a:r>
              <a:rPr dirty="0" sz="1100" spc="-5">
                <a:latin typeface="Times New Roman"/>
                <a:cs typeface="Times New Roman"/>
              </a:rPr>
              <a:t>attempts to express the same ideas of an original text in different words. Different wordings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naturally result in slightly different shades of </a:t>
            </a:r>
            <a:r>
              <a:rPr dirty="0" sz="1100">
                <a:latin typeface="Times New Roman"/>
                <a:cs typeface="Times New Roman"/>
              </a:rPr>
              <a:t>meaning. </a:t>
            </a:r>
            <a:r>
              <a:rPr dirty="0" sz="1100" spc="-5">
                <a:latin typeface="Times New Roman"/>
                <a:cs typeface="Times New Roman"/>
              </a:rPr>
              <a:t>However, successful paraphrases achieve nearly 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same meaning as an original text. No attempt at brevity is made in paraphrasing. Indeed, if extensive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circumlocution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used,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paraphrase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longer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original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text.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100">
              <a:latin typeface="Times New Roman"/>
              <a:cs typeface="Times New Roman"/>
            </a:endParaRPr>
          </a:p>
          <a:p>
            <a:pPr algn="just" marL="12700" marR="6350" indent="-635">
              <a:lnSpc>
                <a:spcPts val="1270"/>
              </a:lnSpc>
            </a:pPr>
            <a:r>
              <a:rPr dirty="0" sz="1100" spc="-5" b="1">
                <a:latin typeface="Times New Roman"/>
                <a:cs typeface="Times New Roman"/>
              </a:rPr>
              <a:t>An interpretative critique </a:t>
            </a:r>
            <a:r>
              <a:rPr dirty="0" sz="1100" spc="-5">
                <a:latin typeface="Times New Roman"/>
                <a:cs typeface="Times New Roman"/>
              </a:rPr>
              <a:t>evaluates some (or all) of the issues raised in a text. Successful interpretative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critiques offer new critical perspectives regarding some </a:t>
            </a:r>
            <a:r>
              <a:rPr dirty="0" sz="1100">
                <a:latin typeface="Times New Roman"/>
                <a:cs typeface="Times New Roman"/>
              </a:rPr>
              <a:t>(or </a:t>
            </a:r>
            <a:r>
              <a:rPr dirty="0" sz="1100" spc="-5">
                <a:latin typeface="Times New Roman"/>
                <a:cs typeface="Times New Roman"/>
              </a:rPr>
              <a:t>all) of the ideas stated in an original passage by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introducing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information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outside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original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text passage.</a:t>
            </a:r>
            <a:endParaRPr sz="1100">
              <a:latin typeface="Times New Roman"/>
              <a:cs typeface="Times New Roman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1277874" y="6830186"/>
          <a:ext cx="4763770" cy="25266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91895"/>
                <a:gridCol w="1189355"/>
                <a:gridCol w="1185545"/>
                <a:gridCol w="1182370"/>
              </a:tblGrid>
              <a:tr h="569213">
                <a:tc>
                  <a:txBody>
                    <a:bodyPr/>
                    <a:lstStyle/>
                    <a:p>
                      <a:pPr algn="ctr">
                        <a:lnSpc>
                          <a:spcPts val="1320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Genre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6355" marR="40005" indent="635">
                        <a:lnSpc>
                          <a:spcPts val="1270"/>
                        </a:lnSpc>
                        <a:spcBef>
                          <a:spcPts val="80"/>
                        </a:spcBef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Information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outside or original </a:t>
                      </a:r>
                      <a:r>
                        <a:rPr dirty="0" sz="1100" spc="-26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text?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16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20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Reported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Speech?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ts val="1320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Length?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94538">
                <a:tc>
                  <a:txBody>
                    <a:bodyPr/>
                    <a:lstStyle/>
                    <a:p>
                      <a:pPr marL="229870">
                        <a:lnSpc>
                          <a:spcPts val="1290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1.</a:t>
                      </a:r>
                      <a:r>
                        <a:rPr dirty="0" sz="1100" spc="-3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 b="1">
                          <a:latin typeface="Times New Roman"/>
                          <a:cs typeface="Times New Roman"/>
                        </a:rPr>
                        <a:t>Summary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9270">
                        <a:lnSpc>
                          <a:spcPts val="128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No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80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Yes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7045" marR="3810" indent="-473709">
                        <a:lnSpc>
                          <a:spcPts val="1270"/>
                        </a:lnSpc>
                        <a:spcBef>
                          <a:spcPts val="4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Shorter than original </a:t>
                      </a:r>
                      <a:r>
                        <a:rPr dirty="0" sz="1100" spc="-2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text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94538">
                <a:tc>
                  <a:txBody>
                    <a:bodyPr/>
                    <a:lstStyle/>
                    <a:p>
                      <a:pPr marL="116839">
                        <a:lnSpc>
                          <a:spcPts val="1290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2.</a:t>
                      </a:r>
                      <a:r>
                        <a:rPr dirty="0" sz="1100" spc="-2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Paraphrasing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6409">
                        <a:lnSpc>
                          <a:spcPts val="1280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Yes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9235" marR="212725" indent="-10160">
                        <a:lnSpc>
                          <a:spcPts val="1270"/>
                        </a:lnSpc>
                        <a:spcBef>
                          <a:spcPts val="4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No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(unless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dirty="0" sz="1100" spc="-2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original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text)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9725" marR="86995" indent="-243204">
                        <a:lnSpc>
                          <a:spcPts val="1270"/>
                        </a:lnSpc>
                        <a:spcBef>
                          <a:spcPts val="45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Yes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No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(both </a:t>
                      </a:r>
                      <a:r>
                        <a:rPr dirty="0" sz="1100" spc="-2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possible)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94538">
                <a:tc>
                  <a:txBody>
                    <a:bodyPr/>
                    <a:lstStyle/>
                    <a:p>
                      <a:pPr marL="362585" marR="118110" indent="-239395">
                        <a:lnSpc>
                          <a:spcPts val="1270"/>
                        </a:lnSpc>
                        <a:spcBef>
                          <a:spcPts val="50"/>
                        </a:spcBef>
                      </a:pPr>
                      <a:r>
                        <a:rPr dirty="0" sz="1100" b="1">
                          <a:latin typeface="Times New Roman"/>
                          <a:cs typeface="Times New Roman"/>
                        </a:rPr>
                        <a:t>3.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Interpreta</a:t>
                      </a:r>
                      <a:r>
                        <a:rPr dirty="0" sz="1100" spc="5" b="1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ive 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critique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6409">
                        <a:lnSpc>
                          <a:spcPts val="128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Yes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8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No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ts val="128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Any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length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possible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60629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4445">
                        <a:lnSpc>
                          <a:spcPct val="100000"/>
                        </a:lnSpc>
                      </a:pPr>
                      <a:r>
                        <a:rPr dirty="0" sz="1100" spc="-5" b="1" i="1">
                          <a:latin typeface="Times New Roman"/>
                          <a:cs typeface="Times New Roman"/>
                        </a:rPr>
                        <a:t>Figure</a:t>
                      </a:r>
                      <a:r>
                        <a:rPr dirty="0" sz="1100" spc="10" b="1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 i="1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dirty="0" sz="1100" spc="15" b="1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1100" spc="1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 spc="1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cloze</a:t>
                      </a:r>
                      <a:r>
                        <a:rPr dirty="0" sz="1100" spc="1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diagram</a:t>
                      </a:r>
                      <a:r>
                        <a:rPr dirty="0" sz="1100" spc="1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contrasting</a:t>
                      </a:r>
                      <a:r>
                        <a:rPr dirty="0" sz="1100" spc="1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three</a:t>
                      </a:r>
                      <a:r>
                        <a:rPr dirty="0" sz="1100" spc="1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writing</a:t>
                      </a:r>
                      <a:r>
                        <a:rPr dirty="0" sz="1100" spc="1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genres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079" y="1512569"/>
            <a:ext cx="4343399" cy="2346960"/>
          </a:xfrm>
          <a:prstGeom prst="rect">
            <a:avLst/>
          </a:prstGeom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360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91019" y="9493248"/>
            <a:ext cx="2540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107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972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84561" y="342390"/>
            <a:ext cx="6083300" cy="87299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869305" algn="l"/>
              </a:tabLst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l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</a:t>
            </a:r>
            <a:r>
              <a:rPr dirty="0" sz="1100" spc="-15">
                <a:solidFill>
                  <a:srgbClr val="323232"/>
                </a:solidFill>
                <a:latin typeface="Times New Roman"/>
                <a:cs typeface="Times New Roman"/>
              </a:rPr>
              <a:t>m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entary</a:t>
            </a:r>
            <a:r>
              <a:rPr dirty="0" sz="1100" spc="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g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lish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295"/>
              </a:lnSpc>
            </a:pPr>
            <a:r>
              <a:rPr dirty="0" sz="1100" spc="-5" b="1">
                <a:latin typeface="Times New Roman"/>
                <a:cs typeface="Times New Roman"/>
              </a:rPr>
              <a:t>For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Example: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60"/>
              </a:lnSpc>
            </a:pPr>
            <a:r>
              <a:rPr dirty="0" u="heavy" sz="1100" spc="-5" b="1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Original</a:t>
            </a:r>
            <a:r>
              <a:rPr dirty="0" u="heavy" sz="1100" spc="-25" b="1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Text</a:t>
            </a:r>
            <a:endParaRPr sz="1100">
              <a:latin typeface="Times New Roman"/>
              <a:cs typeface="Times New Roman"/>
            </a:endParaRPr>
          </a:p>
          <a:p>
            <a:pPr marL="12700" marR="26034">
              <a:lnSpc>
                <a:spcPct val="95800"/>
              </a:lnSpc>
              <a:spcBef>
                <a:spcPts val="20"/>
              </a:spcBef>
            </a:pPr>
            <a:r>
              <a:rPr dirty="0" sz="1100" spc="-5">
                <a:latin typeface="Times New Roman"/>
                <a:cs typeface="Times New Roman"/>
              </a:rPr>
              <a:t>I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Taiwanese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man,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but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lived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Canada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several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years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now.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surprised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how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Canadian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society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respects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rights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women,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both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work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home.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Personally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believe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women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Canada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better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off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women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Taiwan.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However,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my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female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friends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Canada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miss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good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old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days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when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women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were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treated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different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ways.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see,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past,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gentlemen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followed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different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rules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behavior.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would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open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doors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ladies,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pull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out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chairs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ladies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sit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down,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up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when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lady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left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table,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offer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pay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bill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restaurants.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Now,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however,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most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Canadian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believes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men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women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should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considered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equal.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women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now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generally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own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meals.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[</a:t>
            </a:r>
            <a:r>
              <a:rPr dirty="0" u="sng" sz="1100" spc="-5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133</a:t>
            </a:r>
            <a:r>
              <a:rPr dirty="0" u="sng" sz="110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words</a:t>
            </a:r>
            <a:r>
              <a:rPr dirty="0" sz="110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From</a:t>
            </a:r>
            <a:r>
              <a:rPr dirty="0" sz="110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Ming</a:t>
            </a:r>
            <a:r>
              <a:rPr dirty="0" sz="1100" spc="5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Chuan</a:t>
            </a:r>
            <a:r>
              <a:rPr dirty="0" sz="1100" spc="5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University </a:t>
            </a:r>
            <a:r>
              <a:rPr dirty="0" sz="1100" spc="-5">
                <a:latin typeface="Times New Roman"/>
                <a:cs typeface="Times New Roman"/>
              </a:rPr>
              <a:t>PE5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Examination,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autumn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2000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Day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Version]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290"/>
              </a:lnSpc>
            </a:pPr>
            <a:r>
              <a:rPr dirty="0" sz="1100" spc="-10" b="1">
                <a:latin typeface="Times New Roman"/>
                <a:cs typeface="Times New Roman"/>
              </a:rPr>
              <a:t>Summary</a:t>
            </a:r>
            <a:endParaRPr sz="1100">
              <a:latin typeface="Times New Roman"/>
              <a:cs typeface="Times New Roman"/>
            </a:endParaRPr>
          </a:p>
          <a:p>
            <a:pPr algn="just" marL="12700" marR="25400">
              <a:lnSpc>
                <a:spcPct val="95800"/>
              </a:lnSpc>
              <a:spcBef>
                <a:spcPts val="25"/>
              </a:spcBef>
            </a:pPr>
            <a:r>
              <a:rPr dirty="0" sz="1100" spc="-5">
                <a:latin typeface="Times New Roman"/>
                <a:cs typeface="Times New Roman"/>
              </a:rPr>
              <a:t>This text describes the experience of a Taiwanese man who has lived in Canada for several </a:t>
            </a:r>
            <a:r>
              <a:rPr dirty="0" sz="1100">
                <a:latin typeface="Times New Roman"/>
                <a:cs typeface="Times New Roman"/>
              </a:rPr>
              <a:t>years. </a:t>
            </a:r>
            <a:r>
              <a:rPr dirty="0" sz="1100" spc="-5">
                <a:latin typeface="Times New Roman"/>
                <a:cs typeface="Times New Roman"/>
              </a:rPr>
              <a:t>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considers Canadian women better off than Taiwanese. However, he notes some Canadian women feel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nostalgic about the days when they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received special courtesies.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example, formerly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men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opened doors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 women or paid for their meals. At </a:t>
            </a:r>
            <a:r>
              <a:rPr dirty="0" sz="1100">
                <a:latin typeface="Times New Roman"/>
                <a:cs typeface="Times New Roman"/>
              </a:rPr>
              <a:t>this time, </a:t>
            </a:r>
            <a:r>
              <a:rPr dirty="0" sz="1100" spc="-5">
                <a:latin typeface="Times New Roman"/>
                <a:cs typeface="Times New Roman"/>
              </a:rPr>
              <a:t>most Canadians endeavor to treat </a:t>
            </a:r>
            <a:r>
              <a:rPr dirty="0" sz="1100" spc="-10">
                <a:latin typeface="Times New Roman"/>
                <a:cs typeface="Times New Roman"/>
              </a:rPr>
              <a:t>men </a:t>
            </a:r>
            <a:r>
              <a:rPr dirty="0" sz="1100" spc="-5">
                <a:latin typeface="Times New Roman"/>
                <a:cs typeface="Times New Roman"/>
              </a:rPr>
              <a:t>and women equally.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Women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today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therefore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expected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cover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cost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own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meals.</a:t>
            </a:r>
            <a:endParaRPr sz="1100">
              <a:latin typeface="Times New Roman"/>
              <a:cs typeface="Times New Roman"/>
            </a:endParaRPr>
          </a:p>
          <a:p>
            <a:pPr algn="just" marL="12700">
              <a:lnSpc>
                <a:spcPts val="1270"/>
              </a:lnSpc>
            </a:pPr>
            <a:r>
              <a:rPr dirty="0" sz="1100" spc="-5" i="1">
                <a:latin typeface="Times New Roman"/>
                <a:cs typeface="Times New Roman"/>
              </a:rPr>
              <a:t>[78</a:t>
            </a:r>
            <a:r>
              <a:rPr dirty="0" sz="1100" spc="-4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words]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290"/>
              </a:lnSpc>
            </a:pPr>
            <a:r>
              <a:rPr dirty="0" sz="1100" spc="-5" b="1">
                <a:latin typeface="Times New Roman"/>
                <a:cs typeface="Times New Roman"/>
              </a:rPr>
              <a:t>Paraphrase</a:t>
            </a:r>
            <a:endParaRPr sz="1100">
              <a:latin typeface="Times New Roman"/>
              <a:cs typeface="Times New Roman"/>
            </a:endParaRPr>
          </a:p>
          <a:p>
            <a:pPr algn="just" marL="12700" marR="26670">
              <a:lnSpc>
                <a:spcPct val="95800"/>
              </a:lnSpc>
              <a:spcBef>
                <a:spcPts val="25"/>
              </a:spcBef>
            </a:pPr>
            <a:r>
              <a:rPr dirty="0" sz="1100" spc="-5">
                <a:latin typeface="Times New Roman"/>
                <a:cs typeface="Times New Roman"/>
              </a:rPr>
              <a:t>I'm Taiwanese and have lived in Canada for several </a:t>
            </a:r>
            <a:r>
              <a:rPr dirty="0" sz="1100">
                <a:latin typeface="Times New Roman"/>
                <a:cs typeface="Times New Roman"/>
              </a:rPr>
              <a:t>years. </a:t>
            </a:r>
            <a:r>
              <a:rPr dirty="0" sz="1100" spc="-5">
                <a:latin typeface="Times New Roman"/>
                <a:cs typeface="Times New Roman"/>
              </a:rPr>
              <a:t>The way Canadians respect women's rights, both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 work and home, is surprising. My opinion is that Canadian women are better off than Taiwanese. Some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women in Canada </a:t>
            </a:r>
            <a:r>
              <a:rPr dirty="0" sz="1100">
                <a:latin typeface="Times New Roman"/>
                <a:cs typeface="Times New Roman"/>
              </a:rPr>
              <a:t>whom </a:t>
            </a:r>
            <a:r>
              <a:rPr dirty="0" sz="1100" spc="-5">
                <a:latin typeface="Times New Roman"/>
                <a:cs typeface="Times New Roman"/>
              </a:rPr>
              <a:t>I know miss the </a:t>
            </a:r>
            <a:r>
              <a:rPr dirty="0" sz="1100">
                <a:latin typeface="Times New Roman"/>
                <a:cs typeface="Times New Roman"/>
              </a:rPr>
              <a:t>days </a:t>
            </a:r>
            <a:r>
              <a:rPr dirty="0" sz="1100" spc="-5">
                <a:latin typeface="Times New Roman"/>
                <a:cs typeface="Times New Roman"/>
              </a:rPr>
              <a:t>when they were treated differently. Behavior standards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differed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past.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time,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men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opened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doors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women,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pulled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out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chairs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them,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offered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bills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dining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out.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Now,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however,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most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Canadians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believe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women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should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regarded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equals.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result,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women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now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must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generally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own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meals.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[103</a:t>
            </a:r>
            <a:r>
              <a:rPr dirty="0" sz="1100" spc="5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words]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>
              <a:lnSpc>
                <a:spcPts val="1290"/>
              </a:lnSpc>
            </a:pPr>
            <a:r>
              <a:rPr dirty="0" sz="1100" spc="-5" b="1">
                <a:latin typeface="Times New Roman"/>
                <a:cs typeface="Times New Roman"/>
              </a:rPr>
              <a:t>Interpretative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Critique</a:t>
            </a:r>
            <a:endParaRPr sz="1100">
              <a:latin typeface="Times New Roman"/>
              <a:cs typeface="Times New Roman"/>
            </a:endParaRPr>
          </a:p>
          <a:p>
            <a:pPr algn="just" marL="12700" marR="26670">
              <a:lnSpc>
                <a:spcPct val="95800"/>
              </a:lnSpc>
              <a:spcBef>
                <a:spcPts val="25"/>
              </a:spcBef>
            </a:pPr>
            <a:r>
              <a:rPr dirty="0" sz="1100" spc="-5">
                <a:latin typeface="Times New Roman"/>
                <a:cs typeface="Times New Roman"/>
              </a:rPr>
              <a:t>I think that men and women should be treated equally. In Taiwan this is rarely the case, so in many </a:t>
            </a:r>
            <a:r>
              <a:rPr dirty="0" sz="1100">
                <a:latin typeface="Times New Roman"/>
                <a:cs typeface="Times New Roman"/>
              </a:rPr>
              <a:t>ways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Canadian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women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luckier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Taiwanese.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Though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men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often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pay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women's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meals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Taiwan,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also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earn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</a:t>
            </a:r>
            <a:r>
              <a:rPr dirty="0" sz="1100" spc="2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women,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unfair.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Most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women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appreciate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courtesies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such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having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doors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opened for them. However, a more pressing need is gender equality - especially in the workplace. Men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women doing the same </a:t>
            </a:r>
            <a:r>
              <a:rPr dirty="0" sz="1100">
                <a:latin typeface="Times New Roman"/>
                <a:cs typeface="Times New Roman"/>
              </a:rPr>
              <a:t>work </a:t>
            </a:r>
            <a:r>
              <a:rPr dirty="0" sz="1100" spc="-5">
                <a:latin typeface="Times New Roman"/>
                <a:cs typeface="Times New Roman"/>
              </a:rPr>
              <a:t>should get the same </a:t>
            </a:r>
            <a:r>
              <a:rPr dirty="0" sz="1100">
                <a:latin typeface="Times New Roman"/>
                <a:cs typeface="Times New Roman"/>
              </a:rPr>
              <a:t>pay. </a:t>
            </a:r>
            <a:r>
              <a:rPr dirty="0" sz="1100" spc="-5">
                <a:latin typeface="Times New Roman"/>
                <a:cs typeface="Times New Roman"/>
              </a:rPr>
              <a:t>In the future, I hope Taiwanese women will have 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same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rights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Canadian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women.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[95</a:t>
            </a:r>
            <a:r>
              <a:rPr dirty="0" sz="110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words]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>
              <a:lnSpc>
                <a:spcPts val="1290"/>
              </a:lnSpc>
            </a:pPr>
            <a:r>
              <a:rPr dirty="0" sz="1100" spc="-5" b="1">
                <a:latin typeface="Times New Roman"/>
                <a:cs typeface="Times New Roman"/>
              </a:rPr>
              <a:t>CHARACTERISTICS OF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GOOD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SUMMARY: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90"/>
              </a:lnSpc>
            </a:pPr>
            <a:r>
              <a:rPr dirty="0" sz="1100" spc="-5">
                <a:latin typeface="Times New Roman"/>
                <a:cs typeface="Times New Roman"/>
              </a:rPr>
              <a:t>Source: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2"/>
              </a:rPr>
              <a:t>http://www.sdc.uwo.ca/writing/handouts/Summary%20Writing.pdf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good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summary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characteristics: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 marR="28575">
              <a:lnSpc>
                <a:spcPts val="1270"/>
              </a:lnSpc>
            </a:pPr>
            <a:r>
              <a:rPr dirty="0" sz="1100" spc="-5" b="1">
                <a:latin typeface="Times New Roman"/>
                <a:cs typeface="Times New Roman"/>
              </a:rPr>
              <a:t>Proper</a:t>
            </a:r>
            <a:r>
              <a:rPr dirty="0" sz="1100" spc="5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Citation:</a:t>
            </a:r>
            <a:r>
              <a:rPr dirty="0" sz="1100" spc="5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summary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begins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by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citing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title,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author,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source,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and,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case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magazine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journal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article,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date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 publication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text.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 marR="27940">
              <a:lnSpc>
                <a:spcPts val="1270"/>
              </a:lnSpc>
            </a:pPr>
            <a:r>
              <a:rPr dirty="0" sz="1100" spc="-5" b="1">
                <a:latin typeface="Times New Roman"/>
                <a:cs typeface="Times New Roman"/>
              </a:rPr>
              <a:t>Thesis</a:t>
            </a:r>
            <a:r>
              <a:rPr dirty="0" sz="1100" spc="9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Statement:</a:t>
            </a:r>
            <a:r>
              <a:rPr dirty="0" sz="1100" spc="9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overall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thesis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text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selection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author’s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central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theme.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There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several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aspects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effective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statement:</a:t>
            </a:r>
            <a:endParaRPr sz="1100">
              <a:latin typeface="Times New Roman"/>
              <a:cs typeface="Times New Roman"/>
            </a:endParaRPr>
          </a:p>
          <a:p>
            <a:pPr marL="93980" indent="-81915">
              <a:lnSpc>
                <a:spcPts val="1235"/>
              </a:lnSpc>
              <a:buChar char="-"/>
              <a:tabLst>
                <a:tab pos="94615" algn="l"/>
              </a:tabLst>
            </a:pP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comprises two parts:</a:t>
            </a:r>
            <a:endParaRPr sz="1100">
              <a:latin typeface="Times New Roman"/>
              <a:cs typeface="Times New Roman"/>
            </a:endParaRPr>
          </a:p>
          <a:p>
            <a:pPr lvl="1" marL="613410" indent="-144145">
              <a:lnSpc>
                <a:spcPct val="100000"/>
              </a:lnSpc>
              <a:spcBef>
                <a:spcPts val="580"/>
              </a:spcBef>
              <a:buAutoNum type="alphaLcParenR"/>
              <a:tabLst>
                <a:tab pos="614045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general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subject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matter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text,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endParaRPr sz="1100">
              <a:latin typeface="Times New Roman"/>
              <a:cs typeface="Times New Roman"/>
            </a:endParaRPr>
          </a:p>
          <a:p>
            <a:pPr lvl="1" marL="621030" indent="-151765">
              <a:lnSpc>
                <a:spcPct val="100000"/>
              </a:lnSpc>
              <a:spcBef>
                <a:spcPts val="575"/>
              </a:spcBef>
              <a:buAutoNum type="alphaLcParenR"/>
              <a:tabLst>
                <a:tab pos="621665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author’s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major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assertion,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comment,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position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topic.</a:t>
            </a:r>
            <a:endParaRPr sz="1100">
              <a:latin typeface="Times New Roman"/>
              <a:cs typeface="Times New Roman"/>
            </a:endParaRPr>
          </a:p>
          <a:p>
            <a:pPr marL="93980" indent="-81915">
              <a:lnSpc>
                <a:spcPct val="100000"/>
              </a:lnSpc>
              <a:spcBef>
                <a:spcPts val="575"/>
              </a:spcBef>
              <a:buChar char="-"/>
              <a:tabLst>
                <a:tab pos="94615" algn="l"/>
              </a:tabLst>
            </a:pP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central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theme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summarized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clearly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accurately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thesis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statement</a:t>
            </a:r>
            <a:endParaRPr sz="1100">
              <a:latin typeface="Times New Roman"/>
              <a:cs typeface="Times New Roman"/>
            </a:endParaRPr>
          </a:p>
          <a:p>
            <a:pPr marL="93980" indent="-81915">
              <a:lnSpc>
                <a:spcPct val="100000"/>
              </a:lnSpc>
              <a:spcBef>
                <a:spcPts val="575"/>
              </a:spcBef>
              <a:buChar char="-"/>
              <a:tabLst>
                <a:tab pos="94615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thesis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statement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does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contain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specific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details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discussed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text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829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788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33820" y="9493248"/>
            <a:ext cx="2540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108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400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27380" y="342390"/>
            <a:ext cx="6083300" cy="87299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869305" algn="l"/>
              </a:tabLst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l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</a:t>
            </a:r>
            <a:r>
              <a:rPr dirty="0" sz="1100" spc="-15">
                <a:solidFill>
                  <a:srgbClr val="323232"/>
                </a:solidFill>
                <a:latin typeface="Times New Roman"/>
                <a:cs typeface="Times New Roman"/>
              </a:rPr>
              <a:t>m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entary</a:t>
            </a:r>
            <a:r>
              <a:rPr dirty="0" sz="1100" spc="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g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lish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750">
              <a:latin typeface="Times New Roman"/>
              <a:cs typeface="Times New Roman"/>
            </a:endParaRPr>
          </a:p>
          <a:p>
            <a:pPr marL="93980" indent="-81915">
              <a:lnSpc>
                <a:spcPct val="100000"/>
              </a:lnSpc>
              <a:buChar char="-"/>
              <a:tabLst>
                <a:tab pos="94615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statement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beginning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summary.</a:t>
            </a:r>
            <a:endParaRPr sz="1100">
              <a:latin typeface="Times New Roman"/>
              <a:cs typeface="Times New Roman"/>
            </a:endParaRPr>
          </a:p>
          <a:p>
            <a:pPr marL="12700" marR="27305">
              <a:lnSpc>
                <a:spcPts val="1900"/>
              </a:lnSpc>
              <a:spcBef>
                <a:spcPts val="155"/>
              </a:spcBef>
            </a:pPr>
            <a:r>
              <a:rPr dirty="0" sz="1100" spc="-5" b="1">
                <a:latin typeface="Times New Roman"/>
                <a:cs typeface="Times New Roman"/>
              </a:rPr>
              <a:t>Supporting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Ideas: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author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supports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his/her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supporting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ideas.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basic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guidelines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summarising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supporting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ideas:</a:t>
            </a:r>
            <a:endParaRPr sz="1100">
              <a:latin typeface="Times New Roman"/>
              <a:cs typeface="Times New Roman"/>
            </a:endParaRPr>
          </a:p>
          <a:p>
            <a:pPr marL="93980" indent="-81915">
              <a:lnSpc>
                <a:spcPct val="100000"/>
              </a:lnSpc>
              <a:spcBef>
                <a:spcPts val="420"/>
              </a:spcBef>
              <a:buChar char="-"/>
              <a:tabLst>
                <a:tab pos="94615" algn="l"/>
              </a:tabLst>
            </a:pPr>
            <a:r>
              <a:rPr dirty="0" sz="1100" spc="-5">
                <a:latin typeface="Times New Roman"/>
                <a:cs typeface="Times New Roman"/>
              </a:rPr>
              <a:t>Cover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author’s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major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supporting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ideas.</a:t>
            </a:r>
            <a:endParaRPr sz="1100">
              <a:latin typeface="Times New Roman"/>
              <a:cs typeface="Times New Roman"/>
            </a:endParaRPr>
          </a:p>
          <a:p>
            <a:pPr marL="93980" indent="-81915">
              <a:lnSpc>
                <a:spcPct val="100000"/>
              </a:lnSpc>
              <a:spcBef>
                <a:spcPts val="575"/>
              </a:spcBef>
              <a:buChar char="-"/>
              <a:tabLst>
                <a:tab pos="94615" algn="l"/>
              </a:tabLst>
            </a:pPr>
            <a:r>
              <a:rPr dirty="0" sz="1100" spc="-5">
                <a:latin typeface="Times New Roman"/>
                <a:cs typeface="Times New Roman"/>
              </a:rPr>
              <a:t>Show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relationships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among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>
                <a:latin typeface="Times New Roman"/>
                <a:cs typeface="Times New Roman"/>
              </a:rPr>
              <a:t> ideas.</a:t>
            </a:r>
            <a:endParaRPr sz="1100">
              <a:latin typeface="Times New Roman"/>
              <a:cs typeface="Times New Roman"/>
            </a:endParaRPr>
          </a:p>
          <a:p>
            <a:pPr marL="93980" indent="-81915">
              <a:lnSpc>
                <a:spcPct val="100000"/>
              </a:lnSpc>
              <a:spcBef>
                <a:spcPts val="575"/>
              </a:spcBef>
              <a:buChar char="-"/>
              <a:tabLst>
                <a:tab pos="94615" algn="l"/>
              </a:tabLst>
            </a:pPr>
            <a:r>
              <a:rPr dirty="0" sz="1100" spc="-5">
                <a:latin typeface="Times New Roman"/>
                <a:cs typeface="Times New Roman"/>
              </a:rPr>
              <a:t>Omit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specifics,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such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illustrations,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descriptions,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detailed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explanations.</a:t>
            </a:r>
            <a:endParaRPr sz="1100">
              <a:latin typeface="Times New Roman"/>
              <a:cs typeface="Times New Roman"/>
            </a:endParaRPr>
          </a:p>
          <a:p>
            <a:pPr marL="127000" marR="26670" indent="-114300">
              <a:lnSpc>
                <a:spcPct val="143600"/>
              </a:lnSpc>
              <a:spcBef>
                <a:spcPts val="10"/>
              </a:spcBef>
              <a:buChar char="-"/>
              <a:tabLst>
                <a:tab pos="123825" algn="l"/>
              </a:tabLst>
            </a:pPr>
            <a:r>
              <a:rPr dirty="0" sz="1100" spc="-5">
                <a:latin typeface="Times New Roman"/>
                <a:cs typeface="Times New Roman"/>
              </a:rPr>
              <a:t>Indicate</a:t>
            </a:r>
            <a:r>
              <a:rPr dirty="0" sz="1100" spc="2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author’s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purpose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writing: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inform,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persuade,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entertain.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If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passage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persuasive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piece,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report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author’s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bias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position 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issue.</a:t>
            </a:r>
            <a:endParaRPr sz="1100">
              <a:latin typeface="Times New Roman"/>
              <a:cs typeface="Times New Roman"/>
            </a:endParaRPr>
          </a:p>
          <a:p>
            <a:pPr marL="100965" marR="26670" indent="-100965">
              <a:lnSpc>
                <a:spcPct val="143600"/>
              </a:lnSpc>
              <a:buChar char="-"/>
              <a:tabLst>
                <a:tab pos="100965" algn="l"/>
              </a:tabLst>
            </a:pPr>
            <a:r>
              <a:rPr dirty="0" sz="1100" spc="-5">
                <a:latin typeface="Times New Roman"/>
                <a:cs typeface="Times New Roman"/>
              </a:rPr>
              <a:t>Omit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personal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opinions,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ideas,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inferences.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Let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reader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know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reporting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author’s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ideas.</a:t>
            </a:r>
            <a:endParaRPr sz="1100">
              <a:latin typeface="Times New Roman"/>
              <a:cs typeface="Times New Roman"/>
            </a:endParaRPr>
          </a:p>
          <a:p>
            <a:pPr marL="12700" marR="26670">
              <a:lnSpc>
                <a:spcPts val="1270"/>
              </a:lnSpc>
              <a:spcBef>
                <a:spcPts val="655"/>
              </a:spcBef>
            </a:pPr>
            <a:r>
              <a:rPr dirty="0" sz="1100" spc="-5" b="1">
                <a:latin typeface="Times New Roman"/>
                <a:cs typeface="Times New Roman"/>
              </a:rPr>
              <a:t>Grammar</a:t>
            </a:r>
            <a:r>
              <a:rPr dirty="0" sz="1100" spc="13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and</a:t>
            </a:r>
            <a:r>
              <a:rPr dirty="0" sz="1100" spc="14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</a:t>
            </a:r>
            <a:r>
              <a:rPr dirty="0" sz="1100" spc="14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Mechanics</a:t>
            </a:r>
            <a:r>
              <a:rPr dirty="0" sz="1100" spc="14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of</a:t>
            </a:r>
            <a:r>
              <a:rPr dirty="0" sz="1100" spc="13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Writing:</a:t>
            </a:r>
            <a:r>
              <a:rPr dirty="0" sz="1100" spc="14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Grammar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related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concerns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ensure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that,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writer,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clearly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your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reader.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particularly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important:</a:t>
            </a:r>
            <a:endParaRPr sz="1100">
              <a:latin typeface="Times New Roman"/>
              <a:cs typeface="Times New Roman"/>
            </a:endParaRPr>
          </a:p>
          <a:p>
            <a:pPr marL="93980" indent="-81915">
              <a:lnSpc>
                <a:spcPts val="1235"/>
              </a:lnSpc>
              <a:buChar char="-"/>
              <a:tabLst>
                <a:tab pos="94615" algn="l"/>
              </a:tabLst>
            </a:pPr>
            <a:r>
              <a:rPr dirty="0" sz="1100" spc="-5">
                <a:latin typeface="Times New Roman"/>
                <a:cs typeface="Times New Roman"/>
              </a:rPr>
              <a:t>Restate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ideas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own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much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possible.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Avoid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direct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quotations.</a:t>
            </a:r>
            <a:endParaRPr sz="1100">
              <a:latin typeface="Times New Roman"/>
              <a:cs typeface="Times New Roman"/>
            </a:endParaRPr>
          </a:p>
          <a:p>
            <a:pPr marL="93980" indent="-81915">
              <a:lnSpc>
                <a:spcPct val="100000"/>
              </a:lnSpc>
              <a:spcBef>
                <a:spcPts val="575"/>
              </a:spcBef>
              <a:buChar char="-"/>
              <a:tabLst>
                <a:tab pos="94615" algn="l"/>
              </a:tabLst>
            </a:pP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transitional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smooth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logical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flow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ideas.</a:t>
            </a:r>
            <a:endParaRPr sz="1100">
              <a:latin typeface="Times New Roman"/>
              <a:cs typeface="Times New Roman"/>
            </a:endParaRPr>
          </a:p>
          <a:p>
            <a:pPr marL="93980" indent="-81915">
              <a:lnSpc>
                <a:spcPct val="100000"/>
              </a:lnSpc>
              <a:spcBef>
                <a:spcPts val="580"/>
              </a:spcBef>
              <a:buChar char="-"/>
              <a:tabLst>
                <a:tab pos="94615" algn="l"/>
              </a:tabLst>
            </a:pPr>
            <a:r>
              <a:rPr dirty="0" sz="1100" spc="-5">
                <a:latin typeface="Times New Roman"/>
                <a:cs typeface="Times New Roman"/>
              </a:rPr>
              <a:t>Edit and re-write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 work.</a:t>
            </a:r>
            <a:endParaRPr sz="1100">
              <a:latin typeface="Times New Roman"/>
              <a:cs typeface="Times New Roman"/>
            </a:endParaRPr>
          </a:p>
          <a:p>
            <a:pPr marL="93980" indent="-81915">
              <a:lnSpc>
                <a:spcPct val="100000"/>
              </a:lnSpc>
              <a:spcBef>
                <a:spcPts val="575"/>
              </a:spcBef>
              <a:buChar char="-"/>
              <a:tabLst>
                <a:tab pos="94615" algn="l"/>
              </a:tabLst>
            </a:pPr>
            <a:r>
              <a:rPr dirty="0" sz="1100" spc="-5">
                <a:latin typeface="Times New Roman"/>
                <a:cs typeface="Times New Roman"/>
              </a:rPr>
              <a:t>Check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grammar,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punctuation,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spelling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dirty="0" sz="1100" spc="-5" b="1">
                <a:latin typeface="Times New Roman"/>
                <a:cs typeface="Times New Roman"/>
              </a:rPr>
              <a:t>Length: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length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summary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depends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how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original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document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285"/>
              </a:lnSpc>
              <a:spcBef>
                <a:spcPts val="5"/>
              </a:spcBef>
            </a:pPr>
            <a:r>
              <a:rPr dirty="0" sz="1100" spc="-10" b="1">
                <a:latin typeface="Times New Roman"/>
                <a:cs typeface="Times New Roman"/>
              </a:rPr>
              <a:t>STEPS </a:t>
            </a:r>
            <a:r>
              <a:rPr dirty="0" sz="1100" spc="-5" b="1">
                <a:latin typeface="Times New Roman"/>
                <a:cs typeface="Times New Roman"/>
              </a:rPr>
              <a:t>IN WRITING A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SUMMARY:</a:t>
            </a:r>
            <a:endParaRPr sz="1100">
              <a:latin typeface="Times New Roman"/>
              <a:cs typeface="Times New Roman"/>
            </a:endParaRPr>
          </a:p>
          <a:p>
            <a:pPr algn="just" marL="12700" marR="27305">
              <a:lnSpc>
                <a:spcPts val="1270"/>
              </a:lnSpc>
              <a:spcBef>
                <a:spcPts val="50"/>
              </a:spcBef>
            </a:pPr>
            <a:r>
              <a:rPr dirty="0" sz="1100" spc="-5">
                <a:latin typeface="Times New Roman"/>
                <a:cs typeface="Times New Roman"/>
              </a:rPr>
              <a:t>Initially,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summary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writing can seem </a:t>
            </a:r>
            <a:r>
              <a:rPr dirty="0" sz="1100">
                <a:latin typeface="Times New Roman"/>
                <a:cs typeface="Times New Roman"/>
              </a:rPr>
              <a:t>like </a:t>
            </a:r>
            <a:r>
              <a:rPr dirty="0" sz="1100" spc="-5">
                <a:latin typeface="Times New Roman"/>
                <a:cs typeface="Times New Roman"/>
              </a:rPr>
              <a:t>a challenging task.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 requires careful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reading and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reflective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thinking about the article. Most of us, however, tend to skim read without focused reflection, but with time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effort,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steps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listed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help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 become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effective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summary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writer.</a:t>
            </a:r>
            <a:endParaRPr sz="1100">
              <a:latin typeface="Times New Roman"/>
              <a:cs typeface="Times New Roman"/>
            </a:endParaRPr>
          </a:p>
          <a:p>
            <a:pPr algn="just" marL="12700" marR="4927600">
              <a:lnSpc>
                <a:spcPts val="2530"/>
              </a:lnSpc>
              <a:spcBef>
                <a:spcPts val="250"/>
              </a:spcBef>
            </a:pPr>
            <a:r>
              <a:rPr dirty="0" sz="1100" spc="-5" b="1">
                <a:latin typeface="Times New Roman"/>
                <a:cs typeface="Times New Roman"/>
              </a:rPr>
              <a:t>Read the article 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10" b="1">
                <a:latin typeface="Times New Roman"/>
                <a:cs typeface="Times New Roman"/>
              </a:rPr>
              <a:t>Reread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</a:t>
            </a:r>
            <a:r>
              <a:rPr dirty="0" sz="1100" spc="-10" b="1">
                <a:latin typeface="Times New Roman"/>
                <a:cs typeface="Times New Roman"/>
              </a:rPr>
              <a:t> Article.</a:t>
            </a:r>
            <a:endParaRPr sz="1100">
              <a:latin typeface="Times New Roman"/>
              <a:cs typeface="Times New Roman"/>
            </a:endParaRPr>
          </a:p>
          <a:p>
            <a:pPr algn="r" marL="93980" marR="27305" indent="-93980">
              <a:lnSpc>
                <a:spcPts val="975"/>
              </a:lnSpc>
              <a:buChar char="-"/>
              <a:tabLst>
                <a:tab pos="93980" algn="l"/>
              </a:tabLst>
            </a:pPr>
            <a:r>
              <a:rPr dirty="0" sz="1100" spc="-5">
                <a:latin typeface="Times New Roman"/>
                <a:cs typeface="Times New Roman"/>
              </a:rPr>
              <a:t>Divide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article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into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segments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sections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ideas.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Each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segment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deals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aspect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central</a:t>
            </a:r>
            <a:endParaRPr sz="1100">
              <a:latin typeface="Times New Roman"/>
              <a:cs typeface="Times New Roman"/>
            </a:endParaRPr>
          </a:p>
          <a:p>
            <a:pPr algn="r" marR="26034">
              <a:lnSpc>
                <a:spcPct val="100000"/>
              </a:lnSpc>
              <a:spcBef>
                <a:spcPts val="575"/>
              </a:spcBef>
            </a:pPr>
            <a:r>
              <a:rPr dirty="0" sz="1100" spc="-5">
                <a:latin typeface="Times New Roman"/>
                <a:cs typeface="Times New Roman"/>
              </a:rPr>
              <a:t>theme.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segment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comprise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paragraphs.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Note: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news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magazine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articles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tend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begin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endParaRPr sz="1100">
              <a:latin typeface="Times New Roman"/>
              <a:cs typeface="Times New Roman"/>
            </a:endParaRPr>
          </a:p>
          <a:p>
            <a:pPr marL="127000" marR="27305">
              <a:lnSpc>
                <a:spcPct val="143600"/>
              </a:lnSpc>
              <a:spcBef>
                <a:spcPts val="10"/>
              </a:spcBef>
            </a:pP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anecdote.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writer’s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lead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into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article,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but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does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contain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thesis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supporting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ideas.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Typically,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feature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constitute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segment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thought.</a:t>
            </a:r>
            <a:endParaRPr sz="1100">
              <a:latin typeface="Times New Roman"/>
              <a:cs typeface="Times New Roman"/>
            </a:endParaRPr>
          </a:p>
          <a:p>
            <a:pPr marL="99060" marR="29209" indent="-99060">
              <a:lnSpc>
                <a:spcPct val="143600"/>
              </a:lnSpc>
              <a:buChar char="-"/>
              <a:tabLst>
                <a:tab pos="99060" algn="l"/>
              </a:tabLst>
            </a:pPr>
            <a:r>
              <a:rPr dirty="0" sz="1100" spc="-5">
                <a:latin typeface="Times New Roman"/>
                <a:cs typeface="Times New Roman"/>
              </a:rPr>
              <a:t>Label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each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segment.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general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phrase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captures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subject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matter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segment.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label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margin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next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segment.</a:t>
            </a:r>
            <a:endParaRPr sz="1100">
              <a:latin typeface="Times New Roman"/>
              <a:cs typeface="Times New Roman"/>
            </a:endParaRPr>
          </a:p>
          <a:p>
            <a:pPr marL="93980" indent="-81915">
              <a:lnSpc>
                <a:spcPct val="100000"/>
              </a:lnSpc>
              <a:spcBef>
                <a:spcPts val="575"/>
              </a:spcBef>
              <a:buChar char="-"/>
              <a:tabLst>
                <a:tab pos="94615" algn="l"/>
              </a:tabLst>
            </a:pPr>
            <a:r>
              <a:rPr dirty="0" sz="1100" spc="-5">
                <a:latin typeface="Times New Roman"/>
                <a:cs typeface="Times New Roman"/>
              </a:rPr>
              <a:t>Highlight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underline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points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key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phrases.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Times New Roman"/>
              <a:buChar char="-"/>
            </a:pPr>
            <a:endParaRPr sz="1600">
              <a:latin typeface="Times New Roman"/>
              <a:cs typeface="Times New Roman"/>
            </a:endParaRPr>
          </a:p>
          <a:p>
            <a:pPr algn="just" marL="12700">
              <a:lnSpc>
                <a:spcPts val="1290"/>
              </a:lnSpc>
              <a:spcBef>
                <a:spcPts val="5"/>
              </a:spcBef>
            </a:pPr>
            <a:r>
              <a:rPr dirty="0" sz="1100" spc="-5" b="1">
                <a:latin typeface="Times New Roman"/>
                <a:cs typeface="Times New Roman"/>
              </a:rPr>
              <a:t>Write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One-Sentence</a:t>
            </a:r>
            <a:r>
              <a:rPr dirty="0" sz="1100" spc="-10" b="1">
                <a:latin typeface="Times New Roman"/>
                <a:cs typeface="Times New Roman"/>
              </a:rPr>
              <a:t> summaries.</a:t>
            </a:r>
            <a:endParaRPr sz="1100">
              <a:latin typeface="Times New Roman"/>
              <a:cs typeface="Times New Roman"/>
            </a:endParaRPr>
          </a:p>
          <a:p>
            <a:pPr algn="just" marL="93980" indent="-81915">
              <a:lnSpc>
                <a:spcPts val="1290"/>
              </a:lnSpc>
              <a:buChar char="-"/>
              <a:tabLst>
                <a:tab pos="94615" algn="l"/>
              </a:tabLst>
            </a:pPr>
            <a:r>
              <a:rPr dirty="0" sz="1100" spc="-5">
                <a:latin typeface="Times New Roman"/>
                <a:cs typeface="Times New Roman"/>
              </a:rPr>
              <a:t>Write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one-sentence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summary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each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segment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thought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separate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sheet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paper.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Times New Roman"/>
              <a:buChar char="-"/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ts val="1295"/>
              </a:lnSpc>
            </a:pPr>
            <a:r>
              <a:rPr dirty="0" sz="1100" spc="-5" b="1">
                <a:latin typeface="Times New Roman"/>
                <a:cs typeface="Times New Roman"/>
              </a:rPr>
              <a:t>Formulate</a:t>
            </a:r>
            <a:r>
              <a:rPr dirty="0" sz="1100" b="1">
                <a:latin typeface="Times New Roman"/>
                <a:cs typeface="Times New Roman"/>
              </a:rPr>
              <a:t> the </a:t>
            </a:r>
            <a:r>
              <a:rPr dirty="0" sz="1100" spc="-5" b="1">
                <a:latin typeface="Times New Roman"/>
                <a:cs typeface="Times New Roman"/>
              </a:rPr>
              <a:t>Thesis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Statement.</a:t>
            </a:r>
            <a:endParaRPr sz="1100">
              <a:latin typeface="Times New Roman"/>
              <a:cs typeface="Times New Roman"/>
            </a:endParaRPr>
          </a:p>
          <a:p>
            <a:pPr marL="100965" indent="-88900">
              <a:lnSpc>
                <a:spcPts val="1295"/>
              </a:lnSpc>
              <a:buChar char="-"/>
              <a:tabLst>
                <a:tab pos="101600" algn="l"/>
              </a:tabLst>
            </a:pPr>
            <a:r>
              <a:rPr dirty="0" sz="1100" spc="-5">
                <a:latin typeface="Times New Roman"/>
                <a:cs typeface="Times New Roman"/>
              </a:rPr>
              <a:t>Formulate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central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theme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weaves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one-sentence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segment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summaries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together.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your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thesis</a:t>
            </a:r>
            <a:endParaRPr sz="1100">
              <a:latin typeface="Times New Roman"/>
              <a:cs typeface="Times New Roman"/>
            </a:endParaRPr>
          </a:p>
          <a:p>
            <a:pPr marL="131445">
              <a:lnSpc>
                <a:spcPct val="100000"/>
              </a:lnSpc>
              <a:spcBef>
                <a:spcPts val="575"/>
              </a:spcBef>
            </a:pPr>
            <a:r>
              <a:rPr dirty="0" sz="1100" spc="-5">
                <a:latin typeface="Times New Roman"/>
                <a:cs typeface="Times New Roman"/>
              </a:rPr>
              <a:t>statement.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257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972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9829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84580" y="342390"/>
            <a:ext cx="6083300" cy="93592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869305" algn="l"/>
              </a:tabLst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l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</a:t>
            </a:r>
            <a:r>
              <a:rPr dirty="0" sz="1100" spc="-15">
                <a:solidFill>
                  <a:srgbClr val="323232"/>
                </a:solidFill>
                <a:latin typeface="Times New Roman"/>
                <a:cs typeface="Times New Roman"/>
              </a:rPr>
              <a:t>m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entary</a:t>
            </a:r>
            <a:r>
              <a:rPr dirty="0" sz="1100" spc="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g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lish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97155" marR="26034" indent="-97155">
              <a:lnSpc>
                <a:spcPct val="143900"/>
              </a:lnSpc>
              <a:buChar char="-"/>
              <a:tabLst>
                <a:tab pos="97155" algn="l"/>
              </a:tabLst>
            </a:pPr>
            <a:r>
              <a:rPr dirty="0" sz="1100" spc="-5">
                <a:latin typeface="Times New Roman"/>
                <a:cs typeface="Times New Roman"/>
              </a:rPr>
              <a:t>In many articles, the author will state </a:t>
            </a:r>
            <a:r>
              <a:rPr dirty="0" sz="1100">
                <a:latin typeface="Times New Roman"/>
                <a:cs typeface="Times New Roman"/>
              </a:rPr>
              <a:t>this </a:t>
            </a:r>
            <a:r>
              <a:rPr dirty="0" sz="1100" spc="-5">
                <a:latin typeface="Times New Roman"/>
                <a:cs typeface="Times New Roman"/>
              </a:rPr>
              <a:t>directly. You </a:t>
            </a:r>
            <a:r>
              <a:rPr dirty="0" sz="1100" spc="-10">
                <a:latin typeface="Times New Roman"/>
                <a:cs typeface="Times New Roman"/>
              </a:rPr>
              <a:t>may </a:t>
            </a:r>
            <a:r>
              <a:rPr dirty="0" sz="1100" spc="-5">
                <a:latin typeface="Times New Roman"/>
                <a:cs typeface="Times New Roman"/>
              </a:rPr>
              <a:t>wish to take his direct statement of the thesis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restate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own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words.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Note: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news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magazine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articles,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thesis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often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suggested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through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article’s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title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sub-title.</a:t>
            </a:r>
            <a:endParaRPr sz="1100">
              <a:latin typeface="Times New Roman"/>
              <a:cs typeface="Times New Roman"/>
            </a:endParaRPr>
          </a:p>
          <a:p>
            <a:pPr marL="12700" marR="27940">
              <a:lnSpc>
                <a:spcPct val="143600"/>
              </a:lnSpc>
              <a:buChar char="-"/>
              <a:tabLst>
                <a:tab pos="114300" algn="l"/>
              </a:tabLst>
            </a:pP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articles,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may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write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own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one-sentence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thesis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statement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summarizes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this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central theme.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95"/>
              </a:lnSpc>
              <a:spcBef>
                <a:spcPts val="570"/>
              </a:spcBef>
            </a:pPr>
            <a:r>
              <a:rPr dirty="0" sz="1100" spc="-5" b="1">
                <a:latin typeface="Times New Roman"/>
                <a:cs typeface="Times New Roman"/>
              </a:rPr>
              <a:t>Write Your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First Draft</a:t>
            </a:r>
            <a:r>
              <a:rPr dirty="0" sz="1100" spc="-5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  <a:p>
            <a:pPr marL="93980" indent="-81915">
              <a:lnSpc>
                <a:spcPts val="1295"/>
              </a:lnSpc>
              <a:buChar char="-"/>
              <a:tabLst>
                <a:tab pos="94615" algn="l"/>
              </a:tabLst>
            </a:pPr>
            <a:r>
              <a:rPr dirty="0" sz="1100" spc="-5">
                <a:latin typeface="Times New Roman"/>
                <a:cs typeface="Times New Roman"/>
              </a:rPr>
              <a:t>Begin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proper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citation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title,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author,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source,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date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publication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article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summarised.</a:t>
            </a:r>
            <a:endParaRPr sz="1100">
              <a:latin typeface="Times New Roman"/>
              <a:cs typeface="Times New Roman"/>
            </a:endParaRPr>
          </a:p>
          <a:p>
            <a:pPr marL="127000" marR="27305" indent="-114300">
              <a:lnSpc>
                <a:spcPts val="1900"/>
              </a:lnSpc>
              <a:spcBef>
                <a:spcPts val="160"/>
              </a:spcBef>
              <a:buChar char="-"/>
              <a:tabLst>
                <a:tab pos="117475" algn="l"/>
              </a:tabLst>
            </a:pPr>
            <a:r>
              <a:rPr dirty="0" sz="1100" spc="-5">
                <a:latin typeface="Times New Roman"/>
                <a:cs typeface="Times New Roman"/>
              </a:rPr>
              <a:t>Combine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thesis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statement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one-sentence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segment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summaries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into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one-to-two-paragraph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summary.</a:t>
            </a:r>
            <a:endParaRPr sz="1100">
              <a:latin typeface="Times New Roman"/>
              <a:cs typeface="Times New Roman"/>
            </a:endParaRPr>
          </a:p>
          <a:p>
            <a:pPr marL="93980" indent="-81915">
              <a:lnSpc>
                <a:spcPct val="100000"/>
              </a:lnSpc>
              <a:spcBef>
                <a:spcPts val="415"/>
              </a:spcBef>
              <a:buChar char="-"/>
              <a:tabLst>
                <a:tab pos="94615" algn="l"/>
              </a:tabLst>
            </a:pPr>
            <a:r>
              <a:rPr dirty="0" sz="1100" spc="-5">
                <a:latin typeface="Times New Roman"/>
                <a:cs typeface="Times New Roman"/>
              </a:rPr>
              <a:t>Eliminate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all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unnecessary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repetitions.</a:t>
            </a:r>
            <a:endParaRPr sz="1100">
              <a:latin typeface="Times New Roman"/>
              <a:cs typeface="Times New Roman"/>
            </a:endParaRPr>
          </a:p>
          <a:p>
            <a:pPr marL="93980" indent="-81915">
              <a:lnSpc>
                <a:spcPct val="100000"/>
              </a:lnSpc>
              <a:spcBef>
                <a:spcPts val="575"/>
              </a:spcBef>
              <a:buChar char="-"/>
              <a:tabLst>
                <a:tab pos="94615" algn="l"/>
              </a:tabLst>
            </a:pPr>
            <a:r>
              <a:rPr dirty="0" sz="1100" spc="-5">
                <a:latin typeface="Times New Roman"/>
                <a:cs typeface="Times New Roman"/>
              </a:rPr>
              <a:t>Eliminate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all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personal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inferences.</a:t>
            </a:r>
            <a:endParaRPr sz="1100">
              <a:latin typeface="Times New Roman"/>
              <a:cs typeface="Times New Roman"/>
            </a:endParaRPr>
          </a:p>
          <a:p>
            <a:pPr marL="93980" indent="-81915">
              <a:lnSpc>
                <a:spcPct val="100000"/>
              </a:lnSpc>
              <a:spcBef>
                <a:spcPts val="580"/>
              </a:spcBef>
              <a:buChar char="-"/>
              <a:tabLst>
                <a:tab pos="94615" algn="l"/>
              </a:tabLst>
            </a:pP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transitions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smooth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logical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flow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ideas.</a:t>
            </a:r>
            <a:endParaRPr sz="1100">
              <a:latin typeface="Times New Roman"/>
              <a:cs typeface="Times New Roman"/>
            </a:endParaRPr>
          </a:p>
          <a:p>
            <a:pPr marL="93980" indent="-81915">
              <a:lnSpc>
                <a:spcPct val="100000"/>
              </a:lnSpc>
              <a:spcBef>
                <a:spcPts val="575"/>
              </a:spcBef>
              <a:buChar char="-"/>
              <a:tabLst>
                <a:tab pos="94615" algn="l"/>
              </a:tabLst>
            </a:pPr>
            <a:r>
              <a:rPr dirty="0" sz="1100" spc="-5">
                <a:latin typeface="Times New Roman"/>
                <a:cs typeface="Times New Roman"/>
              </a:rPr>
              <a:t>Conclude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“summing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up”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by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learned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reading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article.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Times New Roman"/>
              <a:buChar char="-"/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ts val="1295"/>
              </a:lnSpc>
            </a:pPr>
            <a:r>
              <a:rPr dirty="0" sz="1100" spc="-5" b="1">
                <a:latin typeface="Times New Roman"/>
                <a:cs typeface="Times New Roman"/>
              </a:rPr>
              <a:t>Edit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Your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Draft.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Check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summary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asking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questions:</a:t>
            </a:r>
            <a:endParaRPr sz="1100">
              <a:latin typeface="Times New Roman"/>
              <a:cs typeface="Times New Roman"/>
            </a:endParaRPr>
          </a:p>
          <a:p>
            <a:pPr marL="93980" indent="-81915">
              <a:lnSpc>
                <a:spcPts val="1295"/>
              </a:lnSpc>
              <a:buChar char="-"/>
              <a:tabLst>
                <a:tab pos="94615" algn="l"/>
              </a:tabLst>
            </a:pP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answered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who,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what,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when,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why,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how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questions?</a:t>
            </a:r>
            <a:endParaRPr sz="1100">
              <a:latin typeface="Times New Roman"/>
              <a:cs typeface="Times New Roman"/>
            </a:endParaRPr>
          </a:p>
          <a:p>
            <a:pPr marL="93980" indent="-81915">
              <a:lnSpc>
                <a:spcPct val="100000"/>
              </a:lnSpc>
              <a:spcBef>
                <a:spcPts val="585"/>
              </a:spcBef>
              <a:buChar char="-"/>
              <a:tabLst>
                <a:tab pos="94615" algn="l"/>
              </a:tabLst>
            </a:pP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grammar,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punctuation,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spelling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correct?</a:t>
            </a:r>
            <a:endParaRPr sz="1100">
              <a:latin typeface="Times New Roman"/>
              <a:cs typeface="Times New Roman"/>
            </a:endParaRPr>
          </a:p>
          <a:p>
            <a:pPr marL="93980" indent="-81915">
              <a:lnSpc>
                <a:spcPct val="100000"/>
              </a:lnSpc>
              <a:spcBef>
                <a:spcPts val="575"/>
              </a:spcBef>
              <a:buChar char="-"/>
              <a:tabLst>
                <a:tab pos="94615" algn="l"/>
              </a:tabLst>
            </a:pP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left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my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personal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views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ideas?</a:t>
            </a:r>
            <a:endParaRPr sz="1100">
              <a:latin typeface="Times New Roman"/>
              <a:cs typeface="Times New Roman"/>
            </a:endParaRPr>
          </a:p>
          <a:p>
            <a:pPr marL="93980" indent="-81915">
              <a:lnSpc>
                <a:spcPct val="100000"/>
              </a:lnSpc>
              <a:spcBef>
                <a:spcPts val="575"/>
              </a:spcBef>
              <a:buChar char="-"/>
              <a:tabLst>
                <a:tab pos="94615" algn="l"/>
              </a:tabLst>
            </a:pPr>
            <a:r>
              <a:rPr dirty="0" sz="1100" spc="-5">
                <a:latin typeface="Times New Roman"/>
                <a:cs typeface="Times New Roman"/>
              </a:rPr>
              <a:t>Does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summary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“hang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together”?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flow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aloud?</a:t>
            </a:r>
            <a:endParaRPr sz="1100">
              <a:latin typeface="Times New Roman"/>
              <a:cs typeface="Times New Roman"/>
            </a:endParaRPr>
          </a:p>
          <a:p>
            <a:pPr marL="93980" indent="-81915">
              <a:lnSpc>
                <a:spcPct val="100000"/>
              </a:lnSpc>
              <a:spcBef>
                <a:spcPts val="575"/>
              </a:spcBef>
              <a:buChar char="-"/>
              <a:tabLst>
                <a:tab pos="94615" algn="l"/>
              </a:tabLst>
            </a:pP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someone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else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summary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give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them 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central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article?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 marR="4627245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Write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Your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Final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Draft.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 marL="12700" marR="4627245">
              <a:lnSpc>
                <a:spcPct val="100000"/>
              </a:lnSpc>
              <a:spcBef>
                <a:spcPts val="5"/>
              </a:spcBef>
            </a:pPr>
            <a:r>
              <a:rPr dirty="0" sz="1100" spc="-5" b="1">
                <a:latin typeface="Times New Roman"/>
                <a:cs typeface="Times New Roman"/>
              </a:rPr>
              <a:t>Example: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285"/>
              </a:lnSpc>
              <a:spcBef>
                <a:spcPts val="5"/>
              </a:spcBef>
            </a:pPr>
            <a:r>
              <a:rPr dirty="0" sz="1100" spc="-5" b="1">
                <a:latin typeface="Times New Roman"/>
                <a:cs typeface="Times New Roman"/>
              </a:rPr>
              <a:t>Original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Passage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I:</a:t>
            </a:r>
            <a:endParaRPr sz="1100">
              <a:latin typeface="Times New Roman"/>
              <a:cs typeface="Times New Roman"/>
            </a:endParaRPr>
          </a:p>
          <a:p>
            <a:pPr algn="just" marL="12700" marR="26670">
              <a:lnSpc>
                <a:spcPct val="95800"/>
              </a:lnSpc>
              <a:spcBef>
                <a:spcPts val="20"/>
              </a:spcBef>
            </a:pPr>
            <a:r>
              <a:rPr dirty="0" sz="1100" spc="-5">
                <a:latin typeface="Times New Roman"/>
                <a:cs typeface="Times New Roman"/>
              </a:rPr>
              <a:t>Height connotes </a:t>
            </a:r>
            <a:r>
              <a:rPr dirty="0" sz="1100">
                <a:latin typeface="Times New Roman"/>
                <a:cs typeface="Times New Roman"/>
              </a:rPr>
              <a:t>status </a:t>
            </a:r>
            <a:r>
              <a:rPr dirty="0" sz="1100" spc="-5">
                <a:latin typeface="Times New Roman"/>
                <a:cs typeface="Times New Roman"/>
              </a:rPr>
              <a:t>in many parts of the world. Executive offices are usually on the top floors; 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underlings work below. Even being tall can help a person succeed. Studies have shown that employers are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 willing to hire men over 6 feet tall than shorter men with the same credentials. Studies of real-world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executives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graduates have shown that taller men make more money. In one </a:t>
            </a:r>
            <a:r>
              <a:rPr dirty="0" sz="1100">
                <a:latin typeface="Times New Roman"/>
                <a:cs typeface="Times New Roman"/>
              </a:rPr>
              <a:t>study, </a:t>
            </a:r>
            <a:r>
              <a:rPr dirty="0" sz="1100" spc="-5">
                <a:latin typeface="Times New Roman"/>
                <a:cs typeface="Times New Roman"/>
              </a:rPr>
              <a:t>every extra inch of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height brought in an extra $1,300 a year. But being too big can be a disadvantage. A tall, brawny football </a:t>
            </a:r>
            <a:r>
              <a:rPr dirty="0" sz="1100">
                <a:latin typeface="Times New Roman"/>
                <a:cs typeface="Times New Roman"/>
              </a:rPr>
              <a:t> player </a:t>
            </a:r>
            <a:r>
              <a:rPr dirty="0" sz="1100" spc="-5">
                <a:latin typeface="Times New Roman"/>
                <a:cs typeface="Times New Roman"/>
              </a:rPr>
              <a:t>complained that people found him intimidating off the </a:t>
            </a:r>
            <a:r>
              <a:rPr dirty="0" sz="1100">
                <a:latin typeface="Times New Roman"/>
                <a:cs typeface="Times New Roman"/>
              </a:rPr>
              <a:t>field </a:t>
            </a:r>
            <a:r>
              <a:rPr dirty="0" sz="1100" spc="-5">
                <a:latin typeface="Times New Roman"/>
                <a:cs typeface="Times New Roman"/>
              </a:rPr>
              <a:t>and assumed he "had </a:t>
            </a:r>
            <a:r>
              <a:rPr dirty="0" sz="1100">
                <a:latin typeface="Times New Roman"/>
                <a:cs typeface="Times New Roman"/>
              </a:rPr>
              <a:t>the </a:t>
            </a:r>
            <a:r>
              <a:rPr dirty="0" sz="1100" spc="-5">
                <a:latin typeface="Times New Roman"/>
                <a:cs typeface="Times New Roman"/>
              </a:rPr>
              <a:t>brains of a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Twinkie." (p. 301)</a:t>
            </a:r>
            <a:endParaRPr sz="1100">
              <a:latin typeface="Times New Roman"/>
              <a:cs typeface="Times New Roman"/>
            </a:endParaRPr>
          </a:p>
          <a:p>
            <a:pPr algn="just" marL="12700" marR="28575">
              <a:lnSpc>
                <a:spcPts val="1270"/>
              </a:lnSpc>
              <a:spcBef>
                <a:spcPts val="30"/>
              </a:spcBef>
            </a:pPr>
            <a:r>
              <a:rPr dirty="0" sz="1100" spc="-5">
                <a:latin typeface="Times New Roman"/>
                <a:cs typeface="Times New Roman"/>
              </a:rPr>
              <a:t>---Locker,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(2003).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Business</a:t>
            </a:r>
            <a:r>
              <a:rPr dirty="0" sz="110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and</a:t>
            </a:r>
            <a:r>
              <a:rPr dirty="0" sz="110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administrative</a:t>
            </a:r>
            <a:r>
              <a:rPr dirty="0" sz="110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communication</a:t>
            </a:r>
            <a:r>
              <a:rPr dirty="0" sz="1100" i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(6th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Ed)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Louis,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MO: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Irwin/McGraw-Hill.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Let’s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first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identify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main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points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in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original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passage.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ts val="1295"/>
              </a:lnSpc>
            </a:pPr>
            <a:r>
              <a:rPr dirty="0" sz="1100" spc="-5" i="1">
                <a:latin typeface="Times New Roman"/>
                <a:cs typeface="Times New Roman"/>
              </a:rPr>
              <a:t>Topic</a:t>
            </a:r>
            <a:r>
              <a:rPr dirty="0" sz="1100" spc="1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sentence:</a:t>
            </a:r>
            <a:r>
              <a:rPr dirty="0" sz="1100" spc="10" i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“Height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connotes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status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parts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world.”</a:t>
            </a:r>
            <a:endParaRPr sz="1100">
              <a:latin typeface="Times New Roman"/>
              <a:cs typeface="Times New Roman"/>
            </a:endParaRPr>
          </a:p>
          <a:p>
            <a:pPr marL="12700" marR="2873375">
              <a:lnSpc>
                <a:spcPts val="1270"/>
              </a:lnSpc>
              <a:spcBef>
                <a:spcPts val="55"/>
              </a:spcBef>
            </a:pPr>
            <a:r>
              <a:rPr dirty="0" sz="1100" spc="-5" i="1">
                <a:latin typeface="Times New Roman"/>
                <a:cs typeface="Times New Roman"/>
              </a:rPr>
              <a:t>Main</a:t>
            </a:r>
            <a:r>
              <a:rPr dirty="0" sz="1100" spc="5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point:</a:t>
            </a:r>
            <a:r>
              <a:rPr dirty="0" sz="1100" spc="5" i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“Even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tall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help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person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succeed.”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Main</a:t>
            </a:r>
            <a:r>
              <a:rPr dirty="0" sz="1100" spc="5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point:</a:t>
            </a:r>
            <a:r>
              <a:rPr dirty="0" sz="1100" spc="5" i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“Executive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offices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usually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top”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Main</a:t>
            </a:r>
            <a:r>
              <a:rPr dirty="0" sz="110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point:</a:t>
            </a:r>
            <a:r>
              <a:rPr dirty="0" sz="1100" i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“being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big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disadvantage”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 marR="27940">
              <a:lnSpc>
                <a:spcPts val="127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For this example, we’ll look at multiple summaries. As </a:t>
            </a:r>
            <a:r>
              <a:rPr dirty="0" sz="1100">
                <a:latin typeface="Times New Roman"/>
                <a:cs typeface="Times New Roman"/>
              </a:rPr>
              <a:t>you </a:t>
            </a:r>
            <a:r>
              <a:rPr dirty="0" sz="1100" spc="-5">
                <a:latin typeface="Times New Roman"/>
                <a:cs typeface="Times New Roman"/>
              </a:rPr>
              <a:t>read the sample summaries below determine if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points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included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unimportant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points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discarded.</a:t>
            </a:r>
            <a:endParaRPr sz="1100">
              <a:latin typeface="Times New Roman"/>
              <a:cs typeface="Times New Roman"/>
            </a:endParaRPr>
          </a:p>
          <a:p>
            <a:pPr marL="1564005">
              <a:lnSpc>
                <a:spcPct val="100000"/>
              </a:lnSpc>
              <a:spcBef>
                <a:spcPts val="950"/>
              </a:spcBef>
              <a:tabLst>
                <a:tab pos="5818505" algn="l"/>
              </a:tabLst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	109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7380" y="342390"/>
            <a:ext cx="174498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 Elementary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84111" y="342390"/>
            <a:ext cx="22669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788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33820" y="9493248"/>
            <a:ext cx="2540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110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400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257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27380" y="686053"/>
            <a:ext cx="6061075" cy="53333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latin typeface="Times New Roman"/>
                <a:cs typeface="Times New Roman"/>
              </a:rPr>
              <a:t>Also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check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if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both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wording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those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original.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>
              <a:lnSpc>
                <a:spcPts val="1290"/>
              </a:lnSpc>
            </a:pPr>
            <a:r>
              <a:rPr dirty="0" sz="1100" spc="-5" b="1">
                <a:latin typeface="Times New Roman"/>
                <a:cs typeface="Times New Roman"/>
              </a:rPr>
              <a:t>Summary</a:t>
            </a:r>
            <a:r>
              <a:rPr dirty="0" sz="1100" spc="-40" b="1">
                <a:latin typeface="Times New Roman"/>
                <a:cs typeface="Times New Roman"/>
              </a:rPr>
              <a:t> </a:t>
            </a:r>
            <a:r>
              <a:rPr dirty="0" sz="1100" spc="-10" b="1">
                <a:latin typeface="Times New Roman"/>
                <a:cs typeface="Times New Roman"/>
              </a:rPr>
              <a:t>A:</a:t>
            </a:r>
            <a:endParaRPr sz="1100">
              <a:latin typeface="Times New Roman"/>
              <a:cs typeface="Times New Roman"/>
            </a:endParaRPr>
          </a:p>
          <a:p>
            <a:pPr algn="just" marL="12700" marR="5080">
              <a:lnSpc>
                <a:spcPts val="1270"/>
              </a:lnSpc>
              <a:spcBef>
                <a:spcPts val="55"/>
              </a:spcBef>
            </a:pPr>
            <a:r>
              <a:rPr dirty="0" sz="1100" spc="-5">
                <a:latin typeface="Times New Roman"/>
                <a:cs typeface="Times New Roman"/>
              </a:rPr>
              <a:t>Throughout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world,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being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tall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lead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professional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success.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fact,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research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shows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employers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 more likely to hire taller </a:t>
            </a:r>
            <a:r>
              <a:rPr dirty="0" sz="1100" spc="-10">
                <a:latin typeface="Times New Roman"/>
                <a:cs typeface="Times New Roman"/>
              </a:rPr>
              <a:t>men </a:t>
            </a:r>
            <a:r>
              <a:rPr dirty="0" sz="1100">
                <a:latin typeface="Times New Roman"/>
                <a:cs typeface="Times New Roman"/>
              </a:rPr>
              <a:t>and </a:t>
            </a:r>
            <a:r>
              <a:rPr dirty="0" sz="1100" spc="-5">
                <a:latin typeface="Times New Roman"/>
                <a:cs typeface="Times New Roman"/>
              </a:rPr>
              <a:t>to pay them more, as compared to shorter </a:t>
            </a:r>
            <a:r>
              <a:rPr dirty="0" sz="1100" spc="-10">
                <a:latin typeface="Times New Roman"/>
                <a:cs typeface="Times New Roman"/>
              </a:rPr>
              <a:t>men </a:t>
            </a:r>
            <a:r>
              <a:rPr dirty="0" sz="1100" spc="-5">
                <a:latin typeface="Times New Roman"/>
                <a:cs typeface="Times New Roman"/>
              </a:rPr>
              <a:t>with the same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qualifications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(Locker,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2003).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 marR="5715">
              <a:lnSpc>
                <a:spcPts val="1260"/>
              </a:lnSpc>
            </a:pPr>
            <a:r>
              <a:rPr dirty="0" sz="1100" spc="-5">
                <a:latin typeface="Times New Roman"/>
                <a:cs typeface="Times New Roman"/>
              </a:rPr>
              <a:t>[This </a:t>
            </a:r>
            <a:r>
              <a:rPr dirty="0" sz="1100">
                <a:latin typeface="Times New Roman"/>
                <a:cs typeface="Times New Roman"/>
              </a:rPr>
              <a:t>summary </a:t>
            </a:r>
            <a:r>
              <a:rPr dirty="0" sz="1100" spc="-5">
                <a:latin typeface="Times New Roman"/>
                <a:cs typeface="Times New Roman"/>
              </a:rPr>
              <a:t>is too brief. Further, it changes the meaning slightly, giving the impression that being tall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guarantees</a:t>
            </a:r>
            <a:r>
              <a:rPr dirty="0" sz="1100" spc="-5">
                <a:latin typeface="Times New Roman"/>
                <a:cs typeface="Times New Roman"/>
              </a:rPr>
              <a:t> success.]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00">
              <a:latin typeface="Times New Roman"/>
              <a:cs typeface="Times New Roman"/>
            </a:endParaRPr>
          </a:p>
          <a:p>
            <a:pPr algn="just" marL="12700">
              <a:lnSpc>
                <a:spcPts val="1290"/>
              </a:lnSpc>
            </a:pPr>
            <a:r>
              <a:rPr dirty="0" sz="1100" spc="-5" b="1">
                <a:latin typeface="Times New Roman"/>
                <a:cs typeface="Times New Roman"/>
              </a:rPr>
              <a:t>Summary</a:t>
            </a:r>
            <a:r>
              <a:rPr dirty="0" sz="1100" spc="-40" b="1">
                <a:latin typeface="Times New Roman"/>
                <a:cs typeface="Times New Roman"/>
              </a:rPr>
              <a:t> </a:t>
            </a:r>
            <a:r>
              <a:rPr dirty="0" sz="1100" spc="-10" b="1">
                <a:latin typeface="Times New Roman"/>
                <a:cs typeface="Times New Roman"/>
              </a:rPr>
              <a:t>B:</a:t>
            </a:r>
            <a:endParaRPr sz="1100">
              <a:latin typeface="Times New Roman"/>
              <a:cs typeface="Times New Roman"/>
            </a:endParaRPr>
          </a:p>
          <a:p>
            <a:pPr algn="just" marL="12700" marR="5080">
              <a:lnSpc>
                <a:spcPct val="95700"/>
              </a:lnSpc>
              <a:spcBef>
                <a:spcPts val="25"/>
              </a:spcBef>
            </a:pPr>
            <a:r>
              <a:rPr dirty="0" sz="1100" spc="-5">
                <a:latin typeface="Times New Roman"/>
                <a:cs typeface="Times New Roman"/>
              </a:rPr>
              <a:t>In most countries, height suggests status. For instance, higher executives normally use top floors of office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buildings. Further, research shows that men over six feet tall are more likely to be hired than those shorter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them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but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same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qualifications.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Taller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men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also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receive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greater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incomes,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possibly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much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endParaRPr sz="1100">
              <a:latin typeface="Times New Roman"/>
              <a:cs typeface="Times New Roman"/>
            </a:endParaRPr>
          </a:p>
          <a:p>
            <a:pPr algn="just" marL="12700" marR="5080">
              <a:lnSpc>
                <a:spcPts val="1270"/>
              </a:lnSpc>
              <a:spcBef>
                <a:spcPts val="30"/>
              </a:spcBef>
            </a:pPr>
            <a:r>
              <a:rPr dirty="0" sz="1100" spc="-5">
                <a:latin typeface="Times New Roman"/>
                <a:cs typeface="Times New Roman"/>
              </a:rPr>
              <a:t>$1,300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year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only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inch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shorter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them.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However,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tall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muscular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football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player </a:t>
            </a:r>
            <a:r>
              <a:rPr dirty="0" sz="1100" spc="-5">
                <a:latin typeface="Times New Roman"/>
                <a:cs typeface="Times New Roman"/>
              </a:rPr>
              <a:t>points out, a disadvantage to being tall is that some individuals </a:t>
            </a:r>
            <a:r>
              <a:rPr dirty="0" sz="1100" spc="-10">
                <a:latin typeface="Times New Roman"/>
                <a:cs typeface="Times New Roman"/>
              </a:rPr>
              <a:t>may </a:t>
            </a:r>
            <a:r>
              <a:rPr dirty="0" sz="1100" spc="-5">
                <a:latin typeface="Times New Roman"/>
                <a:cs typeface="Times New Roman"/>
              </a:rPr>
              <a:t>perceive </a:t>
            </a:r>
            <a:r>
              <a:rPr dirty="0" sz="1100">
                <a:latin typeface="Times New Roman"/>
                <a:cs typeface="Times New Roman"/>
              </a:rPr>
              <a:t>you </a:t>
            </a:r>
            <a:r>
              <a:rPr dirty="0" sz="1100" spc="-5">
                <a:latin typeface="Times New Roman"/>
                <a:cs typeface="Times New Roman"/>
              </a:rPr>
              <a:t>as threatening or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even dumb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(Locker,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2003).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 marR="6985">
              <a:lnSpc>
                <a:spcPts val="127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[This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summary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too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long.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Instead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focusing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main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points,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includes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details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 spc="-10">
                <a:latin typeface="Times New Roman"/>
                <a:cs typeface="Times New Roman"/>
              </a:rPr>
              <a:t>original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passage.]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000">
              <a:latin typeface="Times New Roman"/>
              <a:cs typeface="Times New Roman"/>
            </a:endParaRPr>
          </a:p>
          <a:p>
            <a:pPr algn="just" marL="12700">
              <a:lnSpc>
                <a:spcPts val="1290"/>
              </a:lnSpc>
              <a:spcBef>
                <a:spcPts val="5"/>
              </a:spcBef>
            </a:pPr>
            <a:r>
              <a:rPr dirty="0" sz="1100" spc="-5" b="1">
                <a:latin typeface="Times New Roman"/>
                <a:cs typeface="Times New Roman"/>
              </a:rPr>
              <a:t>Summary</a:t>
            </a:r>
            <a:r>
              <a:rPr dirty="0" sz="1100" spc="-40" b="1">
                <a:latin typeface="Times New Roman"/>
                <a:cs typeface="Times New Roman"/>
              </a:rPr>
              <a:t> </a:t>
            </a:r>
            <a:r>
              <a:rPr dirty="0" sz="1100" spc="-10" b="1">
                <a:latin typeface="Times New Roman"/>
                <a:cs typeface="Times New Roman"/>
              </a:rPr>
              <a:t>C:</a:t>
            </a:r>
            <a:endParaRPr sz="1100">
              <a:latin typeface="Times New Roman"/>
              <a:cs typeface="Times New Roman"/>
            </a:endParaRPr>
          </a:p>
          <a:p>
            <a:pPr algn="just" marL="12700" marR="5080">
              <a:lnSpc>
                <a:spcPct val="95800"/>
              </a:lnSpc>
              <a:spcBef>
                <a:spcPts val="25"/>
              </a:spcBef>
            </a:pPr>
            <a:r>
              <a:rPr dirty="0" sz="1100" spc="-5">
                <a:latin typeface="Times New Roman"/>
                <a:cs typeface="Times New Roman"/>
              </a:rPr>
              <a:t>Though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height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may</a:t>
            </a:r>
            <a:r>
              <a:rPr dirty="0" sz="1100" spc="-5">
                <a:latin typeface="Times New Roman"/>
                <a:cs typeface="Times New Roman"/>
              </a:rPr>
              <a:t> connote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slowness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people,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business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world,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almost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universally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associated with success. For example, taller </a:t>
            </a:r>
            <a:r>
              <a:rPr dirty="0" sz="1100" spc="-10">
                <a:latin typeface="Times New Roman"/>
                <a:cs typeface="Times New Roman"/>
              </a:rPr>
              <a:t>men </a:t>
            </a:r>
            <a:r>
              <a:rPr dirty="0" sz="1100" spc="-5">
                <a:latin typeface="Times New Roman"/>
                <a:cs typeface="Times New Roman"/>
              </a:rPr>
              <a:t>are more likely to be hired and to have greater salaries.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Further,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those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positions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within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company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likely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work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floors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office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buildings (Locker,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2003).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100">
              <a:latin typeface="Times New Roman"/>
              <a:cs typeface="Times New Roman"/>
            </a:endParaRPr>
          </a:p>
          <a:p>
            <a:pPr algn="just" marL="12700" marR="5080">
              <a:lnSpc>
                <a:spcPts val="1270"/>
              </a:lnSpc>
            </a:pPr>
            <a:r>
              <a:rPr dirty="0" sz="1100" spc="-5">
                <a:latin typeface="Times New Roman"/>
                <a:cs typeface="Times New Roman"/>
              </a:rPr>
              <a:t>[This summary is the most effective. In addition to including all of the main points, it leaves out 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unimportant details.]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 algn="just" marL="12700">
              <a:lnSpc>
                <a:spcPts val="1295"/>
              </a:lnSpc>
              <a:spcBef>
                <a:spcPts val="1055"/>
              </a:spcBef>
            </a:pPr>
            <a:r>
              <a:rPr dirty="0" sz="1100" spc="-5">
                <a:latin typeface="Times New Roman"/>
                <a:cs typeface="Times New Roman"/>
              </a:rPr>
              <a:t>Source: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  <a:hlinkClick r:id="rId2"/>
              </a:rPr>
              <a:t>http://www.sdc.uwo.ca/writing/handouts/Summary%20Writing.pdf</a:t>
            </a:r>
            <a:endParaRPr sz="1100">
              <a:latin typeface="Times New Roman"/>
              <a:cs typeface="Times New Roman"/>
            </a:endParaRPr>
          </a:p>
          <a:p>
            <a:pPr marL="469265">
              <a:lnSpc>
                <a:spcPts val="1295"/>
              </a:lnSpc>
            </a:pPr>
            <a:r>
              <a:rPr dirty="0" sz="1100" spc="-5" i="1">
                <a:latin typeface="Times New Roman"/>
                <a:cs typeface="Times New Roman"/>
              </a:rPr>
              <a:t>ELJ</a:t>
            </a:r>
            <a:r>
              <a:rPr dirty="0" sz="110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Journal</a:t>
            </a:r>
            <a:r>
              <a:rPr dirty="0" sz="1100" spc="-5">
                <a:latin typeface="Times New Roman"/>
                <a:cs typeface="Times New Roman"/>
              </a:rPr>
              <a:t>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Vol.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2,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No. 2.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Fall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2001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(p. 1)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4580" y="342390"/>
            <a:ext cx="174498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 Elementary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41311" y="342390"/>
            <a:ext cx="22669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360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91019" y="9493248"/>
            <a:ext cx="2540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111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972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829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269228" y="526034"/>
            <a:ext cx="87566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LECTURE</a:t>
            </a:r>
            <a:r>
              <a:rPr dirty="0" u="heavy" sz="1100" spc="-4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29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13178" y="847596"/>
            <a:ext cx="5831205" cy="6921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R="219710">
              <a:lnSpc>
                <a:spcPct val="100000"/>
              </a:lnSpc>
              <a:spcBef>
                <a:spcPts val="95"/>
              </a:spcBef>
            </a:pP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Punctuation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marL="240665" marR="5080" indent="-228600">
              <a:lnSpc>
                <a:spcPts val="1270"/>
              </a:lnSpc>
              <a:buFont typeface="Wingdings"/>
              <a:buChar char="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Punctuation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writing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like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traffic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lights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traffic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signs.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helps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reader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understand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writing.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punctuation marks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most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commonly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are: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86280" y="1717167"/>
            <a:ext cx="2628900" cy="1295400"/>
          </a:xfrm>
          <a:prstGeom prst="rect">
            <a:avLst/>
          </a:prstGeom>
          <a:ln w="19050">
            <a:solidFill>
              <a:srgbClr val="1D4337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466090" indent="-229235">
              <a:lnSpc>
                <a:spcPts val="1315"/>
              </a:lnSpc>
              <a:buFont typeface="Wingdings"/>
              <a:buChar char=""/>
              <a:tabLst>
                <a:tab pos="466725" algn="l"/>
              </a:tabLst>
            </a:pPr>
            <a:r>
              <a:rPr dirty="0" sz="1100" spc="-5">
                <a:latin typeface="Times New Roman"/>
                <a:cs typeface="Times New Roman"/>
              </a:rPr>
              <a:t>Period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(.)</a:t>
            </a:r>
            <a:endParaRPr sz="1100">
              <a:latin typeface="Times New Roman"/>
              <a:cs typeface="Times New Roman"/>
            </a:endParaRPr>
          </a:p>
          <a:p>
            <a:pPr marL="466090" indent="-229235">
              <a:lnSpc>
                <a:spcPct val="100000"/>
              </a:lnSpc>
              <a:spcBef>
                <a:spcPts val="575"/>
              </a:spcBef>
              <a:buFont typeface="Wingdings"/>
              <a:buChar char=""/>
              <a:tabLst>
                <a:tab pos="466725" algn="l"/>
              </a:tabLst>
            </a:pPr>
            <a:r>
              <a:rPr dirty="0" sz="1100" spc="-5">
                <a:latin typeface="Times New Roman"/>
                <a:cs typeface="Times New Roman"/>
              </a:rPr>
              <a:t>Comma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(,)</a:t>
            </a:r>
            <a:endParaRPr sz="1100">
              <a:latin typeface="Times New Roman"/>
              <a:cs typeface="Times New Roman"/>
            </a:endParaRPr>
          </a:p>
          <a:p>
            <a:pPr marL="466090" indent="-229235">
              <a:lnSpc>
                <a:spcPct val="100000"/>
              </a:lnSpc>
              <a:spcBef>
                <a:spcPts val="575"/>
              </a:spcBef>
              <a:buFont typeface="Wingdings"/>
              <a:buChar char=""/>
              <a:tabLst>
                <a:tab pos="466725" algn="l"/>
              </a:tabLst>
            </a:pPr>
            <a:r>
              <a:rPr dirty="0" sz="1100" spc="-5">
                <a:latin typeface="Times New Roman"/>
                <a:cs typeface="Times New Roman"/>
              </a:rPr>
              <a:t>Semicolon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(;)</a:t>
            </a:r>
            <a:endParaRPr sz="1100">
              <a:latin typeface="Times New Roman"/>
              <a:cs typeface="Times New Roman"/>
            </a:endParaRPr>
          </a:p>
          <a:p>
            <a:pPr marL="466090" indent="-229235">
              <a:lnSpc>
                <a:spcPct val="100000"/>
              </a:lnSpc>
              <a:spcBef>
                <a:spcPts val="575"/>
              </a:spcBef>
              <a:buFont typeface="Wingdings"/>
              <a:buChar char=""/>
              <a:tabLst>
                <a:tab pos="466725" algn="l"/>
              </a:tabLst>
            </a:pPr>
            <a:r>
              <a:rPr dirty="0" sz="1100" spc="-5">
                <a:latin typeface="Times New Roman"/>
                <a:cs typeface="Times New Roman"/>
              </a:rPr>
              <a:t>Colon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(:)</a:t>
            </a:r>
            <a:endParaRPr sz="1100">
              <a:latin typeface="Times New Roman"/>
              <a:cs typeface="Times New Roman"/>
            </a:endParaRPr>
          </a:p>
          <a:p>
            <a:pPr marL="466090" indent="-229235">
              <a:lnSpc>
                <a:spcPct val="100000"/>
              </a:lnSpc>
              <a:spcBef>
                <a:spcPts val="585"/>
              </a:spcBef>
              <a:buFont typeface="Wingdings"/>
              <a:buChar char=""/>
              <a:tabLst>
                <a:tab pos="466725" algn="l"/>
              </a:tabLst>
            </a:pPr>
            <a:r>
              <a:rPr dirty="0" sz="1100" spc="-5">
                <a:latin typeface="Times New Roman"/>
                <a:cs typeface="Times New Roman"/>
              </a:rPr>
              <a:t>Apostrophe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(‘)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15180" y="1717167"/>
            <a:ext cx="2628900" cy="1295400"/>
          </a:xfrm>
          <a:prstGeom prst="rect">
            <a:avLst/>
          </a:prstGeom>
          <a:ln w="19050">
            <a:solidFill>
              <a:srgbClr val="1D4337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466090" indent="-229235">
              <a:lnSpc>
                <a:spcPts val="1315"/>
              </a:lnSpc>
              <a:buFont typeface="Wingdings"/>
              <a:buChar char=""/>
              <a:tabLst>
                <a:tab pos="466725" algn="l"/>
              </a:tabLst>
            </a:pPr>
            <a:r>
              <a:rPr dirty="0" sz="1100" spc="-5">
                <a:latin typeface="Times New Roman"/>
                <a:cs typeface="Times New Roman"/>
              </a:rPr>
              <a:t>Question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Mark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(?)</a:t>
            </a:r>
            <a:endParaRPr sz="1100">
              <a:latin typeface="Times New Roman"/>
              <a:cs typeface="Times New Roman"/>
            </a:endParaRPr>
          </a:p>
          <a:p>
            <a:pPr marL="466090" indent="-229235">
              <a:lnSpc>
                <a:spcPct val="100000"/>
              </a:lnSpc>
              <a:spcBef>
                <a:spcPts val="575"/>
              </a:spcBef>
              <a:buFont typeface="Wingdings"/>
              <a:buChar char=""/>
              <a:tabLst>
                <a:tab pos="466725" algn="l"/>
              </a:tabLst>
            </a:pPr>
            <a:r>
              <a:rPr dirty="0" sz="1100" spc="-5">
                <a:latin typeface="Times New Roman"/>
                <a:cs typeface="Times New Roman"/>
              </a:rPr>
              <a:t>Exclamation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point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(!)</a:t>
            </a:r>
            <a:endParaRPr sz="1100">
              <a:latin typeface="Times New Roman"/>
              <a:cs typeface="Times New Roman"/>
            </a:endParaRPr>
          </a:p>
          <a:p>
            <a:pPr marL="466090" indent="-229235">
              <a:lnSpc>
                <a:spcPct val="100000"/>
              </a:lnSpc>
              <a:spcBef>
                <a:spcPts val="575"/>
              </a:spcBef>
              <a:buFont typeface="Wingdings"/>
              <a:buChar char=""/>
              <a:tabLst>
                <a:tab pos="466725" algn="l"/>
              </a:tabLst>
            </a:pPr>
            <a:r>
              <a:rPr dirty="0" sz="1100" spc="-5">
                <a:latin typeface="Times New Roman"/>
                <a:cs typeface="Times New Roman"/>
              </a:rPr>
              <a:t>Quotation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mark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(“)</a:t>
            </a:r>
            <a:endParaRPr sz="1100">
              <a:latin typeface="Times New Roman"/>
              <a:cs typeface="Times New Roman"/>
            </a:endParaRPr>
          </a:p>
          <a:p>
            <a:pPr marL="466090" indent="-229235">
              <a:lnSpc>
                <a:spcPct val="100000"/>
              </a:lnSpc>
              <a:spcBef>
                <a:spcPts val="575"/>
              </a:spcBef>
              <a:buFont typeface="Wingdings"/>
              <a:buChar char=""/>
              <a:tabLst>
                <a:tab pos="466725" algn="l"/>
              </a:tabLst>
            </a:pPr>
            <a:r>
              <a:rPr dirty="0" sz="1100" spc="-5">
                <a:latin typeface="Times New Roman"/>
                <a:cs typeface="Times New Roman"/>
              </a:rPr>
              <a:t>Parenthesis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)</a:t>
            </a:r>
            <a:endParaRPr sz="1100">
              <a:latin typeface="Times New Roman"/>
              <a:cs typeface="Times New Roman"/>
            </a:endParaRPr>
          </a:p>
          <a:p>
            <a:pPr marL="466090" indent="-229235">
              <a:lnSpc>
                <a:spcPct val="100000"/>
              </a:lnSpc>
              <a:spcBef>
                <a:spcPts val="585"/>
              </a:spcBef>
              <a:buFont typeface="Wingdings"/>
              <a:buChar char=""/>
              <a:tabLst>
                <a:tab pos="466725" algn="l"/>
              </a:tabLst>
            </a:pPr>
            <a:r>
              <a:rPr dirty="0" sz="1100" spc="-5">
                <a:latin typeface="Times New Roman"/>
                <a:cs typeface="Times New Roman"/>
              </a:rPr>
              <a:t>Dash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(-)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84566" y="3160272"/>
            <a:ext cx="6061710" cy="2682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285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THE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PERIOD: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65"/>
              </a:lnSpc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period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light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stop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sign.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period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sentence.</a:t>
            </a:r>
            <a:endParaRPr sz="1100">
              <a:latin typeface="Times New Roman"/>
              <a:cs typeface="Times New Roman"/>
            </a:endParaRPr>
          </a:p>
          <a:p>
            <a:pPr marL="927100" indent="-228600">
              <a:lnSpc>
                <a:spcPts val="1295"/>
              </a:lnSpc>
              <a:buFont typeface="Wingdings"/>
              <a:buChar char=""/>
              <a:tabLst>
                <a:tab pos="927100" algn="l"/>
              </a:tabLst>
            </a:pPr>
            <a:r>
              <a:rPr dirty="0" sz="1100" spc="-5">
                <a:latin typeface="Times New Roman"/>
                <a:cs typeface="Times New Roman"/>
              </a:rPr>
              <a:t>Bill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asked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whether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class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cancelled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tomorrow.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90"/>
              </a:lnSpc>
              <a:spcBef>
                <a:spcPts val="580"/>
              </a:spcBef>
            </a:pPr>
            <a:r>
              <a:rPr dirty="0" sz="1100" spc="-5" b="1">
                <a:latin typeface="Times New Roman"/>
                <a:cs typeface="Times New Roman"/>
              </a:rPr>
              <a:t>Use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period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to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improve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flow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of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writing.</a:t>
            </a:r>
            <a:endParaRPr sz="1100">
              <a:latin typeface="Times New Roman"/>
              <a:cs typeface="Times New Roman"/>
            </a:endParaRPr>
          </a:p>
          <a:p>
            <a:pPr marL="12700" marR="6350">
              <a:lnSpc>
                <a:spcPts val="1270"/>
              </a:lnSpc>
              <a:spcBef>
                <a:spcPts val="50"/>
              </a:spcBef>
            </a:pPr>
            <a:r>
              <a:rPr dirty="0" sz="1100" spc="-5">
                <a:latin typeface="Times New Roman"/>
                <a:cs typeface="Times New Roman"/>
              </a:rPr>
              <a:t>Sometimes,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there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too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many</a:t>
            </a:r>
            <a:r>
              <a:rPr dirty="0" sz="1100" spc="2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ideas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packed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into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sentence.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periods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shorter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sentences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improve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flow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understanding.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0" marR="5080" indent="-114300">
              <a:lnSpc>
                <a:spcPct val="95700"/>
              </a:lnSpc>
              <a:buAutoNum type="arabicPeriod"/>
              <a:tabLst>
                <a:tab pos="157480" algn="l"/>
              </a:tabLst>
            </a:pPr>
            <a:r>
              <a:rPr dirty="0" sz="1100" spc="-5">
                <a:latin typeface="Times New Roman"/>
                <a:cs typeface="Times New Roman"/>
              </a:rPr>
              <a:t>For temperatures above 1100K, the four fuels had about the same ignition delay when the ignition delay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defined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time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recover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pressure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loss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fuel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evaporation,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spite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large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variations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ignition delay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among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four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fuels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lower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temperatures.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Times New Roman"/>
              <a:buAutoNum type="arabicPeriod"/>
            </a:pPr>
            <a:endParaRPr sz="1100">
              <a:latin typeface="Times New Roman"/>
              <a:cs typeface="Times New Roman"/>
            </a:endParaRPr>
          </a:p>
          <a:p>
            <a:pPr algn="just" marL="127000" marR="5715" indent="-114300">
              <a:lnSpc>
                <a:spcPts val="1270"/>
              </a:lnSpc>
              <a:buAutoNum type="arabicPeriod"/>
              <a:tabLst>
                <a:tab pos="160655" algn="l"/>
              </a:tabLst>
            </a:pPr>
            <a:r>
              <a:rPr dirty="0" sz="1100" spc="-5">
                <a:latin typeface="Times New Roman"/>
                <a:cs typeface="Times New Roman"/>
              </a:rPr>
              <a:t>Ignition delay is the time required to recover the pressure loss </a:t>
            </a:r>
            <a:r>
              <a:rPr dirty="0" sz="1100">
                <a:latin typeface="Times New Roman"/>
                <a:cs typeface="Times New Roman"/>
              </a:rPr>
              <a:t>from </a:t>
            </a:r>
            <a:r>
              <a:rPr dirty="0" sz="1100" spc="-5">
                <a:latin typeface="Times New Roman"/>
                <a:cs typeface="Times New Roman"/>
              </a:rPr>
              <a:t>fuel evaporation.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Despite the large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variations in ignition delay at lower temperatures, the four fuels had about the same ignition delay for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temperatures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1100K.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Use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period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in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conventional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abbreviations.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84580" y="5809732"/>
            <a:ext cx="1196340" cy="6743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295"/>
              </a:lnSpc>
              <a:spcBef>
                <a:spcPts val="95"/>
              </a:spcBef>
            </a:pPr>
            <a:r>
              <a:rPr dirty="0" sz="1100" spc="-5">
                <a:latin typeface="Times New Roman"/>
                <a:cs typeface="Times New Roman"/>
              </a:rPr>
              <a:t>Mr.</a:t>
            </a:r>
            <a:r>
              <a:rPr dirty="0" sz="1100" spc="-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(mister);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65"/>
              </a:lnSpc>
            </a:pPr>
            <a:r>
              <a:rPr dirty="0" sz="1100" spc="-5">
                <a:latin typeface="Times New Roman"/>
                <a:cs typeface="Times New Roman"/>
              </a:rPr>
              <a:t>Dr.</a:t>
            </a:r>
            <a:r>
              <a:rPr dirty="0" sz="1100" spc="-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(doctor);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65"/>
              </a:lnSpc>
            </a:pPr>
            <a:r>
              <a:rPr dirty="0" sz="1100" spc="-5">
                <a:latin typeface="Times New Roman"/>
                <a:cs typeface="Times New Roman"/>
              </a:rPr>
              <a:t>e.g.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(exempli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gratia);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90"/>
              </a:lnSpc>
            </a:pPr>
            <a:r>
              <a:rPr dirty="0" sz="1100" spc="-5">
                <a:latin typeface="Times New Roman"/>
                <a:cs typeface="Times New Roman"/>
              </a:rPr>
              <a:t>i.e.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(id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est);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455705" y="5809732"/>
            <a:ext cx="1675764" cy="6743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295"/>
              </a:lnSpc>
              <a:spcBef>
                <a:spcPts val="95"/>
              </a:spcBef>
            </a:pPr>
            <a:r>
              <a:rPr dirty="0" sz="1100" spc="-5">
                <a:latin typeface="Times New Roman"/>
                <a:cs typeface="Times New Roman"/>
              </a:rPr>
              <a:t>Mrs.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(misses)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ts val="1270"/>
              </a:lnSpc>
              <a:spcBef>
                <a:spcPts val="60"/>
              </a:spcBef>
            </a:pPr>
            <a:r>
              <a:rPr dirty="0" sz="1100" spc="-5">
                <a:latin typeface="Times New Roman"/>
                <a:cs typeface="Times New Roman"/>
              </a:rPr>
              <a:t>Ph.D.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(Doctor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Philosophy)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etc. (et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cetera)</a:t>
            </a:r>
            <a:endParaRPr sz="1100">
              <a:latin typeface="Times New Roman"/>
              <a:cs typeface="Times New Roman"/>
            </a:endParaRPr>
          </a:p>
          <a:p>
            <a:pPr marL="471170">
              <a:lnSpc>
                <a:spcPts val="1220"/>
              </a:lnSpc>
            </a:pPr>
            <a:r>
              <a:rPr dirty="0" sz="1100" spc="-5">
                <a:latin typeface="Times New Roman"/>
                <a:cs typeface="Times New Roman"/>
              </a:rPr>
              <a:t>p.s.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(post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scriptum)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84580" y="6613638"/>
            <a:ext cx="430911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Sometimes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the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period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is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omitted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in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an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abbreviation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using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capital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letters: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84580" y="6773652"/>
            <a:ext cx="250825" cy="353695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>
              <a:lnSpc>
                <a:spcPts val="1270"/>
              </a:lnSpc>
              <a:spcBef>
                <a:spcPts val="180"/>
              </a:spcBef>
            </a:pPr>
            <a:r>
              <a:rPr dirty="0" sz="1100" spc="-5">
                <a:latin typeface="Times New Roman"/>
                <a:cs typeface="Times New Roman"/>
              </a:rPr>
              <a:t>AM  </a:t>
            </a:r>
            <a:r>
              <a:rPr dirty="0" sz="1100" spc="-5">
                <a:latin typeface="Times New Roman"/>
                <a:cs typeface="Times New Roman"/>
              </a:rPr>
              <a:t>BA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998719" y="6773652"/>
            <a:ext cx="250825" cy="353695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>
              <a:lnSpc>
                <a:spcPts val="1270"/>
              </a:lnSpc>
              <a:spcBef>
                <a:spcPts val="180"/>
              </a:spcBef>
            </a:pPr>
            <a:r>
              <a:rPr dirty="0" sz="1100" spc="-5">
                <a:latin typeface="Times New Roman"/>
                <a:cs typeface="Times New Roman"/>
              </a:rPr>
              <a:t>PM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84580" y="7255996"/>
            <a:ext cx="357124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Do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not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use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period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in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abbreviating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names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of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organizations.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84580" y="7416010"/>
            <a:ext cx="289560" cy="353695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>
              <a:lnSpc>
                <a:spcPts val="1270"/>
              </a:lnSpc>
              <a:spcBef>
                <a:spcPts val="180"/>
              </a:spcBef>
            </a:pPr>
            <a:r>
              <a:rPr dirty="0" sz="1100" spc="-10">
                <a:latin typeface="Times New Roman"/>
                <a:cs typeface="Times New Roman"/>
              </a:rPr>
              <a:t>UN 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IBM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999011" y="7416010"/>
            <a:ext cx="305435" cy="353695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 indent="-635">
              <a:lnSpc>
                <a:spcPts val="1270"/>
              </a:lnSpc>
              <a:spcBef>
                <a:spcPts val="180"/>
              </a:spcBef>
            </a:pPr>
            <a:r>
              <a:rPr dirty="0" sz="1100" spc="-10">
                <a:latin typeface="Times New Roman"/>
                <a:cs typeface="Times New Roman"/>
              </a:rPr>
              <a:t>USA  </a:t>
            </a:r>
            <a:r>
              <a:rPr dirty="0" sz="1100" spc="-5">
                <a:latin typeface="Times New Roman"/>
                <a:cs typeface="Times New Roman"/>
              </a:rPr>
              <a:t>FAO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913205" y="7416010"/>
            <a:ext cx="358775" cy="353695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 indent="-635">
              <a:lnSpc>
                <a:spcPts val="1270"/>
              </a:lnSpc>
              <a:spcBef>
                <a:spcPts val="180"/>
              </a:spcBef>
            </a:pPr>
            <a:r>
              <a:rPr dirty="0" sz="1100" spc="-10">
                <a:latin typeface="Times New Roman"/>
                <a:cs typeface="Times New Roman"/>
              </a:rPr>
              <a:t>WHO  </a:t>
            </a:r>
            <a:r>
              <a:rPr dirty="0" sz="1100" spc="-5">
                <a:latin typeface="Times New Roman"/>
                <a:cs typeface="Times New Roman"/>
              </a:rPr>
              <a:t>ILO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84580" y="7899121"/>
            <a:ext cx="6061075" cy="13976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THE</a:t>
            </a:r>
            <a:r>
              <a:rPr dirty="0" sz="1100" spc="-4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COMMA: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ts val="1270"/>
              </a:lnSpc>
            </a:pPr>
            <a:r>
              <a:rPr dirty="0" sz="1100" spc="-5" b="1">
                <a:latin typeface="Times New Roman"/>
                <a:cs typeface="Times New Roman"/>
              </a:rPr>
              <a:t>Use</a:t>
            </a:r>
            <a:r>
              <a:rPr dirty="0" sz="1100" spc="3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</a:t>
            </a:r>
            <a:r>
              <a:rPr dirty="0" sz="1100" spc="4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comma</a:t>
            </a:r>
            <a:r>
              <a:rPr dirty="0" sz="1100" spc="4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before</a:t>
            </a:r>
            <a:r>
              <a:rPr dirty="0" sz="1100" spc="3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</a:t>
            </a:r>
            <a:r>
              <a:rPr dirty="0" sz="1100" spc="3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coordinating</a:t>
            </a:r>
            <a:r>
              <a:rPr dirty="0" sz="1100" spc="4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conjunction</a:t>
            </a:r>
            <a:r>
              <a:rPr dirty="0" sz="1100" spc="3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(and,</a:t>
            </a:r>
            <a:r>
              <a:rPr dirty="0" sz="1100" spc="4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but,</a:t>
            </a:r>
            <a:r>
              <a:rPr dirty="0" sz="1100" spc="3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or,</a:t>
            </a:r>
            <a:r>
              <a:rPr dirty="0" sz="1100" spc="3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nor,</a:t>
            </a:r>
            <a:r>
              <a:rPr dirty="0" sz="1100" spc="4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for,</a:t>
            </a:r>
            <a:r>
              <a:rPr dirty="0" sz="1100" spc="3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so,</a:t>
            </a:r>
            <a:r>
              <a:rPr dirty="0" sz="1100" spc="3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yet)</a:t>
            </a:r>
            <a:r>
              <a:rPr dirty="0" sz="1100" spc="4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when</a:t>
            </a:r>
            <a:r>
              <a:rPr dirty="0" sz="1100" spc="3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it</a:t>
            </a:r>
            <a:r>
              <a:rPr dirty="0" sz="1100" spc="4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is</a:t>
            </a:r>
            <a:r>
              <a:rPr dirty="0" sz="1100" spc="3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used</a:t>
            </a:r>
            <a:r>
              <a:rPr dirty="0" sz="1100" spc="3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to</a:t>
            </a:r>
            <a:r>
              <a:rPr dirty="0" sz="1100" spc="4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join </a:t>
            </a:r>
            <a:r>
              <a:rPr dirty="0" sz="1100" spc="-26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independent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clauses.</a:t>
            </a:r>
            <a:endParaRPr sz="1100">
              <a:latin typeface="Times New Roman"/>
              <a:cs typeface="Times New Roman"/>
            </a:endParaRPr>
          </a:p>
          <a:p>
            <a:pPr marL="926465" indent="-229235">
              <a:lnSpc>
                <a:spcPts val="1230"/>
              </a:lnSpc>
              <a:buFont typeface="Wingdings"/>
              <a:buChar char=""/>
              <a:tabLst>
                <a:tab pos="927100" algn="l"/>
              </a:tabLst>
            </a:pPr>
            <a:r>
              <a:rPr dirty="0" sz="1100" spc="-5">
                <a:latin typeface="Times New Roman"/>
                <a:cs typeface="Times New Roman"/>
              </a:rPr>
              <a:t>She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looks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young,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but</a:t>
            </a:r>
            <a:r>
              <a:rPr dirty="0" sz="1100" i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already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30's.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Wingdings"/>
              <a:buChar char=""/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ts val="1295"/>
              </a:lnSpc>
            </a:pPr>
            <a:r>
              <a:rPr dirty="0" sz="1100" spc="-5" b="1">
                <a:latin typeface="Times New Roman"/>
                <a:cs typeface="Times New Roman"/>
              </a:rPr>
              <a:t>If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two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independent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clauses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are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short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and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not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likely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to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be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misread,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no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comma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is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needed.</a:t>
            </a:r>
            <a:endParaRPr sz="1100">
              <a:latin typeface="Times New Roman"/>
              <a:cs typeface="Times New Roman"/>
            </a:endParaRPr>
          </a:p>
          <a:p>
            <a:pPr marL="927100" indent="-228600">
              <a:lnSpc>
                <a:spcPts val="1295"/>
              </a:lnSpc>
              <a:buFont typeface="Wingdings"/>
              <a:buChar char=""/>
              <a:tabLst>
                <a:tab pos="9271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plane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took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 were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our </a:t>
            </a:r>
            <a:r>
              <a:rPr dirty="0" sz="1100">
                <a:latin typeface="Times New Roman"/>
                <a:cs typeface="Times New Roman"/>
              </a:rPr>
              <a:t>way.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00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27364" y="342390"/>
            <a:ext cx="6083300" cy="45529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869305" algn="l"/>
              </a:tabLst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l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</a:t>
            </a:r>
            <a:r>
              <a:rPr dirty="0" sz="1100" spc="-15">
                <a:solidFill>
                  <a:srgbClr val="323232"/>
                </a:solidFill>
                <a:latin typeface="Times New Roman"/>
                <a:cs typeface="Times New Roman"/>
              </a:rPr>
              <a:t>m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entary</a:t>
            </a:r>
            <a:r>
              <a:rPr dirty="0" sz="1100" spc="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g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lish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295"/>
              </a:lnSpc>
            </a:pPr>
            <a:r>
              <a:rPr dirty="0" sz="1100" spc="-5" b="1">
                <a:latin typeface="Times New Roman"/>
                <a:cs typeface="Times New Roman"/>
              </a:rPr>
              <a:t>Use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comma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after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an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introductory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clause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or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phrase.</a:t>
            </a:r>
            <a:endParaRPr sz="1100">
              <a:latin typeface="Times New Roman"/>
              <a:cs typeface="Times New Roman"/>
            </a:endParaRPr>
          </a:p>
          <a:p>
            <a:pPr marL="927100" indent="-228600">
              <a:lnSpc>
                <a:spcPts val="1295"/>
              </a:lnSpc>
              <a:buFont typeface="Wingdings"/>
              <a:buChar char=""/>
              <a:tabLst>
                <a:tab pos="927100" algn="l"/>
              </a:tabLst>
            </a:pP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When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Sam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looked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</a:t>
            </a:r>
            <a:r>
              <a:rPr dirty="0" u="sng" sz="110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path</a:t>
            </a:r>
            <a:r>
              <a:rPr dirty="0" u="sng" sz="110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near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dirty="0" u="sng" sz="110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school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building,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found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lost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book.</a:t>
            </a:r>
            <a:endParaRPr sz="1100">
              <a:latin typeface="Times New Roman"/>
              <a:cs typeface="Times New Roman"/>
            </a:endParaRPr>
          </a:p>
          <a:p>
            <a:pPr marL="12700" marR="28575">
              <a:lnSpc>
                <a:spcPts val="1270"/>
              </a:lnSpc>
              <a:spcBef>
                <a:spcPts val="660"/>
              </a:spcBef>
            </a:pPr>
            <a:r>
              <a:rPr dirty="0" sz="1100" spc="-5" b="1">
                <a:latin typeface="Times New Roman"/>
                <a:cs typeface="Times New Roman"/>
              </a:rPr>
              <a:t>Use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comma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after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an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introductory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participial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phrase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that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describes</a:t>
            </a:r>
            <a:r>
              <a:rPr dirty="0" sz="1100" b="1">
                <a:latin typeface="Times New Roman"/>
                <a:cs typeface="Times New Roman"/>
              </a:rPr>
              <a:t> the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noun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or</a:t>
            </a:r>
            <a:r>
              <a:rPr dirty="0" sz="1100" spc="26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pronoun</a:t>
            </a:r>
            <a:r>
              <a:rPr dirty="0" sz="1100" spc="26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that </a:t>
            </a:r>
            <a:r>
              <a:rPr dirty="0" sz="1100" spc="-26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follows.</a:t>
            </a:r>
            <a:endParaRPr sz="1100">
              <a:latin typeface="Times New Roman"/>
              <a:cs typeface="Times New Roman"/>
            </a:endParaRPr>
          </a:p>
          <a:p>
            <a:pPr marL="927100" indent="-228600">
              <a:lnSpc>
                <a:spcPts val="1220"/>
              </a:lnSpc>
              <a:buFont typeface="Wingdings"/>
              <a:buChar char=""/>
              <a:tabLst>
                <a:tab pos="927100" algn="l"/>
              </a:tabLst>
            </a:pP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Struggling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with</a:t>
            </a:r>
            <a:r>
              <a:rPr dirty="0" u="sng" sz="110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large</a:t>
            </a:r>
            <a:r>
              <a:rPr dirty="0" u="sng" sz="110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amounts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dirty="0" u="sng" sz="110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homework,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class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feared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exam.</a:t>
            </a:r>
            <a:endParaRPr sz="1100">
              <a:latin typeface="Times New Roman"/>
              <a:cs typeface="Times New Roman"/>
            </a:endParaRPr>
          </a:p>
          <a:p>
            <a:pPr marL="927100" indent="-228600">
              <a:lnSpc>
                <a:spcPct val="100000"/>
              </a:lnSpc>
              <a:spcBef>
                <a:spcPts val="580"/>
              </a:spcBef>
              <a:buFont typeface="Wingdings"/>
              <a:buChar char=""/>
              <a:tabLst>
                <a:tab pos="927100" algn="l"/>
              </a:tabLst>
            </a:pPr>
            <a:r>
              <a:rPr dirty="0" sz="1100" spc="-5">
                <a:latin typeface="Times New Roman"/>
                <a:cs typeface="Times New Roman"/>
              </a:rPr>
              <a:t>Having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seen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pictures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beach,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children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eagerly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looked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forward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summer.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95"/>
              </a:lnSpc>
              <a:spcBef>
                <a:spcPts val="575"/>
              </a:spcBef>
            </a:pPr>
            <a:r>
              <a:rPr dirty="0" sz="1100" spc="-5" b="1">
                <a:latin typeface="Times New Roman"/>
                <a:cs typeface="Times New Roman"/>
              </a:rPr>
              <a:t>Use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‘a’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in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semi-parenthetical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clause</a:t>
            </a:r>
            <a:endParaRPr sz="1100">
              <a:latin typeface="Times New Roman"/>
              <a:cs typeface="Times New Roman"/>
            </a:endParaRPr>
          </a:p>
          <a:p>
            <a:pPr marL="927100" indent="-228600">
              <a:lnSpc>
                <a:spcPts val="1295"/>
              </a:lnSpc>
              <a:buFont typeface="Wingdings"/>
              <a:buChar char=""/>
              <a:tabLst>
                <a:tab pos="927100" algn="l"/>
              </a:tabLst>
            </a:pP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Bill, the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tall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one,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here.</a:t>
            </a:r>
            <a:endParaRPr sz="1100">
              <a:latin typeface="Times New Roman"/>
              <a:cs typeface="Times New Roman"/>
            </a:endParaRPr>
          </a:p>
          <a:p>
            <a:pPr marL="927100" indent="-228600">
              <a:lnSpc>
                <a:spcPct val="100000"/>
              </a:lnSpc>
              <a:spcBef>
                <a:spcPts val="580"/>
              </a:spcBef>
              <a:buFont typeface="Wingdings"/>
              <a:buChar char=""/>
              <a:tabLst>
                <a:tab pos="927100" algn="l"/>
              </a:tabLst>
            </a:pPr>
            <a:r>
              <a:rPr dirty="0" sz="1100" spc="-5">
                <a:latin typeface="Times New Roman"/>
                <a:cs typeface="Times New Roman"/>
              </a:rPr>
              <a:t>Jinnah,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founding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father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Pakistan,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lawyer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by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profession.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95"/>
              </a:lnSpc>
              <a:spcBef>
                <a:spcPts val="575"/>
              </a:spcBef>
            </a:pPr>
            <a:r>
              <a:rPr dirty="0" sz="1100" spc="-5" b="1">
                <a:latin typeface="Times New Roman"/>
                <a:cs typeface="Times New Roman"/>
              </a:rPr>
              <a:t>Use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comma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between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all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items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in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series</a:t>
            </a:r>
            <a:endParaRPr sz="1100">
              <a:latin typeface="Times New Roman"/>
              <a:cs typeface="Times New Roman"/>
            </a:endParaRPr>
          </a:p>
          <a:p>
            <a:pPr marL="926465" indent="-229235">
              <a:lnSpc>
                <a:spcPts val="1295"/>
              </a:lnSpc>
              <a:buFont typeface="Wingdings"/>
              <a:buChar char=""/>
              <a:tabLst>
                <a:tab pos="927100" algn="l"/>
              </a:tabLst>
            </a:pPr>
            <a:r>
              <a:rPr dirty="0" sz="1100" spc="-5">
                <a:latin typeface="Times New Roman"/>
                <a:cs typeface="Times New Roman"/>
              </a:rPr>
              <a:t>I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brought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books,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papers,</a:t>
            </a:r>
            <a:r>
              <a:rPr dirty="0" u="sng" sz="110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and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computer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classroom.</a:t>
            </a:r>
            <a:endParaRPr sz="1100">
              <a:latin typeface="Times New Roman"/>
              <a:cs typeface="Times New Roman"/>
            </a:endParaRPr>
          </a:p>
          <a:p>
            <a:pPr marL="927100" indent="-228600">
              <a:lnSpc>
                <a:spcPct val="100000"/>
              </a:lnSpc>
              <a:spcBef>
                <a:spcPts val="575"/>
              </a:spcBef>
              <a:buFont typeface="Wingdings"/>
              <a:buChar char=""/>
              <a:tabLst>
                <a:tab pos="927100" algn="l"/>
              </a:tabLst>
            </a:pP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prepare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specimens,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conduct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tests,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record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data.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95"/>
              </a:lnSpc>
              <a:spcBef>
                <a:spcPts val="575"/>
              </a:spcBef>
            </a:pPr>
            <a:r>
              <a:rPr dirty="0" sz="1100" spc="-5" b="1">
                <a:latin typeface="Times New Roman"/>
                <a:cs typeface="Times New Roman"/>
              </a:rPr>
              <a:t>Use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comma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between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multiple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adjectives.</a:t>
            </a:r>
            <a:endParaRPr sz="1100">
              <a:latin typeface="Times New Roman"/>
              <a:cs typeface="Times New Roman"/>
            </a:endParaRPr>
          </a:p>
          <a:p>
            <a:pPr marL="926465" indent="-229235">
              <a:lnSpc>
                <a:spcPts val="1295"/>
              </a:lnSpc>
              <a:buFont typeface="Wingdings"/>
              <a:buChar char=""/>
              <a:tabLst>
                <a:tab pos="927100" algn="l"/>
              </a:tabLst>
            </a:pPr>
            <a:r>
              <a:rPr dirty="0" sz="1100" spc="-5">
                <a:latin typeface="Times New Roman"/>
                <a:cs typeface="Times New Roman"/>
              </a:rPr>
              <a:t>Same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become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strong,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confident,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independent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man.</a:t>
            </a:r>
            <a:endParaRPr sz="1100">
              <a:latin typeface="Times New Roman"/>
              <a:cs typeface="Times New Roman"/>
            </a:endParaRPr>
          </a:p>
          <a:p>
            <a:pPr marL="927100" indent="-228600">
              <a:lnSpc>
                <a:spcPct val="100000"/>
              </a:lnSpc>
              <a:spcBef>
                <a:spcPts val="575"/>
              </a:spcBef>
              <a:buFont typeface="Wingdings"/>
              <a:buChar char=""/>
              <a:tabLst>
                <a:tab pos="9271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laboratory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small,</a:t>
            </a:r>
            <a:r>
              <a:rPr dirty="0" u="sng" sz="110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windowless,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poorly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lighted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room.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95"/>
              </a:lnSpc>
              <a:spcBef>
                <a:spcPts val="585"/>
              </a:spcBef>
            </a:pPr>
            <a:r>
              <a:rPr dirty="0" sz="1100" spc="-5" b="1">
                <a:latin typeface="Times New Roman"/>
                <a:cs typeface="Times New Roman"/>
              </a:rPr>
              <a:t>Do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not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use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comma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between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cumulative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adjectives.</a:t>
            </a:r>
            <a:endParaRPr sz="1100">
              <a:latin typeface="Times New Roman"/>
              <a:cs typeface="Times New Roman"/>
            </a:endParaRPr>
          </a:p>
          <a:p>
            <a:pPr marL="927100" indent="-228600">
              <a:lnSpc>
                <a:spcPts val="1295"/>
              </a:lnSpc>
              <a:buFont typeface="Wingdings"/>
              <a:buChar char=""/>
              <a:tabLst>
                <a:tab pos="9271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Three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large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gray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trucks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tooled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down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street.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dirty="0" sz="1100" spc="-5" b="1">
                <a:latin typeface="Times New Roman"/>
                <a:cs typeface="Times New Roman"/>
              </a:rPr>
              <a:t>Use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 comma in a dialogue</a:t>
            </a:r>
            <a:endParaRPr sz="1100">
              <a:latin typeface="Times New Roman"/>
              <a:cs typeface="Times New Roman"/>
            </a:endParaRPr>
          </a:p>
          <a:p>
            <a:pPr marL="926465" indent="-229235">
              <a:lnSpc>
                <a:spcPct val="100000"/>
              </a:lnSpc>
              <a:spcBef>
                <a:spcPts val="570"/>
              </a:spcBef>
              <a:buFont typeface="Wingdings"/>
              <a:buChar char=""/>
              <a:tabLst>
                <a:tab pos="927100" algn="l"/>
              </a:tabLst>
            </a:pPr>
            <a:r>
              <a:rPr dirty="0" sz="1100" spc="-5">
                <a:latin typeface="Times New Roman"/>
                <a:cs typeface="Times New Roman"/>
              </a:rPr>
              <a:t>She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said,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“Hello.”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sz="1100" spc="-10" b="1">
                <a:latin typeface="Times New Roman"/>
                <a:cs typeface="Times New Roman"/>
              </a:rPr>
              <a:t>Dates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257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27374" y="5505707"/>
            <a:ext cx="6060440" cy="4196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295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Informal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letter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salutation</a:t>
            </a:r>
            <a:endParaRPr sz="1100">
              <a:latin typeface="Times New Roman"/>
              <a:cs typeface="Times New Roman"/>
            </a:endParaRPr>
          </a:p>
          <a:p>
            <a:pPr marL="926465" indent="-229235">
              <a:lnSpc>
                <a:spcPts val="1295"/>
              </a:lnSpc>
              <a:buFont typeface="Wingdings"/>
              <a:buChar char=""/>
              <a:tabLst>
                <a:tab pos="927100" algn="l"/>
              </a:tabLst>
            </a:pPr>
            <a:r>
              <a:rPr dirty="0" sz="1100" spc="-5">
                <a:latin typeface="Times New Roman"/>
                <a:cs typeface="Times New Roman"/>
              </a:rPr>
              <a:t>Dear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Aroma,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95"/>
              </a:lnSpc>
              <a:spcBef>
                <a:spcPts val="580"/>
              </a:spcBef>
            </a:pPr>
            <a:r>
              <a:rPr dirty="0" sz="1100" spc="-5" b="1">
                <a:latin typeface="Times New Roman"/>
                <a:cs typeface="Times New Roman"/>
              </a:rPr>
              <a:t>Letter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closing</a:t>
            </a:r>
            <a:endParaRPr sz="1100">
              <a:latin typeface="Times New Roman"/>
              <a:cs typeface="Times New Roman"/>
            </a:endParaRPr>
          </a:p>
          <a:p>
            <a:pPr marL="926465" indent="-229235">
              <a:lnSpc>
                <a:spcPts val="1295"/>
              </a:lnSpc>
              <a:buFont typeface="Wingdings"/>
              <a:buChar char=""/>
              <a:tabLst>
                <a:tab pos="927100" algn="l"/>
              </a:tabLst>
            </a:pPr>
            <a:r>
              <a:rPr dirty="0" sz="1100" spc="-5">
                <a:latin typeface="Times New Roman"/>
                <a:cs typeface="Times New Roman"/>
              </a:rPr>
              <a:t>Yours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truly,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95"/>
              </a:lnSpc>
              <a:spcBef>
                <a:spcPts val="575"/>
              </a:spcBef>
            </a:pPr>
            <a:r>
              <a:rPr dirty="0" sz="1100" spc="-10" b="1">
                <a:latin typeface="Times New Roman"/>
                <a:cs typeface="Times New Roman"/>
              </a:rPr>
              <a:t>Inverted</a:t>
            </a:r>
            <a:r>
              <a:rPr dirty="0" sz="1100" spc="-3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names</a:t>
            </a:r>
            <a:endParaRPr sz="1100">
              <a:latin typeface="Times New Roman"/>
              <a:cs typeface="Times New Roman"/>
            </a:endParaRPr>
          </a:p>
          <a:p>
            <a:pPr marL="926465" indent="-229235">
              <a:lnSpc>
                <a:spcPts val="1295"/>
              </a:lnSpc>
              <a:buFont typeface="Wingdings"/>
              <a:buChar char=""/>
              <a:tabLst>
                <a:tab pos="927100" algn="l"/>
              </a:tabLst>
            </a:pP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Smith,</a:t>
            </a:r>
            <a:r>
              <a:rPr dirty="0" u="sng" sz="1100" spc="-3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Joe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95"/>
              </a:lnSpc>
              <a:spcBef>
                <a:spcPts val="575"/>
              </a:spcBef>
            </a:pPr>
            <a:r>
              <a:rPr dirty="0" sz="1100" spc="-5" b="1">
                <a:latin typeface="Times New Roman"/>
                <a:cs typeface="Times New Roman"/>
              </a:rPr>
              <a:t>Use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comma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to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set off</a:t>
            </a:r>
            <a:r>
              <a:rPr dirty="0" sz="1100" spc="-10" b="1">
                <a:latin typeface="Times New Roman"/>
                <a:cs typeface="Times New Roman"/>
              </a:rPr>
              <a:t> numbers</a:t>
            </a:r>
            <a:endParaRPr sz="1100">
              <a:latin typeface="Times New Roman"/>
              <a:cs typeface="Times New Roman"/>
            </a:endParaRPr>
          </a:p>
          <a:p>
            <a:pPr marL="926465" indent="-229235">
              <a:lnSpc>
                <a:spcPts val="1295"/>
              </a:lnSpc>
              <a:buFont typeface="Wingdings"/>
              <a:buChar char=""/>
              <a:tabLst>
                <a:tab pos="9271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 total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price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23,456</a:t>
            </a:r>
            <a:r>
              <a:rPr dirty="0" sz="1100" spc="-5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95"/>
              </a:lnSpc>
              <a:spcBef>
                <a:spcPts val="575"/>
              </a:spcBef>
            </a:pPr>
            <a:r>
              <a:rPr dirty="0" sz="1100" spc="-5" b="1">
                <a:latin typeface="Times New Roman"/>
                <a:cs typeface="Times New Roman"/>
              </a:rPr>
              <a:t>Use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commas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to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set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off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contrasting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elements.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265"/>
              </a:lnSpc>
            </a:pPr>
            <a:r>
              <a:rPr dirty="0" sz="1100" spc="-5" b="1">
                <a:latin typeface="Times New Roman"/>
                <a:cs typeface="Times New Roman"/>
              </a:rPr>
              <a:t>Sharp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contrasts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begin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with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words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such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as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 i="1">
                <a:latin typeface="Times New Roman"/>
                <a:cs typeface="Times New Roman"/>
              </a:rPr>
              <a:t>not</a:t>
            </a:r>
            <a:r>
              <a:rPr dirty="0" sz="1100" spc="-5" b="1">
                <a:latin typeface="Times New Roman"/>
                <a:cs typeface="Times New Roman"/>
              </a:rPr>
              <a:t>,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10" b="1" i="1">
                <a:latin typeface="Times New Roman"/>
                <a:cs typeface="Times New Roman"/>
              </a:rPr>
              <a:t>never</a:t>
            </a:r>
            <a:r>
              <a:rPr dirty="0" sz="1100" spc="-10" b="1">
                <a:latin typeface="Times New Roman"/>
                <a:cs typeface="Times New Roman"/>
              </a:rPr>
              <a:t>,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and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 i="1">
                <a:latin typeface="Times New Roman"/>
                <a:cs typeface="Times New Roman"/>
              </a:rPr>
              <a:t>unlike</a:t>
            </a:r>
            <a:r>
              <a:rPr dirty="0" sz="1100" spc="-5" b="1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  <a:p>
            <a:pPr marL="926465" indent="-229235">
              <a:lnSpc>
                <a:spcPts val="1295"/>
              </a:lnSpc>
              <a:buFont typeface="Wingdings"/>
              <a:buChar char=""/>
              <a:tabLst>
                <a:tab pos="927100" algn="l"/>
              </a:tabLst>
            </a:pP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Unlike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Robert,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Viola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loved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speech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contests.</a:t>
            </a:r>
            <a:endParaRPr sz="1100">
              <a:latin typeface="Times New Roman"/>
              <a:cs typeface="Times New Roman"/>
            </a:endParaRPr>
          </a:p>
          <a:p>
            <a:pPr marL="926465" indent="-228600">
              <a:lnSpc>
                <a:spcPct val="100000"/>
              </a:lnSpc>
              <a:spcBef>
                <a:spcPts val="575"/>
              </a:spcBef>
              <a:buFont typeface="Wingdings"/>
              <a:buChar char=""/>
              <a:tabLst>
                <a:tab pos="927100" algn="l"/>
              </a:tabLst>
            </a:pP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alcohol,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never</a:t>
            </a:r>
            <a:r>
              <a:rPr dirty="0" u="sng" sz="110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water</a:t>
            </a:r>
            <a:r>
              <a:rPr dirty="0" sz="1100" spc="-5">
                <a:latin typeface="Times New Roman"/>
                <a:cs typeface="Times New Roman"/>
              </a:rPr>
              <a:t>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sterilize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instruments.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90"/>
              </a:lnSpc>
              <a:spcBef>
                <a:spcPts val="585"/>
              </a:spcBef>
            </a:pPr>
            <a:r>
              <a:rPr dirty="0" sz="1100" spc="-5" b="1">
                <a:latin typeface="Times New Roman"/>
                <a:cs typeface="Times New Roman"/>
              </a:rPr>
              <a:t>Use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commas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to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set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off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transitional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expressions.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265"/>
              </a:lnSpc>
            </a:pPr>
            <a:r>
              <a:rPr dirty="0" sz="1100" spc="-5" b="1" i="1">
                <a:latin typeface="Times New Roman"/>
                <a:cs typeface="Times New Roman"/>
              </a:rPr>
              <a:t>However,</a:t>
            </a:r>
            <a:r>
              <a:rPr dirty="0" sz="1100" spc="10" b="1" i="1">
                <a:latin typeface="Times New Roman"/>
                <a:cs typeface="Times New Roman"/>
              </a:rPr>
              <a:t> </a:t>
            </a:r>
            <a:r>
              <a:rPr dirty="0" sz="1100" spc="-5" b="1" i="1">
                <a:latin typeface="Times New Roman"/>
                <a:cs typeface="Times New Roman"/>
              </a:rPr>
              <a:t>therefore,</a:t>
            </a:r>
            <a:r>
              <a:rPr dirty="0" sz="1100" spc="10" b="1" i="1">
                <a:latin typeface="Times New Roman"/>
                <a:cs typeface="Times New Roman"/>
              </a:rPr>
              <a:t> </a:t>
            </a:r>
            <a:r>
              <a:rPr dirty="0" sz="1100" spc="-5" b="1" i="1">
                <a:latin typeface="Times New Roman"/>
                <a:cs typeface="Times New Roman"/>
              </a:rPr>
              <a:t>moreover,</a:t>
            </a:r>
            <a:r>
              <a:rPr dirty="0" sz="1100" spc="15" b="1" i="1">
                <a:latin typeface="Times New Roman"/>
                <a:cs typeface="Times New Roman"/>
              </a:rPr>
              <a:t> </a:t>
            </a:r>
            <a:r>
              <a:rPr dirty="0" sz="1100" spc="-5" b="1" i="1">
                <a:latin typeface="Times New Roman"/>
                <a:cs typeface="Times New Roman"/>
              </a:rPr>
              <a:t>for</a:t>
            </a:r>
            <a:r>
              <a:rPr dirty="0" sz="1100" spc="10" b="1" i="1">
                <a:latin typeface="Times New Roman"/>
                <a:cs typeface="Times New Roman"/>
              </a:rPr>
              <a:t> </a:t>
            </a:r>
            <a:r>
              <a:rPr dirty="0" sz="1100" spc="-5" b="1" i="1">
                <a:latin typeface="Times New Roman"/>
                <a:cs typeface="Times New Roman"/>
              </a:rPr>
              <a:t>example,</a:t>
            </a:r>
            <a:r>
              <a:rPr dirty="0" sz="1100" spc="15" b="1" i="1">
                <a:latin typeface="Times New Roman"/>
                <a:cs typeface="Times New Roman"/>
              </a:rPr>
              <a:t> </a:t>
            </a:r>
            <a:r>
              <a:rPr dirty="0" sz="1100" spc="-5" b="1" i="1">
                <a:latin typeface="Times New Roman"/>
                <a:cs typeface="Times New Roman"/>
              </a:rPr>
              <a:t>as</a:t>
            </a:r>
            <a:r>
              <a:rPr dirty="0" sz="1100" spc="10" b="1" i="1">
                <a:latin typeface="Times New Roman"/>
                <a:cs typeface="Times New Roman"/>
              </a:rPr>
              <a:t> </a:t>
            </a:r>
            <a:r>
              <a:rPr dirty="0" sz="1100" spc="-5" b="1" i="1">
                <a:latin typeface="Times New Roman"/>
                <a:cs typeface="Times New Roman"/>
              </a:rPr>
              <a:t>a</a:t>
            </a:r>
            <a:r>
              <a:rPr dirty="0" sz="1100" spc="15" b="1" i="1">
                <a:latin typeface="Times New Roman"/>
                <a:cs typeface="Times New Roman"/>
              </a:rPr>
              <a:t> </a:t>
            </a:r>
            <a:r>
              <a:rPr dirty="0" sz="1100" spc="-5" b="1" i="1">
                <a:latin typeface="Times New Roman"/>
                <a:cs typeface="Times New Roman"/>
              </a:rPr>
              <a:t>matter</a:t>
            </a:r>
            <a:r>
              <a:rPr dirty="0" sz="1100" spc="10" b="1" i="1">
                <a:latin typeface="Times New Roman"/>
                <a:cs typeface="Times New Roman"/>
              </a:rPr>
              <a:t> </a:t>
            </a:r>
            <a:r>
              <a:rPr dirty="0" sz="1100" spc="-5" b="1" i="1">
                <a:latin typeface="Times New Roman"/>
                <a:cs typeface="Times New Roman"/>
              </a:rPr>
              <a:t>of</a:t>
            </a:r>
            <a:r>
              <a:rPr dirty="0" sz="1100" spc="15" b="1" i="1">
                <a:latin typeface="Times New Roman"/>
                <a:cs typeface="Times New Roman"/>
              </a:rPr>
              <a:t> </a:t>
            </a:r>
            <a:r>
              <a:rPr dirty="0" sz="1100" spc="-5" b="1" i="1">
                <a:latin typeface="Times New Roman"/>
                <a:cs typeface="Times New Roman"/>
              </a:rPr>
              <a:t>fact,</a:t>
            </a:r>
            <a:r>
              <a:rPr dirty="0" sz="1100" spc="10" b="1" i="1">
                <a:latin typeface="Times New Roman"/>
                <a:cs typeface="Times New Roman"/>
              </a:rPr>
              <a:t> </a:t>
            </a:r>
            <a:r>
              <a:rPr dirty="0" sz="1100" spc="-5" b="1" i="1">
                <a:latin typeface="Times New Roman"/>
                <a:cs typeface="Times New Roman"/>
              </a:rPr>
              <a:t>in</a:t>
            </a:r>
            <a:r>
              <a:rPr dirty="0" sz="1100" spc="15" b="1" i="1">
                <a:latin typeface="Times New Roman"/>
                <a:cs typeface="Times New Roman"/>
              </a:rPr>
              <a:t> </a:t>
            </a:r>
            <a:r>
              <a:rPr dirty="0" sz="1100" spc="-5" b="1" i="1">
                <a:latin typeface="Times New Roman"/>
                <a:cs typeface="Times New Roman"/>
              </a:rPr>
              <a:t>other</a:t>
            </a:r>
            <a:r>
              <a:rPr dirty="0" sz="1100" spc="10" b="1" i="1">
                <a:latin typeface="Times New Roman"/>
                <a:cs typeface="Times New Roman"/>
              </a:rPr>
              <a:t> </a:t>
            </a:r>
            <a:r>
              <a:rPr dirty="0" sz="1100" spc="-5" b="1" i="1">
                <a:latin typeface="Times New Roman"/>
                <a:cs typeface="Times New Roman"/>
              </a:rPr>
              <a:t>words</a:t>
            </a:r>
            <a:endParaRPr sz="1100">
              <a:latin typeface="Times New Roman"/>
              <a:cs typeface="Times New Roman"/>
            </a:endParaRPr>
          </a:p>
          <a:p>
            <a:pPr marL="926465" indent="-229235">
              <a:lnSpc>
                <a:spcPts val="1295"/>
              </a:lnSpc>
              <a:buFont typeface="Wingdings"/>
              <a:buChar char=""/>
              <a:tabLst>
                <a:tab pos="927100" algn="l"/>
              </a:tabLst>
            </a:pP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As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matter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of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fact</a:t>
            </a:r>
            <a:r>
              <a:rPr dirty="0" sz="1100" spc="-5">
                <a:latin typeface="Times New Roman"/>
                <a:cs typeface="Times New Roman"/>
              </a:rPr>
              <a:t>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musicians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hearing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problems</a:t>
            </a:r>
            <a:endParaRPr sz="1100">
              <a:latin typeface="Times New Roman"/>
              <a:cs typeface="Times New Roman"/>
            </a:endParaRPr>
          </a:p>
          <a:p>
            <a:pPr marL="926465" indent="-228600">
              <a:lnSpc>
                <a:spcPct val="100000"/>
              </a:lnSpc>
              <a:spcBef>
                <a:spcPts val="575"/>
              </a:spcBef>
              <a:buFont typeface="Wingdings"/>
              <a:buChar char=""/>
              <a:tabLst>
                <a:tab pos="927100" algn="l"/>
              </a:tabLst>
            </a:pP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Therefore</a:t>
            </a:r>
            <a:r>
              <a:rPr dirty="0" sz="1100" spc="-5">
                <a:latin typeface="Times New Roman"/>
                <a:cs typeface="Times New Roman"/>
              </a:rPr>
              <a:t>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frequently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need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hearing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assistance.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650">
              <a:latin typeface="Times New Roman"/>
              <a:cs typeface="Times New Roman"/>
            </a:endParaRPr>
          </a:p>
          <a:p>
            <a:pPr marL="12700" marR="5715">
              <a:lnSpc>
                <a:spcPts val="1270"/>
              </a:lnSpc>
              <a:spcBef>
                <a:spcPts val="5"/>
              </a:spcBef>
            </a:pPr>
            <a:r>
              <a:rPr dirty="0" sz="1100" spc="-5" b="1">
                <a:latin typeface="Times New Roman"/>
                <a:cs typeface="Times New Roman"/>
              </a:rPr>
              <a:t>If</a:t>
            </a:r>
            <a:r>
              <a:rPr dirty="0" sz="1100" spc="4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</a:t>
            </a:r>
            <a:r>
              <a:rPr dirty="0" sz="1100" spc="4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transitional</a:t>
            </a:r>
            <a:r>
              <a:rPr dirty="0" sz="1100" spc="4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expression</a:t>
            </a:r>
            <a:r>
              <a:rPr dirty="0" sz="1100" spc="4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is</a:t>
            </a:r>
            <a:r>
              <a:rPr dirty="0" sz="1100" spc="4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between</a:t>
            </a:r>
            <a:r>
              <a:rPr dirty="0" sz="1100" spc="5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independent</a:t>
            </a:r>
            <a:r>
              <a:rPr dirty="0" sz="1100" spc="3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clauses,</a:t>
            </a:r>
            <a:r>
              <a:rPr dirty="0" sz="1100" spc="4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precede</a:t>
            </a:r>
            <a:r>
              <a:rPr dirty="0" sz="1100" spc="4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it</a:t>
            </a:r>
            <a:r>
              <a:rPr dirty="0" sz="1100" spc="4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with</a:t>
            </a:r>
            <a:r>
              <a:rPr dirty="0" sz="1100" spc="4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</a:t>
            </a:r>
            <a:r>
              <a:rPr dirty="0" sz="1100" spc="3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semicolon</a:t>
            </a:r>
            <a:r>
              <a:rPr dirty="0" sz="1100" spc="4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(;)</a:t>
            </a:r>
            <a:r>
              <a:rPr dirty="0" sz="1100" spc="4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and</a:t>
            </a:r>
            <a:r>
              <a:rPr dirty="0" sz="1100" spc="4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follow </a:t>
            </a:r>
            <a:r>
              <a:rPr dirty="0" sz="1100" spc="-26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it with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comma.</a:t>
            </a:r>
            <a:endParaRPr sz="1100">
              <a:latin typeface="Times New Roman"/>
              <a:cs typeface="Times New Roman"/>
            </a:endParaRPr>
          </a:p>
          <a:p>
            <a:pPr marL="698500">
              <a:lnSpc>
                <a:spcPts val="1230"/>
              </a:lnSpc>
            </a:pPr>
            <a:r>
              <a:rPr dirty="0" sz="1100" spc="-5">
                <a:latin typeface="Wingdings"/>
                <a:cs typeface="Wingdings"/>
              </a:rPr>
              <a:t></a:t>
            </a:r>
            <a:endParaRPr sz="1100">
              <a:latin typeface="Wingdings"/>
              <a:cs typeface="Wingdings"/>
            </a:endParaRPr>
          </a:p>
          <a:p>
            <a:pPr marL="1564005">
              <a:lnSpc>
                <a:spcPct val="100000"/>
              </a:lnSpc>
              <a:spcBef>
                <a:spcPts val="985"/>
              </a:spcBef>
              <a:tabLst>
                <a:tab pos="5818505" algn="l"/>
              </a:tabLst>
            </a:pPr>
            <a:r>
              <a:rPr dirty="0" sz="1200">
                <a:latin typeface="Times New Roman"/>
                <a:cs typeface="Times New Roman"/>
              </a:rPr>
              <a:t>© Copyrights Virtual Uni</a:t>
            </a:r>
            <a:r>
              <a:rPr dirty="0" sz="1200" spc="-5">
                <a:latin typeface="Times New Roman"/>
                <a:cs typeface="Times New Roman"/>
              </a:rPr>
              <a:t>v</a:t>
            </a:r>
            <a:r>
              <a:rPr dirty="0" sz="1200">
                <a:latin typeface="Times New Roman"/>
                <a:cs typeface="Times New Roman"/>
              </a:rPr>
              <a:t>ersity of Pakistan	112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13170" y="4863340"/>
            <a:ext cx="1351915" cy="5943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Wingdings"/>
              <a:buChar char="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December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25,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2006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Wingdings"/>
              <a:buChar char=""/>
            </a:pPr>
            <a:endParaRPr sz="16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Font typeface="Wingdings"/>
              <a:buChar char="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Joe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Smith,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Ph.D.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7374" y="5104133"/>
            <a:ext cx="35877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 b="1">
                <a:latin typeface="Times New Roman"/>
                <a:cs typeface="Times New Roman"/>
              </a:rPr>
              <a:t>Titles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360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91019" y="9493248"/>
            <a:ext cx="2540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113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972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84562" y="342390"/>
            <a:ext cx="6083300" cy="88906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869305" algn="l"/>
              </a:tabLst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l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</a:t>
            </a:r>
            <a:r>
              <a:rPr dirty="0" sz="1100" spc="-15">
                <a:solidFill>
                  <a:srgbClr val="323232"/>
                </a:solidFill>
                <a:latin typeface="Times New Roman"/>
                <a:cs typeface="Times New Roman"/>
              </a:rPr>
              <a:t>m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entary</a:t>
            </a:r>
            <a:r>
              <a:rPr dirty="0" sz="1100" spc="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g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lish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marL="927100" marR="27940" indent="-228600">
              <a:lnSpc>
                <a:spcPct val="143600"/>
              </a:lnSpc>
              <a:buFont typeface="Wingdings"/>
              <a:buChar char=""/>
              <a:tabLst>
                <a:tab pos="927735" algn="l"/>
              </a:tabLst>
            </a:pPr>
            <a:r>
              <a:rPr dirty="0" sz="1100" spc="-5">
                <a:latin typeface="Times New Roman"/>
                <a:cs typeface="Times New Roman"/>
              </a:rPr>
              <a:t>Natural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foods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always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salt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free;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examples,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celery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contains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salt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most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people would imagine.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dirty="0" sz="1100" spc="-5" b="1">
                <a:latin typeface="Times New Roman"/>
                <a:cs typeface="Times New Roman"/>
              </a:rPr>
              <a:t>Use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commas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to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set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off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direct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address,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question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tags,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and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interjections.</a:t>
            </a:r>
            <a:endParaRPr sz="1100">
              <a:latin typeface="Times New Roman"/>
              <a:cs typeface="Times New Roman"/>
            </a:endParaRPr>
          </a:p>
          <a:p>
            <a:pPr marL="927100" indent="-228600">
              <a:lnSpc>
                <a:spcPct val="100000"/>
              </a:lnSpc>
              <a:spcBef>
                <a:spcPts val="570"/>
              </a:spcBef>
              <a:buFont typeface="Wingdings"/>
              <a:buChar char=""/>
              <a:tabLst>
                <a:tab pos="927100" algn="l"/>
              </a:tabLst>
            </a:pPr>
            <a:r>
              <a:rPr dirty="0" sz="1100" spc="-5">
                <a:latin typeface="Times New Roman"/>
                <a:cs typeface="Times New Roman"/>
              </a:rPr>
              <a:t>Forgive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u="sng" sz="1100" spc="-1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Professor</a:t>
            </a:r>
            <a:r>
              <a:rPr dirty="0" sz="1100" spc="-10">
                <a:latin typeface="Times New Roman"/>
                <a:cs typeface="Times New Roman"/>
              </a:rPr>
              <a:t>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late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sending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homework.</a:t>
            </a:r>
            <a:endParaRPr sz="1100">
              <a:latin typeface="Times New Roman"/>
              <a:cs typeface="Times New Roman"/>
            </a:endParaRPr>
          </a:p>
          <a:p>
            <a:pPr marL="927100" indent="-229235">
              <a:lnSpc>
                <a:spcPct val="100000"/>
              </a:lnSpc>
              <a:spcBef>
                <a:spcPts val="575"/>
              </a:spcBef>
              <a:buFont typeface="Wingdings"/>
              <a:buChar char=""/>
              <a:tabLst>
                <a:tab pos="927735" algn="l"/>
              </a:tabLst>
            </a:pPr>
            <a:r>
              <a:rPr dirty="0" u="sng" sz="1100" spc="-5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Yes</a:t>
            </a:r>
            <a:r>
              <a:rPr dirty="0" sz="1100" spc="-5">
                <a:latin typeface="Times New Roman"/>
                <a:cs typeface="Times New Roman"/>
              </a:rPr>
              <a:t>, but don’t do it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again.</a:t>
            </a:r>
            <a:endParaRPr sz="1100">
              <a:latin typeface="Times New Roman"/>
              <a:cs typeface="Times New Roman"/>
            </a:endParaRPr>
          </a:p>
          <a:p>
            <a:pPr marL="927100" indent="-229235">
              <a:lnSpc>
                <a:spcPct val="100000"/>
              </a:lnSpc>
              <a:spcBef>
                <a:spcPts val="575"/>
              </a:spcBef>
              <a:buFont typeface="Wingdings"/>
              <a:buChar char=""/>
              <a:tabLst>
                <a:tab pos="927735" algn="l"/>
              </a:tabLst>
            </a:pP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third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time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been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late,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u="sng" sz="1100" spc="-5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isn’t</a:t>
            </a:r>
            <a:r>
              <a:rPr dirty="0" u="sng" sz="110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it</a:t>
            </a:r>
            <a:r>
              <a:rPr dirty="0" sz="1100" spc="-5">
                <a:latin typeface="Times New Roman"/>
                <a:cs typeface="Times New Roman"/>
              </a:rPr>
              <a:t>?</a:t>
            </a:r>
            <a:endParaRPr sz="1100">
              <a:latin typeface="Times New Roman"/>
              <a:cs typeface="Times New Roman"/>
            </a:endParaRPr>
          </a:p>
          <a:p>
            <a:pPr marL="927100" indent="-229235">
              <a:lnSpc>
                <a:spcPct val="100000"/>
              </a:lnSpc>
              <a:spcBef>
                <a:spcPts val="585"/>
              </a:spcBef>
              <a:buFont typeface="Wingdings"/>
              <a:buChar char=""/>
              <a:tabLst>
                <a:tab pos="927735" algn="l"/>
              </a:tabLst>
            </a:pPr>
            <a:r>
              <a:rPr dirty="0" u="sng" sz="1100" spc="-5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Well</a:t>
            </a:r>
            <a:r>
              <a:rPr dirty="0" sz="1100" spc="-5">
                <a:latin typeface="Times New Roman"/>
                <a:cs typeface="Times New Roman"/>
              </a:rPr>
              <a:t>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sometimes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lots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 homework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95"/>
              </a:lnSpc>
              <a:spcBef>
                <a:spcPts val="575"/>
              </a:spcBef>
            </a:pPr>
            <a:r>
              <a:rPr dirty="0" sz="1100" spc="-5" b="1">
                <a:latin typeface="Times New Roman"/>
                <a:cs typeface="Times New Roman"/>
              </a:rPr>
              <a:t>Use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commas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to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avoid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confusion.</a:t>
            </a:r>
            <a:endParaRPr sz="1100">
              <a:latin typeface="Times New Roman"/>
              <a:cs typeface="Times New Roman"/>
            </a:endParaRPr>
          </a:p>
          <a:p>
            <a:pPr marL="927100" indent="-229235">
              <a:lnSpc>
                <a:spcPts val="1295"/>
              </a:lnSpc>
              <a:buFont typeface="Wingdings"/>
              <a:buChar char=""/>
              <a:tabLst>
                <a:tab pos="927735" algn="l"/>
              </a:tabLst>
            </a:pP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err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human;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forgive,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divine.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sz="1100" spc="-5" b="1">
                <a:latin typeface="Times New Roman"/>
                <a:cs typeface="Times New Roman"/>
              </a:rPr>
              <a:t>THE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SEMICOLON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spc="-10" b="1">
                <a:latin typeface="Times New Roman"/>
                <a:cs typeface="Times New Roman"/>
              </a:rPr>
              <a:t>(;)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00">
              <a:latin typeface="Times New Roman"/>
              <a:cs typeface="Times New Roman"/>
            </a:endParaRPr>
          </a:p>
          <a:p>
            <a:pPr algn="just" marL="240665">
              <a:lnSpc>
                <a:spcPts val="1295"/>
              </a:lnSpc>
            </a:pPr>
            <a:r>
              <a:rPr dirty="0" sz="1100" spc="-5" b="1">
                <a:latin typeface="Times New Roman"/>
                <a:cs typeface="Times New Roman"/>
              </a:rPr>
              <a:t>Let’s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begin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with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simple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sentence:</a:t>
            </a:r>
            <a:endParaRPr sz="1100">
              <a:latin typeface="Times New Roman"/>
              <a:cs typeface="Times New Roman"/>
            </a:endParaRPr>
          </a:p>
          <a:p>
            <a:pPr algn="just" marL="926465" indent="-229235">
              <a:lnSpc>
                <a:spcPts val="1295"/>
              </a:lnSpc>
              <a:buFont typeface="Wingdings"/>
              <a:buChar char=""/>
              <a:tabLst>
                <a:tab pos="927100" algn="l"/>
              </a:tabLst>
            </a:pPr>
            <a:r>
              <a:rPr dirty="0" sz="1100" spc="-5">
                <a:latin typeface="Times New Roman"/>
                <a:cs typeface="Times New Roman"/>
              </a:rPr>
              <a:t>Grandma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stays</a:t>
            </a:r>
            <a:r>
              <a:rPr dirty="0" sz="1100" spc="-5">
                <a:latin typeface="Times New Roman"/>
                <a:cs typeface="Times New Roman"/>
              </a:rPr>
              <a:t> up too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late.</a:t>
            </a:r>
            <a:endParaRPr sz="1100">
              <a:latin typeface="Times New Roman"/>
              <a:cs typeface="Times New Roman"/>
            </a:endParaRPr>
          </a:p>
          <a:p>
            <a:pPr algn="just" marL="240665">
              <a:lnSpc>
                <a:spcPts val="1295"/>
              </a:lnSpc>
              <a:spcBef>
                <a:spcPts val="575"/>
              </a:spcBef>
            </a:pPr>
            <a:r>
              <a:rPr dirty="0" sz="1100" spc="-5" b="1">
                <a:latin typeface="Times New Roman"/>
                <a:cs typeface="Times New Roman"/>
              </a:rPr>
              <a:t>Now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let’s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expand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on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that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bit:</a:t>
            </a:r>
            <a:endParaRPr sz="1100">
              <a:latin typeface="Times New Roman"/>
              <a:cs typeface="Times New Roman"/>
            </a:endParaRPr>
          </a:p>
          <a:p>
            <a:pPr algn="just" marL="1383665" indent="-686435">
              <a:lnSpc>
                <a:spcPts val="1295"/>
              </a:lnSpc>
              <a:buFont typeface="Wingdings"/>
              <a:buChar char=""/>
              <a:tabLst>
                <a:tab pos="1383665" algn="l"/>
                <a:tab pos="1384300" algn="l"/>
              </a:tabLst>
            </a:pPr>
            <a:r>
              <a:rPr dirty="0" sz="1100" spc="-5">
                <a:latin typeface="Times New Roman"/>
                <a:cs typeface="Times New Roman"/>
              </a:rPr>
              <a:t>Grandma</a:t>
            </a:r>
            <a:r>
              <a:rPr dirty="0" sz="1100">
                <a:latin typeface="Times New Roman"/>
                <a:cs typeface="Times New Roman"/>
              </a:rPr>
              <a:t> stays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up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late.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She’s </a:t>
            </a:r>
            <a:r>
              <a:rPr dirty="0" sz="1100" spc="-5">
                <a:latin typeface="Times New Roman"/>
                <a:cs typeface="Times New Roman"/>
              </a:rPr>
              <a:t>afraid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she’s </a:t>
            </a:r>
            <a:r>
              <a:rPr dirty="0" sz="1100" spc="-5">
                <a:latin typeface="Times New Roman"/>
                <a:cs typeface="Times New Roman"/>
              </a:rPr>
              <a:t>going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miss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something.</a:t>
            </a:r>
            <a:endParaRPr sz="1100">
              <a:latin typeface="Times New Roman"/>
              <a:cs typeface="Times New Roman"/>
            </a:endParaRPr>
          </a:p>
          <a:p>
            <a:pPr algn="just" marL="240665">
              <a:lnSpc>
                <a:spcPts val="1290"/>
              </a:lnSpc>
              <a:spcBef>
                <a:spcPts val="585"/>
              </a:spcBef>
            </a:pPr>
            <a:r>
              <a:rPr dirty="0" sz="1100" spc="-5" b="1">
                <a:latin typeface="Times New Roman"/>
                <a:cs typeface="Times New Roman"/>
              </a:rPr>
              <a:t>What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if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we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try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to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combine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two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ideas?</a:t>
            </a:r>
            <a:endParaRPr sz="1100">
              <a:latin typeface="Times New Roman"/>
              <a:cs typeface="Times New Roman"/>
            </a:endParaRPr>
          </a:p>
          <a:p>
            <a:pPr algn="just" marL="926465" indent="-229235">
              <a:lnSpc>
                <a:spcPts val="1290"/>
              </a:lnSpc>
              <a:buFont typeface="Wingdings"/>
              <a:buChar char=""/>
              <a:tabLst>
                <a:tab pos="927100" algn="l"/>
              </a:tabLst>
            </a:pPr>
            <a:r>
              <a:rPr dirty="0" sz="1100" spc="-5">
                <a:latin typeface="Times New Roman"/>
                <a:cs typeface="Times New Roman"/>
              </a:rPr>
              <a:t>Grandma</a:t>
            </a:r>
            <a:r>
              <a:rPr dirty="0" sz="1100">
                <a:latin typeface="Times New Roman"/>
                <a:cs typeface="Times New Roman"/>
              </a:rPr>
              <a:t> stays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up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late,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she’s </a:t>
            </a:r>
            <a:r>
              <a:rPr dirty="0" sz="1100" spc="-5">
                <a:latin typeface="Times New Roman"/>
                <a:cs typeface="Times New Roman"/>
              </a:rPr>
              <a:t>afraid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she’s </a:t>
            </a:r>
            <a:r>
              <a:rPr dirty="0" sz="1100" spc="-5">
                <a:latin typeface="Times New Roman"/>
                <a:cs typeface="Times New Roman"/>
              </a:rPr>
              <a:t>going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miss</a:t>
            </a:r>
            <a:r>
              <a:rPr dirty="0" sz="1100">
                <a:latin typeface="Times New Roman"/>
                <a:cs typeface="Times New Roman"/>
              </a:rPr>
              <a:t> something.</a:t>
            </a:r>
            <a:endParaRPr sz="1100">
              <a:latin typeface="Times New Roman"/>
              <a:cs typeface="Times New Roman"/>
            </a:endParaRPr>
          </a:p>
          <a:p>
            <a:pPr algn="just" marL="240665">
              <a:lnSpc>
                <a:spcPts val="1290"/>
              </a:lnSpc>
              <a:spcBef>
                <a:spcPts val="580"/>
              </a:spcBef>
            </a:pPr>
            <a:r>
              <a:rPr dirty="0" sz="1100" spc="-5" b="1">
                <a:latin typeface="Times New Roman"/>
                <a:cs typeface="Times New Roman"/>
              </a:rPr>
              <a:t>We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could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insert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coordinating</a:t>
            </a:r>
            <a:r>
              <a:rPr dirty="0" u="heavy" sz="11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conjunction</a:t>
            </a:r>
            <a:r>
              <a:rPr dirty="0" sz="1100" spc="-5" b="1">
                <a:latin typeface="Times New Roman"/>
                <a:cs typeface="Times New Roman"/>
              </a:rPr>
              <a:t>:</a:t>
            </a:r>
            <a:endParaRPr sz="1100">
              <a:latin typeface="Times New Roman"/>
              <a:cs typeface="Times New Roman"/>
            </a:endParaRPr>
          </a:p>
          <a:p>
            <a:pPr algn="just" marL="927100" indent="-229235">
              <a:lnSpc>
                <a:spcPts val="1290"/>
              </a:lnSpc>
              <a:buFont typeface="Wingdings"/>
              <a:buChar char=""/>
              <a:tabLst>
                <a:tab pos="927735" algn="l"/>
              </a:tabLst>
            </a:pPr>
            <a:r>
              <a:rPr dirty="0" sz="1100" spc="-5">
                <a:latin typeface="Times New Roman"/>
                <a:cs typeface="Times New Roman"/>
              </a:rPr>
              <a:t>Grandma</a:t>
            </a:r>
            <a:r>
              <a:rPr dirty="0" sz="1100">
                <a:latin typeface="Times New Roman"/>
                <a:cs typeface="Times New Roman"/>
              </a:rPr>
              <a:t> stays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up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late,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afraid she’ll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miss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something.</a:t>
            </a:r>
            <a:endParaRPr sz="1100">
              <a:latin typeface="Times New Roman"/>
              <a:cs typeface="Times New Roman"/>
            </a:endParaRPr>
          </a:p>
          <a:p>
            <a:pPr algn="just" marL="241300">
              <a:lnSpc>
                <a:spcPts val="1290"/>
              </a:lnSpc>
              <a:spcBef>
                <a:spcPts val="585"/>
              </a:spcBef>
            </a:pPr>
            <a:r>
              <a:rPr dirty="0" sz="1100" spc="-5" b="1">
                <a:latin typeface="Times New Roman"/>
                <a:cs typeface="Times New Roman"/>
              </a:rPr>
              <a:t>We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could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also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try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subordinating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one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of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these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ideas</a:t>
            </a:r>
            <a:endParaRPr sz="1100">
              <a:latin typeface="Times New Roman"/>
              <a:cs typeface="Times New Roman"/>
            </a:endParaRPr>
          </a:p>
          <a:p>
            <a:pPr algn="just" marL="927100" indent="-229235">
              <a:lnSpc>
                <a:spcPts val="1290"/>
              </a:lnSpc>
              <a:buFont typeface="Wingdings"/>
              <a:buChar char=""/>
              <a:tabLst>
                <a:tab pos="927735" algn="l"/>
              </a:tabLst>
            </a:pPr>
            <a:r>
              <a:rPr dirty="0" sz="1100" spc="-5">
                <a:latin typeface="Times New Roman"/>
                <a:cs typeface="Times New Roman"/>
              </a:rPr>
              <a:t>Grandma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stays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up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late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because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she’s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afraid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she’s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miss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something.</a:t>
            </a:r>
            <a:endParaRPr sz="1100">
              <a:latin typeface="Times New Roman"/>
              <a:cs typeface="Times New Roman"/>
            </a:endParaRPr>
          </a:p>
          <a:p>
            <a:pPr algn="just" marL="241300">
              <a:lnSpc>
                <a:spcPts val="1290"/>
              </a:lnSpc>
              <a:spcBef>
                <a:spcPts val="580"/>
              </a:spcBef>
            </a:pPr>
            <a:r>
              <a:rPr dirty="0" sz="1100" spc="-5" b="1">
                <a:latin typeface="Times New Roman"/>
                <a:cs typeface="Times New Roman"/>
              </a:rPr>
              <a:t>Let’s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try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using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semicolon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in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this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sentence</a:t>
            </a:r>
            <a:endParaRPr sz="1100">
              <a:latin typeface="Times New Roman"/>
              <a:cs typeface="Times New Roman"/>
            </a:endParaRPr>
          </a:p>
          <a:p>
            <a:pPr algn="just" marL="927100" indent="-229235">
              <a:lnSpc>
                <a:spcPts val="1290"/>
              </a:lnSpc>
              <a:buFont typeface="Wingdings"/>
              <a:buChar char=""/>
              <a:tabLst>
                <a:tab pos="927735" algn="l"/>
              </a:tabLst>
            </a:pPr>
            <a:r>
              <a:rPr dirty="0" sz="1100" spc="-5">
                <a:latin typeface="Times New Roman"/>
                <a:cs typeface="Times New Roman"/>
              </a:rPr>
              <a:t>Grandma</a:t>
            </a:r>
            <a:r>
              <a:rPr dirty="0" sz="1100">
                <a:latin typeface="Times New Roman"/>
                <a:cs typeface="Times New Roman"/>
              </a:rPr>
              <a:t> stays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up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late;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she’s </a:t>
            </a:r>
            <a:r>
              <a:rPr dirty="0" sz="1100" spc="-5">
                <a:latin typeface="Times New Roman"/>
                <a:cs typeface="Times New Roman"/>
              </a:rPr>
              <a:t>afraid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she’s </a:t>
            </a:r>
            <a:r>
              <a:rPr dirty="0" sz="1100" spc="-5">
                <a:latin typeface="Times New Roman"/>
                <a:cs typeface="Times New Roman"/>
              </a:rPr>
              <a:t>going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miss</a:t>
            </a:r>
            <a:r>
              <a:rPr dirty="0" sz="1100">
                <a:latin typeface="Times New Roman"/>
                <a:cs typeface="Times New Roman"/>
              </a:rPr>
              <a:t> something.</a:t>
            </a:r>
            <a:endParaRPr sz="1100">
              <a:latin typeface="Times New Roman"/>
              <a:cs typeface="Times New Roman"/>
            </a:endParaRPr>
          </a:p>
          <a:p>
            <a:pPr algn="just" marL="241300">
              <a:lnSpc>
                <a:spcPts val="1295"/>
              </a:lnSpc>
              <a:spcBef>
                <a:spcPts val="580"/>
              </a:spcBef>
            </a:pPr>
            <a:r>
              <a:rPr dirty="0" sz="1100" spc="-5" b="1">
                <a:latin typeface="Times New Roman"/>
                <a:cs typeface="Times New Roman"/>
              </a:rPr>
              <a:t>Stronger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than a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comma</a:t>
            </a:r>
            <a:endParaRPr sz="1100">
              <a:latin typeface="Times New Roman"/>
              <a:cs typeface="Times New Roman"/>
            </a:endParaRPr>
          </a:p>
          <a:p>
            <a:pPr algn="just" marL="927100" indent="-229235">
              <a:lnSpc>
                <a:spcPts val="1295"/>
              </a:lnSpc>
              <a:buFont typeface="Wingdings"/>
              <a:buChar char=""/>
              <a:tabLst>
                <a:tab pos="927735" algn="l"/>
              </a:tabLst>
            </a:pPr>
            <a:r>
              <a:rPr dirty="0" sz="1100" spc="-5">
                <a:latin typeface="Times New Roman"/>
                <a:cs typeface="Times New Roman"/>
              </a:rPr>
              <a:t>Peace</a:t>
            </a:r>
            <a:r>
              <a:rPr dirty="0" sz="1100">
                <a:latin typeface="Times New Roman"/>
                <a:cs typeface="Times New Roman"/>
              </a:rPr>
              <a:t> is</a:t>
            </a:r>
            <a:r>
              <a:rPr dirty="0" sz="1100" spc="-5">
                <a:latin typeface="Times New Roman"/>
                <a:cs typeface="Times New Roman"/>
              </a:rPr>
              <a:t> difficult;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hell.</a:t>
            </a:r>
            <a:endParaRPr sz="1100">
              <a:latin typeface="Times New Roman"/>
              <a:cs typeface="Times New Roman"/>
            </a:endParaRPr>
          </a:p>
          <a:p>
            <a:pPr algn="just" marL="241300">
              <a:lnSpc>
                <a:spcPts val="1295"/>
              </a:lnSpc>
              <a:spcBef>
                <a:spcPts val="580"/>
              </a:spcBef>
            </a:pPr>
            <a:r>
              <a:rPr dirty="0" sz="1100" spc="-5" b="1">
                <a:latin typeface="Times New Roman"/>
                <a:cs typeface="Times New Roman"/>
              </a:rPr>
              <a:t>To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set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off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conjunctive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adverb</a:t>
            </a:r>
            <a:endParaRPr sz="1100">
              <a:latin typeface="Times New Roman"/>
              <a:cs typeface="Times New Roman"/>
            </a:endParaRPr>
          </a:p>
          <a:p>
            <a:pPr algn="just" marL="927100" indent="-229235">
              <a:lnSpc>
                <a:spcPts val="1295"/>
              </a:lnSpc>
              <a:buFont typeface="Wingdings"/>
              <a:buChar char=""/>
              <a:tabLst>
                <a:tab pos="927735" algn="l"/>
              </a:tabLst>
            </a:pPr>
            <a:r>
              <a:rPr dirty="0" sz="1100" spc="-5">
                <a:latin typeface="Times New Roman"/>
                <a:cs typeface="Times New Roman"/>
              </a:rPr>
              <a:t>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tire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d;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therefore,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quit.</a:t>
            </a:r>
            <a:endParaRPr sz="1100">
              <a:latin typeface="Times New Roman"/>
              <a:cs typeface="Times New Roman"/>
            </a:endParaRPr>
          </a:p>
          <a:p>
            <a:pPr algn="just" marL="241300">
              <a:lnSpc>
                <a:spcPct val="100000"/>
              </a:lnSpc>
              <a:spcBef>
                <a:spcPts val="580"/>
              </a:spcBef>
            </a:pPr>
            <a:r>
              <a:rPr dirty="0" sz="1100" spc="-5" b="1">
                <a:latin typeface="Times New Roman"/>
                <a:cs typeface="Times New Roman"/>
              </a:rPr>
              <a:t>Use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semi-colons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to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connect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information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groups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in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sentence</a:t>
            </a:r>
            <a:endParaRPr sz="1100">
              <a:latin typeface="Times New Roman"/>
              <a:cs typeface="Times New Roman"/>
            </a:endParaRPr>
          </a:p>
          <a:p>
            <a:pPr algn="just" marL="927100" marR="26670" indent="-228600">
              <a:lnSpc>
                <a:spcPts val="1270"/>
              </a:lnSpc>
              <a:spcBef>
                <a:spcPts val="645"/>
              </a:spcBef>
              <a:buFont typeface="Wingdings"/>
              <a:buChar char=""/>
              <a:tabLst>
                <a:tab pos="927735" algn="l"/>
              </a:tabLst>
            </a:pPr>
            <a:r>
              <a:rPr dirty="0" sz="1100" spc="-5">
                <a:latin typeface="Times New Roman"/>
                <a:cs typeface="Times New Roman"/>
              </a:rPr>
              <a:t>The committee included Dr Val, Professor of Linguistics, </a:t>
            </a:r>
            <a:r>
              <a:rPr dirty="0" sz="1100">
                <a:latin typeface="Times New Roman"/>
                <a:cs typeface="Times New Roman"/>
              </a:rPr>
              <a:t>from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Nottingham;</a:t>
            </a:r>
            <a:r>
              <a:rPr dirty="0" sz="1100" spc="-5">
                <a:latin typeface="Times New Roman"/>
                <a:cs typeface="Times New Roman"/>
              </a:rPr>
              <a:t> Virginia Villa,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Professor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from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Manchester;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Paul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Anderson,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Director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Rad-Tech,</a:t>
            </a:r>
            <a:r>
              <a:rPr dirty="0" sz="1100">
                <a:latin typeface="Times New Roman"/>
                <a:cs typeface="Times New Roman"/>
              </a:rPr>
              <a:t> from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Reading;</a:t>
            </a:r>
            <a:r>
              <a:rPr dirty="0" sz="1100" spc="-5">
                <a:latin typeface="Times New Roman"/>
                <a:cs typeface="Times New Roman"/>
              </a:rPr>
              <a:t> and Joan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Leach,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Professor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Nursing,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from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Edinburgh.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Wingdings"/>
              <a:buChar char=""/>
            </a:pP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spc="-5" b="1">
                <a:latin typeface="Times New Roman"/>
                <a:cs typeface="Times New Roman"/>
              </a:rPr>
              <a:t>THE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COLON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(:)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 marL="241300">
              <a:lnSpc>
                <a:spcPts val="1295"/>
              </a:lnSpc>
            </a:pPr>
            <a:r>
              <a:rPr dirty="0" sz="1100" spc="-5" b="1">
                <a:latin typeface="Times New Roman"/>
                <a:cs typeface="Times New Roman"/>
              </a:rPr>
              <a:t>Introduce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series</a:t>
            </a:r>
            <a:endParaRPr sz="1100">
              <a:latin typeface="Times New Roman"/>
              <a:cs typeface="Times New Roman"/>
            </a:endParaRPr>
          </a:p>
          <a:p>
            <a:pPr marL="927100" indent="-229235">
              <a:lnSpc>
                <a:spcPts val="1295"/>
              </a:lnSpc>
              <a:buFont typeface="Wingdings"/>
              <a:buChar char=""/>
              <a:tabLst>
                <a:tab pos="927735" algn="l"/>
              </a:tabLst>
            </a:pPr>
            <a:r>
              <a:rPr dirty="0" sz="1100" spc="-5">
                <a:latin typeface="Times New Roman"/>
                <a:cs typeface="Times New Roman"/>
              </a:rPr>
              <a:t>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three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things: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money,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brains,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charm.</a:t>
            </a:r>
            <a:endParaRPr sz="1100">
              <a:latin typeface="Times New Roman"/>
              <a:cs typeface="Times New Roman"/>
            </a:endParaRPr>
          </a:p>
          <a:p>
            <a:pPr marL="241300">
              <a:lnSpc>
                <a:spcPts val="1295"/>
              </a:lnSpc>
              <a:spcBef>
                <a:spcPts val="580"/>
              </a:spcBef>
            </a:pPr>
            <a:r>
              <a:rPr dirty="0" sz="1100" spc="-5" b="1">
                <a:latin typeface="Times New Roman"/>
                <a:cs typeface="Times New Roman"/>
              </a:rPr>
              <a:t>Separate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sub-titles/sub-heads</a:t>
            </a:r>
            <a:endParaRPr sz="1100">
              <a:latin typeface="Times New Roman"/>
              <a:cs typeface="Times New Roman"/>
            </a:endParaRPr>
          </a:p>
          <a:p>
            <a:pPr marL="927100" indent="-229235">
              <a:lnSpc>
                <a:spcPts val="1295"/>
              </a:lnSpc>
              <a:buFont typeface="Wingdings"/>
              <a:buChar char=""/>
              <a:tabLst>
                <a:tab pos="927735" algn="l"/>
              </a:tabLst>
            </a:pPr>
            <a:r>
              <a:rPr dirty="0" sz="1100" spc="-5">
                <a:latin typeface="Times New Roman"/>
                <a:cs typeface="Times New Roman"/>
              </a:rPr>
              <a:t>The book: How To Read It.</a:t>
            </a:r>
            <a:endParaRPr sz="1100">
              <a:latin typeface="Times New Roman"/>
              <a:cs typeface="Times New Roman"/>
            </a:endParaRPr>
          </a:p>
          <a:p>
            <a:pPr marL="927100" indent="-229235">
              <a:lnSpc>
                <a:spcPct val="100000"/>
              </a:lnSpc>
              <a:spcBef>
                <a:spcPts val="575"/>
              </a:spcBef>
              <a:buFont typeface="Wingdings"/>
              <a:buChar char=""/>
              <a:tabLst>
                <a:tab pos="927735" algn="l"/>
              </a:tabLst>
            </a:pPr>
            <a:r>
              <a:rPr dirty="0" sz="1100" spc="-5">
                <a:latin typeface="Times New Roman"/>
                <a:cs typeface="Times New Roman"/>
              </a:rPr>
              <a:t>Punctuation: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colon</a:t>
            </a:r>
            <a:endParaRPr sz="1100">
              <a:latin typeface="Times New Roman"/>
              <a:cs typeface="Times New Roman"/>
            </a:endParaRPr>
          </a:p>
          <a:p>
            <a:pPr marL="241300">
              <a:lnSpc>
                <a:spcPts val="1295"/>
              </a:lnSpc>
              <a:spcBef>
                <a:spcPts val="575"/>
              </a:spcBef>
            </a:pPr>
            <a:r>
              <a:rPr dirty="0" sz="1100" spc="-5" b="1">
                <a:latin typeface="Times New Roman"/>
                <a:cs typeface="Times New Roman"/>
              </a:rPr>
              <a:t>Set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of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clause</a:t>
            </a:r>
            <a:endParaRPr sz="1100">
              <a:latin typeface="Times New Roman"/>
              <a:cs typeface="Times New Roman"/>
            </a:endParaRPr>
          </a:p>
          <a:p>
            <a:pPr marL="927100" indent="-229235">
              <a:lnSpc>
                <a:spcPts val="1295"/>
              </a:lnSpc>
              <a:buFont typeface="Wingdings"/>
              <a:buChar char=""/>
              <a:tabLst>
                <a:tab pos="927735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rule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this: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Keep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simple.</a:t>
            </a:r>
            <a:endParaRPr sz="11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575"/>
              </a:spcBef>
            </a:pPr>
            <a:r>
              <a:rPr dirty="0" sz="1100" spc="-5" b="1">
                <a:latin typeface="Times New Roman"/>
                <a:cs typeface="Times New Roman"/>
              </a:rPr>
              <a:t>Letter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salutation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like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Dear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Sir: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829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7380" y="342390"/>
            <a:ext cx="174498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 Elementary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84111" y="342390"/>
            <a:ext cx="22669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788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33820" y="9493248"/>
            <a:ext cx="2540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114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400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257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27302" y="526034"/>
            <a:ext cx="2857500" cy="88677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1300">
              <a:lnSpc>
                <a:spcPts val="1295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Times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and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ratios</a:t>
            </a:r>
            <a:endParaRPr sz="1100">
              <a:latin typeface="Times New Roman"/>
              <a:cs typeface="Times New Roman"/>
            </a:endParaRPr>
          </a:p>
          <a:p>
            <a:pPr marL="927100" indent="-229235">
              <a:lnSpc>
                <a:spcPts val="1295"/>
              </a:lnSpc>
              <a:buFont typeface="Wingdings"/>
              <a:buChar char=""/>
              <a:tabLst>
                <a:tab pos="927735" algn="l"/>
              </a:tabLst>
            </a:pPr>
            <a:r>
              <a:rPr dirty="0" sz="1100" spc="-5">
                <a:latin typeface="Times New Roman"/>
                <a:cs typeface="Times New Roman"/>
              </a:rPr>
              <a:t>7:45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A.M,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Mix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3:1</a:t>
            </a:r>
            <a:endParaRPr sz="11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580"/>
              </a:spcBef>
            </a:pPr>
            <a:r>
              <a:rPr dirty="0" sz="1100" spc="-5" b="1">
                <a:latin typeface="Times New Roman"/>
                <a:cs typeface="Times New Roman"/>
              </a:rPr>
              <a:t>To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form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possessive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 marL="927100" indent="-229235">
              <a:lnSpc>
                <a:spcPct val="100000"/>
              </a:lnSpc>
              <a:buFont typeface="Wingdings"/>
              <a:buChar char=""/>
              <a:tabLst>
                <a:tab pos="927735" algn="l"/>
              </a:tabLst>
            </a:pPr>
            <a:r>
              <a:rPr dirty="0" sz="1100" spc="-5">
                <a:latin typeface="Times New Roman"/>
                <a:cs typeface="Times New Roman"/>
              </a:rPr>
              <a:t>Bill’s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bike.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dirty="0" sz="1100" spc="-5" b="1">
                <a:latin typeface="Times New Roman"/>
                <a:cs typeface="Times New Roman"/>
              </a:rPr>
              <a:t>Contractions</a:t>
            </a:r>
            <a:endParaRPr sz="1100">
              <a:latin typeface="Times New Roman"/>
              <a:cs typeface="Times New Roman"/>
            </a:endParaRPr>
          </a:p>
          <a:p>
            <a:pPr marL="927100" indent="-229235">
              <a:lnSpc>
                <a:spcPct val="100000"/>
              </a:lnSpc>
              <a:spcBef>
                <a:spcPts val="580"/>
              </a:spcBef>
              <a:buFont typeface="Wingdings"/>
              <a:buChar char=""/>
              <a:tabLst>
                <a:tab pos="927735" algn="l"/>
              </a:tabLst>
            </a:pPr>
            <a:r>
              <a:rPr dirty="0" sz="1100">
                <a:latin typeface="Times New Roman"/>
                <a:cs typeface="Times New Roman"/>
              </a:rPr>
              <a:t>Isn’t</a:t>
            </a:r>
            <a:endParaRPr sz="1100">
              <a:latin typeface="Times New Roman"/>
              <a:cs typeface="Times New Roman"/>
            </a:endParaRPr>
          </a:p>
          <a:p>
            <a:pPr marL="241300">
              <a:lnSpc>
                <a:spcPts val="1295"/>
              </a:lnSpc>
              <a:spcBef>
                <a:spcPts val="575"/>
              </a:spcBef>
            </a:pPr>
            <a:r>
              <a:rPr dirty="0" sz="1100" spc="-5" b="1">
                <a:latin typeface="Times New Roman"/>
                <a:cs typeface="Times New Roman"/>
              </a:rPr>
              <a:t>Plurals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of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symbols</a:t>
            </a:r>
            <a:endParaRPr sz="1100">
              <a:latin typeface="Times New Roman"/>
              <a:cs typeface="Times New Roman"/>
            </a:endParaRPr>
          </a:p>
          <a:p>
            <a:pPr marL="927100" indent="-229235">
              <a:lnSpc>
                <a:spcPts val="1295"/>
              </a:lnSpc>
              <a:buFont typeface="Wingdings"/>
              <a:buChar char=""/>
              <a:tabLst>
                <a:tab pos="927735" algn="l"/>
              </a:tabLst>
            </a:pPr>
            <a:r>
              <a:rPr dirty="0" sz="1100" spc="-5">
                <a:latin typeface="Times New Roman"/>
                <a:cs typeface="Times New Roman"/>
              </a:rPr>
              <a:t>1960’s,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A’s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Wingdings"/>
              <a:buChar char=""/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THE QUESTION MARK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(?)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 algn="r" marR="1296670">
              <a:lnSpc>
                <a:spcPts val="1295"/>
              </a:lnSpc>
            </a:pPr>
            <a:r>
              <a:rPr dirty="0" sz="1100" spc="-5" b="1">
                <a:latin typeface="Times New Roman"/>
                <a:cs typeface="Times New Roman"/>
              </a:rPr>
              <a:t>At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 end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of question</a:t>
            </a:r>
            <a:endParaRPr sz="1100">
              <a:latin typeface="Times New Roman"/>
              <a:cs typeface="Times New Roman"/>
            </a:endParaRPr>
          </a:p>
          <a:p>
            <a:pPr algn="r" marL="228600" marR="1292225" indent="-228600">
              <a:lnSpc>
                <a:spcPts val="1295"/>
              </a:lnSpc>
              <a:buFont typeface="Wingdings"/>
              <a:buChar char=""/>
              <a:tabLst>
                <a:tab pos="228600" algn="l"/>
              </a:tabLst>
            </a:pPr>
            <a:r>
              <a:rPr dirty="0" sz="1100" spc="-5">
                <a:latin typeface="Times New Roman"/>
                <a:cs typeface="Times New Roman"/>
              </a:rPr>
              <a:t>Who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he?</a:t>
            </a:r>
            <a:endParaRPr sz="1100">
              <a:latin typeface="Times New Roman"/>
              <a:cs typeface="Times New Roman"/>
            </a:endParaRPr>
          </a:p>
          <a:p>
            <a:pPr marL="241300">
              <a:lnSpc>
                <a:spcPts val="1295"/>
              </a:lnSpc>
              <a:spcBef>
                <a:spcPts val="575"/>
              </a:spcBef>
            </a:pPr>
            <a:r>
              <a:rPr dirty="0" sz="1100" spc="-5" b="1">
                <a:latin typeface="Times New Roman"/>
                <a:cs typeface="Times New Roman"/>
              </a:rPr>
              <a:t>To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express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doubt</a:t>
            </a:r>
            <a:endParaRPr sz="1100">
              <a:latin typeface="Times New Roman"/>
              <a:cs typeface="Times New Roman"/>
            </a:endParaRPr>
          </a:p>
          <a:p>
            <a:pPr marL="927100" indent="-229235">
              <a:lnSpc>
                <a:spcPts val="1295"/>
              </a:lnSpc>
              <a:buFont typeface="Wingdings"/>
              <a:buChar char=""/>
              <a:tabLst>
                <a:tab pos="927735" algn="l"/>
              </a:tabLst>
            </a:pPr>
            <a:r>
              <a:rPr dirty="0" sz="1100" spc="-5">
                <a:latin typeface="Times New Roman"/>
                <a:cs typeface="Times New Roman"/>
              </a:rPr>
              <a:t>He weighs 250 (?) pounds.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Wingdings"/>
              <a:buChar char=""/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spc="-5" b="1">
                <a:latin typeface="Times New Roman"/>
                <a:cs typeface="Times New Roman"/>
              </a:rPr>
              <a:t>THE EXCLAMATION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MARKS (!)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 marL="241300">
              <a:lnSpc>
                <a:spcPts val="1295"/>
              </a:lnSpc>
            </a:pPr>
            <a:r>
              <a:rPr dirty="0" sz="1100" spc="-5" b="1">
                <a:latin typeface="Times New Roman"/>
                <a:cs typeface="Times New Roman"/>
              </a:rPr>
              <a:t>Show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strong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emotions</a:t>
            </a:r>
            <a:endParaRPr sz="1100">
              <a:latin typeface="Times New Roman"/>
              <a:cs typeface="Times New Roman"/>
            </a:endParaRPr>
          </a:p>
          <a:p>
            <a:pPr marL="927100" indent="-229235">
              <a:lnSpc>
                <a:spcPts val="1295"/>
              </a:lnSpc>
              <a:buFont typeface="Wingdings"/>
              <a:buChar char=""/>
              <a:tabLst>
                <a:tab pos="927735" algn="l"/>
              </a:tabLst>
            </a:pPr>
            <a:r>
              <a:rPr dirty="0" sz="1100" spc="-5">
                <a:latin typeface="Times New Roman"/>
                <a:cs typeface="Times New Roman"/>
              </a:rPr>
              <a:t>Aroma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best!</a:t>
            </a:r>
            <a:endParaRPr sz="1100">
              <a:latin typeface="Times New Roman"/>
              <a:cs typeface="Times New Roman"/>
            </a:endParaRPr>
          </a:p>
          <a:p>
            <a:pPr marL="927100" indent="-229235">
              <a:lnSpc>
                <a:spcPct val="100000"/>
              </a:lnSpc>
              <a:spcBef>
                <a:spcPts val="580"/>
              </a:spcBef>
              <a:buFont typeface="Wingdings"/>
              <a:buChar char=""/>
              <a:tabLst>
                <a:tab pos="927735" algn="l"/>
              </a:tabLst>
            </a:pPr>
            <a:r>
              <a:rPr dirty="0" sz="1100" spc="-5">
                <a:latin typeface="Times New Roman"/>
                <a:cs typeface="Times New Roman"/>
              </a:rPr>
              <a:t>Wow!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Wingdings"/>
              <a:buChar char=""/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THE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QUOTATION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MARK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10" b="1">
                <a:latin typeface="Times New Roman"/>
                <a:cs typeface="Times New Roman"/>
              </a:rPr>
              <a:t>(“)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 marL="241300">
              <a:lnSpc>
                <a:spcPts val="1295"/>
              </a:lnSpc>
            </a:pPr>
            <a:r>
              <a:rPr dirty="0" sz="1100" spc="-5" b="1">
                <a:latin typeface="Times New Roman"/>
                <a:cs typeface="Times New Roman"/>
              </a:rPr>
              <a:t>Direct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quote</a:t>
            </a:r>
            <a:endParaRPr sz="1100">
              <a:latin typeface="Times New Roman"/>
              <a:cs typeface="Times New Roman"/>
            </a:endParaRPr>
          </a:p>
          <a:p>
            <a:pPr marL="927100" indent="-229235">
              <a:lnSpc>
                <a:spcPts val="1295"/>
              </a:lnSpc>
              <a:buFont typeface="Wingdings"/>
              <a:buChar char=""/>
              <a:tabLst>
                <a:tab pos="927735" algn="l"/>
              </a:tabLst>
            </a:pPr>
            <a:r>
              <a:rPr dirty="0" sz="1100" spc="-5">
                <a:latin typeface="Times New Roman"/>
                <a:cs typeface="Times New Roman"/>
              </a:rPr>
              <a:t>He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said,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“Hello.”</a:t>
            </a:r>
            <a:endParaRPr sz="11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585"/>
              </a:spcBef>
            </a:pPr>
            <a:r>
              <a:rPr dirty="0" sz="1100" spc="-10" b="1">
                <a:latin typeface="Times New Roman"/>
                <a:cs typeface="Times New Roman"/>
              </a:rPr>
              <a:t>Titles</a:t>
            </a:r>
            <a:endParaRPr sz="1100">
              <a:latin typeface="Times New Roman"/>
              <a:cs typeface="Times New Roman"/>
            </a:endParaRPr>
          </a:p>
          <a:p>
            <a:pPr marL="927100" indent="-229235">
              <a:lnSpc>
                <a:spcPct val="100000"/>
              </a:lnSpc>
              <a:spcBef>
                <a:spcPts val="570"/>
              </a:spcBef>
              <a:buFont typeface="Wingdings"/>
              <a:buChar char=""/>
              <a:tabLst>
                <a:tab pos="927735" algn="l"/>
              </a:tabLst>
            </a:pPr>
            <a:r>
              <a:rPr dirty="0" sz="1100" spc="-5">
                <a:latin typeface="Times New Roman"/>
                <a:cs typeface="Times New Roman"/>
              </a:rPr>
              <a:t>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read,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“King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Lear.”</a:t>
            </a:r>
            <a:endParaRPr sz="11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585"/>
              </a:spcBef>
            </a:pPr>
            <a:r>
              <a:rPr dirty="0" sz="1100" spc="-5" b="1">
                <a:latin typeface="Times New Roman"/>
                <a:cs typeface="Times New Roman"/>
              </a:rPr>
              <a:t>Special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words or slang</a:t>
            </a:r>
            <a:endParaRPr sz="1100">
              <a:latin typeface="Times New Roman"/>
              <a:cs typeface="Times New Roman"/>
            </a:endParaRPr>
          </a:p>
          <a:p>
            <a:pPr marL="927100" indent="-229235">
              <a:lnSpc>
                <a:spcPct val="100000"/>
              </a:lnSpc>
              <a:spcBef>
                <a:spcPts val="570"/>
              </a:spcBef>
              <a:buFont typeface="Wingdings"/>
              <a:buChar char=""/>
              <a:tabLst>
                <a:tab pos="927735" algn="l"/>
              </a:tabLst>
            </a:pPr>
            <a:r>
              <a:rPr dirty="0" sz="1100" spc="-5">
                <a:latin typeface="Times New Roman"/>
                <a:cs typeface="Times New Roman"/>
              </a:rPr>
              <a:t>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“nuts.”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95"/>
              </a:lnSpc>
              <a:spcBef>
                <a:spcPts val="575"/>
              </a:spcBef>
            </a:pPr>
            <a:r>
              <a:rPr dirty="0" sz="1100" spc="-5" b="1">
                <a:latin typeface="Times New Roman"/>
                <a:cs typeface="Times New Roman"/>
              </a:rPr>
              <a:t>THE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PARENTHESIS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(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)</a:t>
            </a:r>
            <a:endParaRPr sz="1100">
              <a:latin typeface="Times New Roman"/>
              <a:cs typeface="Times New Roman"/>
            </a:endParaRPr>
          </a:p>
          <a:p>
            <a:pPr marL="241300">
              <a:lnSpc>
                <a:spcPts val="1265"/>
              </a:lnSpc>
            </a:pPr>
            <a:r>
              <a:rPr dirty="0" sz="1100" spc="-5" b="1">
                <a:latin typeface="Times New Roman"/>
                <a:cs typeface="Times New Roman"/>
              </a:rPr>
              <a:t>Supplementary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material</a:t>
            </a:r>
            <a:endParaRPr sz="1100">
              <a:latin typeface="Times New Roman"/>
              <a:cs typeface="Times New Roman"/>
            </a:endParaRPr>
          </a:p>
          <a:p>
            <a:pPr marL="927100" indent="-228600">
              <a:lnSpc>
                <a:spcPts val="1295"/>
              </a:lnSpc>
              <a:buFont typeface="Wingdings"/>
              <a:buChar char=""/>
              <a:tabLst>
                <a:tab pos="9271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map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(see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illustration)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good.</a:t>
            </a:r>
            <a:endParaRPr sz="11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580"/>
              </a:spcBef>
            </a:pPr>
            <a:r>
              <a:rPr dirty="0" sz="1100" spc="-5" b="1">
                <a:latin typeface="Times New Roman"/>
                <a:cs typeface="Times New Roman"/>
              </a:rPr>
              <a:t>Stronger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than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commas</a:t>
            </a:r>
            <a:endParaRPr sz="1100">
              <a:latin typeface="Times New Roman"/>
              <a:cs typeface="Times New Roman"/>
            </a:endParaRPr>
          </a:p>
          <a:p>
            <a:pPr marL="927100" indent="-228600">
              <a:lnSpc>
                <a:spcPct val="100000"/>
              </a:lnSpc>
              <a:spcBef>
                <a:spcPts val="570"/>
              </a:spcBef>
              <a:buFont typeface="Wingdings"/>
              <a:buChar char=""/>
              <a:tabLst>
                <a:tab pos="927100" algn="l"/>
              </a:tabLst>
            </a:pPr>
            <a:r>
              <a:rPr dirty="0" sz="1100" spc="-5">
                <a:latin typeface="Times New Roman"/>
                <a:cs typeface="Times New Roman"/>
              </a:rPr>
              <a:t>Joe (the bad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boy) 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dead.</a:t>
            </a:r>
            <a:endParaRPr sz="1100">
              <a:latin typeface="Times New Roman"/>
              <a:cs typeface="Times New Roman"/>
            </a:endParaRPr>
          </a:p>
          <a:p>
            <a:pPr marL="241300">
              <a:lnSpc>
                <a:spcPts val="1295"/>
              </a:lnSpc>
              <a:spcBef>
                <a:spcPts val="585"/>
              </a:spcBef>
            </a:pPr>
            <a:r>
              <a:rPr dirty="0" sz="1100" spc="-5" b="1">
                <a:latin typeface="Times New Roman"/>
                <a:cs typeface="Times New Roman"/>
              </a:rPr>
              <a:t>Enclose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numbers</a:t>
            </a:r>
            <a:endParaRPr sz="1100">
              <a:latin typeface="Times New Roman"/>
              <a:cs typeface="Times New Roman"/>
            </a:endParaRPr>
          </a:p>
          <a:p>
            <a:pPr marL="927100" indent="-228600">
              <a:lnSpc>
                <a:spcPts val="1295"/>
              </a:lnSpc>
              <a:buFont typeface="Wingdings"/>
              <a:buChar char=""/>
              <a:tabLst>
                <a:tab pos="927100" algn="l"/>
              </a:tabLst>
            </a:pPr>
            <a:r>
              <a:rPr dirty="0" sz="1100" spc="-5">
                <a:latin typeface="Times New Roman"/>
                <a:cs typeface="Times New Roman"/>
              </a:rPr>
              <a:t>Her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car</a:t>
            </a:r>
            <a:r>
              <a:rPr dirty="0" sz="1100">
                <a:latin typeface="Times New Roman"/>
                <a:cs typeface="Times New Roman"/>
              </a:rPr>
              <a:t> is</a:t>
            </a:r>
            <a:r>
              <a:rPr dirty="0" sz="1100" spc="-5">
                <a:latin typeface="Times New Roman"/>
                <a:cs typeface="Times New Roman"/>
              </a:rPr>
              <a:t> (1)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Ford,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(2)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slow.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Wingdings"/>
              <a:buChar char=""/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THE</a:t>
            </a:r>
            <a:r>
              <a:rPr dirty="0" sz="1100" spc="-3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DASH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 marL="240665">
              <a:lnSpc>
                <a:spcPts val="1295"/>
              </a:lnSpc>
            </a:pPr>
            <a:r>
              <a:rPr dirty="0" sz="1100" spc="-5" b="1">
                <a:latin typeface="Times New Roman"/>
                <a:cs typeface="Times New Roman"/>
              </a:rPr>
              <a:t>Show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duration</a:t>
            </a:r>
            <a:endParaRPr sz="1100">
              <a:latin typeface="Times New Roman"/>
              <a:cs typeface="Times New Roman"/>
            </a:endParaRPr>
          </a:p>
          <a:p>
            <a:pPr marL="926465" indent="-229235">
              <a:lnSpc>
                <a:spcPts val="1295"/>
              </a:lnSpc>
              <a:buFont typeface="Wingdings"/>
              <a:buChar char=""/>
              <a:tabLst>
                <a:tab pos="927100" algn="l"/>
              </a:tabLst>
            </a:pPr>
            <a:r>
              <a:rPr dirty="0" sz="1100" spc="-5">
                <a:latin typeface="Times New Roman"/>
                <a:cs typeface="Times New Roman"/>
              </a:rPr>
              <a:t>1947-2007,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Lahore-Pakistan</a:t>
            </a:r>
            <a:endParaRPr sz="1100">
              <a:latin typeface="Times New Roman"/>
              <a:cs typeface="Times New Roman"/>
            </a:endParaRPr>
          </a:p>
          <a:p>
            <a:pPr marL="240665">
              <a:lnSpc>
                <a:spcPts val="1295"/>
              </a:lnSpc>
              <a:spcBef>
                <a:spcPts val="575"/>
              </a:spcBef>
            </a:pPr>
            <a:r>
              <a:rPr dirty="0" sz="1100" spc="-5" b="1">
                <a:latin typeface="Times New Roman"/>
                <a:cs typeface="Times New Roman"/>
              </a:rPr>
              <a:t>Parenthetical material</a:t>
            </a:r>
            <a:endParaRPr sz="1100">
              <a:latin typeface="Times New Roman"/>
              <a:cs typeface="Times New Roman"/>
            </a:endParaRPr>
          </a:p>
          <a:p>
            <a:pPr marL="926465" indent="-229235">
              <a:lnSpc>
                <a:spcPts val="1295"/>
              </a:lnSpc>
              <a:buFont typeface="Wingdings"/>
              <a:buChar char=""/>
              <a:tabLst>
                <a:tab pos="9271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girl-the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pretty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one-is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here.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4580" y="342390"/>
            <a:ext cx="174498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 Elementary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41311" y="342390"/>
            <a:ext cx="22669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360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91019" y="9493248"/>
            <a:ext cx="2540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115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972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829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084572" y="526034"/>
            <a:ext cx="4803140" cy="5943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1300">
              <a:lnSpc>
                <a:spcPts val="1295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Two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show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omissions</a:t>
            </a:r>
            <a:endParaRPr sz="1100">
              <a:latin typeface="Times New Roman"/>
              <a:cs typeface="Times New Roman"/>
            </a:endParaRPr>
          </a:p>
          <a:p>
            <a:pPr marL="927100" indent="-228600">
              <a:lnSpc>
                <a:spcPts val="1295"/>
              </a:lnSpc>
              <a:buFont typeface="Wingdings"/>
              <a:buChar char=""/>
              <a:tabLst>
                <a:tab pos="927100" algn="l"/>
              </a:tabLst>
            </a:pPr>
            <a:r>
              <a:rPr dirty="0" sz="1100" spc="-5">
                <a:latin typeface="Times New Roman"/>
                <a:cs typeface="Times New Roman"/>
              </a:rPr>
              <a:t>She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called him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 ---.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dirty="0" sz="1100" spc="-5" b="1">
                <a:latin typeface="Times New Roman"/>
                <a:cs typeface="Times New Roman"/>
              </a:rPr>
              <a:t>Source: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Hacker,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Dianna.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</a:t>
            </a:r>
            <a:r>
              <a:rPr dirty="0" sz="1100" spc="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Writer’s</a:t>
            </a:r>
            <a:r>
              <a:rPr dirty="0" sz="1100" spc="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Reference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Boston: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St.</a:t>
            </a:r>
            <a:r>
              <a:rPr dirty="0" sz="1100" spc="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Martin’s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Press.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1992.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7380" y="342390"/>
            <a:ext cx="174498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 Elementary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84111" y="342390"/>
            <a:ext cx="22669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788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33820" y="9493248"/>
            <a:ext cx="2540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116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400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257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812028" y="526034"/>
            <a:ext cx="87566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LECTURE</a:t>
            </a:r>
            <a:r>
              <a:rPr dirty="0" u="heavy" sz="1100" spc="-4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30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10559" y="847596"/>
            <a:ext cx="89408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MECHANICS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7374" y="1007612"/>
            <a:ext cx="4862195" cy="5143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69265" indent="-229235">
              <a:lnSpc>
                <a:spcPct val="100000"/>
              </a:lnSpc>
              <a:spcBef>
                <a:spcPts val="95"/>
              </a:spcBef>
              <a:buFont typeface="Wingdings"/>
              <a:buChar char=""/>
              <a:tabLst>
                <a:tab pos="469900" algn="l"/>
              </a:tabLst>
            </a:pP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ABBREVIATIONS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Use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standard</a:t>
            </a:r>
            <a:r>
              <a:rPr dirty="0" sz="1100" spc="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abbreviations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for</a:t>
            </a:r>
            <a:r>
              <a:rPr dirty="0" sz="1100" spc="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titles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immediately</a:t>
            </a:r>
            <a:r>
              <a:rPr dirty="0" sz="1100" spc="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before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and</a:t>
            </a:r>
            <a:r>
              <a:rPr dirty="0" sz="1100" spc="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after</a:t>
            </a:r>
            <a:r>
              <a:rPr dirty="0" sz="1100" spc="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proper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names.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01706" y="1650741"/>
            <a:ext cx="1317625" cy="1316355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182880">
              <a:lnSpc>
                <a:spcPts val="1270"/>
              </a:lnSpc>
              <a:spcBef>
                <a:spcPts val="180"/>
              </a:spcBef>
            </a:pPr>
            <a:r>
              <a:rPr dirty="0" sz="1100" spc="-10" b="1">
                <a:latin typeface="Times New Roman"/>
                <a:cs typeface="Times New Roman"/>
              </a:rPr>
              <a:t>TITLES </a:t>
            </a:r>
            <a:r>
              <a:rPr dirty="0" sz="1100" spc="-5" b="1">
                <a:latin typeface="Times New Roman"/>
                <a:cs typeface="Times New Roman"/>
              </a:rPr>
              <a:t>BEFORE </a:t>
            </a:r>
            <a:r>
              <a:rPr dirty="0" sz="1100" spc="-26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PROPER</a:t>
            </a:r>
            <a:r>
              <a:rPr dirty="0" sz="1100" spc="-5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NAMES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190"/>
              </a:lnSpc>
            </a:pPr>
            <a:r>
              <a:rPr dirty="0" sz="1100" spc="-5">
                <a:latin typeface="Times New Roman"/>
                <a:cs typeface="Times New Roman"/>
              </a:rPr>
              <a:t>Mr.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Rafael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Zabala</a:t>
            </a:r>
            <a:endParaRPr sz="1100">
              <a:latin typeface="Times New Roman"/>
              <a:cs typeface="Times New Roman"/>
            </a:endParaRPr>
          </a:p>
          <a:p>
            <a:pPr marL="12700" marR="190500">
              <a:lnSpc>
                <a:spcPts val="1270"/>
              </a:lnSpc>
              <a:spcBef>
                <a:spcPts val="55"/>
              </a:spcBef>
            </a:pPr>
            <a:r>
              <a:rPr dirty="0" sz="1100" spc="-5">
                <a:latin typeface="Times New Roman"/>
                <a:cs typeface="Times New Roman"/>
              </a:rPr>
              <a:t>Ms.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Nancy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Linehan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Mrs.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Edward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Horn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00"/>
              </a:lnSpc>
            </a:pPr>
            <a:r>
              <a:rPr dirty="0" sz="1100" spc="-5">
                <a:latin typeface="Times New Roman"/>
                <a:cs typeface="Times New Roman"/>
              </a:rPr>
              <a:t>Dr.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Margaret Simmons</a:t>
            </a:r>
            <a:endParaRPr sz="1100">
              <a:latin typeface="Times New Roman"/>
              <a:cs typeface="Times New Roman"/>
            </a:endParaRPr>
          </a:p>
          <a:p>
            <a:pPr marL="12700" marR="132080">
              <a:lnSpc>
                <a:spcPts val="1260"/>
              </a:lnSpc>
              <a:spcBef>
                <a:spcPts val="65"/>
              </a:spcBef>
            </a:pPr>
            <a:r>
              <a:rPr dirty="0" sz="1100" spc="-5">
                <a:latin typeface="Times New Roman"/>
                <a:cs typeface="Times New Roman"/>
              </a:rPr>
              <a:t>The Rev. John Stone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Prof.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James Russo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713481" y="1650741"/>
            <a:ext cx="1435100" cy="1316355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300355">
              <a:lnSpc>
                <a:spcPts val="1270"/>
              </a:lnSpc>
              <a:spcBef>
                <a:spcPts val="180"/>
              </a:spcBef>
            </a:pPr>
            <a:r>
              <a:rPr dirty="0" sz="1100" spc="-10" b="1">
                <a:latin typeface="Times New Roman"/>
                <a:cs typeface="Times New Roman"/>
              </a:rPr>
              <a:t>TITLES </a:t>
            </a:r>
            <a:r>
              <a:rPr dirty="0" sz="1100" spc="-5" b="1">
                <a:latin typeface="Times New Roman"/>
                <a:cs typeface="Times New Roman"/>
              </a:rPr>
              <a:t>AFTER 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PROPER</a:t>
            </a:r>
            <a:r>
              <a:rPr dirty="0" sz="1100" spc="-6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NAMES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190"/>
              </a:lnSpc>
            </a:pPr>
            <a:r>
              <a:rPr dirty="0" sz="1100" spc="-5">
                <a:latin typeface="Times New Roman"/>
                <a:cs typeface="Times New Roman"/>
              </a:rPr>
              <a:t>William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Albert,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Sr.</a:t>
            </a:r>
            <a:endParaRPr sz="1100">
              <a:latin typeface="Times New Roman"/>
              <a:cs typeface="Times New Roman"/>
            </a:endParaRPr>
          </a:p>
          <a:p>
            <a:pPr marL="12700" marR="396875">
              <a:lnSpc>
                <a:spcPts val="1270"/>
              </a:lnSpc>
              <a:spcBef>
                <a:spcPts val="55"/>
              </a:spcBef>
            </a:pPr>
            <a:r>
              <a:rPr dirty="0" sz="1100" spc="-5">
                <a:latin typeface="Times New Roman"/>
                <a:cs typeface="Times New Roman"/>
              </a:rPr>
              <a:t>Thomas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Hines,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Jr.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Anita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Lor,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Ph.D.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00"/>
              </a:lnSpc>
            </a:pPr>
            <a:r>
              <a:rPr dirty="0" sz="1100" spc="-5">
                <a:latin typeface="Times New Roman"/>
                <a:cs typeface="Times New Roman"/>
              </a:rPr>
              <a:t>Robert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Simkowski,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M.D.</a:t>
            </a:r>
            <a:endParaRPr sz="1100">
              <a:latin typeface="Times New Roman"/>
              <a:cs typeface="Times New Roman"/>
            </a:endParaRPr>
          </a:p>
          <a:p>
            <a:pPr marL="12700" marR="182880">
              <a:lnSpc>
                <a:spcPts val="1260"/>
              </a:lnSpc>
              <a:spcBef>
                <a:spcPts val="65"/>
              </a:spcBef>
            </a:pPr>
            <a:r>
              <a:rPr dirty="0" sz="1100" spc="-5">
                <a:latin typeface="Times New Roman"/>
                <a:cs typeface="Times New Roman"/>
              </a:rPr>
              <a:t>Margaret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Chin,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LL.D.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Polly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Stein,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D.D. S.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27388" y="3105387"/>
            <a:ext cx="5506085" cy="515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98500" indent="-457834">
              <a:lnSpc>
                <a:spcPct val="100000"/>
              </a:lnSpc>
              <a:spcBef>
                <a:spcPts val="95"/>
              </a:spcBef>
              <a:buFont typeface="Symbol"/>
              <a:buChar char=""/>
              <a:tabLst>
                <a:tab pos="697865" algn="l"/>
                <a:tab pos="698500" algn="l"/>
              </a:tabLst>
            </a:pPr>
            <a:r>
              <a:rPr dirty="0" sz="1100" spc="-5">
                <a:latin typeface="Times New Roman"/>
                <a:cs typeface="Times New Roman"/>
              </a:rPr>
              <a:t>My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history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prof.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expert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America’s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atomic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bomb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Work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II.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Use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abbreviations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only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when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you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are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sure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your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readers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will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understand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them.</a:t>
            </a:r>
            <a:endParaRPr sz="1100">
              <a:latin typeface="Times New Roman"/>
              <a:cs typeface="Times New Roman"/>
            </a:endParaRPr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842772" y="3771138"/>
          <a:ext cx="5633085" cy="508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05890"/>
                <a:gridCol w="1405890"/>
                <a:gridCol w="1405890"/>
                <a:gridCol w="1405889"/>
              </a:tblGrid>
              <a:tr h="167639">
                <a:tc>
                  <a:txBody>
                    <a:bodyPr/>
                    <a:lstStyle/>
                    <a:p>
                      <a:pPr marL="68580">
                        <a:lnSpc>
                          <a:spcPts val="122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CIA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2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FBI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2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AFL-CIO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2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NAACP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6877">
                <a:tc>
                  <a:txBody>
                    <a:bodyPr/>
                    <a:lstStyle/>
                    <a:p>
                      <a:pPr marL="67945">
                        <a:lnSpc>
                          <a:spcPts val="1215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NBA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15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UPI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15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NEA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15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CD-ROM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6878">
                <a:tc>
                  <a:txBody>
                    <a:bodyPr/>
                    <a:lstStyle/>
                    <a:p>
                      <a:pPr marL="67945">
                        <a:lnSpc>
                          <a:spcPts val="121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YMCA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1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CBS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1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USE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(for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U.S.A)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1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ESL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627386" y="4416809"/>
            <a:ext cx="520636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Use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B.C.,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A.D.,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A.M.,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No.,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and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$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only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with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specific</a:t>
            </a:r>
            <a:r>
              <a:rPr dirty="0" sz="1100" spc="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dates,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times,</a:t>
            </a:r>
            <a:r>
              <a:rPr dirty="0" sz="1100" spc="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numbers,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and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amounts.</a:t>
            </a:r>
            <a:endParaRPr sz="1100">
              <a:latin typeface="Times New Roman"/>
              <a:cs typeface="Times New Roman"/>
            </a:endParaRPr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1065537" y="4765489"/>
          <a:ext cx="3817620" cy="3155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44600"/>
                <a:gridCol w="1359535"/>
                <a:gridCol w="1213485"/>
              </a:tblGrid>
              <a:tr h="157603">
                <a:tc>
                  <a:txBody>
                    <a:bodyPr/>
                    <a:lstStyle/>
                    <a:p>
                      <a:pPr marL="31750">
                        <a:lnSpc>
                          <a:spcPts val="11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40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B.C.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(or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B.C.E)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3830">
                        <a:lnSpc>
                          <a:spcPts val="11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4:00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A.M.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(or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am)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ts val="11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No.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12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(or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no.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12)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57603">
                <a:tc>
                  <a:txBody>
                    <a:bodyPr/>
                    <a:lstStyle/>
                    <a:p>
                      <a:pPr marL="31750">
                        <a:lnSpc>
                          <a:spcPts val="11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A.D.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44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(or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C.E.)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80340">
                        <a:lnSpc>
                          <a:spcPts val="11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6:00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P.M.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(or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pm)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ts val="11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$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150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17" name="object 17"/>
          <p:cNvSpPr txBox="1"/>
          <p:nvPr/>
        </p:nvSpPr>
        <p:spPr>
          <a:xfrm>
            <a:off x="627372" y="5229083"/>
            <a:ext cx="3756025" cy="39687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927100" indent="-228600">
              <a:lnSpc>
                <a:spcPct val="100000"/>
              </a:lnSpc>
              <a:spcBef>
                <a:spcPts val="95"/>
              </a:spcBef>
              <a:buFont typeface="Symbol"/>
              <a:buChar char=""/>
              <a:tabLst>
                <a:tab pos="926465" algn="l"/>
                <a:tab pos="927100" algn="l"/>
              </a:tabLst>
            </a:pP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late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early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A.M.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(morning)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Be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sparing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in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your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use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of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Latin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abbreviations.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 marL="469900">
              <a:lnSpc>
                <a:spcPts val="1290"/>
              </a:lnSpc>
            </a:pPr>
            <a:r>
              <a:rPr dirty="0" sz="1100" spc="-5">
                <a:latin typeface="Times New Roman"/>
                <a:cs typeface="Times New Roman"/>
              </a:rPr>
              <a:t>cf. (Latin </a:t>
            </a:r>
            <a:r>
              <a:rPr dirty="0" sz="1100" spc="-5" i="1">
                <a:latin typeface="Times New Roman"/>
                <a:cs typeface="Times New Roman"/>
              </a:rPr>
              <a:t>confer,</a:t>
            </a:r>
            <a:r>
              <a:rPr dirty="0" sz="1100" i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“compare”</a:t>
            </a:r>
            <a:endParaRPr sz="1100">
              <a:latin typeface="Times New Roman"/>
              <a:cs typeface="Times New Roman"/>
            </a:endParaRPr>
          </a:p>
          <a:p>
            <a:pPr marL="469900" marR="1005840">
              <a:lnSpc>
                <a:spcPts val="1270"/>
              </a:lnSpc>
              <a:spcBef>
                <a:spcPts val="55"/>
              </a:spcBef>
            </a:pPr>
            <a:r>
              <a:rPr dirty="0" sz="1100" spc="-5">
                <a:latin typeface="Times New Roman"/>
                <a:cs typeface="Times New Roman"/>
              </a:rPr>
              <a:t>e.g.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(Latin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exempli</a:t>
            </a:r>
            <a:r>
              <a:rPr dirty="0" sz="1100" spc="5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gratia,</a:t>
            </a:r>
            <a:r>
              <a:rPr dirty="0" sz="1100" i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example”)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(Latin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et </a:t>
            </a:r>
            <a:r>
              <a:rPr dirty="0" sz="1100" spc="-5" i="1">
                <a:latin typeface="Times New Roman"/>
                <a:cs typeface="Times New Roman"/>
              </a:rPr>
              <a:t>alii</a:t>
            </a:r>
            <a:r>
              <a:rPr dirty="0" sz="1100" spc="-5">
                <a:latin typeface="Times New Roman"/>
                <a:cs typeface="Times New Roman"/>
              </a:rPr>
              <a:t>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others”)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200"/>
              </a:lnSpc>
            </a:pPr>
            <a:r>
              <a:rPr dirty="0" sz="1100" spc="-5">
                <a:latin typeface="Times New Roman"/>
                <a:cs typeface="Times New Roman"/>
              </a:rPr>
              <a:t>etc.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(Latin </a:t>
            </a:r>
            <a:r>
              <a:rPr dirty="0" sz="1100" spc="-5" i="1">
                <a:latin typeface="Times New Roman"/>
                <a:cs typeface="Times New Roman"/>
              </a:rPr>
              <a:t>et</a:t>
            </a:r>
            <a:r>
              <a:rPr dirty="0" sz="1100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cetera</a:t>
            </a:r>
            <a:r>
              <a:rPr dirty="0" sz="1100" spc="-5">
                <a:latin typeface="Times New Roman"/>
                <a:cs typeface="Times New Roman"/>
              </a:rPr>
              <a:t>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forth”)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265"/>
              </a:lnSpc>
            </a:pPr>
            <a:r>
              <a:rPr dirty="0" sz="1100" spc="-5">
                <a:latin typeface="Times New Roman"/>
                <a:cs typeface="Times New Roman"/>
              </a:rPr>
              <a:t>i.e. (Latin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id</a:t>
            </a:r>
            <a:r>
              <a:rPr dirty="0" sz="1100" spc="-15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est,</a:t>
            </a:r>
            <a:r>
              <a:rPr dirty="0" sz="1100" spc="5" i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“that is”)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295"/>
              </a:lnSpc>
            </a:pPr>
            <a:r>
              <a:rPr dirty="0" sz="1100" spc="-5">
                <a:latin typeface="Times New Roman"/>
                <a:cs typeface="Times New Roman"/>
              </a:rPr>
              <a:t>N.B.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(Latin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nota</a:t>
            </a:r>
            <a:r>
              <a:rPr dirty="0" sz="1100" spc="5" i="1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bene,</a:t>
            </a:r>
            <a:r>
              <a:rPr dirty="0" sz="1100" spc="5" i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“(note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well”)</a:t>
            </a:r>
            <a:endParaRPr sz="1100">
              <a:latin typeface="Times New Roman"/>
              <a:cs typeface="Times New Roman"/>
            </a:endParaRPr>
          </a:p>
          <a:p>
            <a:pPr marL="12700" marR="1369695">
              <a:lnSpc>
                <a:spcPct val="191800"/>
              </a:lnSpc>
            </a:pPr>
            <a:r>
              <a:rPr dirty="0" sz="1100" spc="-5" b="1">
                <a:latin typeface="Times New Roman"/>
                <a:cs typeface="Times New Roman"/>
              </a:rPr>
              <a:t>Avoid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inappropriate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abbreviations. 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PERSONAL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NAME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Charles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(Not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chase)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sz="1100" spc="-10" b="1">
                <a:latin typeface="Times New Roman"/>
                <a:cs typeface="Times New Roman"/>
              </a:rPr>
              <a:t>UNITS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OF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MEASUREMENT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pound (not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lb.)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sz="1100" spc="-10" b="1">
                <a:latin typeface="Times New Roman"/>
                <a:cs typeface="Times New Roman"/>
              </a:rPr>
              <a:t>DAYS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OF THE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WEEK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Monday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(not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Mon)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dirty="0" sz="1100" spc="-5" b="1">
                <a:latin typeface="Times New Roman"/>
                <a:cs typeface="Times New Roman"/>
              </a:rPr>
              <a:t>HOLIDAYS </a:t>
            </a:r>
            <a:r>
              <a:rPr dirty="0" sz="1100" spc="-5">
                <a:latin typeface="Times New Roman"/>
                <a:cs typeface="Times New Roman"/>
              </a:rPr>
              <a:t>Christmas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(not</a:t>
            </a:r>
            <a:r>
              <a:rPr dirty="0" sz="1100" spc="-5">
                <a:latin typeface="Times New Roman"/>
                <a:cs typeface="Times New Roman"/>
              </a:rPr>
              <a:t> Xmas)</a:t>
            </a:r>
            <a:endParaRPr sz="1100">
              <a:latin typeface="Times New Roman"/>
              <a:cs typeface="Times New Roman"/>
            </a:endParaRPr>
          </a:p>
          <a:p>
            <a:pPr marL="12700" marR="70485">
              <a:lnSpc>
                <a:spcPct val="143600"/>
              </a:lnSpc>
            </a:pPr>
            <a:r>
              <a:rPr dirty="0" sz="1100" spc="-5" b="1">
                <a:latin typeface="Times New Roman"/>
                <a:cs typeface="Times New Roman"/>
              </a:rPr>
              <a:t>MONTHS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January,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February,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March,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(Not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Jan.,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Feb.,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Mar)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COURSES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OF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STUDY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political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science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(not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poli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Sci)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DIVISIONS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OF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WRITTEN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WORKS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Chapter,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page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(not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p)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STATES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AND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COUNTRIES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Massachusetts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(not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Mass)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360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91019" y="9493248"/>
            <a:ext cx="2540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117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972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84553" y="326081"/>
            <a:ext cx="6083300" cy="9027160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5"/>
              </a:spcBef>
              <a:tabLst>
                <a:tab pos="5869305" algn="l"/>
              </a:tabLst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l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</a:t>
            </a:r>
            <a:r>
              <a:rPr dirty="0" sz="1100" spc="-15">
                <a:solidFill>
                  <a:srgbClr val="323232"/>
                </a:solidFill>
                <a:latin typeface="Times New Roman"/>
                <a:cs typeface="Times New Roman"/>
              </a:rPr>
              <a:t>m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entary</a:t>
            </a:r>
            <a:r>
              <a:rPr dirty="0" sz="1100" spc="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g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lish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-5" b="1">
                <a:latin typeface="Times New Roman"/>
                <a:cs typeface="Times New Roman"/>
              </a:rPr>
              <a:t>PARTS</a:t>
            </a:r>
            <a:r>
              <a:rPr dirty="0" sz="1100" spc="3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OF</a:t>
            </a:r>
            <a:r>
              <a:rPr dirty="0" sz="1100" spc="3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</a:t>
            </a:r>
            <a:r>
              <a:rPr dirty="0" sz="1100" spc="29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BUSINESS</a:t>
            </a:r>
            <a:r>
              <a:rPr dirty="0" sz="1100" spc="29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NAME</a:t>
            </a:r>
            <a:r>
              <a:rPr dirty="0" sz="1100" spc="30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Adams</a:t>
            </a:r>
            <a:r>
              <a:rPr dirty="0" sz="1100" spc="2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Lighting</a:t>
            </a:r>
            <a:r>
              <a:rPr dirty="0" sz="1100" spc="2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Company</a:t>
            </a:r>
            <a:r>
              <a:rPr dirty="0" sz="1100" spc="3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(not</a:t>
            </a:r>
            <a:r>
              <a:rPr dirty="0" sz="1100" spc="2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Adams</a:t>
            </a:r>
            <a:r>
              <a:rPr dirty="0" sz="1100" spc="2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Lighting</a:t>
            </a:r>
            <a:r>
              <a:rPr dirty="0" sz="1100" spc="2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Co.);</a:t>
            </a:r>
            <a:r>
              <a:rPr dirty="0" sz="1100" spc="2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Kim</a:t>
            </a:r>
            <a:r>
              <a:rPr dirty="0" sz="1100" spc="2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sz="1100" spc="-5">
                <a:latin typeface="Times New Roman"/>
                <a:cs typeface="Times New Roman"/>
              </a:rPr>
              <a:t>Brothers,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(not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Kim 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Bros.,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Inc)</a:t>
            </a:r>
            <a:endParaRPr sz="110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650"/>
              </a:spcBef>
              <a:buFont typeface="Symbol"/>
              <a:buChar char=""/>
              <a:tabLst>
                <a:tab pos="240665" algn="l"/>
                <a:tab pos="241935" algn="l"/>
              </a:tabLst>
            </a:pPr>
            <a:r>
              <a:rPr dirty="0" sz="1100" spc="-5">
                <a:latin typeface="Times New Roman"/>
                <a:cs typeface="Times New Roman"/>
              </a:rPr>
              <a:t>Eliza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promised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lb.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Govida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chocolate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birthday,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last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Fri.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buFont typeface="Wingdings"/>
              <a:buChar char=""/>
              <a:tabLst>
                <a:tab pos="241935" algn="l"/>
              </a:tabLst>
            </a:pPr>
            <a:r>
              <a:rPr dirty="0" u="heavy" sz="1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NUMBERS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 marR="29209">
              <a:lnSpc>
                <a:spcPts val="1270"/>
              </a:lnSpc>
            </a:pPr>
            <a:r>
              <a:rPr dirty="0" sz="1100" spc="-5" b="1">
                <a:latin typeface="Times New Roman"/>
                <a:cs typeface="Times New Roman"/>
              </a:rPr>
              <a:t>Spell</a:t>
            </a:r>
            <a:r>
              <a:rPr dirty="0" sz="1100" spc="7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out</a:t>
            </a:r>
            <a:r>
              <a:rPr dirty="0" sz="1100" spc="7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numbers</a:t>
            </a:r>
            <a:r>
              <a:rPr dirty="0" sz="1100" spc="7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of</a:t>
            </a:r>
            <a:r>
              <a:rPr dirty="0" sz="1100" spc="7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one</a:t>
            </a:r>
            <a:r>
              <a:rPr dirty="0" sz="1100" spc="7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or</a:t>
            </a:r>
            <a:r>
              <a:rPr dirty="0" sz="1100" spc="7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two</a:t>
            </a:r>
            <a:r>
              <a:rPr dirty="0" sz="1100" spc="8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words</a:t>
            </a:r>
            <a:r>
              <a:rPr dirty="0" sz="1100" spc="7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or</a:t>
            </a:r>
            <a:r>
              <a:rPr dirty="0" sz="1100" spc="7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those</a:t>
            </a:r>
            <a:r>
              <a:rPr dirty="0" sz="1100" spc="7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that</a:t>
            </a:r>
            <a:r>
              <a:rPr dirty="0" sz="1100" spc="7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begin</a:t>
            </a:r>
            <a:r>
              <a:rPr dirty="0" sz="1100" spc="7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</a:t>
            </a:r>
            <a:r>
              <a:rPr dirty="0" sz="1100" spc="7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sentence.</a:t>
            </a:r>
            <a:r>
              <a:rPr dirty="0" sz="1100" spc="8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Use</a:t>
            </a:r>
            <a:r>
              <a:rPr dirty="0" sz="1100" spc="8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figures</a:t>
            </a:r>
            <a:r>
              <a:rPr dirty="0" sz="1100" spc="7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for</a:t>
            </a:r>
            <a:r>
              <a:rPr dirty="0" sz="1100" spc="8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numbers</a:t>
            </a:r>
            <a:r>
              <a:rPr dirty="0" sz="1100" spc="7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that </a:t>
            </a:r>
            <a:r>
              <a:rPr dirty="0" sz="1100" spc="-26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require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more than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two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words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to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spell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out.</a:t>
            </a:r>
            <a:endParaRPr sz="1100">
              <a:latin typeface="Times New Roman"/>
              <a:cs typeface="Times New Roman"/>
            </a:endParaRPr>
          </a:p>
          <a:p>
            <a:pPr marL="241300" indent="-229235">
              <a:lnSpc>
                <a:spcPts val="1300"/>
              </a:lnSpc>
              <a:buFont typeface="Symbol"/>
              <a:buChar char=""/>
              <a:tabLst>
                <a:tab pos="240665" algn="l"/>
                <a:tab pos="241935" algn="l"/>
              </a:tabLst>
            </a:pPr>
            <a:r>
              <a:rPr dirty="0" sz="1100" spc="-5">
                <a:latin typeface="Times New Roman"/>
                <a:cs typeface="Times New Roman"/>
              </a:rPr>
              <a:t>Now,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8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(eight)</a:t>
            </a:r>
            <a:r>
              <a:rPr dirty="0" sz="1100">
                <a:latin typeface="Times New Roman"/>
                <a:cs typeface="Times New Roman"/>
              </a:rPr>
              <a:t> years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later,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Muffin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still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us.</a:t>
            </a:r>
            <a:endParaRPr sz="110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660"/>
              </a:spcBef>
              <a:buFont typeface="Symbol"/>
              <a:buChar char=""/>
              <a:tabLst>
                <a:tab pos="240665" algn="l"/>
                <a:tab pos="241935" algn="l"/>
              </a:tabLst>
            </a:pPr>
            <a:r>
              <a:rPr dirty="0" sz="1100" spc="-5">
                <a:latin typeface="Times New Roman"/>
                <a:cs typeface="Times New Roman"/>
              </a:rPr>
              <a:t>I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hundred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seventy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six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(176)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CD’s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shelf.</a:t>
            </a:r>
            <a:endParaRPr sz="110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655"/>
              </a:spcBef>
              <a:buFont typeface="Symbol"/>
              <a:buChar char=""/>
              <a:tabLst>
                <a:tab pos="240665" algn="l"/>
                <a:tab pos="241935" algn="l"/>
              </a:tabLst>
            </a:pPr>
            <a:r>
              <a:rPr dirty="0" sz="1100" spc="-5">
                <a:latin typeface="Times New Roman"/>
                <a:cs typeface="Times New Roman"/>
              </a:rPr>
              <a:t>(One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hundred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fifty)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150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children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our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program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need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expensive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dental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treatment.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spc="-5" b="1">
                <a:latin typeface="Times New Roman"/>
                <a:cs typeface="Times New Roman"/>
              </a:rPr>
              <a:t>Generally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figures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are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acceptable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for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buFont typeface="Times New Roman"/>
              <a:buAutoNum type="arabicPeriod"/>
              <a:tabLst>
                <a:tab pos="241935" algn="l"/>
              </a:tabLst>
            </a:pPr>
            <a:r>
              <a:rPr dirty="0" sz="1100" spc="-10" b="1">
                <a:latin typeface="Times New Roman"/>
                <a:cs typeface="Times New Roman"/>
              </a:rPr>
              <a:t>Dates: </a:t>
            </a:r>
            <a:r>
              <a:rPr dirty="0" sz="1100" spc="-5">
                <a:latin typeface="Times New Roman"/>
                <a:cs typeface="Times New Roman"/>
              </a:rPr>
              <a:t>May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20,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2007</a:t>
            </a:r>
            <a:endParaRPr sz="110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580"/>
              </a:spcBef>
              <a:buAutoNum type="arabicPeriod"/>
              <a:tabLst>
                <a:tab pos="241935" algn="l"/>
              </a:tabLst>
            </a:pPr>
            <a:r>
              <a:rPr dirty="0" sz="1100" spc="-5">
                <a:latin typeface="Times New Roman"/>
                <a:cs typeface="Times New Roman"/>
              </a:rPr>
              <a:t>Addresses: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20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Mall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Road,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Lahore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54000</a:t>
            </a:r>
            <a:endParaRPr sz="110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580"/>
              </a:spcBef>
              <a:buFont typeface="Times New Roman"/>
              <a:buAutoNum type="arabicPeriod"/>
              <a:tabLst>
                <a:tab pos="241935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Parentages: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55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percent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55%)</a:t>
            </a:r>
            <a:endParaRPr sz="1100">
              <a:latin typeface="Times New Roman"/>
              <a:cs typeface="Times New Roman"/>
            </a:endParaRPr>
          </a:p>
          <a:p>
            <a:pPr marL="12700" marR="4152900">
              <a:lnSpc>
                <a:spcPct val="143600"/>
              </a:lnSpc>
              <a:buAutoNum type="arabicPeriod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Fractions, Decimals: ½,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0.047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5.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10" b="1">
                <a:latin typeface="Times New Roman"/>
                <a:cs typeface="Times New Roman"/>
              </a:rPr>
              <a:t>Scores:</a:t>
            </a:r>
            <a:r>
              <a:rPr dirty="0" sz="1100" spc="-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7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3,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21-18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AutoNum type="arabicPeriod" startAt="6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Statistics: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average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age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37,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weight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180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80"/>
              </a:spcBef>
              <a:buFont typeface="Times New Roman"/>
              <a:buAutoNum type="arabicPeriod" startAt="6"/>
              <a:tabLst>
                <a:tab pos="241300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Survey: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4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5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80"/>
              </a:spcBef>
              <a:buAutoNum type="arabicPeriod" startAt="6"/>
              <a:tabLst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Exact amount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money: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Rs.</a:t>
            </a:r>
            <a:r>
              <a:rPr dirty="0" sz="1100" spc="-5">
                <a:latin typeface="Times New Roman"/>
                <a:cs typeface="Times New Roman"/>
              </a:rPr>
              <a:t> 10,000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Font typeface="Times New Roman"/>
              <a:buAutoNum type="arabicPeriod" startAt="6"/>
              <a:tabLst>
                <a:tab pos="241300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Divisions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of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books: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volume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3,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chapter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4,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page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189</a:t>
            </a:r>
            <a:endParaRPr sz="110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575"/>
              </a:spcBef>
              <a:buAutoNum type="arabicPeriod" startAt="6"/>
              <a:tabLst>
                <a:tab pos="241935" algn="l"/>
              </a:tabLst>
            </a:pPr>
            <a:r>
              <a:rPr dirty="0" sz="1100" spc="-5">
                <a:latin typeface="Times New Roman"/>
                <a:cs typeface="Times New Roman"/>
              </a:rPr>
              <a:t>Division of</a:t>
            </a:r>
            <a:r>
              <a:rPr dirty="0" sz="1100">
                <a:latin typeface="Times New Roman"/>
                <a:cs typeface="Times New Roman"/>
              </a:rPr>
              <a:t> plays:</a:t>
            </a:r>
            <a:r>
              <a:rPr dirty="0" sz="1100" spc="-5">
                <a:latin typeface="Times New Roman"/>
                <a:cs typeface="Times New Roman"/>
              </a:rPr>
              <a:t> act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3,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scene 3</a:t>
            </a:r>
            <a:endParaRPr sz="110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580"/>
              </a:spcBef>
              <a:buFont typeface="Times New Roman"/>
              <a:buAutoNum type="arabicPeriod" startAt="6"/>
              <a:tabLst>
                <a:tab pos="241935" algn="l"/>
              </a:tabLst>
            </a:pPr>
            <a:r>
              <a:rPr dirty="0" sz="1100" spc="-5" b="1">
                <a:latin typeface="Times New Roman"/>
                <a:cs typeface="Times New Roman"/>
              </a:rPr>
              <a:t>Time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of day: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4:00 P.M.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buFont typeface="Wingdings"/>
              <a:buChar char=""/>
              <a:tabLst>
                <a:tab pos="241935" algn="l"/>
              </a:tabLst>
            </a:pP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ITALICS</a:t>
            </a:r>
            <a:r>
              <a:rPr dirty="0" u="heavy" sz="1100" spc="-3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(UNDERLINING)</a:t>
            </a:r>
            <a:endParaRPr sz="1100">
              <a:latin typeface="Times New Roman"/>
              <a:cs typeface="Times New Roman"/>
            </a:endParaRPr>
          </a:p>
          <a:p>
            <a:pPr marL="12700" marR="2214245" indent="-635">
              <a:lnSpc>
                <a:spcPct val="191400"/>
              </a:lnSpc>
              <a:spcBef>
                <a:spcPts val="5"/>
              </a:spcBef>
            </a:pPr>
            <a:r>
              <a:rPr dirty="0" sz="1100" spc="-5" b="1">
                <a:latin typeface="Times New Roman"/>
                <a:cs typeface="Times New Roman"/>
              </a:rPr>
              <a:t>Underline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or</a:t>
            </a:r>
            <a:r>
              <a:rPr dirty="0" sz="1100" spc="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italicize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the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titles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of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works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according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to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convention. </a:t>
            </a:r>
            <a:r>
              <a:rPr dirty="0" sz="1100" spc="-26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Titles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of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books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Great</a:t>
            </a:r>
            <a:r>
              <a:rPr dirty="0" u="sng" sz="110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Gatsby</a:t>
            </a:r>
            <a:r>
              <a:rPr dirty="0" sz="1100" spc="-5">
                <a:latin typeface="Times New Roman"/>
                <a:cs typeface="Times New Roman"/>
              </a:rPr>
              <a:t>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Distant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Mirror</a:t>
            </a:r>
            <a:endParaRPr sz="1100">
              <a:latin typeface="Times New Roman"/>
              <a:cs typeface="Times New Roman"/>
            </a:endParaRPr>
          </a:p>
          <a:p>
            <a:pPr marL="12700" marR="2958465">
              <a:lnSpc>
                <a:spcPct val="143700"/>
              </a:lnSpc>
              <a:spcBef>
                <a:spcPts val="5"/>
              </a:spcBef>
            </a:pPr>
            <a:r>
              <a:rPr dirty="0" sz="1100" spc="-5" b="1">
                <a:latin typeface="Times New Roman"/>
                <a:cs typeface="Times New Roman"/>
              </a:rPr>
              <a:t>MAGAZINES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Time</a:t>
            </a:r>
            <a:r>
              <a:rPr dirty="0" sz="1100" spc="-5">
                <a:latin typeface="Times New Roman"/>
                <a:cs typeface="Times New Roman"/>
              </a:rPr>
              <a:t>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Scientific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American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NEWSPAPERS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St.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Louis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Post-Dispatch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PAMPHLETS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Common</a:t>
            </a:r>
            <a:r>
              <a:rPr dirty="0" u="sng" sz="110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Sense</a:t>
            </a:r>
            <a:r>
              <a:rPr dirty="0" sz="1100" spc="-5">
                <a:latin typeface="Times New Roman"/>
                <a:cs typeface="Times New Roman"/>
              </a:rPr>
              <a:t>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Facts</a:t>
            </a:r>
            <a:r>
              <a:rPr dirty="0" u="sng" sz="1100" spc="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about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Marijuana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LONG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POEMS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Waste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Land</a:t>
            </a:r>
            <a:r>
              <a:rPr dirty="0" sz="1100" spc="-5">
                <a:latin typeface="Times New Roman"/>
                <a:cs typeface="Times New Roman"/>
              </a:rPr>
              <a:t>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Paradise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Lost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PLAYS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King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Lear</a:t>
            </a:r>
            <a:r>
              <a:rPr dirty="0" sz="1100" spc="-5">
                <a:latin typeface="Times New Roman"/>
                <a:cs typeface="Times New Roman"/>
              </a:rPr>
              <a:t>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Raisin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Sun</a:t>
            </a:r>
            <a:endParaRPr sz="1100">
              <a:latin typeface="Times New Roman"/>
              <a:cs typeface="Times New Roman"/>
            </a:endParaRPr>
          </a:p>
          <a:p>
            <a:pPr marL="12700" marR="3186430">
              <a:lnSpc>
                <a:spcPct val="143600"/>
              </a:lnSpc>
            </a:pPr>
            <a:r>
              <a:rPr dirty="0" sz="1100" spc="-5" b="1">
                <a:latin typeface="Times New Roman"/>
                <a:cs typeface="Times New Roman"/>
              </a:rPr>
              <a:t>FILMS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Casablanca</a:t>
            </a:r>
            <a:r>
              <a:rPr dirty="0" sz="1100" spc="-5">
                <a:latin typeface="Times New Roman"/>
                <a:cs typeface="Times New Roman"/>
              </a:rPr>
              <a:t>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Independence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Day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TELEVISION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PROGRAMS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Friends</a:t>
            </a:r>
            <a:r>
              <a:rPr dirty="0" sz="1100" spc="-5">
                <a:latin typeface="Times New Roman"/>
                <a:cs typeface="Times New Roman"/>
              </a:rPr>
              <a:t>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60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Minutes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RADIO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PROGRAMS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All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Things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Considered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Underline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or</a:t>
            </a:r>
            <a:r>
              <a:rPr dirty="0" sz="1100" spc="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italicize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the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names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of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spacecraft,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aircraft,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ships,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and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trains.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829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84111" y="342390"/>
            <a:ext cx="22669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788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33820" y="9493248"/>
            <a:ext cx="2540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118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400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27380" y="342390"/>
            <a:ext cx="5640705" cy="11988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 Elementary</a:t>
            </a:r>
            <a:r>
              <a:rPr dirty="0" sz="1100" spc="5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success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Soviets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Sputnik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galvanized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U.S.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space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program.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Symbol"/>
              <a:buChar char=""/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Underline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or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italicize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foreign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words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used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in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an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English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sentence.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Although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Joe’s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method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seemed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successful,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decided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establish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own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modus</a:t>
            </a:r>
            <a:r>
              <a:rPr dirty="0" u="sng" sz="110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operandi.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257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27378" y="1670561"/>
            <a:ext cx="6061710" cy="263271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>
              <a:lnSpc>
                <a:spcPts val="1270"/>
              </a:lnSpc>
              <a:spcBef>
                <a:spcPts val="180"/>
              </a:spcBef>
            </a:pPr>
            <a:r>
              <a:rPr dirty="0" sz="1100" spc="-5" b="1">
                <a:latin typeface="Times New Roman"/>
                <a:cs typeface="Times New Roman"/>
              </a:rPr>
              <a:t>Underline</a:t>
            </a:r>
            <a:r>
              <a:rPr dirty="0" sz="1100" spc="2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or</a:t>
            </a:r>
            <a:r>
              <a:rPr dirty="0" sz="1100" spc="3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italicize</a:t>
            </a:r>
            <a:r>
              <a:rPr dirty="0" sz="1100" spc="3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words</a:t>
            </a:r>
            <a:r>
              <a:rPr dirty="0" sz="1100" spc="2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mentioned</a:t>
            </a:r>
            <a:r>
              <a:rPr dirty="0" sz="1100" spc="3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as</a:t>
            </a:r>
            <a:r>
              <a:rPr dirty="0" sz="1100" spc="2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words,</a:t>
            </a:r>
            <a:r>
              <a:rPr dirty="0" sz="1100" spc="3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letter</a:t>
            </a:r>
            <a:r>
              <a:rPr dirty="0" sz="1100" spc="2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mentioned</a:t>
            </a:r>
            <a:r>
              <a:rPr dirty="0" sz="1100" spc="3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as</a:t>
            </a:r>
            <a:r>
              <a:rPr dirty="0" sz="1100" spc="2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letters,</a:t>
            </a:r>
            <a:r>
              <a:rPr dirty="0" sz="1100" spc="2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and</a:t>
            </a:r>
            <a:r>
              <a:rPr dirty="0" sz="1100" spc="3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numbers</a:t>
            </a:r>
            <a:r>
              <a:rPr dirty="0" sz="1100" spc="2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mentioned </a:t>
            </a:r>
            <a:r>
              <a:rPr dirty="0" sz="1100" spc="-26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as numbers.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50">
              <a:latin typeface="Times New Roman"/>
              <a:cs typeface="Times New Roman"/>
            </a:endParaRPr>
          </a:p>
          <a:p>
            <a:pPr marL="240665" marR="5715" indent="-228600">
              <a:lnSpc>
                <a:spcPts val="1270"/>
              </a:lnSpc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Tim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assured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howling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probably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came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bloodhound,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Hill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Billy,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but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probably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stuck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our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minds.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Symbol"/>
              <a:buChar char=""/>
            </a:pPr>
            <a:endParaRPr sz="105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Sarah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called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farther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by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given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name,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Johnny,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unable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pronounce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J.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Symbol"/>
              <a:buChar char=""/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Avoid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excessive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underlining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or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italics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for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emphasis.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skating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sport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become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addiction</a:t>
            </a:r>
            <a:r>
              <a:rPr dirty="0" sz="1100" spc="-5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990"/>
              </a:spcBef>
              <a:buFont typeface="Wingdings"/>
              <a:buChar char=""/>
              <a:tabLst>
                <a:tab pos="241300" algn="l"/>
              </a:tabLst>
            </a:pP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SPELLING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Become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familiar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with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your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dictionary.</a:t>
            </a:r>
            <a:endParaRPr sz="1100">
              <a:latin typeface="Times New Roman"/>
              <a:cs typeface="Times New Roman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882650" y="4458406"/>
          <a:ext cx="4918710" cy="957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4990"/>
                <a:gridCol w="1944370"/>
                <a:gridCol w="1441450"/>
                <a:gridCol w="979169"/>
              </a:tblGrid>
              <a:tr h="157603">
                <a:tc>
                  <a:txBody>
                    <a:bodyPr/>
                    <a:lstStyle/>
                    <a:p>
                      <a:pPr marL="31750">
                        <a:lnSpc>
                          <a:spcPts val="11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n.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ts val="11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noun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00100">
                        <a:lnSpc>
                          <a:spcPts val="11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adj.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07975">
                        <a:lnSpc>
                          <a:spcPts val="11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adjective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60781">
                <a:tc>
                  <a:txBody>
                    <a:bodyPr/>
                    <a:lstStyle/>
                    <a:p>
                      <a:pPr marL="3175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pl.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3114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plural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0137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adv.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09245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adverb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60781">
                <a:tc>
                  <a:txBody>
                    <a:bodyPr/>
                    <a:lstStyle/>
                    <a:p>
                      <a:pPr marL="3175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Sing.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3114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singular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0264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pron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0988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pronoun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60781">
                <a:tc>
                  <a:txBody>
                    <a:bodyPr/>
                    <a:lstStyle/>
                    <a:p>
                      <a:pPr marL="3175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v.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3114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verb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02005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prep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0988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pronoun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60397">
                <a:tc>
                  <a:txBody>
                    <a:bodyPr/>
                    <a:lstStyle/>
                    <a:p>
                      <a:pPr marL="3175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tr.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3114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transitive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verb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0264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conj.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0988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preposition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57219">
                <a:tc>
                  <a:txBody>
                    <a:bodyPr/>
                    <a:lstStyle/>
                    <a:p>
                      <a:pPr marL="31750">
                        <a:lnSpc>
                          <a:spcPts val="11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intr.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31140">
                        <a:lnSpc>
                          <a:spcPts val="11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intransitive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verb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02005">
                        <a:lnSpc>
                          <a:spcPts val="11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interj.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09880">
                        <a:lnSpc>
                          <a:spcPts val="114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interjection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627382" y="5555991"/>
            <a:ext cx="4448175" cy="372617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Discriminate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between</a:t>
            </a:r>
            <a:r>
              <a:rPr dirty="0" sz="1100" spc="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words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that</a:t>
            </a:r>
            <a:r>
              <a:rPr dirty="0" sz="1100" spc="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sound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alike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but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have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different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meanings.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295"/>
              </a:lnSpc>
            </a:pPr>
            <a:r>
              <a:rPr dirty="0" sz="1100" spc="-5">
                <a:latin typeface="Times New Roman"/>
                <a:cs typeface="Times New Roman"/>
              </a:rPr>
              <a:t>Affect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(verb: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exert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influence”)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95"/>
              </a:lnSpc>
            </a:pPr>
            <a:r>
              <a:rPr dirty="0" sz="1100" spc="-5">
                <a:latin typeface="Times New Roman"/>
                <a:cs typeface="Times New Roman"/>
              </a:rPr>
              <a:t>Effect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(verb: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accomplish”: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noun: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“result”)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 marR="1753235">
              <a:lnSpc>
                <a:spcPts val="1270"/>
              </a:lnSpc>
            </a:pPr>
            <a:r>
              <a:rPr dirty="0" sz="1100" spc="-5">
                <a:latin typeface="Times New Roman"/>
                <a:cs typeface="Times New Roman"/>
              </a:rPr>
              <a:t>Its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(possessive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pronoun: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belonging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it”)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It’s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(contraction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“it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is”)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 marL="12700" marR="1789430">
              <a:lnSpc>
                <a:spcPts val="1260"/>
              </a:lnSpc>
            </a:pPr>
            <a:r>
              <a:rPr dirty="0" sz="1100" spc="-5">
                <a:latin typeface="Times New Roman"/>
                <a:cs typeface="Times New Roman"/>
              </a:rPr>
              <a:t>Loose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(adjective: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“free,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securely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attached”)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Lose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(verb: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fail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keep,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deprived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of”)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 marL="12700" marR="779145">
              <a:lnSpc>
                <a:spcPts val="1270"/>
              </a:lnSpc>
            </a:pPr>
            <a:r>
              <a:rPr dirty="0" sz="1100" spc="-5">
                <a:latin typeface="Times New Roman"/>
                <a:cs typeface="Times New Roman"/>
              </a:rPr>
              <a:t>Principal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(adjective: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“most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important”;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noun: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“head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school”)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Principal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(noun: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general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fundamental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truth”)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 marR="1692910">
              <a:lnSpc>
                <a:spcPts val="1270"/>
              </a:lnSpc>
            </a:pP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(possessive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pronoun: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“belonging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them”)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They’re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(contraction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“they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are”)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30"/>
              </a:lnSpc>
            </a:pPr>
            <a:r>
              <a:rPr dirty="0" sz="1100" spc="-5">
                <a:latin typeface="Times New Roman"/>
                <a:cs typeface="Times New Roman"/>
              </a:rPr>
              <a:t>There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(adverb: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“that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place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position”)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 marR="2465070">
              <a:lnSpc>
                <a:spcPts val="1270"/>
              </a:lnSpc>
            </a:pPr>
            <a:r>
              <a:rPr dirty="0" sz="1100" spc="-5">
                <a:latin typeface="Times New Roman"/>
                <a:cs typeface="Times New Roman"/>
              </a:rPr>
              <a:t>Who’s (contraction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“who”)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Whose (possessive</a:t>
            </a:r>
            <a:r>
              <a:rPr dirty="0" sz="1100">
                <a:latin typeface="Times New Roman"/>
                <a:cs typeface="Times New Roman"/>
              </a:rPr>
              <a:t> form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“who”)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 marR="2550160">
              <a:lnSpc>
                <a:spcPts val="1270"/>
              </a:lnSpc>
            </a:pPr>
            <a:r>
              <a:rPr dirty="0" sz="1100" spc="-5">
                <a:latin typeface="Times New Roman"/>
                <a:cs typeface="Times New Roman"/>
              </a:rPr>
              <a:t>Your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(possessive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 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“you”)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You’re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(contraction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“you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are”)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4580" y="342390"/>
            <a:ext cx="174498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 Elementary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41311" y="342390"/>
            <a:ext cx="22669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972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829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84568" y="8994893"/>
            <a:ext cx="6061075" cy="7067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Use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hyphen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to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connect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two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or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more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words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functioning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together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as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an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adjective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before</a:t>
            </a:r>
            <a:r>
              <a:rPr dirty="0" sz="1100" spc="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noun.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2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Mrs.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Douglas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gave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Toshiko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seashell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newspaper-wrapped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fish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take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home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her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mother.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50">
              <a:latin typeface="Times New Roman"/>
              <a:cs typeface="Times New Roman"/>
            </a:endParaRPr>
          </a:p>
          <a:p>
            <a:pPr marL="1564005">
              <a:lnSpc>
                <a:spcPct val="100000"/>
              </a:lnSpc>
              <a:tabLst>
                <a:tab pos="5818505" algn="l"/>
              </a:tabLst>
            </a:pPr>
            <a:r>
              <a:rPr dirty="0" sz="1200">
                <a:latin typeface="Times New Roman"/>
                <a:cs typeface="Times New Roman"/>
              </a:rPr>
              <a:t>© Copyrights Virtual Uni</a:t>
            </a:r>
            <a:r>
              <a:rPr dirty="0" sz="1200" spc="-5">
                <a:latin typeface="Times New Roman"/>
                <a:cs typeface="Times New Roman"/>
              </a:rPr>
              <a:t>v</a:t>
            </a:r>
            <a:r>
              <a:rPr dirty="0" sz="1200">
                <a:latin typeface="Times New Roman"/>
                <a:cs typeface="Times New Roman"/>
              </a:rPr>
              <a:t>ersity of Pakistan	119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84580" y="686815"/>
            <a:ext cx="6061075" cy="42081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Become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familiar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with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major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spelling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rules.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ts val="1295"/>
              </a:lnSpc>
            </a:pPr>
            <a:r>
              <a:rPr dirty="0" sz="1100" spc="-5" b="1">
                <a:latin typeface="Times New Roman"/>
                <a:cs typeface="Times New Roman"/>
              </a:rPr>
              <a:t>i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BEFORE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relieve,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believe,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sieve,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frieze,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95"/>
              </a:lnSpc>
            </a:pPr>
            <a:r>
              <a:rPr dirty="0" sz="1100" spc="-5" b="1">
                <a:latin typeface="Times New Roman"/>
                <a:cs typeface="Times New Roman"/>
              </a:rPr>
              <a:t>e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10" b="1">
                <a:latin typeface="Times New Roman"/>
                <a:cs typeface="Times New Roman"/>
              </a:rPr>
              <a:t>before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</a:t>
            </a:r>
            <a:r>
              <a:rPr dirty="0" sz="1100" spc="29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receive,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deceive,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sleigh,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freight,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eight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EXCEPTIONS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seize,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either,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weird,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height,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foreign,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leisure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ts val="1260"/>
              </a:lnSpc>
            </a:pPr>
            <a:r>
              <a:rPr dirty="0" sz="1100" spc="-5" b="1">
                <a:latin typeface="Times New Roman"/>
                <a:cs typeface="Times New Roman"/>
              </a:rPr>
              <a:t>Generally,</a:t>
            </a:r>
            <a:r>
              <a:rPr dirty="0" sz="1100" spc="6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drop</a:t>
            </a:r>
            <a:r>
              <a:rPr dirty="0" sz="1100" spc="6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</a:t>
            </a:r>
            <a:r>
              <a:rPr dirty="0" sz="1100" spc="6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final</a:t>
            </a:r>
            <a:r>
              <a:rPr dirty="0" sz="1100" spc="6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silent</a:t>
            </a:r>
            <a:r>
              <a:rPr dirty="0" sz="1100" spc="6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e</a:t>
            </a:r>
            <a:r>
              <a:rPr dirty="0" sz="1100" spc="6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when</a:t>
            </a:r>
            <a:r>
              <a:rPr dirty="0" sz="1100" spc="7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adding</a:t>
            </a:r>
            <a:r>
              <a:rPr dirty="0" sz="1100" spc="7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</a:t>
            </a:r>
            <a:r>
              <a:rPr dirty="0" sz="1100" spc="6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suffix</a:t>
            </a:r>
            <a:r>
              <a:rPr dirty="0" sz="1100" spc="7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that</a:t>
            </a:r>
            <a:r>
              <a:rPr dirty="0" sz="1100" spc="6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begins</a:t>
            </a:r>
            <a:r>
              <a:rPr dirty="0" sz="1100" spc="6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with</a:t>
            </a:r>
            <a:r>
              <a:rPr dirty="0" sz="1100" spc="6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</a:t>
            </a:r>
            <a:r>
              <a:rPr dirty="0" sz="1100" spc="6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vowel.</a:t>
            </a:r>
            <a:r>
              <a:rPr dirty="0" sz="1100" spc="7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Keep</a:t>
            </a:r>
            <a:r>
              <a:rPr dirty="0" sz="1100" spc="6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</a:t>
            </a:r>
            <a:r>
              <a:rPr dirty="0" sz="1100" spc="6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final</a:t>
            </a:r>
            <a:r>
              <a:rPr dirty="0" sz="1100" spc="6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e</a:t>
            </a:r>
            <a:r>
              <a:rPr dirty="0" sz="1100" spc="6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if</a:t>
            </a:r>
            <a:r>
              <a:rPr dirty="0" sz="1100" spc="6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 </a:t>
            </a:r>
            <a:r>
              <a:rPr dirty="0" sz="1100" spc="-26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suffix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begins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with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consonant.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200"/>
              </a:lnSpc>
            </a:pPr>
            <a:r>
              <a:rPr dirty="0" sz="1100" spc="-5">
                <a:latin typeface="Times New Roman"/>
                <a:cs typeface="Times New Roman"/>
              </a:rPr>
              <a:t>Desire,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desiring,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remove,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removable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295"/>
              </a:lnSpc>
            </a:pPr>
            <a:r>
              <a:rPr dirty="0" sz="1100" spc="-5">
                <a:latin typeface="Times New Roman"/>
                <a:cs typeface="Times New Roman"/>
              </a:rPr>
              <a:t>Achieve, achievement,</a:t>
            </a:r>
            <a:r>
              <a:rPr dirty="0" sz="1100">
                <a:latin typeface="Times New Roman"/>
                <a:cs typeface="Times New Roman"/>
              </a:rPr>
              <a:t> care, </a:t>
            </a:r>
            <a:r>
              <a:rPr dirty="0" sz="1100" spc="-5">
                <a:latin typeface="Times New Roman"/>
                <a:cs typeface="Times New Roman"/>
              </a:rPr>
              <a:t>careful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 marR="5715">
              <a:lnSpc>
                <a:spcPts val="1260"/>
              </a:lnSpc>
            </a:pPr>
            <a:r>
              <a:rPr dirty="0" sz="1100" spc="-5">
                <a:latin typeface="Times New Roman"/>
                <a:cs typeface="Times New Roman"/>
              </a:rPr>
              <a:t>When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adding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–s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–d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ending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–y,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ordinary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change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–y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–ie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when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preceded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by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consonant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 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preceded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vowel.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 marL="12700" marR="4247515">
              <a:lnSpc>
                <a:spcPts val="1270"/>
              </a:lnSpc>
            </a:pPr>
            <a:r>
              <a:rPr dirty="0" sz="1100" spc="-5">
                <a:latin typeface="Times New Roman"/>
                <a:cs typeface="Times New Roman"/>
              </a:rPr>
              <a:t>Comedy,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comedies,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dries,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dried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Monkey,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monkeys, play,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played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 marR="5080">
              <a:lnSpc>
                <a:spcPts val="1270"/>
              </a:lnSpc>
            </a:pPr>
            <a:r>
              <a:rPr dirty="0" sz="1100" spc="-5">
                <a:latin typeface="Times New Roman"/>
                <a:cs typeface="Times New Roman"/>
              </a:rPr>
              <a:t>If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final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consonant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preceded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by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single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vowel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consonant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ends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syllable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stressed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syllable,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double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consonant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adding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suffix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beginning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vowel.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Bet,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betting,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commit,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committed,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occur,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occurrence,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 marR="654050">
              <a:lnSpc>
                <a:spcPts val="1260"/>
              </a:lnSpc>
            </a:pPr>
            <a:r>
              <a:rPr dirty="0" sz="1100" spc="-5">
                <a:latin typeface="Times New Roman"/>
                <a:cs typeface="Times New Roman"/>
              </a:rPr>
              <a:t>Add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–s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 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plural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most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nouns,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–es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singular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nouns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ending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–s,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-sh,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-ch,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–x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Table,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tables,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paper,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papers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35"/>
              </a:lnSpc>
            </a:pPr>
            <a:r>
              <a:rPr dirty="0" sz="1100" spc="-5">
                <a:latin typeface="Times New Roman"/>
                <a:cs typeface="Times New Roman"/>
              </a:rPr>
              <a:t>Church,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churches,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dish,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dishes</a:t>
            </a:r>
            <a:endParaRPr sz="1100">
              <a:latin typeface="Times New Roman"/>
              <a:cs typeface="Times New Roman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299972" y="5207508"/>
          <a:ext cx="5633085" cy="23444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11780"/>
                <a:gridCol w="2811780"/>
              </a:tblGrid>
              <a:tr h="166877">
                <a:tc>
                  <a:txBody>
                    <a:bodyPr/>
                    <a:lstStyle/>
                    <a:p>
                      <a:pPr marL="67945">
                        <a:lnSpc>
                          <a:spcPts val="1215"/>
                        </a:lnSpc>
                      </a:pPr>
                      <a:r>
                        <a:rPr dirty="0" sz="1100" spc="-10" b="1">
                          <a:latin typeface="Times New Roman"/>
                          <a:cs typeface="Times New Roman"/>
                        </a:rPr>
                        <a:t>AMERICAN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215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BRITISH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6877">
                <a:tc>
                  <a:txBody>
                    <a:bodyPr/>
                    <a:lstStyle/>
                    <a:p>
                      <a:pPr marL="67945">
                        <a:lnSpc>
                          <a:spcPts val="121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Cance</a:t>
                      </a:r>
                      <a:r>
                        <a:rPr dirty="0" u="sng" sz="1100" spc="-5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led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trave</a:t>
                      </a:r>
                      <a:r>
                        <a:rPr dirty="0" u="sng" sz="1100" spc="-5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led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1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Cance</a:t>
                      </a:r>
                      <a:r>
                        <a:rPr dirty="0" u="sng" sz="1100" spc="-5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lled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trave</a:t>
                      </a:r>
                      <a:r>
                        <a:rPr dirty="0" u="sng" sz="1100" spc="-5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lled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,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6877">
                <a:tc>
                  <a:txBody>
                    <a:bodyPr/>
                    <a:lstStyle/>
                    <a:p>
                      <a:pPr marL="67945">
                        <a:lnSpc>
                          <a:spcPts val="121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Col</a:t>
                      </a:r>
                      <a:r>
                        <a:rPr dirty="0" u="sng" sz="1100" spc="-5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hum</a:t>
                      </a:r>
                      <a:r>
                        <a:rPr dirty="0" u="sng" sz="1100" spc="-5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or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1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Col</a:t>
                      </a:r>
                      <a:r>
                        <a:rPr dirty="0" u="sng" sz="1100" spc="-5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our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hum</a:t>
                      </a:r>
                      <a:r>
                        <a:rPr dirty="0" u="sng" sz="1100" spc="-5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our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6878">
                <a:tc>
                  <a:txBody>
                    <a:bodyPr/>
                    <a:lstStyle/>
                    <a:p>
                      <a:pPr marL="67945">
                        <a:lnSpc>
                          <a:spcPts val="121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Jud</a:t>
                      </a:r>
                      <a:r>
                        <a:rPr dirty="0" u="sng" sz="1100" spc="-5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gment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1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Jud</a:t>
                      </a:r>
                      <a:r>
                        <a:rPr dirty="0" u="sng" sz="1100" spc="-5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gement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6877">
                <a:tc>
                  <a:txBody>
                    <a:bodyPr/>
                    <a:lstStyle/>
                    <a:p>
                      <a:pPr marL="67945">
                        <a:lnSpc>
                          <a:spcPts val="1215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Che</a:t>
                      </a:r>
                      <a:r>
                        <a:rPr dirty="0" u="sng" sz="1100" spc="-1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ck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1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Che</a:t>
                      </a:r>
                      <a:r>
                        <a:rPr dirty="0" u="sng" sz="1100" spc="-5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que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7639">
                <a:tc>
                  <a:txBody>
                    <a:bodyPr/>
                    <a:lstStyle/>
                    <a:p>
                      <a:pPr marL="67945">
                        <a:lnSpc>
                          <a:spcPts val="122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Reali</a:t>
                      </a:r>
                      <a:r>
                        <a:rPr dirty="0" u="sng" sz="1100" spc="-5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ze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apolog</a:t>
                      </a:r>
                      <a:r>
                        <a:rPr dirty="0" u="sng" sz="1100" spc="-5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ize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,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2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Real</a:t>
                      </a:r>
                      <a:r>
                        <a:rPr dirty="0" u="sng" sz="1100" spc="-5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ise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apolog</a:t>
                      </a:r>
                      <a:r>
                        <a:rPr dirty="0" u="sng" sz="1100" spc="-5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ise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6878">
                <a:tc>
                  <a:txBody>
                    <a:bodyPr/>
                    <a:lstStyle/>
                    <a:p>
                      <a:pPr marL="67945">
                        <a:lnSpc>
                          <a:spcPts val="121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Defen</a:t>
                      </a:r>
                      <a:r>
                        <a:rPr dirty="0" u="sng" sz="1100" spc="-5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se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1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Defen</a:t>
                      </a:r>
                      <a:r>
                        <a:rPr dirty="0" u="sng" sz="1100" spc="-5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ce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6877">
                <a:tc>
                  <a:txBody>
                    <a:bodyPr/>
                    <a:lstStyle/>
                    <a:p>
                      <a:pPr marL="67945">
                        <a:lnSpc>
                          <a:spcPts val="121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dirty="0" u="sng" sz="1100" spc="-5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mia,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dirty="0" u="sng" sz="1100" spc="-5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sthetic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1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dirty="0" u="sng" sz="1100" spc="-5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ae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mia,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dirty="0" u="sng" sz="1100" spc="-5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ae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sthetic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6877">
                <a:tc>
                  <a:txBody>
                    <a:bodyPr/>
                    <a:lstStyle/>
                    <a:p>
                      <a:pPr marL="67945">
                        <a:lnSpc>
                          <a:spcPts val="121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Thea</a:t>
                      </a:r>
                      <a:r>
                        <a:rPr dirty="0" u="sng" sz="1100" spc="-5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ter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cent</a:t>
                      </a:r>
                      <a:r>
                        <a:rPr dirty="0" u="sng" sz="1100" spc="-5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er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1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Theat</a:t>
                      </a:r>
                      <a:r>
                        <a:rPr dirty="0" u="sng" sz="1100" spc="-5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re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cent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re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6878">
                <a:tc>
                  <a:txBody>
                    <a:bodyPr/>
                    <a:lstStyle/>
                    <a:p>
                      <a:pPr marL="67945">
                        <a:lnSpc>
                          <a:spcPts val="121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dirty="0" u="sng" sz="1100" spc="-5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tus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1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dirty="0" u="sng" sz="1100" spc="-5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oe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tus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6877">
                <a:tc>
                  <a:txBody>
                    <a:bodyPr/>
                    <a:lstStyle/>
                    <a:p>
                      <a:pPr marL="67945">
                        <a:lnSpc>
                          <a:spcPts val="121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dirty="0" u="sng" sz="1100" spc="-5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ld,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sm</a:t>
                      </a:r>
                      <a:r>
                        <a:rPr dirty="0" u="sng" sz="1100" spc="-5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lder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1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dirty="0" u="sng" sz="1100" spc="-5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ou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ld,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sm</a:t>
                      </a:r>
                      <a:r>
                        <a:rPr dirty="0" u="sng" sz="1100" spc="-5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ou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lder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6877">
                <a:tc>
                  <a:txBody>
                    <a:bodyPr/>
                    <a:lstStyle/>
                    <a:p>
                      <a:pPr marL="67945">
                        <a:lnSpc>
                          <a:spcPts val="121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Civilization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1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Civillisation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67640">
                <a:tc>
                  <a:txBody>
                    <a:bodyPr/>
                    <a:lstStyle/>
                    <a:p>
                      <a:pPr marL="67945">
                        <a:lnSpc>
                          <a:spcPts val="122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Connection,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Inflection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2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Connexion,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inflexion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66877">
                <a:tc>
                  <a:txBody>
                    <a:bodyPr/>
                    <a:lstStyle/>
                    <a:p>
                      <a:pPr marL="67945">
                        <a:lnSpc>
                          <a:spcPts val="121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Licorice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15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Li</a:t>
                      </a:r>
                      <a:r>
                        <a:rPr dirty="0" u="sng" sz="1100" spc="-5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qu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orice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1084580" y="7850376"/>
            <a:ext cx="118173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Wingdings"/>
              <a:buChar char=""/>
              <a:tabLst>
                <a:tab pos="241300" algn="l"/>
              </a:tabLst>
            </a:pP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dirty="0" u="heavy" sz="1100" spc="-6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HYPHEN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84582" y="8171172"/>
            <a:ext cx="4056379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Consult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dictionary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to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determine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how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to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treat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compound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word.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84568" y="8257726"/>
            <a:ext cx="3875404" cy="528320"/>
          </a:xfrm>
          <a:prstGeom prst="rect">
            <a:avLst/>
          </a:prstGeom>
        </p:spPr>
        <p:txBody>
          <a:bodyPr wrap="square" lIns="0" tIns="96520" rIns="0" bIns="0" rtlCol="0" vert="horz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760"/>
              </a:spcBef>
              <a:buFont typeface="Symbol"/>
              <a:buChar char=""/>
              <a:tabLst>
                <a:tab pos="240665" algn="l"/>
                <a:tab pos="241935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prosecutor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chose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cross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–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examine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witnesses.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Grandma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kept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small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book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(notebook)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apron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pocket.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7380" y="342390"/>
            <a:ext cx="174498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 Elementary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84111" y="342390"/>
            <a:ext cx="22669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788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33820" y="9493248"/>
            <a:ext cx="2540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120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400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257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27366" y="692602"/>
            <a:ext cx="5946140" cy="2637155"/>
          </a:xfrm>
          <a:prstGeom prst="rect">
            <a:avLst/>
          </a:prstGeom>
        </p:spPr>
        <p:txBody>
          <a:bodyPr wrap="square" lIns="0" tIns="96520" rIns="0" bIns="0" rtlCol="0" vert="horz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760"/>
              </a:spcBef>
              <a:buFont typeface="Symbol"/>
              <a:buChar char=""/>
              <a:tabLst>
                <a:tab pos="240665" algn="l"/>
                <a:tab pos="241935" algn="l"/>
              </a:tabLst>
            </a:pPr>
            <a:r>
              <a:rPr dirty="0" sz="1100" spc="-5">
                <a:latin typeface="Times New Roman"/>
                <a:cs typeface="Times New Roman"/>
              </a:rPr>
              <a:t>Pricilla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hood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yet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well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–known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candidate.</a:t>
            </a:r>
            <a:endParaRPr sz="110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660"/>
              </a:spcBef>
              <a:buFont typeface="Symbol"/>
              <a:buChar char=""/>
              <a:tabLst>
                <a:tab pos="240665" algn="l"/>
                <a:tab pos="241935" algn="l"/>
              </a:tabLst>
            </a:pPr>
            <a:r>
              <a:rPr dirty="0" sz="1100" spc="-5">
                <a:latin typeface="Times New Roman"/>
                <a:cs typeface="Times New Roman"/>
              </a:rPr>
              <a:t>After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our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television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campaign,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Priscilla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Hood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well-known.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Symbol"/>
              <a:buChar char=""/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Hyphenate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written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form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of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fractions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and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of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compound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numbers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from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twenty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one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to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ninety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nine.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2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One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fourth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my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income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pay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national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debt.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dirty="0" sz="1100" spc="-5" b="1">
                <a:latin typeface="Times New Roman"/>
                <a:cs typeface="Times New Roman"/>
              </a:rPr>
              <a:t>If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word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must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be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divided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at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end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of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line,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divide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it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correctly.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5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When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returned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from overseas,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didn’t </a:t>
            </a:r>
            <a:r>
              <a:rPr dirty="0" sz="1100" spc="-5">
                <a:latin typeface="Times New Roman"/>
                <a:cs typeface="Times New Roman"/>
              </a:rPr>
              <a:t>recog-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sz="1100" spc="-5">
                <a:latin typeface="Times New Roman"/>
                <a:cs typeface="Times New Roman"/>
              </a:rPr>
              <a:t>-nize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face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magazine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covers.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95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Font typeface="Wingdings"/>
              <a:buChar char=""/>
              <a:tabLst>
                <a:tab pos="241300" algn="l"/>
              </a:tabLst>
            </a:pP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CAPITAL</a:t>
            </a:r>
            <a:r>
              <a:rPr dirty="0" u="heavy" sz="1100" spc="-4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1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LETTERS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Capitalize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proper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nouns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and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words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derived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from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them;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do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not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capitalize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common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nouns.</a:t>
            </a:r>
            <a:endParaRPr sz="1100">
              <a:latin typeface="Times New Roman"/>
              <a:cs typeface="Times New Roman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785622" y="3480815"/>
          <a:ext cx="5757545" cy="11804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57500"/>
                <a:gridCol w="2857500"/>
              </a:tblGrid>
              <a:tr h="176970">
                <a:tc>
                  <a:txBody>
                    <a:bodyPr/>
                    <a:lstStyle/>
                    <a:p>
                      <a:pPr marL="13970">
                        <a:lnSpc>
                          <a:spcPts val="1260"/>
                        </a:lnSpc>
                        <a:spcBef>
                          <a:spcPts val="30"/>
                        </a:spcBef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Proper</a:t>
                      </a:r>
                      <a:r>
                        <a:rPr dirty="0" sz="1100" spc="-2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Nouns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ts val="1265"/>
                        </a:lnSpc>
                        <a:spcBef>
                          <a:spcPts val="30"/>
                        </a:spcBef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Common</a:t>
                      </a:r>
                      <a:r>
                        <a:rPr dirty="0" sz="1100" spc="-2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Nouns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60781">
                <a:tc>
                  <a:txBody>
                    <a:bodyPr/>
                    <a:lstStyle/>
                    <a:p>
                      <a:pPr marL="13970">
                        <a:lnSpc>
                          <a:spcPts val="1165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God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ts val="1165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god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60781">
                <a:tc>
                  <a:txBody>
                    <a:bodyPr/>
                    <a:lstStyle/>
                    <a:p>
                      <a:pPr marL="13970">
                        <a:lnSpc>
                          <a:spcPts val="1165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Pakistan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ts val="1165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 spc="229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country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60781">
                <a:tc>
                  <a:txBody>
                    <a:bodyPr/>
                    <a:lstStyle/>
                    <a:p>
                      <a:pPr marL="13970">
                        <a:lnSpc>
                          <a:spcPts val="1165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Journalistic</a:t>
                      </a:r>
                      <a:r>
                        <a:rPr dirty="0" sz="1100" spc="-1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Writing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ts val="1165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 spc="-1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language</a:t>
                      </a:r>
                      <a:r>
                        <a:rPr dirty="0" sz="1100" spc="-1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course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60397">
                <a:tc>
                  <a:txBody>
                    <a:bodyPr/>
                    <a:lstStyle/>
                    <a:p>
                      <a:pPr marL="13970">
                        <a:lnSpc>
                          <a:spcPts val="1165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Virtual</a:t>
                      </a:r>
                      <a:r>
                        <a:rPr dirty="0" sz="1100" spc="-1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University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ts val="1165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good</a:t>
                      </a:r>
                      <a:r>
                        <a:rPr dirty="0" sz="1100" spc="-1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university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60397">
                <a:tc>
                  <a:txBody>
                    <a:bodyPr/>
                    <a:lstStyle/>
                    <a:p>
                      <a:pPr marL="13970">
                        <a:lnSpc>
                          <a:spcPts val="1165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Environmental Protection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ts val="1165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 spc="-1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federal</a:t>
                      </a:r>
                      <a:r>
                        <a:rPr dirty="0" sz="1100" spc="-1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agency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72034">
                <a:tc>
                  <a:txBody>
                    <a:bodyPr/>
                    <a:lstStyle/>
                    <a:p>
                      <a:pPr marL="13970">
                        <a:lnSpc>
                          <a:spcPts val="1225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Dr.</a:t>
                      </a:r>
                      <a:r>
                        <a:rPr dirty="0" sz="1100" spc="-1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 spc="-1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J</a:t>
                      </a:r>
                      <a:r>
                        <a:rPr dirty="0" sz="1100" spc="-1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Smith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ts val="1225"/>
                        </a:lnSpc>
                      </a:pP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 spc="-4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 b="1">
                          <a:latin typeface="Times New Roman"/>
                          <a:cs typeface="Times New Roman"/>
                        </a:rPr>
                        <a:t>researcher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627380" y="4800091"/>
            <a:ext cx="574484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Times New Roman"/>
                <a:cs typeface="Times New Roman"/>
              </a:rPr>
              <a:t>Capitalize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titles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of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persons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when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used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as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part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of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proper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name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but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usually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not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when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used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alone.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7366" y="4887412"/>
            <a:ext cx="5442585" cy="777875"/>
          </a:xfrm>
          <a:prstGeom prst="rect">
            <a:avLst/>
          </a:prstGeom>
        </p:spPr>
        <p:txBody>
          <a:bodyPr wrap="square" lIns="0" tIns="95885" rIns="0" bIns="0" rtlCol="0" vert="horz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755"/>
              </a:spcBef>
              <a:buFont typeface="Symbol"/>
              <a:buChar char=""/>
              <a:tabLst>
                <a:tab pos="240665" algn="l"/>
                <a:tab pos="241935" algn="l"/>
              </a:tabLst>
            </a:pPr>
            <a:r>
              <a:rPr dirty="0" sz="1100" spc="-5">
                <a:latin typeface="Times New Roman"/>
                <a:cs typeface="Times New Roman"/>
              </a:rPr>
              <a:t>Professor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Margaret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Barnes;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Dr.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Harold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Stevens;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John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Scott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Williams,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Jr.;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Anne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Tilton,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LL.D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5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District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Attorney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Marshal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reprimanded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badgering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witness.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5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district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attorney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elected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two years </a:t>
            </a:r>
            <a:r>
              <a:rPr dirty="0" sz="1100" spc="-5">
                <a:latin typeface="Times New Roman"/>
                <a:cs typeface="Times New Roman"/>
              </a:rPr>
              <a:t>term.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7366" y="5874494"/>
            <a:ext cx="6061075" cy="3535045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12700" marR="5715">
              <a:lnSpc>
                <a:spcPts val="1260"/>
              </a:lnSpc>
              <a:spcBef>
                <a:spcPts val="190"/>
              </a:spcBef>
            </a:pPr>
            <a:r>
              <a:rPr dirty="0" sz="1100" spc="-5" b="1">
                <a:latin typeface="Times New Roman"/>
                <a:cs typeface="Times New Roman"/>
              </a:rPr>
              <a:t>Capitalize</a:t>
            </a:r>
            <a:r>
              <a:rPr dirty="0" sz="1100" spc="9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the</a:t>
            </a:r>
            <a:r>
              <a:rPr dirty="0" sz="1100" spc="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first,</a:t>
            </a:r>
            <a:r>
              <a:rPr dirty="0" sz="1100" spc="9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last,</a:t>
            </a:r>
            <a:r>
              <a:rPr dirty="0" sz="1100" spc="10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and</a:t>
            </a:r>
            <a:r>
              <a:rPr dirty="0" sz="1100" spc="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all</a:t>
            </a:r>
            <a:r>
              <a:rPr dirty="0" sz="1100" spc="9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major</a:t>
            </a:r>
            <a:r>
              <a:rPr dirty="0" sz="1100" spc="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words</a:t>
            </a:r>
            <a:r>
              <a:rPr dirty="0" sz="1100" spc="9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in</a:t>
            </a:r>
            <a:r>
              <a:rPr dirty="0" sz="1100" spc="10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titles</a:t>
            </a:r>
            <a:r>
              <a:rPr dirty="0" sz="1100" spc="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and</a:t>
            </a:r>
            <a:r>
              <a:rPr dirty="0" sz="1100" spc="9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subtitles</a:t>
            </a:r>
            <a:r>
              <a:rPr dirty="0" sz="1100" spc="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or</a:t>
            </a:r>
            <a:r>
              <a:rPr dirty="0" sz="1100" spc="9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works</a:t>
            </a:r>
            <a:r>
              <a:rPr dirty="0" sz="1100" spc="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such</a:t>
            </a:r>
            <a:r>
              <a:rPr dirty="0" sz="1100" spc="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as</a:t>
            </a:r>
            <a:r>
              <a:rPr dirty="0" sz="1100" spc="9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books,</a:t>
            </a:r>
            <a:r>
              <a:rPr dirty="0" sz="1100" spc="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articles </a:t>
            </a:r>
            <a:r>
              <a:rPr dirty="0" sz="1100" spc="-26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songs,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and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online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documents.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00"/>
              </a:lnSpc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Impossible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Theater: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Manifesto</a:t>
            </a:r>
            <a:endParaRPr sz="1100">
              <a:latin typeface="Times New Roman"/>
              <a:cs typeface="Times New Roman"/>
            </a:endParaRPr>
          </a:p>
          <a:p>
            <a:pPr marL="12700" marR="5151120">
              <a:lnSpc>
                <a:spcPts val="1270"/>
              </a:lnSpc>
              <a:spcBef>
                <a:spcPts val="55"/>
              </a:spcBef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Diet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“Fire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Ice”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30"/>
              </a:lnSpc>
            </a:pPr>
            <a:r>
              <a:rPr dirty="0" sz="1100" spc="-5">
                <a:latin typeface="Times New Roman"/>
                <a:cs typeface="Times New Roman"/>
              </a:rPr>
              <a:t>“I Want to Hold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Your Hand”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Times New Roman"/>
                <a:cs typeface="Times New Roman"/>
              </a:rPr>
              <a:t>Capitalize</a:t>
            </a:r>
            <a:r>
              <a:rPr dirty="0" sz="1100" b="1">
                <a:latin typeface="Times New Roman"/>
                <a:cs typeface="Times New Roman"/>
              </a:rPr>
              <a:t> the </a:t>
            </a:r>
            <a:r>
              <a:rPr dirty="0" sz="1100" spc="-5" b="1">
                <a:latin typeface="Times New Roman"/>
                <a:cs typeface="Times New Roman"/>
              </a:rPr>
              <a:t>first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word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of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sentence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2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When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lighting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struck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house,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chimney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collapses.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dirty="0" sz="1100" spc="-5" b="1">
                <a:latin typeface="Times New Roman"/>
                <a:cs typeface="Times New Roman"/>
              </a:rPr>
              <a:t>Capitalize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the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first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word</a:t>
            </a:r>
            <a:r>
              <a:rPr dirty="0" sz="1100" spc="1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of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quoted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sentence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but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not</a:t>
            </a:r>
            <a:r>
              <a:rPr dirty="0" sz="1100" spc="1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quoted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phrase.</a:t>
            </a:r>
            <a:endParaRPr sz="1100">
              <a:latin typeface="Times New Roman"/>
              <a:cs typeface="Times New Roman"/>
            </a:endParaRPr>
          </a:p>
          <a:p>
            <a:pPr marL="240665" marR="5080" indent="-228600">
              <a:lnSpc>
                <a:spcPct val="143600"/>
              </a:lnSpc>
              <a:spcBef>
                <a:spcPts val="7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 i="1">
                <a:latin typeface="Times New Roman"/>
                <a:cs typeface="Times New Roman"/>
              </a:rPr>
              <a:t>Time</a:t>
            </a:r>
            <a:r>
              <a:rPr dirty="0" sz="1100" spc="204" i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magazine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Robert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Hughes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writes,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“There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only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sixty</a:t>
            </a:r>
            <a:r>
              <a:rPr dirty="0" sz="1100" spc="2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Watteau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paintings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whose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authenticity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experts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agree.”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5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Russell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Baker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written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country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sports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opiate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masses.”</a:t>
            </a:r>
            <a:endParaRPr sz="1100">
              <a:latin typeface="Times New Roman"/>
              <a:cs typeface="Times New Roman"/>
            </a:endParaRPr>
          </a:p>
          <a:p>
            <a:pPr marL="12700" marR="6350">
              <a:lnSpc>
                <a:spcPts val="1270"/>
              </a:lnSpc>
              <a:spcBef>
                <a:spcPts val="665"/>
              </a:spcBef>
            </a:pPr>
            <a:r>
              <a:rPr dirty="0" sz="1100" spc="-5" b="1">
                <a:latin typeface="Times New Roman"/>
                <a:cs typeface="Times New Roman"/>
              </a:rPr>
              <a:t>Do</a:t>
            </a:r>
            <a:r>
              <a:rPr dirty="0" sz="1100" spc="14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not</a:t>
            </a:r>
            <a:r>
              <a:rPr dirty="0" sz="1100" spc="14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capitalize</a:t>
            </a:r>
            <a:r>
              <a:rPr dirty="0" sz="1100" spc="14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</a:t>
            </a:r>
            <a:r>
              <a:rPr dirty="0" sz="1100" spc="14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first</a:t>
            </a:r>
            <a:r>
              <a:rPr dirty="0" sz="1100" spc="14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word</a:t>
            </a:r>
            <a:r>
              <a:rPr dirty="0" sz="1100" spc="14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after</a:t>
            </a:r>
            <a:r>
              <a:rPr dirty="0" sz="1100" spc="14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</a:t>
            </a:r>
            <a:r>
              <a:rPr dirty="0" sz="1100" spc="14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colon</a:t>
            </a:r>
            <a:r>
              <a:rPr dirty="0" sz="1100" spc="13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unless</a:t>
            </a:r>
            <a:r>
              <a:rPr dirty="0" sz="1100" spc="14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it</a:t>
            </a:r>
            <a:r>
              <a:rPr dirty="0" sz="1100" spc="14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begins</a:t>
            </a:r>
            <a:r>
              <a:rPr dirty="0" sz="1100" spc="14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in</a:t>
            </a:r>
            <a:r>
              <a:rPr dirty="0" sz="1100" spc="14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independent</a:t>
            </a:r>
            <a:r>
              <a:rPr dirty="0" sz="1100" spc="14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clause,</a:t>
            </a:r>
            <a:r>
              <a:rPr dirty="0" sz="1100" spc="14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in</a:t>
            </a:r>
            <a:r>
              <a:rPr dirty="0" sz="1100" spc="14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which</a:t>
            </a:r>
            <a:r>
              <a:rPr dirty="0" sz="1100" spc="14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case </a:t>
            </a:r>
            <a:r>
              <a:rPr dirty="0" sz="1100" spc="-26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capitalization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is optional.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ts val="1300"/>
              </a:lnSpc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Most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bar’s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patrons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can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divided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into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groups: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occasional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after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work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socializes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endParaRPr sz="1100">
              <a:latin typeface="Times New Roman"/>
              <a:cs typeface="Times New Roman"/>
            </a:endParaRPr>
          </a:p>
          <a:p>
            <a:pPr marL="240665">
              <a:lnSpc>
                <a:spcPct val="100000"/>
              </a:lnSpc>
              <a:spcBef>
                <a:spcPts val="580"/>
              </a:spcBef>
            </a:pPr>
            <a:r>
              <a:rPr dirty="0" sz="1100" spc="-5">
                <a:latin typeface="Times New Roman"/>
                <a:cs typeface="Times New Roman"/>
              </a:rPr>
              <a:t>nothing to go home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regulars.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dirty="0" sz="1100" spc="-5">
                <a:latin typeface="Symbol"/>
                <a:cs typeface="Symbol"/>
              </a:rPr>
              <a:t></a:t>
            </a:r>
            <a:endParaRPr sz="110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36011" y="9492486"/>
            <a:ext cx="272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Copyrights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University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Pakistan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91019" y="9493248"/>
            <a:ext cx="2540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121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97280" y="533400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84580" y="342390"/>
            <a:ext cx="6083300" cy="20161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869305" algn="l"/>
              </a:tabLst>
            </a:pP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ENG001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-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l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</a:t>
            </a:r>
            <a:r>
              <a:rPr dirty="0" sz="1100" spc="-15">
                <a:solidFill>
                  <a:srgbClr val="323232"/>
                </a:solidFill>
                <a:latin typeface="Times New Roman"/>
                <a:cs typeface="Times New Roman"/>
              </a:rPr>
              <a:t>m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entary</a:t>
            </a:r>
            <a:r>
              <a:rPr dirty="0" sz="1100" spc="1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En</a:t>
            </a:r>
            <a:r>
              <a:rPr dirty="0" sz="1100" spc="-10">
                <a:solidFill>
                  <a:srgbClr val="323232"/>
                </a:solidFill>
                <a:latin typeface="Times New Roman"/>
                <a:cs typeface="Times New Roman"/>
              </a:rPr>
              <a:t>g</a:t>
            </a:r>
            <a:r>
              <a:rPr dirty="0" sz="1100" spc="-5">
                <a:solidFill>
                  <a:srgbClr val="323232"/>
                </a:solidFill>
                <a:latin typeface="Times New Roman"/>
                <a:cs typeface="Times New Roman"/>
              </a:rPr>
              <a:t>lish</a:t>
            </a:r>
            <a:r>
              <a:rPr dirty="0" sz="1100">
                <a:solidFill>
                  <a:srgbClr val="323232"/>
                </a:solidFill>
                <a:latin typeface="Times New Roman"/>
                <a:cs typeface="Times New Roman"/>
              </a:rPr>
              <a:t>	</a:t>
            </a:r>
            <a:r>
              <a:rPr dirty="0" sz="1100" spc="-10" b="1">
                <a:solidFill>
                  <a:srgbClr val="323232"/>
                </a:solidFill>
                <a:latin typeface="Times New Roman"/>
                <a:cs typeface="Times New Roman"/>
              </a:rPr>
              <a:t>VU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300">
              <a:latin typeface="Times New Roman"/>
              <a:cs typeface="Times New Roman"/>
            </a:endParaRPr>
          </a:p>
          <a:p>
            <a:pPr marL="240665" marR="28575" indent="-228600">
              <a:lnSpc>
                <a:spcPct val="144100"/>
              </a:lnSpc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forced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conclude: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(or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the)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federal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government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needed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protect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rights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minorities.</a:t>
            </a:r>
            <a:endParaRPr sz="1100">
              <a:latin typeface="Times New Roman"/>
              <a:cs typeface="Times New Roman"/>
            </a:endParaRPr>
          </a:p>
          <a:p>
            <a:pPr marL="12700" marR="27940">
              <a:lnSpc>
                <a:spcPts val="1270"/>
              </a:lnSpc>
              <a:spcBef>
                <a:spcPts val="660"/>
              </a:spcBef>
            </a:pPr>
            <a:r>
              <a:rPr dirty="0" sz="1100" spc="-5" b="1">
                <a:latin typeface="Times New Roman"/>
                <a:cs typeface="Times New Roman"/>
              </a:rPr>
              <a:t>Capitalize</a:t>
            </a:r>
            <a:r>
              <a:rPr dirty="0" sz="1100" spc="3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abbreviations</a:t>
            </a:r>
            <a:r>
              <a:rPr dirty="0" sz="1100" spc="3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for</a:t>
            </a:r>
            <a:r>
              <a:rPr dirty="0" sz="1100" spc="3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departments</a:t>
            </a:r>
            <a:r>
              <a:rPr dirty="0" sz="1100" spc="3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and</a:t>
            </a:r>
            <a:r>
              <a:rPr dirty="0" sz="1100" spc="4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agencies</a:t>
            </a:r>
            <a:r>
              <a:rPr dirty="0" sz="1100" spc="3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of</a:t>
            </a:r>
            <a:r>
              <a:rPr dirty="0" sz="1100" spc="4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government,</a:t>
            </a:r>
            <a:r>
              <a:rPr dirty="0" sz="1100" spc="3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other</a:t>
            </a:r>
            <a:r>
              <a:rPr dirty="0" sz="1100" spc="3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organizations,</a:t>
            </a:r>
            <a:r>
              <a:rPr dirty="0" sz="1100" spc="3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and </a:t>
            </a:r>
            <a:r>
              <a:rPr dirty="0" sz="1100" spc="-26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corporations,</a:t>
            </a:r>
            <a:r>
              <a:rPr dirty="0" sz="1100" spc="2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capitalize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the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call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letters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of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radio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and</a:t>
            </a:r>
            <a:r>
              <a:rPr dirty="0" sz="1100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television</a:t>
            </a:r>
            <a:r>
              <a:rPr dirty="0" sz="1100" spc="5" b="1">
                <a:latin typeface="Times New Roman"/>
                <a:cs typeface="Times New Roman"/>
              </a:rPr>
              <a:t> </a:t>
            </a:r>
            <a:r>
              <a:rPr dirty="0" sz="1100" spc="-5" b="1">
                <a:latin typeface="Times New Roman"/>
                <a:cs typeface="Times New Roman"/>
              </a:rPr>
              <a:t>stations.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ts val="1300"/>
              </a:lnSpc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Times New Roman"/>
                <a:cs typeface="Times New Roman"/>
              </a:rPr>
              <a:t>EPA,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FBI,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OPEC,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IBM,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WCRB,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KNBC-TV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Source: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Hacker, Dianna. A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Writer’s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Reference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Boston:</a:t>
            </a:r>
            <a:r>
              <a:rPr dirty="0" sz="1200" spc="-5">
                <a:latin typeface="Times New Roman"/>
                <a:cs typeface="Times New Roman"/>
              </a:rPr>
              <a:t> St. </a:t>
            </a:r>
            <a:r>
              <a:rPr dirty="0" sz="1200">
                <a:latin typeface="Times New Roman"/>
                <a:cs typeface="Times New Roman"/>
              </a:rPr>
              <a:t>Martin’s</a:t>
            </a:r>
            <a:r>
              <a:rPr dirty="0" sz="1200" spc="-5">
                <a:latin typeface="Times New Roman"/>
                <a:cs typeface="Times New Roman"/>
              </a:rPr>
              <a:t> Press.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1992.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82980" y="951738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mfsadiq</dc:creator>
  <dc:title>Microsoft Word - ENG001 - Elementary English.doc</dc:title>
  <dcterms:created xsi:type="dcterms:W3CDTF">2021-04-21T09:51:14Z</dcterms:created>
  <dcterms:modified xsi:type="dcterms:W3CDTF">2021-04-21T09:51:14Z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2008-04-11T00:00:00Z</vt:filetime>
  </property>
  <property fmtid="{D5CDD505-2E9C-101B-9397-08002B2CF9AE}" pid="3" name="Creator">
    <vt:lpwstr>PScript5.dll Version 5.2</vt:lpwstr>
  </property>
  <property fmtid="{D5CDD505-2E9C-101B-9397-08002B2CF9AE}" pid="4" name="LastSaved">
    <vt:filetime>2021-04-21T00:00:00Z</vt:filetime>
  </property>
</Properties>
</file>